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4630400" cy="8229600"/>
  <p:notesSz cx="8229600" cy="14630400"/>
  <p:embeddedFontLst>
    <p:embeddedFont>
      <p:font typeface="Inconsolata" pitchFamily="1" charset="0"/>
      <p:regular r:id="rId13"/>
    </p:embeddedFont>
    <p:embeddedFont>
      <p:font typeface="Montserrat Black" panose="00000A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55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754B5-662D-CBB8-148A-8B9F28C5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F9D00-5C1C-33CD-72CC-C52B9994F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6DDCE-9DCA-4600-5759-9AE47B36C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9DD1D-1535-D918-4A51-362D712D9A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11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hyperlink" Target="http://nih.gov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hyperlink" Target="http://health.harvard.edu" TargetMode="External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3900" y="2064265"/>
            <a:ext cx="1128260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RV College Of Engineering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3683913" y="3941278"/>
            <a:ext cx="72624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Yoga Diet and Nutrition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29" y="5032543"/>
            <a:ext cx="130428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Exploring the harmony between mindful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movement and mindful eating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2863"/>
            <a:ext cx="93472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Presented by Our Team (CH-A)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Adishwar Tripathi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1RV24CH002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Aryan Lodha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759762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1RV24CH007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Nehal Karjagi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759762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1RV24CH026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Vedant Sud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759762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1RV24CH040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8561"/>
            <a:ext cx="90835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Yoga, Dietetics, and Nutrition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17502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0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Yoga Practice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68022" y="2634734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Promotes physical and mental well-being.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278386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8022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Better Digestion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68022" y="3995618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Yoga enhances bodily functions.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39270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8022" y="4866084"/>
            <a:ext cx="30972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Nutrient Absorption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268022" y="5356503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Improved uptake for energy and recovery.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000155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68022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Mental Calm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268022" y="6717387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Holistic health through mind-body connection.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277" y="395407"/>
            <a:ext cx="6757035" cy="44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Combine Yoga and Nutrition?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3277" y="1031865"/>
            <a:ext cx="10469523" cy="380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2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Yoga optimizes bodily functions; nutrition fuels them efficiently.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3276" y="1510711"/>
            <a:ext cx="7503299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2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Body needs adapt to diverse yoga practices.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3277" y="1973411"/>
            <a:ext cx="8080620" cy="711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2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Mindful eating extends mindfulness beyond the mat.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296" y="2595718"/>
            <a:ext cx="9803709" cy="51795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04047" y="9282470"/>
            <a:ext cx="143708" cy="143708"/>
          </a:xfrm>
          <a:prstGeom prst="roundRect">
            <a:avLst>
              <a:gd name="adj" fmla="val 12726"/>
            </a:avLst>
          </a:prstGeom>
          <a:solidFill>
            <a:srgbClr val="252628"/>
          </a:solidFill>
          <a:ln/>
        </p:spPr>
      </p:sp>
      <p:sp>
        <p:nvSpPr>
          <p:cNvPr id="8" name="Text 5"/>
          <p:cNvSpPr/>
          <p:nvPr/>
        </p:nvSpPr>
        <p:spPr>
          <a:xfrm>
            <a:off x="4008715" y="9282470"/>
            <a:ext cx="934164" cy="143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Sleep Quality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89433" y="9282470"/>
            <a:ext cx="143708" cy="143708"/>
          </a:xfrm>
          <a:prstGeom prst="roundRect">
            <a:avLst>
              <a:gd name="adj" fmla="val 12726"/>
            </a:avLst>
          </a:prstGeom>
          <a:solidFill>
            <a:srgbClr val="43474A"/>
          </a:solidFill>
          <a:ln/>
        </p:spPr>
      </p:sp>
      <p:sp>
        <p:nvSpPr>
          <p:cNvPr id="10" name="Text 7"/>
          <p:cNvSpPr/>
          <p:nvPr/>
        </p:nvSpPr>
        <p:spPr>
          <a:xfrm>
            <a:off x="7094101" y="9282470"/>
            <a:ext cx="646748" cy="143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Digestion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687401" y="9282470"/>
            <a:ext cx="143708" cy="143708"/>
          </a:xfrm>
          <a:prstGeom prst="roundRect">
            <a:avLst>
              <a:gd name="adj" fmla="val 12726"/>
            </a:avLst>
          </a:prstGeom>
          <a:solidFill>
            <a:srgbClr val="62676C"/>
          </a:solidFill>
          <a:ln/>
        </p:spPr>
      </p:sp>
      <p:sp>
        <p:nvSpPr>
          <p:cNvPr id="12" name="Text 9"/>
          <p:cNvSpPr/>
          <p:nvPr/>
        </p:nvSpPr>
        <p:spPr>
          <a:xfrm>
            <a:off x="9892070" y="9282470"/>
            <a:ext cx="431125" cy="143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Energy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9946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Scientific Research &amp; Data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57180"/>
            <a:ext cx="7556421" cy="1966198"/>
          </a:xfrm>
          <a:prstGeom prst="roundRect">
            <a:avLst>
              <a:gd name="adj" fmla="val 46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7810" y="3164800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514862" y="3308509"/>
            <a:ext cx="14277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Yoga Only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03908" y="3308509"/>
            <a:ext cx="14239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1.8 kg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89143" y="3308509"/>
            <a:ext cx="14239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↓10%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2174379" y="3308509"/>
            <a:ext cx="14277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+20%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7810" y="3815120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514862" y="3958828"/>
            <a:ext cx="14277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Diet Only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403908" y="3958828"/>
            <a:ext cx="14239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2.3 kg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289143" y="3958828"/>
            <a:ext cx="14239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↓12%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2174379" y="3958828"/>
            <a:ext cx="14277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+15%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287810" y="4465439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514862" y="4609148"/>
            <a:ext cx="14277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Both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8403908" y="4609148"/>
            <a:ext cx="14239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4.1 kg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0289143" y="4609148"/>
            <a:ext cx="142398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↓30%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2174379" y="4609148"/>
            <a:ext cx="14277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+40%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280190" y="5378529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Harvard Study (2020) confirms yoga and diet double stress reduction. NIH Study (2019) shows mindful eating and yoga significantly reduce BMI. This data highlights the powerful synergistic effect.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321" y="371118"/>
            <a:ext cx="6999803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Yoga Poses and Their Diet Connection :-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015264" y="1219617"/>
            <a:ext cx="3456860" cy="61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Cobra Pose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015264" y="1705509"/>
            <a:ext cx="10142815" cy="1577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Improves posture and digestion. </a:t>
            </a:r>
          </a:p>
          <a:p>
            <a:pPr marL="0" indent="0" algn="l">
              <a:lnSpc>
                <a:spcPts val="1700"/>
              </a:lnSpc>
              <a:buNone/>
            </a:pPr>
            <a:endParaRPr lang="en-US" sz="2800" dirty="0">
              <a:solidFill>
                <a:srgbClr val="151617"/>
              </a:solidFill>
              <a:latin typeface="Inconsolata" pitchFamily="34" charset="0"/>
              <a:ea typeface="Inconsolata" pitchFamily="34" charset="-122"/>
              <a:cs typeface="Inconsolata" pitchFamily="34" charset="-120"/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Pre-yoga tip: light banana or herbal tea.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3972222" y="3669386"/>
            <a:ext cx="5197087" cy="1126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Plank Pose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3972222" y="4179904"/>
            <a:ext cx="10142815" cy="142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Builds core strength and boosts metabolism. </a:t>
            </a:r>
          </a:p>
          <a:p>
            <a:pPr marL="0" indent="0" algn="l">
              <a:lnSpc>
                <a:spcPts val="1700"/>
              </a:lnSpc>
              <a:buNone/>
            </a:pPr>
            <a:endParaRPr lang="en-US" sz="2800" dirty="0">
              <a:solidFill>
                <a:srgbClr val="151617"/>
              </a:solidFill>
              <a:latin typeface="Inconsolata" pitchFamily="34" charset="0"/>
              <a:ea typeface="Inconsolata" pitchFamily="34" charset="-122"/>
              <a:cs typeface="Inconsolata" pitchFamily="34" charset="-120"/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Post-yoga tip: protein smoothie or nuts.</a:t>
            </a:r>
            <a:endParaRPr lang="en-US" sz="2800" dirty="0"/>
          </a:p>
        </p:txBody>
      </p:sp>
      <p:sp>
        <p:nvSpPr>
          <p:cNvPr id="10" name="Text 5"/>
          <p:cNvSpPr/>
          <p:nvPr/>
        </p:nvSpPr>
        <p:spPr>
          <a:xfrm>
            <a:off x="4015264" y="5945163"/>
            <a:ext cx="1687116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Downward Dog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3972221" y="6497295"/>
            <a:ext cx="10142815" cy="135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Enhances blood flow and stretches the body. </a:t>
            </a:r>
          </a:p>
          <a:p>
            <a:pPr marL="0" indent="0" algn="l">
              <a:lnSpc>
                <a:spcPts val="1700"/>
              </a:lnSpc>
              <a:buNone/>
            </a:pPr>
            <a:endParaRPr lang="en-US" sz="2800" dirty="0">
              <a:solidFill>
                <a:srgbClr val="151617"/>
              </a:solidFill>
              <a:latin typeface="Inconsolata" pitchFamily="34" charset="0"/>
              <a:ea typeface="Inconsolata" pitchFamily="34" charset="-122"/>
              <a:cs typeface="Inconsolata" pitchFamily="34" charset="-120"/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Hydration is key before and after.</a:t>
            </a:r>
            <a:endParaRPr 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E1169F-8FD4-857B-2C27-59F437B70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30" y="1025089"/>
            <a:ext cx="3018011" cy="21607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5F0304-287D-FB7E-389D-FFCA9CA42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30" y="3418046"/>
            <a:ext cx="3018011" cy="22384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4D42D8-1BE1-3844-88D7-98AB042ED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30" y="5790440"/>
            <a:ext cx="2972736" cy="22049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565" y="267635"/>
            <a:ext cx="5232440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Sample Daily Yoga Nutrition Plan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07551" y="917019"/>
            <a:ext cx="13815298" cy="1720215"/>
          </a:xfrm>
          <a:prstGeom prst="roundRect">
            <a:avLst>
              <a:gd name="adj" fmla="val 5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5999" y="1002030"/>
            <a:ext cx="435852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735026" y="1002030"/>
            <a:ext cx="436233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35999" y="1343025"/>
            <a:ext cx="435852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35026" y="1343025"/>
            <a:ext cx="436233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3162" y="1684020"/>
            <a:ext cx="436233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35999" y="1684020"/>
            <a:ext cx="435852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35026" y="1684020"/>
            <a:ext cx="436233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35999" y="2025015"/>
            <a:ext cx="435852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35026" y="2025015"/>
            <a:ext cx="436233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35026" y="2366010"/>
            <a:ext cx="436233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9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" y="3150561"/>
            <a:ext cx="8906207" cy="4883612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442698" y="10388322"/>
            <a:ext cx="116443" cy="116443"/>
          </a:xfrm>
          <a:prstGeom prst="roundRect">
            <a:avLst>
              <a:gd name="adj" fmla="val 15706"/>
            </a:avLst>
          </a:prstGeom>
          <a:solidFill>
            <a:srgbClr val="252628"/>
          </a:solidFill>
          <a:ln/>
        </p:spPr>
      </p:sp>
      <p:sp>
        <p:nvSpPr>
          <p:cNvPr id="26" name="Text 23"/>
          <p:cNvSpPr/>
          <p:nvPr/>
        </p:nvSpPr>
        <p:spPr>
          <a:xfrm>
            <a:off x="4620101" y="10388322"/>
            <a:ext cx="290870" cy="116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Carbs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993731" y="10388322"/>
            <a:ext cx="116443" cy="116443"/>
          </a:xfrm>
          <a:prstGeom prst="roundRect">
            <a:avLst>
              <a:gd name="adj" fmla="val 15706"/>
            </a:avLst>
          </a:prstGeom>
          <a:solidFill>
            <a:srgbClr val="595E62"/>
          </a:solidFill>
          <a:ln/>
        </p:spPr>
      </p:sp>
      <p:sp>
        <p:nvSpPr>
          <p:cNvPr id="28" name="Text 25"/>
          <p:cNvSpPr/>
          <p:nvPr/>
        </p:nvSpPr>
        <p:spPr>
          <a:xfrm>
            <a:off x="7171134" y="10388322"/>
            <a:ext cx="465415" cy="116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Proteins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719310" y="10388322"/>
            <a:ext cx="116443" cy="116443"/>
          </a:xfrm>
          <a:prstGeom prst="roundRect">
            <a:avLst>
              <a:gd name="adj" fmla="val 15706"/>
            </a:avLst>
          </a:prstGeom>
          <a:solidFill>
            <a:srgbClr val="90959A"/>
          </a:solidFill>
          <a:ln/>
        </p:spPr>
      </p:sp>
      <p:sp>
        <p:nvSpPr>
          <p:cNvPr id="30" name="Text 27"/>
          <p:cNvSpPr/>
          <p:nvPr/>
        </p:nvSpPr>
        <p:spPr>
          <a:xfrm>
            <a:off x="9896713" y="10388322"/>
            <a:ext cx="232767" cy="116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Fats</a:t>
            </a:r>
            <a:endParaRPr lang="en-US" sz="900" dirty="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07E3E61-539F-710A-6E41-57C5484CC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139834"/>
              </p:ext>
            </p:extLst>
          </p:nvPr>
        </p:nvGraphicFramePr>
        <p:xfrm>
          <a:off x="480565" y="737538"/>
          <a:ext cx="13815297" cy="2120255"/>
        </p:xfrm>
        <a:graphic>
          <a:graphicData uri="http://schemas.openxmlformats.org/drawingml/2006/table">
            <a:tbl>
              <a:tblPr firstCol="1" bandRow="1">
                <a:tableStyleId>{C083E6E3-FA7D-4D7B-A595-EF9225AFEA82}</a:tableStyleId>
              </a:tblPr>
              <a:tblGrid>
                <a:gridCol w="4605099">
                  <a:extLst>
                    <a:ext uri="{9D8B030D-6E8A-4147-A177-3AD203B41FA5}">
                      <a16:colId xmlns:a16="http://schemas.microsoft.com/office/drawing/2014/main" val="1921041506"/>
                    </a:ext>
                  </a:extLst>
                </a:gridCol>
                <a:gridCol w="4605099">
                  <a:extLst>
                    <a:ext uri="{9D8B030D-6E8A-4147-A177-3AD203B41FA5}">
                      <a16:colId xmlns:a16="http://schemas.microsoft.com/office/drawing/2014/main" val="1150171712"/>
                    </a:ext>
                  </a:extLst>
                </a:gridCol>
                <a:gridCol w="4605099">
                  <a:extLst>
                    <a:ext uri="{9D8B030D-6E8A-4147-A177-3AD203B41FA5}">
                      <a16:colId xmlns:a16="http://schemas.microsoft.com/office/drawing/2014/main" val="4094909447"/>
                    </a:ext>
                  </a:extLst>
                </a:gridCol>
              </a:tblGrid>
              <a:tr h="42405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6:30 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Pre-Yoga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Warm Water + Banana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643661"/>
                  </a:ext>
                </a:extLst>
              </a:tr>
              <a:tr h="42405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8:30 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Breakfast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Oats, Fruits, Soaked Almonds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562644"/>
                  </a:ext>
                </a:extLst>
              </a:tr>
              <a:tr h="42405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1:00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Lunch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Brown Rice, Dal, Vegetables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970326"/>
                  </a:ext>
                </a:extLst>
              </a:tr>
              <a:tr h="42405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5:00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Snack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Nuts or Fruit Smoothie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2742763"/>
                  </a:ext>
                </a:extLst>
              </a:tr>
              <a:tr h="42405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8:00 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Dinner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Khichdi, Curd, Veggies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01007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71CAC8DA-71D4-8417-F3CF-8615E5BBB155}"/>
              </a:ext>
            </a:extLst>
          </p:cNvPr>
          <p:cNvSpPr txBox="1"/>
          <p:nvPr/>
        </p:nvSpPr>
        <p:spPr>
          <a:xfrm>
            <a:off x="8122920" y="4402312"/>
            <a:ext cx="2743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Fats</a:t>
            </a:r>
          </a:p>
          <a:p>
            <a:endParaRPr lang="en-IN" sz="2400" b="1" dirty="0"/>
          </a:p>
          <a:p>
            <a:r>
              <a:rPr lang="en-IN" sz="2400" b="1" dirty="0"/>
              <a:t>Proteins</a:t>
            </a:r>
          </a:p>
          <a:p>
            <a:endParaRPr lang="en-IN" sz="2400" b="1" dirty="0"/>
          </a:p>
          <a:p>
            <a:r>
              <a:rPr lang="en-IN" sz="2400" b="1" dirty="0"/>
              <a:t>Carbs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CB6A3D-0C6B-E7E2-9A51-87CFC4017342}"/>
              </a:ext>
            </a:extLst>
          </p:cNvPr>
          <p:cNvSpPr/>
          <p:nvPr/>
        </p:nvSpPr>
        <p:spPr>
          <a:xfrm>
            <a:off x="7861610" y="4532504"/>
            <a:ext cx="261310" cy="25647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0E71B5-3A98-CA7C-2D5B-7BEBDCE5D058}"/>
              </a:ext>
            </a:extLst>
          </p:cNvPr>
          <p:cNvSpPr/>
          <p:nvPr/>
        </p:nvSpPr>
        <p:spPr>
          <a:xfrm>
            <a:off x="7883355" y="5243569"/>
            <a:ext cx="261310" cy="25647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89F52F-BE22-C407-4CAE-1061AB9BCEE0}"/>
              </a:ext>
            </a:extLst>
          </p:cNvPr>
          <p:cNvSpPr/>
          <p:nvPr/>
        </p:nvSpPr>
        <p:spPr>
          <a:xfrm>
            <a:off x="7883355" y="5961764"/>
            <a:ext cx="261310" cy="25647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9029" y="1694751"/>
            <a:ext cx="5926307" cy="108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824270" y="2783458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30905" y="2783458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Interdependent Lifestyle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997" y="362914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Yoga and nutrition create a healthy, symbiotic lifestyle.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207555" y="2783459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4671" y="2742478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Enhanced Performance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39554" y="3629144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Right food choices boost flexibility, endurance, and focus.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77995" y="2742478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415111" y="2728096"/>
            <a:ext cx="3287435" cy="723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Sustainable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Wellness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5111" y="3637717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Mindful nutrition combined with yoga leads to lasting well-being.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98973" y="5373654"/>
            <a:ext cx="12702659" cy="723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"Yoga is the journey of the self, through the self,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 the self – fueled by the right diet."</a:t>
            </a:r>
            <a:endParaRPr lang="en-US" sz="3200" b="1" dirty="0"/>
          </a:p>
        </p:txBody>
      </p:sp>
      <p:sp>
        <p:nvSpPr>
          <p:cNvPr id="13" name="Shape 11"/>
          <p:cNvSpPr/>
          <p:nvPr/>
        </p:nvSpPr>
        <p:spPr>
          <a:xfrm flipH="1">
            <a:off x="869988" y="5154453"/>
            <a:ext cx="45719" cy="1088708"/>
          </a:xfrm>
          <a:prstGeom prst="rect">
            <a:avLst/>
          </a:prstGeom>
          <a:solidFill>
            <a:srgbClr val="15161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811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References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56972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2664738"/>
            <a:ext cx="153602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Harvard Medical School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87579" y="3863816"/>
            <a:ext cx="15360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health.harvard.edu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093" y="256972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00882" y="2664738"/>
            <a:ext cx="153602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NIH Study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200882" y="3509486"/>
            <a:ext cx="15360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nih.gov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0395" y="2569726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14185" y="2664738"/>
            <a:ext cx="153602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 &amp; Integrative Medicine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814185" y="4218146"/>
            <a:ext cx="15360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Journal, 2020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90" y="5082897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87579" y="5177909"/>
            <a:ext cx="153602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Yoga Journal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587579" y="6022658"/>
            <a:ext cx="15360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yogajournal.com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2A42-BDCD-6E8E-58EB-C933F897E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2FEEA5-46EF-5E58-AB35-FE5219AC1C38}"/>
              </a:ext>
            </a:extLst>
          </p:cNvPr>
          <p:cNvSpPr/>
          <p:nvPr/>
        </p:nvSpPr>
        <p:spPr>
          <a:xfrm>
            <a:off x="1673900" y="3578899"/>
            <a:ext cx="1128260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9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Thank you </a:t>
            </a:r>
            <a:r>
              <a:rPr lang="en-US" sz="960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🙏</a:t>
            </a:r>
            <a:endParaRPr lang="en-US" sz="9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6E3CAE-D5AF-6345-66D6-A79BB387B3F7}"/>
              </a:ext>
            </a:extLst>
          </p:cNvPr>
          <p:cNvSpPr/>
          <p:nvPr/>
        </p:nvSpPr>
        <p:spPr>
          <a:xfrm>
            <a:off x="3683913" y="4068008"/>
            <a:ext cx="72624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084F87-CDD9-9642-1E0B-973846ACD5CB}"/>
              </a:ext>
            </a:extLst>
          </p:cNvPr>
          <p:cNvSpPr/>
          <p:nvPr/>
        </p:nvSpPr>
        <p:spPr>
          <a:xfrm>
            <a:off x="793790" y="51169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11097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386</Words>
  <Application>Microsoft Office PowerPoint</Application>
  <PresentationFormat>Custom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 Black</vt:lpstr>
      <vt:lpstr>Inconsolata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aryannlodha@gmail.com</cp:lastModifiedBy>
  <cp:revision>3</cp:revision>
  <dcterms:created xsi:type="dcterms:W3CDTF">2025-06-01T16:22:21Z</dcterms:created>
  <dcterms:modified xsi:type="dcterms:W3CDTF">2025-06-01T17:00:10Z</dcterms:modified>
</cp:coreProperties>
</file>