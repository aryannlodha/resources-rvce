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6" r:id="rId9"/>
    <p:sldId id="263" r:id="rId10"/>
    <p:sldId id="264" r:id="rId11"/>
    <p:sldId id="265" r:id="rId12"/>
    <p:sldId id="267" r:id="rId13"/>
  </p:sldIdLst>
  <p:sldSz cx="14630400" cy="8229600"/>
  <p:notesSz cx="8229600" cy="14630400"/>
  <p:embeddedFontLst>
    <p:embeddedFont>
      <p:font typeface="Tomorrow" pitchFamily="2" charset="0"/>
      <p:regular r:id="rId15"/>
    </p:embeddedFont>
    <p:embeddedFont>
      <p:font typeface="Tomorrow Semi Bold" pitchFamily="2"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font" Target="fonts/font2.fntdata" /><Relationship Id="rId20"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font" Target="fonts/font1.fntdata" /><Relationship Id="rId10" Type="http://schemas.openxmlformats.org/officeDocument/2006/relationships/slide" Target="slides/slide9.xml" /><Relationship Id="rId19"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40731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hyperlink" Target="https://gamma.app/?utm_source=made-with-gamma" TargetMode="External"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3.xml" /></Relationships>
</file>

<file path=ppt/slides/_rels/slide3.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3.xml" /><Relationship Id="rId1" Type="http://schemas.openxmlformats.org/officeDocument/2006/relationships/slideLayout" Target="../slideLayouts/slideLayout4.xml" /></Relationships>
</file>

<file path=ppt/slides/_rels/slide4.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4.xml" /><Relationship Id="rId1" Type="http://schemas.openxmlformats.org/officeDocument/2006/relationships/slideLayout" Target="../slideLayouts/slideLayout5.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6.xml" /></Relationships>
</file>

<file path=ppt/slides/_rels/slide6.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6.xml"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notesSlide" Target="../notesSlides/notesSlide7.xml" /><Relationship Id="rId1" Type="http://schemas.openxmlformats.org/officeDocument/2006/relationships/slideLayout" Target="../slideLayouts/slideLayout8.xml" /><Relationship Id="rId6" Type="http://schemas.openxmlformats.org/officeDocument/2006/relationships/image" Target="../media/image9.png" /><Relationship Id="rId5" Type="http://schemas.openxmlformats.org/officeDocument/2006/relationships/image" Target="../media/image8.png" /><Relationship Id="rId4" Type="http://schemas.openxmlformats.org/officeDocument/2006/relationships/image" Target="../media/image7.png"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 /></Relationships>
</file>

<file path=ppt/slides/_rels/slide9.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notesSlide" Target="../notesSlides/notesSlide8.xml" /><Relationship Id="rId1" Type="http://schemas.openxmlformats.org/officeDocument/2006/relationships/slideLayout" Target="../slideLayouts/slideLayout9.xml" /><Relationship Id="rId6" Type="http://schemas.openxmlformats.org/officeDocument/2006/relationships/image" Target="../media/image13.png" /><Relationship Id="rId5" Type="http://schemas.openxmlformats.org/officeDocument/2006/relationships/image" Target="../media/image12.png" /><Relationship Id="rId4" Type="http://schemas.openxmlformats.org/officeDocument/2006/relationships/image" Target="../media/image11.png" /></Relationships>
</file>

<file path=ppt/slides/_rels/slide10.xml.rels><?xml version="1.0" encoding="UTF-8" standalone="yes"?>
<Relationships xmlns="http://schemas.openxmlformats.org/package/2006/relationships"><Relationship Id="rId3" Type="http://schemas.openxmlformats.org/officeDocument/2006/relationships/image" Target="../media/image14.png" /><Relationship Id="rId2" Type="http://schemas.openxmlformats.org/officeDocument/2006/relationships/notesSlide" Target="../notesSlides/notesSlide9.xml" /><Relationship Id="rId1" Type="http://schemas.openxmlformats.org/officeDocument/2006/relationships/slideLayout" Target="../slideLayouts/slideLayout10.xml" /></Relationships>
</file>

<file path=ppt/slides/_rels/slide11.xml.rels><?xml version="1.0" encoding="UTF-8" standalone="yes"?>
<Relationships xmlns="http://schemas.openxmlformats.org/package/2006/relationships"><Relationship Id="rId3" Type="http://schemas.openxmlformats.org/officeDocument/2006/relationships/image" Target="../media/image15.png" /><Relationship Id="rId2" Type="http://schemas.openxmlformats.org/officeDocument/2006/relationships/notesSlide" Target="../notesSlides/notesSlide10.xml" /><Relationship Id="rId1" Type="http://schemas.openxmlformats.org/officeDocument/2006/relationships/slideLayout" Target="../slideLayouts/slideLayout11.xml" /></Relationships>
</file>

<file path=ppt/slides/_rels/slide12.xml.rels><?xml version="1.0" encoding="UTF-8" standalone="yes"?>
<Relationships xmlns="http://schemas.openxmlformats.org/package/2006/relationships"><Relationship Id="rId2" Type="http://schemas.openxmlformats.org/officeDocument/2006/relationships/image" Target="../media/image16.png" /><Relationship Id="rId1" Type="http://schemas.openxmlformats.org/officeDocument/2006/relationships/slideLayout" Target="../slideLayouts/slideLayout9.xml"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484715"/>
            <a:ext cx="7556421" cy="1417558"/>
          </a:xfrm>
          <a:prstGeom prst="rect">
            <a:avLst/>
          </a:prstGeom>
          <a:noFill/>
          <a:ln/>
        </p:spPr>
        <p:txBody>
          <a:bodyPr wrap="square" lIns="0" tIns="0" rIns="0" bIns="0" rtlCol="0" anchor="t"/>
          <a:lstStyle/>
          <a:p>
            <a:pPr marL="0" indent="0">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RV COLLEGE OF ENGINEERING</a:t>
            </a:r>
            <a:endParaRPr lang="en-US" sz="4450" dirty="0"/>
          </a:p>
        </p:txBody>
      </p:sp>
      <p:sp>
        <p:nvSpPr>
          <p:cNvPr id="4" name="Text 1"/>
          <p:cNvSpPr/>
          <p:nvPr/>
        </p:nvSpPr>
        <p:spPr>
          <a:xfrm>
            <a:off x="793790" y="4242435"/>
            <a:ext cx="5670590" cy="708779"/>
          </a:xfrm>
          <a:prstGeom prst="rect">
            <a:avLst/>
          </a:prstGeom>
          <a:noFill/>
          <a:ln/>
        </p:spPr>
        <p:txBody>
          <a:bodyPr wrap="none" lIns="0" tIns="0" rIns="0" bIns="0" rtlCol="0" anchor="t"/>
          <a:lstStyle/>
          <a:p>
            <a:pPr marL="0" indent="0">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IDEA LAB EL</a:t>
            </a:r>
            <a:endParaRPr lang="en-US" sz="4450" dirty="0"/>
          </a:p>
        </p:txBody>
      </p:sp>
      <p:sp>
        <p:nvSpPr>
          <p:cNvPr id="5" name="Text 2"/>
          <p:cNvSpPr/>
          <p:nvPr/>
        </p:nvSpPr>
        <p:spPr>
          <a:xfrm>
            <a:off x="793790" y="5291376"/>
            <a:ext cx="7556421" cy="453509"/>
          </a:xfrm>
          <a:prstGeom prst="rect">
            <a:avLst/>
          </a:prstGeom>
          <a:noFill/>
          <a:ln/>
        </p:spPr>
        <p:txBody>
          <a:bodyPr wrap="none" lIns="0" tIns="0" rIns="0" bIns="0" rtlCol="0" anchor="t"/>
          <a:lstStyle/>
          <a:p>
            <a:pPr marL="0" indent="0">
              <a:lnSpc>
                <a:spcPts val="3550"/>
              </a:lnSpc>
              <a:buNone/>
            </a:pPr>
            <a:r>
              <a:rPr lang="en-US" sz="2800" dirty="0">
                <a:solidFill>
                  <a:srgbClr val="E1E1DF"/>
                </a:solidFill>
                <a:latin typeface="Tomorrow" pitchFamily="34" charset="0"/>
                <a:ea typeface="Tomorrow" pitchFamily="34" charset="-122"/>
                <a:cs typeface="Tomorrow" pitchFamily="34" charset="-120"/>
              </a:rPr>
              <a:t>An Automated Plant Watering System </a:t>
            </a:r>
          </a:p>
          <a:p>
            <a:pPr marL="0" indent="0">
              <a:lnSpc>
                <a:spcPts val="3550"/>
              </a:lnSpc>
              <a:buNone/>
            </a:pPr>
            <a:r>
              <a:rPr lang="en-US" sz="2800" dirty="0">
                <a:solidFill>
                  <a:srgbClr val="E1E1DF"/>
                </a:solidFill>
                <a:latin typeface="Tomorrow" pitchFamily="34" charset="0"/>
                <a:ea typeface="Tomorrow" pitchFamily="34" charset="-122"/>
                <a:cs typeface="Tomorrow" pitchFamily="34" charset="-120"/>
              </a:rPr>
              <a:t>with Arduino UNO </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902863"/>
            <a:ext cx="5670590" cy="708779"/>
          </a:xfrm>
          <a:prstGeom prst="rect">
            <a:avLst/>
          </a:prstGeom>
          <a:noFill/>
          <a:ln/>
        </p:spPr>
        <p:txBody>
          <a:bodyPr wrap="none" lIns="0" tIns="0" rIns="0" bIns="0" rtlCol="0" anchor="t"/>
          <a:lstStyle/>
          <a:p>
            <a:pPr marL="0" indent="0">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MEMBERS (CH-A)</a:t>
            </a:r>
            <a:endParaRPr lang="en-US" sz="4450" dirty="0"/>
          </a:p>
        </p:txBody>
      </p:sp>
      <p:sp>
        <p:nvSpPr>
          <p:cNvPr id="3" name="Text 1"/>
          <p:cNvSpPr/>
          <p:nvPr/>
        </p:nvSpPr>
        <p:spPr>
          <a:xfrm>
            <a:off x="793790" y="4178617"/>
            <a:ext cx="2835235" cy="354330"/>
          </a:xfrm>
          <a:prstGeom prst="rect">
            <a:avLst/>
          </a:prstGeom>
          <a:noFill/>
          <a:ln/>
        </p:spPr>
        <p:txBody>
          <a:bodyPr wrap="none" lIns="0" tIns="0" rIns="0" bIns="0" rtlCol="0" anchor="t"/>
          <a:lstStyle/>
          <a:p>
            <a:pPr marL="0" indent="0">
              <a:lnSpc>
                <a:spcPts val="2750"/>
              </a:lnSpc>
              <a:buNone/>
            </a:pPr>
            <a:r>
              <a:rPr lang="en-US" sz="2200" dirty="0">
                <a:solidFill>
                  <a:srgbClr val="EDEDE8"/>
                </a:solidFill>
                <a:latin typeface="Tomorrow Semi Bold" pitchFamily="34" charset="0"/>
                <a:ea typeface="Tomorrow Semi Bold" pitchFamily="34" charset="-122"/>
                <a:cs typeface="Tomorrow Semi Bold" pitchFamily="34" charset="-120"/>
              </a:rPr>
              <a:t>ARYAN LODHA</a:t>
            </a:r>
            <a:endParaRPr lang="en-US" sz="2200" dirty="0"/>
          </a:p>
        </p:txBody>
      </p:sp>
      <p:sp>
        <p:nvSpPr>
          <p:cNvPr id="4" name="Text 2"/>
          <p:cNvSpPr/>
          <p:nvPr/>
        </p:nvSpPr>
        <p:spPr>
          <a:xfrm>
            <a:off x="793790" y="4759762"/>
            <a:ext cx="3978116" cy="362903"/>
          </a:xfrm>
          <a:prstGeom prst="rect">
            <a:avLst/>
          </a:prstGeom>
          <a:noFill/>
          <a:ln/>
        </p:spPr>
        <p:txBody>
          <a:bodyPr wrap="none" lIns="0" tIns="0" rIns="0" bIns="0" rtlCol="0" anchor="t"/>
          <a:lstStyle/>
          <a:p>
            <a:pPr marL="0" indent="0">
              <a:lnSpc>
                <a:spcPts val="2850"/>
              </a:lnSpc>
              <a:buNone/>
            </a:pPr>
            <a:r>
              <a:rPr lang="en-US" sz="1750" dirty="0">
                <a:solidFill>
                  <a:srgbClr val="C9C9C0"/>
                </a:solidFill>
                <a:latin typeface="Tomorrow" pitchFamily="34" charset="0"/>
                <a:ea typeface="Tomorrow" pitchFamily="34" charset="-122"/>
                <a:cs typeface="Tomorrow" pitchFamily="34" charset="-120"/>
              </a:rPr>
              <a:t>RVCE24BCH043</a:t>
            </a:r>
            <a:endParaRPr lang="en-US" sz="1750" dirty="0"/>
          </a:p>
        </p:txBody>
      </p:sp>
      <p:sp>
        <p:nvSpPr>
          <p:cNvPr id="5" name="Text 3"/>
          <p:cNvSpPr/>
          <p:nvPr/>
        </p:nvSpPr>
        <p:spPr>
          <a:xfrm>
            <a:off x="5332928" y="4178617"/>
            <a:ext cx="2835235" cy="354330"/>
          </a:xfrm>
          <a:prstGeom prst="rect">
            <a:avLst/>
          </a:prstGeom>
          <a:noFill/>
          <a:ln/>
        </p:spPr>
        <p:txBody>
          <a:bodyPr wrap="none" lIns="0" tIns="0" rIns="0" bIns="0" rtlCol="0" anchor="t"/>
          <a:lstStyle/>
          <a:p>
            <a:pPr marL="0" indent="0">
              <a:lnSpc>
                <a:spcPts val="2750"/>
              </a:lnSpc>
              <a:buNone/>
            </a:pPr>
            <a:r>
              <a:rPr lang="en-US" sz="2200" dirty="0">
                <a:solidFill>
                  <a:srgbClr val="EDEDE8"/>
                </a:solidFill>
                <a:latin typeface="Tomorrow Semi Bold" pitchFamily="34" charset="0"/>
                <a:ea typeface="Tomorrow Semi Bold" pitchFamily="34" charset="-122"/>
                <a:cs typeface="Tomorrow Semi Bold" pitchFamily="34" charset="-120"/>
              </a:rPr>
              <a:t>VEDANT SUD</a:t>
            </a:r>
            <a:endParaRPr lang="en-US" sz="2200" dirty="0"/>
          </a:p>
        </p:txBody>
      </p:sp>
      <p:sp>
        <p:nvSpPr>
          <p:cNvPr id="6" name="Text 4"/>
          <p:cNvSpPr/>
          <p:nvPr/>
        </p:nvSpPr>
        <p:spPr>
          <a:xfrm>
            <a:off x="5332928" y="4759762"/>
            <a:ext cx="3978116" cy="362903"/>
          </a:xfrm>
          <a:prstGeom prst="rect">
            <a:avLst/>
          </a:prstGeom>
          <a:noFill/>
          <a:ln/>
        </p:spPr>
        <p:txBody>
          <a:bodyPr wrap="none" lIns="0" tIns="0" rIns="0" bIns="0" rtlCol="0" anchor="t"/>
          <a:lstStyle/>
          <a:p>
            <a:pPr marL="0" indent="0">
              <a:lnSpc>
                <a:spcPts val="2850"/>
              </a:lnSpc>
              <a:buNone/>
            </a:pPr>
            <a:r>
              <a:rPr lang="en-US" sz="1750" dirty="0">
                <a:solidFill>
                  <a:srgbClr val="C9C9C0"/>
                </a:solidFill>
                <a:latin typeface="Tomorrow" pitchFamily="34" charset="0"/>
                <a:ea typeface="Tomorrow" pitchFamily="34" charset="-122"/>
                <a:cs typeface="Tomorrow" pitchFamily="34" charset="-120"/>
              </a:rPr>
              <a:t>RVCE24BCH004</a:t>
            </a:r>
            <a:endParaRPr lang="en-US" sz="1750" dirty="0"/>
          </a:p>
        </p:txBody>
      </p:sp>
      <p:sp>
        <p:nvSpPr>
          <p:cNvPr id="7" name="Text 5"/>
          <p:cNvSpPr/>
          <p:nvPr/>
        </p:nvSpPr>
        <p:spPr>
          <a:xfrm>
            <a:off x="9872067" y="4178617"/>
            <a:ext cx="2835235" cy="354330"/>
          </a:xfrm>
          <a:prstGeom prst="rect">
            <a:avLst/>
          </a:prstGeom>
          <a:noFill/>
          <a:ln/>
        </p:spPr>
        <p:txBody>
          <a:bodyPr wrap="none" lIns="0" tIns="0" rIns="0" bIns="0" rtlCol="0" anchor="t"/>
          <a:lstStyle/>
          <a:p>
            <a:pPr marL="0" indent="0">
              <a:lnSpc>
                <a:spcPts val="2750"/>
              </a:lnSpc>
              <a:buNone/>
            </a:pPr>
            <a:r>
              <a:rPr lang="en-US" sz="2200" dirty="0">
                <a:solidFill>
                  <a:srgbClr val="EDEDE8"/>
                </a:solidFill>
                <a:latin typeface="Tomorrow Semi Bold" pitchFamily="34" charset="0"/>
                <a:ea typeface="Tomorrow Semi Bold" pitchFamily="34" charset="-122"/>
                <a:cs typeface="Tomorrow Semi Bold" pitchFamily="34" charset="-120"/>
              </a:rPr>
              <a:t>NEHAL KARJAGI</a:t>
            </a:r>
            <a:endParaRPr lang="en-US" sz="2200" dirty="0"/>
          </a:p>
        </p:txBody>
      </p:sp>
      <p:sp>
        <p:nvSpPr>
          <p:cNvPr id="8" name="Text 6"/>
          <p:cNvSpPr/>
          <p:nvPr/>
        </p:nvSpPr>
        <p:spPr>
          <a:xfrm>
            <a:off x="9872067" y="4759762"/>
            <a:ext cx="3978116" cy="362903"/>
          </a:xfrm>
          <a:prstGeom prst="rect">
            <a:avLst/>
          </a:prstGeom>
          <a:noFill/>
          <a:ln/>
        </p:spPr>
        <p:txBody>
          <a:bodyPr wrap="none" lIns="0" tIns="0" rIns="0" bIns="0" rtlCol="0" anchor="t"/>
          <a:lstStyle/>
          <a:p>
            <a:pPr marL="0" indent="0">
              <a:lnSpc>
                <a:spcPts val="2850"/>
              </a:lnSpc>
              <a:buNone/>
            </a:pPr>
            <a:r>
              <a:rPr lang="en-US" sz="1750" dirty="0">
                <a:solidFill>
                  <a:srgbClr val="C9C9C0"/>
                </a:solidFill>
                <a:latin typeface="Tomorrow" pitchFamily="34" charset="0"/>
                <a:ea typeface="Tomorrow" pitchFamily="34" charset="-122"/>
                <a:cs typeface="Tomorrow" pitchFamily="34" charset="-120"/>
              </a:rPr>
              <a:t>RVCE24BCH008</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510076"/>
            <a:ext cx="7556421" cy="1417558"/>
          </a:xfrm>
          <a:prstGeom prst="rect">
            <a:avLst/>
          </a:prstGeom>
          <a:noFill/>
          <a:ln/>
        </p:spPr>
        <p:txBody>
          <a:bodyPr wrap="square" lIns="0" tIns="0" rIns="0" bIns="0" rtlCol="0" anchor="t"/>
          <a:lstStyle/>
          <a:p>
            <a:pPr marL="0" indent="0">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Smart Plant Watering System</a:t>
            </a:r>
            <a:endParaRPr lang="en-US" sz="4450" dirty="0"/>
          </a:p>
        </p:txBody>
      </p:sp>
      <p:sp>
        <p:nvSpPr>
          <p:cNvPr id="4" name="Text 1"/>
          <p:cNvSpPr/>
          <p:nvPr/>
        </p:nvSpPr>
        <p:spPr>
          <a:xfrm>
            <a:off x="793790" y="4267795"/>
            <a:ext cx="7556421" cy="1451610"/>
          </a:xfrm>
          <a:prstGeom prst="rect">
            <a:avLst/>
          </a:prstGeom>
          <a:noFill/>
          <a:ln/>
        </p:spPr>
        <p:txBody>
          <a:bodyPr wrap="square" lIns="0" tIns="0" rIns="0" bIns="0" rtlCol="0" anchor="t"/>
          <a:lstStyle/>
          <a:p>
            <a:pPr marL="0" indent="0">
              <a:lnSpc>
                <a:spcPts val="2850"/>
              </a:lnSpc>
              <a:buNone/>
            </a:pPr>
            <a:r>
              <a:rPr lang="en-US" sz="1750" dirty="0">
                <a:solidFill>
                  <a:srgbClr val="C9C9C0"/>
                </a:solidFill>
                <a:latin typeface="Tomorrow" pitchFamily="34" charset="0"/>
                <a:ea typeface="Tomorrow" pitchFamily="34" charset="-122"/>
                <a:cs typeface="Tomorrow" pitchFamily="34" charset="-120"/>
              </a:rPr>
              <a:t>This system utilizes an Arduino Uno microcontroller, a soil moisture sensor, a relay module, a water pump, and a power source. By monitoring soil moisture levels, it automatically waters plants as needed, reducing water waste and promoting healthier plant growth.</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444109"/>
            <a:ext cx="5932884" cy="708779"/>
          </a:xfrm>
          <a:prstGeom prst="rect">
            <a:avLst/>
          </a:prstGeom>
          <a:noFill/>
          <a:ln/>
        </p:spPr>
        <p:txBody>
          <a:bodyPr wrap="none" lIns="0" tIns="0" rIns="0" bIns="0" rtlCol="0" anchor="t"/>
          <a:lstStyle/>
          <a:p>
            <a:pPr marL="0" indent="0">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Problem Statements</a:t>
            </a:r>
            <a:endParaRPr lang="en-US" sz="4450" dirty="0"/>
          </a:p>
        </p:txBody>
      </p:sp>
      <p:sp>
        <p:nvSpPr>
          <p:cNvPr id="4" name="Shape 1"/>
          <p:cNvSpPr/>
          <p:nvPr/>
        </p:nvSpPr>
        <p:spPr>
          <a:xfrm>
            <a:off x="793790" y="2493050"/>
            <a:ext cx="3664863" cy="2395657"/>
          </a:xfrm>
          <a:prstGeom prst="roundRect">
            <a:avLst>
              <a:gd name="adj" fmla="val 1420"/>
            </a:avLst>
          </a:prstGeom>
          <a:solidFill>
            <a:srgbClr val="3C3C3A"/>
          </a:solidFill>
          <a:ln/>
        </p:spPr>
      </p:sp>
      <p:sp>
        <p:nvSpPr>
          <p:cNvPr id="5" name="Text 2"/>
          <p:cNvSpPr/>
          <p:nvPr/>
        </p:nvSpPr>
        <p:spPr>
          <a:xfrm>
            <a:off x="1020604" y="2719864"/>
            <a:ext cx="3188018" cy="354330"/>
          </a:xfrm>
          <a:prstGeom prst="rect">
            <a:avLst/>
          </a:prstGeom>
          <a:noFill/>
          <a:ln/>
        </p:spPr>
        <p:txBody>
          <a:bodyPr wrap="none" lIns="0" tIns="0" rIns="0" bIns="0" rtlCol="0" anchor="t"/>
          <a:lstStyle/>
          <a:p>
            <a:pPr marL="0" indent="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Inconsistent Watering</a:t>
            </a:r>
            <a:endParaRPr lang="en-US" sz="2200" dirty="0"/>
          </a:p>
        </p:txBody>
      </p:sp>
      <p:sp>
        <p:nvSpPr>
          <p:cNvPr id="6" name="Text 3"/>
          <p:cNvSpPr/>
          <p:nvPr/>
        </p:nvSpPr>
        <p:spPr>
          <a:xfrm>
            <a:off x="1020604" y="3210282"/>
            <a:ext cx="3211235" cy="1088708"/>
          </a:xfrm>
          <a:prstGeom prst="rect">
            <a:avLst/>
          </a:prstGeom>
          <a:noFill/>
          <a:ln/>
        </p:spPr>
        <p:txBody>
          <a:bodyPr wrap="square" lIns="0" tIns="0" rIns="0" bIns="0" rtlCol="0" anchor="t"/>
          <a:lstStyle/>
          <a:p>
            <a:pPr marL="0" indent="0">
              <a:lnSpc>
                <a:spcPts val="2850"/>
              </a:lnSpc>
              <a:buNone/>
            </a:pPr>
            <a:r>
              <a:rPr lang="en-US" sz="1750" dirty="0">
                <a:solidFill>
                  <a:srgbClr val="C9C9C0"/>
                </a:solidFill>
                <a:latin typeface="Tomorrow" pitchFamily="34" charset="0"/>
                <a:ea typeface="Tomorrow" pitchFamily="34" charset="-122"/>
                <a:cs typeface="Tomorrow" pitchFamily="34" charset="-120"/>
              </a:rPr>
              <a:t>Plants often receive either too little or too much water, leading to wilting or root rot.</a:t>
            </a:r>
            <a:endParaRPr lang="en-US" sz="1750" dirty="0"/>
          </a:p>
        </p:txBody>
      </p:sp>
      <p:sp>
        <p:nvSpPr>
          <p:cNvPr id="7" name="Shape 4"/>
          <p:cNvSpPr/>
          <p:nvPr/>
        </p:nvSpPr>
        <p:spPr>
          <a:xfrm>
            <a:off x="4685467" y="2493050"/>
            <a:ext cx="3664863" cy="2395657"/>
          </a:xfrm>
          <a:prstGeom prst="roundRect">
            <a:avLst>
              <a:gd name="adj" fmla="val 1420"/>
            </a:avLst>
          </a:prstGeom>
          <a:solidFill>
            <a:srgbClr val="3C3C3A"/>
          </a:solidFill>
          <a:ln/>
        </p:spPr>
      </p:sp>
      <p:sp>
        <p:nvSpPr>
          <p:cNvPr id="8" name="Text 5"/>
          <p:cNvSpPr/>
          <p:nvPr/>
        </p:nvSpPr>
        <p:spPr>
          <a:xfrm>
            <a:off x="4912281" y="2719864"/>
            <a:ext cx="2835235" cy="354330"/>
          </a:xfrm>
          <a:prstGeom prst="rect">
            <a:avLst/>
          </a:prstGeom>
          <a:noFill/>
          <a:ln/>
        </p:spPr>
        <p:txBody>
          <a:bodyPr wrap="none" lIns="0" tIns="0" rIns="0" bIns="0" rtlCol="0" anchor="t"/>
          <a:lstStyle/>
          <a:p>
            <a:pPr marL="0" indent="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Time Constraints</a:t>
            </a:r>
            <a:endParaRPr lang="en-US" sz="2200" dirty="0"/>
          </a:p>
        </p:txBody>
      </p:sp>
      <p:sp>
        <p:nvSpPr>
          <p:cNvPr id="9" name="Text 6"/>
          <p:cNvSpPr/>
          <p:nvPr/>
        </p:nvSpPr>
        <p:spPr>
          <a:xfrm>
            <a:off x="4912281" y="3210282"/>
            <a:ext cx="3211235" cy="1451610"/>
          </a:xfrm>
          <a:prstGeom prst="rect">
            <a:avLst/>
          </a:prstGeom>
          <a:noFill/>
          <a:ln/>
        </p:spPr>
        <p:txBody>
          <a:bodyPr wrap="square" lIns="0" tIns="0" rIns="0" bIns="0" rtlCol="0" anchor="t"/>
          <a:lstStyle/>
          <a:p>
            <a:pPr marL="0" indent="0">
              <a:lnSpc>
                <a:spcPts val="2850"/>
              </a:lnSpc>
              <a:buNone/>
            </a:pPr>
            <a:r>
              <a:rPr lang="en-US" sz="1750" dirty="0">
                <a:solidFill>
                  <a:srgbClr val="C9C9C0"/>
                </a:solidFill>
                <a:latin typeface="Tomorrow" pitchFamily="34" charset="0"/>
                <a:ea typeface="Tomorrow" pitchFamily="34" charset="-122"/>
                <a:cs typeface="Tomorrow" pitchFamily="34" charset="-120"/>
              </a:rPr>
              <a:t>Busy schedules and travel make consistent plant care challenging, leading to neglected plants.</a:t>
            </a:r>
            <a:endParaRPr lang="en-US" sz="1750" dirty="0"/>
          </a:p>
        </p:txBody>
      </p:sp>
      <p:sp>
        <p:nvSpPr>
          <p:cNvPr id="10" name="Shape 7"/>
          <p:cNvSpPr/>
          <p:nvPr/>
        </p:nvSpPr>
        <p:spPr>
          <a:xfrm>
            <a:off x="793790" y="5115520"/>
            <a:ext cx="7556421" cy="1669852"/>
          </a:xfrm>
          <a:prstGeom prst="roundRect">
            <a:avLst>
              <a:gd name="adj" fmla="val 2038"/>
            </a:avLst>
          </a:prstGeom>
          <a:solidFill>
            <a:srgbClr val="3C3C3A"/>
          </a:solidFill>
          <a:ln/>
        </p:spPr>
      </p:sp>
      <p:sp>
        <p:nvSpPr>
          <p:cNvPr id="11" name="Text 8"/>
          <p:cNvSpPr/>
          <p:nvPr/>
        </p:nvSpPr>
        <p:spPr>
          <a:xfrm>
            <a:off x="1020604" y="5342334"/>
            <a:ext cx="2835235" cy="354330"/>
          </a:xfrm>
          <a:prstGeom prst="rect">
            <a:avLst/>
          </a:prstGeom>
          <a:noFill/>
          <a:ln/>
        </p:spPr>
        <p:txBody>
          <a:bodyPr wrap="none" lIns="0" tIns="0" rIns="0" bIns="0" rtlCol="0" anchor="t"/>
          <a:lstStyle/>
          <a:p>
            <a:pPr marL="0" indent="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Water Waste</a:t>
            </a:r>
            <a:endParaRPr lang="en-US" sz="2200" dirty="0"/>
          </a:p>
        </p:txBody>
      </p:sp>
      <p:sp>
        <p:nvSpPr>
          <p:cNvPr id="12" name="Text 9"/>
          <p:cNvSpPr/>
          <p:nvPr/>
        </p:nvSpPr>
        <p:spPr>
          <a:xfrm>
            <a:off x="1020604" y="5832753"/>
            <a:ext cx="7102793" cy="725805"/>
          </a:xfrm>
          <a:prstGeom prst="rect">
            <a:avLst/>
          </a:prstGeom>
          <a:noFill/>
          <a:ln/>
        </p:spPr>
        <p:txBody>
          <a:bodyPr wrap="square" lIns="0" tIns="0" rIns="0" bIns="0" rtlCol="0" anchor="t"/>
          <a:lstStyle/>
          <a:p>
            <a:pPr marL="0" indent="0">
              <a:lnSpc>
                <a:spcPts val="2850"/>
              </a:lnSpc>
              <a:buNone/>
            </a:pPr>
            <a:r>
              <a:rPr lang="en-US" sz="1750" dirty="0">
                <a:solidFill>
                  <a:srgbClr val="C9C9C0"/>
                </a:solidFill>
                <a:latin typeface="Tomorrow" pitchFamily="34" charset="0"/>
                <a:ea typeface="Tomorrow" pitchFamily="34" charset="-122"/>
                <a:cs typeface="Tomorrow" pitchFamily="34" charset="-120"/>
              </a:rPr>
              <a:t>Overwatering is wasteful and can contribute to environmental problems.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804392"/>
            <a:ext cx="5670590" cy="708779"/>
          </a:xfrm>
          <a:prstGeom prst="rect">
            <a:avLst/>
          </a:prstGeom>
          <a:noFill/>
          <a:ln/>
        </p:spPr>
        <p:txBody>
          <a:bodyPr wrap="none" lIns="0" tIns="0" rIns="0" bIns="0" rtlCol="0" anchor="t"/>
          <a:lstStyle/>
          <a:p>
            <a:pPr marL="0" indent="0">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Components</a:t>
            </a:r>
            <a:endParaRPr lang="en-US" sz="4450" dirty="0"/>
          </a:p>
        </p:txBody>
      </p:sp>
      <p:sp>
        <p:nvSpPr>
          <p:cNvPr id="3" name="Text 1"/>
          <p:cNvSpPr/>
          <p:nvPr/>
        </p:nvSpPr>
        <p:spPr>
          <a:xfrm>
            <a:off x="793790" y="2966799"/>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9C9C0"/>
                </a:solidFill>
                <a:latin typeface="Tomorrow" pitchFamily="34" charset="0"/>
                <a:ea typeface="Tomorrow" pitchFamily="34" charset="-122"/>
                <a:cs typeface="Tomorrow" pitchFamily="34" charset="-120"/>
              </a:rPr>
              <a:t>Arduino Uno – 1</a:t>
            </a:r>
            <a:endParaRPr lang="en-US" sz="1750" dirty="0"/>
          </a:p>
        </p:txBody>
      </p:sp>
      <p:sp>
        <p:nvSpPr>
          <p:cNvPr id="4" name="Text 2"/>
          <p:cNvSpPr/>
          <p:nvPr/>
        </p:nvSpPr>
        <p:spPr>
          <a:xfrm>
            <a:off x="793790" y="3408998"/>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9C9C0"/>
                </a:solidFill>
                <a:latin typeface="Tomorrow" pitchFamily="34" charset="0"/>
                <a:ea typeface="Tomorrow" pitchFamily="34" charset="-122"/>
                <a:cs typeface="Tomorrow" pitchFamily="34" charset="-120"/>
              </a:rPr>
              <a:t>Soil Moisture Sensor – 1</a:t>
            </a:r>
            <a:endParaRPr lang="en-US" sz="1750" dirty="0"/>
          </a:p>
        </p:txBody>
      </p:sp>
      <p:sp>
        <p:nvSpPr>
          <p:cNvPr id="5" name="Text 3"/>
          <p:cNvSpPr/>
          <p:nvPr/>
        </p:nvSpPr>
        <p:spPr>
          <a:xfrm>
            <a:off x="793790" y="3851196"/>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9C9C0"/>
                </a:solidFill>
                <a:latin typeface="Tomorrow" pitchFamily="34" charset="0"/>
                <a:ea typeface="Tomorrow" pitchFamily="34" charset="-122"/>
                <a:cs typeface="Tomorrow" pitchFamily="34" charset="-120"/>
              </a:rPr>
              <a:t>Water Pump (small DC) – 1</a:t>
            </a:r>
            <a:endParaRPr lang="en-US" sz="1750" dirty="0"/>
          </a:p>
        </p:txBody>
      </p:sp>
      <p:sp>
        <p:nvSpPr>
          <p:cNvPr id="6" name="Text 4"/>
          <p:cNvSpPr/>
          <p:nvPr/>
        </p:nvSpPr>
        <p:spPr>
          <a:xfrm>
            <a:off x="793790" y="4293394"/>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9C9C0"/>
                </a:solidFill>
                <a:latin typeface="Tomorrow" pitchFamily="34" charset="0"/>
                <a:ea typeface="Tomorrow" pitchFamily="34" charset="-122"/>
                <a:cs typeface="Tomorrow" pitchFamily="34" charset="-120"/>
              </a:rPr>
              <a:t>Relay Module (5V) – 1</a:t>
            </a:r>
            <a:endParaRPr lang="en-US" sz="1750" dirty="0"/>
          </a:p>
        </p:txBody>
      </p:sp>
      <p:sp>
        <p:nvSpPr>
          <p:cNvPr id="7" name="Text 5"/>
          <p:cNvSpPr/>
          <p:nvPr/>
        </p:nvSpPr>
        <p:spPr>
          <a:xfrm>
            <a:off x="793790" y="4735592"/>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9C9C0"/>
                </a:solidFill>
                <a:latin typeface="Tomorrow" pitchFamily="34" charset="0"/>
                <a:ea typeface="Tomorrow" pitchFamily="34" charset="-122"/>
                <a:cs typeface="Tomorrow" pitchFamily="34" charset="-120"/>
              </a:rPr>
              <a:t>12V Power Supply – For the pump</a:t>
            </a:r>
            <a:endParaRPr lang="en-US" sz="1750" dirty="0"/>
          </a:p>
        </p:txBody>
      </p:sp>
      <p:sp>
        <p:nvSpPr>
          <p:cNvPr id="8" name="Text 6"/>
          <p:cNvSpPr/>
          <p:nvPr/>
        </p:nvSpPr>
        <p:spPr>
          <a:xfrm>
            <a:off x="793790" y="5177790"/>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9C9C0"/>
                </a:solidFill>
                <a:latin typeface="Tomorrow" pitchFamily="34" charset="0"/>
                <a:ea typeface="Tomorrow" pitchFamily="34" charset="-122"/>
                <a:cs typeface="Tomorrow" pitchFamily="34" charset="-120"/>
              </a:rPr>
              <a:t>Jumper Wires – Multiple</a:t>
            </a:r>
            <a:endParaRPr lang="en-US" sz="1750" dirty="0"/>
          </a:p>
        </p:txBody>
      </p:sp>
      <p:sp>
        <p:nvSpPr>
          <p:cNvPr id="9" name="Text 7"/>
          <p:cNvSpPr/>
          <p:nvPr/>
        </p:nvSpPr>
        <p:spPr>
          <a:xfrm>
            <a:off x="793790" y="5619988"/>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9C9C0"/>
                </a:solidFill>
                <a:latin typeface="Tomorrow" pitchFamily="34" charset="0"/>
                <a:ea typeface="Tomorrow" pitchFamily="34" charset="-122"/>
                <a:cs typeface="Tomorrow" pitchFamily="34" charset="-120"/>
              </a:rPr>
              <a:t>Breadboard – 1</a:t>
            </a:r>
            <a:endParaRPr lang="en-US" sz="1750" dirty="0"/>
          </a:p>
        </p:txBody>
      </p:sp>
      <p:sp>
        <p:nvSpPr>
          <p:cNvPr id="10" name="Text 8"/>
          <p:cNvSpPr/>
          <p:nvPr/>
        </p:nvSpPr>
        <p:spPr>
          <a:xfrm>
            <a:off x="793790" y="6062186"/>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C9C9C0"/>
                </a:solidFill>
                <a:latin typeface="Tomorrow" pitchFamily="34" charset="0"/>
                <a:ea typeface="Tomorrow" pitchFamily="34" charset="-122"/>
                <a:cs typeface="Tomorrow" pitchFamily="34" charset="-120"/>
              </a:rPr>
              <a:t>LCD – To indicate water pumping</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63151" y="685443"/>
            <a:ext cx="5635585" cy="604242"/>
          </a:xfrm>
          <a:prstGeom prst="rect">
            <a:avLst/>
          </a:prstGeom>
          <a:noFill/>
          <a:ln/>
        </p:spPr>
        <p:txBody>
          <a:bodyPr wrap="none" lIns="0" tIns="0" rIns="0" bIns="0" rtlCol="0" anchor="t"/>
          <a:lstStyle/>
          <a:p>
            <a:pPr marL="0" indent="0">
              <a:lnSpc>
                <a:spcPts val="4750"/>
              </a:lnSpc>
              <a:buNone/>
            </a:pPr>
            <a:r>
              <a:rPr lang="en-US" sz="3800" dirty="0">
                <a:solidFill>
                  <a:srgbClr val="EDEDE8"/>
                </a:solidFill>
                <a:latin typeface="Tomorrow Semi Bold" pitchFamily="34" charset="0"/>
                <a:ea typeface="Tomorrow Semi Bold" pitchFamily="34" charset="-122"/>
                <a:cs typeface="Tomorrow Semi Bold" pitchFamily="34" charset="-120"/>
              </a:rPr>
              <a:t>How the System Works</a:t>
            </a:r>
            <a:endParaRPr lang="en-US" sz="3800" dirty="0"/>
          </a:p>
        </p:txBody>
      </p:sp>
      <p:sp>
        <p:nvSpPr>
          <p:cNvPr id="4" name="Shape 1"/>
          <p:cNvSpPr/>
          <p:nvPr/>
        </p:nvSpPr>
        <p:spPr>
          <a:xfrm>
            <a:off x="6441757" y="1579721"/>
            <a:ext cx="22860" cy="5964317"/>
          </a:xfrm>
          <a:prstGeom prst="roundRect">
            <a:avLst>
              <a:gd name="adj" fmla="val 126876"/>
            </a:avLst>
          </a:prstGeom>
          <a:solidFill>
            <a:srgbClr val="555553"/>
          </a:solidFill>
          <a:ln/>
        </p:spPr>
      </p:sp>
      <p:sp>
        <p:nvSpPr>
          <p:cNvPr id="5" name="Shape 2"/>
          <p:cNvSpPr/>
          <p:nvPr/>
        </p:nvSpPr>
        <p:spPr>
          <a:xfrm>
            <a:off x="6647855" y="2003346"/>
            <a:ext cx="676751" cy="22860"/>
          </a:xfrm>
          <a:prstGeom prst="roundRect">
            <a:avLst>
              <a:gd name="adj" fmla="val 126876"/>
            </a:avLst>
          </a:prstGeom>
          <a:solidFill>
            <a:srgbClr val="555553"/>
          </a:solidFill>
          <a:ln/>
        </p:spPr>
      </p:sp>
      <p:sp>
        <p:nvSpPr>
          <p:cNvPr id="6" name="Shape 3"/>
          <p:cNvSpPr/>
          <p:nvPr/>
        </p:nvSpPr>
        <p:spPr>
          <a:xfrm>
            <a:off x="6235660" y="1797248"/>
            <a:ext cx="435054" cy="435054"/>
          </a:xfrm>
          <a:prstGeom prst="roundRect">
            <a:avLst>
              <a:gd name="adj" fmla="val 6667"/>
            </a:avLst>
          </a:prstGeom>
          <a:solidFill>
            <a:srgbClr val="3C3C3A"/>
          </a:solidFill>
          <a:ln/>
        </p:spPr>
      </p:sp>
      <p:sp>
        <p:nvSpPr>
          <p:cNvPr id="7" name="Text 4"/>
          <p:cNvSpPr/>
          <p:nvPr/>
        </p:nvSpPr>
        <p:spPr>
          <a:xfrm>
            <a:off x="6387227" y="1869758"/>
            <a:ext cx="131921" cy="290036"/>
          </a:xfrm>
          <a:prstGeom prst="rect">
            <a:avLst/>
          </a:prstGeom>
          <a:noFill/>
          <a:ln/>
        </p:spPr>
        <p:txBody>
          <a:bodyPr wrap="none" lIns="0" tIns="0" rIns="0" bIns="0" rtlCol="0" anchor="t"/>
          <a:lstStyle/>
          <a:p>
            <a:pPr marL="0" indent="0" algn="ctr">
              <a:lnSpc>
                <a:spcPts val="2250"/>
              </a:lnSpc>
              <a:buNone/>
            </a:pPr>
            <a:r>
              <a:rPr lang="en-US" sz="2250" dirty="0">
                <a:solidFill>
                  <a:srgbClr val="C9C9C0"/>
                </a:solidFill>
                <a:latin typeface="Tomorrow Semi Bold" pitchFamily="34" charset="0"/>
                <a:ea typeface="Tomorrow Semi Bold" pitchFamily="34" charset="-122"/>
                <a:cs typeface="Tomorrow Semi Bold" pitchFamily="34" charset="-120"/>
              </a:rPr>
              <a:t>1</a:t>
            </a:r>
            <a:endParaRPr lang="en-US" sz="2250" dirty="0"/>
          </a:p>
        </p:txBody>
      </p:sp>
      <p:sp>
        <p:nvSpPr>
          <p:cNvPr id="8" name="Text 5"/>
          <p:cNvSpPr/>
          <p:nvPr/>
        </p:nvSpPr>
        <p:spPr>
          <a:xfrm>
            <a:off x="7516654" y="1773079"/>
            <a:ext cx="2527459" cy="302062"/>
          </a:xfrm>
          <a:prstGeom prst="rect">
            <a:avLst/>
          </a:prstGeom>
          <a:noFill/>
          <a:ln/>
        </p:spPr>
        <p:txBody>
          <a:bodyPr wrap="none" lIns="0" tIns="0" rIns="0" bIns="0" rtlCol="0" anchor="t"/>
          <a:lstStyle/>
          <a:p>
            <a:pPr marL="0" indent="0" algn="l">
              <a:lnSpc>
                <a:spcPts val="2350"/>
              </a:lnSpc>
              <a:buNone/>
            </a:pPr>
            <a:r>
              <a:rPr lang="en-US" sz="1900" dirty="0">
                <a:solidFill>
                  <a:srgbClr val="C9C9C0"/>
                </a:solidFill>
                <a:latin typeface="Tomorrow Semi Bold" pitchFamily="34" charset="0"/>
                <a:ea typeface="Tomorrow Semi Bold" pitchFamily="34" charset="-122"/>
                <a:cs typeface="Tomorrow Semi Bold" pitchFamily="34" charset="-120"/>
              </a:rPr>
              <a:t>Soil Moisture Sensor</a:t>
            </a:r>
            <a:endParaRPr lang="en-US" sz="1900" dirty="0"/>
          </a:p>
        </p:txBody>
      </p:sp>
      <p:sp>
        <p:nvSpPr>
          <p:cNvPr id="9" name="Text 6"/>
          <p:cNvSpPr/>
          <p:nvPr/>
        </p:nvSpPr>
        <p:spPr>
          <a:xfrm>
            <a:off x="7516654" y="2191107"/>
            <a:ext cx="6436995" cy="618649"/>
          </a:xfrm>
          <a:prstGeom prst="rect">
            <a:avLst/>
          </a:prstGeom>
          <a:noFill/>
          <a:ln/>
        </p:spPr>
        <p:txBody>
          <a:bodyPr wrap="squar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Reads soil moisture level as an analog signal. A low reading indicates dry soil, while a high reading indicates moist soil.</a:t>
            </a:r>
            <a:endParaRPr lang="en-US" sz="1500" dirty="0"/>
          </a:p>
        </p:txBody>
      </p:sp>
      <p:sp>
        <p:nvSpPr>
          <p:cNvPr id="10" name="Shape 7"/>
          <p:cNvSpPr/>
          <p:nvPr/>
        </p:nvSpPr>
        <p:spPr>
          <a:xfrm>
            <a:off x="6647855" y="3620095"/>
            <a:ext cx="676751" cy="22860"/>
          </a:xfrm>
          <a:prstGeom prst="roundRect">
            <a:avLst>
              <a:gd name="adj" fmla="val 126876"/>
            </a:avLst>
          </a:prstGeom>
          <a:solidFill>
            <a:srgbClr val="555553"/>
          </a:solidFill>
          <a:ln/>
        </p:spPr>
      </p:sp>
      <p:sp>
        <p:nvSpPr>
          <p:cNvPr id="11" name="Shape 8"/>
          <p:cNvSpPr/>
          <p:nvPr/>
        </p:nvSpPr>
        <p:spPr>
          <a:xfrm>
            <a:off x="6235660" y="3413998"/>
            <a:ext cx="435054" cy="435054"/>
          </a:xfrm>
          <a:prstGeom prst="roundRect">
            <a:avLst>
              <a:gd name="adj" fmla="val 6667"/>
            </a:avLst>
          </a:prstGeom>
          <a:solidFill>
            <a:srgbClr val="3C3C3A"/>
          </a:solidFill>
          <a:ln/>
        </p:spPr>
      </p:sp>
      <p:sp>
        <p:nvSpPr>
          <p:cNvPr id="12" name="Text 9"/>
          <p:cNvSpPr/>
          <p:nvPr/>
        </p:nvSpPr>
        <p:spPr>
          <a:xfrm>
            <a:off x="6355675" y="3486507"/>
            <a:ext cx="194905" cy="290036"/>
          </a:xfrm>
          <a:prstGeom prst="rect">
            <a:avLst/>
          </a:prstGeom>
          <a:noFill/>
          <a:ln/>
        </p:spPr>
        <p:txBody>
          <a:bodyPr wrap="none" lIns="0" tIns="0" rIns="0" bIns="0" rtlCol="0" anchor="t"/>
          <a:lstStyle/>
          <a:p>
            <a:pPr marL="0" indent="0" algn="ctr">
              <a:lnSpc>
                <a:spcPts val="2250"/>
              </a:lnSpc>
              <a:buNone/>
            </a:pPr>
            <a:r>
              <a:rPr lang="en-US" sz="2250" dirty="0">
                <a:solidFill>
                  <a:srgbClr val="C9C9C0"/>
                </a:solidFill>
                <a:latin typeface="Tomorrow Semi Bold" pitchFamily="34" charset="0"/>
                <a:ea typeface="Tomorrow Semi Bold" pitchFamily="34" charset="-122"/>
                <a:cs typeface="Tomorrow Semi Bold" pitchFamily="34" charset="-120"/>
              </a:rPr>
              <a:t>2</a:t>
            </a:r>
            <a:endParaRPr lang="en-US" sz="2250" dirty="0"/>
          </a:p>
        </p:txBody>
      </p:sp>
      <p:sp>
        <p:nvSpPr>
          <p:cNvPr id="13" name="Text 10"/>
          <p:cNvSpPr/>
          <p:nvPr/>
        </p:nvSpPr>
        <p:spPr>
          <a:xfrm>
            <a:off x="7516654" y="3389828"/>
            <a:ext cx="2416969" cy="302062"/>
          </a:xfrm>
          <a:prstGeom prst="rect">
            <a:avLst/>
          </a:prstGeom>
          <a:noFill/>
          <a:ln/>
        </p:spPr>
        <p:txBody>
          <a:bodyPr wrap="none" lIns="0" tIns="0" rIns="0" bIns="0" rtlCol="0" anchor="t"/>
          <a:lstStyle/>
          <a:p>
            <a:pPr marL="0" indent="0" algn="l">
              <a:lnSpc>
                <a:spcPts val="2350"/>
              </a:lnSpc>
              <a:buNone/>
            </a:pPr>
            <a:r>
              <a:rPr lang="en-US" sz="1900" dirty="0">
                <a:solidFill>
                  <a:srgbClr val="C9C9C0"/>
                </a:solidFill>
                <a:latin typeface="Tomorrow Semi Bold" pitchFamily="34" charset="0"/>
                <a:ea typeface="Tomorrow Semi Bold" pitchFamily="34" charset="-122"/>
                <a:cs typeface="Tomorrow Semi Bold" pitchFamily="34" charset="-120"/>
              </a:rPr>
              <a:t>Relay Module</a:t>
            </a:r>
            <a:endParaRPr lang="en-US" sz="1900" dirty="0"/>
          </a:p>
        </p:txBody>
      </p:sp>
      <p:sp>
        <p:nvSpPr>
          <p:cNvPr id="14" name="Text 11"/>
          <p:cNvSpPr/>
          <p:nvPr/>
        </p:nvSpPr>
        <p:spPr>
          <a:xfrm>
            <a:off x="7516654" y="3807857"/>
            <a:ext cx="6436995" cy="618649"/>
          </a:xfrm>
          <a:prstGeom prst="rect">
            <a:avLst/>
          </a:prstGeom>
          <a:noFill/>
          <a:ln/>
        </p:spPr>
        <p:txBody>
          <a:bodyPr wrap="squar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Acts as a switch to control the water pump. The Arduino activates the relay to power the pump.</a:t>
            </a:r>
            <a:endParaRPr lang="en-US" sz="1500" dirty="0"/>
          </a:p>
        </p:txBody>
      </p:sp>
      <p:sp>
        <p:nvSpPr>
          <p:cNvPr id="15" name="Shape 12"/>
          <p:cNvSpPr/>
          <p:nvPr/>
        </p:nvSpPr>
        <p:spPr>
          <a:xfrm>
            <a:off x="6647855" y="5236845"/>
            <a:ext cx="676751" cy="22860"/>
          </a:xfrm>
          <a:prstGeom prst="roundRect">
            <a:avLst>
              <a:gd name="adj" fmla="val 126876"/>
            </a:avLst>
          </a:prstGeom>
          <a:solidFill>
            <a:srgbClr val="555553"/>
          </a:solidFill>
          <a:ln/>
        </p:spPr>
      </p:sp>
      <p:sp>
        <p:nvSpPr>
          <p:cNvPr id="16" name="Shape 13"/>
          <p:cNvSpPr/>
          <p:nvPr/>
        </p:nvSpPr>
        <p:spPr>
          <a:xfrm>
            <a:off x="6235660" y="5030748"/>
            <a:ext cx="435054" cy="435054"/>
          </a:xfrm>
          <a:prstGeom prst="roundRect">
            <a:avLst>
              <a:gd name="adj" fmla="val 6667"/>
            </a:avLst>
          </a:prstGeom>
          <a:solidFill>
            <a:srgbClr val="3C3C3A"/>
          </a:solidFill>
          <a:ln/>
        </p:spPr>
      </p:sp>
      <p:sp>
        <p:nvSpPr>
          <p:cNvPr id="17" name="Text 14"/>
          <p:cNvSpPr/>
          <p:nvPr/>
        </p:nvSpPr>
        <p:spPr>
          <a:xfrm>
            <a:off x="6356271" y="5103257"/>
            <a:ext cx="193715" cy="290036"/>
          </a:xfrm>
          <a:prstGeom prst="rect">
            <a:avLst/>
          </a:prstGeom>
          <a:noFill/>
          <a:ln/>
        </p:spPr>
        <p:txBody>
          <a:bodyPr wrap="none" lIns="0" tIns="0" rIns="0" bIns="0" rtlCol="0" anchor="t"/>
          <a:lstStyle/>
          <a:p>
            <a:pPr marL="0" indent="0" algn="ctr">
              <a:lnSpc>
                <a:spcPts val="2250"/>
              </a:lnSpc>
              <a:buNone/>
            </a:pPr>
            <a:r>
              <a:rPr lang="en-US" sz="2250" dirty="0">
                <a:solidFill>
                  <a:srgbClr val="C9C9C0"/>
                </a:solidFill>
                <a:latin typeface="Tomorrow Semi Bold" pitchFamily="34" charset="0"/>
                <a:ea typeface="Tomorrow Semi Bold" pitchFamily="34" charset="-122"/>
                <a:cs typeface="Tomorrow Semi Bold" pitchFamily="34" charset="-120"/>
              </a:rPr>
              <a:t>3</a:t>
            </a:r>
            <a:endParaRPr lang="en-US" sz="2250" dirty="0"/>
          </a:p>
        </p:txBody>
      </p:sp>
      <p:sp>
        <p:nvSpPr>
          <p:cNvPr id="18" name="Text 15"/>
          <p:cNvSpPr/>
          <p:nvPr/>
        </p:nvSpPr>
        <p:spPr>
          <a:xfrm>
            <a:off x="7516654" y="5006578"/>
            <a:ext cx="2416969" cy="302062"/>
          </a:xfrm>
          <a:prstGeom prst="rect">
            <a:avLst/>
          </a:prstGeom>
          <a:noFill/>
          <a:ln/>
        </p:spPr>
        <p:txBody>
          <a:bodyPr wrap="none" lIns="0" tIns="0" rIns="0" bIns="0" rtlCol="0" anchor="t"/>
          <a:lstStyle/>
          <a:p>
            <a:pPr marL="0" indent="0" algn="l">
              <a:lnSpc>
                <a:spcPts val="2350"/>
              </a:lnSpc>
              <a:buNone/>
            </a:pPr>
            <a:r>
              <a:rPr lang="en-US" sz="1900" dirty="0">
                <a:solidFill>
                  <a:srgbClr val="C9C9C0"/>
                </a:solidFill>
                <a:latin typeface="Tomorrow Semi Bold" pitchFamily="34" charset="0"/>
                <a:ea typeface="Tomorrow Semi Bold" pitchFamily="34" charset="-122"/>
                <a:cs typeface="Tomorrow Semi Bold" pitchFamily="34" charset="-120"/>
              </a:rPr>
              <a:t>Pump Activation</a:t>
            </a:r>
            <a:endParaRPr lang="en-US" sz="1900" dirty="0"/>
          </a:p>
        </p:txBody>
      </p:sp>
      <p:sp>
        <p:nvSpPr>
          <p:cNvPr id="19" name="Text 16"/>
          <p:cNvSpPr/>
          <p:nvPr/>
        </p:nvSpPr>
        <p:spPr>
          <a:xfrm>
            <a:off x="7516654" y="5424607"/>
            <a:ext cx="6436995" cy="309324"/>
          </a:xfrm>
          <a:prstGeom prst="rect">
            <a:avLst/>
          </a:prstGeom>
          <a:noFill/>
          <a:ln/>
        </p:spPr>
        <p:txBody>
          <a:bodyPr wrap="non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If the soil is dry, the pump turns on for 5 seconds to water the plant.</a:t>
            </a:r>
            <a:endParaRPr lang="en-US" sz="1500" dirty="0"/>
          </a:p>
        </p:txBody>
      </p:sp>
      <p:sp>
        <p:nvSpPr>
          <p:cNvPr id="20" name="Shape 17"/>
          <p:cNvSpPr/>
          <p:nvPr/>
        </p:nvSpPr>
        <p:spPr>
          <a:xfrm>
            <a:off x="6647855" y="6544270"/>
            <a:ext cx="676751" cy="22860"/>
          </a:xfrm>
          <a:prstGeom prst="roundRect">
            <a:avLst>
              <a:gd name="adj" fmla="val 126876"/>
            </a:avLst>
          </a:prstGeom>
          <a:solidFill>
            <a:srgbClr val="555553"/>
          </a:solidFill>
          <a:ln/>
        </p:spPr>
      </p:sp>
      <p:sp>
        <p:nvSpPr>
          <p:cNvPr id="21" name="Shape 18"/>
          <p:cNvSpPr/>
          <p:nvPr/>
        </p:nvSpPr>
        <p:spPr>
          <a:xfrm>
            <a:off x="6235660" y="6338173"/>
            <a:ext cx="435054" cy="435054"/>
          </a:xfrm>
          <a:prstGeom prst="roundRect">
            <a:avLst>
              <a:gd name="adj" fmla="val 6667"/>
            </a:avLst>
          </a:prstGeom>
          <a:solidFill>
            <a:srgbClr val="3C3C3A"/>
          </a:solidFill>
          <a:ln/>
        </p:spPr>
      </p:sp>
      <p:sp>
        <p:nvSpPr>
          <p:cNvPr id="22" name="Text 19"/>
          <p:cNvSpPr/>
          <p:nvPr/>
        </p:nvSpPr>
        <p:spPr>
          <a:xfrm>
            <a:off x="6355675" y="6410682"/>
            <a:ext cx="194905" cy="290036"/>
          </a:xfrm>
          <a:prstGeom prst="rect">
            <a:avLst/>
          </a:prstGeom>
          <a:noFill/>
          <a:ln/>
        </p:spPr>
        <p:txBody>
          <a:bodyPr wrap="none" lIns="0" tIns="0" rIns="0" bIns="0" rtlCol="0" anchor="t"/>
          <a:lstStyle/>
          <a:p>
            <a:pPr marL="0" indent="0" algn="ctr">
              <a:lnSpc>
                <a:spcPts val="2250"/>
              </a:lnSpc>
              <a:buNone/>
            </a:pPr>
            <a:r>
              <a:rPr lang="en-US" sz="2250" dirty="0">
                <a:solidFill>
                  <a:srgbClr val="C9C9C0"/>
                </a:solidFill>
                <a:latin typeface="Tomorrow Semi Bold" pitchFamily="34" charset="0"/>
                <a:ea typeface="Tomorrow Semi Bold" pitchFamily="34" charset="-122"/>
                <a:cs typeface="Tomorrow Semi Bold" pitchFamily="34" charset="-120"/>
              </a:rPr>
              <a:t>4</a:t>
            </a:r>
            <a:endParaRPr lang="en-US" sz="2250" dirty="0"/>
          </a:p>
        </p:txBody>
      </p:sp>
      <p:sp>
        <p:nvSpPr>
          <p:cNvPr id="23" name="Text 20"/>
          <p:cNvSpPr/>
          <p:nvPr/>
        </p:nvSpPr>
        <p:spPr>
          <a:xfrm>
            <a:off x="7516654" y="6314003"/>
            <a:ext cx="2416969" cy="302062"/>
          </a:xfrm>
          <a:prstGeom prst="rect">
            <a:avLst/>
          </a:prstGeom>
          <a:noFill/>
          <a:ln/>
        </p:spPr>
        <p:txBody>
          <a:bodyPr wrap="none" lIns="0" tIns="0" rIns="0" bIns="0" rtlCol="0" anchor="t"/>
          <a:lstStyle/>
          <a:p>
            <a:pPr marL="0" indent="0" algn="l">
              <a:lnSpc>
                <a:spcPts val="2350"/>
              </a:lnSpc>
              <a:buNone/>
            </a:pPr>
            <a:r>
              <a:rPr lang="en-US" sz="1900" dirty="0">
                <a:solidFill>
                  <a:srgbClr val="C9C9C0"/>
                </a:solidFill>
                <a:latin typeface="Tomorrow Semi Bold" pitchFamily="34" charset="0"/>
                <a:ea typeface="Tomorrow Semi Bold" pitchFamily="34" charset="-122"/>
                <a:cs typeface="Tomorrow Semi Bold" pitchFamily="34" charset="-120"/>
              </a:rPr>
              <a:t>LCD Indicator</a:t>
            </a:r>
            <a:endParaRPr lang="en-US" sz="1900" dirty="0"/>
          </a:p>
        </p:txBody>
      </p:sp>
      <p:sp>
        <p:nvSpPr>
          <p:cNvPr id="24" name="Text 21"/>
          <p:cNvSpPr/>
          <p:nvPr/>
        </p:nvSpPr>
        <p:spPr>
          <a:xfrm>
            <a:off x="7516654" y="6732032"/>
            <a:ext cx="6436995" cy="618649"/>
          </a:xfrm>
          <a:prstGeom prst="rect">
            <a:avLst/>
          </a:prstGeom>
          <a:noFill/>
          <a:ln/>
        </p:spPr>
        <p:txBody>
          <a:bodyPr wrap="square" lIns="0" tIns="0" rIns="0" bIns="0" rtlCol="0" anchor="t"/>
          <a:lstStyle/>
          <a:p>
            <a:pPr marL="0" indent="0" algn="l">
              <a:lnSpc>
                <a:spcPts val="2400"/>
              </a:lnSpc>
              <a:buNone/>
            </a:pPr>
            <a:r>
              <a:rPr lang="en-US" sz="1500" dirty="0">
                <a:solidFill>
                  <a:srgbClr val="C9C9C0"/>
                </a:solidFill>
                <a:latin typeface="Tomorrow" pitchFamily="34" charset="0"/>
                <a:ea typeface="Tomorrow" pitchFamily="34" charset="-122"/>
                <a:cs typeface="Tomorrow" pitchFamily="34" charset="-120"/>
              </a:rPr>
              <a:t>The LCD will be displayed when the pump is running, providing visual confirmation.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729151"/>
          </a:xfrm>
          <a:prstGeom prst="rect">
            <a:avLst/>
          </a:prstGeom>
        </p:spPr>
      </p:pic>
      <p:sp>
        <p:nvSpPr>
          <p:cNvPr id="3" name="Text 0"/>
          <p:cNvSpPr/>
          <p:nvPr/>
        </p:nvSpPr>
        <p:spPr>
          <a:xfrm>
            <a:off x="764143" y="3330297"/>
            <a:ext cx="7079456" cy="682347"/>
          </a:xfrm>
          <a:prstGeom prst="rect">
            <a:avLst/>
          </a:prstGeom>
          <a:noFill/>
          <a:ln/>
        </p:spPr>
        <p:txBody>
          <a:bodyPr wrap="none" lIns="0" tIns="0" rIns="0" bIns="0" rtlCol="0" anchor="t"/>
          <a:lstStyle/>
          <a:p>
            <a:pPr marL="0" indent="0">
              <a:lnSpc>
                <a:spcPts val="5350"/>
              </a:lnSpc>
              <a:buNone/>
            </a:pPr>
            <a:r>
              <a:rPr lang="en-US" sz="4250" dirty="0">
                <a:solidFill>
                  <a:srgbClr val="EDEDE8"/>
                </a:solidFill>
                <a:latin typeface="Tomorrow Semi Bold" pitchFamily="34" charset="0"/>
                <a:ea typeface="Tomorrow Semi Bold" pitchFamily="34" charset="-122"/>
                <a:cs typeface="Tomorrow Semi Bold" pitchFamily="34" charset="-120"/>
              </a:rPr>
              <a:t>Steps to Build the System</a:t>
            </a:r>
            <a:endParaRPr lang="en-US" sz="4250" dirty="0"/>
          </a:p>
        </p:txBody>
      </p:sp>
      <p:pic>
        <p:nvPicPr>
          <p:cNvPr id="4" name="Image 1" descr="preencoded.png"/>
          <p:cNvPicPr>
            <a:picLocks noChangeAspect="1"/>
          </p:cNvPicPr>
          <p:nvPr/>
        </p:nvPicPr>
        <p:blipFill>
          <a:blip r:embed="rId4"/>
          <a:stretch>
            <a:fillRect/>
          </a:stretch>
        </p:blipFill>
        <p:spPr>
          <a:xfrm>
            <a:off x="764143" y="4340066"/>
            <a:ext cx="4367332" cy="873323"/>
          </a:xfrm>
          <a:prstGeom prst="rect">
            <a:avLst/>
          </a:prstGeom>
        </p:spPr>
      </p:pic>
      <p:sp>
        <p:nvSpPr>
          <p:cNvPr id="5" name="Text 1"/>
          <p:cNvSpPr/>
          <p:nvPr/>
        </p:nvSpPr>
        <p:spPr>
          <a:xfrm>
            <a:off x="5349716" y="5540812"/>
            <a:ext cx="2729151" cy="341114"/>
          </a:xfrm>
          <a:prstGeom prst="rect">
            <a:avLst/>
          </a:prstGeom>
          <a:noFill/>
          <a:ln/>
        </p:spPr>
        <p:txBody>
          <a:bodyPr wrap="none" lIns="0" tIns="0" rIns="0" bIns="0" rtlCol="0" anchor="t"/>
          <a:lstStyle/>
          <a:p>
            <a:pPr marL="0" indent="0" algn="l">
              <a:lnSpc>
                <a:spcPts val="2650"/>
              </a:lnSpc>
              <a:buNone/>
            </a:pPr>
            <a:r>
              <a:rPr lang="en-US" sz="2100" dirty="0">
                <a:solidFill>
                  <a:srgbClr val="C9C9C0"/>
                </a:solidFill>
                <a:latin typeface="Tomorrow Semi Bold" pitchFamily="34" charset="0"/>
                <a:ea typeface="Tomorrow Semi Bold" pitchFamily="34" charset="-122"/>
                <a:cs typeface="Tomorrow Semi Bold" pitchFamily="34" charset="-120"/>
              </a:rPr>
              <a:t>Circuit Connections</a:t>
            </a:r>
            <a:endParaRPr lang="en-US" sz="2100" dirty="0"/>
          </a:p>
        </p:txBody>
      </p:sp>
      <p:sp>
        <p:nvSpPr>
          <p:cNvPr id="6" name="Text 2"/>
          <p:cNvSpPr/>
          <p:nvPr/>
        </p:nvSpPr>
        <p:spPr>
          <a:xfrm>
            <a:off x="5349716" y="6012894"/>
            <a:ext cx="3930848" cy="1789727"/>
          </a:xfrm>
          <a:prstGeom prst="rect">
            <a:avLst/>
          </a:prstGeom>
          <a:noFill/>
          <a:ln/>
        </p:spPr>
        <p:txBody>
          <a:bodyPr wrap="square" lIns="0" tIns="0" rIns="0" bIns="0" rtlCol="0" anchor="t"/>
          <a:lstStyle/>
          <a:p>
            <a:pPr marL="0" indent="0" algn="l">
              <a:lnSpc>
                <a:spcPts val="2750"/>
              </a:lnSpc>
              <a:buNone/>
            </a:pPr>
            <a:r>
              <a:rPr lang="en-US" sz="1700" dirty="0">
                <a:solidFill>
                  <a:srgbClr val="C9C9C0"/>
                </a:solidFill>
                <a:latin typeface="Tomorrow" pitchFamily="34" charset="0"/>
                <a:ea typeface="Tomorrow" pitchFamily="34" charset="-122"/>
                <a:cs typeface="Tomorrow" pitchFamily="34" charset="-120"/>
              </a:rPr>
              <a:t>Connect the soil moisture sensor, relay module, and water pump to the Arduino Uno according to the circuit diagram.</a:t>
            </a:r>
            <a:endParaRPr lang="en-US" sz="1700" dirty="0"/>
          </a:p>
        </p:txBody>
      </p:sp>
      <p:pic>
        <p:nvPicPr>
          <p:cNvPr id="7" name="Image 2" descr="preencoded.png"/>
          <p:cNvPicPr>
            <a:picLocks noChangeAspect="1"/>
          </p:cNvPicPr>
          <p:nvPr/>
        </p:nvPicPr>
        <p:blipFill>
          <a:blip r:embed="rId5"/>
          <a:stretch>
            <a:fillRect/>
          </a:stretch>
        </p:blipFill>
        <p:spPr>
          <a:xfrm>
            <a:off x="5131475" y="4340066"/>
            <a:ext cx="4367332" cy="873323"/>
          </a:xfrm>
          <a:prstGeom prst="rect">
            <a:avLst/>
          </a:prstGeom>
        </p:spPr>
      </p:pic>
      <p:sp>
        <p:nvSpPr>
          <p:cNvPr id="8" name="Text 3"/>
          <p:cNvSpPr/>
          <p:nvPr/>
        </p:nvSpPr>
        <p:spPr>
          <a:xfrm>
            <a:off x="982384" y="5540812"/>
            <a:ext cx="2729151" cy="341114"/>
          </a:xfrm>
          <a:prstGeom prst="rect">
            <a:avLst/>
          </a:prstGeom>
          <a:noFill/>
          <a:ln/>
        </p:spPr>
        <p:txBody>
          <a:bodyPr wrap="none" lIns="0" tIns="0" rIns="0" bIns="0" rtlCol="0" anchor="t"/>
          <a:lstStyle/>
          <a:p>
            <a:pPr marL="0" indent="0" algn="l">
              <a:lnSpc>
                <a:spcPts val="2650"/>
              </a:lnSpc>
              <a:buNone/>
            </a:pPr>
            <a:r>
              <a:rPr lang="en-US" sz="2100" dirty="0">
                <a:solidFill>
                  <a:srgbClr val="C9C9C0"/>
                </a:solidFill>
                <a:latin typeface="Tomorrow Semi Bold" pitchFamily="34" charset="0"/>
                <a:ea typeface="Tomorrow Semi Bold" pitchFamily="34" charset="-122"/>
                <a:cs typeface="Tomorrow Semi Bold" pitchFamily="34" charset="-120"/>
              </a:rPr>
              <a:t>Code Development</a:t>
            </a:r>
            <a:endParaRPr lang="en-US" sz="2100" dirty="0"/>
          </a:p>
        </p:txBody>
      </p:sp>
      <p:sp>
        <p:nvSpPr>
          <p:cNvPr id="9" name="Text 4"/>
          <p:cNvSpPr/>
          <p:nvPr/>
        </p:nvSpPr>
        <p:spPr>
          <a:xfrm>
            <a:off x="982384" y="6012894"/>
            <a:ext cx="3930848" cy="1397318"/>
          </a:xfrm>
          <a:prstGeom prst="rect">
            <a:avLst/>
          </a:prstGeom>
          <a:noFill/>
          <a:ln/>
        </p:spPr>
        <p:txBody>
          <a:bodyPr wrap="square" lIns="0" tIns="0" rIns="0" bIns="0" rtlCol="0" anchor="t"/>
          <a:lstStyle/>
          <a:p>
            <a:pPr marL="0" indent="0" algn="l">
              <a:lnSpc>
                <a:spcPts val="2750"/>
              </a:lnSpc>
              <a:buNone/>
            </a:pPr>
            <a:r>
              <a:rPr lang="en-US" sz="1700" dirty="0">
                <a:solidFill>
                  <a:srgbClr val="C9C9C0"/>
                </a:solidFill>
                <a:latin typeface="Tomorrow" pitchFamily="34" charset="0"/>
                <a:ea typeface="Tomorrow" pitchFamily="34" charset="-122"/>
                <a:cs typeface="Tomorrow" pitchFamily="34" charset="-120"/>
              </a:rPr>
              <a:t>Write and upload the Arduino code, which controls the system based on the sensor readings and activates the pump accordingly.</a:t>
            </a:r>
            <a:endParaRPr lang="en-US" sz="1700" dirty="0"/>
          </a:p>
        </p:txBody>
      </p:sp>
      <p:pic>
        <p:nvPicPr>
          <p:cNvPr id="10" name="Image 3" descr="preencoded.png"/>
          <p:cNvPicPr>
            <a:picLocks noChangeAspect="1"/>
          </p:cNvPicPr>
          <p:nvPr/>
        </p:nvPicPr>
        <p:blipFill>
          <a:blip r:embed="rId6"/>
          <a:stretch>
            <a:fillRect/>
          </a:stretch>
        </p:blipFill>
        <p:spPr>
          <a:xfrm>
            <a:off x="9498806" y="4340066"/>
            <a:ext cx="4367332" cy="873323"/>
          </a:xfrm>
          <a:prstGeom prst="rect">
            <a:avLst/>
          </a:prstGeom>
        </p:spPr>
      </p:pic>
      <p:sp>
        <p:nvSpPr>
          <p:cNvPr id="11" name="Text 5"/>
          <p:cNvSpPr/>
          <p:nvPr/>
        </p:nvSpPr>
        <p:spPr>
          <a:xfrm>
            <a:off x="9717048" y="5540812"/>
            <a:ext cx="3161467" cy="341114"/>
          </a:xfrm>
          <a:prstGeom prst="rect">
            <a:avLst/>
          </a:prstGeom>
          <a:noFill/>
          <a:ln/>
        </p:spPr>
        <p:txBody>
          <a:bodyPr wrap="none" lIns="0" tIns="0" rIns="0" bIns="0" rtlCol="0" anchor="t"/>
          <a:lstStyle/>
          <a:p>
            <a:pPr marL="0" indent="0" algn="l">
              <a:lnSpc>
                <a:spcPts val="2650"/>
              </a:lnSpc>
              <a:buNone/>
            </a:pPr>
            <a:r>
              <a:rPr lang="en-US" sz="2100" dirty="0">
                <a:solidFill>
                  <a:srgbClr val="C9C9C0"/>
                </a:solidFill>
                <a:latin typeface="Tomorrow Semi Bold" pitchFamily="34" charset="0"/>
                <a:ea typeface="Tomorrow Semi Bold" pitchFamily="34" charset="-122"/>
                <a:cs typeface="Tomorrow Semi Bold" pitchFamily="34" charset="-120"/>
              </a:rPr>
              <a:t>Testing and Calibration</a:t>
            </a:r>
            <a:endParaRPr lang="en-US" sz="2100" dirty="0"/>
          </a:p>
        </p:txBody>
      </p:sp>
      <p:sp>
        <p:nvSpPr>
          <p:cNvPr id="12" name="Text 6"/>
          <p:cNvSpPr/>
          <p:nvPr/>
        </p:nvSpPr>
        <p:spPr>
          <a:xfrm>
            <a:off x="9717048" y="6012894"/>
            <a:ext cx="3930848" cy="1397318"/>
          </a:xfrm>
          <a:prstGeom prst="rect">
            <a:avLst/>
          </a:prstGeom>
          <a:noFill/>
          <a:ln/>
        </p:spPr>
        <p:txBody>
          <a:bodyPr wrap="square" lIns="0" tIns="0" rIns="0" bIns="0" rtlCol="0" anchor="t"/>
          <a:lstStyle/>
          <a:p>
            <a:pPr marL="0" indent="0" algn="l">
              <a:lnSpc>
                <a:spcPts val="2750"/>
              </a:lnSpc>
              <a:buNone/>
            </a:pPr>
            <a:r>
              <a:rPr lang="en-US" sz="1700" dirty="0">
                <a:solidFill>
                  <a:srgbClr val="C9C9C0"/>
                </a:solidFill>
                <a:latin typeface="Tomorrow" pitchFamily="34" charset="0"/>
                <a:ea typeface="Tomorrow" pitchFamily="34" charset="-122"/>
                <a:cs typeface="Tomorrow" pitchFamily="34" charset="-120"/>
              </a:rPr>
              <a:t>Test the system with a plant and calibrate the moisture threshold for optimal watering. Adjust the code if needed to ensure proper operation.</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16E1B8-B601-096E-213D-812D827C81DA}"/>
              </a:ext>
            </a:extLst>
          </p:cNvPr>
          <p:cNvSpPr txBox="1"/>
          <p:nvPr/>
        </p:nvSpPr>
        <p:spPr>
          <a:xfrm>
            <a:off x="1014762" y="791737"/>
            <a:ext cx="12991169" cy="923330"/>
          </a:xfrm>
          <a:prstGeom prst="rect">
            <a:avLst/>
          </a:prstGeom>
          <a:noFill/>
        </p:spPr>
        <p:txBody>
          <a:bodyPr wrap="square" rtlCol="0">
            <a:spAutoFit/>
          </a:bodyPr>
          <a:lstStyle/>
          <a:p>
            <a:r>
              <a:rPr lang="en-IN" sz="5400" dirty="0">
                <a:solidFill>
                  <a:schemeClr val="bg1"/>
                </a:solidFill>
                <a:latin typeface="Tomorrow Semi Bold" panose="020B0604020202020204" charset="0"/>
              </a:rPr>
              <a:t>Assembling of the system </a:t>
            </a:r>
            <a:endParaRPr lang="en-IN" sz="5400" dirty="0">
              <a:latin typeface="Tomorrow Semi Bold" panose="020B0604020202020204" charset="0"/>
            </a:endParaRPr>
          </a:p>
        </p:txBody>
      </p:sp>
      <p:sp>
        <p:nvSpPr>
          <p:cNvPr id="4" name="TextBox 3">
            <a:extLst>
              <a:ext uri="{FF2B5EF4-FFF2-40B4-BE49-F238E27FC236}">
                <a16:creationId xmlns:a16="http://schemas.microsoft.com/office/drawing/2014/main" id="{29A35C1C-C695-FB5E-9C6B-3785C233976C}"/>
              </a:ext>
            </a:extLst>
          </p:cNvPr>
          <p:cNvSpPr txBox="1"/>
          <p:nvPr/>
        </p:nvSpPr>
        <p:spPr>
          <a:xfrm>
            <a:off x="1014762" y="2620536"/>
            <a:ext cx="10805532" cy="2831544"/>
          </a:xfrm>
          <a:prstGeom prst="rect">
            <a:avLst/>
          </a:prstGeom>
          <a:noFill/>
        </p:spPr>
        <p:txBody>
          <a:bodyPr wrap="square" rtlCol="0">
            <a:spAutoFit/>
          </a:bodyPr>
          <a:lstStyle/>
          <a:p>
            <a:pPr marL="285750" indent="-285750">
              <a:buFont typeface="Wingdings" panose="05000000000000000000" pitchFamily="2" charset="2"/>
              <a:buChar char="§"/>
            </a:pPr>
            <a:r>
              <a:rPr lang="en-US" sz="3200" kern="1200" dirty="0">
                <a:solidFill>
                  <a:srgbClr val="E0E4E6"/>
                </a:solidFill>
                <a:effectLst/>
                <a:latin typeface="Tomorrow" panose="020B0604020202020204" charset="0"/>
                <a:ea typeface="Barlow" panose="00000500000000000000" pitchFamily="2" charset="0"/>
                <a:cs typeface="Barlow" panose="00000500000000000000" pitchFamily="2" charset="0"/>
              </a:rPr>
              <a:t>Mount the soil moisture sensor into the soil.</a:t>
            </a:r>
            <a:endParaRPr lang="en-IN" sz="3200" dirty="0">
              <a:effectLst/>
              <a:latin typeface="Tomorrow" panose="020B0604020202020204" charset="0"/>
            </a:endParaRPr>
          </a:p>
          <a:p>
            <a:pPr marL="285750" indent="-285750">
              <a:buFont typeface="Wingdings" panose="05000000000000000000" pitchFamily="2" charset="2"/>
              <a:buChar char="§"/>
            </a:pPr>
            <a:r>
              <a:rPr lang="en-US" sz="3200" kern="1200" dirty="0">
                <a:solidFill>
                  <a:srgbClr val="E0E4E6"/>
                </a:solidFill>
                <a:effectLst/>
                <a:latin typeface="Tomorrow" panose="020B0604020202020204" charset="0"/>
                <a:ea typeface="Barlow" panose="00000500000000000000" pitchFamily="2" charset="0"/>
                <a:cs typeface="Barlow" panose="00000500000000000000" pitchFamily="2" charset="0"/>
              </a:rPr>
              <a:t>Place the pump in a water container with a tube leading to the plant pot.</a:t>
            </a:r>
            <a:endParaRPr lang="en-IN" sz="3200" dirty="0">
              <a:effectLst/>
              <a:latin typeface="Tomorrow" panose="020B0604020202020204" charset="0"/>
            </a:endParaRPr>
          </a:p>
          <a:p>
            <a:pPr marL="285750" indent="-285750">
              <a:buFont typeface="Wingdings" panose="05000000000000000000" pitchFamily="2" charset="2"/>
              <a:buChar char="§"/>
            </a:pPr>
            <a:r>
              <a:rPr lang="en-US" sz="3200" kern="1200" dirty="0">
                <a:solidFill>
                  <a:srgbClr val="E0E4E6"/>
                </a:solidFill>
                <a:effectLst/>
                <a:latin typeface="Tomorrow" panose="020B0604020202020204" charset="0"/>
                <a:ea typeface="Barlow" panose="00000500000000000000" pitchFamily="2" charset="0"/>
                <a:cs typeface="Barlow" panose="00000500000000000000" pitchFamily="2" charset="0"/>
              </a:rPr>
              <a:t>Double-check connections for safety, especially with the relay and pump.</a:t>
            </a:r>
            <a:endParaRPr lang="en-IN" sz="3200" dirty="0">
              <a:effectLst/>
              <a:latin typeface="Tomorrow" panose="020B0604020202020204" charset="0"/>
            </a:endParaRPr>
          </a:p>
          <a:p>
            <a:pPr marL="285750" indent="-285750">
              <a:buFont typeface="Wingdings" panose="05000000000000000000" pitchFamily="2" charset="2"/>
              <a:buChar char="§"/>
            </a:pPr>
            <a:endParaRPr lang="en-IN" dirty="0"/>
          </a:p>
        </p:txBody>
      </p:sp>
    </p:spTree>
    <p:extLst>
      <p:ext uri="{BB962C8B-B14F-4D97-AF65-F5344CB8AC3E}">
        <p14:creationId xmlns:p14="http://schemas.microsoft.com/office/powerpoint/2010/main" val="29023948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60902" y="610433"/>
            <a:ext cx="7594997" cy="1383030"/>
          </a:xfrm>
          <a:prstGeom prst="rect">
            <a:avLst/>
          </a:prstGeom>
          <a:noFill/>
          <a:ln/>
        </p:spPr>
        <p:txBody>
          <a:bodyPr wrap="square" lIns="0" tIns="0" rIns="0" bIns="0" rtlCol="0" anchor="t"/>
          <a:lstStyle/>
          <a:p>
            <a:pPr marL="0" indent="0">
              <a:lnSpc>
                <a:spcPts val="5400"/>
              </a:lnSpc>
              <a:buNone/>
            </a:pPr>
            <a:r>
              <a:rPr lang="en-US" sz="4350" dirty="0">
                <a:solidFill>
                  <a:srgbClr val="EDEDE8"/>
                </a:solidFill>
                <a:latin typeface="Tomorrow Semi Bold" pitchFamily="34" charset="0"/>
                <a:ea typeface="Tomorrow Semi Bold" pitchFamily="34" charset="-122"/>
                <a:cs typeface="Tomorrow Semi Bold" pitchFamily="34" charset="-120"/>
              </a:rPr>
              <a:t>Benefits of Automated Watering</a:t>
            </a:r>
            <a:endParaRPr lang="en-US" sz="4350" dirty="0"/>
          </a:p>
        </p:txBody>
      </p:sp>
      <p:pic>
        <p:nvPicPr>
          <p:cNvPr id="4" name="Image 1" descr="preencoded.png"/>
          <p:cNvPicPr>
            <a:picLocks noChangeAspect="1"/>
          </p:cNvPicPr>
          <p:nvPr/>
        </p:nvPicPr>
        <p:blipFill>
          <a:blip r:embed="rId4"/>
          <a:stretch>
            <a:fillRect/>
          </a:stretch>
        </p:blipFill>
        <p:spPr>
          <a:xfrm>
            <a:off x="6260902" y="2325291"/>
            <a:ext cx="553164" cy="553164"/>
          </a:xfrm>
          <a:prstGeom prst="rect">
            <a:avLst/>
          </a:prstGeom>
        </p:spPr>
      </p:pic>
      <p:sp>
        <p:nvSpPr>
          <p:cNvPr id="5" name="Text 1"/>
          <p:cNvSpPr/>
          <p:nvPr/>
        </p:nvSpPr>
        <p:spPr>
          <a:xfrm>
            <a:off x="6260902" y="3099673"/>
            <a:ext cx="3146703" cy="345638"/>
          </a:xfrm>
          <a:prstGeom prst="rect">
            <a:avLst/>
          </a:prstGeom>
          <a:noFill/>
          <a:ln/>
        </p:spPr>
        <p:txBody>
          <a:bodyPr wrap="none" lIns="0" tIns="0" rIns="0" bIns="0" rtlCol="0" anchor="t"/>
          <a:lstStyle/>
          <a:p>
            <a:pPr marL="0" indent="0" algn="l">
              <a:lnSpc>
                <a:spcPts val="2700"/>
              </a:lnSpc>
              <a:buNone/>
            </a:pPr>
            <a:r>
              <a:rPr lang="en-US" sz="2150" dirty="0">
                <a:solidFill>
                  <a:srgbClr val="C9C9C0"/>
                </a:solidFill>
                <a:latin typeface="Tomorrow Semi Bold" pitchFamily="34" charset="0"/>
                <a:ea typeface="Tomorrow Semi Bold" pitchFamily="34" charset="-122"/>
                <a:cs typeface="Tomorrow Semi Bold" pitchFamily="34" charset="-120"/>
              </a:rPr>
              <a:t>Improved Plant Health</a:t>
            </a:r>
            <a:endParaRPr lang="en-US" sz="2150" dirty="0"/>
          </a:p>
        </p:txBody>
      </p:sp>
      <p:sp>
        <p:nvSpPr>
          <p:cNvPr id="6" name="Text 2"/>
          <p:cNvSpPr/>
          <p:nvPr/>
        </p:nvSpPr>
        <p:spPr>
          <a:xfrm>
            <a:off x="6260902" y="3578066"/>
            <a:ext cx="3631525" cy="1062276"/>
          </a:xfrm>
          <a:prstGeom prst="rect">
            <a:avLst/>
          </a:prstGeom>
          <a:noFill/>
          <a:ln/>
        </p:spPr>
        <p:txBody>
          <a:bodyPr wrap="square" lIns="0" tIns="0" rIns="0" bIns="0" rtlCol="0" anchor="t"/>
          <a:lstStyle/>
          <a:p>
            <a:pPr marL="0" indent="0" algn="l">
              <a:lnSpc>
                <a:spcPts val="2750"/>
              </a:lnSpc>
              <a:buNone/>
            </a:pPr>
            <a:r>
              <a:rPr lang="en-US" sz="1700" dirty="0">
                <a:solidFill>
                  <a:srgbClr val="C9C9C0"/>
                </a:solidFill>
                <a:latin typeface="Tomorrow" pitchFamily="34" charset="0"/>
                <a:ea typeface="Tomorrow" pitchFamily="34" charset="-122"/>
                <a:cs typeface="Tomorrow" pitchFamily="34" charset="-120"/>
              </a:rPr>
              <a:t>Consistent moisture reduces wilting and promotes healthy plant growth.</a:t>
            </a:r>
            <a:endParaRPr lang="en-US" sz="1700" dirty="0"/>
          </a:p>
        </p:txBody>
      </p:sp>
      <p:pic>
        <p:nvPicPr>
          <p:cNvPr id="7" name="Image 2" descr="preencoded.png"/>
          <p:cNvPicPr>
            <a:picLocks noChangeAspect="1"/>
          </p:cNvPicPr>
          <p:nvPr/>
        </p:nvPicPr>
        <p:blipFill>
          <a:blip r:embed="rId5"/>
          <a:stretch>
            <a:fillRect/>
          </a:stretch>
        </p:blipFill>
        <p:spPr>
          <a:xfrm>
            <a:off x="10224254" y="2325291"/>
            <a:ext cx="553164" cy="553164"/>
          </a:xfrm>
          <a:prstGeom prst="rect">
            <a:avLst/>
          </a:prstGeom>
        </p:spPr>
      </p:pic>
      <p:sp>
        <p:nvSpPr>
          <p:cNvPr id="8" name="Text 3"/>
          <p:cNvSpPr/>
          <p:nvPr/>
        </p:nvSpPr>
        <p:spPr>
          <a:xfrm>
            <a:off x="10224254" y="3099673"/>
            <a:ext cx="3044071" cy="345638"/>
          </a:xfrm>
          <a:prstGeom prst="rect">
            <a:avLst/>
          </a:prstGeom>
          <a:noFill/>
          <a:ln/>
        </p:spPr>
        <p:txBody>
          <a:bodyPr wrap="none" lIns="0" tIns="0" rIns="0" bIns="0" rtlCol="0" anchor="t"/>
          <a:lstStyle/>
          <a:p>
            <a:pPr marL="0" indent="0" algn="l">
              <a:lnSpc>
                <a:spcPts val="2700"/>
              </a:lnSpc>
              <a:buNone/>
            </a:pPr>
            <a:r>
              <a:rPr lang="en-US" sz="2150" dirty="0">
                <a:solidFill>
                  <a:srgbClr val="C9C9C0"/>
                </a:solidFill>
                <a:latin typeface="Tomorrow Semi Bold" pitchFamily="34" charset="0"/>
                <a:ea typeface="Tomorrow Semi Bold" pitchFamily="34" charset="-122"/>
                <a:cs typeface="Tomorrow Semi Bold" pitchFamily="34" charset="-120"/>
              </a:rPr>
              <a:t>Reduced Water Waste</a:t>
            </a:r>
            <a:endParaRPr lang="en-US" sz="2150" dirty="0"/>
          </a:p>
        </p:txBody>
      </p:sp>
      <p:sp>
        <p:nvSpPr>
          <p:cNvPr id="9" name="Text 4"/>
          <p:cNvSpPr/>
          <p:nvPr/>
        </p:nvSpPr>
        <p:spPr>
          <a:xfrm>
            <a:off x="10224254" y="3578066"/>
            <a:ext cx="3631644" cy="1062276"/>
          </a:xfrm>
          <a:prstGeom prst="rect">
            <a:avLst/>
          </a:prstGeom>
          <a:noFill/>
          <a:ln/>
        </p:spPr>
        <p:txBody>
          <a:bodyPr wrap="square" lIns="0" tIns="0" rIns="0" bIns="0" rtlCol="0" anchor="t"/>
          <a:lstStyle/>
          <a:p>
            <a:pPr marL="0" indent="0" algn="l">
              <a:lnSpc>
                <a:spcPts val="2750"/>
              </a:lnSpc>
              <a:buNone/>
            </a:pPr>
            <a:r>
              <a:rPr lang="en-US" sz="1700" dirty="0">
                <a:solidFill>
                  <a:srgbClr val="C9C9C0"/>
                </a:solidFill>
                <a:latin typeface="Tomorrow" pitchFamily="34" charset="0"/>
                <a:ea typeface="Tomorrow" pitchFamily="34" charset="-122"/>
                <a:cs typeface="Tomorrow" pitchFamily="34" charset="-120"/>
              </a:rPr>
              <a:t>Waters only when necessary, minimizing water usage and waste.</a:t>
            </a:r>
            <a:endParaRPr lang="en-US" sz="1700" dirty="0"/>
          </a:p>
        </p:txBody>
      </p:sp>
      <p:pic>
        <p:nvPicPr>
          <p:cNvPr id="10" name="Image 3" descr="preencoded.png"/>
          <p:cNvPicPr>
            <a:picLocks noChangeAspect="1"/>
          </p:cNvPicPr>
          <p:nvPr/>
        </p:nvPicPr>
        <p:blipFill>
          <a:blip r:embed="rId6"/>
          <a:stretch>
            <a:fillRect/>
          </a:stretch>
        </p:blipFill>
        <p:spPr>
          <a:xfrm>
            <a:off x="6260902" y="5304115"/>
            <a:ext cx="553164" cy="553164"/>
          </a:xfrm>
          <a:prstGeom prst="rect">
            <a:avLst/>
          </a:prstGeom>
        </p:spPr>
      </p:pic>
      <p:sp>
        <p:nvSpPr>
          <p:cNvPr id="11" name="Text 5"/>
          <p:cNvSpPr/>
          <p:nvPr/>
        </p:nvSpPr>
        <p:spPr>
          <a:xfrm>
            <a:off x="6260902" y="6078498"/>
            <a:ext cx="2766179" cy="345638"/>
          </a:xfrm>
          <a:prstGeom prst="rect">
            <a:avLst/>
          </a:prstGeom>
          <a:noFill/>
          <a:ln/>
        </p:spPr>
        <p:txBody>
          <a:bodyPr wrap="none" lIns="0" tIns="0" rIns="0" bIns="0" rtlCol="0" anchor="t"/>
          <a:lstStyle/>
          <a:p>
            <a:pPr marL="0" indent="0" algn="l">
              <a:lnSpc>
                <a:spcPts val="2700"/>
              </a:lnSpc>
              <a:buNone/>
            </a:pPr>
            <a:r>
              <a:rPr lang="en-US" sz="2150" dirty="0">
                <a:solidFill>
                  <a:srgbClr val="C9C9C0"/>
                </a:solidFill>
                <a:latin typeface="Tomorrow Semi Bold" pitchFamily="34" charset="0"/>
                <a:ea typeface="Tomorrow Semi Bold" pitchFamily="34" charset="-122"/>
                <a:cs typeface="Tomorrow Semi Bold" pitchFamily="34" charset="-120"/>
              </a:rPr>
              <a:t>Convenience</a:t>
            </a:r>
            <a:endParaRPr lang="en-US" sz="2150" dirty="0"/>
          </a:p>
        </p:txBody>
      </p:sp>
      <p:sp>
        <p:nvSpPr>
          <p:cNvPr id="12" name="Text 6"/>
          <p:cNvSpPr/>
          <p:nvPr/>
        </p:nvSpPr>
        <p:spPr>
          <a:xfrm>
            <a:off x="6260902" y="6556891"/>
            <a:ext cx="3631525" cy="1062276"/>
          </a:xfrm>
          <a:prstGeom prst="rect">
            <a:avLst/>
          </a:prstGeom>
          <a:noFill/>
          <a:ln/>
        </p:spPr>
        <p:txBody>
          <a:bodyPr wrap="square" lIns="0" tIns="0" rIns="0" bIns="0" rtlCol="0" anchor="t"/>
          <a:lstStyle/>
          <a:p>
            <a:pPr marL="0" indent="0" algn="l">
              <a:lnSpc>
                <a:spcPts val="2750"/>
              </a:lnSpc>
              <a:buNone/>
            </a:pPr>
            <a:r>
              <a:rPr lang="en-US" sz="1700" dirty="0">
                <a:solidFill>
                  <a:srgbClr val="C9C9C0"/>
                </a:solidFill>
                <a:latin typeface="Tomorrow" pitchFamily="34" charset="0"/>
                <a:ea typeface="Tomorrow" pitchFamily="34" charset="-122"/>
                <a:cs typeface="Tomorrow" pitchFamily="34" charset="-120"/>
              </a:rPr>
              <a:t>Frees up time and effort, making plant care easier and more manageable.</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824038"/>
            <a:ext cx="6215182" cy="708779"/>
          </a:xfrm>
          <a:prstGeom prst="rect">
            <a:avLst/>
          </a:prstGeom>
          <a:noFill/>
          <a:ln/>
        </p:spPr>
        <p:txBody>
          <a:bodyPr wrap="none" lIns="0" tIns="0" rIns="0" bIns="0" rtlCol="0" anchor="t"/>
          <a:lstStyle/>
          <a:p>
            <a:pPr marL="0" indent="0">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Practical Applications</a:t>
            </a:r>
            <a:endParaRPr lang="en-US" sz="4450" dirty="0"/>
          </a:p>
        </p:txBody>
      </p:sp>
      <p:sp>
        <p:nvSpPr>
          <p:cNvPr id="4" name="Shape 1"/>
          <p:cNvSpPr/>
          <p:nvPr/>
        </p:nvSpPr>
        <p:spPr>
          <a:xfrm>
            <a:off x="6280190" y="3128129"/>
            <a:ext cx="510302" cy="510302"/>
          </a:xfrm>
          <a:prstGeom prst="roundRect">
            <a:avLst>
              <a:gd name="adj" fmla="val 6667"/>
            </a:avLst>
          </a:prstGeom>
          <a:solidFill>
            <a:srgbClr val="3C3C3A"/>
          </a:solidFill>
          <a:ln/>
        </p:spPr>
      </p:sp>
      <p:sp>
        <p:nvSpPr>
          <p:cNvPr id="5" name="Text 2"/>
          <p:cNvSpPr/>
          <p:nvPr/>
        </p:nvSpPr>
        <p:spPr>
          <a:xfrm>
            <a:off x="6457950" y="3213140"/>
            <a:ext cx="154781" cy="340281"/>
          </a:xfrm>
          <a:prstGeom prst="rect">
            <a:avLst/>
          </a:prstGeom>
          <a:noFill/>
          <a:ln/>
        </p:spPr>
        <p:txBody>
          <a:bodyPr wrap="none" lIns="0" tIns="0" rIns="0" bIns="0" rtlCol="0" anchor="t"/>
          <a:lstStyle/>
          <a:p>
            <a:pPr marL="0" indent="0" algn="ctr">
              <a:lnSpc>
                <a:spcPts val="2650"/>
              </a:lnSpc>
              <a:buNone/>
            </a:pPr>
            <a:r>
              <a:rPr lang="en-US" sz="2650" dirty="0">
                <a:solidFill>
                  <a:srgbClr val="C9C9C0"/>
                </a:solidFill>
                <a:latin typeface="Tomorrow Semi Bold" pitchFamily="34" charset="0"/>
                <a:ea typeface="Tomorrow Semi Bold" pitchFamily="34" charset="-122"/>
                <a:cs typeface="Tomorrow Semi Bold" pitchFamily="34" charset="-120"/>
              </a:rPr>
              <a:t>1</a:t>
            </a:r>
            <a:endParaRPr lang="en-US" sz="2650" dirty="0"/>
          </a:p>
        </p:txBody>
      </p:sp>
      <p:sp>
        <p:nvSpPr>
          <p:cNvPr id="6" name="Text 3"/>
          <p:cNvSpPr/>
          <p:nvPr/>
        </p:nvSpPr>
        <p:spPr>
          <a:xfrm>
            <a:off x="7017306" y="3128129"/>
            <a:ext cx="2927747" cy="708660"/>
          </a:xfrm>
          <a:prstGeom prst="rect">
            <a:avLst/>
          </a:prstGeom>
          <a:noFill/>
          <a:ln/>
        </p:spPr>
        <p:txBody>
          <a:bodyPr wrap="square" lIns="0" tIns="0" rIns="0" bIns="0" rtlCol="0" anchor="t"/>
          <a:lstStyle/>
          <a:p>
            <a:pPr marL="0" indent="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Small Home Gardens</a:t>
            </a:r>
            <a:endParaRPr lang="en-US" sz="2200" dirty="0"/>
          </a:p>
        </p:txBody>
      </p:sp>
      <p:sp>
        <p:nvSpPr>
          <p:cNvPr id="7" name="Text 4"/>
          <p:cNvSpPr/>
          <p:nvPr/>
        </p:nvSpPr>
        <p:spPr>
          <a:xfrm>
            <a:off x="7017306" y="3972878"/>
            <a:ext cx="2927747" cy="725805"/>
          </a:xfrm>
          <a:prstGeom prst="rect">
            <a:avLst/>
          </a:prstGeom>
          <a:noFill/>
          <a:ln/>
        </p:spPr>
        <p:txBody>
          <a:bodyPr wrap="square" lIns="0" tIns="0" rIns="0" bIns="0" rtlCol="0" anchor="t"/>
          <a:lstStyle/>
          <a:p>
            <a:pPr marL="0" indent="0">
              <a:lnSpc>
                <a:spcPts val="2850"/>
              </a:lnSpc>
              <a:buNone/>
            </a:pPr>
            <a:r>
              <a:rPr lang="en-US" sz="1750" dirty="0">
                <a:solidFill>
                  <a:srgbClr val="C9C9C0"/>
                </a:solidFill>
                <a:latin typeface="Tomorrow" pitchFamily="34" charset="0"/>
                <a:ea typeface="Tomorrow" pitchFamily="34" charset="-122"/>
                <a:cs typeface="Tomorrow" pitchFamily="34" charset="-120"/>
              </a:rPr>
              <a:t>Maintain potted plants or balcony gardens.</a:t>
            </a:r>
            <a:endParaRPr lang="en-US" sz="1750" dirty="0"/>
          </a:p>
        </p:txBody>
      </p:sp>
      <p:sp>
        <p:nvSpPr>
          <p:cNvPr id="8" name="Shape 5"/>
          <p:cNvSpPr/>
          <p:nvPr/>
        </p:nvSpPr>
        <p:spPr>
          <a:xfrm>
            <a:off x="10171867" y="3128129"/>
            <a:ext cx="510302" cy="510302"/>
          </a:xfrm>
          <a:prstGeom prst="roundRect">
            <a:avLst>
              <a:gd name="adj" fmla="val 6667"/>
            </a:avLst>
          </a:prstGeom>
          <a:solidFill>
            <a:srgbClr val="3C3C3A"/>
          </a:solidFill>
          <a:ln/>
        </p:spPr>
      </p:sp>
      <p:sp>
        <p:nvSpPr>
          <p:cNvPr id="9" name="Text 6"/>
          <p:cNvSpPr/>
          <p:nvPr/>
        </p:nvSpPr>
        <p:spPr>
          <a:xfrm>
            <a:off x="10312718" y="3213140"/>
            <a:ext cx="228600" cy="340281"/>
          </a:xfrm>
          <a:prstGeom prst="rect">
            <a:avLst/>
          </a:prstGeom>
          <a:noFill/>
          <a:ln/>
        </p:spPr>
        <p:txBody>
          <a:bodyPr wrap="none" lIns="0" tIns="0" rIns="0" bIns="0" rtlCol="0" anchor="t"/>
          <a:lstStyle/>
          <a:p>
            <a:pPr marL="0" indent="0" algn="ctr">
              <a:lnSpc>
                <a:spcPts val="2650"/>
              </a:lnSpc>
              <a:buNone/>
            </a:pPr>
            <a:r>
              <a:rPr lang="en-US" sz="2650" dirty="0">
                <a:solidFill>
                  <a:srgbClr val="C9C9C0"/>
                </a:solidFill>
                <a:latin typeface="Tomorrow Semi Bold" pitchFamily="34" charset="0"/>
                <a:ea typeface="Tomorrow Semi Bold" pitchFamily="34" charset="-122"/>
                <a:cs typeface="Tomorrow Semi Bold" pitchFamily="34" charset="-120"/>
              </a:rPr>
              <a:t>2</a:t>
            </a:r>
            <a:endParaRPr lang="en-US" sz="2650" dirty="0"/>
          </a:p>
        </p:txBody>
      </p:sp>
      <p:sp>
        <p:nvSpPr>
          <p:cNvPr id="10" name="Text 7"/>
          <p:cNvSpPr/>
          <p:nvPr/>
        </p:nvSpPr>
        <p:spPr>
          <a:xfrm>
            <a:off x="10908983" y="3128129"/>
            <a:ext cx="2835235" cy="354330"/>
          </a:xfrm>
          <a:prstGeom prst="rect">
            <a:avLst/>
          </a:prstGeom>
          <a:noFill/>
          <a:ln/>
        </p:spPr>
        <p:txBody>
          <a:bodyPr wrap="none" lIns="0" tIns="0" rIns="0" bIns="0" rtlCol="0" anchor="t"/>
          <a:lstStyle/>
          <a:p>
            <a:pPr marL="0" indent="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Urban Farming</a:t>
            </a:r>
            <a:endParaRPr lang="en-US" sz="2200" dirty="0"/>
          </a:p>
        </p:txBody>
      </p:sp>
      <p:sp>
        <p:nvSpPr>
          <p:cNvPr id="11" name="Text 8"/>
          <p:cNvSpPr/>
          <p:nvPr/>
        </p:nvSpPr>
        <p:spPr>
          <a:xfrm>
            <a:off x="10908983" y="3618548"/>
            <a:ext cx="2927747" cy="1088708"/>
          </a:xfrm>
          <a:prstGeom prst="rect">
            <a:avLst/>
          </a:prstGeom>
          <a:noFill/>
          <a:ln/>
        </p:spPr>
        <p:txBody>
          <a:bodyPr wrap="square" lIns="0" tIns="0" rIns="0" bIns="0" rtlCol="0" anchor="t"/>
          <a:lstStyle/>
          <a:p>
            <a:pPr marL="0" indent="0">
              <a:lnSpc>
                <a:spcPts val="2850"/>
              </a:lnSpc>
              <a:buNone/>
            </a:pPr>
            <a:r>
              <a:rPr lang="en-US" sz="1750" dirty="0">
                <a:solidFill>
                  <a:srgbClr val="C9C9C0"/>
                </a:solidFill>
                <a:latin typeface="Tomorrow" pitchFamily="34" charset="0"/>
                <a:ea typeface="Tomorrow" pitchFamily="34" charset="-122"/>
                <a:cs typeface="Tomorrow" pitchFamily="34" charset="-120"/>
              </a:rPr>
              <a:t>Automate irrigation for vertical or hydroponic farming.</a:t>
            </a:r>
            <a:endParaRPr lang="en-US" sz="1750" dirty="0"/>
          </a:p>
        </p:txBody>
      </p:sp>
      <p:sp>
        <p:nvSpPr>
          <p:cNvPr id="12" name="Shape 9"/>
          <p:cNvSpPr/>
          <p:nvPr/>
        </p:nvSpPr>
        <p:spPr>
          <a:xfrm>
            <a:off x="6280190" y="5189220"/>
            <a:ext cx="510302" cy="510302"/>
          </a:xfrm>
          <a:prstGeom prst="roundRect">
            <a:avLst>
              <a:gd name="adj" fmla="val 6667"/>
            </a:avLst>
          </a:prstGeom>
          <a:solidFill>
            <a:srgbClr val="3C3C3A"/>
          </a:solidFill>
          <a:ln/>
        </p:spPr>
      </p:sp>
      <p:sp>
        <p:nvSpPr>
          <p:cNvPr id="13" name="Text 10"/>
          <p:cNvSpPr/>
          <p:nvPr/>
        </p:nvSpPr>
        <p:spPr>
          <a:xfrm>
            <a:off x="6421636" y="5274231"/>
            <a:ext cx="227290" cy="340281"/>
          </a:xfrm>
          <a:prstGeom prst="rect">
            <a:avLst/>
          </a:prstGeom>
          <a:noFill/>
          <a:ln/>
        </p:spPr>
        <p:txBody>
          <a:bodyPr wrap="none" lIns="0" tIns="0" rIns="0" bIns="0" rtlCol="0" anchor="t"/>
          <a:lstStyle/>
          <a:p>
            <a:pPr marL="0" indent="0" algn="ctr">
              <a:lnSpc>
                <a:spcPts val="2650"/>
              </a:lnSpc>
              <a:buNone/>
            </a:pPr>
            <a:r>
              <a:rPr lang="en-US" sz="2650" dirty="0">
                <a:solidFill>
                  <a:srgbClr val="C9C9C0"/>
                </a:solidFill>
                <a:latin typeface="Tomorrow Semi Bold" pitchFamily="34" charset="0"/>
                <a:ea typeface="Tomorrow Semi Bold" pitchFamily="34" charset="-122"/>
                <a:cs typeface="Tomorrow Semi Bold" pitchFamily="34" charset="-120"/>
              </a:rPr>
              <a:t>3</a:t>
            </a:r>
            <a:endParaRPr lang="en-US" sz="2650" dirty="0"/>
          </a:p>
        </p:txBody>
      </p:sp>
      <p:sp>
        <p:nvSpPr>
          <p:cNvPr id="14" name="Text 11"/>
          <p:cNvSpPr/>
          <p:nvPr/>
        </p:nvSpPr>
        <p:spPr>
          <a:xfrm>
            <a:off x="7017306" y="5189220"/>
            <a:ext cx="2835235" cy="354330"/>
          </a:xfrm>
          <a:prstGeom prst="rect">
            <a:avLst/>
          </a:prstGeom>
          <a:noFill/>
          <a:ln/>
        </p:spPr>
        <p:txBody>
          <a:bodyPr wrap="none" lIns="0" tIns="0" rIns="0" bIns="0" rtlCol="0" anchor="t"/>
          <a:lstStyle/>
          <a:p>
            <a:pPr marL="0" indent="0">
              <a:lnSpc>
                <a:spcPts val="2750"/>
              </a:lnSpc>
              <a:buNone/>
            </a:pPr>
            <a:r>
              <a:rPr lang="en-US" sz="2200" dirty="0">
                <a:solidFill>
                  <a:srgbClr val="C9C9C0"/>
                </a:solidFill>
                <a:latin typeface="Tomorrow Semi Bold" pitchFamily="34" charset="0"/>
                <a:ea typeface="Tomorrow Semi Bold" pitchFamily="34" charset="-122"/>
                <a:cs typeface="Tomorrow Semi Bold" pitchFamily="34" charset="-120"/>
              </a:rPr>
              <a:t>Remote Locations</a:t>
            </a:r>
            <a:endParaRPr lang="en-US" sz="2200" dirty="0"/>
          </a:p>
        </p:txBody>
      </p:sp>
      <p:sp>
        <p:nvSpPr>
          <p:cNvPr id="15" name="Text 12"/>
          <p:cNvSpPr/>
          <p:nvPr/>
        </p:nvSpPr>
        <p:spPr>
          <a:xfrm>
            <a:off x="7017306" y="5679638"/>
            <a:ext cx="6819305" cy="725805"/>
          </a:xfrm>
          <a:prstGeom prst="rect">
            <a:avLst/>
          </a:prstGeom>
          <a:noFill/>
          <a:ln/>
        </p:spPr>
        <p:txBody>
          <a:bodyPr wrap="square" lIns="0" tIns="0" rIns="0" bIns="0" rtlCol="0" anchor="t"/>
          <a:lstStyle/>
          <a:p>
            <a:pPr marL="0" indent="0">
              <a:lnSpc>
                <a:spcPts val="2850"/>
              </a:lnSpc>
              <a:buNone/>
            </a:pPr>
            <a:r>
              <a:rPr lang="en-US" sz="1750" dirty="0">
                <a:solidFill>
                  <a:srgbClr val="C9C9C0"/>
                </a:solidFill>
                <a:latin typeface="Tomorrow" pitchFamily="34" charset="0"/>
                <a:ea typeface="Tomorrow" pitchFamily="34" charset="-122"/>
                <a:cs typeface="Tomorrow" pitchFamily="34" charset="-120"/>
              </a:rPr>
              <a:t>Ideal for gardens where regular human intervention is challenging.</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138720"/>
            <a:ext cx="5670590" cy="708779"/>
          </a:xfrm>
          <a:prstGeom prst="rect">
            <a:avLst/>
          </a:prstGeom>
          <a:noFill/>
          <a:ln/>
        </p:spPr>
        <p:txBody>
          <a:bodyPr wrap="none" lIns="0" tIns="0" rIns="0" bIns="0" rtlCol="0" anchor="t"/>
          <a:lstStyle/>
          <a:p>
            <a:pPr marL="0" indent="0">
              <a:lnSpc>
                <a:spcPts val="5550"/>
              </a:lnSpc>
              <a:buNone/>
            </a:pPr>
            <a:r>
              <a:rPr lang="en-US" sz="4450" dirty="0">
                <a:solidFill>
                  <a:srgbClr val="EDEDE8"/>
                </a:solidFill>
                <a:latin typeface="Tomorrow Semi Bold" pitchFamily="34" charset="0"/>
                <a:ea typeface="Tomorrow Semi Bold" pitchFamily="34" charset="-122"/>
                <a:cs typeface="Tomorrow Semi Bold" pitchFamily="34" charset="-120"/>
              </a:rPr>
              <a:t>Conclusions</a:t>
            </a:r>
            <a:endParaRPr lang="en-US" sz="4450" dirty="0"/>
          </a:p>
        </p:txBody>
      </p:sp>
      <p:sp>
        <p:nvSpPr>
          <p:cNvPr id="4" name="Text 1"/>
          <p:cNvSpPr/>
          <p:nvPr/>
        </p:nvSpPr>
        <p:spPr>
          <a:xfrm>
            <a:off x="6280190" y="3187660"/>
            <a:ext cx="7556421" cy="2903220"/>
          </a:xfrm>
          <a:prstGeom prst="rect">
            <a:avLst/>
          </a:prstGeom>
          <a:noFill/>
          <a:ln/>
        </p:spPr>
        <p:txBody>
          <a:bodyPr wrap="square" lIns="0" tIns="0" rIns="0" bIns="0" rtlCol="0" anchor="t"/>
          <a:lstStyle/>
          <a:p>
            <a:pPr marL="0" indent="0">
              <a:lnSpc>
                <a:spcPts val="2850"/>
              </a:lnSpc>
              <a:buNone/>
            </a:pPr>
            <a:r>
              <a:rPr lang="en-US" sz="1750" dirty="0">
                <a:solidFill>
                  <a:srgbClr val="C9C9C0"/>
                </a:solidFill>
                <a:latin typeface="Tomorrow" pitchFamily="34" charset="0"/>
                <a:ea typeface="Tomorrow" pitchFamily="34" charset="-122"/>
                <a:cs typeface="Tomorrow" pitchFamily="34" charset="-120"/>
              </a:rPr>
              <a:t>This smart plant watering system offers a convenient and efficient solution for plant care, ensuring healthy growth and reducing water waste. By utilizing renewable energy sources like solar panels, the system can operate independently, reducing its carbon footprint and making it a sustainable solution. This project demonstrates that practical solutions for automated irrigation can be built using affordable and readily available components, making it accessible and impactful.</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3FC9A86-D6DC-E889-54F3-BC6C9F04C105}"/>
              </a:ext>
            </a:extLst>
          </p:cNvPr>
          <p:cNvPicPr>
            <a:picLocks noChangeAspect="1"/>
          </p:cNvPicPr>
          <p:nvPr/>
        </p:nvPicPr>
        <p:blipFill>
          <a:blip r:embed="rId2"/>
          <a:stretch>
            <a:fillRect/>
          </a:stretch>
        </p:blipFill>
        <p:spPr>
          <a:xfrm>
            <a:off x="-117088" y="0"/>
            <a:ext cx="14864576" cy="8341112"/>
          </a:xfrm>
          <a:prstGeom prst="rect">
            <a:avLst/>
          </a:prstGeom>
        </p:spPr>
      </p:pic>
    </p:spTree>
    <p:extLst>
      <p:ext uri="{BB962C8B-B14F-4D97-AF65-F5344CB8AC3E}">
        <p14:creationId xmlns:p14="http://schemas.microsoft.com/office/powerpoint/2010/main" val="30211102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560</Words>
  <Application>Microsoft Office PowerPoint</Application>
  <PresentationFormat>Custom</PresentationFormat>
  <Paragraphs>82</Paragraphs>
  <Slides>12</Slides>
  <Notes>10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aryan.nalodha@gmail.com</cp:lastModifiedBy>
  <cp:revision>3</cp:revision>
  <dcterms:created xsi:type="dcterms:W3CDTF">2024-12-22T15:43:36Z</dcterms:created>
  <dcterms:modified xsi:type="dcterms:W3CDTF">2024-12-23T05:35:56Z</dcterms:modified>
</cp:coreProperties>
</file>