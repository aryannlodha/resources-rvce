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6" r:id="rId9"/>
    <p:sldId id="263" r:id="rId10"/>
    <p:sldId id="264" r:id="rId11"/>
    <p:sldId id="265" r:id="rId12"/>
    <p:sldId id="267" r:id="rId13"/>
  </p:sldIdLst>
  <p:sldSz cx="14630400" cy="8229600"/>
  <p:notesSz cx="8229600" cy="14630400"/>
  <p:embeddedFontLst>
    <p:embeddedFont>
      <p:font typeface="Tomorrow" panose="020B0604020202020204" charset="0"/>
      <p:regular r:id="rId15"/>
    </p:embeddedFont>
    <p:embeddedFont>
      <p:font typeface="Tomorrow Semi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073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484715"/>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RV COLLEGE OF ENGINEERING</a:t>
            </a:r>
            <a:endParaRPr lang="en-US" sz="4450" dirty="0"/>
          </a:p>
        </p:txBody>
      </p:sp>
      <p:sp>
        <p:nvSpPr>
          <p:cNvPr id="4" name="Text 1"/>
          <p:cNvSpPr/>
          <p:nvPr/>
        </p:nvSpPr>
        <p:spPr>
          <a:xfrm>
            <a:off x="793790" y="4242435"/>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IDEA LAB EL</a:t>
            </a:r>
            <a:endParaRPr lang="en-US" sz="4450" dirty="0"/>
          </a:p>
        </p:txBody>
      </p:sp>
      <p:sp>
        <p:nvSpPr>
          <p:cNvPr id="5" name="Text 2"/>
          <p:cNvSpPr/>
          <p:nvPr/>
        </p:nvSpPr>
        <p:spPr>
          <a:xfrm>
            <a:off x="793790" y="5291376"/>
            <a:ext cx="7556421" cy="453509"/>
          </a:xfrm>
          <a:prstGeom prst="rect">
            <a:avLst/>
          </a:prstGeom>
          <a:noFill/>
          <a:ln/>
        </p:spPr>
        <p:txBody>
          <a:bodyPr wrap="none" lIns="0" tIns="0" rIns="0" bIns="0" rtlCol="0" anchor="t"/>
          <a:lstStyle/>
          <a:p>
            <a:pPr marL="0" indent="0">
              <a:lnSpc>
                <a:spcPts val="3550"/>
              </a:lnSpc>
              <a:buNone/>
            </a:pPr>
            <a:r>
              <a:rPr lang="en-US" sz="2800" dirty="0">
                <a:solidFill>
                  <a:srgbClr val="E1E1DF"/>
                </a:solidFill>
                <a:latin typeface="Tomorrow" pitchFamily="34" charset="0"/>
                <a:ea typeface="Tomorrow" pitchFamily="34" charset="-122"/>
                <a:cs typeface="Tomorrow" pitchFamily="34" charset="-120"/>
              </a:rPr>
              <a:t>An Automated Plant Watering System </a:t>
            </a:r>
          </a:p>
          <a:p>
            <a:pPr marL="0" indent="0">
              <a:lnSpc>
                <a:spcPts val="3550"/>
              </a:lnSpc>
              <a:buNone/>
            </a:pPr>
            <a:r>
              <a:rPr lang="en-US" sz="2800" dirty="0">
                <a:solidFill>
                  <a:srgbClr val="E1E1DF"/>
                </a:solidFill>
                <a:latin typeface="Tomorrow" pitchFamily="34" charset="0"/>
                <a:ea typeface="Tomorrow" pitchFamily="34" charset="-122"/>
                <a:cs typeface="Tomorrow" pitchFamily="34" charset="-120"/>
              </a:rPr>
              <a:t>with Arduino UNO </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902863"/>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MEMBERS (CH-A)</a:t>
            </a:r>
            <a:endParaRPr lang="en-US" sz="4450" dirty="0"/>
          </a:p>
        </p:txBody>
      </p:sp>
      <p:sp>
        <p:nvSpPr>
          <p:cNvPr id="3" name="Text 1"/>
          <p:cNvSpPr/>
          <p:nvPr/>
        </p:nvSpPr>
        <p:spPr>
          <a:xfrm>
            <a:off x="793790" y="417861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ARYAN LODHA</a:t>
            </a:r>
            <a:endParaRPr lang="en-US" sz="2200" dirty="0"/>
          </a:p>
        </p:txBody>
      </p:sp>
      <p:sp>
        <p:nvSpPr>
          <p:cNvPr id="4" name="Text 2"/>
          <p:cNvSpPr/>
          <p:nvPr/>
        </p:nvSpPr>
        <p:spPr>
          <a:xfrm>
            <a:off x="793790" y="4759762"/>
            <a:ext cx="3978116" cy="362903"/>
          </a:xfrm>
          <a:prstGeom prst="rect">
            <a:avLst/>
          </a:prstGeom>
          <a:noFill/>
          <a:ln/>
        </p:spPr>
        <p:txBody>
          <a:bodyPr wrap="non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RVCE24BCH043</a:t>
            </a:r>
            <a:endParaRPr lang="en-US" sz="1750" dirty="0"/>
          </a:p>
        </p:txBody>
      </p:sp>
      <p:sp>
        <p:nvSpPr>
          <p:cNvPr id="5" name="Text 3"/>
          <p:cNvSpPr/>
          <p:nvPr/>
        </p:nvSpPr>
        <p:spPr>
          <a:xfrm>
            <a:off x="5332928" y="417861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VEDANT SUD</a:t>
            </a:r>
            <a:endParaRPr lang="en-US" sz="2200" dirty="0"/>
          </a:p>
        </p:txBody>
      </p:sp>
      <p:sp>
        <p:nvSpPr>
          <p:cNvPr id="6" name="Text 4"/>
          <p:cNvSpPr/>
          <p:nvPr/>
        </p:nvSpPr>
        <p:spPr>
          <a:xfrm>
            <a:off x="5332928" y="4759762"/>
            <a:ext cx="3978116" cy="362903"/>
          </a:xfrm>
          <a:prstGeom prst="rect">
            <a:avLst/>
          </a:prstGeom>
          <a:noFill/>
          <a:ln/>
        </p:spPr>
        <p:txBody>
          <a:bodyPr wrap="non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RVCE24BCH004</a:t>
            </a:r>
            <a:endParaRPr lang="en-US" sz="1750" dirty="0"/>
          </a:p>
        </p:txBody>
      </p:sp>
      <p:sp>
        <p:nvSpPr>
          <p:cNvPr id="7" name="Text 5"/>
          <p:cNvSpPr/>
          <p:nvPr/>
        </p:nvSpPr>
        <p:spPr>
          <a:xfrm>
            <a:off x="9872067" y="417861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NEHAL KARJAGI</a:t>
            </a:r>
            <a:endParaRPr lang="en-US" sz="2200" dirty="0"/>
          </a:p>
        </p:txBody>
      </p:sp>
      <p:sp>
        <p:nvSpPr>
          <p:cNvPr id="8" name="Text 6"/>
          <p:cNvSpPr/>
          <p:nvPr/>
        </p:nvSpPr>
        <p:spPr>
          <a:xfrm>
            <a:off x="9872067" y="4759762"/>
            <a:ext cx="3978116" cy="362903"/>
          </a:xfrm>
          <a:prstGeom prst="rect">
            <a:avLst/>
          </a:prstGeom>
          <a:noFill/>
          <a:ln/>
        </p:spPr>
        <p:txBody>
          <a:bodyPr wrap="non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RVCE24BCH008</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0076"/>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Smart Plant Watering System</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This system utilizes an Arduino Uno microcontroller, a soil moisture sensor, a relay module, a water pump, and a power source. By monitoring soil moisture levels, it automatically waters plants as needed, reducing water waste and promoting healthier plant growth.</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44109"/>
            <a:ext cx="5932884"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Problem Statements</a:t>
            </a:r>
            <a:endParaRPr lang="en-US" sz="4450" dirty="0"/>
          </a:p>
        </p:txBody>
      </p:sp>
      <p:sp>
        <p:nvSpPr>
          <p:cNvPr id="4" name="Shape 1"/>
          <p:cNvSpPr/>
          <p:nvPr/>
        </p:nvSpPr>
        <p:spPr>
          <a:xfrm>
            <a:off x="793790" y="2493050"/>
            <a:ext cx="3664863" cy="2395657"/>
          </a:xfrm>
          <a:prstGeom prst="roundRect">
            <a:avLst>
              <a:gd name="adj" fmla="val 1420"/>
            </a:avLst>
          </a:prstGeom>
          <a:solidFill>
            <a:srgbClr val="3C3C3A"/>
          </a:solidFill>
          <a:ln/>
        </p:spPr>
      </p:sp>
      <p:sp>
        <p:nvSpPr>
          <p:cNvPr id="5" name="Text 2"/>
          <p:cNvSpPr/>
          <p:nvPr/>
        </p:nvSpPr>
        <p:spPr>
          <a:xfrm>
            <a:off x="1020604" y="2719864"/>
            <a:ext cx="3188018"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Inconsistent Watering</a:t>
            </a:r>
            <a:endParaRPr lang="en-US" sz="2200" dirty="0"/>
          </a:p>
        </p:txBody>
      </p:sp>
      <p:sp>
        <p:nvSpPr>
          <p:cNvPr id="6" name="Text 3"/>
          <p:cNvSpPr/>
          <p:nvPr/>
        </p:nvSpPr>
        <p:spPr>
          <a:xfrm>
            <a:off x="1020604" y="3210282"/>
            <a:ext cx="3211235" cy="1088708"/>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Plants often receive either too little or too much water, leading to wilting or root rot.</a:t>
            </a:r>
            <a:endParaRPr lang="en-US" sz="1750" dirty="0"/>
          </a:p>
        </p:txBody>
      </p:sp>
      <p:sp>
        <p:nvSpPr>
          <p:cNvPr id="7" name="Shape 4"/>
          <p:cNvSpPr/>
          <p:nvPr/>
        </p:nvSpPr>
        <p:spPr>
          <a:xfrm>
            <a:off x="4685467" y="2493050"/>
            <a:ext cx="3664863" cy="2395657"/>
          </a:xfrm>
          <a:prstGeom prst="roundRect">
            <a:avLst>
              <a:gd name="adj" fmla="val 1420"/>
            </a:avLst>
          </a:prstGeom>
          <a:solidFill>
            <a:srgbClr val="3C3C3A"/>
          </a:solidFill>
          <a:ln/>
        </p:spPr>
      </p:sp>
      <p:sp>
        <p:nvSpPr>
          <p:cNvPr id="8" name="Text 5"/>
          <p:cNvSpPr/>
          <p:nvPr/>
        </p:nvSpPr>
        <p:spPr>
          <a:xfrm>
            <a:off x="4912281" y="271986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Time Constraints</a:t>
            </a:r>
            <a:endParaRPr lang="en-US" sz="2200" dirty="0"/>
          </a:p>
        </p:txBody>
      </p:sp>
      <p:sp>
        <p:nvSpPr>
          <p:cNvPr id="9" name="Text 6"/>
          <p:cNvSpPr/>
          <p:nvPr/>
        </p:nvSpPr>
        <p:spPr>
          <a:xfrm>
            <a:off x="4912281" y="3210282"/>
            <a:ext cx="3211235" cy="145161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Busy schedules and travel make consistent plant care challenging, leading to neglected plants.</a:t>
            </a:r>
            <a:endParaRPr lang="en-US" sz="1750" dirty="0"/>
          </a:p>
        </p:txBody>
      </p:sp>
      <p:sp>
        <p:nvSpPr>
          <p:cNvPr id="10" name="Shape 7"/>
          <p:cNvSpPr/>
          <p:nvPr/>
        </p:nvSpPr>
        <p:spPr>
          <a:xfrm>
            <a:off x="793790" y="5115520"/>
            <a:ext cx="7556421" cy="1669852"/>
          </a:xfrm>
          <a:prstGeom prst="roundRect">
            <a:avLst>
              <a:gd name="adj" fmla="val 2038"/>
            </a:avLst>
          </a:prstGeom>
          <a:solidFill>
            <a:srgbClr val="3C3C3A"/>
          </a:solidFill>
          <a:ln/>
        </p:spPr>
      </p:sp>
      <p:sp>
        <p:nvSpPr>
          <p:cNvPr id="11" name="Text 8"/>
          <p:cNvSpPr/>
          <p:nvPr/>
        </p:nvSpPr>
        <p:spPr>
          <a:xfrm>
            <a:off x="1020604" y="534233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Water Waste</a:t>
            </a:r>
            <a:endParaRPr lang="en-US" sz="2200" dirty="0"/>
          </a:p>
        </p:txBody>
      </p:sp>
      <p:sp>
        <p:nvSpPr>
          <p:cNvPr id="12" name="Text 9"/>
          <p:cNvSpPr/>
          <p:nvPr/>
        </p:nvSpPr>
        <p:spPr>
          <a:xfrm>
            <a:off x="1020604" y="5832753"/>
            <a:ext cx="7102793" cy="725805"/>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Overwatering is wasteful and can contribute to environmental problems.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804392"/>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Components</a:t>
            </a:r>
            <a:endParaRPr lang="en-US" sz="4450" dirty="0"/>
          </a:p>
        </p:txBody>
      </p:sp>
      <p:sp>
        <p:nvSpPr>
          <p:cNvPr id="3" name="Text 1"/>
          <p:cNvSpPr/>
          <p:nvPr/>
        </p:nvSpPr>
        <p:spPr>
          <a:xfrm>
            <a:off x="793790" y="296679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Arduino Uno – 1</a:t>
            </a:r>
            <a:endParaRPr lang="en-US" sz="1750" dirty="0"/>
          </a:p>
        </p:txBody>
      </p:sp>
      <p:sp>
        <p:nvSpPr>
          <p:cNvPr id="4" name="Text 2"/>
          <p:cNvSpPr/>
          <p:nvPr/>
        </p:nvSpPr>
        <p:spPr>
          <a:xfrm>
            <a:off x="793790" y="340899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Soil Moisture Sensor – 1</a:t>
            </a:r>
            <a:endParaRPr lang="en-US" sz="1750" dirty="0"/>
          </a:p>
        </p:txBody>
      </p:sp>
      <p:sp>
        <p:nvSpPr>
          <p:cNvPr id="5" name="Text 3"/>
          <p:cNvSpPr/>
          <p:nvPr/>
        </p:nvSpPr>
        <p:spPr>
          <a:xfrm>
            <a:off x="793790" y="385119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Water Pump (small DC) – 1</a:t>
            </a:r>
            <a:endParaRPr lang="en-US" sz="1750" dirty="0"/>
          </a:p>
        </p:txBody>
      </p:sp>
      <p:sp>
        <p:nvSpPr>
          <p:cNvPr id="6" name="Text 4"/>
          <p:cNvSpPr/>
          <p:nvPr/>
        </p:nvSpPr>
        <p:spPr>
          <a:xfrm>
            <a:off x="793790" y="429339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Relay Module (5V) – 1</a:t>
            </a:r>
            <a:endParaRPr lang="en-US" sz="1750" dirty="0"/>
          </a:p>
        </p:txBody>
      </p:sp>
      <p:sp>
        <p:nvSpPr>
          <p:cNvPr id="7" name="Text 5"/>
          <p:cNvSpPr/>
          <p:nvPr/>
        </p:nvSpPr>
        <p:spPr>
          <a:xfrm>
            <a:off x="793790" y="473559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12V Power Supply – For the pump</a:t>
            </a:r>
            <a:endParaRPr lang="en-US" sz="1750" dirty="0"/>
          </a:p>
        </p:txBody>
      </p:sp>
      <p:sp>
        <p:nvSpPr>
          <p:cNvPr id="8" name="Text 6"/>
          <p:cNvSpPr/>
          <p:nvPr/>
        </p:nvSpPr>
        <p:spPr>
          <a:xfrm>
            <a:off x="793790" y="517779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Jumper Wires – Multiple</a:t>
            </a:r>
            <a:endParaRPr lang="en-US" sz="1750" dirty="0"/>
          </a:p>
        </p:txBody>
      </p:sp>
      <p:sp>
        <p:nvSpPr>
          <p:cNvPr id="9" name="Text 7"/>
          <p:cNvSpPr/>
          <p:nvPr/>
        </p:nvSpPr>
        <p:spPr>
          <a:xfrm>
            <a:off x="793790" y="561998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Breadboard – 1</a:t>
            </a:r>
            <a:endParaRPr lang="en-US" sz="1750" dirty="0"/>
          </a:p>
        </p:txBody>
      </p:sp>
      <p:sp>
        <p:nvSpPr>
          <p:cNvPr id="10" name="Text 8"/>
          <p:cNvSpPr/>
          <p:nvPr/>
        </p:nvSpPr>
        <p:spPr>
          <a:xfrm>
            <a:off x="793790" y="606218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LCD – To indicate water pumping</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63151" y="685443"/>
            <a:ext cx="5635585" cy="604242"/>
          </a:xfrm>
          <a:prstGeom prst="rect">
            <a:avLst/>
          </a:prstGeom>
          <a:noFill/>
          <a:ln/>
        </p:spPr>
        <p:txBody>
          <a:bodyPr wrap="none" lIns="0" tIns="0" rIns="0" bIns="0" rtlCol="0" anchor="t"/>
          <a:lstStyle/>
          <a:p>
            <a:pPr marL="0" indent="0">
              <a:lnSpc>
                <a:spcPts val="4750"/>
              </a:lnSpc>
              <a:buNone/>
            </a:pPr>
            <a:r>
              <a:rPr lang="en-US" sz="3800" dirty="0">
                <a:solidFill>
                  <a:srgbClr val="EDEDE8"/>
                </a:solidFill>
                <a:latin typeface="Tomorrow Semi Bold" pitchFamily="34" charset="0"/>
                <a:ea typeface="Tomorrow Semi Bold" pitchFamily="34" charset="-122"/>
                <a:cs typeface="Tomorrow Semi Bold" pitchFamily="34" charset="-120"/>
              </a:rPr>
              <a:t>How the System Works</a:t>
            </a:r>
            <a:endParaRPr lang="en-US" sz="3800" dirty="0"/>
          </a:p>
        </p:txBody>
      </p:sp>
      <p:sp>
        <p:nvSpPr>
          <p:cNvPr id="4" name="Shape 1"/>
          <p:cNvSpPr/>
          <p:nvPr/>
        </p:nvSpPr>
        <p:spPr>
          <a:xfrm>
            <a:off x="6441757" y="1579721"/>
            <a:ext cx="22860" cy="5964317"/>
          </a:xfrm>
          <a:prstGeom prst="roundRect">
            <a:avLst>
              <a:gd name="adj" fmla="val 126876"/>
            </a:avLst>
          </a:prstGeom>
          <a:solidFill>
            <a:srgbClr val="555553"/>
          </a:solidFill>
          <a:ln/>
        </p:spPr>
      </p:sp>
      <p:sp>
        <p:nvSpPr>
          <p:cNvPr id="5" name="Shape 2"/>
          <p:cNvSpPr/>
          <p:nvPr/>
        </p:nvSpPr>
        <p:spPr>
          <a:xfrm>
            <a:off x="6647855" y="2003346"/>
            <a:ext cx="676751" cy="22860"/>
          </a:xfrm>
          <a:prstGeom prst="roundRect">
            <a:avLst>
              <a:gd name="adj" fmla="val 126876"/>
            </a:avLst>
          </a:prstGeom>
          <a:solidFill>
            <a:srgbClr val="555553"/>
          </a:solidFill>
          <a:ln/>
        </p:spPr>
      </p:sp>
      <p:sp>
        <p:nvSpPr>
          <p:cNvPr id="6" name="Shape 3"/>
          <p:cNvSpPr/>
          <p:nvPr/>
        </p:nvSpPr>
        <p:spPr>
          <a:xfrm>
            <a:off x="6235660" y="1797248"/>
            <a:ext cx="435054" cy="435054"/>
          </a:xfrm>
          <a:prstGeom prst="roundRect">
            <a:avLst>
              <a:gd name="adj" fmla="val 6667"/>
            </a:avLst>
          </a:prstGeom>
          <a:solidFill>
            <a:srgbClr val="3C3C3A"/>
          </a:solidFill>
          <a:ln/>
        </p:spPr>
      </p:sp>
      <p:sp>
        <p:nvSpPr>
          <p:cNvPr id="7" name="Text 4"/>
          <p:cNvSpPr/>
          <p:nvPr/>
        </p:nvSpPr>
        <p:spPr>
          <a:xfrm>
            <a:off x="6387227" y="1869758"/>
            <a:ext cx="131921" cy="290036"/>
          </a:xfrm>
          <a:prstGeom prst="rect">
            <a:avLst/>
          </a:prstGeom>
          <a:noFill/>
          <a:ln/>
        </p:spPr>
        <p:txBody>
          <a:bodyPr wrap="none" lIns="0" tIns="0" rIns="0" bIns="0" rtlCol="0" anchor="t"/>
          <a:lstStyle/>
          <a:p>
            <a:pPr marL="0" indent="0" algn="ctr">
              <a:lnSpc>
                <a:spcPts val="2250"/>
              </a:lnSpc>
              <a:buNone/>
            </a:pPr>
            <a:r>
              <a:rPr lang="en-US" sz="2250" dirty="0">
                <a:solidFill>
                  <a:srgbClr val="C9C9C0"/>
                </a:solidFill>
                <a:latin typeface="Tomorrow Semi Bold" pitchFamily="34" charset="0"/>
                <a:ea typeface="Tomorrow Semi Bold" pitchFamily="34" charset="-122"/>
                <a:cs typeface="Tomorrow Semi Bold" pitchFamily="34" charset="-120"/>
              </a:rPr>
              <a:t>1</a:t>
            </a:r>
            <a:endParaRPr lang="en-US" sz="2250" dirty="0"/>
          </a:p>
        </p:txBody>
      </p:sp>
      <p:sp>
        <p:nvSpPr>
          <p:cNvPr id="8" name="Text 5"/>
          <p:cNvSpPr/>
          <p:nvPr/>
        </p:nvSpPr>
        <p:spPr>
          <a:xfrm>
            <a:off x="7516654" y="1773079"/>
            <a:ext cx="2527459" cy="302062"/>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Soil Moisture Sensor</a:t>
            </a:r>
            <a:endParaRPr lang="en-US" sz="1900" dirty="0"/>
          </a:p>
        </p:txBody>
      </p:sp>
      <p:sp>
        <p:nvSpPr>
          <p:cNvPr id="9" name="Text 6"/>
          <p:cNvSpPr/>
          <p:nvPr/>
        </p:nvSpPr>
        <p:spPr>
          <a:xfrm>
            <a:off x="7516654" y="2191107"/>
            <a:ext cx="6436995" cy="618649"/>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Reads soil moisture level as an analog signal. A low reading indicates dry soil, while a high reading indicates moist soil.</a:t>
            </a:r>
            <a:endParaRPr lang="en-US" sz="1500" dirty="0"/>
          </a:p>
        </p:txBody>
      </p:sp>
      <p:sp>
        <p:nvSpPr>
          <p:cNvPr id="10" name="Shape 7"/>
          <p:cNvSpPr/>
          <p:nvPr/>
        </p:nvSpPr>
        <p:spPr>
          <a:xfrm>
            <a:off x="6647855" y="3620095"/>
            <a:ext cx="676751" cy="22860"/>
          </a:xfrm>
          <a:prstGeom prst="roundRect">
            <a:avLst>
              <a:gd name="adj" fmla="val 126876"/>
            </a:avLst>
          </a:prstGeom>
          <a:solidFill>
            <a:srgbClr val="555553"/>
          </a:solidFill>
          <a:ln/>
        </p:spPr>
      </p:sp>
      <p:sp>
        <p:nvSpPr>
          <p:cNvPr id="11" name="Shape 8"/>
          <p:cNvSpPr/>
          <p:nvPr/>
        </p:nvSpPr>
        <p:spPr>
          <a:xfrm>
            <a:off x="6235660" y="3413998"/>
            <a:ext cx="435054" cy="435054"/>
          </a:xfrm>
          <a:prstGeom prst="roundRect">
            <a:avLst>
              <a:gd name="adj" fmla="val 6667"/>
            </a:avLst>
          </a:prstGeom>
          <a:solidFill>
            <a:srgbClr val="3C3C3A"/>
          </a:solidFill>
          <a:ln/>
        </p:spPr>
      </p:sp>
      <p:sp>
        <p:nvSpPr>
          <p:cNvPr id="12" name="Text 9"/>
          <p:cNvSpPr/>
          <p:nvPr/>
        </p:nvSpPr>
        <p:spPr>
          <a:xfrm>
            <a:off x="6355675" y="3486507"/>
            <a:ext cx="194905" cy="290036"/>
          </a:xfrm>
          <a:prstGeom prst="rect">
            <a:avLst/>
          </a:prstGeom>
          <a:noFill/>
          <a:ln/>
        </p:spPr>
        <p:txBody>
          <a:bodyPr wrap="none" lIns="0" tIns="0" rIns="0" bIns="0" rtlCol="0" anchor="t"/>
          <a:lstStyle/>
          <a:p>
            <a:pPr marL="0" indent="0" algn="ctr">
              <a:lnSpc>
                <a:spcPts val="2250"/>
              </a:lnSpc>
              <a:buNone/>
            </a:pPr>
            <a:r>
              <a:rPr lang="en-US" sz="2250" dirty="0">
                <a:solidFill>
                  <a:srgbClr val="C9C9C0"/>
                </a:solidFill>
                <a:latin typeface="Tomorrow Semi Bold" pitchFamily="34" charset="0"/>
                <a:ea typeface="Tomorrow Semi Bold" pitchFamily="34" charset="-122"/>
                <a:cs typeface="Tomorrow Semi Bold" pitchFamily="34" charset="-120"/>
              </a:rPr>
              <a:t>2</a:t>
            </a:r>
            <a:endParaRPr lang="en-US" sz="2250" dirty="0"/>
          </a:p>
        </p:txBody>
      </p:sp>
      <p:sp>
        <p:nvSpPr>
          <p:cNvPr id="13" name="Text 10"/>
          <p:cNvSpPr/>
          <p:nvPr/>
        </p:nvSpPr>
        <p:spPr>
          <a:xfrm>
            <a:off x="7516654" y="3389828"/>
            <a:ext cx="2416969" cy="302062"/>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Relay Module</a:t>
            </a:r>
            <a:endParaRPr lang="en-US" sz="1900" dirty="0"/>
          </a:p>
        </p:txBody>
      </p:sp>
      <p:sp>
        <p:nvSpPr>
          <p:cNvPr id="14" name="Text 11"/>
          <p:cNvSpPr/>
          <p:nvPr/>
        </p:nvSpPr>
        <p:spPr>
          <a:xfrm>
            <a:off x="7516654" y="3807857"/>
            <a:ext cx="6436995" cy="618649"/>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Acts as a switch to control the water pump. The Arduino activates the relay to power the pump.</a:t>
            </a:r>
            <a:endParaRPr lang="en-US" sz="1500" dirty="0"/>
          </a:p>
        </p:txBody>
      </p:sp>
      <p:sp>
        <p:nvSpPr>
          <p:cNvPr id="15" name="Shape 12"/>
          <p:cNvSpPr/>
          <p:nvPr/>
        </p:nvSpPr>
        <p:spPr>
          <a:xfrm>
            <a:off x="6647855" y="5236845"/>
            <a:ext cx="676751" cy="22860"/>
          </a:xfrm>
          <a:prstGeom prst="roundRect">
            <a:avLst>
              <a:gd name="adj" fmla="val 126876"/>
            </a:avLst>
          </a:prstGeom>
          <a:solidFill>
            <a:srgbClr val="555553"/>
          </a:solidFill>
          <a:ln/>
        </p:spPr>
      </p:sp>
      <p:sp>
        <p:nvSpPr>
          <p:cNvPr id="16" name="Shape 13"/>
          <p:cNvSpPr/>
          <p:nvPr/>
        </p:nvSpPr>
        <p:spPr>
          <a:xfrm>
            <a:off x="6235660" y="5030748"/>
            <a:ext cx="435054" cy="435054"/>
          </a:xfrm>
          <a:prstGeom prst="roundRect">
            <a:avLst>
              <a:gd name="adj" fmla="val 6667"/>
            </a:avLst>
          </a:prstGeom>
          <a:solidFill>
            <a:srgbClr val="3C3C3A"/>
          </a:solidFill>
          <a:ln/>
        </p:spPr>
      </p:sp>
      <p:sp>
        <p:nvSpPr>
          <p:cNvPr id="17" name="Text 14"/>
          <p:cNvSpPr/>
          <p:nvPr/>
        </p:nvSpPr>
        <p:spPr>
          <a:xfrm>
            <a:off x="6356271" y="5103257"/>
            <a:ext cx="193715" cy="290036"/>
          </a:xfrm>
          <a:prstGeom prst="rect">
            <a:avLst/>
          </a:prstGeom>
          <a:noFill/>
          <a:ln/>
        </p:spPr>
        <p:txBody>
          <a:bodyPr wrap="none" lIns="0" tIns="0" rIns="0" bIns="0" rtlCol="0" anchor="t"/>
          <a:lstStyle/>
          <a:p>
            <a:pPr marL="0" indent="0" algn="ctr">
              <a:lnSpc>
                <a:spcPts val="2250"/>
              </a:lnSpc>
              <a:buNone/>
            </a:pPr>
            <a:r>
              <a:rPr lang="en-US" sz="2250" dirty="0">
                <a:solidFill>
                  <a:srgbClr val="C9C9C0"/>
                </a:solidFill>
                <a:latin typeface="Tomorrow Semi Bold" pitchFamily="34" charset="0"/>
                <a:ea typeface="Tomorrow Semi Bold" pitchFamily="34" charset="-122"/>
                <a:cs typeface="Tomorrow Semi Bold" pitchFamily="34" charset="-120"/>
              </a:rPr>
              <a:t>3</a:t>
            </a:r>
            <a:endParaRPr lang="en-US" sz="2250" dirty="0"/>
          </a:p>
        </p:txBody>
      </p:sp>
      <p:sp>
        <p:nvSpPr>
          <p:cNvPr id="18" name="Text 15"/>
          <p:cNvSpPr/>
          <p:nvPr/>
        </p:nvSpPr>
        <p:spPr>
          <a:xfrm>
            <a:off x="7516654" y="5006578"/>
            <a:ext cx="2416969" cy="302062"/>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Pump Activation</a:t>
            </a:r>
            <a:endParaRPr lang="en-US" sz="1900" dirty="0"/>
          </a:p>
        </p:txBody>
      </p:sp>
      <p:sp>
        <p:nvSpPr>
          <p:cNvPr id="19" name="Text 16"/>
          <p:cNvSpPr/>
          <p:nvPr/>
        </p:nvSpPr>
        <p:spPr>
          <a:xfrm>
            <a:off x="7516654" y="5424607"/>
            <a:ext cx="6436995" cy="309324"/>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If the soil is dry, the pump turns on for 5 seconds to water the plant.</a:t>
            </a:r>
            <a:endParaRPr lang="en-US" sz="1500" dirty="0"/>
          </a:p>
        </p:txBody>
      </p:sp>
      <p:sp>
        <p:nvSpPr>
          <p:cNvPr id="20" name="Shape 17"/>
          <p:cNvSpPr/>
          <p:nvPr/>
        </p:nvSpPr>
        <p:spPr>
          <a:xfrm>
            <a:off x="6647855" y="6544270"/>
            <a:ext cx="676751" cy="22860"/>
          </a:xfrm>
          <a:prstGeom prst="roundRect">
            <a:avLst>
              <a:gd name="adj" fmla="val 126876"/>
            </a:avLst>
          </a:prstGeom>
          <a:solidFill>
            <a:srgbClr val="555553"/>
          </a:solidFill>
          <a:ln/>
        </p:spPr>
      </p:sp>
      <p:sp>
        <p:nvSpPr>
          <p:cNvPr id="21" name="Shape 18"/>
          <p:cNvSpPr/>
          <p:nvPr/>
        </p:nvSpPr>
        <p:spPr>
          <a:xfrm>
            <a:off x="6235660" y="6338173"/>
            <a:ext cx="435054" cy="435054"/>
          </a:xfrm>
          <a:prstGeom prst="roundRect">
            <a:avLst>
              <a:gd name="adj" fmla="val 6667"/>
            </a:avLst>
          </a:prstGeom>
          <a:solidFill>
            <a:srgbClr val="3C3C3A"/>
          </a:solidFill>
          <a:ln/>
        </p:spPr>
      </p:sp>
      <p:sp>
        <p:nvSpPr>
          <p:cNvPr id="22" name="Text 19"/>
          <p:cNvSpPr/>
          <p:nvPr/>
        </p:nvSpPr>
        <p:spPr>
          <a:xfrm>
            <a:off x="6355675" y="6410682"/>
            <a:ext cx="194905" cy="290036"/>
          </a:xfrm>
          <a:prstGeom prst="rect">
            <a:avLst/>
          </a:prstGeom>
          <a:noFill/>
          <a:ln/>
        </p:spPr>
        <p:txBody>
          <a:bodyPr wrap="none" lIns="0" tIns="0" rIns="0" bIns="0" rtlCol="0" anchor="t"/>
          <a:lstStyle/>
          <a:p>
            <a:pPr marL="0" indent="0" algn="ctr">
              <a:lnSpc>
                <a:spcPts val="2250"/>
              </a:lnSpc>
              <a:buNone/>
            </a:pPr>
            <a:r>
              <a:rPr lang="en-US" sz="2250" dirty="0">
                <a:solidFill>
                  <a:srgbClr val="C9C9C0"/>
                </a:solidFill>
                <a:latin typeface="Tomorrow Semi Bold" pitchFamily="34" charset="0"/>
                <a:ea typeface="Tomorrow Semi Bold" pitchFamily="34" charset="-122"/>
                <a:cs typeface="Tomorrow Semi Bold" pitchFamily="34" charset="-120"/>
              </a:rPr>
              <a:t>4</a:t>
            </a:r>
            <a:endParaRPr lang="en-US" sz="2250" dirty="0"/>
          </a:p>
        </p:txBody>
      </p:sp>
      <p:sp>
        <p:nvSpPr>
          <p:cNvPr id="23" name="Text 20"/>
          <p:cNvSpPr/>
          <p:nvPr/>
        </p:nvSpPr>
        <p:spPr>
          <a:xfrm>
            <a:off x="7516654" y="6314003"/>
            <a:ext cx="2416969" cy="302062"/>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LCD Indicator</a:t>
            </a:r>
            <a:endParaRPr lang="en-US" sz="1900" dirty="0"/>
          </a:p>
        </p:txBody>
      </p:sp>
      <p:sp>
        <p:nvSpPr>
          <p:cNvPr id="24" name="Text 21"/>
          <p:cNvSpPr/>
          <p:nvPr/>
        </p:nvSpPr>
        <p:spPr>
          <a:xfrm>
            <a:off x="7516654" y="6732032"/>
            <a:ext cx="6436995" cy="618649"/>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The LCD will be displayed when the pump is running, providing visual confirmation.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29151"/>
          </a:xfrm>
          <a:prstGeom prst="rect">
            <a:avLst/>
          </a:prstGeom>
        </p:spPr>
      </p:pic>
      <p:sp>
        <p:nvSpPr>
          <p:cNvPr id="3" name="Text 0"/>
          <p:cNvSpPr/>
          <p:nvPr/>
        </p:nvSpPr>
        <p:spPr>
          <a:xfrm>
            <a:off x="764143" y="3330297"/>
            <a:ext cx="7079456" cy="682347"/>
          </a:xfrm>
          <a:prstGeom prst="rect">
            <a:avLst/>
          </a:prstGeom>
          <a:noFill/>
          <a:ln/>
        </p:spPr>
        <p:txBody>
          <a:bodyPr wrap="none" lIns="0" tIns="0" rIns="0" bIns="0" rtlCol="0" anchor="t"/>
          <a:lstStyle/>
          <a:p>
            <a:pPr marL="0" indent="0">
              <a:lnSpc>
                <a:spcPts val="5350"/>
              </a:lnSpc>
              <a:buNone/>
            </a:pPr>
            <a:r>
              <a:rPr lang="en-US" sz="4250" dirty="0">
                <a:solidFill>
                  <a:srgbClr val="EDEDE8"/>
                </a:solidFill>
                <a:latin typeface="Tomorrow Semi Bold" pitchFamily="34" charset="0"/>
                <a:ea typeface="Tomorrow Semi Bold" pitchFamily="34" charset="-122"/>
                <a:cs typeface="Tomorrow Semi Bold" pitchFamily="34" charset="-120"/>
              </a:rPr>
              <a:t>Steps to Build the System</a:t>
            </a:r>
            <a:endParaRPr lang="en-US" sz="4250" dirty="0"/>
          </a:p>
        </p:txBody>
      </p:sp>
      <p:pic>
        <p:nvPicPr>
          <p:cNvPr id="4" name="Image 1" descr="preencoded.png"/>
          <p:cNvPicPr>
            <a:picLocks noChangeAspect="1"/>
          </p:cNvPicPr>
          <p:nvPr/>
        </p:nvPicPr>
        <p:blipFill>
          <a:blip r:embed="rId4"/>
          <a:stretch>
            <a:fillRect/>
          </a:stretch>
        </p:blipFill>
        <p:spPr>
          <a:xfrm>
            <a:off x="764143" y="4340066"/>
            <a:ext cx="4367332" cy="873323"/>
          </a:xfrm>
          <a:prstGeom prst="rect">
            <a:avLst/>
          </a:prstGeom>
        </p:spPr>
      </p:pic>
      <p:sp>
        <p:nvSpPr>
          <p:cNvPr id="5" name="Text 1"/>
          <p:cNvSpPr/>
          <p:nvPr/>
        </p:nvSpPr>
        <p:spPr>
          <a:xfrm>
            <a:off x="982385" y="5540812"/>
            <a:ext cx="2729151" cy="341114"/>
          </a:xfrm>
          <a:prstGeom prst="rect">
            <a:avLst/>
          </a:prstGeom>
          <a:noFill/>
          <a:ln/>
        </p:spPr>
        <p:txBody>
          <a:bodyPr wrap="non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Circuit Connections</a:t>
            </a:r>
            <a:endParaRPr lang="en-US" sz="2100" dirty="0"/>
          </a:p>
        </p:txBody>
      </p:sp>
      <p:sp>
        <p:nvSpPr>
          <p:cNvPr id="6" name="Text 2"/>
          <p:cNvSpPr/>
          <p:nvPr/>
        </p:nvSpPr>
        <p:spPr>
          <a:xfrm>
            <a:off x="982385" y="6012894"/>
            <a:ext cx="3930848" cy="1397318"/>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Connect the soil moisture sensor, relay module, and water pump to the Arduino Uno according to the circuit diagram.</a:t>
            </a:r>
            <a:endParaRPr lang="en-US" sz="1700" dirty="0"/>
          </a:p>
        </p:txBody>
      </p:sp>
      <p:pic>
        <p:nvPicPr>
          <p:cNvPr id="7" name="Image 2" descr="preencoded.png"/>
          <p:cNvPicPr>
            <a:picLocks noChangeAspect="1"/>
          </p:cNvPicPr>
          <p:nvPr/>
        </p:nvPicPr>
        <p:blipFill>
          <a:blip r:embed="rId5"/>
          <a:stretch>
            <a:fillRect/>
          </a:stretch>
        </p:blipFill>
        <p:spPr>
          <a:xfrm>
            <a:off x="5131475" y="4340066"/>
            <a:ext cx="4367332" cy="873323"/>
          </a:xfrm>
          <a:prstGeom prst="rect">
            <a:avLst/>
          </a:prstGeom>
        </p:spPr>
      </p:pic>
      <p:sp>
        <p:nvSpPr>
          <p:cNvPr id="8" name="Text 3"/>
          <p:cNvSpPr/>
          <p:nvPr/>
        </p:nvSpPr>
        <p:spPr>
          <a:xfrm>
            <a:off x="5349716" y="5540812"/>
            <a:ext cx="2729151" cy="341114"/>
          </a:xfrm>
          <a:prstGeom prst="rect">
            <a:avLst/>
          </a:prstGeom>
          <a:noFill/>
          <a:ln/>
        </p:spPr>
        <p:txBody>
          <a:bodyPr wrap="non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Code Development</a:t>
            </a:r>
            <a:endParaRPr lang="en-US" sz="2100" dirty="0"/>
          </a:p>
        </p:txBody>
      </p:sp>
      <p:sp>
        <p:nvSpPr>
          <p:cNvPr id="9" name="Text 4"/>
          <p:cNvSpPr/>
          <p:nvPr/>
        </p:nvSpPr>
        <p:spPr>
          <a:xfrm>
            <a:off x="5349716" y="6012894"/>
            <a:ext cx="3930848" cy="1397318"/>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Write and upload the Arduino code, which controls the system based on the sensor readings and activates the pump accordingly.</a:t>
            </a:r>
            <a:endParaRPr lang="en-US" sz="1700" dirty="0"/>
          </a:p>
        </p:txBody>
      </p:sp>
      <p:pic>
        <p:nvPicPr>
          <p:cNvPr id="10" name="Image 3" descr="preencoded.png"/>
          <p:cNvPicPr>
            <a:picLocks noChangeAspect="1"/>
          </p:cNvPicPr>
          <p:nvPr/>
        </p:nvPicPr>
        <p:blipFill>
          <a:blip r:embed="rId6"/>
          <a:stretch>
            <a:fillRect/>
          </a:stretch>
        </p:blipFill>
        <p:spPr>
          <a:xfrm>
            <a:off x="9498806" y="4340066"/>
            <a:ext cx="4367332" cy="873323"/>
          </a:xfrm>
          <a:prstGeom prst="rect">
            <a:avLst/>
          </a:prstGeom>
        </p:spPr>
      </p:pic>
      <p:sp>
        <p:nvSpPr>
          <p:cNvPr id="11" name="Text 5"/>
          <p:cNvSpPr/>
          <p:nvPr/>
        </p:nvSpPr>
        <p:spPr>
          <a:xfrm>
            <a:off x="9717048" y="5540812"/>
            <a:ext cx="3161467" cy="341114"/>
          </a:xfrm>
          <a:prstGeom prst="rect">
            <a:avLst/>
          </a:prstGeom>
          <a:noFill/>
          <a:ln/>
        </p:spPr>
        <p:txBody>
          <a:bodyPr wrap="non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Testing and Calibration</a:t>
            </a:r>
            <a:endParaRPr lang="en-US" sz="2100" dirty="0"/>
          </a:p>
        </p:txBody>
      </p:sp>
      <p:sp>
        <p:nvSpPr>
          <p:cNvPr id="12" name="Text 6"/>
          <p:cNvSpPr/>
          <p:nvPr/>
        </p:nvSpPr>
        <p:spPr>
          <a:xfrm>
            <a:off x="9717048" y="6012894"/>
            <a:ext cx="3930848" cy="1397318"/>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Test the system with a plant and calibrate the moisture threshold for optimal watering. Adjust the code if needed to ensure proper operation.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16E1B8-B601-096E-213D-812D827C81DA}"/>
              </a:ext>
            </a:extLst>
          </p:cNvPr>
          <p:cNvSpPr txBox="1"/>
          <p:nvPr/>
        </p:nvSpPr>
        <p:spPr>
          <a:xfrm>
            <a:off x="1014762" y="791737"/>
            <a:ext cx="12991169" cy="923330"/>
          </a:xfrm>
          <a:prstGeom prst="rect">
            <a:avLst/>
          </a:prstGeom>
          <a:noFill/>
        </p:spPr>
        <p:txBody>
          <a:bodyPr wrap="square" rtlCol="0">
            <a:spAutoFit/>
          </a:bodyPr>
          <a:lstStyle/>
          <a:p>
            <a:r>
              <a:rPr lang="en-IN" sz="5400" dirty="0">
                <a:solidFill>
                  <a:schemeClr val="bg1"/>
                </a:solidFill>
                <a:latin typeface="Tomorrow Semi Bold" panose="020B0604020202020204" charset="0"/>
              </a:rPr>
              <a:t>Assembling of the system </a:t>
            </a:r>
            <a:endParaRPr lang="en-IN" sz="5400" dirty="0">
              <a:latin typeface="Tomorrow Semi Bold" panose="020B0604020202020204" charset="0"/>
            </a:endParaRPr>
          </a:p>
        </p:txBody>
      </p:sp>
      <p:sp>
        <p:nvSpPr>
          <p:cNvPr id="4" name="TextBox 3">
            <a:extLst>
              <a:ext uri="{FF2B5EF4-FFF2-40B4-BE49-F238E27FC236}">
                <a16:creationId xmlns:a16="http://schemas.microsoft.com/office/drawing/2014/main" id="{29A35C1C-C695-FB5E-9C6B-3785C233976C}"/>
              </a:ext>
            </a:extLst>
          </p:cNvPr>
          <p:cNvSpPr txBox="1"/>
          <p:nvPr/>
        </p:nvSpPr>
        <p:spPr>
          <a:xfrm>
            <a:off x="1014762" y="2620536"/>
            <a:ext cx="10805532" cy="2831544"/>
          </a:xfrm>
          <a:prstGeom prst="rect">
            <a:avLst/>
          </a:prstGeom>
          <a:noFill/>
        </p:spPr>
        <p:txBody>
          <a:bodyPr wrap="square" rtlCol="0">
            <a:spAutoFit/>
          </a:bodyPr>
          <a:lstStyle/>
          <a:p>
            <a:pPr marL="285750" indent="-285750">
              <a:buFont typeface="Wingdings" panose="05000000000000000000" pitchFamily="2" charset="2"/>
              <a:buChar char="§"/>
            </a:pPr>
            <a:r>
              <a:rPr lang="en-US" sz="3200" kern="1200" dirty="0">
                <a:solidFill>
                  <a:srgbClr val="E0E4E6"/>
                </a:solidFill>
                <a:effectLst/>
                <a:latin typeface="Tomorrow" panose="020B0604020202020204" charset="0"/>
                <a:ea typeface="Barlow" panose="00000500000000000000" pitchFamily="2" charset="0"/>
                <a:cs typeface="Barlow" panose="00000500000000000000" pitchFamily="2" charset="0"/>
              </a:rPr>
              <a:t>Mount the soil moisture sensor into the soil.</a:t>
            </a:r>
            <a:endParaRPr lang="en-IN" sz="3200" dirty="0">
              <a:effectLst/>
              <a:latin typeface="Tomorrow" panose="020B0604020202020204" charset="0"/>
            </a:endParaRPr>
          </a:p>
          <a:p>
            <a:pPr marL="285750" indent="-285750">
              <a:buFont typeface="Wingdings" panose="05000000000000000000" pitchFamily="2" charset="2"/>
              <a:buChar char="§"/>
            </a:pPr>
            <a:r>
              <a:rPr lang="en-US" sz="3200" kern="1200" dirty="0">
                <a:solidFill>
                  <a:srgbClr val="E0E4E6"/>
                </a:solidFill>
                <a:effectLst/>
                <a:latin typeface="Tomorrow" panose="020B0604020202020204" charset="0"/>
                <a:ea typeface="Barlow" panose="00000500000000000000" pitchFamily="2" charset="0"/>
                <a:cs typeface="Barlow" panose="00000500000000000000" pitchFamily="2" charset="0"/>
              </a:rPr>
              <a:t>Place the pump in a water container with a tube leading to the plant pot.</a:t>
            </a:r>
            <a:endParaRPr lang="en-IN" sz="3200" dirty="0">
              <a:effectLst/>
              <a:latin typeface="Tomorrow" panose="020B0604020202020204" charset="0"/>
            </a:endParaRPr>
          </a:p>
          <a:p>
            <a:pPr marL="285750" indent="-285750">
              <a:buFont typeface="Wingdings" panose="05000000000000000000" pitchFamily="2" charset="2"/>
              <a:buChar char="§"/>
            </a:pPr>
            <a:r>
              <a:rPr lang="en-US" sz="3200" kern="1200" dirty="0">
                <a:solidFill>
                  <a:srgbClr val="E0E4E6"/>
                </a:solidFill>
                <a:effectLst/>
                <a:latin typeface="Tomorrow" panose="020B0604020202020204" charset="0"/>
                <a:ea typeface="Barlow" panose="00000500000000000000" pitchFamily="2" charset="0"/>
                <a:cs typeface="Barlow" panose="00000500000000000000" pitchFamily="2" charset="0"/>
              </a:rPr>
              <a:t>Double-check connections for safety, especially with the relay and pump.</a:t>
            </a:r>
            <a:endParaRPr lang="en-IN" sz="3200" dirty="0">
              <a:effectLst/>
              <a:latin typeface="Tomorrow" panose="020B0604020202020204" charset="0"/>
            </a:endParaRPr>
          </a:p>
          <a:p>
            <a:pPr marL="285750"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2902394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0902" y="610433"/>
            <a:ext cx="7594997" cy="1383030"/>
          </a:xfrm>
          <a:prstGeom prst="rect">
            <a:avLst/>
          </a:prstGeom>
          <a:noFill/>
          <a:ln/>
        </p:spPr>
        <p:txBody>
          <a:bodyPr wrap="square" lIns="0" tIns="0" rIns="0" bIns="0" rtlCol="0" anchor="t"/>
          <a:lstStyle/>
          <a:p>
            <a:pPr marL="0" indent="0">
              <a:lnSpc>
                <a:spcPts val="5400"/>
              </a:lnSpc>
              <a:buNone/>
            </a:pPr>
            <a:r>
              <a:rPr lang="en-US" sz="4350" dirty="0">
                <a:solidFill>
                  <a:srgbClr val="EDEDE8"/>
                </a:solidFill>
                <a:latin typeface="Tomorrow Semi Bold" pitchFamily="34" charset="0"/>
                <a:ea typeface="Tomorrow Semi Bold" pitchFamily="34" charset="-122"/>
                <a:cs typeface="Tomorrow Semi Bold" pitchFamily="34" charset="-120"/>
              </a:rPr>
              <a:t>Benefits of Automated Watering</a:t>
            </a:r>
            <a:endParaRPr lang="en-US" sz="4350" dirty="0"/>
          </a:p>
        </p:txBody>
      </p:sp>
      <p:pic>
        <p:nvPicPr>
          <p:cNvPr id="4" name="Image 1" descr="preencoded.png"/>
          <p:cNvPicPr>
            <a:picLocks noChangeAspect="1"/>
          </p:cNvPicPr>
          <p:nvPr/>
        </p:nvPicPr>
        <p:blipFill>
          <a:blip r:embed="rId4"/>
          <a:stretch>
            <a:fillRect/>
          </a:stretch>
        </p:blipFill>
        <p:spPr>
          <a:xfrm>
            <a:off x="6260902" y="2325291"/>
            <a:ext cx="553164" cy="553164"/>
          </a:xfrm>
          <a:prstGeom prst="rect">
            <a:avLst/>
          </a:prstGeom>
        </p:spPr>
      </p:pic>
      <p:sp>
        <p:nvSpPr>
          <p:cNvPr id="5" name="Text 1"/>
          <p:cNvSpPr/>
          <p:nvPr/>
        </p:nvSpPr>
        <p:spPr>
          <a:xfrm>
            <a:off x="6260902" y="3099673"/>
            <a:ext cx="3146703" cy="345638"/>
          </a:xfrm>
          <a:prstGeom prst="rect">
            <a:avLst/>
          </a:prstGeom>
          <a:noFill/>
          <a:ln/>
        </p:spPr>
        <p:txBody>
          <a:bodyPr wrap="non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Improved Plant Health</a:t>
            </a:r>
            <a:endParaRPr lang="en-US" sz="2150" dirty="0"/>
          </a:p>
        </p:txBody>
      </p:sp>
      <p:sp>
        <p:nvSpPr>
          <p:cNvPr id="6" name="Text 2"/>
          <p:cNvSpPr/>
          <p:nvPr/>
        </p:nvSpPr>
        <p:spPr>
          <a:xfrm>
            <a:off x="6260902" y="3578066"/>
            <a:ext cx="3631525" cy="1062276"/>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Consistent moisture reduces wilting and promotes healthy plant growth.</a:t>
            </a:r>
            <a:endParaRPr lang="en-US" sz="1700" dirty="0"/>
          </a:p>
        </p:txBody>
      </p:sp>
      <p:pic>
        <p:nvPicPr>
          <p:cNvPr id="7" name="Image 2" descr="preencoded.png"/>
          <p:cNvPicPr>
            <a:picLocks noChangeAspect="1"/>
          </p:cNvPicPr>
          <p:nvPr/>
        </p:nvPicPr>
        <p:blipFill>
          <a:blip r:embed="rId5"/>
          <a:stretch>
            <a:fillRect/>
          </a:stretch>
        </p:blipFill>
        <p:spPr>
          <a:xfrm>
            <a:off x="10224254" y="2325291"/>
            <a:ext cx="553164" cy="553164"/>
          </a:xfrm>
          <a:prstGeom prst="rect">
            <a:avLst/>
          </a:prstGeom>
        </p:spPr>
      </p:pic>
      <p:sp>
        <p:nvSpPr>
          <p:cNvPr id="8" name="Text 3"/>
          <p:cNvSpPr/>
          <p:nvPr/>
        </p:nvSpPr>
        <p:spPr>
          <a:xfrm>
            <a:off x="10224254" y="3099673"/>
            <a:ext cx="3044071" cy="345638"/>
          </a:xfrm>
          <a:prstGeom prst="rect">
            <a:avLst/>
          </a:prstGeom>
          <a:noFill/>
          <a:ln/>
        </p:spPr>
        <p:txBody>
          <a:bodyPr wrap="non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Reduced Water Waste</a:t>
            </a:r>
            <a:endParaRPr lang="en-US" sz="2150" dirty="0"/>
          </a:p>
        </p:txBody>
      </p:sp>
      <p:sp>
        <p:nvSpPr>
          <p:cNvPr id="9" name="Text 4"/>
          <p:cNvSpPr/>
          <p:nvPr/>
        </p:nvSpPr>
        <p:spPr>
          <a:xfrm>
            <a:off x="10224254" y="3578066"/>
            <a:ext cx="3631644" cy="1062276"/>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Waters only when necessary, minimizing water usage and waste.</a:t>
            </a:r>
            <a:endParaRPr lang="en-US" sz="1700" dirty="0"/>
          </a:p>
        </p:txBody>
      </p:sp>
      <p:pic>
        <p:nvPicPr>
          <p:cNvPr id="10" name="Image 3" descr="preencoded.png"/>
          <p:cNvPicPr>
            <a:picLocks noChangeAspect="1"/>
          </p:cNvPicPr>
          <p:nvPr/>
        </p:nvPicPr>
        <p:blipFill>
          <a:blip r:embed="rId6"/>
          <a:stretch>
            <a:fillRect/>
          </a:stretch>
        </p:blipFill>
        <p:spPr>
          <a:xfrm>
            <a:off x="6260902" y="5304115"/>
            <a:ext cx="553164" cy="553164"/>
          </a:xfrm>
          <a:prstGeom prst="rect">
            <a:avLst/>
          </a:prstGeom>
        </p:spPr>
      </p:pic>
      <p:sp>
        <p:nvSpPr>
          <p:cNvPr id="11" name="Text 5"/>
          <p:cNvSpPr/>
          <p:nvPr/>
        </p:nvSpPr>
        <p:spPr>
          <a:xfrm>
            <a:off x="6260902" y="6078498"/>
            <a:ext cx="2766179" cy="345638"/>
          </a:xfrm>
          <a:prstGeom prst="rect">
            <a:avLst/>
          </a:prstGeom>
          <a:noFill/>
          <a:ln/>
        </p:spPr>
        <p:txBody>
          <a:bodyPr wrap="non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Convenience</a:t>
            </a:r>
            <a:endParaRPr lang="en-US" sz="2150" dirty="0"/>
          </a:p>
        </p:txBody>
      </p:sp>
      <p:sp>
        <p:nvSpPr>
          <p:cNvPr id="12" name="Text 6"/>
          <p:cNvSpPr/>
          <p:nvPr/>
        </p:nvSpPr>
        <p:spPr>
          <a:xfrm>
            <a:off x="6260902" y="6556891"/>
            <a:ext cx="3631525" cy="1062276"/>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Frees up time and effort, making plant care easier and more manageable.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24038"/>
            <a:ext cx="6215182"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Practical Applications</a:t>
            </a:r>
            <a:endParaRPr lang="en-US" sz="4450" dirty="0"/>
          </a:p>
        </p:txBody>
      </p:sp>
      <p:sp>
        <p:nvSpPr>
          <p:cNvPr id="4" name="Shape 1"/>
          <p:cNvSpPr/>
          <p:nvPr/>
        </p:nvSpPr>
        <p:spPr>
          <a:xfrm>
            <a:off x="6280190" y="3128129"/>
            <a:ext cx="510302" cy="510302"/>
          </a:xfrm>
          <a:prstGeom prst="roundRect">
            <a:avLst>
              <a:gd name="adj" fmla="val 6667"/>
            </a:avLst>
          </a:prstGeom>
          <a:solidFill>
            <a:srgbClr val="3C3C3A"/>
          </a:solidFill>
          <a:ln/>
        </p:spPr>
      </p:sp>
      <p:sp>
        <p:nvSpPr>
          <p:cNvPr id="5" name="Text 2"/>
          <p:cNvSpPr/>
          <p:nvPr/>
        </p:nvSpPr>
        <p:spPr>
          <a:xfrm>
            <a:off x="6457950" y="3213140"/>
            <a:ext cx="154781"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1</a:t>
            </a:r>
            <a:endParaRPr lang="en-US" sz="2650" dirty="0"/>
          </a:p>
        </p:txBody>
      </p:sp>
      <p:sp>
        <p:nvSpPr>
          <p:cNvPr id="6" name="Text 3"/>
          <p:cNvSpPr/>
          <p:nvPr/>
        </p:nvSpPr>
        <p:spPr>
          <a:xfrm>
            <a:off x="7017306" y="3128129"/>
            <a:ext cx="2927747" cy="708660"/>
          </a:xfrm>
          <a:prstGeom prst="rect">
            <a:avLst/>
          </a:prstGeom>
          <a:noFill/>
          <a:ln/>
        </p:spPr>
        <p:txBody>
          <a:bodyPr wrap="squar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Small Home Gardens</a:t>
            </a:r>
            <a:endParaRPr lang="en-US" sz="2200" dirty="0"/>
          </a:p>
        </p:txBody>
      </p:sp>
      <p:sp>
        <p:nvSpPr>
          <p:cNvPr id="7" name="Text 4"/>
          <p:cNvSpPr/>
          <p:nvPr/>
        </p:nvSpPr>
        <p:spPr>
          <a:xfrm>
            <a:off x="7017306" y="3972878"/>
            <a:ext cx="2927747" cy="725805"/>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Maintain potted plants or balcony gardens.</a:t>
            </a:r>
            <a:endParaRPr lang="en-US" sz="1750" dirty="0"/>
          </a:p>
        </p:txBody>
      </p:sp>
      <p:sp>
        <p:nvSpPr>
          <p:cNvPr id="8" name="Shape 5"/>
          <p:cNvSpPr/>
          <p:nvPr/>
        </p:nvSpPr>
        <p:spPr>
          <a:xfrm>
            <a:off x="10171867" y="3128129"/>
            <a:ext cx="510302" cy="510302"/>
          </a:xfrm>
          <a:prstGeom prst="roundRect">
            <a:avLst>
              <a:gd name="adj" fmla="val 6667"/>
            </a:avLst>
          </a:prstGeom>
          <a:solidFill>
            <a:srgbClr val="3C3C3A"/>
          </a:solidFill>
          <a:ln/>
        </p:spPr>
      </p:sp>
      <p:sp>
        <p:nvSpPr>
          <p:cNvPr id="9" name="Text 6"/>
          <p:cNvSpPr/>
          <p:nvPr/>
        </p:nvSpPr>
        <p:spPr>
          <a:xfrm>
            <a:off x="10312718" y="3213140"/>
            <a:ext cx="228600"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2</a:t>
            </a:r>
            <a:endParaRPr lang="en-US" sz="2650" dirty="0"/>
          </a:p>
        </p:txBody>
      </p:sp>
      <p:sp>
        <p:nvSpPr>
          <p:cNvPr id="10" name="Text 7"/>
          <p:cNvSpPr/>
          <p:nvPr/>
        </p:nvSpPr>
        <p:spPr>
          <a:xfrm>
            <a:off x="10908983" y="312812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Urban Farming</a:t>
            </a:r>
            <a:endParaRPr lang="en-US" sz="2200" dirty="0"/>
          </a:p>
        </p:txBody>
      </p:sp>
      <p:sp>
        <p:nvSpPr>
          <p:cNvPr id="11" name="Text 8"/>
          <p:cNvSpPr/>
          <p:nvPr/>
        </p:nvSpPr>
        <p:spPr>
          <a:xfrm>
            <a:off x="10908983" y="3618548"/>
            <a:ext cx="2927747" cy="1088708"/>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Automate irrigation for vertical or hydroponic farming.</a:t>
            </a:r>
            <a:endParaRPr lang="en-US" sz="1750" dirty="0"/>
          </a:p>
        </p:txBody>
      </p:sp>
      <p:sp>
        <p:nvSpPr>
          <p:cNvPr id="12" name="Shape 9"/>
          <p:cNvSpPr/>
          <p:nvPr/>
        </p:nvSpPr>
        <p:spPr>
          <a:xfrm>
            <a:off x="6280190" y="5189220"/>
            <a:ext cx="510302" cy="510302"/>
          </a:xfrm>
          <a:prstGeom prst="roundRect">
            <a:avLst>
              <a:gd name="adj" fmla="val 6667"/>
            </a:avLst>
          </a:prstGeom>
          <a:solidFill>
            <a:srgbClr val="3C3C3A"/>
          </a:solidFill>
          <a:ln/>
        </p:spPr>
      </p:sp>
      <p:sp>
        <p:nvSpPr>
          <p:cNvPr id="13" name="Text 10"/>
          <p:cNvSpPr/>
          <p:nvPr/>
        </p:nvSpPr>
        <p:spPr>
          <a:xfrm>
            <a:off x="6421636" y="5274231"/>
            <a:ext cx="227290"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3</a:t>
            </a:r>
            <a:endParaRPr lang="en-US" sz="2650" dirty="0"/>
          </a:p>
        </p:txBody>
      </p:sp>
      <p:sp>
        <p:nvSpPr>
          <p:cNvPr id="14" name="Text 11"/>
          <p:cNvSpPr/>
          <p:nvPr/>
        </p:nvSpPr>
        <p:spPr>
          <a:xfrm>
            <a:off x="7017306" y="518922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Remote Locations</a:t>
            </a:r>
            <a:endParaRPr lang="en-US" sz="2200" dirty="0"/>
          </a:p>
        </p:txBody>
      </p:sp>
      <p:sp>
        <p:nvSpPr>
          <p:cNvPr id="15" name="Text 12"/>
          <p:cNvSpPr/>
          <p:nvPr/>
        </p:nvSpPr>
        <p:spPr>
          <a:xfrm>
            <a:off x="7017306" y="5679638"/>
            <a:ext cx="6819305" cy="725805"/>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Ideal for gardens where regular human intervention is challenging.</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38720"/>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Conclusions</a:t>
            </a:r>
            <a:endParaRPr lang="en-US" sz="4450" dirty="0"/>
          </a:p>
        </p:txBody>
      </p:sp>
      <p:sp>
        <p:nvSpPr>
          <p:cNvPr id="4" name="Text 1"/>
          <p:cNvSpPr/>
          <p:nvPr/>
        </p:nvSpPr>
        <p:spPr>
          <a:xfrm>
            <a:off x="6280190" y="3187660"/>
            <a:ext cx="7556421" cy="290322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This smart plant watering system offers a convenient and efficient solution for plant care, ensuring healthy growth and reducing water waste. By utilizing renewable energy sources like solar panels, the system can operate independently, reducing its carbon footprint and making it a sustainable solution. This project demonstrates that practical solutions for automated irrigation can be built using affordable and readily available components, making it accessible and impactful.</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3FC9A86-D6DC-E889-54F3-BC6C9F04C105}"/>
              </a:ext>
            </a:extLst>
          </p:cNvPr>
          <p:cNvPicPr>
            <a:picLocks noChangeAspect="1"/>
          </p:cNvPicPr>
          <p:nvPr/>
        </p:nvPicPr>
        <p:blipFill>
          <a:blip r:embed="rId2"/>
          <a:stretch>
            <a:fillRect/>
          </a:stretch>
        </p:blipFill>
        <p:spPr>
          <a:xfrm>
            <a:off x="-117088" y="0"/>
            <a:ext cx="14864576" cy="8341112"/>
          </a:xfrm>
          <a:prstGeom prst="rect">
            <a:avLst/>
          </a:prstGeom>
        </p:spPr>
      </p:pic>
    </p:spTree>
    <p:extLst>
      <p:ext uri="{BB962C8B-B14F-4D97-AF65-F5344CB8AC3E}">
        <p14:creationId xmlns:p14="http://schemas.microsoft.com/office/powerpoint/2010/main" val="3021110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560</Words>
  <Application>Microsoft Office PowerPoint</Application>
  <PresentationFormat>Custom</PresentationFormat>
  <Paragraphs>82</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Wingdings</vt:lpstr>
      <vt:lpstr>Tomorrow</vt:lpstr>
      <vt:lpstr>Arial</vt:lpstr>
      <vt:lpstr>Tomorrow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aryannlodha@gmail.com</cp:lastModifiedBy>
  <cp:revision>2</cp:revision>
  <dcterms:created xsi:type="dcterms:W3CDTF">2024-12-22T15:43:36Z</dcterms:created>
  <dcterms:modified xsi:type="dcterms:W3CDTF">2024-12-22T18:13:05Z</dcterms:modified>
</cp:coreProperties>
</file>