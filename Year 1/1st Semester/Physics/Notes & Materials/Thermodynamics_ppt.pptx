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277" r:id="rId2"/>
    <p:sldId id="279" r:id="rId3"/>
    <p:sldId id="280" r:id="rId4"/>
    <p:sldId id="281" r:id="rId5"/>
    <p:sldId id="285" r:id="rId6"/>
    <p:sldId id="282" r:id="rId7"/>
    <p:sldId id="283" r:id="rId8"/>
    <p:sldId id="284" r:id="rId9"/>
    <p:sldId id="278" r:id="rId10"/>
    <p:sldId id="286" r:id="rId11"/>
    <p:sldId id="287" r:id="rId12"/>
    <p:sldId id="290" r:id="rId13"/>
    <p:sldId id="291" r:id="rId14"/>
    <p:sldId id="292" r:id="rId15"/>
    <p:sldId id="288" r:id="rId16"/>
    <p:sldId id="289" r:id="rId17"/>
    <p:sldId id="313" r:id="rId18"/>
    <p:sldId id="293" r:id="rId19"/>
    <p:sldId id="294" r:id="rId20"/>
    <p:sldId id="295" r:id="rId21"/>
    <p:sldId id="298" r:id="rId22"/>
    <p:sldId id="296" r:id="rId23"/>
    <p:sldId id="297" r:id="rId24"/>
    <p:sldId id="300" r:id="rId25"/>
    <p:sldId id="301" r:id="rId26"/>
    <p:sldId id="302" r:id="rId27"/>
    <p:sldId id="299" r:id="rId28"/>
    <p:sldId id="256" r:id="rId29"/>
    <p:sldId id="314" r:id="rId30"/>
    <p:sldId id="257" r:id="rId31"/>
    <p:sldId id="258" r:id="rId32"/>
    <p:sldId id="259" r:id="rId33"/>
    <p:sldId id="260" r:id="rId34"/>
    <p:sldId id="261" r:id="rId35"/>
    <p:sldId id="262" r:id="rId36"/>
    <p:sldId id="263" r:id="rId37"/>
    <p:sldId id="304" r:id="rId38"/>
    <p:sldId id="264" r:id="rId39"/>
    <p:sldId id="312" r:id="rId40"/>
    <p:sldId id="265" r:id="rId41"/>
    <p:sldId id="266" r:id="rId42"/>
    <p:sldId id="267" r:id="rId43"/>
    <p:sldId id="268" r:id="rId44"/>
    <p:sldId id="305" r:id="rId45"/>
    <p:sldId id="269" r:id="rId46"/>
    <p:sldId id="306" r:id="rId47"/>
    <p:sldId id="270" r:id="rId48"/>
    <p:sldId id="307" r:id="rId49"/>
    <p:sldId id="271" r:id="rId50"/>
    <p:sldId id="308" r:id="rId51"/>
    <p:sldId id="272" r:id="rId52"/>
    <p:sldId id="309" r:id="rId53"/>
    <p:sldId id="274" r:id="rId54"/>
    <p:sldId id="310" r:id="rId55"/>
    <p:sldId id="273" r:id="rId56"/>
    <p:sldId id="311" r:id="rId57"/>
    <p:sldId id="275" r:id="rId58"/>
    <p:sldId id="276" r:id="rId5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p:cViewPr>
        <p:scale>
          <a:sx n="125" d="100"/>
          <a:sy n="125" d="100"/>
        </p:scale>
        <p:origin x="250"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93F6FE-749E-4F49-A6FA-7E46ED772655}" type="datetimeFigureOut">
              <a:rPr lang="en-IN" smtClean="0"/>
              <a:t>05-12-2024</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8A9E67-1395-4DED-975A-821270B12EC0}" type="slidenum">
              <a:rPr lang="en-IN" smtClean="0"/>
              <a:t>‹#›</a:t>
            </a:fld>
            <a:endParaRPr lang="en-IN"/>
          </a:p>
        </p:txBody>
      </p:sp>
    </p:spTree>
    <p:extLst>
      <p:ext uri="{BB962C8B-B14F-4D97-AF65-F5344CB8AC3E}">
        <p14:creationId xmlns:p14="http://schemas.microsoft.com/office/powerpoint/2010/main" val="3628355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F8A9E67-1395-4DED-975A-821270B12EC0}" type="slidenum">
              <a:rPr lang="en-IN" smtClean="0"/>
              <a:t>51</a:t>
            </a:fld>
            <a:endParaRPr lang="en-IN"/>
          </a:p>
        </p:txBody>
      </p:sp>
    </p:spTree>
    <p:extLst>
      <p:ext uri="{BB962C8B-B14F-4D97-AF65-F5344CB8AC3E}">
        <p14:creationId xmlns:p14="http://schemas.microsoft.com/office/powerpoint/2010/main" val="20112175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387E683-351F-4BA1-85A4-E41539352AD7}" type="datetimeFigureOut">
              <a:rPr lang="en-IN" smtClean="0"/>
              <a:t>05-12-2024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BB74AB-DB15-4F7A-B481-138AB2B2F604}" type="slidenum">
              <a:rPr lang="en-IN" smtClean="0"/>
              <a:t>‹#›</a:t>
            </a:fld>
            <a:endParaRPr lang="en-IN"/>
          </a:p>
        </p:txBody>
      </p:sp>
    </p:spTree>
    <p:extLst>
      <p:ext uri="{BB962C8B-B14F-4D97-AF65-F5344CB8AC3E}">
        <p14:creationId xmlns:p14="http://schemas.microsoft.com/office/powerpoint/2010/main" val="1576638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387E683-351F-4BA1-85A4-E41539352AD7}" type="datetimeFigureOut">
              <a:rPr lang="en-IN" smtClean="0"/>
              <a:t>05-12-2024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BB74AB-DB15-4F7A-B481-138AB2B2F604}" type="slidenum">
              <a:rPr lang="en-IN" smtClean="0"/>
              <a:t>‹#›</a:t>
            </a:fld>
            <a:endParaRPr lang="en-IN"/>
          </a:p>
        </p:txBody>
      </p:sp>
    </p:spTree>
    <p:extLst>
      <p:ext uri="{BB962C8B-B14F-4D97-AF65-F5344CB8AC3E}">
        <p14:creationId xmlns:p14="http://schemas.microsoft.com/office/powerpoint/2010/main" val="587354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87E683-351F-4BA1-85A4-E41539352AD7}" type="datetimeFigureOut">
              <a:rPr lang="en-IN" smtClean="0"/>
              <a:t>05-12-2024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BB74AB-DB15-4F7A-B481-138AB2B2F604}" type="slidenum">
              <a:rPr lang="en-IN" smtClean="0"/>
              <a:t>‹#›</a:t>
            </a:fld>
            <a:endParaRPr lang="en-IN"/>
          </a:p>
        </p:txBody>
      </p:sp>
    </p:spTree>
    <p:extLst>
      <p:ext uri="{BB962C8B-B14F-4D97-AF65-F5344CB8AC3E}">
        <p14:creationId xmlns:p14="http://schemas.microsoft.com/office/powerpoint/2010/main" val="119350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387E683-351F-4BA1-85A4-E41539352AD7}" type="datetimeFigureOut">
              <a:rPr lang="en-IN" smtClean="0"/>
              <a:t>05-12-2024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8BB74AB-DB15-4F7A-B481-138AB2B2F604}" type="slidenum">
              <a:rPr lang="en-IN" smtClean="0"/>
              <a:t>‹#›</a:t>
            </a:fld>
            <a:endParaRPr lang="en-IN"/>
          </a:p>
        </p:txBody>
      </p:sp>
    </p:spTree>
    <p:extLst>
      <p:ext uri="{BB962C8B-B14F-4D97-AF65-F5344CB8AC3E}">
        <p14:creationId xmlns:p14="http://schemas.microsoft.com/office/powerpoint/2010/main" val="3141678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387E683-351F-4BA1-85A4-E41539352AD7}" type="datetimeFigureOut">
              <a:rPr lang="en-IN" smtClean="0"/>
              <a:t>05-12-2024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8BB74AB-DB15-4F7A-B481-138AB2B2F604}" type="slidenum">
              <a:rPr lang="en-IN" smtClean="0"/>
              <a:t>‹#›</a:t>
            </a:fld>
            <a:endParaRPr lang="en-IN"/>
          </a:p>
        </p:txBody>
      </p:sp>
    </p:spTree>
    <p:extLst>
      <p:ext uri="{BB962C8B-B14F-4D97-AF65-F5344CB8AC3E}">
        <p14:creationId xmlns:p14="http://schemas.microsoft.com/office/powerpoint/2010/main" val="2928786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387E683-351F-4BA1-85A4-E41539352AD7}" type="datetimeFigureOut">
              <a:rPr lang="en-IN" smtClean="0"/>
              <a:t>05-12-2024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8BB74AB-DB15-4F7A-B481-138AB2B2F604}" type="slidenum">
              <a:rPr lang="en-IN" smtClean="0"/>
              <a:t>‹#›</a:t>
            </a:fld>
            <a:endParaRPr lang="en-IN"/>
          </a:p>
        </p:txBody>
      </p:sp>
    </p:spTree>
    <p:extLst>
      <p:ext uri="{BB962C8B-B14F-4D97-AF65-F5344CB8AC3E}">
        <p14:creationId xmlns:p14="http://schemas.microsoft.com/office/powerpoint/2010/main" val="771672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87E683-351F-4BA1-85A4-E41539352AD7}" type="datetimeFigureOut">
              <a:rPr lang="en-IN" smtClean="0"/>
              <a:t>05-12-2024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8BB74AB-DB15-4F7A-B481-138AB2B2F604}" type="slidenum">
              <a:rPr lang="en-IN" smtClean="0"/>
              <a:t>‹#›</a:t>
            </a:fld>
            <a:endParaRPr lang="en-IN"/>
          </a:p>
        </p:txBody>
      </p:sp>
    </p:spTree>
    <p:extLst>
      <p:ext uri="{BB962C8B-B14F-4D97-AF65-F5344CB8AC3E}">
        <p14:creationId xmlns:p14="http://schemas.microsoft.com/office/powerpoint/2010/main" val="4120531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387E683-351F-4BA1-85A4-E41539352AD7}" type="datetimeFigureOut">
              <a:rPr lang="en-IN" smtClean="0"/>
              <a:t>05-12-2024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8BB74AB-DB15-4F7A-B481-138AB2B2F604}" type="slidenum">
              <a:rPr lang="en-IN" smtClean="0"/>
              <a:t>‹#›</a:t>
            </a:fld>
            <a:endParaRPr lang="en-IN"/>
          </a:p>
        </p:txBody>
      </p:sp>
    </p:spTree>
    <p:extLst>
      <p:ext uri="{BB962C8B-B14F-4D97-AF65-F5344CB8AC3E}">
        <p14:creationId xmlns:p14="http://schemas.microsoft.com/office/powerpoint/2010/main" val="3603320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387E683-351F-4BA1-85A4-E41539352AD7}" type="datetimeFigureOut">
              <a:rPr lang="en-IN" smtClean="0"/>
              <a:t>05-12-2024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8BB74AB-DB15-4F7A-B481-138AB2B2F604}" type="slidenum">
              <a:rPr lang="en-IN" smtClean="0"/>
              <a:t>‹#›</a:t>
            </a:fld>
            <a:endParaRPr lang="en-IN"/>
          </a:p>
        </p:txBody>
      </p:sp>
    </p:spTree>
    <p:extLst>
      <p:ext uri="{BB962C8B-B14F-4D97-AF65-F5344CB8AC3E}">
        <p14:creationId xmlns:p14="http://schemas.microsoft.com/office/powerpoint/2010/main" val="603075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387E683-351F-4BA1-85A4-E41539352AD7}" type="datetimeFigureOut">
              <a:rPr lang="en-IN" smtClean="0"/>
              <a:t>05-12-2024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BB74AB-DB15-4F7A-B481-138AB2B2F604}" type="slidenum">
              <a:rPr lang="en-IN" smtClean="0"/>
              <a:t>‹#›</a:t>
            </a:fld>
            <a:endParaRPr lang="en-IN"/>
          </a:p>
        </p:txBody>
      </p:sp>
    </p:spTree>
    <p:extLst>
      <p:ext uri="{BB962C8B-B14F-4D97-AF65-F5344CB8AC3E}">
        <p14:creationId xmlns:p14="http://schemas.microsoft.com/office/powerpoint/2010/main" val="9339263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387E683-351F-4BA1-85A4-E41539352AD7}" type="datetimeFigureOut">
              <a:rPr lang="en-IN" smtClean="0"/>
              <a:t>05-12-2024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BB74AB-DB15-4F7A-B481-138AB2B2F604}" type="slidenum">
              <a:rPr lang="en-IN" smtClean="0"/>
              <a:t>‹#›</a:t>
            </a:fld>
            <a:endParaRPr lang="en-IN"/>
          </a:p>
        </p:txBody>
      </p:sp>
    </p:spTree>
    <p:extLst>
      <p:ext uri="{BB962C8B-B14F-4D97-AF65-F5344CB8AC3E}">
        <p14:creationId xmlns:p14="http://schemas.microsoft.com/office/powerpoint/2010/main" val="1834557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87E683-351F-4BA1-85A4-E41539352AD7}" type="datetimeFigureOut">
              <a:rPr lang="en-IN" smtClean="0"/>
              <a:t>05-12-2024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BB74AB-DB15-4F7A-B481-138AB2B2F604}" type="slidenum">
              <a:rPr lang="en-IN" smtClean="0"/>
              <a:t>‹#›</a:t>
            </a:fld>
            <a:endParaRPr lang="en-IN"/>
          </a:p>
        </p:txBody>
      </p:sp>
    </p:spTree>
    <p:extLst>
      <p:ext uri="{BB962C8B-B14F-4D97-AF65-F5344CB8AC3E}">
        <p14:creationId xmlns:p14="http://schemas.microsoft.com/office/powerpoint/2010/main" val="21119301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2DAF5-7537-38D9-AE8C-853DC0BBD179}"/>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Thermodynamics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9712EF0-0CB3-81F4-AC4F-3019B15A7D45}"/>
              </a:ext>
            </a:extLst>
          </p:cNvPr>
          <p:cNvSpPr>
            <a:spLocks noGrp="1"/>
          </p:cNvSpPr>
          <p:nvPr>
            <p:ph idx="1"/>
          </p:nvPr>
        </p:nvSpPr>
        <p:spPr/>
        <p:txBody>
          <a:bodyPr>
            <a:normAutofit fontScale="92500" lnSpcReduction="20000"/>
          </a:bodyPr>
          <a:lstStyle/>
          <a:p>
            <a:pPr marL="0" indent="0">
              <a:buNone/>
            </a:pPr>
            <a:r>
              <a:rPr lang="en-US" sz="2400" dirty="0">
                <a:effectLst/>
                <a:latin typeface="Times New Roman" panose="02020603050405020304" pitchFamily="18" charset="0"/>
                <a:ea typeface="Times New Roman" panose="02020603050405020304" pitchFamily="18" charset="0"/>
              </a:rPr>
              <a:t>Thermodynamics deals with the relations among heat, work and</a:t>
            </a:r>
            <a:r>
              <a:rPr lang="en-US" sz="2400" spc="-26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properties of system which are in equilibrium.</a:t>
            </a:r>
          </a:p>
          <a:p>
            <a:pPr marL="0" indent="0">
              <a:buNone/>
            </a:pPr>
            <a:endParaRPr lang="en-US" sz="2400" dirty="0">
              <a:latin typeface="Times New Roman" panose="02020603050405020304" pitchFamily="18" charset="0"/>
            </a:endParaRPr>
          </a:p>
          <a:p>
            <a:pPr marL="0" indent="0">
              <a:lnSpc>
                <a:spcPct val="115000"/>
              </a:lnSpc>
              <a:spcBef>
                <a:spcPts val="1200"/>
              </a:spcBef>
              <a:spcAft>
                <a:spcPts val="300"/>
              </a:spcAft>
              <a:buNone/>
            </a:pPr>
            <a:r>
              <a:rPr lang="en-US" sz="2400" b="1" i="0" dirty="0">
                <a:effectLst/>
                <a:latin typeface="Times New Roman" panose="02020603050405020304" pitchFamily="18" charset="0"/>
                <a:ea typeface="Times New Roman" panose="02020603050405020304" pitchFamily="18" charset="0"/>
              </a:rPr>
              <a:t>System:</a:t>
            </a:r>
            <a:endParaRPr lang="en-IN" sz="2400" b="1" i="1" dirty="0">
              <a:effectLst/>
              <a:latin typeface="Times New Roman" panose="02020603050405020304" pitchFamily="18" charset="0"/>
              <a:ea typeface="Times New Roman" panose="02020603050405020304" pitchFamily="18" charset="0"/>
            </a:endParaRPr>
          </a:p>
          <a:p>
            <a:pPr marL="0" indent="0" algn="just">
              <a:lnSpc>
                <a:spcPct val="115000"/>
              </a:lnSpc>
              <a:buNone/>
            </a:pPr>
            <a:r>
              <a:rPr lang="en-US" sz="2400" dirty="0">
                <a:effectLst/>
                <a:latin typeface="Times New Roman" panose="02020603050405020304" pitchFamily="18" charset="0"/>
                <a:ea typeface="Times New Roman" panose="02020603050405020304" pitchFamily="18" charset="0"/>
              </a:rPr>
              <a:t>A thermodynamic system is defined as a quantity of matter or a region in space which is</a:t>
            </a:r>
            <a:r>
              <a:rPr lang="en-US" sz="2400" spc="-26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selected</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for</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study.</a:t>
            </a:r>
            <a:endParaRPr lang="en-IN" sz="2400" dirty="0">
              <a:effectLst/>
              <a:latin typeface="Times New Roman" panose="02020603050405020304" pitchFamily="18" charset="0"/>
              <a:ea typeface="Times New Roman" panose="02020603050405020304" pitchFamily="18" charset="0"/>
            </a:endParaRPr>
          </a:p>
          <a:p>
            <a:pPr marL="0" indent="0">
              <a:lnSpc>
                <a:spcPct val="115000"/>
              </a:lnSpc>
              <a:spcBef>
                <a:spcPts val="965"/>
              </a:spcBef>
              <a:spcAft>
                <a:spcPts val="300"/>
              </a:spcAft>
              <a:buNone/>
            </a:pPr>
            <a:r>
              <a:rPr lang="en-US" sz="2400" b="1" i="1" dirty="0">
                <a:effectLst/>
                <a:latin typeface="Times New Roman" panose="02020603050405020304" pitchFamily="18" charset="0"/>
                <a:ea typeface="Times New Roman" panose="02020603050405020304" pitchFamily="18" charset="0"/>
              </a:rPr>
              <a:t>Surroundings:</a:t>
            </a:r>
            <a:endParaRPr lang="en-IN" sz="2400" b="1" i="1" dirty="0">
              <a:effectLst/>
              <a:latin typeface="Times New Roman" panose="02020603050405020304" pitchFamily="18" charset="0"/>
              <a:ea typeface="Times New Roman" panose="02020603050405020304" pitchFamily="18" charset="0"/>
            </a:endParaRPr>
          </a:p>
          <a:p>
            <a:pPr marL="0" indent="0" algn="just">
              <a:lnSpc>
                <a:spcPct val="115000"/>
              </a:lnSpc>
              <a:spcBef>
                <a:spcPts val="995"/>
              </a:spcBef>
              <a:spcAft>
                <a:spcPts val="0"/>
              </a:spcAft>
              <a:buNone/>
            </a:pPr>
            <a:r>
              <a:rPr lang="en-US" sz="2400" dirty="0">
                <a:effectLst/>
                <a:latin typeface="Times New Roman" panose="02020603050405020304" pitchFamily="18" charset="0"/>
                <a:ea typeface="Times New Roman" panose="02020603050405020304" pitchFamily="18" charset="0"/>
              </a:rPr>
              <a:t>The</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mass</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or</a:t>
            </a:r>
            <a:r>
              <a:rPr lang="en-US" sz="2400" spc="-2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region</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outside</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2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system</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is</a:t>
            </a:r>
            <a:r>
              <a:rPr lang="en-US" sz="2400" spc="-2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called</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surroundings.</a:t>
            </a:r>
            <a:endParaRPr lang="en-IN" sz="2400" dirty="0">
              <a:effectLst/>
              <a:latin typeface="Times New Roman" panose="02020603050405020304" pitchFamily="18" charset="0"/>
              <a:ea typeface="Times New Roman" panose="02020603050405020304" pitchFamily="18" charset="0"/>
            </a:endParaRPr>
          </a:p>
          <a:p>
            <a:pPr marL="0" indent="0">
              <a:lnSpc>
                <a:spcPct val="115000"/>
              </a:lnSpc>
              <a:spcBef>
                <a:spcPts val="1020"/>
              </a:spcBef>
              <a:spcAft>
                <a:spcPts val="300"/>
              </a:spcAft>
              <a:buNone/>
            </a:pPr>
            <a:r>
              <a:rPr lang="en-US" sz="2400" b="1" i="1" dirty="0">
                <a:effectLst/>
                <a:latin typeface="Times New Roman" panose="02020603050405020304" pitchFamily="18" charset="0"/>
                <a:ea typeface="Times New Roman" panose="02020603050405020304" pitchFamily="18" charset="0"/>
              </a:rPr>
              <a:t>Boundary:</a:t>
            </a:r>
            <a:endParaRPr lang="en-IN" sz="2400" b="1" i="1" dirty="0">
              <a:effectLst/>
              <a:latin typeface="Times New Roman" panose="02020603050405020304" pitchFamily="18" charset="0"/>
              <a:ea typeface="Times New Roman" panose="02020603050405020304" pitchFamily="18" charset="0"/>
            </a:endParaRPr>
          </a:p>
          <a:p>
            <a:pPr marL="0" indent="0" algn="just">
              <a:lnSpc>
                <a:spcPct val="115000"/>
              </a:lnSpc>
              <a:spcBef>
                <a:spcPts val="985"/>
              </a:spcBef>
              <a:spcAft>
                <a:spcPts val="0"/>
              </a:spcAft>
              <a:buNone/>
            </a:pPr>
            <a:r>
              <a:rPr lang="en-US" sz="2400" dirty="0">
                <a:effectLst/>
                <a:latin typeface="Times New Roman" panose="02020603050405020304" pitchFamily="18" charset="0"/>
                <a:ea typeface="Times New Roman" panose="02020603050405020304" pitchFamily="18" charset="0"/>
              </a:rPr>
              <a:t>The real or imaginary surfaces which separates the system and surroundings is called</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boundary.</a:t>
            </a:r>
            <a:endParaRPr lang="en-IN" sz="2400" dirty="0">
              <a:effectLst/>
              <a:latin typeface="Times New Roman" panose="02020603050405020304" pitchFamily="18" charset="0"/>
              <a:ea typeface="Times New Roman" panose="02020603050405020304" pitchFamily="18" charset="0"/>
            </a:endParaRPr>
          </a:p>
          <a:p>
            <a:pPr marL="0" indent="0">
              <a:buNone/>
            </a:pPr>
            <a:endParaRPr lang="en-IN" sz="4000" dirty="0"/>
          </a:p>
        </p:txBody>
      </p:sp>
    </p:spTree>
    <p:extLst>
      <p:ext uri="{BB962C8B-B14F-4D97-AF65-F5344CB8AC3E}">
        <p14:creationId xmlns:p14="http://schemas.microsoft.com/office/powerpoint/2010/main" val="2388511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31F5FB-FFF0-C0F2-FB5F-9E6322969D66}"/>
              </a:ext>
            </a:extLst>
          </p:cNvPr>
          <p:cNvSpPr>
            <a:spLocks noGrp="1"/>
          </p:cNvSpPr>
          <p:nvPr>
            <p:ph idx="1"/>
          </p:nvPr>
        </p:nvSpPr>
        <p:spPr>
          <a:xfrm>
            <a:off x="457200" y="548680"/>
            <a:ext cx="8229600" cy="5577483"/>
          </a:xfrm>
        </p:spPr>
        <p:txBody>
          <a:bodyPr/>
          <a:lstStyle/>
          <a:p>
            <a:pPr marL="0" indent="0">
              <a:buNone/>
            </a:pPr>
            <a:endParaRPr lang="en-IN" dirty="0"/>
          </a:p>
          <a:p>
            <a:pPr marL="0" indent="0">
              <a:buNone/>
            </a:pPr>
            <a:endParaRPr lang="en-IN" dirty="0"/>
          </a:p>
          <a:p>
            <a:pPr marL="0" indent="0">
              <a:buNone/>
            </a:pPr>
            <a:endParaRPr lang="en-IN" dirty="0"/>
          </a:p>
        </p:txBody>
      </p:sp>
      <p:pic>
        <p:nvPicPr>
          <p:cNvPr id="1028" name="image3.jpeg">
            <a:extLst>
              <a:ext uri="{FF2B5EF4-FFF2-40B4-BE49-F238E27FC236}">
                <a16:creationId xmlns:a16="http://schemas.microsoft.com/office/drawing/2014/main" id="{A808268A-E618-81AA-6394-B6929C1A531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15816" y="581758"/>
            <a:ext cx="2911475"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4CAB777F-6CEC-D124-1BB0-8428AFE82BEC}"/>
              </a:ext>
            </a:extLst>
          </p:cNvPr>
          <p:cNvSpPr txBox="1"/>
          <p:nvPr/>
        </p:nvSpPr>
        <p:spPr>
          <a:xfrm>
            <a:off x="601346" y="2239499"/>
            <a:ext cx="7931094" cy="3048527"/>
          </a:xfrm>
          <a:prstGeom prst="rect">
            <a:avLst/>
          </a:prstGeom>
          <a:noFill/>
        </p:spPr>
        <p:txBody>
          <a:bodyPr wrap="square" rtlCol="0">
            <a:spAutoFit/>
          </a:bodyPr>
          <a:lstStyle/>
          <a:p>
            <a:pPr marL="90170">
              <a:lnSpc>
                <a:spcPct val="115000"/>
              </a:lnSpc>
              <a:spcBef>
                <a:spcPts val="1200"/>
              </a:spcBef>
              <a:spcAft>
                <a:spcPts val="300"/>
              </a:spcAft>
            </a:pPr>
            <a:r>
              <a:rPr lang="en-US" sz="2400" b="1" i="1" dirty="0">
                <a:effectLst/>
                <a:latin typeface="Times New Roman" panose="02020603050405020304" pitchFamily="18" charset="0"/>
                <a:ea typeface="Times New Roman" panose="02020603050405020304" pitchFamily="18" charset="0"/>
              </a:rPr>
              <a:t>Types</a:t>
            </a:r>
            <a:r>
              <a:rPr lang="en-US" sz="2400" b="1" i="1" spc="-15" dirty="0">
                <a:effectLst/>
                <a:latin typeface="Times New Roman" panose="02020603050405020304" pitchFamily="18" charset="0"/>
                <a:ea typeface="Times New Roman" panose="02020603050405020304" pitchFamily="18" charset="0"/>
              </a:rPr>
              <a:t> </a:t>
            </a:r>
            <a:r>
              <a:rPr lang="en-US" sz="2400" b="1" i="1" dirty="0">
                <a:effectLst/>
                <a:latin typeface="Times New Roman" panose="02020603050405020304" pitchFamily="18" charset="0"/>
                <a:ea typeface="Times New Roman" panose="02020603050405020304" pitchFamily="18" charset="0"/>
              </a:rPr>
              <a:t>of</a:t>
            </a:r>
            <a:r>
              <a:rPr lang="en-US" sz="2400" b="1" i="1" spc="-15" dirty="0">
                <a:effectLst/>
                <a:latin typeface="Times New Roman" panose="02020603050405020304" pitchFamily="18" charset="0"/>
                <a:ea typeface="Times New Roman" panose="02020603050405020304" pitchFamily="18" charset="0"/>
              </a:rPr>
              <a:t> </a:t>
            </a:r>
            <a:r>
              <a:rPr lang="en-US" sz="2400" b="1" i="1" dirty="0">
                <a:effectLst/>
                <a:latin typeface="Times New Roman" panose="02020603050405020304" pitchFamily="18" charset="0"/>
                <a:ea typeface="Times New Roman" panose="02020603050405020304" pitchFamily="18" charset="0"/>
              </a:rPr>
              <a:t>thermodynamic</a:t>
            </a:r>
            <a:r>
              <a:rPr lang="en-US" sz="2400" b="1" i="1" spc="-10" dirty="0">
                <a:effectLst/>
                <a:latin typeface="Times New Roman" panose="02020603050405020304" pitchFamily="18" charset="0"/>
                <a:ea typeface="Times New Roman" panose="02020603050405020304" pitchFamily="18" charset="0"/>
              </a:rPr>
              <a:t> </a:t>
            </a:r>
            <a:r>
              <a:rPr lang="en-US" sz="2400" b="1" i="1" dirty="0">
                <a:effectLst/>
                <a:latin typeface="Times New Roman" panose="02020603050405020304" pitchFamily="18" charset="0"/>
                <a:ea typeface="Times New Roman" panose="02020603050405020304" pitchFamily="18" charset="0"/>
              </a:rPr>
              <a:t>system</a:t>
            </a:r>
            <a:endParaRPr lang="en-IN" sz="2400" b="1" i="1" dirty="0">
              <a:effectLst/>
              <a:latin typeface="Times New Roman" panose="02020603050405020304" pitchFamily="18" charset="0"/>
              <a:ea typeface="Times New Roman" panose="02020603050405020304" pitchFamily="18" charset="0"/>
            </a:endParaRPr>
          </a:p>
          <a:p>
            <a:pPr marL="90170" algn="just">
              <a:lnSpc>
                <a:spcPct val="115000"/>
              </a:lnSpc>
            </a:pPr>
            <a:r>
              <a:rPr lang="en-US" sz="2400" dirty="0">
                <a:effectLst/>
                <a:latin typeface="Times New Roman" panose="02020603050405020304" pitchFamily="18" charset="0"/>
                <a:ea typeface="Times New Roman" panose="02020603050405020304" pitchFamily="18" charset="0"/>
              </a:rPr>
              <a:t>On</a:t>
            </a:r>
            <a:r>
              <a:rPr lang="en-US" sz="2400" spc="10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1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basis</a:t>
            </a:r>
            <a:r>
              <a:rPr lang="en-US" sz="2400" spc="10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of</a:t>
            </a:r>
            <a:r>
              <a:rPr lang="en-US" sz="2400" spc="1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mass</a:t>
            </a:r>
            <a:r>
              <a:rPr lang="en-US" sz="2400" spc="10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and</a:t>
            </a:r>
            <a:r>
              <a:rPr lang="en-US" sz="2400" spc="1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energy</a:t>
            </a:r>
            <a:r>
              <a:rPr lang="en-US" sz="2400" spc="10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transfer</a:t>
            </a:r>
            <a:r>
              <a:rPr lang="en-US" sz="2400" spc="1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1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thermodynamic</a:t>
            </a:r>
            <a:r>
              <a:rPr lang="en-US" sz="2400" spc="10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system</a:t>
            </a:r>
            <a:r>
              <a:rPr lang="en-US" sz="2400" spc="10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is</a:t>
            </a:r>
            <a:r>
              <a:rPr lang="en-US" sz="2400" spc="1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divided</a:t>
            </a:r>
            <a:r>
              <a:rPr lang="en-US" sz="2400" spc="1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into</a:t>
            </a:r>
            <a:r>
              <a:rPr lang="en-US" sz="2400" spc="10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three</a:t>
            </a:r>
            <a:r>
              <a:rPr lang="en-US" sz="2400" spc="-25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types.</a:t>
            </a:r>
            <a:endParaRPr lang="en-IN" sz="2400" dirty="0">
              <a:effectLst/>
              <a:latin typeface="Times New Roman" panose="02020603050405020304" pitchFamily="18" charset="0"/>
              <a:ea typeface="Times New Roman" panose="02020603050405020304" pitchFamily="18" charset="0"/>
            </a:endParaRPr>
          </a:p>
          <a:p>
            <a:pPr marL="90170" algn="just">
              <a:lnSpc>
                <a:spcPct val="115000"/>
              </a:lnSpc>
            </a:pPr>
            <a:r>
              <a:rPr lang="en-US" sz="2400" dirty="0">
                <a:effectLst/>
                <a:latin typeface="Times New Roman" panose="02020603050405020304" pitchFamily="18" charset="0"/>
                <a:ea typeface="Times New Roman" panose="02020603050405020304" pitchFamily="18" charset="0"/>
              </a:rPr>
              <a:t>1. Closed system</a:t>
            </a:r>
            <a:endParaRPr lang="en-IN" sz="2400" dirty="0">
              <a:effectLst/>
              <a:latin typeface="Times New Roman" panose="02020603050405020304" pitchFamily="18" charset="0"/>
              <a:ea typeface="Times New Roman" panose="02020603050405020304" pitchFamily="18" charset="0"/>
            </a:endParaRPr>
          </a:p>
          <a:p>
            <a:pPr marL="90170" algn="just">
              <a:lnSpc>
                <a:spcPct val="115000"/>
              </a:lnSpc>
            </a:pPr>
            <a:r>
              <a:rPr lang="en-US" sz="2400" dirty="0">
                <a:effectLst/>
                <a:latin typeface="Times New Roman" panose="02020603050405020304" pitchFamily="18" charset="0"/>
                <a:ea typeface="Times New Roman" panose="02020603050405020304" pitchFamily="18" charset="0"/>
              </a:rPr>
              <a:t>2. Open system </a:t>
            </a:r>
            <a:endParaRPr lang="en-IN" sz="2400" dirty="0">
              <a:effectLst/>
              <a:latin typeface="Times New Roman" panose="02020603050405020304" pitchFamily="18" charset="0"/>
              <a:ea typeface="Times New Roman" panose="02020603050405020304" pitchFamily="18" charset="0"/>
            </a:endParaRPr>
          </a:p>
          <a:p>
            <a:pPr marL="90170" algn="just">
              <a:lnSpc>
                <a:spcPct val="115000"/>
              </a:lnSpc>
            </a:pPr>
            <a:r>
              <a:rPr lang="en-US" sz="2400" dirty="0">
                <a:effectLst/>
                <a:latin typeface="Times New Roman" panose="02020603050405020304" pitchFamily="18" charset="0"/>
                <a:ea typeface="Times New Roman" panose="02020603050405020304" pitchFamily="18" charset="0"/>
              </a:rPr>
              <a:t>3. Isolated system</a:t>
            </a:r>
            <a:endParaRPr lang="en-IN" sz="2400" dirty="0">
              <a:effectLst/>
              <a:latin typeface="Times New Roman" panose="02020603050405020304" pitchFamily="18" charset="0"/>
              <a:ea typeface="Times New Roman" panose="02020603050405020304" pitchFamily="18" charset="0"/>
            </a:endParaRPr>
          </a:p>
          <a:p>
            <a:endParaRPr lang="en-IN" sz="2400" dirty="0"/>
          </a:p>
        </p:txBody>
      </p:sp>
    </p:spTree>
    <p:extLst>
      <p:ext uri="{BB962C8B-B14F-4D97-AF65-F5344CB8AC3E}">
        <p14:creationId xmlns:p14="http://schemas.microsoft.com/office/powerpoint/2010/main" val="3538227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AD22D0-CC5E-368A-89D1-DC8A21E0339E}"/>
              </a:ext>
            </a:extLst>
          </p:cNvPr>
          <p:cNvSpPr>
            <a:spLocks noGrp="1"/>
          </p:cNvSpPr>
          <p:nvPr>
            <p:ph idx="1"/>
          </p:nvPr>
        </p:nvSpPr>
        <p:spPr>
          <a:xfrm>
            <a:off x="457200" y="188640"/>
            <a:ext cx="8229600" cy="4525963"/>
          </a:xfrm>
        </p:spPr>
        <p:txBody>
          <a:bodyPr>
            <a:normAutofit lnSpcReduction="10000"/>
          </a:bodyPr>
          <a:lstStyle/>
          <a:p>
            <a:pPr marL="90170">
              <a:lnSpc>
                <a:spcPct val="115000"/>
              </a:lnSpc>
              <a:spcBef>
                <a:spcPts val="980"/>
              </a:spcBef>
              <a:spcAft>
                <a:spcPts val="300"/>
              </a:spcAft>
            </a:pPr>
            <a:r>
              <a:rPr lang="en-US" sz="2400" b="1" i="1" dirty="0">
                <a:effectLst/>
                <a:latin typeface="Times New Roman" panose="02020603050405020304" pitchFamily="18" charset="0"/>
                <a:ea typeface="Times New Roman" panose="02020603050405020304" pitchFamily="18" charset="0"/>
              </a:rPr>
              <a:t>Control</a:t>
            </a:r>
            <a:r>
              <a:rPr lang="en-US" sz="2400" b="1" i="1" spc="-10" dirty="0">
                <a:effectLst/>
                <a:latin typeface="Times New Roman" panose="02020603050405020304" pitchFamily="18" charset="0"/>
                <a:ea typeface="Times New Roman" panose="02020603050405020304" pitchFamily="18" charset="0"/>
              </a:rPr>
              <a:t> </a:t>
            </a:r>
            <a:r>
              <a:rPr lang="en-US" sz="2400" b="1" i="1" dirty="0">
                <a:effectLst/>
                <a:latin typeface="Times New Roman" panose="02020603050405020304" pitchFamily="18" charset="0"/>
                <a:ea typeface="Times New Roman" panose="02020603050405020304" pitchFamily="18" charset="0"/>
              </a:rPr>
              <a:t>Volume:</a:t>
            </a:r>
            <a:endParaRPr lang="en-IN" sz="2400" b="1" i="1" dirty="0">
              <a:effectLst/>
              <a:latin typeface="Times New Roman" panose="02020603050405020304" pitchFamily="18" charset="0"/>
              <a:ea typeface="Times New Roman" panose="02020603050405020304" pitchFamily="18" charset="0"/>
            </a:endParaRPr>
          </a:p>
          <a:p>
            <a:pPr marL="342900" lvl="0" indent="-342900">
              <a:lnSpc>
                <a:spcPct val="115000"/>
              </a:lnSpc>
              <a:buSzPts val="1200"/>
              <a:buFont typeface="Wingdings" panose="05000000000000000000" pitchFamily="2" charset="2"/>
              <a:buChar char=""/>
              <a:tabLst>
                <a:tab pos="270510" algn="l"/>
              </a:tabLst>
            </a:pPr>
            <a:r>
              <a:rPr lang="en-US" sz="2400" dirty="0">
                <a:effectLst/>
                <a:latin typeface="Times New Roman" panose="02020603050405020304" pitchFamily="18" charset="0"/>
                <a:ea typeface="Wingdings" panose="05000000000000000000" pitchFamily="2" charset="2"/>
                <a:cs typeface="Wingdings" panose="05000000000000000000" pitchFamily="2" charset="2"/>
              </a:rPr>
              <a:t>It’s</a:t>
            </a:r>
            <a:r>
              <a:rPr lang="en-US" sz="24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a</a:t>
            </a:r>
            <a:r>
              <a:rPr lang="en-US" sz="24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system</a:t>
            </a:r>
            <a:r>
              <a:rPr lang="en-US" sz="2400" spc="-1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of fixed</a:t>
            </a:r>
            <a:r>
              <a:rPr lang="en-US" sz="24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volume.</a:t>
            </a:r>
            <a:endParaRPr lang="en-IN" sz="2400" dirty="0">
              <a:effectLst/>
              <a:latin typeface="Times New Roman" panose="02020603050405020304" pitchFamily="18" charset="0"/>
              <a:ea typeface="Wingdings" panose="05000000000000000000" pitchFamily="2" charset="2"/>
              <a:cs typeface="Wingdings" panose="05000000000000000000" pitchFamily="2" charset="2"/>
            </a:endParaRPr>
          </a:p>
          <a:p>
            <a:pPr marL="342900" lvl="0" indent="-342900">
              <a:lnSpc>
                <a:spcPct val="115000"/>
              </a:lnSpc>
              <a:buSzPts val="1200"/>
              <a:buFont typeface="Wingdings" panose="05000000000000000000" pitchFamily="2" charset="2"/>
              <a:buChar char=""/>
              <a:tabLst>
                <a:tab pos="270510" algn="l"/>
              </a:tabLst>
            </a:pPr>
            <a:r>
              <a:rPr lang="en-US" sz="2400" dirty="0">
                <a:effectLst/>
                <a:latin typeface="Times New Roman" panose="02020603050405020304" pitchFamily="18" charset="0"/>
                <a:ea typeface="Wingdings" panose="05000000000000000000" pitchFamily="2" charset="2"/>
                <a:cs typeface="Wingdings" panose="05000000000000000000" pitchFamily="2" charset="2"/>
              </a:rPr>
              <a:t>This</a:t>
            </a:r>
            <a:r>
              <a:rPr lang="en-US" sz="2400" spc="-2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type</a:t>
            </a:r>
            <a:r>
              <a:rPr lang="en-US" sz="24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of</a:t>
            </a:r>
            <a:r>
              <a:rPr lang="en-US" sz="2400" spc="-1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system is</a:t>
            </a:r>
            <a:r>
              <a:rPr lang="en-US" sz="2400" spc="-1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usually</a:t>
            </a:r>
            <a:r>
              <a:rPr lang="en-US" sz="2400" spc="-1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referred</a:t>
            </a:r>
            <a:r>
              <a:rPr lang="en-US" sz="24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to as</a:t>
            </a:r>
            <a:r>
              <a:rPr lang="en-US" sz="2400" spc="-2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"open system”</a:t>
            </a:r>
            <a:r>
              <a:rPr lang="en-US" sz="2400" spc="-1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or</a:t>
            </a:r>
            <a:r>
              <a:rPr lang="en-US" sz="2400" spc="-2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a</a:t>
            </a:r>
            <a:r>
              <a:rPr lang="en-US" sz="24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"control</a:t>
            </a:r>
            <a:r>
              <a:rPr lang="en-US" sz="24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volume"</a:t>
            </a:r>
            <a:endParaRPr lang="en-IN" sz="2400" dirty="0">
              <a:effectLst/>
              <a:latin typeface="Times New Roman" panose="02020603050405020304" pitchFamily="18" charset="0"/>
              <a:ea typeface="Wingdings" panose="05000000000000000000" pitchFamily="2" charset="2"/>
              <a:cs typeface="Wingdings" panose="05000000000000000000" pitchFamily="2" charset="2"/>
            </a:endParaRPr>
          </a:p>
          <a:p>
            <a:pPr marL="342900" lvl="0" indent="-342900">
              <a:lnSpc>
                <a:spcPct val="115000"/>
              </a:lnSpc>
              <a:buSzPts val="1200"/>
              <a:buFont typeface="Wingdings" panose="05000000000000000000" pitchFamily="2" charset="2"/>
              <a:buChar char=""/>
              <a:tabLst>
                <a:tab pos="270510" algn="l"/>
              </a:tabLst>
            </a:pPr>
            <a:r>
              <a:rPr lang="en-US" sz="2400" dirty="0">
                <a:effectLst/>
                <a:latin typeface="Times New Roman" panose="02020603050405020304" pitchFamily="18" charset="0"/>
                <a:ea typeface="Wingdings" panose="05000000000000000000" pitchFamily="2" charset="2"/>
                <a:cs typeface="Wingdings" panose="05000000000000000000" pitchFamily="2" charset="2"/>
              </a:rPr>
              <a:t>Mass</a:t>
            </a:r>
            <a:r>
              <a:rPr lang="en-US" sz="24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transfer</a:t>
            </a:r>
            <a:r>
              <a:rPr lang="en-US" sz="24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can</a:t>
            </a:r>
            <a:r>
              <a:rPr lang="en-US" sz="2400" spc="-1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take</a:t>
            </a:r>
            <a:r>
              <a:rPr lang="en-US" sz="2400" spc="-1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place</a:t>
            </a:r>
            <a:r>
              <a:rPr lang="en-US" sz="24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across</a:t>
            </a:r>
            <a:r>
              <a:rPr lang="en-US" sz="24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a</a:t>
            </a:r>
            <a:r>
              <a:rPr lang="en-US" sz="24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control</a:t>
            </a:r>
            <a:r>
              <a:rPr lang="en-US" sz="24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volume.</a:t>
            </a:r>
            <a:endParaRPr lang="en-IN" sz="2400" dirty="0">
              <a:effectLst/>
              <a:latin typeface="Times New Roman" panose="02020603050405020304" pitchFamily="18" charset="0"/>
              <a:ea typeface="Wingdings" panose="05000000000000000000" pitchFamily="2" charset="2"/>
              <a:cs typeface="Wingdings" panose="05000000000000000000" pitchFamily="2" charset="2"/>
            </a:endParaRPr>
          </a:p>
          <a:p>
            <a:pPr marL="342900" lvl="0" indent="-342900">
              <a:lnSpc>
                <a:spcPct val="115000"/>
              </a:lnSpc>
              <a:buSzPts val="1200"/>
              <a:buFont typeface="Wingdings" panose="05000000000000000000" pitchFamily="2" charset="2"/>
              <a:buChar char=""/>
              <a:tabLst>
                <a:tab pos="270510" algn="l"/>
              </a:tabLst>
            </a:pPr>
            <a:r>
              <a:rPr lang="en-US" sz="2400" dirty="0">
                <a:effectLst/>
                <a:latin typeface="Times New Roman" panose="02020603050405020304" pitchFamily="18" charset="0"/>
                <a:ea typeface="Wingdings" panose="05000000000000000000" pitchFamily="2" charset="2"/>
                <a:cs typeface="Wingdings" panose="05000000000000000000" pitchFamily="2" charset="2"/>
              </a:rPr>
              <a:t>Energy</a:t>
            </a:r>
            <a:r>
              <a:rPr lang="en-US" sz="2400" spc="-2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transfer</a:t>
            </a:r>
            <a:r>
              <a:rPr lang="en-US" sz="24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may</a:t>
            </a:r>
            <a:r>
              <a:rPr lang="en-US" sz="24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also</a:t>
            </a:r>
            <a:r>
              <a:rPr lang="en-US" sz="2400" spc="-2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occur into</a:t>
            </a:r>
            <a:r>
              <a:rPr lang="en-US" sz="2400" spc="-2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or</a:t>
            </a:r>
            <a:r>
              <a:rPr lang="en-US" sz="2400" spc="-2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out of</a:t>
            </a:r>
            <a:r>
              <a:rPr lang="en-US" sz="2400" spc="-1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the</a:t>
            </a:r>
            <a:r>
              <a:rPr lang="en-US" sz="2400" spc="-6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system.</a:t>
            </a:r>
            <a:endParaRPr lang="en-IN" sz="2400" dirty="0">
              <a:effectLst/>
              <a:latin typeface="Times New Roman" panose="02020603050405020304" pitchFamily="18" charset="0"/>
              <a:ea typeface="Wingdings" panose="05000000000000000000" pitchFamily="2" charset="2"/>
              <a:cs typeface="Wingdings" panose="05000000000000000000" pitchFamily="2" charset="2"/>
            </a:endParaRPr>
          </a:p>
          <a:p>
            <a:pPr marL="342900" lvl="0" indent="-342900">
              <a:lnSpc>
                <a:spcPct val="115000"/>
              </a:lnSpc>
              <a:buSzPts val="1200"/>
              <a:buFont typeface="Wingdings" panose="05000000000000000000" pitchFamily="2" charset="2"/>
              <a:buChar char=""/>
              <a:tabLst>
                <a:tab pos="270510" algn="l"/>
              </a:tabLst>
            </a:pPr>
            <a:r>
              <a:rPr lang="en-US" sz="2400" dirty="0">
                <a:effectLst/>
                <a:latin typeface="Times New Roman" panose="02020603050405020304" pitchFamily="18" charset="0"/>
                <a:ea typeface="Wingdings" panose="05000000000000000000" pitchFamily="2" charset="2"/>
                <a:cs typeface="Wingdings" panose="05000000000000000000" pitchFamily="2" charset="2"/>
              </a:rPr>
              <a:t>Control</a:t>
            </a:r>
            <a:r>
              <a:rPr lang="en-US" sz="2400" spc="8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Surface-</a:t>
            </a:r>
            <a:r>
              <a:rPr lang="en-US" sz="2400" spc="10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It’s</a:t>
            </a:r>
            <a:r>
              <a:rPr lang="en-US" sz="2400" spc="9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the</a:t>
            </a:r>
            <a:r>
              <a:rPr lang="en-US" sz="2400" spc="9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boundary</a:t>
            </a:r>
            <a:r>
              <a:rPr lang="en-US" sz="2400" spc="9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of</a:t>
            </a:r>
            <a:r>
              <a:rPr lang="en-US" sz="2400" spc="10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a</a:t>
            </a:r>
            <a:r>
              <a:rPr lang="en-US" sz="2400" spc="10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control</a:t>
            </a:r>
            <a:r>
              <a:rPr lang="en-US" sz="2400" spc="9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volume</a:t>
            </a:r>
            <a:r>
              <a:rPr lang="en-US" sz="2400" spc="10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across</a:t>
            </a:r>
            <a:r>
              <a:rPr lang="en-US" sz="2400" spc="9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which</a:t>
            </a:r>
            <a:r>
              <a:rPr lang="en-US" sz="2400" spc="10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the</a:t>
            </a:r>
            <a:r>
              <a:rPr lang="en-US" sz="2400" spc="8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transfer</a:t>
            </a:r>
            <a:r>
              <a:rPr lang="en-US" sz="2400" spc="9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of both</a:t>
            </a:r>
            <a:r>
              <a:rPr lang="en-US" sz="24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mass</a:t>
            </a:r>
            <a:r>
              <a:rPr lang="en-US" sz="2400" spc="-2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and</a:t>
            </a:r>
            <a:r>
              <a:rPr lang="en-US" sz="24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energy</a:t>
            </a:r>
            <a:r>
              <a:rPr lang="en-US" sz="24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occur.</a:t>
            </a:r>
            <a:endParaRPr lang="en-IN" sz="2400" dirty="0">
              <a:effectLst/>
              <a:latin typeface="Times New Roman" panose="02020603050405020304" pitchFamily="18" charset="0"/>
              <a:ea typeface="Wingdings" panose="05000000000000000000" pitchFamily="2" charset="2"/>
              <a:cs typeface="Wingdings" panose="05000000000000000000" pitchFamily="2" charset="2"/>
            </a:endParaRPr>
          </a:p>
          <a:p>
            <a:pPr marL="342900" lvl="0" indent="-342900">
              <a:lnSpc>
                <a:spcPct val="115000"/>
              </a:lnSpc>
              <a:buSzPts val="1200"/>
              <a:buFont typeface="Wingdings" panose="05000000000000000000" pitchFamily="2" charset="2"/>
              <a:buChar char=""/>
              <a:tabLst>
                <a:tab pos="270510" algn="l"/>
              </a:tabLst>
            </a:pPr>
            <a:r>
              <a:rPr lang="en-US" sz="2400" dirty="0">
                <a:effectLst/>
                <a:latin typeface="Times New Roman" panose="02020603050405020304" pitchFamily="18" charset="0"/>
                <a:ea typeface="Wingdings" panose="05000000000000000000" pitchFamily="2" charset="2"/>
                <a:cs typeface="Wingdings" panose="05000000000000000000" pitchFamily="2" charset="2"/>
              </a:rPr>
              <a:t>The</a:t>
            </a:r>
            <a:r>
              <a:rPr lang="en-US" sz="24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mass</a:t>
            </a:r>
            <a:r>
              <a:rPr lang="en-US" sz="24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of</a:t>
            </a:r>
            <a:r>
              <a:rPr lang="en-US" sz="24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a</a:t>
            </a:r>
            <a:r>
              <a:rPr lang="en-US" sz="24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control</a:t>
            </a:r>
            <a:r>
              <a:rPr lang="en-US" sz="24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volume (open</a:t>
            </a:r>
            <a:r>
              <a:rPr lang="en-US" sz="24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system)</a:t>
            </a:r>
            <a:r>
              <a:rPr lang="en-US" sz="24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may</a:t>
            </a:r>
            <a:r>
              <a:rPr lang="en-US" sz="2400" spc="-1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or may</a:t>
            </a:r>
            <a:r>
              <a:rPr lang="en-US" sz="2400" spc="-1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not</a:t>
            </a:r>
            <a:r>
              <a:rPr lang="en-US" sz="24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be</a:t>
            </a:r>
            <a:r>
              <a:rPr lang="en-US" sz="2400" spc="-5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fixed.</a:t>
            </a:r>
            <a:endParaRPr lang="en-IN" sz="2400" dirty="0">
              <a:effectLst/>
              <a:latin typeface="Times New Roman" panose="02020603050405020304" pitchFamily="18" charset="0"/>
              <a:ea typeface="Wingdings" panose="05000000000000000000" pitchFamily="2" charset="2"/>
              <a:cs typeface="Wingdings" panose="05000000000000000000" pitchFamily="2" charset="2"/>
            </a:endParaRPr>
          </a:p>
          <a:p>
            <a:endParaRPr lang="en-IN" sz="4000" dirty="0"/>
          </a:p>
        </p:txBody>
      </p:sp>
      <p:pic>
        <p:nvPicPr>
          <p:cNvPr id="2050" name="image5.jpeg">
            <a:extLst>
              <a:ext uri="{FF2B5EF4-FFF2-40B4-BE49-F238E27FC236}">
                <a16:creationId xmlns:a16="http://schemas.microsoft.com/office/drawing/2014/main" id="{A61A8F1F-804C-ABDD-873E-2BA9431975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1840" y="4509120"/>
            <a:ext cx="2592288" cy="2024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17524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2677D-87AF-F93B-2101-A447A4DA0234}"/>
              </a:ext>
            </a:extLst>
          </p:cNvPr>
          <p:cNvSpPr>
            <a:spLocks noGrp="1"/>
          </p:cNvSpPr>
          <p:nvPr>
            <p:ph type="title"/>
          </p:nvPr>
        </p:nvSpPr>
        <p:spPr/>
        <p:txBody>
          <a:bodyPr/>
          <a:lstStyle/>
          <a:p>
            <a:endParaRPr lang="en-IN" dirty="0"/>
          </a:p>
        </p:txBody>
      </p:sp>
      <p:graphicFrame>
        <p:nvGraphicFramePr>
          <p:cNvPr id="4" name="Content Placeholder 3">
            <a:extLst>
              <a:ext uri="{FF2B5EF4-FFF2-40B4-BE49-F238E27FC236}">
                <a16:creationId xmlns:a16="http://schemas.microsoft.com/office/drawing/2014/main" id="{803419B3-E1CB-EA76-77D2-88C707CF3B02}"/>
              </a:ext>
            </a:extLst>
          </p:cNvPr>
          <p:cNvGraphicFramePr>
            <a:graphicFrameLocks noGrp="1"/>
          </p:cNvGraphicFramePr>
          <p:nvPr>
            <p:ph idx="1"/>
            <p:extLst>
              <p:ext uri="{D42A27DB-BD31-4B8C-83A1-F6EECF244321}">
                <p14:modId xmlns:p14="http://schemas.microsoft.com/office/powerpoint/2010/main" val="3534113143"/>
              </p:ext>
            </p:extLst>
          </p:nvPr>
        </p:nvGraphicFramePr>
        <p:xfrm>
          <a:off x="467544" y="-27384"/>
          <a:ext cx="7776864" cy="6997628"/>
        </p:xfrm>
        <a:graphic>
          <a:graphicData uri="http://schemas.openxmlformats.org/drawingml/2006/table">
            <a:tbl>
              <a:tblPr firstRow="1" firstCol="1" lastRow="1" lastCol="1" bandRow="1" bandCol="1">
                <a:tableStyleId>{5C22544A-7EE6-4342-B048-85BDC9FD1C3A}</a:tableStyleId>
              </a:tblPr>
              <a:tblGrid>
                <a:gridCol w="648072">
                  <a:extLst>
                    <a:ext uri="{9D8B030D-6E8A-4147-A177-3AD203B41FA5}">
                      <a16:colId xmlns:a16="http://schemas.microsoft.com/office/drawing/2014/main" val="195828486"/>
                    </a:ext>
                  </a:extLst>
                </a:gridCol>
                <a:gridCol w="3590111">
                  <a:extLst>
                    <a:ext uri="{9D8B030D-6E8A-4147-A177-3AD203B41FA5}">
                      <a16:colId xmlns:a16="http://schemas.microsoft.com/office/drawing/2014/main" val="540456446"/>
                    </a:ext>
                  </a:extLst>
                </a:gridCol>
                <a:gridCol w="3538681">
                  <a:extLst>
                    <a:ext uri="{9D8B030D-6E8A-4147-A177-3AD203B41FA5}">
                      <a16:colId xmlns:a16="http://schemas.microsoft.com/office/drawing/2014/main" val="3439314585"/>
                    </a:ext>
                  </a:extLst>
                </a:gridCol>
              </a:tblGrid>
              <a:tr h="621883">
                <a:tc>
                  <a:txBody>
                    <a:bodyPr/>
                    <a:lstStyle/>
                    <a:p>
                      <a:pPr marL="90170">
                        <a:lnSpc>
                          <a:spcPct val="115000"/>
                        </a:lnSpc>
                        <a:spcBef>
                          <a:spcPts val="965"/>
                        </a:spcBef>
                        <a:spcAft>
                          <a:spcPts val="0"/>
                        </a:spcAft>
                      </a:pPr>
                      <a:r>
                        <a:rPr lang="en-US" sz="1600">
                          <a:effectLst/>
                          <a:latin typeface="Times New Roman" panose="02020603050405020304" pitchFamily="18" charset="0"/>
                          <a:cs typeface="Times New Roman" panose="02020603050405020304" pitchFamily="18" charset="0"/>
                        </a:rPr>
                        <a:t>Sl.No</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90170">
                        <a:lnSpc>
                          <a:spcPct val="115000"/>
                        </a:lnSpc>
                        <a:spcBef>
                          <a:spcPts val="965"/>
                        </a:spcBef>
                        <a:spcAft>
                          <a:spcPts val="0"/>
                        </a:spcAft>
                      </a:pPr>
                      <a:r>
                        <a:rPr lang="en-US" sz="1600">
                          <a:effectLst/>
                          <a:latin typeface="Times New Roman" panose="02020603050405020304" pitchFamily="18" charset="0"/>
                          <a:cs typeface="Times New Roman" panose="02020603050405020304" pitchFamily="18" charset="0"/>
                        </a:rPr>
                        <a:t>Macroscopic</a:t>
                      </a:r>
                      <a:r>
                        <a:rPr lang="en-US" sz="1600" spc="-2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Approach</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90170">
                        <a:lnSpc>
                          <a:spcPct val="115000"/>
                        </a:lnSpc>
                        <a:spcBef>
                          <a:spcPts val="965"/>
                        </a:spcBef>
                        <a:spcAft>
                          <a:spcPts val="0"/>
                        </a:spcAft>
                      </a:pPr>
                      <a:r>
                        <a:rPr lang="en-US" sz="1600">
                          <a:effectLst/>
                          <a:latin typeface="Times New Roman" panose="02020603050405020304" pitchFamily="18" charset="0"/>
                          <a:cs typeface="Times New Roman" panose="02020603050405020304" pitchFamily="18" charset="0"/>
                        </a:rPr>
                        <a:t>Microscopic</a:t>
                      </a:r>
                      <a:r>
                        <a:rPr lang="en-US" sz="1600" spc="-3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Approach</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083685905"/>
                  </a:ext>
                </a:extLst>
              </a:tr>
              <a:tr h="1595332">
                <a:tc>
                  <a:txBody>
                    <a:bodyPr/>
                    <a:lstStyle/>
                    <a:p>
                      <a:pPr marL="90170" algn="ctr">
                        <a:lnSpc>
                          <a:spcPct val="115000"/>
                        </a:lnSpc>
                      </a:pPr>
                      <a:r>
                        <a:rPr lang="en-US" sz="16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cs typeface="Times New Roman" panose="02020603050405020304" pitchFamily="18" charset="0"/>
                      </a:endParaRPr>
                    </a:p>
                    <a:p>
                      <a:pPr marL="90170" algn="ctr">
                        <a:lnSpc>
                          <a:spcPct val="115000"/>
                        </a:lnSpc>
                        <a:spcBef>
                          <a:spcPts val="740"/>
                        </a:spcBef>
                        <a:spcAft>
                          <a:spcPts val="0"/>
                        </a:spcAft>
                      </a:pPr>
                      <a:r>
                        <a:rPr lang="en-US" sz="1600" dirty="0">
                          <a:effectLst/>
                          <a:latin typeface="Times New Roman" panose="02020603050405020304" pitchFamily="18" charset="0"/>
                          <a:cs typeface="Times New Roman" panose="02020603050405020304" pitchFamily="18" charset="0"/>
                        </a:rPr>
                        <a:t>  1</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90170" algn="just">
                        <a:lnSpc>
                          <a:spcPct val="115000"/>
                        </a:lnSpc>
                        <a:spcBef>
                          <a:spcPts val="5"/>
                        </a:spcBef>
                        <a:spcAft>
                          <a:spcPts val="0"/>
                        </a:spcAft>
                      </a:pPr>
                      <a:r>
                        <a:rPr lang="en-US" sz="1600" dirty="0">
                          <a:effectLst/>
                          <a:latin typeface="Times New Roman" panose="02020603050405020304" pitchFamily="18" charset="0"/>
                          <a:cs typeface="Times New Roman" panose="02020603050405020304" pitchFamily="18" charset="0"/>
                        </a:rPr>
                        <a:t>In this approach a certain quantity of</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matter</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is</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considered</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without</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taking</a:t>
                      </a:r>
                      <a:r>
                        <a:rPr lang="en-US" sz="1600" spc="-26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into account the events occurring at</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molecular</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level.</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90170">
                        <a:lnSpc>
                          <a:spcPct val="115000"/>
                        </a:lnSpc>
                        <a:spcBef>
                          <a:spcPts val="5"/>
                        </a:spcBef>
                        <a:spcAft>
                          <a:spcPts val="0"/>
                        </a:spcAft>
                        <a:tabLst>
                          <a:tab pos="440690" algn="l"/>
                          <a:tab pos="1004570" algn="l"/>
                          <a:tab pos="1236345" algn="l"/>
                          <a:tab pos="2055495" algn="l"/>
                          <a:tab pos="2323465" algn="l"/>
                        </a:tabLst>
                      </a:pPr>
                      <a:r>
                        <a:rPr lang="en-US" sz="1600" dirty="0">
                          <a:effectLst/>
                          <a:latin typeface="Times New Roman" panose="02020603050405020304" pitchFamily="18" charset="0"/>
                          <a:cs typeface="Times New Roman" panose="02020603050405020304" pitchFamily="18" charset="0"/>
                        </a:rPr>
                        <a:t>The	matter	is considered to </a:t>
                      </a:r>
                      <a:r>
                        <a:rPr lang="en-US" sz="1600" spc="-30" dirty="0">
                          <a:effectLst/>
                          <a:latin typeface="Times New Roman" panose="02020603050405020304" pitchFamily="18" charset="0"/>
                          <a:cs typeface="Times New Roman" panose="02020603050405020304" pitchFamily="18" charset="0"/>
                        </a:rPr>
                        <a:t>be</a:t>
                      </a:r>
                      <a:r>
                        <a:rPr lang="en-US" sz="1600" spc="-26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comprised of a large number of tiny</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particles known as molecules, which</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moves</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randomly</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in chaotic</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fashion.</a:t>
                      </a:r>
                      <a:endParaRPr lang="en-IN" sz="1400" dirty="0">
                        <a:effectLst/>
                        <a:latin typeface="Times New Roman" panose="02020603050405020304" pitchFamily="18" charset="0"/>
                        <a:cs typeface="Times New Roman" panose="02020603050405020304" pitchFamily="18" charset="0"/>
                      </a:endParaRPr>
                    </a:p>
                    <a:p>
                      <a:pPr marL="90170">
                        <a:lnSpc>
                          <a:spcPct val="115000"/>
                        </a:lnSpc>
                      </a:pPr>
                      <a:r>
                        <a:rPr lang="en-US" sz="1600" dirty="0">
                          <a:effectLst/>
                          <a:latin typeface="Times New Roman" panose="02020603050405020304" pitchFamily="18" charset="0"/>
                          <a:cs typeface="Times New Roman" panose="02020603050405020304" pitchFamily="18" charset="0"/>
                        </a:rPr>
                        <a:t>The</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effect</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of</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molecular</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motion is considered.</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419444863"/>
                  </a:ext>
                </a:extLst>
              </a:tr>
              <a:tr h="786865">
                <a:tc>
                  <a:txBody>
                    <a:bodyPr/>
                    <a:lstStyle/>
                    <a:p>
                      <a:pPr marL="90170" algn="ctr">
                        <a:lnSpc>
                          <a:spcPct val="115000"/>
                        </a:lnSpc>
                      </a:pPr>
                      <a:r>
                        <a:rPr lang="en-US" sz="16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cs typeface="Times New Roman" panose="02020603050405020304" pitchFamily="18" charset="0"/>
                      </a:endParaRPr>
                    </a:p>
                    <a:p>
                      <a:pPr marL="90170" algn="ctr">
                        <a:lnSpc>
                          <a:spcPct val="115000"/>
                        </a:lnSpc>
                        <a:spcBef>
                          <a:spcPts val="10"/>
                        </a:spcBef>
                        <a:spcAft>
                          <a:spcPts val="0"/>
                        </a:spcAft>
                      </a:pPr>
                      <a:r>
                        <a:rPr lang="en-US" sz="16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cs typeface="Times New Roman" panose="02020603050405020304" pitchFamily="18" charset="0"/>
                      </a:endParaRPr>
                    </a:p>
                    <a:p>
                      <a:pPr marL="90170" algn="ctr">
                        <a:lnSpc>
                          <a:spcPct val="115000"/>
                        </a:lnSpc>
                      </a:pPr>
                      <a:r>
                        <a:rPr lang="en-US" sz="1600" dirty="0">
                          <a:effectLst/>
                          <a:latin typeface="Times New Roman" panose="02020603050405020304" pitchFamily="18" charset="0"/>
                          <a:cs typeface="Times New Roman" panose="02020603050405020304" pitchFamily="18" charset="0"/>
                        </a:rPr>
                        <a:t>2</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90170">
                        <a:lnSpc>
                          <a:spcPct val="115000"/>
                        </a:lnSpc>
                      </a:pPr>
                      <a:r>
                        <a:rPr lang="en-US" sz="1600" dirty="0">
                          <a:effectLst/>
                          <a:latin typeface="Times New Roman" panose="02020603050405020304" pitchFamily="18" charset="0"/>
                          <a:cs typeface="Times New Roman" panose="02020603050405020304" pitchFamily="18" charset="0"/>
                        </a:rPr>
                        <a:t>Analysis is concerned with overall</a:t>
                      </a:r>
                      <a:r>
                        <a:rPr lang="en-US" sz="1600" spc="-26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behavior of</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the</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system.</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90170">
                        <a:lnSpc>
                          <a:spcPct val="115000"/>
                        </a:lnSpc>
                      </a:pPr>
                      <a:r>
                        <a:rPr lang="en-US" sz="1600">
                          <a:effectLst/>
                          <a:latin typeface="Times New Roman" panose="02020603050405020304" pitchFamily="18" charset="0"/>
                          <a:cs typeface="Times New Roman" panose="02020603050405020304" pitchFamily="18" charset="0"/>
                        </a:rPr>
                        <a:t>The</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Knowledge</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of</a:t>
                      </a:r>
                      <a:r>
                        <a:rPr lang="en-US" sz="1600" spc="2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the</a:t>
                      </a:r>
                      <a:r>
                        <a:rPr lang="en-US" sz="1600" spc="2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structure</a:t>
                      </a:r>
                      <a:r>
                        <a:rPr lang="en-US" sz="1600" spc="2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of</a:t>
                      </a:r>
                      <a:r>
                        <a:rPr lang="en-US" sz="1600" spc="-25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matter</a:t>
                      </a:r>
                      <a:r>
                        <a:rPr lang="en-US" sz="1600" spc="-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is</a:t>
                      </a:r>
                      <a:r>
                        <a:rPr lang="en-US" sz="1600" spc="-1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essential</a:t>
                      </a:r>
                      <a:r>
                        <a:rPr lang="en-US" sz="1600" spc="-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in</a:t>
                      </a:r>
                      <a:r>
                        <a:rPr lang="en-US" sz="1600" spc="-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analyzing</a:t>
                      </a:r>
                      <a:r>
                        <a:rPr lang="en-US" sz="1600" spc="-1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the behavior</a:t>
                      </a:r>
                      <a:r>
                        <a:rPr lang="en-US" sz="1600" spc="-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of</a:t>
                      </a:r>
                      <a:r>
                        <a:rPr lang="en-US" sz="1600" spc="-1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the</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system.</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10417446"/>
                  </a:ext>
                </a:extLst>
              </a:tr>
              <a:tr h="517375">
                <a:tc>
                  <a:txBody>
                    <a:bodyPr/>
                    <a:lstStyle/>
                    <a:p>
                      <a:pPr marL="90170" algn="ctr">
                        <a:lnSpc>
                          <a:spcPct val="115000"/>
                        </a:lnSpc>
                        <a:spcBef>
                          <a:spcPts val="930"/>
                        </a:spcBef>
                        <a:spcAft>
                          <a:spcPts val="0"/>
                        </a:spcAft>
                      </a:pPr>
                      <a:r>
                        <a:rPr lang="en-US" sz="1600" dirty="0">
                          <a:effectLst/>
                          <a:latin typeface="Times New Roman" panose="02020603050405020304" pitchFamily="18" charset="0"/>
                          <a:cs typeface="Times New Roman" panose="02020603050405020304" pitchFamily="18" charset="0"/>
                        </a:rPr>
                        <a:t>3</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90170">
                        <a:lnSpc>
                          <a:spcPct val="115000"/>
                        </a:lnSpc>
                      </a:pPr>
                      <a:r>
                        <a:rPr lang="en-US" sz="1600" dirty="0">
                          <a:effectLst/>
                          <a:latin typeface="Times New Roman" panose="02020603050405020304" pitchFamily="18" charset="0"/>
                          <a:cs typeface="Times New Roman" panose="02020603050405020304" pitchFamily="18" charset="0"/>
                        </a:rPr>
                        <a:t>This</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approach is</a:t>
                      </a:r>
                      <a:r>
                        <a:rPr lang="en-US" sz="1600" spc="-2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used</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in</a:t>
                      </a:r>
                      <a:r>
                        <a:rPr lang="en-US" sz="1600" spc="-2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the</a:t>
                      </a:r>
                      <a:r>
                        <a:rPr lang="en-US" sz="1600" spc="-1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study</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of classical</a:t>
                      </a:r>
                      <a:r>
                        <a:rPr lang="en-US" sz="1600" spc="-2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thermodynamics.</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90170">
                        <a:lnSpc>
                          <a:spcPct val="115000"/>
                        </a:lnSpc>
                      </a:pPr>
                      <a:r>
                        <a:rPr lang="en-US" sz="1600">
                          <a:effectLst/>
                          <a:latin typeface="Times New Roman" panose="02020603050405020304" pitchFamily="18" charset="0"/>
                          <a:cs typeface="Times New Roman" panose="02020603050405020304" pitchFamily="18" charset="0"/>
                        </a:rPr>
                        <a:t>This</a:t>
                      </a:r>
                      <a:r>
                        <a:rPr lang="en-US" sz="1600" spc="-1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approach is</a:t>
                      </a:r>
                      <a:r>
                        <a:rPr lang="en-US" sz="1600" spc="-2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used</a:t>
                      </a:r>
                      <a:r>
                        <a:rPr lang="en-US" sz="1600" spc="-1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in</a:t>
                      </a:r>
                      <a:r>
                        <a:rPr lang="en-US" sz="1600" spc="-2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the</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study</a:t>
                      </a:r>
                      <a:r>
                        <a:rPr lang="en-US" sz="1600" spc="-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of statistical</a:t>
                      </a:r>
                      <a:r>
                        <a:rPr lang="en-US" sz="1600" spc="-3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thermodynamics.</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2147697418"/>
                  </a:ext>
                </a:extLst>
              </a:tr>
              <a:tr h="621883">
                <a:tc>
                  <a:txBody>
                    <a:bodyPr/>
                    <a:lstStyle/>
                    <a:p>
                      <a:pPr marL="90170" algn="ctr">
                        <a:lnSpc>
                          <a:spcPct val="115000"/>
                        </a:lnSpc>
                        <a:spcBef>
                          <a:spcPts val="945"/>
                        </a:spcBef>
                        <a:spcAft>
                          <a:spcPts val="0"/>
                        </a:spcAft>
                      </a:pPr>
                      <a:r>
                        <a:rPr lang="en-US" sz="1600" dirty="0">
                          <a:effectLst/>
                          <a:latin typeface="Times New Roman" panose="02020603050405020304" pitchFamily="18" charset="0"/>
                          <a:cs typeface="Times New Roman" panose="02020603050405020304" pitchFamily="18" charset="0"/>
                        </a:rPr>
                        <a:t>4</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90170">
                        <a:lnSpc>
                          <a:spcPct val="115000"/>
                        </a:lnSpc>
                        <a:spcBef>
                          <a:spcPts val="10"/>
                        </a:spcBef>
                        <a:spcAft>
                          <a:spcPts val="0"/>
                        </a:spcAft>
                      </a:pPr>
                      <a:r>
                        <a:rPr lang="en-US" sz="1600" dirty="0">
                          <a:effectLst/>
                          <a:latin typeface="Times New Roman" panose="02020603050405020304" pitchFamily="18" charset="0"/>
                          <a:cs typeface="Times New Roman" panose="02020603050405020304" pitchFamily="18" charset="0"/>
                        </a:rPr>
                        <a:t>A</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few</a:t>
                      </a:r>
                      <a:r>
                        <a:rPr lang="en-US" sz="1600" spc="-1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properties are</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required</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to describe</a:t>
                      </a:r>
                      <a:r>
                        <a:rPr lang="en-US" sz="1600" spc="-2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the</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system.</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90170">
                        <a:lnSpc>
                          <a:spcPct val="115000"/>
                        </a:lnSpc>
                        <a:spcBef>
                          <a:spcPts val="10"/>
                        </a:spcBef>
                        <a:spcAft>
                          <a:spcPts val="0"/>
                        </a:spcAft>
                        <a:tabLst>
                          <a:tab pos="567690" algn="l"/>
                          <a:tab pos="1277620" algn="l"/>
                          <a:tab pos="1562735" algn="l"/>
                          <a:tab pos="2277745" algn="l"/>
                        </a:tabLst>
                      </a:pPr>
                      <a:r>
                        <a:rPr lang="en-US" sz="1600" dirty="0">
                          <a:effectLst/>
                          <a:latin typeface="Times New Roman" panose="02020603050405020304" pitchFamily="18" charset="0"/>
                          <a:cs typeface="Times New Roman" panose="02020603050405020304" pitchFamily="18" charset="0"/>
                        </a:rPr>
                        <a:t>Large numbers of variables are required</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to</a:t>
                      </a:r>
                      <a:r>
                        <a:rPr lang="en-US" sz="1600" spc="-2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describe</a:t>
                      </a:r>
                      <a:r>
                        <a:rPr lang="en-US" sz="1600" spc="-1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the</a:t>
                      </a:r>
                      <a:r>
                        <a:rPr lang="en-US" sz="1600" spc="-6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system.</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2014455580"/>
                  </a:ext>
                </a:extLst>
              </a:tr>
              <a:tr h="1056354">
                <a:tc>
                  <a:txBody>
                    <a:bodyPr/>
                    <a:lstStyle/>
                    <a:p>
                      <a:pPr marL="90170" algn="ctr">
                        <a:lnSpc>
                          <a:spcPct val="115000"/>
                        </a:lnSpc>
                      </a:pPr>
                      <a:r>
                        <a:rPr lang="en-US" sz="16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cs typeface="Times New Roman" panose="02020603050405020304" pitchFamily="18" charset="0"/>
                      </a:endParaRPr>
                    </a:p>
                    <a:p>
                      <a:pPr marL="90170" algn="ctr">
                        <a:lnSpc>
                          <a:spcPct val="115000"/>
                        </a:lnSpc>
                      </a:pPr>
                      <a:r>
                        <a:rPr lang="en-US" sz="16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cs typeface="Times New Roman" panose="02020603050405020304" pitchFamily="18" charset="0"/>
                      </a:endParaRPr>
                    </a:p>
                    <a:p>
                      <a:pPr marL="90170" algn="ctr">
                        <a:lnSpc>
                          <a:spcPct val="115000"/>
                        </a:lnSpc>
                      </a:pPr>
                      <a:r>
                        <a:rPr lang="en-US" sz="1600" dirty="0">
                          <a:effectLst/>
                          <a:latin typeface="Times New Roman" panose="02020603050405020304" pitchFamily="18" charset="0"/>
                          <a:cs typeface="Times New Roman" panose="02020603050405020304" pitchFamily="18" charset="0"/>
                        </a:rPr>
                        <a:t>            5</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90170" algn="just">
                        <a:lnSpc>
                          <a:spcPct val="115000"/>
                        </a:lnSpc>
                      </a:pPr>
                      <a:r>
                        <a:rPr lang="en-US" sz="1600" dirty="0">
                          <a:effectLst/>
                          <a:latin typeface="Times New Roman" panose="02020603050405020304" pitchFamily="18" charset="0"/>
                          <a:cs typeface="Times New Roman" panose="02020603050405020304" pitchFamily="18" charset="0"/>
                        </a:rPr>
                        <a:t>The</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properties</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like</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pressure,</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temperature, etc. needed to describe</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the</a:t>
                      </a:r>
                      <a:r>
                        <a:rPr lang="en-US" sz="1600" spc="-2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system,</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can</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be easily</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measured.</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90170" algn="just">
                        <a:lnSpc>
                          <a:spcPct val="115000"/>
                        </a:lnSpc>
                      </a:pPr>
                      <a:r>
                        <a:rPr lang="en-US" sz="1600" dirty="0">
                          <a:effectLst/>
                          <a:latin typeface="Times New Roman" panose="02020603050405020304" pitchFamily="18" charset="0"/>
                          <a:cs typeface="Times New Roman" panose="02020603050405020304" pitchFamily="18" charset="0"/>
                        </a:rPr>
                        <a:t>The</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properties</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like</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velocity,</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momentum,</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kinetic</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energy,</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etc.</a:t>
                      </a:r>
                      <a:r>
                        <a:rPr lang="en-US" sz="1600" spc="-26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needed</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to</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describe</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the</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system, cannot</a:t>
                      </a:r>
                      <a:r>
                        <a:rPr lang="en-US" sz="1600" spc="-2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be</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measured</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easily.</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436558810"/>
                  </a:ext>
                </a:extLst>
              </a:tr>
              <a:tr h="517375">
                <a:tc>
                  <a:txBody>
                    <a:bodyPr/>
                    <a:lstStyle/>
                    <a:p>
                      <a:pPr marL="90170" algn="ctr">
                        <a:lnSpc>
                          <a:spcPct val="115000"/>
                        </a:lnSpc>
                        <a:spcBef>
                          <a:spcPts val="955"/>
                        </a:spcBef>
                        <a:spcAft>
                          <a:spcPts val="0"/>
                        </a:spcAft>
                      </a:pPr>
                      <a:r>
                        <a:rPr lang="en-US" sz="1600" dirty="0">
                          <a:effectLst/>
                          <a:latin typeface="Times New Roman" panose="02020603050405020304" pitchFamily="18" charset="0"/>
                          <a:cs typeface="Times New Roman" panose="02020603050405020304" pitchFamily="18" charset="0"/>
                        </a:rPr>
                        <a:t>6</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90170">
                        <a:lnSpc>
                          <a:spcPct val="115000"/>
                        </a:lnSpc>
                        <a:spcBef>
                          <a:spcPts val="5"/>
                        </a:spcBef>
                        <a:spcAft>
                          <a:spcPts val="0"/>
                        </a:spcAft>
                      </a:pPr>
                      <a:r>
                        <a:rPr lang="en-US" sz="1600">
                          <a:effectLst/>
                          <a:latin typeface="Times New Roman" panose="02020603050405020304" pitchFamily="18" charset="0"/>
                          <a:cs typeface="Times New Roman" panose="02020603050405020304" pitchFamily="18" charset="0"/>
                        </a:rPr>
                        <a:t>The</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properties of</a:t>
                      </a:r>
                      <a:r>
                        <a:rPr lang="en-US" sz="1600" spc="-15">
                          <a:effectLst/>
                          <a:latin typeface="Times New Roman" panose="02020603050405020304" pitchFamily="18" charset="0"/>
                          <a:cs typeface="Times New Roman" panose="02020603050405020304" pitchFamily="18" charset="0"/>
                        </a:rPr>
                        <a:t> a </a:t>
                      </a:r>
                      <a:r>
                        <a:rPr lang="en-US" sz="1600">
                          <a:effectLst/>
                          <a:latin typeface="Times New Roman" panose="02020603050405020304" pitchFamily="18" charset="0"/>
                          <a:cs typeface="Times New Roman" panose="02020603050405020304" pitchFamily="18" charset="0"/>
                        </a:rPr>
                        <a:t>system</a:t>
                      </a:r>
                      <a:r>
                        <a:rPr lang="en-US" sz="1600" spc="-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is given by its average values.</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90170">
                        <a:lnSpc>
                          <a:spcPct val="115000"/>
                        </a:lnSpc>
                        <a:spcBef>
                          <a:spcPts val="5"/>
                        </a:spcBef>
                        <a:spcAft>
                          <a:spcPts val="0"/>
                        </a:spcAft>
                      </a:pPr>
                      <a:r>
                        <a:rPr lang="en-US" sz="1600">
                          <a:effectLst/>
                          <a:latin typeface="Times New Roman" panose="02020603050405020304" pitchFamily="18" charset="0"/>
                          <a:cs typeface="Times New Roman" panose="02020603050405020304" pitchFamily="18" charset="0"/>
                        </a:rPr>
                        <a:t>The</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properties</a:t>
                      </a:r>
                      <a:r>
                        <a:rPr lang="en-US" sz="1600" spc="-1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are</a:t>
                      </a:r>
                      <a:r>
                        <a:rPr lang="en-US" sz="1600" spc="-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defined</a:t>
                      </a:r>
                      <a:r>
                        <a:rPr lang="en-US" sz="1600" spc="-1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for</a:t>
                      </a:r>
                      <a:r>
                        <a:rPr lang="en-US" sz="1600" spc="-2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each molecule</a:t>
                      </a:r>
                      <a:r>
                        <a:rPr lang="en-US" sz="1600" spc="-2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individually.</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511384580"/>
                  </a:ext>
                </a:extLst>
              </a:tr>
              <a:tr h="1056354">
                <a:tc>
                  <a:txBody>
                    <a:bodyPr/>
                    <a:lstStyle/>
                    <a:p>
                      <a:pPr marL="90170" algn="ctr">
                        <a:lnSpc>
                          <a:spcPct val="115000"/>
                        </a:lnSpc>
                        <a:spcBef>
                          <a:spcPts val="955"/>
                        </a:spcBef>
                        <a:spcAft>
                          <a:spcPts val="0"/>
                        </a:spcAft>
                      </a:pPr>
                      <a:r>
                        <a:rPr lang="en-US" sz="1600" dirty="0">
                          <a:effectLst/>
                          <a:latin typeface="Times New Roman" panose="02020603050405020304" pitchFamily="18" charset="0"/>
                          <a:cs typeface="Times New Roman" panose="02020603050405020304" pitchFamily="18" charset="0"/>
                        </a:rPr>
                        <a:t>7</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90170">
                        <a:lnSpc>
                          <a:spcPct val="115000"/>
                        </a:lnSpc>
                        <a:spcBef>
                          <a:spcPts val="5"/>
                        </a:spcBef>
                        <a:spcAft>
                          <a:spcPts val="0"/>
                        </a:spcAft>
                      </a:pPr>
                      <a:r>
                        <a:rPr lang="en-US" sz="1600" dirty="0">
                          <a:effectLst/>
                          <a:latin typeface="Times New Roman" panose="02020603050405020304" pitchFamily="18" charset="0"/>
                          <a:cs typeface="Times New Roman" panose="02020603050405020304" pitchFamily="18" charset="0"/>
                        </a:rPr>
                        <a:t>This</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approach</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requires</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simple</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mathematical formulas for analyzing</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the</a:t>
                      </a:r>
                      <a:r>
                        <a:rPr lang="en-US" sz="1600" spc="-1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system.</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90170">
                        <a:lnSpc>
                          <a:spcPct val="115000"/>
                        </a:lnSpc>
                        <a:spcBef>
                          <a:spcPts val="5"/>
                        </a:spcBef>
                        <a:spcAft>
                          <a:spcPts val="0"/>
                        </a:spcAft>
                      </a:pPr>
                      <a:r>
                        <a:rPr lang="en-US" sz="1600" dirty="0">
                          <a:effectLst/>
                          <a:latin typeface="Times New Roman" panose="02020603050405020304" pitchFamily="18" charset="0"/>
                          <a:cs typeface="Times New Roman" panose="02020603050405020304" pitchFamily="18" charset="0"/>
                        </a:rPr>
                        <a:t>No. of molecules are very large so it</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requires advanced statistical </a:t>
                      </a:r>
                      <a:r>
                        <a:rPr lang="en-US" sz="1600" spc="-30" dirty="0">
                          <a:effectLst/>
                          <a:latin typeface="Times New Roman" panose="02020603050405020304" pitchFamily="18" charset="0"/>
                          <a:cs typeface="Times New Roman" panose="02020603050405020304" pitchFamily="18" charset="0"/>
                        </a:rPr>
                        <a:t>and </a:t>
                      </a:r>
                      <a:r>
                        <a:rPr lang="en-US" sz="1600" spc="-26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mathematical method to explain any</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change in</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the</a:t>
                      </a:r>
                      <a:r>
                        <a:rPr lang="en-US" sz="1600" spc="-1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system.</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677519912"/>
                  </a:ext>
                </a:extLst>
              </a:tr>
            </a:tbl>
          </a:graphicData>
        </a:graphic>
      </p:graphicFrame>
    </p:spTree>
    <p:extLst>
      <p:ext uri="{BB962C8B-B14F-4D97-AF65-F5344CB8AC3E}">
        <p14:creationId xmlns:p14="http://schemas.microsoft.com/office/powerpoint/2010/main" val="404802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61271-C2BA-8E58-A8B9-F2167C14FF31}"/>
              </a:ext>
            </a:extLst>
          </p:cNvPr>
          <p:cNvSpPr>
            <a:spLocks noGrp="1"/>
          </p:cNvSpPr>
          <p:nvPr>
            <p:ph type="title"/>
          </p:nvPr>
        </p:nvSpPr>
        <p:spPr>
          <a:xfrm>
            <a:off x="323528" y="50240"/>
            <a:ext cx="8229600" cy="1143000"/>
          </a:xfrm>
        </p:spPr>
        <p:txBody>
          <a:bodyPr>
            <a:normAutofit/>
          </a:bodyPr>
          <a:lstStyle/>
          <a:p>
            <a:r>
              <a:rPr lang="en-US" sz="2800" b="1" dirty="0">
                <a:effectLst/>
                <a:latin typeface="Times New Roman" panose="02020603050405020304" pitchFamily="18" charset="0"/>
                <a:ea typeface="Times New Roman" panose="02020603050405020304" pitchFamily="18" charset="0"/>
              </a:rPr>
              <a:t>Thermodynamic</a:t>
            </a:r>
            <a:r>
              <a:rPr lang="en-US" sz="2800" b="1" spc="-30" dirty="0">
                <a:effectLst/>
                <a:latin typeface="Times New Roman" panose="02020603050405020304" pitchFamily="18" charset="0"/>
                <a:ea typeface="Times New Roman" panose="02020603050405020304" pitchFamily="18" charset="0"/>
              </a:rPr>
              <a:t> </a:t>
            </a:r>
            <a:r>
              <a:rPr lang="en-US" sz="2800" b="1" dirty="0">
                <a:effectLst/>
                <a:latin typeface="Times New Roman" panose="02020603050405020304" pitchFamily="18" charset="0"/>
                <a:ea typeface="Times New Roman" panose="02020603050405020304" pitchFamily="18" charset="0"/>
              </a:rPr>
              <a:t>Equilibrium:</a:t>
            </a:r>
            <a:endParaRPr lang="en-IN" sz="6000" b="1" dirty="0"/>
          </a:p>
        </p:txBody>
      </p:sp>
      <p:sp>
        <p:nvSpPr>
          <p:cNvPr id="3" name="Content Placeholder 2">
            <a:extLst>
              <a:ext uri="{FF2B5EF4-FFF2-40B4-BE49-F238E27FC236}">
                <a16:creationId xmlns:a16="http://schemas.microsoft.com/office/drawing/2014/main" id="{27F63D09-D0E2-9E2B-7A88-474ADC02E321}"/>
              </a:ext>
            </a:extLst>
          </p:cNvPr>
          <p:cNvSpPr>
            <a:spLocks noGrp="1"/>
          </p:cNvSpPr>
          <p:nvPr>
            <p:ph idx="1"/>
          </p:nvPr>
        </p:nvSpPr>
        <p:spPr>
          <a:xfrm>
            <a:off x="457200" y="1196752"/>
            <a:ext cx="8229600" cy="4929411"/>
          </a:xfrm>
        </p:spPr>
        <p:txBody>
          <a:bodyPr>
            <a:normAutofit/>
          </a:bodyPr>
          <a:lstStyle/>
          <a:p>
            <a:pPr marL="0" indent="0" algn="just">
              <a:buNone/>
            </a:pPr>
            <a:r>
              <a:rPr lang="en-US" sz="2400" dirty="0">
                <a:effectLst/>
                <a:latin typeface="Times New Roman" panose="02020603050405020304" pitchFamily="18" charset="0"/>
                <a:ea typeface="Times New Roman" panose="02020603050405020304" pitchFamily="18" charset="0"/>
              </a:rPr>
              <a:t>A thermodynamic system is said to exist in a state of thermodynamic equilibrium when no</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change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in</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any</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macroscopic</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property</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registered</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if</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system</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isolated</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from</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its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surroundings.</a:t>
            </a:r>
          </a:p>
          <a:p>
            <a:pPr marL="0" indent="0">
              <a:buNone/>
            </a:pPr>
            <a:endParaRPr lang="en-IN" sz="2400" dirty="0">
              <a:effectLst/>
              <a:latin typeface="Times New Roman" panose="02020603050405020304" pitchFamily="18" charset="0"/>
              <a:ea typeface="Times New Roman" panose="02020603050405020304" pitchFamily="18" charset="0"/>
            </a:endParaRPr>
          </a:p>
          <a:p>
            <a:pPr marL="342900" lvl="0" indent="-342900" algn="just">
              <a:lnSpc>
                <a:spcPct val="115000"/>
              </a:lnSpc>
              <a:buSzPts val="1200"/>
              <a:buFont typeface="Wingdings" panose="05000000000000000000" pitchFamily="2" charset="2"/>
              <a:buChar char=""/>
              <a:tabLst>
                <a:tab pos="673735" algn="l"/>
              </a:tabLst>
            </a:pPr>
            <a:r>
              <a:rPr lang="en-US" sz="2400" dirty="0">
                <a:effectLst/>
                <a:latin typeface="Times New Roman" panose="02020603050405020304" pitchFamily="18" charset="0"/>
                <a:ea typeface="Wingdings" panose="05000000000000000000" pitchFamily="2" charset="2"/>
                <a:cs typeface="Wingdings" panose="05000000000000000000" pitchFamily="2" charset="2"/>
              </a:rPr>
              <a:t>Mechanical</a:t>
            </a:r>
            <a:r>
              <a:rPr lang="en-US" sz="2400" spc="12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equilibrium:</a:t>
            </a:r>
            <a:r>
              <a:rPr lang="en-US" sz="2400" spc="11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The</a:t>
            </a:r>
            <a:r>
              <a:rPr lang="en-US" sz="2400" spc="12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criteria</a:t>
            </a:r>
            <a:r>
              <a:rPr lang="en-US" sz="2400" spc="11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for</a:t>
            </a:r>
            <a:r>
              <a:rPr lang="en-US" sz="2400" spc="11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Mechanical</a:t>
            </a:r>
            <a:r>
              <a:rPr lang="en-US" sz="2400" spc="125" dirty="0">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equilibrium</a:t>
            </a:r>
            <a:r>
              <a:rPr lang="en-US" sz="2400" spc="12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are</a:t>
            </a:r>
            <a:r>
              <a:rPr lang="en-US" sz="2400" spc="12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the</a:t>
            </a:r>
            <a:r>
              <a:rPr lang="en-US" sz="2400" spc="12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equality</a:t>
            </a:r>
            <a:r>
              <a:rPr lang="en-US" sz="2400" spc="11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of</a:t>
            </a:r>
            <a:r>
              <a:rPr lang="en-US" sz="2400" spc="-25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pressures.</a:t>
            </a:r>
            <a:endParaRPr lang="en-IN" sz="2400" dirty="0">
              <a:effectLst/>
              <a:latin typeface="Times New Roman" panose="02020603050405020304" pitchFamily="18" charset="0"/>
              <a:ea typeface="Wingdings" panose="05000000000000000000" pitchFamily="2" charset="2"/>
              <a:cs typeface="Wingdings" panose="05000000000000000000" pitchFamily="2" charset="2"/>
            </a:endParaRPr>
          </a:p>
          <a:p>
            <a:pPr marL="342900" lvl="0" indent="-342900" algn="just">
              <a:lnSpc>
                <a:spcPct val="115000"/>
              </a:lnSpc>
              <a:buSzPts val="1200"/>
              <a:buFont typeface="Wingdings" panose="05000000000000000000" pitchFamily="2" charset="2"/>
              <a:buChar char=""/>
              <a:tabLst>
                <a:tab pos="673735" algn="l"/>
              </a:tabLst>
            </a:pPr>
            <a:r>
              <a:rPr lang="en-US" sz="2400" dirty="0">
                <a:effectLst/>
                <a:latin typeface="Times New Roman" panose="02020603050405020304" pitchFamily="18" charset="0"/>
                <a:ea typeface="Wingdings" panose="05000000000000000000" pitchFamily="2" charset="2"/>
                <a:cs typeface="Wingdings" panose="05000000000000000000" pitchFamily="2" charset="2"/>
              </a:rPr>
              <a:t>Chemical</a:t>
            </a:r>
            <a:r>
              <a:rPr lang="en-US" sz="24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equilibrium:</a:t>
            </a:r>
            <a:r>
              <a:rPr lang="en-US" sz="24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The</a:t>
            </a:r>
            <a:r>
              <a:rPr lang="en-US" sz="24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criteria</a:t>
            </a:r>
            <a:r>
              <a:rPr lang="en-US" sz="24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for</a:t>
            </a:r>
            <a:r>
              <a:rPr lang="en-US" sz="24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Chemical</a:t>
            </a:r>
            <a:r>
              <a:rPr lang="en-US" sz="24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equilibrium</a:t>
            </a:r>
            <a:r>
              <a:rPr lang="en-US" sz="24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are</a:t>
            </a:r>
            <a:r>
              <a:rPr lang="en-US" sz="24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the</a:t>
            </a:r>
            <a:r>
              <a:rPr lang="en-US" sz="24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equality</a:t>
            </a:r>
            <a:r>
              <a:rPr lang="en-US" sz="24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of</a:t>
            </a:r>
            <a:r>
              <a:rPr lang="en-US" sz="2400" spc="-26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chemical</a:t>
            </a:r>
            <a:r>
              <a:rPr lang="en-US" sz="24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potentials.</a:t>
            </a:r>
            <a:endParaRPr lang="en-IN" sz="2400" dirty="0">
              <a:latin typeface="Times New Roman" panose="02020603050405020304" pitchFamily="18" charset="0"/>
              <a:ea typeface="Wingdings" panose="05000000000000000000" pitchFamily="2" charset="2"/>
              <a:cs typeface="Wingdings" panose="05000000000000000000" pitchFamily="2" charset="2"/>
            </a:endParaRPr>
          </a:p>
          <a:p>
            <a:pPr marL="342900" lvl="0" indent="-342900" algn="just">
              <a:lnSpc>
                <a:spcPct val="115000"/>
              </a:lnSpc>
              <a:buSzPts val="1200"/>
              <a:buFont typeface="Wingdings" panose="05000000000000000000" pitchFamily="2" charset="2"/>
              <a:buChar char=""/>
              <a:tabLst>
                <a:tab pos="673735" algn="l"/>
              </a:tabLst>
            </a:pPr>
            <a:r>
              <a:rPr lang="en-US" sz="2400" dirty="0">
                <a:effectLst/>
                <a:latin typeface="Times New Roman" panose="02020603050405020304" pitchFamily="18" charset="0"/>
                <a:ea typeface="Times New Roman" panose="02020603050405020304" pitchFamily="18" charset="0"/>
              </a:rPr>
              <a:t>Thermal</a:t>
            </a:r>
            <a:r>
              <a:rPr lang="en-US" sz="2400" spc="17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equilibrium:</a:t>
            </a:r>
            <a:r>
              <a:rPr lang="en-US" sz="2400" spc="18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18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criterion</a:t>
            </a:r>
            <a:r>
              <a:rPr lang="en-US" sz="2400" spc="1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for</a:t>
            </a:r>
            <a:r>
              <a:rPr lang="en-US" sz="2400" spc="18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Thermal</a:t>
            </a:r>
            <a:r>
              <a:rPr lang="en-US" sz="2400" spc="18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equilibrium</a:t>
            </a:r>
            <a:r>
              <a:rPr lang="en-US" sz="2400" spc="18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is</a:t>
            </a:r>
            <a:r>
              <a:rPr lang="en-US" sz="2400" spc="18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17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equality</a:t>
            </a:r>
            <a:r>
              <a:rPr lang="en-US" sz="2400" spc="1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of</a:t>
            </a:r>
            <a:r>
              <a:rPr lang="en-US" sz="2400" spc="-26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temperatures.</a:t>
            </a:r>
            <a:endParaRPr lang="en-IN" sz="4000" dirty="0"/>
          </a:p>
        </p:txBody>
      </p:sp>
    </p:spTree>
    <p:extLst>
      <p:ext uri="{BB962C8B-B14F-4D97-AF65-F5344CB8AC3E}">
        <p14:creationId xmlns:p14="http://schemas.microsoft.com/office/powerpoint/2010/main" val="2532384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6433A-5A0C-C764-DA18-C22FEDE67A81}"/>
              </a:ext>
            </a:extLst>
          </p:cNvPr>
          <p:cNvSpPr>
            <a:spLocks noGrp="1"/>
          </p:cNvSpPr>
          <p:nvPr>
            <p:ph type="title"/>
          </p:nvPr>
        </p:nvSpPr>
        <p:spPr>
          <a:xfrm>
            <a:off x="457200" y="274638"/>
            <a:ext cx="8229600" cy="562074"/>
          </a:xfrm>
        </p:spPr>
        <p:txBody>
          <a:bodyPr>
            <a:noAutofit/>
          </a:bodyPr>
          <a:lstStyle/>
          <a:p>
            <a:pPr algn="l"/>
            <a:r>
              <a:rPr lang="en-US" sz="2800" b="1" i="0" dirty="0">
                <a:effectLst/>
                <a:latin typeface="Times New Roman" panose="02020603050405020304" pitchFamily="18" charset="0"/>
                <a:ea typeface="Times New Roman" panose="02020603050405020304" pitchFamily="18" charset="0"/>
              </a:rPr>
              <a:t>Property:</a:t>
            </a:r>
            <a:endParaRPr lang="en-IN" sz="6000" dirty="0"/>
          </a:p>
        </p:txBody>
      </p:sp>
      <p:sp>
        <p:nvSpPr>
          <p:cNvPr id="3" name="Content Placeholder 2">
            <a:extLst>
              <a:ext uri="{FF2B5EF4-FFF2-40B4-BE49-F238E27FC236}">
                <a16:creationId xmlns:a16="http://schemas.microsoft.com/office/drawing/2014/main" id="{5F17D716-BE2E-2E15-CBB6-FF961210EAF8}"/>
              </a:ext>
            </a:extLst>
          </p:cNvPr>
          <p:cNvSpPr>
            <a:spLocks noGrp="1"/>
          </p:cNvSpPr>
          <p:nvPr>
            <p:ph idx="1"/>
          </p:nvPr>
        </p:nvSpPr>
        <p:spPr>
          <a:xfrm>
            <a:off x="457200" y="764704"/>
            <a:ext cx="8229600" cy="5818658"/>
          </a:xfrm>
        </p:spPr>
        <p:txBody>
          <a:bodyPr>
            <a:normAutofit fontScale="92500" lnSpcReduction="20000"/>
          </a:bodyPr>
          <a:lstStyle/>
          <a:p>
            <a:pPr algn="just"/>
            <a:r>
              <a:rPr lang="en-US" sz="2400" u="sng" dirty="0">
                <a:effectLst/>
                <a:latin typeface="Times New Roman" panose="02020603050405020304" pitchFamily="18" charset="0"/>
                <a:ea typeface="Times New Roman" panose="02020603050405020304" pitchFamily="18" charset="0"/>
              </a:rPr>
              <a:t>Intensive properties:</a:t>
            </a:r>
            <a:r>
              <a:rPr lang="en-US" sz="2400" dirty="0">
                <a:effectLst/>
                <a:latin typeface="Times New Roman" panose="02020603050405020304" pitchFamily="18" charset="0"/>
                <a:ea typeface="Times New Roman" panose="02020603050405020304" pitchFamily="18" charset="0"/>
              </a:rPr>
              <a:t> The properties which are independent of the mass of</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 system. </a:t>
            </a:r>
          </a:p>
          <a:p>
            <a:pPr marL="0" indent="0" algn="just">
              <a:buNone/>
            </a:pPr>
            <a:r>
              <a:rPr lang="en-US" sz="2400" dirty="0">
                <a:effectLst/>
                <a:latin typeface="Times New Roman" panose="02020603050405020304" pitchFamily="18" charset="0"/>
                <a:ea typeface="Times New Roman" panose="02020603050405020304" pitchFamily="18" charset="0"/>
              </a:rPr>
              <a:t> 	For example: Temperature, pressure and density are the      </a:t>
            </a:r>
          </a:p>
          <a:p>
            <a:pPr marL="0" indent="0" algn="just">
              <a:buNone/>
            </a:pPr>
            <a:r>
              <a:rPr lang="en-US" sz="2400" dirty="0">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 intensive properties.</a:t>
            </a:r>
            <a:endParaRPr lang="en-IN" sz="2400" dirty="0">
              <a:effectLst/>
              <a:latin typeface="Times New Roman" panose="02020603050405020304" pitchFamily="18" charset="0"/>
              <a:ea typeface="Times New Roman" panose="02020603050405020304" pitchFamily="18" charset="0"/>
            </a:endParaRPr>
          </a:p>
          <a:p>
            <a:pPr marL="90170" algn="just">
              <a:lnSpc>
                <a:spcPct val="115000"/>
              </a:lnSpc>
              <a:spcBef>
                <a:spcPts val="415"/>
              </a:spcBef>
              <a:spcAft>
                <a:spcPts val="0"/>
              </a:spcAft>
              <a:tabLst>
                <a:tab pos="673735" algn="l"/>
                <a:tab pos="4050665" algn="l"/>
              </a:tabLst>
            </a:pPr>
            <a:r>
              <a:rPr lang="en-US" sz="2400" u="sng" dirty="0">
                <a:effectLst/>
                <a:latin typeface="Times New Roman" panose="02020603050405020304" pitchFamily="18" charset="0"/>
                <a:ea typeface="Times New Roman" panose="02020603050405020304" pitchFamily="18" charset="0"/>
              </a:rPr>
              <a:t>Extensive</a:t>
            </a:r>
            <a:r>
              <a:rPr lang="en-US" sz="2400" u="sng" spc="240" dirty="0">
                <a:effectLst/>
                <a:latin typeface="Times New Roman" panose="02020603050405020304" pitchFamily="18" charset="0"/>
                <a:ea typeface="Times New Roman" panose="02020603050405020304" pitchFamily="18" charset="0"/>
              </a:rPr>
              <a:t> </a:t>
            </a:r>
            <a:r>
              <a:rPr lang="en-US" sz="2400" u="sng" dirty="0">
                <a:effectLst/>
                <a:latin typeface="Times New Roman" panose="02020603050405020304" pitchFamily="18" charset="0"/>
                <a:ea typeface="Times New Roman" panose="02020603050405020304" pitchFamily="18" charset="0"/>
              </a:rPr>
              <a:t>properties:</a:t>
            </a:r>
            <a:r>
              <a:rPr lang="en-US" sz="2400" spc="25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24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properties</a:t>
            </a:r>
            <a:r>
              <a:rPr lang="en-US" sz="2400" spc="25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which</a:t>
            </a:r>
            <a:r>
              <a:rPr lang="en-US" sz="2400" spc="24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depend</a:t>
            </a:r>
            <a:r>
              <a:rPr lang="en-US" sz="2400" spc="26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on</a:t>
            </a:r>
            <a:r>
              <a:rPr lang="en-US" sz="2400" spc="24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24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size</a:t>
            </a:r>
            <a:r>
              <a:rPr lang="en-US" sz="2400" spc="24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or</a:t>
            </a:r>
            <a:r>
              <a:rPr lang="en-US" sz="2400" spc="240" dirty="0">
                <a:effectLst/>
                <a:latin typeface="Times New Roman" panose="02020603050405020304" pitchFamily="18" charset="0"/>
                <a:ea typeface="Times New Roman" panose="02020603050405020304" pitchFamily="18" charset="0"/>
              </a:rPr>
              <a:t>   </a:t>
            </a:r>
          </a:p>
          <a:p>
            <a:pPr marL="0" indent="0" algn="just">
              <a:lnSpc>
                <a:spcPct val="115000"/>
              </a:lnSpc>
              <a:spcBef>
                <a:spcPts val="415"/>
              </a:spcBef>
              <a:spcAft>
                <a:spcPts val="0"/>
              </a:spcAft>
              <a:buNone/>
              <a:tabLst>
                <a:tab pos="673735" algn="l"/>
                <a:tab pos="4050665" algn="l"/>
              </a:tabLst>
            </a:pPr>
            <a:r>
              <a:rPr lang="en-US" sz="2400" spc="240" dirty="0">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extent</a:t>
            </a:r>
            <a:r>
              <a:rPr lang="en-US" sz="2400" spc="26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of</a:t>
            </a:r>
            <a:r>
              <a:rPr lang="en-US" sz="2400" spc="24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25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system are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called</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extensive properties.</a:t>
            </a:r>
            <a:endParaRPr lang="en-IN" sz="2400" dirty="0">
              <a:effectLst/>
              <a:latin typeface="Times New Roman" panose="02020603050405020304" pitchFamily="18" charset="0"/>
              <a:ea typeface="Times New Roman" panose="02020603050405020304" pitchFamily="18" charset="0"/>
            </a:endParaRPr>
          </a:p>
          <a:p>
            <a:pPr marL="0" indent="0" algn="just">
              <a:lnSpc>
                <a:spcPct val="115000"/>
              </a:lnSpc>
              <a:buNone/>
            </a:pPr>
            <a:r>
              <a:rPr lang="en-US" sz="2400" dirty="0">
                <a:effectLst/>
                <a:latin typeface="Times New Roman" panose="02020603050405020304" pitchFamily="18" charset="0"/>
                <a:ea typeface="Times New Roman" panose="02020603050405020304" pitchFamily="18" charset="0"/>
              </a:rPr>
              <a:t>              For</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example:</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Total</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mass,</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total</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volume</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and total</a:t>
            </a:r>
            <a:r>
              <a:rPr lang="en-US" sz="2400" spc="-2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momentum.</a:t>
            </a:r>
            <a:endParaRPr lang="en-IN" sz="2400" dirty="0">
              <a:effectLst/>
              <a:latin typeface="Times New Roman" panose="02020603050405020304" pitchFamily="18" charset="0"/>
              <a:ea typeface="Times New Roman" panose="02020603050405020304" pitchFamily="18" charset="0"/>
            </a:endParaRPr>
          </a:p>
          <a:p>
            <a:pPr marL="0" indent="0">
              <a:lnSpc>
                <a:spcPct val="115000"/>
              </a:lnSpc>
              <a:spcBef>
                <a:spcPts val="730"/>
              </a:spcBef>
              <a:spcAft>
                <a:spcPts val="300"/>
              </a:spcAft>
              <a:buNone/>
            </a:pPr>
            <a:r>
              <a:rPr lang="en-US" sz="2600" b="1" i="0" dirty="0">
                <a:effectLst/>
                <a:latin typeface="Times New Roman" panose="02020603050405020304" pitchFamily="18" charset="0"/>
                <a:ea typeface="Times New Roman" panose="02020603050405020304" pitchFamily="18" charset="0"/>
              </a:rPr>
              <a:t>Process:</a:t>
            </a:r>
            <a:endParaRPr lang="en-IN" sz="2600" b="1" i="1" dirty="0">
              <a:effectLst/>
              <a:latin typeface="Times New Roman" panose="02020603050405020304" pitchFamily="18" charset="0"/>
              <a:ea typeface="Times New Roman" panose="02020603050405020304" pitchFamily="18" charset="0"/>
            </a:endParaRPr>
          </a:p>
          <a:p>
            <a:pPr marL="90170" indent="0" algn="just">
              <a:lnSpc>
                <a:spcPct val="115000"/>
              </a:lnSpc>
              <a:spcBef>
                <a:spcPts val="960"/>
              </a:spcBef>
              <a:spcAft>
                <a:spcPts val="0"/>
              </a:spcAft>
              <a:buNone/>
            </a:pPr>
            <a:r>
              <a:rPr lang="en-US" sz="2600" dirty="0">
                <a:effectLst/>
                <a:latin typeface="Times New Roman" panose="02020603050405020304" pitchFamily="18" charset="0"/>
                <a:ea typeface="Times New Roman" panose="02020603050405020304" pitchFamily="18" charset="0"/>
              </a:rPr>
              <a:t>When</a:t>
            </a:r>
            <a:r>
              <a:rPr lang="en-US" sz="2600" spc="5"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the</a:t>
            </a:r>
            <a:r>
              <a:rPr lang="en-US" sz="2600" spc="5"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system</a:t>
            </a:r>
            <a:r>
              <a:rPr lang="en-US" sz="2600" spc="5"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undergoes</a:t>
            </a:r>
            <a:r>
              <a:rPr lang="en-US" sz="2600" spc="5"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change</a:t>
            </a:r>
            <a:r>
              <a:rPr lang="en-US" sz="2600" spc="5"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from</a:t>
            </a:r>
            <a:r>
              <a:rPr lang="en-US" sz="2600" spc="5"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one</a:t>
            </a:r>
            <a:r>
              <a:rPr lang="en-US" sz="2600" spc="5"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thermodynamic</a:t>
            </a:r>
            <a:r>
              <a:rPr lang="en-US" sz="2600" spc="5"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state</a:t>
            </a:r>
            <a:r>
              <a:rPr lang="en-US" sz="2600" spc="5"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to</a:t>
            </a:r>
            <a:r>
              <a:rPr lang="en-US" sz="2600" spc="5"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final</a:t>
            </a:r>
            <a:r>
              <a:rPr lang="en-US" sz="2600" spc="5"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state</a:t>
            </a:r>
            <a:r>
              <a:rPr lang="en-US" sz="2600" spc="5"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due</a:t>
            </a:r>
            <a:r>
              <a:rPr lang="en-US" sz="2600" spc="-260"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change in properties like temperature, pressure, volume, the system is said to have</a:t>
            </a:r>
            <a:r>
              <a:rPr lang="en-US" sz="2600" spc="5"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undergone</a:t>
            </a:r>
            <a:r>
              <a:rPr lang="en-US" sz="2600" spc="-10"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thermodynamic process.</a:t>
            </a:r>
            <a:endParaRPr lang="en-IN" sz="2600" dirty="0">
              <a:effectLst/>
              <a:latin typeface="Times New Roman" panose="02020603050405020304" pitchFamily="18" charset="0"/>
              <a:ea typeface="Times New Roman" panose="02020603050405020304" pitchFamily="18" charset="0"/>
            </a:endParaRPr>
          </a:p>
          <a:p>
            <a:pPr marL="0" indent="0" algn="just">
              <a:lnSpc>
                <a:spcPct val="115000"/>
              </a:lnSpc>
              <a:spcBef>
                <a:spcPts val="5"/>
              </a:spcBef>
              <a:spcAft>
                <a:spcPts val="0"/>
              </a:spcAft>
              <a:buNone/>
              <a:tabLst>
                <a:tab pos="4231005" algn="l"/>
              </a:tabLst>
            </a:pPr>
            <a:endParaRPr lang="en-US" sz="2600" dirty="0">
              <a:latin typeface="Times New Roman" panose="02020603050405020304" pitchFamily="18" charset="0"/>
              <a:ea typeface="Times New Roman" panose="02020603050405020304" pitchFamily="18" charset="0"/>
            </a:endParaRPr>
          </a:p>
          <a:p>
            <a:pPr marL="0" indent="0" algn="just">
              <a:lnSpc>
                <a:spcPct val="115000"/>
              </a:lnSpc>
              <a:spcBef>
                <a:spcPts val="5"/>
              </a:spcBef>
              <a:spcAft>
                <a:spcPts val="0"/>
              </a:spcAft>
              <a:buNone/>
              <a:tabLst>
                <a:tab pos="4231005" algn="l"/>
              </a:tabLst>
            </a:pPr>
            <a:r>
              <a:rPr lang="en-US" sz="2600" dirty="0">
                <a:effectLst/>
                <a:latin typeface="Times New Roman" panose="02020603050405020304" pitchFamily="18" charset="0"/>
                <a:ea typeface="Times New Roman" panose="02020603050405020304" pitchFamily="18" charset="0"/>
              </a:rPr>
              <a:t>Various</a:t>
            </a:r>
            <a:r>
              <a:rPr lang="en-US" sz="2600" spc="5"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types</a:t>
            </a:r>
            <a:r>
              <a:rPr lang="en-US" sz="2600" spc="5"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of</a:t>
            </a:r>
            <a:r>
              <a:rPr lang="en-US" sz="2600" spc="5"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thermodynamic</a:t>
            </a:r>
            <a:r>
              <a:rPr lang="en-US" sz="2600" spc="5"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processes</a:t>
            </a:r>
            <a:r>
              <a:rPr lang="en-US" sz="2600" spc="5"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are:</a:t>
            </a:r>
            <a:r>
              <a:rPr lang="en-US" sz="2600" spc="5"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Isothermal</a:t>
            </a:r>
            <a:r>
              <a:rPr lang="en-US" sz="2600" spc="5"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process,</a:t>
            </a:r>
            <a:r>
              <a:rPr lang="en-US" sz="2600" spc="5"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Adiabatic</a:t>
            </a:r>
            <a:r>
              <a:rPr lang="en-US" sz="2600" spc="5"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process,</a:t>
            </a:r>
            <a:r>
              <a:rPr lang="en-US" sz="2600" spc="5"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Isochoric</a:t>
            </a:r>
            <a:r>
              <a:rPr lang="en-US" sz="2600" spc="-5"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process,</a:t>
            </a:r>
            <a:r>
              <a:rPr lang="en-US" sz="2600" spc="-5"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Isobaric process and</a:t>
            </a:r>
            <a:r>
              <a:rPr lang="en-US" sz="2600" spc="-10"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Reversible</a:t>
            </a:r>
            <a:r>
              <a:rPr lang="en-US" sz="2600" spc="-5" dirty="0">
                <a:effectLst/>
                <a:latin typeface="Times New Roman" panose="02020603050405020304" pitchFamily="18" charset="0"/>
                <a:ea typeface="Times New Roman" panose="02020603050405020304" pitchFamily="18" charset="0"/>
              </a:rPr>
              <a:t> </a:t>
            </a:r>
            <a:r>
              <a:rPr lang="en-US" sz="2600" dirty="0">
                <a:effectLst/>
                <a:latin typeface="Times New Roman" panose="02020603050405020304" pitchFamily="18" charset="0"/>
                <a:ea typeface="Times New Roman" panose="02020603050405020304" pitchFamily="18" charset="0"/>
              </a:rPr>
              <a:t>process.</a:t>
            </a:r>
            <a:endParaRPr lang="en-IN" sz="26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3642690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10AC95-6A0E-FCA4-8B5F-1E8F58AB7AA9}"/>
              </a:ext>
            </a:extLst>
          </p:cNvPr>
          <p:cNvSpPr>
            <a:spLocks noGrp="1"/>
          </p:cNvSpPr>
          <p:nvPr>
            <p:ph idx="1"/>
          </p:nvPr>
        </p:nvSpPr>
        <p:spPr>
          <a:xfrm>
            <a:off x="457200" y="332656"/>
            <a:ext cx="8363272" cy="6264696"/>
          </a:xfrm>
        </p:spPr>
        <p:txBody>
          <a:bodyPr>
            <a:normAutofit/>
          </a:bodyPr>
          <a:lstStyle/>
          <a:p>
            <a:pPr marL="0" indent="0">
              <a:lnSpc>
                <a:spcPct val="115000"/>
              </a:lnSpc>
              <a:spcBef>
                <a:spcPts val="385"/>
              </a:spcBef>
              <a:spcAft>
                <a:spcPts val="300"/>
              </a:spcAft>
              <a:buNone/>
            </a:pPr>
            <a:r>
              <a:rPr lang="en-US" sz="2400" b="1" i="0" dirty="0">
                <a:effectLst/>
                <a:latin typeface="Times New Roman" panose="02020603050405020304" pitchFamily="18" charset="0"/>
                <a:ea typeface="Times New Roman" panose="02020603050405020304" pitchFamily="18" charset="0"/>
              </a:rPr>
              <a:t>Cycle:</a:t>
            </a:r>
            <a:endParaRPr lang="en-IN" sz="2400" b="1" i="1" dirty="0">
              <a:effectLst/>
              <a:latin typeface="Times New Roman" panose="02020603050405020304" pitchFamily="18" charset="0"/>
              <a:ea typeface="Times New Roman" panose="02020603050405020304" pitchFamily="18" charset="0"/>
            </a:endParaRPr>
          </a:p>
          <a:p>
            <a:pPr marL="0" indent="0">
              <a:buNone/>
            </a:pPr>
            <a:r>
              <a:rPr lang="en-US" sz="2400" dirty="0">
                <a:effectLst/>
                <a:latin typeface="Times New Roman" panose="02020603050405020304" pitchFamily="18" charset="0"/>
                <a:ea typeface="Times New Roman" panose="02020603050405020304" pitchFamily="18" charset="0"/>
              </a:rPr>
              <a:t>Thermodynamic cycle refers to any closed system that undergoes various changes due to</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temperature, pressure, and volume, however, its final and initial state are equal.</a:t>
            </a:r>
          </a:p>
          <a:p>
            <a:pPr marL="0" indent="0">
              <a:buNone/>
            </a:pPr>
            <a:endParaRPr lang="en-US" sz="2400" dirty="0">
              <a:latin typeface="Times New Roman" panose="02020603050405020304" pitchFamily="18" charset="0"/>
            </a:endParaRPr>
          </a:p>
          <a:p>
            <a:pPr marL="0" indent="0">
              <a:lnSpc>
                <a:spcPct val="115000"/>
              </a:lnSpc>
              <a:spcBef>
                <a:spcPts val="730"/>
              </a:spcBef>
              <a:spcAft>
                <a:spcPts val="300"/>
              </a:spcAft>
              <a:buNone/>
            </a:pPr>
            <a:r>
              <a:rPr lang="en-US" sz="2400" b="1" i="0" dirty="0">
                <a:effectLst/>
                <a:latin typeface="Times New Roman" panose="02020603050405020304" pitchFamily="18" charset="0"/>
                <a:ea typeface="Times New Roman" panose="02020603050405020304" pitchFamily="18" charset="0"/>
              </a:rPr>
              <a:t>Reversibility:</a:t>
            </a:r>
            <a:endParaRPr lang="en-IN" sz="2400" b="1" i="1" dirty="0">
              <a:effectLst/>
              <a:latin typeface="Times New Roman" panose="02020603050405020304" pitchFamily="18" charset="0"/>
              <a:ea typeface="Times New Roman" panose="02020603050405020304" pitchFamily="18" charset="0"/>
            </a:endParaRPr>
          </a:p>
          <a:p>
            <a:pPr marL="90170" indent="0" algn="just">
              <a:lnSpc>
                <a:spcPct val="115000"/>
              </a:lnSpc>
              <a:spcBef>
                <a:spcPts val="960"/>
              </a:spcBef>
              <a:spcAft>
                <a:spcPts val="0"/>
              </a:spcAft>
              <a:buNone/>
            </a:pPr>
            <a:r>
              <a:rPr lang="en-US" sz="2400" dirty="0">
                <a:effectLst/>
                <a:latin typeface="Times New Roman" panose="02020603050405020304" pitchFamily="18" charset="0"/>
                <a:ea typeface="Times New Roman" panose="02020603050405020304" pitchFamily="18" charset="0"/>
              </a:rPr>
              <a:t>Reversibility, in thermodynamics, a characteristic of certain processes (changes of a system</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from an initial state to a final state spontaneously or as a result of interactions with other</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systems)</a:t>
            </a:r>
            <a:r>
              <a:rPr lang="en-US" sz="2400" spc="9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that</a:t>
            </a:r>
            <a:r>
              <a:rPr lang="en-US" sz="2400" spc="10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can</a:t>
            </a:r>
            <a:r>
              <a:rPr lang="en-US" sz="2400" spc="9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be</a:t>
            </a:r>
            <a:r>
              <a:rPr lang="en-US" sz="2400" spc="10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reversed,</a:t>
            </a:r>
            <a:r>
              <a:rPr lang="en-US" sz="2400" spc="10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and</a:t>
            </a:r>
            <a:r>
              <a:rPr lang="en-US" sz="2400" spc="10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10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system</a:t>
            </a:r>
            <a:r>
              <a:rPr lang="en-US" sz="2400" spc="9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restored</a:t>
            </a:r>
            <a:r>
              <a:rPr lang="en-US" sz="2400" spc="10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to</a:t>
            </a:r>
            <a:r>
              <a:rPr lang="en-US" sz="2400" spc="10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its</a:t>
            </a:r>
            <a:r>
              <a:rPr lang="en-US" sz="2400" spc="10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initial</a:t>
            </a:r>
            <a:r>
              <a:rPr lang="en-US" sz="2400" spc="10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state,</a:t>
            </a:r>
            <a:r>
              <a:rPr lang="en-US" sz="2400" spc="10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without</a:t>
            </a:r>
            <a:r>
              <a:rPr lang="en-US" sz="2400" spc="10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leaving</a:t>
            </a:r>
            <a:r>
              <a:rPr lang="en-US" sz="2400" spc="-26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net</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effects</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in</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any of</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2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systems involved.</a:t>
            </a:r>
            <a:endParaRPr lang="en-IN" sz="2400" dirty="0">
              <a:effectLst/>
              <a:latin typeface="Times New Roman" panose="02020603050405020304" pitchFamily="18" charset="0"/>
              <a:ea typeface="Times New Roman" panose="02020603050405020304" pitchFamily="18" charset="0"/>
            </a:endParaRPr>
          </a:p>
          <a:p>
            <a:pPr marL="0" indent="0">
              <a:buNone/>
            </a:pPr>
            <a:endParaRPr lang="en-IN" sz="4000" dirty="0"/>
          </a:p>
        </p:txBody>
      </p:sp>
    </p:spTree>
    <p:extLst>
      <p:ext uri="{BB962C8B-B14F-4D97-AF65-F5344CB8AC3E}">
        <p14:creationId xmlns:p14="http://schemas.microsoft.com/office/powerpoint/2010/main" val="3698020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B6A972-246D-EFEB-2B67-A4584DE0A5DA}"/>
              </a:ext>
            </a:extLst>
          </p:cNvPr>
          <p:cNvSpPr>
            <a:spLocks noGrp="1"/>
          </p:cNvSpPr>
          <p:nvPr>
            <p:ph idx="1"/>
          </p:nvPr>
        </p:nvSpPr>
        <p:spPr>
          <a:xfrm>
            <a:off x="457200" y="620688"/>
            <a:ext cx="8229600" cy="5505475"/>
          </a:xfrm>
        </p:spPr>
        <p:txBody>
          <a:bodyPr/>
          <a:lstStyle/>
          <a:p>
            <a:pPr marL="0" indent="0">
              <a:buNone/>
            </a:pPr>
            <a:r>
              <a:rPr lang="en-US" sz="2400" b="1" dirty="0">
                <a:effectLst/>
                <a:latin typeface="Times New Roman" panose="02020603050405020304" pitchFamily="18" charset="0"/>
                <a:ea typeface="Times New Roman" panose="02020603050405020304" pitchFamily="18" charset="0"/>
              </a:rPr>
              <a:t>Quasi-static process</a:t>
            </a:r>
            <a:endParaRPr lang="en-US" sz="1800" b="1" dirty="0">
              <a:effectLst/>
              <a:latin typeface="Times New Roman" panose="02020603050405020304" pitchFamily="18" charset="0"/>
              <a:ea typeface="Times New Roman" panose="02020603050405020304" pitchFamily="18" charset="0"/>
            </a:endParaRPr>
          </a:p>
          <a:p>
            <a:pPr marL="0" indent="0">
              <a:buNone/>
            </a:pPr>
            <a:endParaRPr lang="en-US" sz="1800" dirty="0">
              <a:latin typeface="Times New Roman" panose="02020603050405020304" pitchFamily="18" charset="0"/>
              <a:ea typeface="Times New Roman" panose="02020603050405020304" pitchFamily="18" charset="0"/>
            </a:endParaRPr>
          </a:p>
          <a:p>
            <a:pPr marL="0" indent="0" algn="just">
              <a:buNone/>
            </a:pPr>
            <a:r>
              <a:rPr lang="en-US" sz="1800" dirty="0">
                <a:effectLst/>
                <a:latin typeface="Times New Roman" panose="02020603050405020304" pitchFamily="18" charset="0"/>
                <a:ea typeface="Times New Roman" panose="02020603050405020304" pitchFamily="18" charset="0"/>
              </a:rPr>
              <a:t>When a</a:t>
            </a:r>
            <a:r>
              <a:rPr lang="en-US" sz="1800" spc="17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process</a:t>
            </a:r>
            <a:r>
              <a:rPr lang="en-US" sz="1800" spc="1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is</a:t>
            </a:r>
            <a:r>
              <a:rPr lang="en-US" sz="1800" spc="17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processing</a:t>
            </a:r>
            <a:r>
              <a:rPr lang="en-US" sz="1800" spc="1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a:t>
            </a:r>
            <a:r>
              <a:rPr lang="en-US" sz="1800" spc="17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such</a:t>
            </a:r>
            <a:r>
              <a:rPr lang="en-US" sz="1800" spc="18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a:t>
            </a:r>
            <a:r>
              <a:rPr lang="en-US" sz="1800" spc="1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way</a:t>
            </a:r>
            <a:r>
              <a:rPr lang="en-US" sz="1800" spc="17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that</a:t>
            </a:r>
            <a:r>
              <a:rPr lang="en-US" sz="1800" spc="19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system</a:t>
            </a:r>
            <a:r>
              <a:rPr lang="en-US" sz="1800" spc="17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will</a:t>
            </a:r>
            <a:r>
              <a:rPr lang="en-US" sz="1800" spc="19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be</a:t>
            </a:r>
            <a:r>
              <a:rPr lang="en-US" sz="1800" spc="1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remained</a:t>
            </a:r>
            <a:r>
              <a:rPr lang="en-US" sz="1800" spc="1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infinitesimally</a:t>
            </a:r>
            <a:r>
              <a:rPr lang="en-US" sz="1800" spc="-2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close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with</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equilibrium</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state</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each</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time,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such</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process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will</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be termed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as</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quasi</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static</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process or</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quasi</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equilibrium process.</a:t>
            </a:r>
          </a:p>
          <a:p>
            <a:pPr marL="0" indent="0" algn="just">
              <a:buNone/>
            </a:pPr>
            <a:endParaRPr lang="en-US" sz="1800" dirty="0">
              <a:latin typeface="Times New Roman" panose="02020603050405020304" pitchFamily="18" charset="0"/>
            </a:endParaRPr>
          </a:p>
          <a:p>
            <a:pPr marL="0" indent="0" algn="just">
              <a:buNone/>
            </a:pPr>
            <a:endParaRPr lang="en-IN" dirty="0"/>
          </a:p>
          <a:p>
            <a:pPr marL="0" indent="0" algn="just">
              <a:buNone/>
            </a:pPr>
            <a:endParaRPr lang="en-IN" dirty="0"/>
          </a:p>
          <a:p>
            <a:pPr marL="0" indent="0" algn="just">
              <a:buNone/>
            </a:pPr>
            <a:endParaRPr lang="en-IN" dirty="0"/>
          </a:p>
        </p:txBody>
      </p:sp>
      <p:pic>
        <p:nvPicPr>
          <p:cNvPr id="10" name="Picture 9">
            <a:extLst>
              <a:ext uri="{FF2B5EF4-FFF2-40B4-BE49-F238E27FC236}">
                <a16:creationId xmlns:a16="http://schemas.microsoft.com/office/drawing/2014/main" id="{94E5EEF5-1BDC-1DEB-CA12-4453DF183ACC}"/>
              </a:ext>
            </a:extLst>
          </p:cNvPr>
          <p:cNvPicPr>
            <a:picLocks noChangeAspect="1"/>
          </p:cNvPicPr>
          <p:nvPr/>
        </p:nvPicPr>
        <p:blipFill>
          <a:blip r:embed="rId2"/>
          <a:stretch>
            <a:fillRect/>
          </a:stretch>
        </p:blipFill>
        <p:spPr>
          <a:xfrm>
            <a:off x="1983194" y="2996952"/>
            <a:ext cx="5177612" cy="2863264"/>
          </a:xfrm>
          <a:prstGeom prst="rect">
            <a:avLst/>
          </a:prstGeom>
        </p:spPr>
      </p:pic>
    </p:spTree>
    <p:extLst>
      <p:ext uri="{BB962C8B-B14F-4D97-AF65-F5344CB8AC3E}">
        <p14:creationId xmlns:p14="http://schemas.microsoft.com/office/powerpoint/2010/main" val="2995711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E1C82-2DB7-BC17-1852-B83E605B7A90}"/>
              </a:ext>
            </a:extLst>
          </p:cNvPr>
          <p:cNvSpPr>
            <a:spLocks noGrp="1"/>
          </p:cNvSpPr>
          <p:nvPr>
            <p:ph type="title"/>
          </p:nvPr>
        </p:nvSpPr>
        <p:spPr/>
        <p:txBody>
          <a:bodyPr>
            <a:normAutofit/>
          </a:bodyPr>
          <a:lstStyle/>
          <a:p>
            <a:pPr marL="90170" algn="l">
              <a:lnSpc>
                <a:spcPct val="115000"/>
              </a:lnSpc>
              <a:spcBef>
                <a:spcPts val="10"/>
              </a:spcBef>
              <a:spcAft>
                <a:spcPts val="300"/>
              </a:spcAft>
            </a:pPr>
            <a:r>
              <a:rPr lang="en-US" sz="3600" b="1" i="0" spc="-5" dirty="0">
                <a:effectLst/>
                <a:latin typeface="Times New Roman" panose="02020603050405020304" pitchFamily="18" charset="0"/>
                <a:ea typeface="Times New Roman" panose="02020603050405020304" pitchFamily="18" charset="0"/>
              </a:rPr>
              <a:t>Irreversible</a:t>
            </a:r>
            <a:r>
              <a:rPr lang="en-US" sz="3600" b="1" i="0" spc="-45" dirty="0">
                <a:effectLst/>
                <a:latin typeface="Times New Roman" panose="02020603050405020304" pitchFamily="18" charset="0"/>
                <a:ea typeface="Times New Roman" panose="02020603050405020304" pitchFamily="18" charset="0"/>
              </a:rPr>
              <a:t> </a:t>
            </a:r>
            <a:r>
              <a:rPr lang="en-US" sz="3600" b="1" i="0" dirty="0">
                <a:effectLst/>
                <a:latin typeface="Times New Roman" panose="02020603050405020304" pitchFamily="18" charset="0"/>
                <a:ea typeface="Times New Roman" panose="02020603050405020304" pitchFamily="18" charset="0"/>
              </a:rPr>
              <a:t>Process:</a:t>
            </a:r>
            <a:endParaRPr lang="en-IN" sz="6600" dirty="0"/>
          </a:p>
        </p:txBody>
      </p:sp>
      <p:sp>
        <p:nvSpPr>
          <p:cNvPr id="3" name="Content Placeholder 2">
            <a:extLst>
              <a:ext uri="{FF2B5EF4-FFF2-40B4-BE49-F238E27FC236}">
                <a16:creationId xmlns:a16="http://schemas.microsoft.com/office/drawing/2014/main" id="{40971E56-DED7-2889-6803-06BB6CBF34A2}"/>
              </a:ext>
            </a:extLst>
          </p:cNvPr>
          <p:cNvSpPr>
            <a:spLocks noGrp="1"/>
          </p:cNvSpPr>
          <p:nvPr>
            <p:ph idx="1"/>
          </p:nvPr>
        </p:nvSpPr>
        <p:spPr/>
        <p:txBody>
          <a:bodyPr>
            <a:normAutofit/>
          </a:bodyPr>
          <a:lstStyle/>
          <a:p>
            <a:pPr marL="0" indent="0" algn="just">
              <a:buNone/>
            </a:pPr>
            <a:r>
              <a:rPr lang="en-US" sz="2800" dirty="0">
                <a:effectLst/>
                <a:latin typeface="Times New Roman" panose="02020603050405020304" pitchFamily="18" charset="0"/>
                <a:ea typeface="Times New Roman" panose="02020603050405020304" pitchFamily="18" charset="0"/>
              </a:rPr>
              <a:t>The irreversible process is also called the natural process because all the processes occurring</a:t>
            </a:r>
            <a:r>
              <a:rPr lang="en-US" sz="2800" spc="-26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in nature are irreversible processes.</a:t>
            </a:r>
          </a:p>
          <a:p>
            <a:pPr marL="342900" lvl="0" indent="-342900">
              <a:lnSpc>
                <a:spcPct val="115000"/>
              </a:lnSpc>
              <a:spcBef>
                <a:spcPts val="735"/>
              </a:spcBef>
              <a:spcAft>
                <a:spcPts val="0"/>
              </a:spcAft>
              <a:buSzPts val="1200"/>
              <a:buFont typeface="Wingdings" panose="05000000000000000000" pitchFamily="2" charset="2"/>
              <a:buChar char=""/>
            </a:pPr>
            <a:r>
              <a:rPr lang="en-US" sz="2000" dirty="0">
                <a:effectLst/>
                <a:latin typeface="Times New Roman" panose="02020603050405020304" pitchFamily="18" charset="0"/>
                <a:ea typeface="Wingdings" panose="05000000000000000000" pitchFamily="2" charset="2"/>
                <a:cs typeface="Wingdings" panose="05000000000000000000" pitchFamily="2" charset="2"/>
              </a:rPr>
              <a:t>In</a:t>
            </a:r>
            <a:r>
              <a:rPr lang="en-US" sz="2000" spc="30"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the</a:t>
            </a:r>
            <a:r>
              <a:rPr lang="en-US" sz="2000" spc="30"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irreversible</a:t>
            </a:r>
            <a:r>
              <a:rPr lang="en-US" sz="2000" spc="30"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process</a:t>
            </a:r>
            <a:r>
              <a:rPr lang="en-US" sz="2000" spc="25"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the</a:t>
            </a:r>
            <a:r>
              <a:rPr lang="en-US" sz="2000" spc="30"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initial</a:t>
            </a:r>
            <a:r>
              <a:rPr lang="en-US" sz="2000" spc="30"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state</a:t>
            </a:r>
            <a:r>
              <a:rPr lang="en-US" sz="2000" spc="30"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of</a:t>
            </a:r>
            <a:r>
              <a:rPr lang="en-US" sz="2000" spc="30"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the</a:t>
            </a:r>
            <a:r>
              <a:rPr lang="en-US" sz="2000" spc="30"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system</a:t>
            </a:r>
            <a:r>
              <a:rPr lang="en-US" sz="2000" spc="35"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and</a:t>
            </a:r>
            <a:r>
              <a:rPr lang="en-US" sz="2000" spc="30"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surroundings</a:t>
            </a:r>
            <a:r>
              <a:rPr lang="en-US" sz="2000" spc="25"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cannot</a:t>
            </a:r>
            <a:r>
              <a:rPr lang="en-US" sz="2000" spc="20"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be</a:t>
            </a:r>
            <a:r>
              <a:rPr lang="en-US" sz="2000" spc="-255"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restored</a:t>
            </a:r>
            <a:r>
              <a:rPr lang="en-US" sz="20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from</a:t>
            </a:r>
            <a:r>
              <a:rPr lang="en-US" sz="20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the</a:t>
            </a:r>
            <a:r>
              <a:rPr lang="en-US" sz="20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final</a:t>
            </a:r>
            <a:r>
              <a:rPr lang="en-US" sz="2000" spc="-30"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state.</a:t>
            </a:r>
            <a:endParaRPr lang="en-IN" sz="2000" dirty="0">
              <a:effectLst/>
              <a:latin typeface="Times New Roman" panose="02020603050405020304" pitchFamily="18" charset="0"/>
              <a:ea typeface="Wingdings" panose="05000000000000000000" pitchFamily="2" charset="2"/>
              <a:cs typeface="Wingdings" panose="05000000000000000000" pitchFamily="2" charset="2"/>
            </a:endParaRPr>
          </a:p>
          <a:p>
            <a:pPr marL="342900" lvl="0" indent="-342900">
              <a:lnSpc>
                <a:spcPct val="115000"/>
              </a:lnSpc>
              <a:buSzPts val="1200"/>
              <a:buFont typeface="Wingdings" panose="05000000000000000000" pitchFamily="2" charset="2"/>
              <a:buChar char=""/>
            </a:pPr>
            <a:r>
              <a:rPr lang="en-US" sz="2000" dirty="0">
                <a:effectLst/>
                <a:latin typeface="Times New Roman" panose="02020603050405020304" pitchFamily="18" charset="0"/>
                <a:ea typeface="Wingdings" panose="05000000000000000000" pitchFamily="2" charset="2"/>
                <a:cs typeface="Wingdings" panose="05000000000000000000" pitchFamily="2" charset="2"/>
              </a:rPr>
              <a:t>During</a:t>
            </a:r>
            <a:r>
              <a:rPr lang="en-US" sz="20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the</a:t>
            </a:r>
            <a:r>
              <a:rPr lang="en-US" sz="20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irreversible</a:t>
            </a:r>
            <a:r>
              <a:rPr lang="en-US" sz="20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process</a:t>
            </a:r>
            <a:r>
              <a:rPr lang="en-US" sz="20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the</a:t>
            </a:r>
            <a:r>
              <a:rPr lang="en-US" sz="20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various</a:t>
            </a:r>
            <a:r>
              <a:rPr lang="en-US" sz="20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states</a:t>
            </a:r>
            <a:r>
              <a:rPr lang="en-US" sz="20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of</a:t>
            </a:r>
            <a:r>
              <a:rPr lang="en-US" sz="20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the</a:t>
            </a:r>
            <a:r>
              <a:rPr lang="en-US" sz="20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system</a:t>
            </a:r>
            <a:r>
              <a:rPr lang="en-US" sz="20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on</a:t>
            </a:r>
            <a:r>
              <a:rPr lang="en-US" sz="20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the</a:t>
            </a:r>
            <a:r>
              <a:rPr lang="en-US" sz="20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path</a:t>
            </a:r>
            <a:r>
              <a:rPr lang="en-US" sz="2000" spc="270"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of</a:t>
            </a:r>
            <a:r>
              <a:rPr lang="en-US" sz="2000" spc="-260"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spc="-5" dirty="0">
                <a:effectLst/>
                <a:latin typeface="Times New Roman" panose="02020603050405020304" pitchFamily="18" charset="0"/>
                <a:ea typeface="Wingdings" panose="05000000000000000000" pitchFamily="2" charset="2"/>
                <a:cs typeface="Wingdings" panose="05000000000000000000" pitchFamily="2" charset="2"/>
              </a:rPr>
              <a:t>change</a:t>
            </a:r>
            <a:r>
              <a:rPr lang="en-US" sz="2000" spc="-15"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from</a:t>
            </a:r>
            <a:r>
              <a:rPr lang="en-US" sz="2000" spc="-15"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initial</a:t>
            </a:r>
            <a:r>
              <a:rPr lang="en-US" sz="20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state</a:t>
            </a:r>
            <a:r>
              <a:rPr lang="en-US" sz="20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to</a:t>
            </a:r>
            <a:r>
              <a:rPr lang="en-US" sz="20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final</a:t>
            </a:r>
            <a:r>
              <a:rPr lang="en-US" sz="2000" spc="-15"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state</a:t>
            </a:r>
            <a:r>
              <a:rPr lang="en-US" sz="20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are</a:t>
            </a:r>
            <a:r>
              <a:rPr lang="en-US" sz="20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not</a:t>
            </a:r>
            <a:r>
              <a:rPr lang="en-US" sz="20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in</a:t>
            </a:r>
            <a:r>
              <a:rPr lang="en-US" sz="20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equilibrium</a:t>
            </a:r>
            <a:r>
              <a:rPr lang="en-US" sz="20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with</a:t>
            </a:r>
            <a:r>
              <a:rPr lang="en-US" sz="20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each</a:t>
            </a:r>
            <a:r>
              <a:rPr lang="en-US" sz="2000" spc="-65" dirty="0">
                <a:effectLst/>
                <a:latin typeface="Times New Roman" panose="02020603050405020304" pitchFamily="18" charset="0"/>
                <a:ea typeface="Wingdings" panose="05000000000000000000" pitchFamily="2" charset="2"/>
                <a:cs typeface="Wingdings" panose="05000000000000000000" pitchFamily="2" charset="2"/>
              </a:rPr>
              <a:t> </a:t>
            </a:r>
            <a:r>
              <a:rPr lang="en-US" sz="2000" dirty="0">
                <a:effectLst/>
                <a:latin typeface="Times New Roman" panose="02020603050405020304" pitchFamily="18" charset="0"/>
                <a:ea typeface="Wingdings" panose="05000000000000000000" pitchFamily="2" charset="2"/>
                <a:cs typeface="Wingdings" panose="05000000000000000000" pitchFamily="2" charset="2"/>
              </a:rPr>
              <a:t>other.</a:t>
            </a:r>
            <a:endParaRPr lang="en-IN" sz="2000" dirty="0">
              <a:effectLst/>
              <a:latin typeface="Times New Roman" panose="02020603050405020304" pitchFamily="18" charset="0"/>
              <a:ea typeface="Wingdings" panose="05000000000000000000" pitchFamily="2" charset="2"/>
              <a:cs typeface="Wingdings" panose="05000000000000000000" pitchFamily="2" charset="2"/>
            </a:endParaRPr>
          </a:p>
          <a:p>
            <a:pPr algn="just"/>
            <a:r>
              <a:rPr lang="en-US" sz="2000" dirty="0">
                <a:effectLst/>
                <a:latin typeface="Times New Roman" panose="02020603050405020304" pitchFamily="18" charset="0"/>
                <a:ea typeface="Times New Roman" panose="02020603050405020304" pitchFamily="18" charset="0"/>
              </a:rPr>
              <a:t>During</a:t>
            </a:r>
            <a:r>
              <a:rPr lang="en-US" sz="2000" spc="6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the</a:t>
            </a:r>
            <a:r>
              <a:rPr lang="en-US" sz="2000" spc="6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irreversible</a:t>
            </a:r>
            <a:r>
              <a:rPr lang="en-US" sz="2000" spc="5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process</a:t>
            </a:r>
            <a:r>
              <a:rPr lang="en-US" sz="2000" spc="6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the</a:t>
            </a:r>
            <a:r>
              <a:rPr lang="en-US" sz="2000" spc="5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entropy</a:t>
            </a:r>
            <a:r>
              <a:rPr lang="en-US" sz="2000" spc="6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of</a:t>
            </a:r>
            <a:r>
              <a:rPr lang="en-US" sz="2000" spc="5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the</a:t>
            </a:r>
            <a:r>
              <a:rPr lang="en-US" sz="2000" spc="6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system</a:t>
            </a:r>
            <a:r>
              <a:rPr lang="en-US" sz="2000" spc="6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increases</a:t>
            </a:r>
            <a:r>
              <a:rPr lang="en-US" sz="2000" spc="65" dirty="0">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decisively</a:t>
            </a:r>
            <a:r>
              <a:rPr lang="en-US" sz="2000" spc="6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and</a:t>
            </a:r>
            <a:r>
              <a:rPr lang="en-US" sz="2000" spc="5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it</a:t>
            </a:r>
            <a:r>
              <a:rPr lang="en-US" sz="2000" spc="-25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cannot</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be</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reduced</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back</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to</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its initial</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value.</a:t>
            </a:r>
            <a:endParaRPr lang="en-IN" dirty="0"/>
          </a:p>
        </p:txBody>
      </p:sp>
    </p:spTree>
    <p:extLst>
      <p:ext uri="{BB962C8B-B14F-4D97-AF65-F5344CB8AC3E}">
        <p14:creationId xmlns:p14="http://schemas.microsoft.com/office/powerpoint/2010/main" val="3450440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422D8-C714-FCCF-5C90-E66F8B6C5BE2}"/>
              </a:ext>
            </a:extLst>
          </p:cNvPr>
          <p:cNvSpPr>
            <a:spLocks noGrp="1"/>
          </p:cNvSpPr>
          <p:nvPr>
            <p:ph type="title"/>
          </p:nvPr>
        </p:nvSpPr>
        <p:spPr>
          <a:xfrm>
            <a:off x="457200" y="274638"/>
            <a:ext cx="8229600" cy="457199"/>
          </a:xfrm>
        </p:spPr>
        <p:txBody>
          <a:bodyPr>
            <a:normAutofit fontScale="90000"/>
          </a:bodyPr>
          <a:lstStyle/>
          <a:p>
            <a:pPr algn="l"/>
            <a:r>
              <a:rPr lang="en-US" sz="2400" b="1" i="0" dirty="0">
                <a:effectLst/>
                <a:latin typeface="Times New Roman" panose="02020603050405020304" pitchFamily="18" charset="0"/>
                <a:ea typeface="Times New Roman" panose="02020603050405020304" pitchFamily="18" charset="0"/>
              </a:rPr>
              <a:t>Causes</a:t>
            </a:r>
            <a:r>
              <a:rPr lang="en-US" sz="2400" b="1" i="0" spc="-20" dirty="0">
                <a:effectLst/>
                <a:latin typeface="Times New Roman" panose="02020603050405020304" pitchFamily="18" charset="0"/>
                <a:ea typeface="Times New Roman" panose="02020603050405020304" pitchFamily="18" charset="0"/>
              </a:rPr>
              <a:t> </a:t>
            </a:r>
            <a:r>
              <a:rPr lang="en-US" sz="2400" b="1" i="0" dirty="0">
                <a:effectLst/>
                <a:latin typeface="Times New Roman" panose="02020603050405020304" pitchFamily="18" charset="0"/>
                <a:ea typeface="Times New Roman" panose="02020603050405020304" pitchFamily="18" charset="0"/>
              </a:rPr>
              <a:t>of</a:t>
            </a:r>
            <a:r>
              <a:rPr lang="en-US" sz="2400" b="1" i="0" spc="-25" dirty="0">
                <a:effectLst/>
                <a:latin typeface="Times New Roman" panose="02020603050405020304" pitchFamily="18" charset="0"/>
                <a:ea typeface="Times New Roman" panose="02020603050405020304" pitchFamily="18" charset="0"/>
              </a:rPr>
              <a:t> </a:t>
            </a:r>
            <a:r>
              <a:rPr lang="en-US" sz="2400" b="1" i="0" dirty="0">
                <a:effectLst/>
                <a:latin typeface="Times New Roman" panose="02020603050405020304" pitchFamily="18" charset="0"/>
                <a:ea typeface="Times New Roman" panose="02020603050405020304" pitchFamily="18" charset="0"/>
              </a:rPr>
              <a:t>Irreversibility:</a:t>
            </a:r>
            <a:endParaRPr lang="en-IN" sz="5400" dirty="0"/>
          </a:p>
        </p:txBody>
      </p:sp>
      <p:sp>
        <p:nvSpPr>
          <p:cNvPr id="3" name="Content Placeholder 2">
            <a:extLst>
              <a:ext uri="{FF2B5EF4-FFF2-40B4-BE49-F238E27FC236}">
                <a16:creationId xmlns:a16="http://schemas.microsoft.com/office/drawing/2014/main" id="{54A94C73-1DE0-5ED6-666B-B76AB41F5700}"/>
              </a:ext>
            </a:extLst>
          </p:cNvPr>
          <p:cNvSpPr>
            <a:spLocks noGrp="1"/>
          </p:cNvSpPr>
          <p:nvPr>
            <p:ph idx="1"/>
          </p:nvPr>
        </p:nvSpPr>
        <p:spPr>
          <a:xfrm>
            <a:off x="457200" y="731838"/>
            <a:ext cx="8229600" cy="5394326"/>
          </a:xfrm>
        </p:spPr>
        <p:txBody>
          <a:bodyPr>
            <a:normAutofit fontScale="92500" lnSpcReduction="20000"/>
          </a:bodyPr>
          <a:lstStyle/>
          <a:p>
            <a:pPr marL="0" indent="0" algn="just">
              <a:buNone/>
            </a:pPr>
            <a:r>
              <a:rPr lang="en-US" sz="2400" b="1" u="sng" dirty="0">
                <a:effectLst/>
                <a:latin typeface="Times New Roman" panose="02020603050405020304" pitchFamily="18" charset="0"/>
                <a:ea typeface="Times New Roman" panose="02020603050405020304" pitchFamily="18" charset="0"/>
              </a:rPr>
              <a:t>Friction:</a:t>
            </a:r>
            <a:r>
              <a:rPr lang="en-US" sz="2400" spc="6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Friction</a:t>
            </a:r>
            <a:r>
              <a:rPr lang="en-US" sz="2400" spc="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is</a:t>
            </a:r>
            <a:r>
              <a:rPr lang="en-US" sz="2400" spc="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invariably</a:t>
            </a:r>
            <a:r>
              <a:rPr lang="en-US" sz="2400" spc="6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present</a:t>
            </a:r>
            <a:r>
              <a:rPr lang="en-US" sz="2400" spc="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in</a:t>
            </a:r>
            <a:r>
              <a:rPr lang="en-US" sz="2400" spc="8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real</a:t>
            </a:r>
            <a:r>
              <a:rPr lang="en-US" sz="2400" spc="7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systems.</a:t>
            </a:r>
            <a:r>
              <a:rPr lang="en-US" sz="2400" spc="7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It</a:t>
            </a:r>
            <a:r>
              <a:rPr lang="en-US" sz="2400" spc="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causes</a:t>
            </a:r>
            <a:r>
              <a:rPr lang="en-US" sz="2400" spc="7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irreversibility</a:t>
            </a:r>
            <a:r>
              <a:rPr lang="en-US" sz="2400" spc="7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in</a:t>
            </a:r>
            <a:r>
              <a:rPr lang="en-US" sz="2400" spc="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6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process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as work done does not show an equivalent rise in the kinetic or potential energy of the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system.</a:t>
            </a:r>
          </a:p>
          <a:p>
            <a:pPr marL="0" indent="0" algn="just">
              <a:buNone/>
            </a:pPr>
            <a:endParaRPr lang="en-US" sz="2400" dirty="0">
              <a:latin typeface="Times New Roman" panose="02020603050405020304" pitchFamily="18" charset="0"/>
            </a:endParaRPr>
          </a:p>
          <a:p>
            <a:pPr marL="0" indent="0" algn="just">
              <a:buNone/>
            </a:pPr>
            <a:r>
              <a:rPr lang="en-US" sz="2400" b="1" u="sng" dirty="0">
                <a:effectLst/>
                <a:latin typeface="Times New Roman" panose="02020603050405020304" pitchFamily="18" charset="0"/>
                <a:ea typeface="Times New Roman" panose="02020603050405020304" pitchFamily="18" charset="0"/>
              </a:rPr>
              <a:t>Free expansion:</a:t>
            </a:r>
            <a:r>
              <a:rPr lang="en-US" sz="2400" dirty="0">
                <a:effectLst/>
                <a:latin typeface="Times New Roman" panose="02020603050405020304" pitchFamily="18" charset="0"/>
                <a:ea typeface="Times New Roman" panose="02020603050405020304" pitchFamily="18" charset="0"/>
              </a:rPr>
              <a:t> Free expansion refers to the expansion of unresisted type such as expansion</a:t>
            </a:r>
            <a:r>
              <a:rPr lang="en-US" sz="2400" spc="-26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in a vacuum. During this unresisted expansion the work interaction is zero, and without the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expense of any work, it is not possible to restore initial states. Thus, free expansion is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irreversible.</a:t>
            </a:r>
            <a:endParaRPr lang="en-IN" sz="2400" dirty="0">
              <a:effectLst/>
              <a:latin typeface="Times New Roman" panose="02020603050405020304" pitchFamily="18" charset="0"/>
              <a:ea typeface="Times New Roman" panose="02020603050405020304" pitchFamily="18" charset="0"/>
            </a:endParaRPr>
          </a:p>
          <a:p>
            <a:pPr marL="0" indent="0" algn="just">
              <a:buNone/>
            </a:pPr>
            <a:endParaRPr lang="en-US" sz="2400" dirty="0">
              <a:latin typeface="Times New Roman" panose="02020603050405020304" pitchFamily="18" charset="0"/>
            </a:endParaRPr>
          </a:p>
          <a:p>
            <a:pPr marL="0" indent="0" algn="just">
              <a:buNone/>
            </a:pPr>
            <a:r>
              <a:rPr lang="en-US" sz="2400" b="1" u="sng" dirty="0">
                <a:effectLst/>
                <a:latin typeface="Times New Roman" panose="02020603050405020304" pitchFamily="18" charset="0"/>
                <a:ea typeface="Times New Roman" panose="02020603050405020304" pitchFamily="18" charset="0"/>
              </a:rPr>
              <a:t>Heat transfer through a finite temperature difference:</a:t>
            </a:r>
            <a:r>
              <a:rPr lang="en-US" sz="2400" dirty="0">
                <a:effectLst/>
                <a:latin typeface="Times New Roman" panose="02020603050405020304" pitchFamily="18" charset="0"/>
                <a:ea typeface="Times New Roman" panose="02020603050405020304" pitchFamily="18" charset="0"/>
              </a:rPr>
              <a:t> Heat transfer occurs only when there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exists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temperature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difference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between</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bodies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undergoing</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heat</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transfer.</a:t>
            </a:r>
          </a:p>
          <a:p>
            <a:pPr marL="0" indent="0" algn="just">
              <a:buNone/>
            </a:pPr>
            <a:endParaRPr lang="en-US" sz="2400" dirty="0">
              <a:latin typeface="Times New Roman" panose="02020603050405020304" pitchFamily="18" charset="0"/>
            </a:endParaRPr>
          </a:p>
          <a:p>
            <a:pPr marL="0" indent="0" algn="just">
              <a:buNone/>
            </a:pPr>
            <a:r>
              <a:rPr lang="en-US" sz="2400" b="1" u="sng" dirty="0">
                <a:effectLst/>
                <a:latin typeface="Times New Roman" panose="02020603050405020304" pitchFamily="18" charset="0"/>
                <a:ea typeface="Times New Roman" panose="02020603050405020304" pitchFamily="18" charset="0"/>
              </a:rPr>
              <a:t>Non</a:t>
            </a:r>
            <a:r>
              <a:rPr lang="en-US" sz="2400" b="1" u="sng" spc="5" dirty="0">
                <a:effectLst/>
                <a:latin typeface="Times New Roman" panose="02020603050405020304" pitchFamily="18" charset="0"/>
                <a:ea typeface="Times New Roman" panose="02020603050405020304" pitchFamily="18" charset="0"/>
              </a:rPr>
              <a:t> </a:t>
            </a:r>
            <a:r>
              <a:rPr lang="en-US" sz="2400" b="1" u="sng" dirty="0">
                <a:effectLst/>
                <a:latin typeface="Times New Roman" panose="02020603050405020304" pitchFamily="18" charset="0"/>
                <a:ea typeface="Times New Roman" panose="02020603050405020304" pitchFamily="18" charset="0"/>
              </a:rPr>
              <a:t>equilibrium</a:t>
            </a:r>
            <a:r>
              <a:rPr lang="en-US" sz="2400" b="1" u="sng" spc="5" dirty="0">
                <a:effectLst/>
                <a:latin typeface="Times New Roman" panose="02020603050405020304" pitchFamily="18" charset="0"/>
                <a:ea typeface="Times New Roman" panose="02020603050405020304" pitchFamily="18" charset="0"/>
              </a:rPr>
              <a:t> </a:t>
            </a:r>
            <a:r>
              <a:rPr lang="en-US" sz="2400" b="1" u="sng" dirty="0">
                <a:effectLst/>
                <a:latin typeface="Times New Roman" panose="02020603050405020304" pitchFamily="18" charset="0"/>
                <a:ea typeface="Times New Roman" panose="02020603050405020304" pitchFamily="18" charset="0"/>
              </a:rPr>
              <a:t>during</a:t>
            </a:r>
            <a:r>
              <a:rPr lang="en-US" sz="2400" b="1" u="sng" spc="5" dirty="0">
                <a:effectLst/>
                <a:latin typeface="Times New Roman" panose="02020603050405020304" pitchFamily="18" charset="0"/>
                <a:ea typeface="Times New Roman" panose="02020603050405020304" pitchFamily="18" charset="0"/>
              </a:rPr>
              <a:t> </a:t>
            </a:r>
            <a:r>
              <a:rPr lang="en-US" sz="2400" b="1" u="sng" dirty="0">
                <a:effectLst/>
                <a:latin typeface="Times New Roman" panose="02020603050405020304" pitchFamily="18" charset="0"/>
                <a:ea typeface="Times New Roman" panose="02020603050405020304" pitchFamily="18" charset="0"/>
              </a:rPr>
              <a:t>the</a:t>
            </a:r>
            <a:r>
              <a:rPr lang="en-US" sz="2400" b="1" u="sng" spc="5" dirty="0">
                <a:effectLst/>
                <a:latin typeface="Times New Roman" panose="02020603050405020304" pitchFamily="18" charset="0"/>
                <a:ea typeface="Times New Roman" panose="02020603050405020304" pitchFamily="18" charset="0"/>
              </a:rPr>
              <a:t> </a:t>
            </a:r>
            <a:r>
              <a:rPr lang="en-US" sz="2400" b="1" u="sng" dirty="0">
                <a:effectLst/>
                <a:latin typeface="Times New Roman" panose="02020603050405020304" pitchFamily="18" charset="0"/>
                <a:ea typeface="Times New Roman" panose="02020603050405020304" pitchFamily="18" charset="0"/>
              </a:rPr>
              <a:t>process:</a:t>
            </a:r>
            <a:r>
              <a:rPr lang="en-US" sz="2400" spc="5" dirty="0">
                <a:effectLst/>
                <a:latin typeface="Times New Roman" panose="02020603050405020304" pitchFamily="18" charset="0"/>
                <a:ea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rPr>
              <a:t>Irreversibilities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are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introduced</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due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to</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lack</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of</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thermodynamic equilibrium during the process. Non-equilibrium may be due to mechanical</a:t>
            </a:r>
            <a:r>
              <a:rPr lang="en-US" sz="2400" spc="5" dirty="0">
                <a:effectLst/>
                <a:latin typeface="Times New Roman" panose="02020603050405020304" pitchFamily="18" charset="0"/>
                <a:ea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rPr>
              <a:t>inequilibrium</a:t>
            </a:r>
            <a:r>
              <a:rPr lang="en-US" sz="2400" dirty="0">
                <a:effectLst/>
                <a:latin typeface="Times New Roman" panose="02020603050405020304" pitchFamily="18" charset="0"/>
                <a:ea typeface="Times New Roman" panose="02020603050405020304" pitchFamily="18" charset="0"/>
              </a:rPr>
              <a:t>, chemical </a:t>
            </a:r>
            <a:r>
              <a:rPr lang="en-US" sz="2400" dirty="0" err="1">
                <a:effectLst/>
                <a:latin typeface="Times New Roman" panose="02020603050405020304" pitchFamily="18" charset="0"/>
                <a:ea typeface="Times New Roman" panose="02020603050405020304" pitchFamily="18" charset="0"/>
              </a:rPr>
              <a:t>inequilibrium</a:t>
            </a:r>
            <a:r>
              <a:rPr lang="en-US" sz="2400" dirty="0">
                <a:effectLst/>
                <a:latin typeface="Times New Roman" panose="02020603050405020304" pitchFamily="18" charset="0"/>
                <a:ea typeface="Times New Roman" panose="02020603050405020304" pitchFamily="18" charset="0"/>
              </a:rPr>
              <a:t>, thermal </a:t>
            </a:r>
            <a:r>
              <a:rPr lang="en-US" sz="2400" dirty="0" err="1">
                <a:effectLst/>
                <a:latin typeface="Times New Roman" panose="02020603050405020304" pitchFamily="18" charset="0"/>
                <a:ea typeface="Times New Roman" panose="02020603050405020304" pitchFamily="18" charset="0"/>
              </a:rPr>
              <a:t>inequilibrium</a:t>
            </a:r>
            <a:r>
              <a:rPr lang="en-US" sz="2400" dirty="0">
                <a:effectLst/>
                <a:latin typeface="Times New Roman" panose="02020603050405020304" pitchFamily="18" charset="0"/>
                <a:ea typeface="Times New Roman" panose="02020603050405020304" pitchFamily="18" charset="0"/>
              </a:rPr>
              <a:t>, electrical </a:t>
            </a:r>
            <a:r>
              <a:rPr lang="en-US" sz="2400" dirty="0" err="1">
                <a:effectLst/>
                <a:latin typeface="Times New Roman" panose="02020603050405020304" pitchFamily="18" charset="0"/>
                <a:ea typeface="Times New Roman" panose="02020603050405020304" pitchFamily="18" charset="0"/>
              </a:rPr>
              <a:t>inequilibrium</a:t>
            </a:r>
            <a:r>
              <a:rPr lang="en-US" sz="2400" dirty="0">
                <a:effectLst/>
                <a:latin typeface="Times New Roman" panose="02020603050405020304" pitchFamily="18" charset="0"/>
                <a:ea typeface="Times New Roman" panose="02020603050405020304" pitchFamily="18" charset="0"/>
              </a:rPr>
              <a:t>, etc.</a:t>
            </a:r>
            <a:endParaRPr lang="en-IN" sz="4000" dirty="0"/>
          </a:p>
        </p:txBody>
      </p:sp>
    </p:spTree>
    <p:extLst>
      <p:ext uri="{BB962C8B-B14F-4D97-AF65-F5344CB8AC3E}">
        <p14:creationId xmlns:p14="http://schemas.microsoft.com/office/powerpoint/2010/main" val="2949253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9218AC-3FBD-1529-A953-1049FED37724}"/>
              </a:ext>
            </a:extLst>
          </p:cNvPr>
          <p:cNvSpPr>
            <a:spLocks noGrp="1"/>
          </p:cNvSpPr>
          <p:nvPr>
            <p:ph idx="1"/>
          </p:nvPr>
        </p:nvSpPr>
        <p:spPr>
          <a:xfrm>
            <a:off x="457200" y="548680"/>
            <a:ext cx="8229600" cy="5577483"/>
          </a:xfrm>
        </p:spPr>
        <p:txBody>
          <a:bodyPr>
            <a:normAutofit fontScale="92500" lnSpcReduction="10000"/>
          </a:bodyPr>
          <a:lstStyle/>
          <a:p>
            <a:pPr marL="0" indent="0">
              <a:lnSpc>
                <a:spcPct val="115000"/>
              </a:lnSpc>
              <a:spcBef>
                <a:spcPts val="1200"/>
              </a:spcBef>
              <a:spcAft>
                <a:spcPts val="300"/>
              </a:spcAft>
              <a:buNone/>
            </a:pPr>
            <a:r>
              <a:rPr lang="en-US" sz="2400" b="1" i="0" dirty="0">
                <a:effectLst/>
                <a:latin typeface="Times New Roman" panose="02020603050405020304" pitchFamily="18" charset="0"/>
                <a:ea typeface="Times New Roman" panose="02020603050405020304" pitchFamily="18" charset="0"/>
              </a:rPr>
              <a:t>Heat:</a:t>
            </a:r>
            <a:endParaRPr lang="en-IN" sz="2400" b="1" i="1" dirty="0">
              <a:effectLst/>
              <a:latin typeface="Times New Roman" panose="02020603050405020304" pitchFamily="18" charset="0"/>
              <a:ea typeface="Times New Roman" panose="02020603050405020304" pitchFamily="18" charset="0"/>
            </a:endParaRPr>
          </a:p>
          <a:p>
            <a:pPr marL="0" indent="0">
              <a:buNone/>
            </a:pPr>
            <a:r>
              <a:rPr lang="en-US" sz="2400" dirty="0">
                <a:effectLst/>
                <a:latin typeface="Times New Roman" panose="02020603050405020304" pitchFamily="18" charset="0"/>
                <a:ea typeface="Times New Roman" panose="02020603050405020304" pitchFamily="18" charset="0"/>
              </a:rPr>
              <a:t>It is the energy in transition between the system and the surroundings by virtue of the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difference in temperature.</a:t>
            </a:r>
            <a:endParaRPr lang="en-US" sz="2400" dirty="0">
              <a:latin typeface="Times New Roman" panose="02020603050405020304" pitchFamily="18" charset="0"/>
            </a:endParaRPr>
          </a:p>
          <a:p>
            <a:pPr marL="0" indent="0">
              <a:lnSpc>
                <a:spcPct val="115000"/>
              </a:lnSpc>
              <a:spcBef>
                <a:spcPts val="1200"/>
              </a:spcBef>
              <a:spcAft>
                <a:spcPts val="300"/>
              </a:spcAft>
              <a:buNone/>
            </a:pPr>
            <a:r>
              <a:rPr lang="en-US" sz="2400" b="1" i="0" dirty="0">
                <a:effectLst/>
                <a:latin typeface="Times New Roman" panose="02020603050405020304" pitchFamily="18" charset="0"/>
                <a:ea typeface="Times New Roman" panose="02020603050405020304" pitchFamily="18" charset="0"/>
              </a:rPr>
              <a:t>Work:</a:t>
            </a:r>
            <a:endParaRPr lang="en-IN" sz="2400" b="1" i="1" dirty="0">
              <a:effectLst/>
              <a:latin typeface="Times New Roman" panose="02020603050405020304" pitchFamily="18" charset="0"/>
              <a:ea typeface="Times New Roman" panose="02020603050405020304" pitchFamily="18" charset="0"/>
            </a:endParaRPr>
          </a:p>
          <a:p>
            <a:pPr marL="0" indent="0" algn="just">
              <a:lnSpc>
                <a:spcPct val="115000"/>
              </a:lnSpc>
              <a:spcBef>
                <a:spcPts val="740"/>
              </a:spcBef>
              <a:spcAft>
                <a:spcPts val="0"/>
              </a:spcAft>
              <a:buNone/>
            </a:pPr>
            <a:r>
              <a:rPr lang="en-US" sz="2400" dirty="0">
                <a:effectLst/>
                <a:latin typeface="Times New Roman" panose="02020603050405020304" pitchFamily="18" charset="0"/>
                <a:ea typeface="Times New Roman" panose="02020603050405020304" pitchFamily="18" charset="0"/>
              </a:rPr>
              <a:t>Thermodynamic</a:t>
            </a:r>
            <a:r>
              <a:rPr lang="en-US" sz="2400" spc="17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definition</a:t>
            </a:r>
            <a:r>
              <a:rPr lang="en-US" sz="2400" spc="1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of</a:t>
            </a:r>
            <a:r>
              <a:rPr lang="en-US" sz="2400" spc="1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work:</a:t>
            </a:r>
            <a:r>
              <a:rPr lang="en-US" sz="2400" spc="1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Positive</a:t>
            </a:r>
            <a:r>
              <a:rPr lang="en-US" sz="2400" spc="17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work</a:t>
            </a:r>
            <a:r>
              <a:rPr lang="en-US" sz="2400" spc="16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is</a:t>
            </a:r>
            <a:r>
              <a:rPr lang="en-US" sz="2400" spc="17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done</a:t>
            </a:r>
            <a:r>
              <a:rPr lang="en-US" sz="2400" spc="1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by</a:t>
            </a:r>
            <a:r>
              <a:rPr lang="en-US" sz="2400" spc="17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a:t>
            </a:r>
            <a:r>
              <a:rPr lang="en-US" sz="2400" spc="17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system</a:t>
            </a:r>
            <a:r>
              <a:rPr lang="en-US" sz="2400" spc="1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when</a:t>
            </a:r>
            <a:r>
              <a:rPr lang="en-US" sz="2400" spc="18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1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sole</a:t>
            </a:r>
            <a:r>
              <a:rPr lang="en-US" sz="2400" spc="1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effect</a:t>
            </a:r>
            <a:r>
              <a:rPr lang="en-US" sz="2400" spc="-25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external</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to</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system could</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be</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reduced</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to</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rise of</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weight.</a:t>
            </a:r>
          </a:p>
          <a:p>
            <a:pPr marL="0" indent="0" algn="just">
              <a:lnSpc>
                <a:spcPct val="115000"/>
              </a:lnSpc>
              <a:spcBef>
                <a:spcPts val="740"/>
              </a:spcBef>
              <a:spcAft>
                <a:spcPts val="0"/>
              </a:spcAft>
              <a:buNone/>
            </a:pPr>
            <a:endParaRPr lang="en-IN" sz="2400" dirty="0">
              <a:effectLst/>
              <a:latin typeface="Times New Roman" panose="02020603050405020304" pitchFamily="18" charset="0"/>
              <a:ea typeface="Times New Roman" panose="02020603050405020304" pitchFamily="18" charset="0"/>
            </a:endParaRPr>
          </a:p>
          <a:p>
            <a:pPr marL="0" indent="0">
              <a:buNone/>
            </a:pPr>
            <a:r>
              <a:rPr lang="en-US" sz="2400" b="1" i="1" dirty="0">
                <a:effectLst/>
                <a:latin typeface="Times New Roman" panose="02020603050405020304" pitchFamily="18" charset="0"/>
                <a:ea typeface="Times New Roman" panose="02020603050405020304" pitchFamily="18" charset="0"/>
              </a:rPr>
              <a:t>Point</a:t>
            </a:r>
            <a:r>
              <a:rPr lang="en-US" sz="2400" b="1" i="1" spc="-15" dirty="0">
                <a:effectLst/>
                <a:latin typeface="Times New Roman" panose="02020603050405020304" pitchFamily="18" charset="0"/>
                <a:ea typeface="Times New Roman" panose="02020603050405020304" pitchFamily="18" charset="0"/>
              </a:rPr>
              <a:t> </a:t>
            </a:r>
            <a:r>
              <a:rPr lang="en-US" sz="2400" b="1" i="1" dirty="0">
                <a:effectLst/>
                <a:latin typeface="Times New Roman" panose="02020603050405020304" pitchFamily="18" charset="0"/>
                <a:ea typeface="Times New Roman" panose="02020603050405020304" pitchFamily="18" charset="0"/>
              </a:rPr>
              <a:t>and</a:t>
            </a:r>
            <a:r>
              <a:rPr lang="en-US" sz="2400" b="1" i="1" spc="-10" dirty="0">
                <a:effectLst/>
                <a:latin typeface="Times New Roman" panose="02020603050405020304" pitchFamily="18" charset="0"/>
                <a:ea typeface="Times New Roman" panose="02020603050405020304" pitchFamily="18" charset="0"/>
              </a:rPr>
              <a:t> </a:t>
            </a:r>
            <a:r>
              <a:rPr lang="en-US" sz="2400" b="1" i="1" dirty="0">
                <a:effectLst/>
                <a:latin typeface="Times New Roman" panose="02020603050405020304" pitchFamily="18" charset="0"/>
                <a:ea typeface="Times New Roman" panose="02020603050405020304" pitchFamily="18" charset="0"/>
              </a:rPr>
              <a:t>Path</a:t>
            </a:r>
            <a:r>
              <a:rPr lang="en-US" sz="2400" b="1" i="1" spc="-15" dirty="0">
                <a:effectLst/>
                <a:latin typeface="Times New Roman" panose="02020603050405020304" pitchFamily="18" charset="0"/>
                <a:ea typeface="Times New Roman" panose="02020603050405020304" pitchFamily="18" charset="0"/>
              </a:rPr>
              <a:t> </a:t>
            </a:r>
            <a:r>
              <a:rPr lang="en-US" sz="2400" b="1" i="1" dirty="0">
                <a:effectLst/>
                <a:latin typeface="Times New Roman" panose="02020603050405020304" pitchFamily="18" charset="0"/>
                <a:ea typeface="Times New Roman" panose="02020603050405020304" pitchFamily="18" charset="0"/>
              </a:rPr>
              <a:t>functions</a:t>
            </a:r>
            <a:r>
              <a:rPr lang="en-US" sz="2400" b="0" i="1" dirty="0">
                <a:effectLst/>
                <a:latin typeface="Times New Roman" panose="02020603050405020304" pitchFamily="18" charset="0"/>
                <a:ea typeface="Times New Roman" panose="02020603050405020304" pitchFamily="18" charset="0"/>
              </a:rPr>
              <a:t>:</a:t>
            </a:r>
            <a:endParaRPr lang="en-IN" sz="2400" b="1" i="1" dirty="0">
              <a:effectLst/>
              <a:latin typeface="Times New Roman" panose="02020603050405020304" pitchFamily="18" charset="0"/>
              <a:ea typeface="Times New Roman" panose="02020603050405020304" pitchFamily="18" charset="0"/>
            </a:endParaRPr>
          </a:p>
          <a:p>
            <a:pPr marL="342900" lvl="0" indent="-342900" algn="just">
              <a:lnSpc>
                <a:spcPct val="115000"/>
              </a:lnSpc>
              <a:spcBef>
                <a:spcPts val="745"/>
              </a:spcBef>
              <a:spcAft>
                <a:spcPts val="0"/>
              </a:spcAft>
              <a:buSzPts val="1200"/>
              <a:buFont typeface="Wingdings" panose="05000000000000000000" pitchFamily="2" charset="2"/>
              <a:buChar char=""/>
              <a:tabLst>
                <a:tab pos="630555" algn="l"/>
              </a:tabLst>
            </a:pPr>
            <a:r>
              <a:rPr lang="en-US" sz="2400" dirty="0">
                <a:effectLst/>
                <a:latin typeface="Times New Roman" panose="02020603050405020304" pitchFamily="18" charset="0"/>
                <a:ea typeface="Wingdings" panose="05000000000000000000" pitchFamily="2" charset="2"/>
                <a:cs typeface="Wingdings" panose="05000000000000000000" pitchFamily="2" charset="2"/>
              </a:rPr>
              <a:t>Point function does not depend on the history (or path) of the system. It only</a:t>
            </a:r>
            <a:r>
              <a:rPr lang="en-US" sz="2400" spc="-26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depends</a:t>
            </a:r>
            <a:r>
              <a:rPr lang="en-US" sz="2400" spc="-1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on</a:t>
            </a:r>
            <a:r>
              <a:rPr lang="en-US" sz="24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the</a:t>
            </a:r>
            <a:r>
              <a:rPr lang="en-US" sz="24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state</a:t>
            </a:r>
            <a:r>
              <a:rPr lang="en-US" sz="24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of</a:t>
            </a:r>
            <a:r>
              <a:rPr lang="en-US" sz="24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the</a:t>
            </a:r>
            <a:r>
              <a:rPr lang="en-US" sz="24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system.</a:t>
            </a:r>
            <a:endParaRPr lang="en-IN" sz="2400" dirty="0">
              <a:effectLst/>
              <a:latin typeface="Times New Roman" panose="02020603050405020304" pitchFamily="18" charset="0"/>
              <a:ea typeface="Wingdings" panose="05000000000000000000" pitchFamily="2" charset="2"/>
              <a:cs typeface="Wingdings" panose="05000000000000000000" pitchFamily="2" charset="2"/>
            </a:endParaRPr>
          </a:p>
          <a:p>
            <a:pPr marL="342900" lvl="0" indent="-342900" algn="just">
              <a:lnSpc>
                <a:spcPct val="115000"/>
              </a:lnSpc>
              <a:buSzPts val="1200"/>
              <a:buFont typeface="Wingdings" panose="05000000000000000000" pitchFamily="2" charset="2"/>
              <a:buChar char=""/>
              <a:tabLst>
                <a:tab pos="630555" algn="l"/>
              </a:tabLst>
            </a:pPr>
            <a:r>
              <a:rPr lang="en-US" sz="2400" dirty="0">
                <a:effectLst/>
                <a:latin typeface="Times New Roman" panose="02020603050405020304" pitchFamily="18" charset="0"/>
                <a:ea typeface="Wingdings" panose="05000000000000000000" pitchFamily="2" charset="2"/>
                <a:cs typeface="Wingdings" panose="05000000000000000000" pitchFamily="2" charset="2"/>
              </a:rPr>
              <a:t>Examples of point functions are: temperature, pressure, density, mass, volume,</a:t>
            </a:r>
            <a:r>
              <a:rPr lang="en-US" sz="2400" spc="-26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enthalpy,</a:t>
            </a:r>
            <a:r>
              <a:rPr lang="en-US" sz="2400" spc="-1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entropy,</a:t>
            </a:r>
            <a:r>
              <a:rPr lang="en-US" sz="2400" spc="-15"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internal energy</a:t>
            </a:r>
            <a:r>
              <a:rPr lang="en-US" sz="2400" spc="-30" dirty="0">
                <a:effectLst/>
                <a:latin typeface="Times New Roman" panose="02020603050405020304" pitchFamily="18" charset="0"/>
                <a:ea typeface="Wingdings" panose="05000000000000000000" pitchFamily="2" charset="2"/>
                <a:cs typeface="Wingdings" panose="05000000000000000000" pitchFamily="2" charset="2"/>
              </a:rPr>
              <a:t> </a:t>
            </a:r>
            <a:r>
              <a:rPr lang="en-US" sz="2400" dirty="0">
                <a:effectLst/>
                <a:latin typeface="Times New Roman" panose="02020603050405020304" pitchFamily="18" charset="0"/>
                <a:ea typeface="Wingdings" panose="05000000000000000000" pitchFamily="2" charset="2"/>
                <a:cs typeface="Wingdings" panose="05000000000000000000" pitchFamily="2" charset="2"/>
              </a:rPr>
              <a:t>etc.</a:t>
            </a:r>
            <a:endParaRPr lang="en-IN" sz="2400" dirty="0">
              <a:effectLst/>
              <a:latin typeface="Times New Roman" panose="02020603050405020304" pitchFamily="18" charset="0"/>
              <a:ea typeface="Wingdings" panose="05000000000000000000" pitchFamily="2" charset="2"/>
              <a:cs typeface="Wingdings" panose="05000000000000000000" pitchFamily="2" charset="2"/>
            </a:endParaRPr>
          </a:p>
          <a:p>
            <a:pPr marL="0" indent="0">
              <a:buNone/>
            </a:pPr>
            <a:endParaRPr lang="en-IN" sz="4000" dirty="0"/>
          </a:p>
        </p:txBody>
      </p:sp>
    </p:spTree>
    <p:extLst>
      <p:ext uri="{BB962C8B-B14F-4D97-AF65-F5344CB8AC3E}">
        <p14:creationId xmlns:p14="http://schemas.microsoft.com/office/powerpoint/2010/main" val="2317997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F6725-6204-B117-E775-71875CE77F76}"/>
              </a:ext>
            </a:extLst>
          </p:cNvPr>
          <p:cNvSpPr>
            <a:spLocks noGrp="1"/>
          </p:cNvSpPr>
          <p:nvPr>
            <p:ph type="title"/>
          </p:nvPr>
        </p:nvSpPr>
        <p:spPr>
          <a:xfrm>
            <a:off x="457200" y="274638"/>
            <a:ext cx="8229600" cy="562074"/>
          </a:xfrm>
        </p:spPr>
        <p:txBody>
          <a:bodyPr>
            <a:normAutofit/>
          </a:bodyPr>
          <a:lstStyle/>
          <a:p>
            <a:pPr algn="l"/>
            <a:r>
              <a:rPr lang="en-US" sz="2400" b="1" i="0" dirty="0">
                <a:effectLst/>
                <a:latin typeface="Times New Roman" panose="02020603050405020304" pitchFamily="18" charset="0"/>
                <a:ea typeface="Times New Roman" panose="02020603050405020304" pitchFamily="18" charset="0"/>
              </a:rPr>
              <a:t>Zeroth</a:t>
            </a:r>
            <a:r>
              <a:rPr lang="en-US" sz="2400" b="1" i="0" spc="-20" dirty="0">
                <a:effectLst/>
                <a:latin typeface="Times New Roman" panose="02020603050405020304" pitchFamily="18" charset="0"/>
                <a:ea typeface="Times New Roman" panose="02020603050405020304" pitchFamily="18" charset="0"/>
              </a:rPr>
              <a:t> </a:t>
            </a:r>
            <a:r>
              <a:rPr lang="en-US" sz="2400" b="1" i="0" dirty="0">
                <a:effectLst/>
                <a:latin typeface="Times New Roman" panose="02020603050405020304" pitchFamily="18" charset="0"/>
                <a:ea typeface="Times New Roman" panose="02020603050405020304" pitchFamily="18" charset="0"/>
              </a:rPr>
              <a:t>Law</a:t>
            </a:r>
            <a:r>
              <a:rPr lang="en-US" sz="2400" b="1" i="0" spc="-10" dirty="0">
                <a:effectLst/>
                <a:latin typeface="Times New Roman" panose="02020603050405020304" pitchFamily="18" charset="0"/>
                <a:ea typeface="Times New Roman" panose="02020603050405020304" pitchFamily="18" charset="0"/>
              </a:rPr>
              <a:t> </a:t>
            </a:r>
            <a:r>
              <a:rPr lang="en-US" sz="2400" b="1" i="0" dirty="0">
                <a:effectLst/>
                <a:latin typeface="Times New Roman" panose="02020603050405020304" pitchFamily="18" charset="0"/>
                <a:ea typeface="Times New Roman" panose="02020603050405020304" pitchFamily="18" charset="0"/>
              </a:rPr>
              <a:t>of</a:t>
            </a:r>
            <a:r>
              <a:rPr lang="en-US" sz="2400" b="1" i="0" spc="-20" dirty="0">
                <a:effectLst/>
                <a:latin typeface="Times New Roman" panose="02020603050405020304" pitchFamily="18" charset="0"/>
                <a:ea typeface="Times New Roman" panose="02020603050405020304" pitchFamily="18" charset="0"/>
              </a:rPr>
              <a:t> </a:t>
            </a:r>
            <a:r>
              <a:rPr lang="en-US" sz="2400" b="1" i="0" dirty="0">
                <a:effectLst/>
                <a:latin typeface="Times New Roman" panose="02020603050405020304" pitchFamily="18" charset="0"/>
                <a:ea typeface="Times New Roman" panose="02020603050405020304" pitchFamily="18" charset="0"/>
              </a:rPr>
              <a:t>Thermodynamics:</a:t>
            </a:r>
            <a:endParaRPr lang="en-IN" sz="5400" dirty="0"/>
          </a:p>
        </p:txBody>
      </p:sp>
      <p:sp>
        <p:nvSpPr>
          <p:cNvPr id="3" name="Content Placeholder 2">
            <a:extLst>
              <a:ext uri="{FF2B5EF4-FFF2-40B4-BE49-F238E27FC236}">
                <a16:creationId xmlns:a16="http://schemas.microsoft.com/office/drawing/2014/main" id="{E0D72B9A-C56D-7B4A-CAA3-C7B9B1CBC747}"/>
              </a:ext>
            </a:extLst>
          </p:cNvPr>
          <p:cNvSpPr>
            <a:spLocks noGrp="1"/>
          </p:cNvSpPr>
          <p:nvPr>
            <p:ph idx="1"/>
          </p:nvPr>
        </p:nvSpPr>
        <p:spPr>
          <a:xfrm>
            <a:off x="457200" y="908720"/>
            <a:ext cx="8229600" cy="5217443"/>
          </a:xfrm>
        </p:spPr>
        <p:txBody>
          <a:bodyPr/>
          <a:lstStyle/>
          <a:p>
            <a:pPr marL="0" indent="0">
              <a:buNone/>
            </a:pPr>
            <a:r>
              <a:rPr lang="en-US" sz="1800" dirty="0">
                <a:effectLst/>
                <a:latin typeface="Times New Roman" panose="02020603050405020304" pitchFamily="18" charset="0"/>
                <a:ea typeface="Times New Roman" panose="02020603050405020304" pitchFamily="18" charset="0"/>
              </a:rPr>
              <a:t>The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Thermodynamics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Zeroth</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Law</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states</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that if</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two systems</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are</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at</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same time</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thermal equilibrium</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with</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third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system,</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they</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are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equilibrium</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with</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each</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other.</a:t>
            </a:r>
            <a:endParaRPr lang="en-IN" dirty="0"/>
          </a:p>
        </p:txBody>
      </p:sp>
      <p:pic>
        <p:nvPicPr>
          <p:cNvPr id="4" name="Picture 3">
            <a:extLst>
              <a:ext uri="{FF2B5EF4-FFF2-40B4-BE49-F238E27FC236}">
                <a16:creationId xmlns:a16="http://schemas.microsoft.com/office/drawing/2014/main" id="{83EF8316-E7BC-7E15-1D37-EC3A76B1A253}"/>
              </a:ext>
            </a:extLst>
          </p:cNvPr>
          <p:cNvPicPr>
            <a:picLocks noChangeAspect="1"/>
          </p:cNvPicPr>
          <p:nvPr/>
        </p:nvPicPr>
        <p:blipFill>
          <a:blip r:embed="rId2"/>
          <a:stretch>
            <a:fillRect/>
          </a:stretch>
        </p:blipFill>
        <p:spPr>
          <a:xfrm>
            <a:off x="2627784" y="2276872"/>
            <a:ext cx="3563717" cy="2602912"/>
          </a:xfrm>
          <a:prstGeom prst="rect">
            <a:avLst/>
          </a:prstGeom>
        </p:spPr>
      </p:pic>
    </p:spTree>
    <p:extLst>
      <p:ext uri="{BB962C8B-B14F-4D97-AF65-F5344CB8AC3E}">
        <p14:creationId xmlns:p14="http://schemas.microsoft.com/office/powerpoint/2010/main" val="1876002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00418-8DE1-CE32-EB1B-1FBBA6E0880F}"/>
              </a:ext>
            </a:extLst>
          </p:cNvPr>
          <p:cNvSpPr>
            <a:spLocks noGrp="1"/>
          </p:cNvSpPr>
          <p:nvPr>
            <p:ph type="title"/>
          </p:nvPr>
        </p:nvSpPr>
        <p:spPr>
          <a:xfrm>
            <a:off x="457200" y="274638"/>
            <a:ext cx="8229600" cy="457199"/>
          </a:xfrm>
        </p:spPr>
        <p:txBody>
          <a:bodyPr>
            <a:normAutofit fontScale="90000"/>
          </a:bodyPr>
          <a:lstStyle/>
          <a:p>
            <a:pPr algn="l"/>
            <a:r>
              <a:rPr lang="en-US" sz="2400" b="1" dirty="0">
                <a:effectLst/>
                <a:latin typeface="Times New Roman" panose="02020603050405020304" pitchFamily="18" charset="0"/>
                <a:ea typeface="Times New Roman" panose="02020603050405020304" pitchFamily="18" charset="0"/>
              </a:rPr>
              <a:t>Principles</a:t>
            </a:r>
            <a:r>
              <a:rPr lang="en-US" sz="2400" b="1" spc="-30"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of</a:t>
            </a:r>
            <a:r>
              <a:rPr lang="en-US" sz="2400" b="1" spc="-20"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Thermometry</a:t>
            </a:r>
            <a:endParaRPr lang="en-IN" sz="5400" b="1" dirty="0"/>
          </a:p>
        </p:txBody>
      </p:sp>
      <p:sp>
        <p:nvSpPr>
          <p:cNvPr id="3" name="Content Placeholder 2">
            <a:extLst>
              <a:ext uri="{FF2B5EF4-FFF2-40B4-BE49-F238E27FC236}">
                <a16:creationId xmlns:a16="http://schemas.microsoft.com/office/drawing/2014/main" id="{9255E2BF-A059-727A-C386-C50BD71E8026}"/>
              </a:ext>
            </a:extLst>
          </p:cNvPr>
          <p:cNvSpPr>
            <a:spLocks noGrp="1"/>
          </p:cNvSpPr>
          <p:nvPr>
            <p:ph idx="1"/>
          </p:nvPr>
        </p:nvSpPr>
        <p:spPr>
          <a:xfrm>
            <a:off x="457200" y="908720"/>
            <a:ext cx="8229600" cy="5217443"/>
          </a:xfrm>
        </p:spPr>
        <p:txBody>
          <a:bodyPr>
            <a:normAutofit/>
          </a:bodyPr>
          <a:lstStyle/>
          <a:p>
            <a:pPr algn="just"/>
            <a:r>
              <a:rPr lang="en-US" sz="2400" dirty="0">
                <a:effectLst/>
                <a:latin typeface="Times New Roman" panose="02020603050405020304" pitchFamily="18" charset="0"/>
                <a:ea typeface="Times New Roman" panose="02020603050405020304" pitchFamily="18" charset="0"/>
              </a:rPr>
              <a:t>Thermometry is the science and practice of temperature measurement. Any measurable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change in a thermometric probe can</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be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used</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to</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mark</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temperature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levels,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that</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should</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later</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be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calibrated</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against</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an</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internationally</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agreed</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unit.</a:t>
            </a:r>
          </a:p>
          <a:p>
            <a:pPr algn="just"/>
            <a:endParaRPr lang="en-IN" sz="4000" dirty="0"/>
          </a:p>
        </p:txBody>
      </p:sp>
    </p:spTree>
    <p:extLst>
      <p:ext uri="{BB962C8B-B14F-4D97-AF65-F5344CB8AC3E}">
        <p14:creationId xmlns:p14="http://schemas.microsoft.com/office/powerpoint/2010/main" val="2627887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442E5-4F17-271F-9F14-564FEBCC1CC6}"/>
              </a:ext>
            </a:extLst>
          </p:cNvPr>
          <p:cNvSpPr>
            <a:spLocks noGrp="1"/>
          </p:cNvSpPr>
          <p:nvPr>
            <p:ph type="title"/>
          </p:nvPr>
        </p:nvSpPr>
        <p:spPr>
          <a:xfrm>
            <a:off x="457200" y="274638"/>
            <a:ext cx="8229600" cy="562074"/>
          </a:xfrm>
        </p:spPr>
        <p:txBody>
          <a:bodyPr>
            <a:normAutofit/>
          </a:bodyPr>
          <a:lstStyle/>
          <a:p>
            <a:pPr algn="l"/>
            <a:r>
              <a:rPr lang="en-US" sz="2400" b="1" dirty="0">
                <a:effectLst/>
                <a:latin typeface="Times New Roman" panose="02020603050405020304" pitchFamily="18" charset="0"/>
                <a:ea typeface="Times New Roman" panose="02020603050405020304" pitchFamily="18" charset="0"/>
              </a:rPr>
              <a:t>Liquid (in glass) thermometers</a:t>
            </a:r>
            <a:endParaRPr lang="en-IN" sz="5400" b="1" dirty="0"/>
          </a:p>
        </p:txBody>
      </p:sp>
      <p:sp>
        <p:nvSpPr>
          <p:cNvPr id="3" name="Content Placeholder 2">
            <a:extLst>
              <a:ext uri="{FF2B5EF4-FFF2-40B4-BE49-F238E27FC236}">
                <a16:creationId xmlns:a16="http://schemas.microsoft.com/office/drawing/2014/main" id="{544848F1-4CCF-81FA-4882-67A73D2B8568}"/>
              </a:ext>
            </a:extLst>
          </p:cNvPr>
          <p:cNvSpPr>
            <a:spLocks noGrp="1"/>
          </p:cNvSpPr>
          <p:nvPr>
            <p:ph idx="1"/>
          </p:nvPr>
        </p:nvSpPr>
        <p:spPr>
          <a:xfrm>
            <a:off x="457200" y="980728"/>
            <a:ext cx="8229600" cy="5145435"/>
          </a:xfrm>
        </p:spPr>
        <p:txBody>
          <a:bodyPr>
            <a:normAutofit fontScale="92500"/>
          </a:bodyPr>
          <a:lstStyle/>
          <a:p>
            <a:pPr algn="just"/>
            <a:r>
              <a:rPr lang="en-US" sz="2400" spc="-25" dirty="0">
                <a:effectLst/>
                <a:latin typeface="Times New Roman" panose="02020603050405020304" pitchFamily="18" charset="0"/>
                <a:ea typeface="Times New Roman" panose="02020603050405020304" pitchFamily="18" charset="0"/>
              </a:rPr>
              <a:t>A</a:t>
            </a:r>
            <a:r>
              <a:rPr lang="en-US" sz="2400" spc="-45" dirty="0">
                <a:effectLst/>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liquid-in-glass</a:t>
            </a:r>
            <a:r>
              <a:rPr lang="en-US" sz="2400" spc="-40" dirty="0">
                <a:effectLst/>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thermometer</a:t>
            </a:r>
            <a:r>
              <a:rPr lang="en-US" sz="2400" spc="-40" dirty="0">
                <a:effectLst/>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measures</a:t>
            </a:r>
            <a:r>
              <a:rPr lang="en-US" sz="2400" spc="-40" dirty="0">
                <a:effectLst/>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temperature</a:t>
            </a:r>
            <a:r>
              <a:rPr lang="en-US" sz="2400" spc="-45" dirty="0">
                <a:effectLst/>
                <a:latin typeface="Times New Roman" panose="02020603050405020304" pitchFamily="18" charset="0"/>
                <a:ea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rPr>
              <a:t>based</a:t>
            </a:r>
            <a:r>
              <a:rPr lang="en-US" sz="2400" spc="-45" dirty="0">
                <a:effectLst/>
                <a:latin typeface="Times New Roman" panose="02020603050405020304" pitchFamily="18" charset="0"/>
                <a:ea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rPr>
              <a:t>on</a:t>
            </a:r>
            <a:r>
              <a:rPr lang="en-US" sz="2400" spc="-45" dirty="0">
                <a:effectLst/>
                <a:latin typeface="Times New Roman" panose="02020603050405020304" pitchFamily="18" charset="0"/>
                <a:ea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rPr>
              <a:t>the</a:t>
            </a:r>
            <a:r>
              <a:rPr lang="en-US" sz="2400" spc="-45" dirty="0">
                <a:effectLst/>
                <a:latin typeface="Times New Roman" panose="02020603050405020304" pitchFamily="18" charset="0"/>
                <a:ea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rPr>
              <a:t>thermal</a:t>
            </a:r>
            <a:r>
              <a:rPr lang="en-US" sz="2400" spc="-40" dirty="0">
                <a:effectLst/>
                <a:latin typeface="Times New Roman" panose="02020603050405020304" pitchFamily="18" charset="0"/>
                <a:ea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rPr>
              <a:t>expansion</a:t>
            </a:r>
            <a:r>
              <a:rPr lang="en-US" sz="2400" spc="-50" dirty="0">
                <a:effectLst/>
                <a:latin typeface="Times New Roman" panose="02020603050405020304" pitchFamily="18" charset="0"/>
                <a:ea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rPr>
              <a:t>of</a:t>
            </a:r>
            <a:r>
              <a:rPr lang="en-US" sz="2400" spc="-45" dirty="0">
                <a:effectLst/>
                <a:latin typeface="Times New Roman" panose="02020603050405020304" pitchFamily="18" charset="0"/>
                <a:ea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rPr>
              <a:t>mercury</a:t>
            </a:r>
            <a:r>
              <a:rPr lang="en-US" sz="2400" spc="-45" dirty="0">
                <a:effectLst/>
                <a:latin typeface="Times New Roman" panose="02020603050405020304" pitchFamily="18" charset="0"/>
                <a:ea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rPr>
              <a:t>or</a:t>
            </a:r>
            <a:r>
              <a:rPr lang="en-US" sz="2400" spc="-45" dirty="0">
                <a:effectLst/>
                <a:latin typeface="Times New Roman" panose="02020603050405020304" pitchFamily="18" charset="0"/>
                <a:ea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rPr>
              <a:t>spirit/</a:t>
            </a:r>
            <a:r>
              <a:rPr lang="en-US" sz="2400" spc="-265"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alcohol</a:t>
            </a:r>
            <a:r>
              <a:rPr lang="en-US" sz="2400" spc="-55"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in</a:t>
            </a:r>
            <a:r>
              <a:rPr lang="en-US" sz="2400" spc="-5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a</a:t>
            </a:r>
            <a:r>
              <a:rPr lang="en-US" sz="2400" spc="-5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glass</a:t>
            </a:r>
            <a:r>
              <a:rPr lang="en-US" sz="2400" spc="-55"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container.</a:t>
            </a:r>
          </a:p>
          <a:p>
            <a:pPr algn="just"/>
            <a:r>
              <a:rPr lang="en-US" sz="2400" spc="-10" dirty="0">
                <a:effectLst/>
                <a:latin typeface="Times New Roman" panose="02020603050405020304" pitchFamily="18" charset="0"/>
                <a:ea typeface="Times New Roman" panose="02020603050405020304" pitchFamily="18" charset="0"/>
              </a:rPr>
              <a:t>The</a:t>
            </a:r>
            <a:r>
              <a:rPr lang="en-US" sz="2400" spc="-55"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boiling</a:t>
            </a:r>
            <a:r>
              <a:rPr lang="en-US" sz="2400" spc="-55"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point</a:t>
            </a:r>
            <a:r>
              <a:rPr lang="en-US" sz="2400" spc="-55"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of</a:t>
            </a:r>
            <a:r>
              <a:rPr lang="en-US" sz="2400" spc="-50"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mercury</a:t>
            </a:r>
            <a:r>
              <a:rPr lang="en-US" sz="2400" spc="-50"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is</a:t>
            </a:r>
            <a:r>
              <a:rPr lang="en-US" sz="2400" spc="-55"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356.72</a:t>
            </a:r>
            <a:r>
              <a:rPr lang="en-US" sz="2400" spc="-60"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°C,</a:t>
            </a:r>
            <a:r>
              <a:rPr lang="en-US" sz="2400" spc="-50"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and</a:t>
            </a:r>
            <a:r>
              <a:rPr lang="en-US" sz="2400" spc="-50"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its</a:t>
            </a:r>
            <a:r>
              <a:rPr lang="en-US" sz="2400" spc="-50"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melting</a:t>
            </a:r>
            <a:r>
              <a:rPr lang="en-US" sz="2400" spc="-55"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point</a:t>
            </a:r>
            <a:r>
              <a:rPr lang="en-US" sz="2400" spc="-50"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is</a:t>
            </a:r>
            <a:r>
              <a:rPr lang="en-US" sz="2400" spc="-55"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-38.86</a:t>
            </a:r>
            <a:r>
              <a:rPr lang="en-US" sz="2400" spc="-50"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°C.</a:t>
            </a:r>
            <a:endParaRPr lang="en-US" sz="2400" spc="-15" dirty="0">
              <a:latin typeface="Times New Roman" panose="02020603050405020304" pitchFamily="18" charset="0"/>
              <a:ea typeface="Times New Roman" panose="02020603050405020304" pitchFamily="18" charset="0"/>
            </a:endParaRPr>
          </a:p>
          <a:p>
            <a:pPr algn="just"/>
            <a:r>
              <a:rPr lang="en-US" sz="2400" spc="-5" dirty="0">
                <a:effectLst/>
                <a:latin typeface="Times New Roman" panose="02020603050405020304" pitchFamily="18" charset="0"/>
                <a:ea typeface="Times New Roman" panose="02020603050405020304" pitchFamily="18" charset="0"/>
              </a:rPr>
              <a:t>The</a:t>
            </a:r>
            <a:r>
              <a:rPr lang="en-US" sz="2400" spc="-65" dirty="0">
                <a:effectLst/>
                <a:latin typeface="Times New Roman" panose="02020603050405020304" pitchFamily="18" charset="0"/>
                <a:ea typeface="Times New Roman" panose="02020603050405020304" pitchFamily="18" charset="0"/>
              </a:rPr>
              <a:t> </a:t>
            </a:r>
            <a:r>
              <a:rPr lang="en-US" sz="2400" spc="-5" dirty="0">
                <a:effectLst/>
                <a:latin typeface="Times New Roman" panose="02020603050405020304" pitchFamily="18" charset="0"/>
                <a:ea typeface="Times New Roman" panose="02020603050405020304" pitchFamily="18" charset="0"/>
              </a:rPr>
              <a:t>boiling</a:t>
            </a:r>
            <a:r>
              <a:rPr lang="en-US" sz="2400" spc="-60" dirty="0">
                <a:effectLst/>
                <a:latin typeface="Times New Roman" panose="02020603050405020304" pitchFamily="18" charset="0"/>
                <a:ea typeface="Times New Roman" panose="02020603050405020304" pitchFamily="18" charset="0"/>
              </a:rPr>
              <a:t> </a:t>
            </a:r>
            <a:r>
              <a:rPr lang="en-US" sz="2400" spc="-5" dirty="0">
                <a:effectLst/>
                <a:latin typeface="Times New Roman" panose="02020603050405020304" pitchFamily="18" charset="0"/>
                <a:ea typeface="Times New Roman" panose="02020603050405020304" pitchFamily="18" charset="0"/>
              </a:rPr>
              <a:t>point</a:t>
            </a:r>
            <a:r>
              <a:rPr lang="en-US" sz="2400" spc="-65" dirty="0">
                <a:effectLst/>
                <a:latin typeface="Times New Roman" panose="02020603050405020304" pitchFamily="18" charset="0"/>
                <a:ea typeface="Times New Roman" panose="02020603050405020304" pitchFamily="18" charset="0"/>
              </a:rPr>
              <a:t> </a:t>
            </a:r>
            <a:r>
              <a:rPr lang="en-US" sz="2400" spc="-5" dirty="0">
                <a:effectLst/>
                <a:latin typeface="Times New Roman" panose="02020603050405020304" pitchFamily="18" charset="0"/>
                <a:ea typeface="Times New Roman" panose="02020603050405020304" pitchFamily="18" charset="0"/>
              </a:rPr>
              <a:t>of</a:t>
            </a:r>
            <a:r>
              <a:rPr lang="en-US" sz="2400" spc="-60" dirty="0">
                <a:effectLst/>
                <a:latin typeface="Times New Roman" panose="02020603050405020304" pitchFamily="18" charset="0"/>
                <a:ea typeface="Times New Roman" panose="02020603050405020304" pitchFamily="18" charset="0"/>
              </a:rPr>
              <a:t> </a:t>
            </a:r>
            <a:r>
              <a:rPr lang="en-US" sz="2400" spc="-5" dirty="0">
                <a:effectLst/>
                <a:latin typeface="Times New Roman" panose="02020603050405020304" pitchFamily="18" charset="0"/>
                <a:ea typeface="Times New Roman" panose="02020603050405020304" pitchFamily="18" charset="0"/>
              </a:rPr>
              <a:t>methyl</a:t>
            </a:r>
            <a:r>
              <a:rPr lang="en-US" sz="2400" spc="-55" dirty="0">
                <a:effectLst/>
                <a:latin typeface="Times New Roman" panose="02020603050405020304" pitchFamily="18" charset="0"/>
                <a:ea typeface="Times New Roman" panose="02020603050405020304" pitchFamily="18" charset="0"/>
              </a:rPr>
              <a:t> </a:t>
            </a:r>
            <a:r>
              <a:rPr lang="en-US" sz="2400" spc="-5" dirty="0">
                <a:effectLst/>
                <a:latin typeface="Times New Roman" panose="02020603050405020304" pitchFamily="18" charset="0"/>
                <a:ea typeface="Times New Roman" panose="02020603050405020304" pitchFamily="18" charset="0"/>
              </a:rPr>
              <a:t>alcohol</a:t>
            </a:r>
            <a:r>
              <a:rPr lang="en-US" sz="2400" spc="-60" dirty="0">
                <a:effectLst/>
                <a:latin typeface="Times New Roman" panose="02020603050405020304" pitchFamily="18" charset="0"/>
                <a:ea typeface="Times New Roman" panose="02020603050405020304" pitchFamily="18" charset="0"/>
              </a:rPr>
              <a:t> </a:t>
            </a:r>
            <a:r>
              <a:rPr lang="en-US" sz="2400" spc="-5" dirty="0">
                <a:effectLst/>
                <a:latin typeface="Times New Roman" panose="02020603050405020304" pitchFamily="18" charset="0"/>
                <a:ea typeface="Times New Roman" panose="02020603050405020304" pitchFamily="18" charset="0"/>
              </a:rPr>
              <a:t>is</a:t>
            </a:r>
            <a:r>
              <a:rPr lang="en-US" sz="2400" spc="-65" dirty="0">
                <a:effectLst/>
                <a:latin typeface="Times New Roman" panose="02020603050405020304" pitchFamily="18" charset="0"/>
                <a:ea typeface="Times New Roman" panose="02020603050405020304" pitchFamily="18" charset="0"/>
              </a:rPr>
              <a:t> </a:t>
            </a:r>
            <a:r>
              <a:rPr lang="en-US" sz="2400" spc="-5" dirty="0">
                <a:effectLst/>
                <a:latin typeface="Times New Roman" panose="02020603050405020304" pitchFamily="18" charset="0"/>
                <a:ea typeface="Times New Roman" panose="02020603050405020304" pitchFamily="18" charset="0"/>
              </a:rPr>
              <a:t>64.65</a:t>
            </a:r>
            <a:r>
              <a:rPr lang="en-US" sz="2400" spc="-55" dirty="0">
                <a:effectLst/>
                <a:latin typeface="Times New Roman" panose="02020603050405020304" pitchFamily="18" charset="0"/>
                <a:ea typeface="Times New Roman" panose="02020603050405020304" pitchFamily="18" charset="0"/>
              </a:rPr>
              <a:t> </a:t>
            </a:r>
            <a:r>
              <a:rPr lang="en-US" sz="2400" spc="-5" dirty="0">
                <a:effectLst/>
                <a:latin typeface="Times New Roman" panose="02020603050405020304" pitchFamily="18" charset="0"/>
                <a:ea typeface="Times New Roman" panose="02020603050405020304" pitchFamily="18" charset="0"/>
              </a:rPr>
              <a:t>°C and</a:t>
            </a:r>
            <a:r>
              <a:rPr lang="en-US" sz="2400" spc="-6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its</a:t>
            </a:r>
            <a:r>
              <a:rPr lang="en-US" sz="2400" spc="-6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melting</a:t>
            </a:r>
            <a:r>
              <a:rPr lang="en-US" sz="2400" spc="-6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point</a:t>
            </a:r>
            <a:r>
              <a:rPr lang="en-US" sz="2400" spc="-5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is</a:t>
            </a:r>
            <a:r>
              <a:rPr lang="en-US" sz="2400" spc="-6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-97.78</a:t>
            </a:r>
            <a:r>
              <a:rPr lang="en-US" sz="2400" spc="-6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°C.</a:t>
            </a:r>
            <a:endParaRPr lang="en-US" sz="2400" spc="-15" dirty="0">
              <a:effectLst/>
              <a:latin typeface="Times New Roman" panose="02020603050405020304" pitchFamily="18" charset="0"/>
              <a:ea typeface="Times New Roman" panose="02020603050405020304" pitchFamily="18" charset="0"/>
            </a:endParaRPr>
          </a:p>
          <a:p>
            <a:pPr algn="just"/>
            <a:r>
              <a:rPr lang="en-US" sz="2400" dirty="0">
                <a:effectLst/>
                <a:latin typeface="Times New Roman" panose="02020603050405020304" pitchFamily="18" charset="0"/>
                <a:ea typeface="Times New Roman" panose="02020603050405020304" pitchFamily="18" charset="0"/>
              </a:rPr>
              <a:t>Mercury</a:t>
            </a:r>
            <a:r>
              <a:rPr lang="en-US" sz="2400" spc="-6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has </a:t>
            </a:r>
            <a:r>
              <a:rPr lang="en-US" sz="2400" spc="-265" dirty="0">
                <a:effectLst/>
                <a:latin typeface="Times New Roman" panose="02020603050405020304" pitchFamily="18" charset="0"/>
                <a:ea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rPr>
              <a:t>low</a:t>
            </a:r>
            <a:r>
              <a:rPr lang="en-US" sz="2400" spc="-50" dirty="0">
                <a:effectLst/>
                <a:latin typeface="Times New Roman" panose="02020603050405020304" pitchFamily="18" charset="0"/>
                <a:ea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rPr>
              <a:t>thermal</a:t>
            </a:r>
            <a:r>
              <a:rPr lang="en-US" sz="2400" spc="-40" dirty="0">
                <a:effectLst/>
                <a:latin typeface="Times New Roman" panose="02020603050405020304" pitchFamily="18" charset="0"/>
                <a:ea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rPr>
              <a:t>capacity,</a:t>
            </a:r>
            <a:r>
              <a:rPr lang="en-US" sz="2400" spc="-45" dirty="0">
                <a:effectLst/>
                <a:latin typeface="Times New Roman" panose="02020603050405020304" pitchFamily="18" charset="0"/>
                <a:ea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rPr>
              <a:t>high</a:t>
            </a:r>
            <a:r>
              <a:rPr lang="en-US" sz="2400" spc="-45" dirty="0">
                <a:effectLst/>
                <a:latin typeface="Times New Roman" panose="02020603050405020304" pitchFamily="18" charset="0"/>
                <a:ea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rPr>
              <a:t>heat</a:t>
            </a:r>
            <a:r>
              <a:rPr lang="en-US" sz="2400" spc="-45" dirty="0">
                <a:effectLst/>
                <a:latin typeface="Times New Roman" panose="02020603050405020304" pitchFamily="18" charset="0"/>
                <a:ea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rPr>
              <a:t>conductivity,</a:t>
            </a:r>
            <a:r>
              <a:rPr lang="en-US" sz="2400" spc="-45" dirty="0">
                <a:effectLst/>
                <a:latin typeface="Times New Roman" panose="02020603050405020304" pitchFamily="18" charset="0"/>
                <a:ea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rPr>
              <a:t>inertness</a:t>
            </a:r>
            <a:r>
              <a:rPr lang="en-US" sz="2400" spc="-45" dirty="0">
                <a:effectLst/>
                <a:latin typeface="Times New Roman" panose="02020603050405020304" pitchFamily="18" charset="0"/>
                <a:ea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rPr>
              <a:t>in</a:t>
            </a:r>
            <a:r>
              <a:rPr lang="en-US" sz="2400" spc="-40" dirty="0">
                <a:effectLst/>
                <a:latin typeface="Times New Roman" panose="02020603050405020304" pitchFamily="18" charset="0"/>
                <a:ea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rPr>
              <a:t>relation</a:t>
            </a:r>
            <a:r>
              <a:rPr lang="en-US" sz="2400" spc="-45" dirty="0">
                <a:effectLst/>
                <a:latin typeface="Times New Roman" panose="02020603050405020304" pitchFamily="18" charset="0"/>
                <a:ea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rPr>
              <a:t>to</a:t>
            </a:r>
            <a:r>
              <a:rPr lang="en-US" sz="2400" spc="-40" dirty="0">
                <a:effectLst/>
                <a:latin typeface="Times New Roman" panose="02020603050405020304" pitchFamily="18" charset="0"/>
                <a:ea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rPr>
              <a:t>a</a:t>
            </a:r>
            <a:r>
              <a:rPr lang="en-US" sz="2400" spc="-50" dirty="0">
                <a:effectLst/>
                <a:latin typeface="Times New Roman" panose="02020603050405020304" pitchFamily="18" charset="0"/>
                <a:ea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rPr>
              <a:t>glass</a:t>
            </a:r>
            <a:r>
              <a:rPr lang="en-US" sz="2400" spc="-40" dirty="0">
                <a:effectLst/>
                <a:latin typeface="Times New Roman" panose="02020603050405020304" pitchFamily="18" charset="0"/>
                <a:ea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rPr>
              <a:t>capillary</a:t>
            </a:r>
            <a:r>
              <a:rPr lang="en-US" sz="2400" spc="-45" dirty="0">
                <a:effectLst/>
                <a:latin typeface="Times New Roman" panose="02020603050405020304" pitchFamily="18" charset="0"/>
                <a:ea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rPr>
              <a:t>tube</a:t>
            </a:r>
            <a:r>
              <a:rPr lang="en-US" sz="2400" spc="-4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and</a:t>
            </a:r>
            <a:r>
              <a:rPr lang="en-US" sz="2400" spc="-4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a</a:t>
            </a:r>
            <a:r>
              <a:rPr lang="en-US" sz="2400" spc="-4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high</a:t>
            </a:r>
            <a:r>
              <a:rPr lang="en-US" sz="2400" spc="-5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boiling </a:t>
            </a:r>
            <a:r>
              <a:rPr lang="en-US" sz="2400" spc="-265"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point,</a:t>
            </a:r>
            <a:r>
              <a:rPr lang="en-US" sz="2400" spc="-55"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it</a:t>
            </a:r>
            <a:r>
              <a:rPr lang="en-US" sz="2400" spc="-55"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is</a:t>
            </a:r>
            <a:r>
              <a:rPr lang="en-US" sz="2400" spc="-55"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an</a:t>
            </a:r>
            <a:r>
              <a:rPr lang="en-US" sz="2400" spc="-55"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ideal</a:t>
            </a:r>
            <a:r>
              <a:rPr lang="en-US" sz="2400" spc="-50"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thermometric</a:t>
            </a:r>
            <a:r>
              <a:rPr lang="en-US" sz="2400" spc="-55"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liquid</a:t>
            </a:r>
            <a:r>
              <a:rPr lang="en-US" sz="2400" spc="-50"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except</a:t>
            </a:r>
            <a:r>
              <a:rPr lang="en-US" sz="2400" spc="-55"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for</a:t>
            </a:r>
            <a:r>
              <a:rPr lang="en-US" sz="2400" spc="-50"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its</a:t>
            </a:r>
            <a:r>
              <a:rPr lang="en-US" sz="2400" spc="-55"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relatively</a:t>
            </a:r>
            <a:r>
              <a:rPr lang="en-US" sz="2400" spc="-55" dirty="0">
                <a:effectLst/>
                <a:latin typeface="Times New Roman" panose="02020603050405020304" pitchFamily="18" charset="0"/>
                <a:ea typeface="Times New Roman" panose="02020603050405020304" pitchFamily="18" charset="0"/>
              </a:rPr>
              <a:t> </a:t>
            </a:r>
            <a:r>
              <a:rPr lang="en-US" sz="2400" spc="-5" dirty="0">
                <a:effectLst/>
                <a:latin typeface="Times New Roman" panose="02020603050405020304" pitchFamily="18" charset="0"/>
                <a:ea typeface="Times New Roman" panose="02020603050405020304" pitchFamily="18" charset="0"/>
              </a:rPr>
              <a:t>high</a:t>
            </a:r>
            <a:r>
              <a:rPr lang="en-US" sz="2400" spc="-50" dirty="0">
                <a:effectLst/>
                <a:latin typeface="Times New Roman" panose="02020603050405020304" pitchFamily="18" charset="0"/>
                <a:ea typeface="Times New Roman" panose="02020603050405020304" pitchFamily="18" charset="0"/>
              </a:rPr>
              <a:t> </a:t>
            </a:r>
            <a:r>
              <a:rPr lang="en-US" sz="2400" spc="-5" dirty="0">
                <a:effectLst/>
                <a:latin typeface="Times New Roman" panose="02020603050405020304" pitchFamily="18" charset="0"/>
                <a:ea typeface="Times New Roman" panose="02020603050405020304" pitchFamily="18" charset="0"/>
              </a:rPr>
              <a:t>melting</a:t>
            </a:r>
            <a:r>
              <a:rPr lang="en-US" sz="2400" spc="-55" dirty="0">
                <a:effectLst/>
                <a:latin typeface="Times New Roman" panose="02020603050405020304" pitchFamily="18" charset="0"/>
                <a:ea typeface="Times New Roman" panose="02020603050405020304" pitchFamily="18" charset="0"/>
              </a:rPr>
              <a:t> </a:t>
            </a:r>
            <a:r>
              <a:rPr lang="en-US" sz="2400" spc="-5" dirty="0">
                <a:effectLst/>
                <a:latin typeface="Times New Roman" panose="02020603050405020304" pitchFamily="18" charset="0"/>
                <a:ea typeface="Times New Roman" panose="02020603050405020304" pitchFamily="18" charset="0"/>
              </a:rPr>
              <a:t>point.</a:t>
            </a:r>
            <a:endParaRPr lang="en-US" sz="2400" spc="-15" dirty="0">
              <a:latin typeface="Times New Roman" panose="02020603050405020304" pitchFamily="18" charset="0"/>
              <a:ea typeface="Times New Roman" panose="02020603050405020304" pitchFamily="18" charset="0"/>
            </a:endParaRPr>
          </a:p>
          <a:p>
            <a:pPr algn="just"/>
            <a:r>
              <a:rPr lang="en-US" sz="2400" spc="-5" dirty="0">
                <a:effectLst/>
                <a:latin typeface="Times New Roman" panose="02020603050405020304" pitchFamily="18" charset="0"/>
                <a:ea typeface="Times New Roman" panose="02020603050405020304" pitchFamily="18" charset="0"/>
              </a:rPr>
              <a:t>Hence mercury</a:t>
            </a:r>
            <a:r>
              <a:rPr lang="en-US" sz="2400" spc="-265" dirty="0">
                <a:effectLst/>
                <a:latin typeface="Times New Roman" panose="02020603050405020304" pitchFamily="18" charset="0"/>
                <a:ea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rPr>
              <a:t>thermometers</a:t>
            </a:r>
            <a:r>
              <a:rPr lang="en-US" sz="2400" spc="-5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are</a:t>
            </a:r>
            <a:r>
              <a:rPr lang="en-US" sz="2400" spc="-5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used</a:t>
            </a:r>
            <a:r>
              <a:rPr lang="en-US" sz="2400" spc="-5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for</a:t>
            </a:r>
            <a:r>
              <a:rPr lang="en-US" sz="2400" spc="-5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ordinary</a:t>
            </a:r>
            <a:r>
              <a:rPr lang="en-US" sz="2400" spc="-45"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meteorological</a:t>
            </a:r>
            <a:r>
              <a:rPr lang="en-US" sz="2400" spc="-55"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observations,</a:t>
            </a:r>
            <a:r>
              <a:rPr lang="en-US" sz="2400" spc="-45"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and</a:t>
            </a:r>
            <a:r>
              <a:rPr lang="en-US" sz="2400" spc="-5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spirit</a:t>
            </a:r>
            <a:r>
              <a:rPr lang="en-US" sz="2400" spc="-5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thermometers</a:t>
            </a:r>
            <a:r>
              <a:rPr lang="en-US" sz="2400" spc="-5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are</a:t>
            </a:r>
            <a:r>
              <a:rPr lang="en-US" sz="2400" spc="-5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used</a:t>
            </a:r>
            <a:r>
              <a:rPr lang="en-US" sz="2400" spc="-5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for</a:t>
            </a:r>
            <a:r>
              <a:rPr lang="en-US" sz="2400" spc="-5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measurements  </a:t>
            </a:r>
            <a:r>
              <a:rPr lang="en-US" sz="2400" spc="-26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involving</a:t>
            </a:r>
            <a:r>
              <a:rPr lang="en-US" sz="2400" spc="-6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temperatures</a:t>
            </a:r>
            <a:r>
              <a:rPr lang="en-US" sz="2400" spc="-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below</a:t>
            </a:r>
            <a:r>
              <a:rPr lang="en-US" sz="2400" spc="-6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6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melting</a:t>
            </a:r>
            <a:r>
              <a:rPr lang="en-US" sz="2400" spc="-7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point</a:t>
            </a:r>
            <a:r>
              <a:rPr lang="en-US" sz="2400" spc="-6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of</a:t>
            </a:r>
            <a:r>
              <a:rPr lang="en-US" sz="2400" spc="-6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mercury.</a:t>
            </a:r>
          </a:p>
          <a:p>
            <a:pPr algn="just"/>
            <a:r>
              <a:rPr lang="en-US" sz="2400" dirty="0">
                <a:effectLst/>
                <a:latin typeface="Times New Roman" panose="02020603050405020304" pitchFamily="18" charset="0"/>
                <a:ea typeface="Times New Roman" panose="02020603050405020304" pitchFamily="18" charset="0"/>
              </a:rPr>
              <a:t>Thermometry</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sometimes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split</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in</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metrological</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studies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in</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two</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subfields: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contact</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thermometry</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and</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noncontact</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thermometry.</a:t>
            </a:r>
            <a:endParaRPr lang="en-IN" sz="2400" dirty="0">
              <a:effectLst/>
              <a:latin typeface="Times New Roman" panose="02020603050405020304" pitchFamily="18" charset="0"/>
              <a:ea typeface="Times New Roman" panose="02020603050405020304" pitchFamily="18" charset="0"/>
            </a:endParaRPr>
          </a:p>
          <a:p>
            <a:pPr algn="just"/>
            <a:endParaRPr lang="en-IN" sz="4000" dirty="0"/>
          </a:p>
        </p:txBody>
      </p:sp>
    </p:spTree>
    <p:extLst>
      <p:ext uri="{BB962C8B-B14F-4D97-AF65-F5344CB8AC3E}">
        <p14:creationId xmlns:p14="http://schemas.microsoft.com/office/powerpoint/2010/main" val="7372774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883EF1-5C4F-15FE-B445-D252E08A516B}"/>
              </a:ext>
            </a:extLst>
          </p:cNvPr>
          <p:cNvSpPr>
            <a:spLocks noGrp="1"/>
          </p:cNvSpPr>
          <p:nvPr>
            <p:ph idx="1"/>
          </p:nvPr>
        </p:nvSpPr>
        <p:spPr>
          <a:xfrm>
            <a:off x="457200" y="548680"/>
            <a:ext cx="8229600" cy="5577483"/>
          </a:xfrm>
        </p:spPr>
        <p:txBody>
          <a:bodyPr>
            <a:normAutofit/>
          </a:bodyPr>
          <a:lstStyle/>
          <a:p>
            <a:pPr algn="just"/>
            <a:r>
              <a:rPr lang="en-US" sz="2400" dirty="0">
                <a:effectLst/>
                <a:latin typeface="Times New Roman" panose="02020603050405020304" pitchFamily="18" charset="0"/>
                <a:ea typeface="Times New Roman" panose="02020603050405020304" pitchFamily="18" charset="0"/>
              </a:rPr>
              <a:t>The liquid-in-glass thermometer consists of a capillary glass tube with a bulb at one end filled with a</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thermometric liquid, vacuumed and sealed.</a:t>
            </a:r>
          </a:p>
          <a:p>
            <a:pPr algn="just"/>
            <a:r>
              <a:rPr lang="en-US" sz="2400" dirty="0">
                <a:effectLst/>
                <a:latin typeface="Times New Roman" panose="02020603050405020304" pitchFamily="18" charset="0"/>
                <a:ea typeface="Times New Roman" panose="02020603050405020304" pitchFamily="18" charset="0"/>
              </a:rPr>
              <a:t>By reading the position of the liquid level on a scale, a</a:t>
            </a:r>
            <a:r>
              <a:rPr lang="en-US" sz="2400" spc="5"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temperature</a:t>
            </a:r>
            <a:r>
              <a:rPr lang="en-US" sz="2400" spc="-55"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value</a:t>
            </a:r>
            <a:r>
              <a:rPr lang="en-US" sz="2400" spc="-55"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can</a:t>
            </a:r>
            <a:r>
              <a:rPr lang="en-US" sz="2400" spc="-5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be</a:t>
            </a:r>
            <a:r>
              <a:rPr lang="en-US" sz="2400" spc="-5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obtained.</a:t>
            </a:r>
            <a:endParaRPr lang="en-US" sz="2400" spc="-15" dirty="0">
              <a:latin typeface="Times New Roman" panose="02020603050405020304" pitchFamily="18" charset="0"/>
              <a:ea typeface="Times New Roman" panose="02020603050405020304" pitchFamily="18" charset="0"/>
            </a:endParaRPr>
          </a:p>
          <a:p>
            <a:pPr algn="just"/>
            <a:r>
              <a:rPr lang="en-US" sz="2400" spc="-15" dirty="0">
                <a:effectLst/>
                <a:latin typeface="Times New Roman" panose="02020603050405020304" pitchFamily="18" charset="0"/>
                <a:ea typeface="Times New Roman" panose="02020603050405020304" pitchFamily="18" charset="0"/>
              </a:rPr>
              <a:t>Designs</a:t>
            </a:r>
            <a:r>
              <a:rPr lang="en-US" sz="2400" spc="-45"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can</a:t>
            </a:r>
            <a:r>
              <a:rPr lang="en-US" sz="2400" spc="-5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be</a:t>
            </a:r>
            <a:r>
              <a:rPr lang="en-US" sz="2400" spc="-55"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classified</a:t>
            </a:r>
            <a:r>
              <a:rPr lang="en-US" sz="2400" spc="-5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as</a:t>
            </a:r>
            <a:r>
              <a:rPr lang="en-US" sz="2400" spc="-50"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either</a:t>
            </a:r>
            <a:r>
              <a:rPr lang="en-US" sz="2400" spc="-45" dirty="0">
                <a:effectLst/>
                <a:latin typeface="Times New Roman" panose="02020603050405020304" pitchFamily="18" charset="0"/>
                <a:ea typeface="Times New Roman" panose="02020603050405020304" pitchFamily="18" charset="0"/>
              </a:rPr>
              <a:t> </a:t>
            </a:r>
            <a:r>
              <a:rPr lang="en-US" sz="2400" spc="-15" dirty="0">
                <a:effectLst/>
                <a:latin typeface="Times New Roman" panose="02020603050405020304" pitchFamily="18" charset="0"/>
                <a:ea typeface="Times New Roman" panose="02020603050405020304" pitchFamily="18" charset="0"/>
              </a:rPr>
              <a:t>the</a:t>
            </a:r>
            <a:r>
              <a:rPr lang="en-US" sz="2400" spc="-55"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sheathed</a:t>
            </a:r>
            <a:r>
              <a:rPr lang="en-US" sz="2400" spc="-50"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type</a:t>
            </a:r>
            <a:r>
              <a:rPr lang="en-US" sz="2400" spc="-55"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or</a:t>
            </a:r>
            <a:r>
              <a:rPr lang="en-US" sz="2400" spc="-50"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the</a:t>
            </a:r>
            <a:r>
              <a:rPr lang="en-US" sz="2400" spc="-60" dirty="0">
                <a:effectLst/>
                <a:latin typeface="Times New Roman" panose="02020603050405020304" pitchFamily="18" charset="0"/>
                <a:ea typeface="Times New Roman" panose="02020603050405020304" pitchFamily="18" charset="0"/>
              </a:rPr>
              <a:t> </a:t>
            </a:r>
            <a:r>
              <a:rPr lang="en-US" sz="2400" spc="-10" dirty="0">
                <a:effectLst/>
                <a:latin typeface="Times New Roman" panose="02020603050405020304" pitchFamily="18" charset="0"/>
                <a:ea typeface="Times New Roman" panose="02020603050405020304" pitchFamily="18" charset="0"/>
              </a:rPr>
              <a:t>unsheathed</a:t>
            </a:r>
            <a:r>
              <a:rPr lang="en-US" sz="2400" spc="-26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type.</a:t>
            </a:r>
            <a:endParaRPr lang="en-US" sz="2400" spc="-15" dirty="0">
              <a:effectLst/>
              <a:latin typeface="Times New Roman" panose="02020603050405020304" pitchFamily="18" charset="0"/>
              <a:ea typeface="Times New Roman" panose="02020603050405020304" pitchFamily="18" charset="0"/>
            </a:endParaRPr>
          </a:p>
          <a:p>
            <a:pPr algn="just"/>
            <a:r>
              <a:rPr lang="en-US" sz="2400" dirty="0">
                <a:effectLst/>
                <a:latin typeface="Times New Roman" panose="02020603050405020304" pitchFamily="18" charset="0"/>
                <a:ea typeface="Times New Roman" panose="02020603050405020304" pitchFamily="18" charset="0"/>
              </a:rPr>
              <a:t>A sheathed thermometer consists of a bulb, a slender capillary glass tube connected to it, a</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milky-white scale plate attached to the capillary tube, and an outer glass tube that encloses them.</a:t>
            </a:r>
            <a:endParaRPr lang="en-US" sz="2400" spc="-15" dirty="0">
              <a:latin typeface="Times New Roman" panose="02020603050405020304" pitchFamily="18" charset="0"/>
              <a:ea typeface="Times New Roman" panose="02020603050405020304" pitchFamily="18" charset="0"/>
            </a:endParaRPr>
          </a:p>
          <a:p>
            <a:pPr algn="just"/>
            <a:r>
              <a:rPr lang="en-US" sz="2400" dirty="0">
                <a:effectLst/>
                <a:latin typeface="Times New Roman" panose="02020603050405020304" pitchFamily="18" charset="0"/>
                <a:ea typeface="Times New Roman" panose="02020603050405020304" pitchFamily="18" charset="0"/>
              </a:rPr>
              <a:t>An</a:t>
            </a:r>
            <a:r>
              <a:rPr lang="en-US" sz="2400" spc="5" dirty="0">
                <a:effectLst/>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unsheathed</a:t>
            </a:r>
            <a:r>
              <a:rPr lang="en-US" sz="2400" spc="-50" dirty="0">
                <a:effectLst/>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thermometer</a:t>
            </a:r>
            <a:r>
              <a:rPr lang="en-US" sz="2400" spc="-50" dirty="0">
                <a:effectLst/>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consists</a:t>
            </a:r>
            <a:r>
              <a:rPr lang="en-US" sz="2400" spc="-55" dirty="0">
                <a:effectLst/>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of</a:t>
            </a:r>
            <a:r>
              <a:rPr lang="en-US" sz="2400" spc="-50" dirty="0">
                <a:effectLst/>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a</a:t>
            </a:r>
            <a:r>
              <a:rPr lang="en-US" sz="2400" spc="-50" dirty="0">
                <a:effectLst/>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thick-walled</a:t>
            </a:r>
            <a:r>
              <a:rPr lang="en-US" sz="2400" spc="-50" dirty="0">
                <a:effectLst/>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capillary</a:t>
            </a:r>
            <a:r>
              <a:rPr lang="en-US" sz="2400" spc="-55" dirty="0">
                <a:effectLst/>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glass</a:t>
            </a:r>
            <a:r>
              <a:rPr lang="en-US" sz="2400" spc="-55" dirty="0">
                <a:effectLst/>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tube</a:t>
            </a:r>
            <a:r>
              <a:rPr lang="en-US" sz="2400" spc="-55" dirty="0">
                <a:effectLst/>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with</a:t>
            </a:r>
            <a:r>
              <a:rPr lang="en-US" sz="2400" spc="-45" dirty="0">
                <a:effectLst/>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a</a:t>
            </a:r>
            <a:r>
              <a:rPr lang="en-US" sz="2400" spc="-55" dirty="0">
                <a:effectLst/>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scale</a:t>
            </a:r>
            <a:r>
              <a:rPr lang="en-US" sz="2400" spc="-60" dirty="0">
                <a:effectLst/>
                <a:latin typeface="Times New Roman" panose="02020603050405020304" pitchFamily="18" charset="0"/>
                <a:ea typeface="Times New Roman" panose="02020603050405020304" pitchFamily="18" charset="0"/>
              </a:rPr>
              <a:t> </a:t>
            </a:r>
            <a:r>
              <a:rPr lang="en-US" sz="2400" spc="-25" dirty="0">
                <a:effectLst/>
                <a:latin typeface="Times New Roman" panose="02020603050405020304" pitchFamily="18" charset="0"/>
                <a:ea typeface="Times New Roman" panose="02020603050405020304" pitchFamily="18" charset="0"/>
              </a:rPr>
              <a:t>marked</a:t>
            </a:r>
            <a:r>
              <a:rPr lang="en-US" sz="2400" spc="-50" dirty="0">
                <a:effectLst/>
                <a:latin typeface="Times New Roman" panose="02020603050405020304" pitchFamily="18" charset="0"/>
                <a:ea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rPr>
              <a:t>directly</a:t>
            </a:r>
            <a:r>
              <a:rPr lang="en-US" sz="2400" spc="-45" dirty="0">
                <a:effectLst/>
                <a:latin typeface="Times New Roman" panose="02020603050405020304" pitchFamily="18" charset="0"/>
                <a:ea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rPr>
              <a:t>on</a:t>
            </a:r>
            <a:r>
              <a:rPr lang="en-US" sz="2400" spc="-50" dirty="0">
                <a:effectLst/>
                <a:latin typeface="Times New Roman" panose="02020603050405020304" pitchFamily="18" charset="0"/>
                <a:ea typeface="Times New Roman" panose="02020603050405020304" pitchFamily="18" charset="0"/>
              </a:rPr>
              <a:t> </a:t>
            </a:r>
            <a:r>
              <a:rPr lang="en-US" sz="2400" spc="-20" dirty="0">
                <a:effectLst/>
                <a:latin typeface="Times New Roman" panose="02020603050405020304" pitchFamily="18" charset="0"/>
                <a:ea typeface="Times New Roman" panose="02020603050405020304" pitchFamily="18" charset="0"/>
              </a:rPr>
              <a:t>it.</a:t>
            </a:r>
            <a:endParaRPr lang="en-IN" sz="2400" dirty="0">
              <a:effectLst/>
              <a:latin typeface="Times New Roman" panose="02020603050405020304" pitchFamily="18" charset="0"/>
              <a:ea typeface="Times New Roman" panose="02020603050405020304" pitchFamily="18" charset="0"/>
            </a:endParaRPr>
          </a:p>
          <a:p>
            <a:endParaRPr lang="en-IN" sz="4000" dirty="0"/>
          </a:p>
        </p:txBody>
      </p:sp>
    </p:spTree>
    <p:extLst>
      <p:ext uri="{BB962C8B-B14F-4D97-AF65-F5344CB8AC3E}">
        <p14:creationId xmlns:p14="http://schemas.microsoft.com/office/powerpoint/2010/main" val="3492260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65292-C628-598E-12D1-0BD6A5B417FE}"/>
              </a:ext>
            </a:extLst>
          </p:cNvPr>
          <p:cNvSpPr>
            <a:spLocks noGrp="1"/>
          </p:cNvSpPr>
          <p:nvPr>
            <p:ph type="title"/>
          </p:nvPr>
        </p:nvSpPr>
        <p:spPr/>
        <p:txBody>
          <a:bodyPr>
            <a:normAutofit fontScale="90000"/>
          </a:bodyPr>
          <a:lstStyle/>
          <a:p>
            <a:pPr algn="l"/>
            <a:r>
              <a:rPr lang="en-GB" sz="2400" b="1" dirty="0">
                <a:effectLst/>
                <a:latin typeface="Times New Roman" panose="02020603050405020304" pitchFamily="18" charset="0"/>
                <a:ea typeface="Times New Roman" panose="02020603050405020304" pitchFamily="18" charset="0"/>
              </a:rPr>
              <a:t>Constant Volume Gas Thermometers</a:t>
            </a:r>
            <a:br>
              <a:rPr lang="en-IN" sz="2400" dirty="0">
                <a:effectLst/>
                <a:latin typeface="Times New Roman" panose="02020603050405020304" pitchFamily="18" charset="0"/>
                <a:ea typeface="Times New Roman" panose="02020603050405020304" pitchFamily="18" charset="0"/>
              </a:rPr>
            </a:br>
            <a:endParaRPr lang="en-IN" sz="5400" dirty="0"/>
          </a:p>
        </p:txBody>
      </p:sp>
      <p:pic>
        <p:nvPicPr>
          <p:cNvPr id="5" name="Content Placeholder 4">
            <a:extLst>
              <a:ext uri="{FF2B5EF4-FFF2-40B4-BE49-F238E27FC236}">
                <a16:creationId xmlns:a16="http://schemas.microsoft.com/office/drawing/2014/main" id="{3C681E76-4995-83F8-4205-03697086A4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1560" y="1635975"/>
            <a:ext cx="7920879" cy="4454411"/>
          </a:xfrm>
        </p:spPr>
      </p:pic>
    </p:spTree>
    <p:extLst>
      <p:ext uri="{BB962C8B-B14F-4D97-AF65-F5344CB8AC3E}">
        <p14:creationId xmlns:p14="http://schemas.microsoft.com/office/powerpoint/2010/main" val="34455305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F0B31A-857F-6FAE-0E9B-3F7E1B24AB71}"/>
              </a:ext>
            </a:extLst>
          </p:cNvPr>
          <p:cNvSpPr>
            <a:spLocks noGrp="1"/>
          </p:cNvSpPr>
          <p:nvPr>
            <p:ph idx="1"/>
          </p:nvPr>
        </p:nvSpPr>
        <p:spPr>
          <a:xfrm>
            <a:off x="323528" y="260648"/>
            <a:ext cx="8363272" cy="5865515"/>
          </a:xfrm>
        </p:spPr>
        <p:txBody>
          <a:bodyPr/>
          <a:lstStyle/>
          <a:p>
            <a:pPr marL="0" indent="0">
              <a:buNone/>
            </a:pPr>
            <a:endParaRPr lang="en-IN" dirty="0"/>
          </a:p>
        </p:txBody>
      </p:sp>
      <p:pic>
        <p:nvPicPr>
          <p:cNvPr id="5" name="Picture 4">
            <a:extLst>
              <a:ext uri="{FF2B5EF4-FFF2-40B4-BE49-F238E27FC236}">
                <a16:creationId xmlns:a16="http://schemas.microsoft.com/office/drawing/2014/main" id="{321CF05F-6C85-CD74-488B-3BD68E863888}"/>
              </a:ext>
            </a:extLst>
          </p:cNvPr>
          <p:cNvPicPr>
            <a:picLocks noChangeAspect="1"/>
          </p:cNvPicPr>
          <p:nvPr/>
        </p:nvPicPr>
        <p:blipFill>
          <a:blip r:embed="rId2"/>
          <a:stretch>
            <a:fillRect/>
          </a:stretch>
        </p:blipFill>
        <p:spPr>
          <a:xfrm>
            <a:off x="18414" y="1376076"/>
            <a:ext cx="9107171" cy="4105848"/>
          </a:xfrm>
          <a:prstGeom prst="rect">
            <a:avLst/>
          </a:prstGeom>
        </p:spPr>
      </p:pic>
    </p:spTree>
    <p:extLst>
      <p:ext uri="{BB962C8B-B14F-4D97-AF65-F5344CB8AC3E}">
        <p14:creationId xmlns:p14="http://schemas.microsoft.com/office/powerpoint/2010/main" val="1545043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22F47-24F6-80AE-69D0-9A551D6A67B3}"/>
              </a:ext>
            </a:extLst>
          </p:cNvPr>
          <p:cNvSpPr>
            <a:spLocks noGrp="1"/>
          </p:cNvSpPr>
          <p:nvPr>
            <p:ph type="title"/>
          </p:nvPr>
        </p:nvSpPr>
        <p:spPr>
          <a:xfrm>
            <a:off x="457200" y="-90264"/>
            <a:ext cx="8229600" cy="1143000"/>
          </a:xfrm>
        </p:spPr>
        <p:txBody>
          <a:bodyPr>
            <a:normAutofit/>
          </a:bodyPr>
          <a:lstStyle/>
          <a:p>
            <a:r>
              <a:rPr lang="en-US" sz="2000" b="1" spc="-30" dirty="0">
                <a:effectLst/>
                <a:latin typeface="Times New Roman" panose="02020603050405020304" pitchFamily="18" charset="0"/>
                <a:ea typeface="Times New Roman" panose="02020603050405020304" pitchFamily="18" charset="0"/>
              </a:rPr>
              <a:t>Six’s Maximum</a:t>
            </a:r>
            <a:r>
              <a:rPr lang="en-US" sz="2000" b="1" spc="-60" dirty="0">
                <a:effectLst/>
                <a:latin typeface="Times New Roman" panose="02020603050405020304" pitchFamily="18" charset="0"/>
                <a:ea typeface="Times New Roman" panose="02020603050405020304" pitchFamily="18" charset="0"/>
              </a:rPr>
              <a:t> and Minimum </a:t>
            </a:r>
            <a:r>
              <a:rPr lang="en-US" sz="2000" b="1" spc="-30" dirty="0">
                <a:effectLst/>
                <a:latin typeface="Times New Roman" panose="02020603050405020304" pitchFamily="18" charset="0"/>
                <a:ea typeface="Times New Roman" panose="02020603050405020304" pitchFamily="18" charset="0"/>
              </a:rPr>
              <a:t>thermometer (invented by James Six in 1782)</a:t>
            </a:r>
            <a:endParaRPr lang="en-IN" sz="4800" dirty="0"/>
          </a:p>
        </p:txBody>
      </p:sp>
      <p:pic>
        <p:nvPicPr>
          <p:cNvPr id="4" name="Content Placeholder 3">
            <a:extLst>
              <a:ext uri="{FF2B5EF4-FFF2-40B4-BE49-F238E27FC236}">
                <a16:creationId xmlns:a16="http://schemas.microsoft.com/office/drawing/2014/main" id="{267D96D6-1FC3-CA47-ADD1-22BD5CC15F32}"/>
              </a:ext>
            </a:extLst>
          </p:cNvPr>
          <p:cNvPicPr>
            <a:picLocks noGrp="1" noChangeAspect="1"/>
          </p:cNvPicPr>
          <p:nvPr>
            <p:ph idx="1"/>
          </p:nvPr>
        </p:nvPicPr>
        <p:blipFill>
          <a:blip r:embed="rId2"/>
          <a:stretch>
            <a:fillRect/>
          </a:stretch>
        </p:blipFill>
        <p:spPr>
          <a:xfrm>
            <a:off x="2987824" y="804642"/>
            <a:ext cx="3456384" cy="5576686"/>
          </a:xfrm>
          <a:prstGeom prst="rect">
            <a:avLst/>
          </a:prstGeom>
        </p:spPr>
      </p:pic>
    </p:spTree>
    <p:extLst>
      <p:ext uri="{BB962C8B-B14F-4D97-AF65-F5344CB8AC3E}">
        <p14:creationId xmlns:p14="http://schemas.microsoft.com/office/powerpoint/2010/main" val="26491829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1E8F1-B110-04D5-E61E-8741A9739BE3}"/>
              </a:ext>
            </a:extLst>
          </p:cNvPr>
          <p:cNvSpPr>
            <a:spLocks noGrp="1"/>
          </p:cNvSpPr>
          <p:nvPr>
            <p:ph type="title"/>
          </p:nvPr>
        </p:nvSpPr>
        <p:spPr>
          <a:xfrm>
            <a:off x="457200" y="274638"/>
            <a:ext cx="8229600" cy="457199"/>
          </a:xfrm>
        </p:spPr>
        <p:txBody>
          <a:bodyPr>
            <a:normAutofit fontScale="90000"/>
          </a:bodyPr>
          <a:lstStyle/>
          <a:p>
            <a:pPr algn="l"/>
            <a:r>
              <a:rPr lang="en-US" sz="2400" b="1" dirty="0">
                <a:effectLst/>
                <a:latin typeface="Times New Roman" panose="02020603050405020304" pitchFamily="18" charset="0"/>
                <a:ea typeface="Times New Roman" panose="02020603050405020304" pitchFamily="18" charset="0"/>
              </a:rPr>
              <a:t>Scales</a:t>
            </a:r>
            <a:r>
              <a:rPr lang="en-US" sz="2400" b="1" spc="-10"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of</a:t>
            </a:r>
            <a:r>
              <a:rPr lang="en-US" sz="2400" b="1" spc="-15"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Temperature</a:t>
            </a:r>
            <a:endParaRPr lang="en-IN" sz="5400" b="1" dirty="0"/>
          </a:p>
        </p:txBody>
      </p:sp>
      <p:sp>
        <p:nvSpPr>
          <p:cNvPr id="3" name="Content Placeholder 2">
            <a:extLst>
              <a:ext uri="{FF2B5EF4-FFF2-40B4-BE49-F238E27FC236}">
                <a16:creationId xmlns:a16="http://schemas.microsoft.com/office/drawing/2014/main" id="{0E59FD0F-B3B5-9918-E6CC-A749613FBAA6}"/>
              </a:ext>
            </a:extLst>
          </p:cNvPr>
          <p:cNvSpPr>
            <a:spLocks noGrp="1"/>
          </p:cNvSpPr>
          <p:nvPr>
            <p:ph idx="1"/>
          </p:nvPr>
        </p:nvSpPr>
        <p:spPr>
          <a:xfrm>
            <a:off x="457200" y="980728"/>
            <a:ext cx="8229600" cy="5145435"/>
          </a:xfrm>
        </p:spPr>
        <p:txBody>
          <a:bodyPr>
            <a:normAutofit/>
          </a:bodyPr>
          <a:lstStyle/>
          <a:p>
            <a:pPr marL="0" indent="0">
              <a:buNone/>
            </a:pPr>
            <a:r>
              <a:rPr lang="en-US" sz="2400" dirty="0">
                <a:effectLst/>
                <a:latin typeface="Times New Roman" panose="02020603050405020304" pitchFamily="18" charset="0"/>
                <a:ea typeface="Times New Roman" panose="02020603050405020304" pitchFamily="18" charset="0"/>
              </a:rPr>
              <a:t>There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are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three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temperature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scales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in</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use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Fahrenheit,</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Celsius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and</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Kelvin.</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Fahrenheit</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temperature scale is a scale based on 32 for the freezing point of water and 212 for the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boiling</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point</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of</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water,</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interval</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between</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two being</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divided</a:t>
            </a:r>
            <a:r>
              <a:rPr lang="en-US" sz="2400" spc="2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into</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180 parts.</a:t>
            </a:r>
            <a:endParaRPr lang="en-IN" sz="2400" dirty="0">
              <a:effectLst/>
              <a:latin typeface="Times New Roman" panose="02020603050405020304" pitchFamily="18" charset="0"/>
              <a:ea typeface="Times New Roman" panose="02020603050405020304" pitchFamily="18" charset="0"/>
            </a:endParaRPr>
          </a:p>
          <a:p>
            <a:pPr marL="0" indent="0">
              <a:buNone/>
            </a:pPr>
            <a:endParaRPr lang="en-IN" sz="4000" dirty="0"/>
          </a:p>
          <a:p>
            <a:pPr marL="90170" indent="367030" algn="just">
              <a:lnSpc>
                <a:spcPct val="115000"/>
              </a:lnSpc>
              <a:spcBef>
                <a:spcPts val="10"/>
              </a:spcBef>
              <a:spcAft>
                <a:spcPts val="0"/>
              </a:spcAft>
            </a:pPr>
            <a:r>
              <a:rPr lang="en-US" sz="2400" dirty="0">
                <a:effectLst/>
                <a:latin typeface="Times New Roman" panose="02020603050405020304" pitchFamily="18" charset="0"/>
                <a:ea typeface="Times New Roman" panose="02020603050405020304" pitchFamily="18" charset="0"/>
              </a:rPr>
              <a:t>The conversion formula for a temperature that is expressed on the Celsius (C) scale to its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Fahrenheit (F)</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representation is:</a:t>
            </a:r>
            <a:r>
              <a:rPr lang="en-US" sz="2400" spc="5" dirty="0">
                <a:effectLst/>
                <a:latin typeface="Times New Roman" panose="02020603050405020304" pitchFamily="18" charset="0"/>
                <a:ea typeface="Times New Roman" panose="02020603050405020304" pitchFamily="18" charset="0"/>
              </a:rPr>
              <a:t> </a:t>
            </a:r>
            <a:endParaRPr lang="en-IN" sz="2400" dirty="0">
              <a:effectLst/>
              <a:latin typeface="Times New Roman" panose="02020603050405020304" pitchFamily="18" charset="0"/>
              <a:ea typeface="Times New Roman" panose="02020603050405020304" pitchFamily="18" charset="0"/>
            </a:endParaRPr>
          </a:p>
          <a:p>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F</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9/5 C</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32.</a:t>
            </a:r>
            <a:endParaRPr lang="en-IN" sz="4000" dirty="0"/>
          </a:p>
        </p:txBody>
      </p:sp>
    </p:spTree>
    <p:extLst>
      <p:ext uri="{BB962C8B-B14F-4D97-AF65-F5344CB8AC3E}">
        <p14:creationId xmlns:p14="http://schemas.microsoft.com/office/powerpoint/2010/main" val="38052041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E8623-9096-3B83-7A9C-ED6F9E9473A0}"/>
              </a:ext>
            </a:extLst>
          </p:cNvPr>
          <p:cNvSpPr>
            <a:spLocks noGrp="1"/>
          </p:cNvSpPr>
          <p:nvPr>
            <p:ph type="title"/>
          </p:nvPr>
        </p:nvSpPr>
        <p:spPr/>
        <p:txBody>
          <a:bodyPr>
            <a:normAutofit/>
          </a:bodyPr>
          <a:lstStyle/>
          <a:p>
            <a:pPr algn="l"/>
            <a:r>
              <a:rPr lang="en-US" sz="2400" b="1" dirty="0">
                <a:effectLst/>
                <a:latin typeface="Times New Roman" panose="02020603050405020304" pitchFamily="18" charset="0"/>
                <a:ea typeface="Times New Roman" panose="02020603050405020304" pitchFamily="18" charset="0"/>
              </a:rPr>
              <a:t>Joule’s</a:t>
            </a:r>
            <a:r>
              <a:rPr lang="en-US" sz="2400" b="1" spc="-20"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experiment</a:t>
            </a:r>
            <a:endParaRPr lang="en-IN" sz="5400" b="1" dirty="0"/>
          </a:p>
        </p:txBody>
      </p:sp>
      <p:pic>
        <p:nvPicPr>
          <p:cNvPr id="4" name="Content Placeholder 3">
            <a:extLst>
              <a:ext uri="{FF2B5EF4-FFF2-40B4-BE49-F238E27FC236}">
                <a16:creationId xmlns:a16="http://schemas.microsoft.com/office/drawing/2014/main" id="{2B7F3E5B-7C1B-6959-159C-107F60ED1E49}"/>
              </a:ext>
            </a:extLst>
          </p:cNvPr>
          <p:cNvPicPr>
            <a:picLocks noGrp="1" noChangeAspect="1"/>
          </p:cNvPicPr>
          <p:nvPr>
            <p:ph idx="1"/>
          </p:nvPr>
        </p:nvPicPr>
        <p:blipFill>
          <a:blip r:embed="rId2"/>
          <a:stretch>
            <a:fillRect/>
          </a:stretch>
        </p:blipFill>
        <p:spPr>
          <a:xfrm>
            <a:off x="2483768" y="2492896"/>
            <a:ext cx="3629804" cy="3333810"/>
          </a:xfrm>
          <a:prstGeom prst="rect">
            <a:avLst/>
          </a:prstGeom>
        </p:spPr>
      </p:pic>
      <p:sp>
        <p:nvSpPr>
          <p:cNvPr id="6" name="TextBox 5">
            <a:extLst>
              <a:ext uri="{FF2B5EF4-FFF2-40B4-BE49-F238E27FC236}">
                <a16:creationId xmlns:a16="http://schemas.microsoft.com/office/drawing/2014/main" id="{30122096-1E8A-5B01-7E10-AF833EF67422}"/>
              </a:ext>
            </a:extLst>
          </p:cNvPr>
          <p:cNvSpPr txBox="1"/>
          <p:nvPr/>
        </p:nvSpPr>
        <p:spPr>
          <a:xfrm>
            <a:off x="1259632" y="1770601"/>
            <a:ext cx="4572000" cy="369332"/>
          </a:xfrm>
          <a:prstGeom prst="rect">
            <a:avLst/>
          </a:prstGeom>
          <a:noFill/>
        </p:spPr>
        <p:txBody>
          <a:bodyPr wrap="square">
            <a:spAutoFit/>
          </a:bodyPr>
          <a:lstStyle/>
          <a:p>
            <a:r>
              <a:rPr lang="en-US" sz="1800" dirty="0" err="1">
                <a:effectLst/>
                <a:latin typeface="Times New Roman" panose="02020603050405020304" pitchFamily="18" charset="0"/>
                <a:ea typeface="Times New Roman" panose="02020603050405020304" pitchFamily="18" charset="0"/>
              </a:rPr>
              <a:t>Mgz</a:t>
            </a:r>
            <a:r>
              <a:rPr lang="en-US" sz="1800" dirty="0">
                <a:effectLst/>
                <a:latin typeface="Times New Roman" panose="02020603050405020304" pitchFamily="18" charset="0"/>
                <a:ea typeface="Times New Roman" panose="02020603050405020304" pitchFamily="18" charset="0"/>
              </a:rPr>
              <a:t> =  ΔQ</a:t>
            </a:r>
            <a:endParaRPr lang="en-IN" dirty="0"/>
          </a:p>
        </p:txBody>
      </p:sp>
    </p:spTree>
    <p:extLst>
      <p:ext uri="{BB962C8B-B14F-4D97-AF65-F5344CB8AC3E}">
        <p14:creationId xmlns:p14="http://schemas.microsoft.com/office/powerpoint/2010/main" val="20635823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AAF98-B479-BAFA-C56C-6EEC9CBBF445}"/>
              </a:ext>
            </a:extLst>
          </p:cNvPr>
          <p:cNvSpPr>
            <a:spLocks noGrp="1"/>
          </p:cNvSpPr>
          <p:nvPr>
            <p:ph type="title"/>
          </p:nvPr>
        </p:nvSpPr>
        <p:spPr/>
        <p:txBody>
          <a:bodyPr>
            <a:normAutofit/>
          </a:bodyPr>
          <a:lstStyle/>
          <a:p>
            <a:pPr algn="l"/>
            <a:r>
              <a:rPr lang="en-US" sz="2800" b="1" dirty="0">
                <a:effectLst/>
                <a:latin typeface="Times New Roman" panose="02020603050405020304" pitchFamily="18" charset="0"/>
                <a:ea typeface="Times New Roman" panose="02020603050405020304" pitchFamily="18" charset="0"/>
              </a:rPr>
              <a:t>Resistance thermometer</a:t>
            </a:r>
            <a:endParaRPr lang="en-IN" sz="6000" b="1" dirty="0"/>
          </a:p>
        </p:txBody>
      </p:sp>
      <p:pic>
        <p:nvPicPr>
          <p:cNvPr id="4" name="Content Placeholder 3">
            <a:extLst>
              <a:ext uri="{FF2B5EF4-FFF2-40B4-BE49-F238E27FC236}">
                <a16:creationId xmlns:a16="http://schemas.microsoft.com/office/drawing/2014/main" id="{AD5A4D65-9858-BF14-7D8E-D9BD9DB3AC54}"/>
              </a:ext>
            </a:extLst>
          </p:cNvPr>
          <p:cNvPicPr>
            <a:picLocks noGrp="1" noChangeAspect="1"/>
          </p:cNvPicPr>
          <p:nvPr>
            <p:ph idx="1"/>
          </p:nvPr>
        </p:nvPicPr>
        <p:blipFill>
          <a:blip r:embed="rId2"/>
          <a:stretch>
            <a:fillRect/>
          </a:stretch>
        </p:blipFill>
        <p:spPr>
          <a:xfrm>
            <a:off x="2339752" y="1916832"/>
            <a:ext cx="3223304" cy="2822479"/>
          </a:xfrm>
          <a:prstGeom prst="rect">
            <a:avLst/>
          </a:prstGeom>
        </p:spPr>
      </p:pic>
    </p:spTree>
    <p:extLst>
      <p:ext uri="{BB962C8B-B14F-4D97-AF65-F5344CB8AC3E}">
        <p14:creationId xmlns:p14="http://schemas.microsoft.com/office/powerpoint/2010/main" val="11882143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FC7B4-9F4D-291C-42AD-AF4655631D34}"/>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65716E0E-37FC-7BCD-82D9-E64A0A8739AC}"/>
              </a:ext>
            </a:extLst>
          </p:cNvPr>
          <p:cNvPicPr>
            <a:picLocks noGrp="1" noChangeAspect="1"/>
          </p:cNvPicPr>
          <p:nvPr>
            <p:ph idx="1"/>
          </p:nvPr>
        </p:nvPicPr>
        <p:blipFill>
          <a:blip r:embed="rId2"/>
          <a:stretch>
            <a:fillRect/>
          </a:stretch>
        </p:blipFill>
        <p:spPr>
          <a:xfrm>
            <a:off x="441249" y="2708920"/>
            <a:ext cx="8042547" cy="1773003"/>
          </a:xfrm>
          <a:prstGeom prst="rect">
            <a:avLst/>
          </a:prstGeom>
        </p:spPr>
      </p:pic>
    </p:spTree>
    <p:extLst>
      <p:ext uri="{BB962C8B-B14F-4D97-AF65-F5344CB8AC3E}">
        <p14:creationId xmlns:p14="http://schemas.microsoft.com/office/powerpoint/2010/main" val="31086745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262D2-A9CD-122C-5483-E8540F184D5F}"/>
              </a:ext>
            </a:extLst>
          </p:cNvPr>
          <p:cNvSpPr>
            <a:spLocks noGrp="1"/>
          </p:cNvSpPr>
          <p:nvPr>
            <p:ph type="title"/>
          </p:nvPr>
        </p:nvSpPr>
        <p:spPr/>
        <p:txBody>
          <a:bodyPr>
            <a:normAutofit/>
          </a:bodyPr>
          <a:lstStyle/>
          <a:p>
            <a:pPr algn="l"/>
            <a:r>
              <a:rPr lang="en-IN" sz="3600" b="1" dirty="0">
                <a:latin typeface="Times New Roman" panose="02020603050405020304" pitchFamily="18" charset="0"/>
                <a:cs typeface="Times New Roman" panose="02020603050405020304" pitchFamily="18" charset="0"/>
              </a:rPr>
              <a:t>Internal Energy</a:t>
            </a:r>
          </a:p>
        </p:txBody>
      </p:sp>
      <p:sp>
        <p:nvSpPr>
          <p:cNvPr id="3" name="Content Placeholder 2">
            <a:extLst>
              <a:ext uri="{FF2B5EF4-FFF2-40B4-BE49-F238E27FC236}">
                <a16:creationId xmlns:a16="http://schemas.microsoft.com/office/drawing/2014/main" id="{4136BD05-D6E3-A9A8-DAE3-41E8846FA565}"/>
              </a:ext>
            </a:extLst>
          </p:cNvPr>
          <p:cNvSpPr>
            <a:spLocks noGrp="1"/>
          </p:cNvSpPr>
          <p:nvPr>
            <p:ph idx="1"/>
          </p:nvPr>
        </p:nvSpPr>
        <p:spPr/>
        <p:txBody>
          <a:bodyPr>
            <a:normAutofit/>
          </a:bodyPr>
          <a:lstStyle/>
          <a:p>
            <a:pPr algn="just"/>
            <a:r>
              <a:rPr lang="en-US" sz="2400" dirty="0">
                <a:effectLst/>
                <a:latin typeface="Times New Roman" panose="02020603050405020304" pitchFamily="18" charset="0"/>
                <a:ea typeface="Times New Roman" panose="02020603050405020304" pitchFamily="18" charset="0"/>
              </a:rPr>
              <a:t>Internal energy refers to the energy of the molecules of a substance which undergoes ceaseless motion and</a:t>
            </a:r>
            <a:r>
              <a:rPr lang="en-US" sz="2400" spc="5" dirty="0">
                <a:effectLst/>
                <a:latin typeface="Times New Roman" panose="02020603050405020304" pitchFamily="18" charset="0"/>
                <a:ea typeface="Times New Roman" panose="02020603050405020304" pitchFamily="18" charset="0"/>
              </a:rPr>
              <a:t> thereby has </a:t>
            </a:r>
            <a:r>
              <a:rPr lang="en-US" sz="2400" dirty="0">
                <a:effectLst/>
                <a:latin typeface="Times New Roman" panose="02020603050405020304" pitchFamily="18" charset="0"/>
                <a:ea typeface="Times New Roman" panose="02020603050405020304" pitchFamily="18" charset="0"/>
              </a:rPr>
              <a:t>kinetic</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energy.</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addition</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of</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heat</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to</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substance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increases</a:t>
            </a:r>
            <a:r>
              <a:rPr lang="en-US" sz="2400" spc="27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this</a:t>
            </a:r>
            <a:r>
              <a:rPr lang="en-US" sz="2400" spc="27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molecular</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activity, and thus causes an increase in its internal energy.</a:t>
            </a:r>
            <a:endParaRPr lang="en-IN" sz="4000" dirty="0"/>
          </a:p>
        </p:txBody>
      </p:sp>
    </p:spTree>
    <p:extLst>
      <p:ext uri="{BB962C8B-B14F-4D97-AF65-F5344CB8AC3E}">
        <p14:creationId xmlns:p14="http://schemas.microsoft.com/office/powerpoint/2010/main" val="16097146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055FD-4B37-1939-A1E0-9A2F48A46996}"/>
              </a:ext>
            </a:extLst>
          </p:cNvPr>
          <p:cNvSpPr>
            <a:spLocks noGrp="1"/>
          </p:cNvSpPr>
          <p:nvPr>
            <p:ph type="title"/>
          </p:nvPr>
        </p:nvSpPr>
        <p:spPr/>
        <p:txBody>
          <a:bodyPr>
            <a:normAutofit/>
          </a:bodyPr>
          <a:lstStyle/>
          <a:p>
            <a:pPr algn="l"/>
            <a:r>
              <a:rPr lang="en-US" sz="2800" b="1" dirty="0">
                <a:effectLst/>
                <a:latin typeface="Times New Roman" panose="02020603050405020304" pitchFamily="18" charset="0"/>
                <a:ea typeface="Times New Roman" panose="02020603050405020304" pitchFamily="18" charset="0"/>
              </a:rPr>
              <a:t>First</a:t>
            </a:r>
            <a:r>
              <a:rPr lang="en-US" sz="2800" b="1" spc="-25" dirty="0">
                <a:effectLst/>
                <a:latin typeface="Times New Roman" panose="02020603050405020304" pitchFamily="18" charset="0"/>
                <a:ea typeface="Times New Roman" panose="02020603050405020304" pitchFamily="18" charset="0"/>
              </a:rPr>
              <a:t> </a:t>
            </a:r>
            <a:r>
              <a:rPr lang="en-US" sz="2800" b="1" dirty="0">
                <a:effectLst/>
                <a:latin typeface="Times New Roman" panose="02020603050405020304" pitchFamily="18" charset="0"/>
                <a:ea typeface="Times New Roman" panose="02020603050405020304" pitchFamily="18" charset="0"/>
              </a:rPr>
              <a:t>Law</a:t>
            </a:r>
            <a:r>
              <a:rPr lang="en-US" sz="2800" b="1" spc="-10" dirty="0">
                <a:effectLst/>
                <a:latin typeface="Times New Roman" panose="02020603050405020304" pitchFamily="18" charset="0"/>
                <a:ea typeface="Times New Roman" panose="02020603050405020304" pitchFamily="18" charset="0"/>
              </a:rPr>
              <a:t> </a:t>
            </a:r>
            <a:r>
              <a:rPr lang="en-US" sz="2800" b="1" dirty="0">
                <a:effectLst/>
                <a:latin typeface="Times New Roman" panose="02020603050405020304" pitchFamily="18" charset="0"/>
                <a:ea typeface="Times New Roman" panose="02020603050405020304" pitchFamily="18" charset="0"/>
              </a:rPr>
              <a:t>of</a:t>
            </a:r>
            <a:r>
              <a:rPr lang="en-US" sz="2800" b="1" spc="-15" dirty="0">
                <a:effectLst/>
                <a:latin typeface="Times New Roman" panose="02020603050405020304" pitchFamily="18" charset="0"/>
                <a:ea typeface="Times New Roman" panose="02020603050405020304" pitchFamily="18" charset="0"/>
              </a:rPr>
              <a:t> </a:t>
            </a:r>
            <a:r>
              <a:rPr lang="en-US" sz="2800" b="1" dirty="0">
                <a:effectLst/>
                <a:latin typeface="Times New Roman" panose="02020603050405020304" pitchFamily="18" charset="0"/>
                <a:ea typeface="Times New Roman" panose="02020603050405020304" pitchFamily="18" charset="0"/>
              </a:rPr>
              <a:t>Thermodynamics</a:t>
            </a:r>
            <a:endParaRPr lang="en-IN" sz="6000" b="1" dirty="0"/>
          </a:p>
        </p:txBody>
      </p:sp>
      <p:sp>
        <p:nvSpPr>
          <p:cNvPr id="3" name="Content Placeholder 2">
            <a:extLst>
              <a:ext uri="{FF2B5EF4-FFF2-40B4-BE49-F238E27FC236}">
                <a16:creationId xmlns:a16="http://schemas.microsoft.com/office/drawing/2014/main" id="{5FF6A1B1-B4B8-9200-9BE0-EA001C6451D0}"/>
              </a:ext>
            </a:extLst>
          </p:cNvPr>
          <p:cNvSpPr>
            <a:spLocks noGrp="1"/>
          </p:cNvSpPr>
          <p:nvPr>
            <p:ph idx="1"/>
          </p:nvPr>
        </p:nvSpPr>
        <p:spPr/>
        <p:txBody>
          <a:bodyPr>
            <a:normAutofit/>
          </a:bodyPr>
          <a:lstStyle/>
          <a:p>
            <a:r>
              <a:rPr lang="en-US" sz="2400" dirty="0">
                <a:effectLst/>
                <a:latin typeface="Times New Roman" panose="02020603050405020304" pitchFamily="18" charset="0"/>
                <a:ea typeface="Times New Roman" panose="02020603050405020304" pitchFamily="18" charset="0"/>
              </a:rPr>
              <a:t>The First law of thermodynamics states that energy is neither created nor destroyed. Thus,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 total energy of the universe is a constant. </a:t>
            </a:r>
          </a:p>
          <a:p>
            <a:endParaRPr lang="en-US" sz="2400" dirty="0">
              <a:latin typeface="Times New Roman" panose="02020603050405020304" pitchFamily="18" charset="0"/>
            </a:endParaRPr>
          </a:p>
          <a:p>
            <a:endParaRPr lang="en-IN" sz="4000" dirty="0"/>
          </a:p>
        </p:txBody>
      </p:sp>
      <p:pic>
        <p:nvPicPr>
          <p:cNvPr id="5" name="Picture 4">
            <a:extLst>
              <a:ext uri="{FF2B5EF4-FFF2-40B4-BE49-F238E27FC236}">
                <a16:creationId xmlns:a16="http://schemas.microsoft.com/office/drawing/2014/main" id="{F936B369-3536-5F8F-8213-6809AD8FEBA2}"/>
              </a:ext>
            </a:extLst>
          </p:cNvPr>
          <p:cNvPicPr>
            <a:picLocks noChangeAspect="1"/>
          </p:cNvPicPr>
          <p:nvPr/>
        </p:nvPicPr>
        <p:blipFill>
          <a:blip r:embed="rId2"/>
          <a:stretch>
            <a:fillRect/>
          </a:stretch>
        </p:blipFill>
        <p:spPr>
          <a:xfrm>
            <a:off x="809615" y="3356992"/>
            <a:ext cx="7650817" cy="1368152"/>
          </a:xfrm>
          <a:prstGeom prst="rect">
            <a:avLst/>
          </a:prstGeom>
        </p:spPr>
      </p:pic>
    </p:spTree>
    <p:extLst>
      <p:ext uri="{BB962C8B-B14F-4D97-AF65-F5344CB8AC3E}">
        <p14:creationId xmlns:p14="http://schemas.microsoft.com/office/powerpoint/2010/main" val="23015776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9EDB0-67CE-7ADC-84EA-DEE46C2D708A}"/>
              </a:ext>
            </a:extLst>
          </p:cNvPr>
          <p:cNvSpPr>
            <a:spLocks noGrp="1"/>
          </p:cNvSpPr>
          <p:nvPr>
            <p:ph type="title"/>
          </p:nvPr>
        </p:nvSpPr>
        <p:spPr/>
        <p:txBody>
          <a:bodyPr>
            <a:normAutofit/>
          </a:bodyPr>
          <a:lstStyle/>
          <a:p>
            <a:pPr algn="l"/>
            <a:r>
              <a:rPr lang="en-US" sz="2400" b="1" dirty="0">
                <a:effectLst/>
                <a:latin typeface="Times New Roman" panose="02020603050405020304" pitchFamily="18" charset="0"/>
                <a:ea typeface="Times New Roman" panose="02020603050405020304" pitchFamily="18" charset="0"/>
              </a:rPr>
              <a:t>Corollary</a:t>
            </a:r>
            <a:r>
              <a:rPr lang="en-US" sz="2400" b="1" spc="-15"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1</a:t>
            </a:r>
            <a:endParaRPr lang="en-IN" sz="5400" b="1" dirty="0"/>
          </a:p>
        </p:txBody>
      </p:sp>
      <p:sp>
        <p:nvSpPr>
          <p:cNvPr id="3" name="Content Placeholder 2">
            <a:extLst>
              <a:ext uri="{FF2B5EF4-FFF2-40B4-BE49-F238E27FC236}">
                <a16:creationId xmlns:a16="http://schemas.microsoft.com/office/drawing/2014/main" id="{1881545D-594A-3724-E010-CE80516C7502}"/>
              </a:ext>
            </a:extLst>
          </p:cNvPr>
          <p:cNvSpPr>
            <a:spLocks noGrp="1"/>
          </p:cNvSpPr>
          <p:nvPr>
            <p:ph idx="1"/>
          </p:nvPr>
        </p:nvSpPr>
        <p:spPr/>
        <p:txBody>
          <a:bodyPr>
            <a:normAutofit/>
          </a:bodyPr>
          <a:lstStyle/>
          <a:p>
            <a:pPr marL="0" indent="0" algn="ctr">
              <a:lnSpc>
                <a:spcPct val="115000"/>
              </a:lnSpc>
              <a:buNone/>
            </a:pPr>
            <a:r>
              <a:rPr lang="en-US" sz="2000" dirty="0" err="1">
                <a:effectLst/>
                <a:latin typeface="Times New Roman" panose="02020603050405020304" pitchFamily="18" charset="0"/>
                <a:ea typeface="Times New Roman" panose="02020603050405020304" pitchFamily="18" charset="0"/>
              </a:rPr>
              <a:t>dU</a:t>
            </a:r>
            <a:r>
              <a:rPr lang="en-US" sz="2000" dirty="0">
                <a:effectLst/>
                <a:latin typeface="Times New Roman" panose="02020603050405020304" pitchFamily="18" charset="0"/>
                <a:ea typeface="Times New Roman" panose="02020603050405020304" pitchFamily="18" charset="0"/>
              </a:rPr>
              <a:t> =</a:t>
            </a:r>
            <a:r>
              <a:rPr lang="en-US" sz="2000" spc="-5"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dQ</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t>
            </a:r>
            <a:r>
              <a:rPr lang="en-US" sz="2000" spc="-5"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dW</a:t>
            </a:r>
            <a:endParaRPr lang="en-IN" sz="2000" dirty="0">
              <a:effectLst/>
              <a:latin typeface="Times New Roman" panose="02020603050405020304" pitchFamily="18" charset="0"/>
              <a:ea typeface="Times New Roman" panose="02020603050405020304" pitchFamily="18" charset="0"/>
            </a:endParaRPr>
          </a:p>
          <a:p>
            <a:pPr marL="0" indent="0" algn="just">
              <a:lnSpc>
                <a:spcPct val="115000"/>
              </a:lnSpc>
              <a:spcBef>
                <a:spcPts val="60"/>
              </a:spcBef>
              <a:spcAft>
                <a:spcPts val="0"/>
              </a:spcAft>
              <a:buNone/>
            </a:pPr>
            <a:endParaRPr lang="en-IN" sz="2000" dirty="0">
              <a:effectLst/>
              <a:latin typeface="Times New Roman" panose="02020603050405020304" pitchFamily="18" charset="0"/>
              <a:ea typeface="Times New Roman" panose="02020603050405020304" pitchFamily="18" charset="0"/>
            </a:endParaRPr>
          </a:p>
          <a:p>
            <a:pPr marL="0" indent="0" algn="just">
              <a:lnSpc>
                <a:spcPct val="115000"/>
              </a:lnSpc>
              <a:buNone/>
            </a:pPr>
            <a:r>
              <a:rPr lang="en-US" sz="2000" dirty="0">
                <a:effectLst/>
                <a:latin typeface="Times New Roman" panose="02020603050405020304" pitchFamily="18" charset="0"/>
                <a:ea typeface="Times New Roman" panose="02020603050405020304" pitchFamily="18" charset="0"/>
              </a:rPr>
              <a:t>Here U is property of system and is called as total energy that includes internal energy,</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kinetic</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energy,</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potential</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energy,</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electrical</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energy,</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magnetic energy,</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chemical</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energy,</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etc.</a:t>
            </a:r>
            <a:endParaRPr lang="en-IN" sz="2000" dirty="0">
              <a:effectLst/>
              <a:latin typeface="Times New Roman" panose="02020603050405020304" pitchFamily="18" charset="0"/>
              <a:ea typeface="Times New Roman" panose="02020603050405020304" pitchFamily="18" charset="0"/>
            </a:endParaRPr>
          </a:p>
          <a:p>
            <a:endParaRPr lang="en-IN" sz="3600" dirty="0"/>
          </a:p>
        </p:txBody>
      </p:sp>
    </p:spTree>
    <p:extLst>
      <p:ext uri="{BB962C8B-B14F-4D97-AF65-F5344CB8AC3E}">
        <p14:creationId xmlns:p14="http://schemas.microsoft.com/office/powerpoint/2010/main" val="12423999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6DC91-D6E4-B1B2-5CEA-994108300F9A}"/>
              </a:ext>
            </a:extLst>
          </p:cNvPr>
          <p:cNvSpPr>
            <a:spLocks noGrp="1"/>
          </p:cNvSpPr>
          <p:nvPr>
            <p:ph type="title"/>
          </p:nvPr>
        </p:nvSpPr>
        <p:spPr/>
        <p:txBody>
          <a:bodyPr>
            <a:normAutofit/>
          </a:bodyPr>
          <a:lstStyle/>
          <a:p>
            <a:pPr algn="l"/>
            <a:r>
              <a:rPr lang="en-US" sz="2400" b="1" dirty="0">
                <a:effectLst/>
                <a:latin typeface="Times New Roman" panose="02020603050405020304" pitchFamily="18" charset="0"/>
                <a:ea typeface="Times New Roman" panose="02020603050405020304" pitchFamily="18" charset="0"/>
              </a:rPr>
              <a:t>Corollary</a:t>
            </a:r>
            <a:r>
              <a:rPr lang="en-US" sz="2400" b="1" spc="-15"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2:</a:t>
            </a:r>
            <a:endParaRPr lang="en-IN" sz="5400" dirty="0"/>
          </a:p>
        </p:txBody>
      </p:sp>
      <p:sp>
        <p:nvSpPr>
          <p:cNvPr id="3" name="Content Placeholder 2">
            <a:extLst>
              <a:ext uri="{FF2B5EF4-FFF2-40B4-BE49-F238E27FC236}">
                <a16:creationId xmlns:a16="http://schemas.microsoft.com/office/drawing/2014/main" id="{4ADBD43C-6FF2-5955-64A3-E605DE7BC717}"/>
              </a:ext>
            </a:extLst>
          </p:cNvPr>
          <p:cNvSpPr>
            <a:spLocks noGrp="1"/>
          </p:cNvSpPr>
          <p:nvPr>
            <p:ph idx="1"/>
          </p:nvPr>
        </p:nvSpPr>
        <p:spPr/>
        <p:txBody>
          <a:bodyPr>
            <a:normAutofit/>
          </a:bodyPr>
          <a:lstStyle/>
          <a:p>
            <a:pPr marL="0" indent="0">
              <a:buNone/>
            </a:pPr>
            <a:r>
              <a:rPr lang="en-US" sz="2400" dirty="0">
                <a:effectLst/>
                <a:latin typeface="Times New Roman" panose="02020603050405020304" pitchFamily="18" charset="0"/>
                <a:ea typeface="Times New Roman" panose="02020603050405020304" pitchFamily="18" charset="0"/>
              </a:rPr>
              <a:t>For</a:t>
            </a:r>
            <a:r>
              <a:rPr lang="en-US" sz="2400" spc="6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6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isolated</a:t>
            </a:r>
            <a:r>
              <a:rPr lang="en-US" sz="2400" spc="6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system,</a:t>
            </a:r>
            <a:r>
              <a:rPr lang="en-US" sz="2400" spc="6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heat</a:t>
            </a:r>
            <a:r>
              <a:rPr lang="en-US" sz="2400" spc="6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and</a:t>
            </a:r>
            <a:r>
              <a:rPr lang="en-US" sz="2400" spc="6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work</a:t>
            </a:r>
            <a:r>
              <a:rPr lang="en-US" sz="2400" spc="5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both</a:t>
            </a:r>
            <a:r>
              <a:rPr lang="en-US" sz="2400" spc="6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interactions</a:t>
            </a:r>
            <a:r>
              <a:rPr lang="en-US" sz="2400" spc="6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are</a:t>
            </a:r>
            <a:r>
              <a:rPr lang="en-US" sz="2400" spc="6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absent</a:t>
            </a:r>
            <a:r>
              <a:rPr lang="en-US" sz="2400" spc="6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t>
            </a:r>
            <a:r>
              <a:rPr lang="en-US" sz="2400" dirty="0" err="1">
                <a:effectLst/>
                <a:latin typeface="Times New Roman" panose="02020603050405020304" pitchFamily="18" charset="0"/>
                <a:ea typeface="Times New Roman" panose="02020603050405020304" pitchFamily="18" charset="0"/>
              </a:rPr>
              <a:t>dQ</a:t>
            </a:r>
            <a:r>
              <a:rPr lang="en-US" sz="2400" spc="6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t>
            </a:r>
            <a:r>
              <a:rPr lang="en-US" sz="2400" spc="6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0,</a:t>
            </a:r>
            <a:r>
              <a:rPr lang="en-US" sz="2400" spc="60" dirty="0">
                <a:effectLst/>
                <a:latin typeface="Times New Roman" panose="02020603050405020304" pitchFamily="18" charset="0"/>
                <a:ea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rPr>
              <a:t>dW</a:t>
            </a:r>
            <a:r>
              <a:rPr lang="en-US" sz="2400" spc="6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t>
            </a:r>
            <a:r>
              <a:rPr lang="en-US" sz="2400" spc="6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0)</a:t>
            </a:r>
            <a:r>
              <a:rPr lang="en-US" sz="2400" spc="5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and </a:t>
            </a:r>
            <a:r>
              <a:rPr lang="en-US" sz="2400" spc="-26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U is a constant. Energy can neither be created nor be destroyed; but it can be converted from</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one</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form</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to</a:t>
            </a:r>
            <a:r>
              <a:rPr lang="en-US" sz="2400" spc="-3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other.</a:t>
            </a:r>
            <a:endParaRPr lang="en-IN" sz="2400" dirty="0">
              <a:effectLst/>
              <a:latin typeface="Times New Roman" panose="02020603050405020304" pitchFamily="18" charset="0"/>
              <a:ea typeface="Times New Roman" panose="02020603050405020304" pitchFamily="18" charset="0"/>
            </a:endParaRPr>
          </a:p>
          <a:p>
            <a:endParaRPr lang="en-IN" sz="4000" dirty="0"/>
          </a:p>
        </p:txBody>
      </p:sp>
    </p:spTree>
    <p:extLst>
      <p:ext uri="{BB962C8B-B14F-4D97-AF65-F5344CB8AC3E}">
        <p14:creationId xmlns:p14="http://schemas.microsoft.com/office/powerpoint/2010/main" val="21046906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C4E94-5FB9-F2BA-04E4-6EA7AA6D1C4F}"/>
              </a:ext>
            </a:extLst>
          </p:cNvPr>
          <p:cNvSpPr>
            <a:spLocks noGrp="1"/>
          </p:cNvSpPr>
          <p:nvPr>
            <p:ph type="title"/>
          </p:nvPr>
        </p:nvSpPr>
        <p:spPr/>
        <p:txBody>
          <a:bodyPr>
            <a:normAutofit/>
          </a:bodyPr>
          <a:lstStyle/>
          <a:p>
            <a:pPr algn="l"/>
            <a:r>
              <a:rPr lang="en-US" sz="3200" b="1" dirty="0">
                <a:effectLst/>
                <a:latin typeface="Times New Roman" panose="02020603050405020304" pitchFamily="18" charset="0"/>
                <a:ea typeface="Times New Roman" panose="02020603050405020304" pitchFamily="18" charset="0"/>
              </a:rPr>
              <a:t>Corollary</a:t>
            </a:r>
            <a:r>
              <a:rPr lang="en-US" sz="3200" b="1" spc="-15" dirty="0">
                <a:effectLst/>
                <a:latin typeface="Times New Roman" panose="02020603050405020304" pitchFamily="18" charset="0"/>
                <a:ea typeface="Times New Roman" panose="02020603050405020304" pitchFamily="18" charset="0"/>
              </a:rPr>
              <a:t> </a:t>
            </a:r>
            <a:r>
              <a:rPr lang="en-US" sz="3200" b="1" spc="-15" dirty="0">
                <a:latin typeface="Times New Roman" panose="02020603050405020304" pitchFamily="18" charset="0"/>
                <a:ea typeface="Times New Roman" panose="02020603050405020304" pitchFamily="18" charset="0"/>
              </a:rPr>
              <a:t>3</a:t>
            </a:r>
            <a:r>
              <a:rPr lang="en-US" sz="3200" b="1" dirty="0">
                <a:effectLst/>
                <a:latin typeface="Times New Roman" panose="02020603050405020304" pitchFamily="18" charset="0"/>
                <a:ea typeface="Times New Roman" panose="02020603050405020304" pitchFamily="18" charset="0"/>
              </a:rPr>
              <a:t>:</a:t>
            </a:r>
            <a:endParaRPr lang="en-IN" sz="3200" dirty="0"/>
          </a:p>
        </p:txBody>
      </p:sp>
      <p:sp>
        <p:nvSpPr>
          <p:cNvPr id="3" name="Content Placeholder 2">
            <a:extLst>
              <a:ext uri="{FF2B5EF4-FFF2-40B4-BE49-F238E27FC236}">
                <a16:creationId xmlns:a16="http://schemas.microsoft.com/office/drawing/2014/main" id="{9BAEA897-A426-9611-1FC0-4602BD0994D9}"/>
              </a:ext>
            </a:extLst>
          </p:cNvPr>
          <p:cNvSpPr>
            <a:spLocks noGrp="1"/>
          </p:cNvSpPr>
          <p:nvPr>
            <p:ph idx="1"/>
          </p:nvPr>
        </p:nvSpPr>
        <p:spPr/>
        <p:txBody>
          <a:bodyPr>
            <a:normAutofit/>
          </a:bodyPr>
          <a:lstStyle/>
          <a:p>
            <a:pPr marL="0" indent="0">
              <a:buNone/>
            </a:pPr>
            <a:r>
              <a:rPr lang="en-US" sz="2800" dirty="0">
                <a:effectLst/>
                <a:latin typeface="Times New Roman" panose="02020603050405020304" pitchFamily="18" charset="0"/>
                <a:ea typeface="Times New Roman" panose="02020603050405020304" pitchFamily="18" charset="0"/>
              </a:rPr>
              <a:t>A perpetual</a:t>
            </a:r>
            <a:r>
              <a:rPr lang="en-US" sz="2800" spc="-2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motion</a:t>
            </a:r>
            <a:r>
              <a:rPr lang="en-US" sz="2800" spc="-2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machine</a:t>
            </a:r>
            <a:r>
              <a:rPr lang="en-US" sz="2800" spc="-2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of</a:t>
            </a:r>
            <a:r>
              <a:rPr lang="en-US" sz="2800" spc="-15" dirty="0">
                <a:effectLst/>
                <a:latin typeface="Times New Roman" panose="02020603050405020304" pitchFamily="18" charset="0"/>
                <a:ea typeface="Times New Roman" panose="02020603050405020304" pitchFamily="18" charset="0"/>
              </a:rPr>
              <a:t> the </a:t>
            </a:r>
            <a:r>
              <a:rPr lang="en-US" sz="2800" dirty="0">
                <a:effectLst/>
                <a:latin typeface="Times New Roman" panose="02020603050405020304" pitchFamily="18" charset="0"/>
                <a:ea typeface="Times New Roman" panose="02020603050405020304" pitchFamily="18" charset="0"/>
              </a:rPr>
              <a:t>first</a:t>
            </a:r>
            <a:r>
              <a:rPr lang="en-US" sz="2800" spc="-1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kind (PMM1) is</a:t>
            </a:r>
            <a:r>
              <a:rPr lang="en-US" sz="2800" spc="-1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impossible as it violates the 1</a:t>
            </a:r>
            <a:r>
              <a:rPr lang="en-US" sz="2800" baseline="30000" dirty="0">
                <a:effectLst/>
                <a:latin typeface="Times New Roman" panose="02020603050405020304" pitchFamily="18" charset="0"/>
                <a:ea typeface="Times New Roman" panose="02020603050405020304" pitchFamily="18" charset="0"/>
              </a:rPr>
              <a:t>st</a:t>
            </a:r>
            <a:r>
              <a:rPr lang="en-US" sz="2800" dirty="0">
                <a:effectLst/>
                <a:latin typeface="Times New Roman" panose="02020603050405020304" pitchFamily="18" charset="0"/>
                <a:ea typeface="Times New Roman" panose="02020603050405020304" pitchFamily="18" charset="0"/>
              </a:rPr>
              <a:t> law of thermodynamics.</a:t>
            </a:r>
          </a:p>
          <a:p>
            <a:pPr marL="0" indent="0">
              <a:buNone/>
            </a:pPr>
            <a:endParaRPr lang="en-US" sz="2800" dirty="0">
              <a:latin typeface="Times New Roman" panose="02020603050405020304" pitchFamily="18" charset="0"/>
            </a:endParaRPr>
          </a:p>
          <a:p>
            <a:pPr marL="0" indent="0">
              <a:buNone/>
            </a:pPr>
            <a:r>
              <a:rPr lang="en-US" sz="2000" dirty="0">
                <a:effectLst/>
                <a:latin typeface="Times New Roman" panose="02020603050405020304" pitchFamily="18" charset="0"/>
                <a:ea typeface="Times New Roman" panose="02020603050405020304" pitchFamily="18" charset="0"/>
              </a:rPr>
              <a:t>e.g.:</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An</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electric</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heater</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that</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consumes</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1KW</a:t>
            </a:r>
            <a:r>
              <a:rPr lang="en-US" sz="2000" spc="-2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of</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electricity</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cannot</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produce</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more</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than</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1KW</a:t>
            </a:r>
            <a:r>
              <a:rPr lang="en-US" sz="2000" spc="-2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heat.</a:t>
            </a:r>
            <a:endParaRPr lang="en-IN" sz="2000" dirty="0">
              <a:effectLst/>
              <a:latin typeface="Times New Roman" panose="02020603050405020304" pitchFamily="18" charset="0"/>
              <a:ea typeface="Times New Roman" panose="02020603050405020304" pitchFamily="18" charset="0"/>
            </a:endParaRPr>
          </a:p>
          <a:p>
            <a:pPr marL="0" indent="0">
              <a:buNone/>
            </a:pPr>
            <a:endParaRPr lang="en-IN" sz="4400" dirty="0"/>
          </a:p>
        </p:txBody>
      </p:sp>
    </p:spTree>
    <p:extLst>
      <p:ext uri="{BB962C8B-B14F-4D97-AF65-F5344CB8AC3E}">
        <p14:creationId xmlns:p14="http://schemas.microsoft.com/office/powerpoint/2010/main" val="12504312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3528" y="0"/>
            <a:ext cx="8060432" cy="720080"/>
          </a:xfrm>
        </p:spPr>
        <p:txBody>
          <a:bodyPr>
            <a:normAutofit/>
          </a:bodyPr>
          <a:lstStyle/>
          <a:p>
            <a:pPr algn="l"/>
            <a:r>
              <a:rPr lang="en-US" sz="3200" b="1" dirty="0">
                <a:latin typeface="Times New Roman" pitchFamily="18" charset="0"/>
                <a:cs typeface="Times New Roman" pitchFamily="18" charset="0"/>
              </a:rPr>
              <a:t>Work done in Ideal gas process</a:t>
            </a:r>
            <a:endParaRPr lang="en-IN" sz="3200" b="1" dirty="0">
              <a:latin typeface="Times New Roman" pitchFamily="18" charset="0"/>
              <a:cs typeface="Times New Roman" pitchFamily="18" charset="0"/>
            </a:endParaRPr>
          </a:p>
        </p:txBody>
      </p:sp>
      <p:sp>
        <p:nvSpPr>
          <p:cNvPr id="3" name="Subtitle 2"/>
          <p:cNvSpPr>
            <a:spLocks noGrp="1"/>
          </p:cNvSpPr>
          <p:nvPr>
            <p:ph type="subTitle" idx="1"/>
          </p:nvPr>
        </p:nvSpPr>
        <p:spPr>
          <a:xfrm>
            <a:off x="323528" y="980728"/>
            <a:ext cx="8568952" cy="5544616"/>
          </a:xfrm>
        </p:spPr>
        <p:txBody>
          <a:bodyPr>
            <a:noAutofit/>
          </a:bodyPr>
          <a:lstStyle/>
          <a:p>
            <a:pPr algn="just"/>
            <a:r>
              <a:rPr lang="en-US" dirty="0">
                <a:solidFill>
                  <a:schemeClr val="tx1"/>
                </a:solidFill>
                <a:latin typeface="Times New Roman" pitchFamily="18" charset="0"/>
                <a:cs typeface="Times New Roman" pitchFamily="18" charset="0"/>
              </a:rPr>
              <a:t>Assume gas is in a container closed at one end. At the other end a tightly fitting moveable piston enables us to apply an external force                                                   </a:t>
            </a:r>
          </a:p>
          <a:p>
            <a:pPr algn="just"/>
            <a:r>
              <a:rPr lang="en-US" i="1" dirty="0">
                <a:solidFill>
                  <a:schemeClr val="tx1"/>
                </a:solidFill>
                <a:latin typeface="Times New Roman" pitchFamily="18" charset="0"/>
                <a:cs typeface="Times New Roman" pitchFamily="18" charset="0"/>
              </a:rPr>
              <a:t>                         </a:t>
            </a:r>
            <a:r>
              <a:rPr lang="en-US" i="1" dirty="0" err="1">
                <a:solidFill>
                  <a:schemeClr val="tx1"/>
                </a:solidFill>
                <a:latin typeface="Times New Roman" pitchFamily="18" charset="0"/>
                <a:cs typeface="Times New Roman" pitchFamily="18" charset="0"/>
              </a:rPr>
              <a:t>F</a:t>
            </a:r>
            <a:r>
              <a:rPr lang="en-US" i="1" baseline="-25000" dirty="0" err="1">
                <a:solidFill>
                  <a:schemeClr val="tx1"/>
                </a:solidFill>
                <a:latin typeface="Times New Roman" pitchFamily="18" charset="0"/>
                <a:cs typeface="Times New Roman" pitchFamily="18" charset="0"/>
              </a:rPr>
              <a:t>ext</a:t>
            </a:r>
            <a:r>
              <a:rPr lang="en-US" i="1" dirty="0">
                <a:solidFill>
                  <a:schemeClr val="tx1"/>
                </a:solidFill>
                <a:latin typeface="Times New Roman" pitchFamily="18" charset="0"/>
                <a:cs typeface="Times New Roman" pitchFamily="18" charset="0"/>
              </a:rPr>
              <a:t> = -</a:t>
            </a:r>
            <a:r>
              <a:rPr lang="en-US" i="1" dirty="0" err="1">
                <a:solidFill>
                  <a:schemeClr val="tx1"/>
                </a:solidFill>
                <a:latin typeface="Times New Roman" pitchFamily="18" charset="0"/>
                <a:cs typeface="Times New Roman" pitchFamily="18" charset="0"/>
              </a:rPr>
              <a:t>F</a:t>
            </a:r>
            <a:r>
              <a:rPr lang="en-US" i="1" baseline="-25000" dirty="0" err="1">
                <a:solidFill>
                  <a:schemeClr val="tx1"/>
                </a:solidFill>
                <a:latin typeface="Times New Roman" pitchFamily="18" charset="0"/>
                <a:cs typeface="Times New Roman" pitchFamily="18" charset="0"/>
              </a:rPr>
              <a:t>gas</a:t>
            </a:r>
            <a:r>
              <a:rPr lang="en-US" i="1" dirty="0">
                <a:solidFill>
                  <a:schemeClr val="tx1"/>
                </a:solidFill>
                <a:latin typeface="Times New Roman" pitchFamily="18" charset="0"/>
                <a:cs typeface="Times New Roman" pitchFamily="18" charset="0"/>
              </a:rPr>
              <a:t> = -</a:t>
            </a:r>
            <a:r>
              <a:rPr lang="en-US" i="1" dirty="0" err="1">
                <a:solidFill>
                  <a:schemeClr val="tx1"/>
                </a:solidFill>
                <a:latin typeface="Times New Roman" pitchFamily="18" charset="0"/>
                <a:cs typeface="Times New Roman" pitchFamily="18" charset="0"/>
              </a:rPr>
              <a:t>pA.</a:t>
            </a:r>
            <a:r>
              <a:rPr lang="en-US" i="1" dirty="0">
                <a:solidFill>
                  <a:schemeClr val="tx1"/>
                </a:solidFill>
                <a:latin typeface="Times New Roman" pitchFamily="18" charset="0"/>
                <a:cs typeface="Times New Roman" pitchFamily="18" charset="0"/>
              </a:rPr>
              <a:t> </a:t>
            </a:r>
          </a:p>
          <a:p>
            <a:pPr algn="just"/>
            <a:r>
              <a:rPr lang="en-US" dirty="0">
                <a:solidFill>
                  <a:schemeClr val="tx1"/>
                </a:solidFill>
                <a:latin typeface="Times New Roman" pitchFamily="18" charset="0"/>
                <a:cs typeface="Times New Roman" pitchFamily="18" charset="0"/>
              </a:rPr>
              <a:t>Suppose the piston moves a small distance </a:t>
            </a:r>
            <a:r>
              <a:rPr lang="en-US" i="1" dirty="0">
                <a:solidFill>
                  <a:schemeClr val="tx1"/>
                </a:solidFill>
                <a:latin typeface="Times New Roman" pitchFamily="18" charset="0"/>
                <a:cs typeface="Times New Roman" pitchFamily="18" charset="0"/>
              </a:rPr>
              <a:t>dx </a:t>
            </a:r>
            <a:r>
              <a:rPr lang="en-US" dirty="0">
                <a:solidFill>
                  <a:schemeClr val="tx1"/>
                </a:solidFill>
                <a:latin typeface="Times New Roman" pitchFamily="18" charset="0"/>
                <a:cs typeface="Times New Roman" pitchFamily="18" charset="0"/>
              </a:rPr>
              <a:t>to the right, external force (the environment) does an amount of work on the piston and therefore on the gas of</a:t>
            </a:r>
          </a:p>
          <a:p>
            <a:pPr algn="just"/>
            <a:r>
              <a:rPr lang="en-IN" dirty="0">
                <a:solidFill>
                  <a:schemeClr val="tx1"/>
                </a:solidFill>
                <a:latin typeface="Times New Roman" pitchFamily="18" charset="0"/>
                <a:cs typeface="Times New Roman" pitchFamily="18" charset="0"/>
              </a:rPr>
              <a:t>                            </a:t>
            </a:r>
            <a:r>
              <a:rPr lang="en-US" i="1" dirty="0" err="1">
                <a:solidFill>
                  <a:schemeClr val="tx1"/>
                </a:solidFill>
                <a:latin typeface="Times New Roman" pitchFamily="18" charset="0"/>
                <a:cs typeface="Times New Roman" pitchFamily="18" charset="0"/>
              </a:rPr>
              <a:t>dW</a:t>
            </a:r>
            <a:r>
              <a:rPr lang="en-US" i="1" dirty="0">
                <a:solidFill>
                  <a:schemeClr val="tx1"/>
                </a:solidFill>
                <a:latin typeface="Times New Roman" pitchFamily="18" charset="0"/>
                <a:cs typeface="Times New Roman" pitchFamily="18" charset="0"/>
              </a:rPr>
              <a:t> </a:t>
            </a:r>
            <a:r>
              <a:rPr lang="en-US" dirty="0">
                <a:solidFill>
                  <a:schemeClr val="tx1"/>
                </a:solidFill>
                <a:latin typeface="Times New Roman" pitchFamily="18" charset="0"/>
                <a:cs typeface="Times New Roman" pitchFamily="18" charset="0"/>
              </a:rPr>
              <a:t>= </a:t>
            </a:r>
            <a:r>
              <a:rPr lang="en-US" i="1" dirty="0" err="1">
                <a:solidFill>
                  <a:schemeClr val="tx1"/>
                </a:solidFill>
                <a:latin typeface="Times New Roman" pitchFamily="18" charset="0"/>
                <a:cs typeface="Times New Roman" pitchFamily="18" charset="0"/>
              </a:rPr>
              <a:t>Fext</a:t>
            </a:r>
            <a:r>
              <a:rPr lang="en-US" i="1" dirty="0">
                <a:solidFill>
                  <a:schemeClr val="tx1"/>
                </a:solidFill>
                <a:latin typeface="Times New Roman" pitchFamily="18" charset="0"/>
                <a:cs typeface="Times New Roman" pitchFamily="18" charset="0"/>
              </a:rPr>
              <a:t> dx = -</a:t>
            </a:r>
            <a:r>
              <a:rPr lang="en-US" dirty="0">
                <a:solidFill>
                  <a:schemeClr val="tx1"/>
                </a:solidFill>
                <a:latin typeface="Times New Roman" pitchFamily="18" charset="0"/>
                <a:cs typeface="Times New Roman" pitchFamily="18" charset="0"/>
              </a:rPr>
              <a:t> </a:t>
            </a:r>
            <a:r>
              <a:rPr lang="en-US" i="1" dirty="0" err="1">
                <a:solidFill>
                  <a:schemeClr val="tx1"/>
                </a:solidFill>
                <a:latin typeface="Times New Roman" pitchFamily="18" charset="0"/>
                <a:cs typeface="Times New Roman" pitchFamily="18" charset="0"/>
              </a:rPr>
              <a:t>pAdx</a:t>
            </a:r>
            <a:r>
              <a:rPr lang="en-US" i="1" dirty="0">
                <a:solidFill>
                  <a:schemeClr val="tx1"/>
                </a:solidFill>
                <a:latin typeface="Times New Roman" pitchFamily="18" charset="0"/>
                <a:cs typeface="Times New Roman" pitchFamily="18" charset="0"/>
              </a:rPr>
              <a:t> </a:t>
            </a:r>
          </a:p>
          <a:p>
            <a:pPr algn="just"/>
            <a:endParaRPr lang="en-US" dirty="0">
              <a:solidFill>
                <a:schemeClr val="tx1"/>
              </a:solidFill>
              <a:latin typeface="Times New Roman" pitchFamily="18" charset="0"/>
              <a:cs typeface="Times New Roman" pitchFamily="18" charset="0"/>
            </a:endParaRPr>
          </a:p>
          <a:p>
            <a:pPr algn="just"/>
            <a:endParaRPr lang="en-US" dirty="0">
              <a:solidFill>
                <a:schemeClr val="tx1"/>
              </a:solidFill>
              <a:latin typeface="Times New Roman" pitchFamily="18" charset="0"/>
              <a:cs typeface="Times New Roman" pitchFamily="18" charset="0"/>
            </a:endParaRPr>
          </a:p>
          <a:p>
            <a:pPr algn="just"/>
            <a:endParaRPr lang="en-IN" dirty="0">
              <a:solidFill>
                <a:schemeClr val="tx1"/>
              </a:solidFill>
              <a:latin typeface="Times New Roman" pitchFamily="18" charset="0"/>
              <a:cs typeface="Times New Roman" pitchFamily="18" charset="0"/>
            </a:endParaRPr>
          </a:p>
          <a:p>
            <a:pPr algn="just"/>
            <a:endParaRPr lang="en-IN" dirty="0">
              <a:solidFill>
                <a:schemeClr val="tx1"/>
              </a:solidFill>
              <a:latin typeface="Times New Roman" pitchFamily="18" charset="0"/>
              <a:cs typeface="Times New Roman" pitchFamily="18" charset="0"/>
            </a:endParaRPr>
          </a:p>
          <a:p>
            <a:endParaRPr lang="en-IN"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3128380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84A59-C8C9-C513-DE6C-A1AD81EB25F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E13D235-9C3B-EA38-6A03-C1DF31976F4C}"/>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2D47CAA9-3AAB-5E02-6562-A11F37C1FB9B}"/>
              </a:ext>
            </a:extLst>
          </p:cNvPr>
          <p:cNvPicPr>
            <a:picLocks noChangeAspect="1"/>
          </p:cNvPicPr>
          <p:nvPr/>
        </p:nvPicPr>
        <p:blipFill>
          <a:blip r:embed="rId2"/>
          <a:stretch>
            <a:fillRect/>
          </a:stretch>
        </p:blipFill>
        <p:spPr>
          <a:xfrm>
            <a:off x="0" y="1040195"/>
            <a:ext cx="9144000" cy="4777610"/>
          </a:xfrm>
          <a:prstGeom prst="rect">
            <a:avLst/>
          </a:prstGeom>
        </p:spPr>
      </p:pic>
    </p:spTree>
    <p:extLst>
      <p:ext uri="{BB962C8B-B14F-4D97-AF65-F5344CB8AC3E}">
        <p14:creationId xmlns:p14="http://schemas.microsoft.com/office/powerpoint/2010/main" val="32698216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79512" y="476672"/>
                <a:ext cx="8712968" cy="6048672"/>
              </a:xfrm>
            </p:spPr>
            <p:txBody>
              <a:bodyPr>
                <a:normAutofit fontScale="92500" lnSpcReduction="10000"/>
              </a:bodyPr>
              <a:lstStyle/>
              <a:p>
                <a:pPr marL="0" indent="0" algn="just">
                  <a:buNone/>
                </a:pPr>
                <a:r>
                  <a:rPr lang="en-US" dirty="0">
                    <a:solidFill>
                      <a:schemeClr val="tx1"/>
                    </a:solidFill>
                    <a:latin typeface="Times New Roman" pitchFamily="18" charset="0"/>
                    <a:cs typeface="Times New Roman" pitchFamily="18" charset="0"/>
                  </a:rPr>
                  <a:t>As the piston moves the distance </a:t>
                </a:r>
                <a:r>
                  <a:rPr lang="en-US" i="1" dirty="0">
                    <a:solidFill>
                      <a:schemeClr val="tx1"/>
                    </a:solidFill>
                    <a:latin typeface="Times New Roman" pitchFamily="18" charset="0"/>
                    <a:cs typeface="Times New Roman" pitchFamily="18" charset="0"/>
                  </a:rPr>
                  <a:t>dx</a:t>
                </a:r>
                <a:r>
                  <a:rPr lang="en-US" dirty="0">
                    <a:solidFill>
                      <a:schemeClr val="tx1"/>
                    </a:solidFill>
                    <a:latin typeface="Times New Roman" pitchFamily="18" charset="0"/>
                    <a:cs typeface="Times New Roman" pitchFamily="18" charset="0"/>
                  </a:rPr>
                  <a:t>, the volume of the gas changes by an amount </a:t>
                </a:r>
              </a:p>
              <a:p>
                <a:pPr marL="0" indent="0" algn="just">
                  <a:buNone/>
                </a:pPr>
                <a:r>
                  <a:rPr lang="en-US" i="1" dirty="0">
                    <a:solidFill>
                      <a:schemeClr val="tx1"/>
                    </a:solidFill>
                    <a:latin typeface="Times New Roman" pitchFamily="18" charset="0"/>
                    <a:cs typeface="Times New Roman" pitchFamily="18" charset="0"/>
                  </a:rPr>
                  <a:t>                                       </a:t>
                </a:r>
                <a:r>
                  <a:rPr lang="en-US" i="1" dirty="0" err="1">
                    <a:solidFill>
                      <a:schemeClr val="tx1"/>
                    </a:solidFill>
                    <a:latin typeface="Times New Roman" pitchFamily="18" charset="0"/>
                    <a:cs typeface="Times New Roman" pitchFamily="18" charset="0"/>
                  </a:rPr>
                  <a:t>dV</a:t>
                </a:r>
                <a:r>
                  <a:rPr lang="en-US" i="1" dirty="0">
                    <a:solidFill>
                      <a:schemeClr val="tx1"/>
                    </a:solidFill>
                    <a:latin typeface="Times New Roman" pitchFamily="18" charset="0"/>
                    <a:cs typeface="Times New Roman" pitchFamily="18" charset="0"/>
                  </a:rPr>
                  <a:t> = </a:t>
                </a:r>
                <a:r>
                  <a:rPr lang="en-US" i="1" dirty="0" err="1">
                    <a:solidFill>
                      <a:schemeClr val="tx1"/>
                    </a:solidFill>
                    <a:latin typeface="Times New Roman" pitchFamily="18" charset="0"/>
                    <a:cs typeface="Times New Roman" pitchFamily="18" charset="0"/>
                  </a:rPr>
                  <a:t>Adx</a:t>
                </a:r>
                <a:r>
                  <a:rPr lang="en-US" dirty="0">
                    <a:solidFill>
                      <a:schemeClr val="tx1"/>
                    </a:solidFill>
                    <a:latin typeface="Times New Roman" pitchFamily="18" charset="0"/>
                    <a:cs typeface="Times New Roman" pitchFamily="18" charset="0"/>
                  </a:rPr>
                  <a:t>.</a:t>
                </a:r>
              </a:p>
              <a:p>
                <a:pPr marL="0" indent="0" algn="just">
                  <a:buNone/>
                </a:pPr>
                <a:r>
                  <a:rPr lang="en-US" dirty="0">
                    <a:solidFill>
                      <a:schemeClr val="tx1"/>
                    </a:solidFill>
                    <a:latin typeface="Times New Roman" pitchFamily="18" charset="0"/>
                    <a:cs typeface="Times New Roman" pitchFamily="18" charset="0"/>
                  </a:rPr>
                  <a:t>above equation for the work done is </a:t>
                </a:r>
              </a:p>
              <a:p>
                <a:pPr marL="0" indent="0" algn="just">
                  <a:buNone/>
                </a:pP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dW</a:t>
                </a:r>
                <a:r>
                  <a:rPr lang="en-US" dirty="0">
                    <a:solidFill>
                      <a:schemeClr val="tx1"/>
                    </a:solidFill>
                    <a:latin typeface="Times New Roman" pitchFamily="18" charset="0"/>
                    <a:cs typeface="Times New Roman" pitchFamily="18" charset="0"/>
                  </a:rPr>
                  <a:t>  =  -</a:t>
                </a:r>
                <a:r>
                  <a:rPr lang="en-US" dirty="0" err="1">
                    <a:solidFill>
                      <a:schemeClr val="tx1"/>
                    </a:solidFill>
                    <a:latin typeface="Times New Roman" pitchFamily="18" charset="0"/>
                    <a:cs typeface="Times New Roman" pitchFamily="18" charset="0"/>
                  </a:rPr>
                  <a:t>pdV</a:t>
                </a:r>
                <a:endParaRPr lang="en-US" dirty="0">
                  <a:solidFill>
                    <a:schemeClr val="tx1"/>
                  </a:solidFill>
                  <a:latin typeface="Times New Roman" pitchFamily="18" charset="0"/>
                  <a:cs typeface="Times New Roman" pitchFamily="18" charset="0"/>
                </a:endParaRPr>
              </a:p>
              <a:p>
                <a:pPr marL="0" indent="0" algn="just">
                  <a:buNone/>
                </a:pPr>
                <a:r>
                  <a:rPr lang="en-US" dirty="0">
                    <a:solidFill>
                      <a:schemeClr val="tx1"/>
                    </a:solidFill>
                    <a:latin typeface="Times New Roman" pitchFamily="18" charset="0"/>
                    <a:cs typeface="Times New Roman" pitchFamily="18" charset="0"/>
                  </a:rPr>
                  <a:t>If in the process the volume changes from </a:t>
                </a:r>
                <a:r>
                  <a:rPr lang="en-US" i="1" dirty="0">
                    <a:solidFill>
                      <a:schemeClr val="tx1"/>
                    </a:solidFill>
                    <a:latin typeface="Times New Roman" pitchFamily="18" charset="0"/>
                    <a:cs typeface="Times New Roman" pitchFamily="18" charset="0"/>
                  </a:rPr>
                  <a:t>V</a:t>
                </a:r>
                <a:r>
                  <a:rPr lang="en-US" baseline="-25000" dirty="0">
                    <a:solidFill>
                      <a:schemeClr val="tx1"/>
                    </a:solidFill>
                    <a:latin typeface="Times New Roman" pitchFamily="18" charset="0"/>
                    <a:cs typeface="Times New Roman" pitchFamily="18" charset="0"/>
                  </a:rPr>
                  <a:t>i</a:t>
                </a:r>
                <a:r>
                  <a:rPr lang="en-US" dirty="0">
                    <a:solidFill>
                      <a:schemeClr val="tx1"/>
                    </a:solidFill>
                    <a:latin typeface="Times New Roman" pitchFamily="18" charset="0"/>
                    <a:cs typeface="Times New Roman" pitchFamily="18" charset="0"/>
                  </a:rPr>
                  <a:t> to </a:t>
                </a:r>
                <a:r>
                  <a:rPr lang="en-US" i="1" dirty="0" err="1">
                    <a:solidFill>
                      <a:schemeClr val="tx1"/>
                    </a:solidFill>
                    <a:latin typeface="Times New Roman" pitchFamily="18" charset="0"/>
                    <a:cs typeface="Times New Roman" pitchFamily="18" charset="0"/>
                  </a:rPr>
                  <a:t>V</a:t>
                </a:r>
                <a:r>
                  <a:rPr lang="en-US" baseline="-25000" dirty="0" err="1">
                    <a:solidFill>
                      <a:schemeClr val="tx1"/>
                    </a:solidFill>
                    <a:latin typeface="Times New Roman" pitchFamily="18" charset="0"/>
                    <a:cs typeface="Times New Roman" pitchFamily="18" charset="0"/>
                  </a:rPr>
                  <a:t>f</a:t>
                </a:r>
                <a:r>
                  <a:rPr lang="en-US" dirty="0">
                    <a:solidFill>
                      <a:schemeClr val="tx1"/>
                    </a:solidFill>
                    <a:latin typeface="Times New Roman" pitchFamily="18" charset="0"/>
                    <a:cs typeface="Times New Roman" pitchFamily="18" charset="0"/>
                  </a:rPr>
                  <a:t> the total work done by </a:t>
                </a:r>
                <a:r>
                  <a:rPr lang="en-US" i="1" dirty="0" err="1">
                    <a:solidFill>
                      <a:schemeClr val="tx1"/>
                    </a:solidFill>
                    <a:latin typeface="Times New Roman" pitchFamily="18" charset="0"/>
                    <a:cs typeface="Times New Roman" pitchFamily="18" charset="0"/>
                  </a:rPr>
                  <a:t>F</a:t>
                </a:r>
                <a:r>
                  <a:rPr lang="en-US" baseline="-25000" dirty="0" err="1">
                    <a:solidFill>
                      <a:schemeClr val="tx1"/>
                    </a:solidFill>
                    <a:latin typeface="Times New Roman" pitchFamily="18" charset="0"/>
                    <a:cs typeface="Times New Roman" pitchFamily="18" charset="0"/>
                  </a:rPr>
                  <a:t>ext</a:t>
                </a:r>
                <a:r>
                  <a:rPr lang="en-US" dirty="0">
                    <a:solidFill>
                      <a:schemeClr val="tx1"/>
                    </a:solidFill>
                    <a:latin typeface="Times New Roman" pitchFamily="18" charset="0"/>
                    <a:cs typeface="Times New Roman" pitchFamily="18" charset="0"/>
                  </a:rPr>
                  <a:t> is the integral</a:t>
                </a:r>
              </a:p>
              <a:p>
                <a:pPr marL="0" indent="0" algn="just">
                  <a:buNone/>
                </a:pPr>
                <a14:m>
                  <m:oMathPara xmlns:m="http://schemas.openxmlformats.org/officeDocument/2006/math">
                    <m:oMathParaPr>
                      <m:jc m:val="centerGroup"/>
                    </m:oMathParaPr>
                    <m:oMath xmlns:m="http://schemas.openxmlformats.org/officeDocument/2006/math">
                      <m:r>
                        <m:rPr>
                          <m:sty m:val="p"/>
                        </m:rPr>
                        <a:rPr lang="en-IN" b="0" i="0" smtClean="0">
                          <a:solidFill>
                            <a:schemeClr val="tx1"/>
                          </a:solidFill>
                          <a:latin typeface="Cambria Math"/>
                        </a:rPr>
                        <m:t>dw</m:t>
                      </m:r>
                      <m:r>
                        <a:rPr lang="en-IN" b="0" i="0" smtClean="0">
                          <a:solidFill>
                            <a:schemeClr val="tx1"/>
                          </a:solidFill>
                          <a:latin typeface="Cambria Math"/>
                        </a:rPr>
                        <m:t>=−</m:t>
                      </m:r>
                      <m:nary>
                        <m:naryPr>
                          <m:ctrlPr>
                            <a:rPr lang="en-US" i="1" smtClean="0">
                              <a:solidFill>
                                <a:schemeClr val="tx1"/>
                              </a:solidFill>
                              <a:latin typeface="Cambria Math" panose="02040503050406030204" pitchFamily="18" charset="0"/>
                            </a:rPr>
                          </m:ctrlPr>
                        </m:naryPr>
                        <m:sub>
                          <m:r>
                            <m:rPr>
                              <m:brk m:alnAt="23"/>
                            </m:rPr>
                            <a:rPr lang="en-IN" b="0" i="1" smtClean="0">
                              <a:solidFill>
                                <a:schemeClr val="tx1"/>
                              </a:solidFill>
                              <a:latin typeface="Cambria Math"/>
                            </a:rPr>
                            <m:t>𝑉</m:t>
                          </m:r>
                          <m:r>
                            <a:rPr lang="en-IN" b="0" i="1" smtClean="0">
                              <a:solidFill>
                                <a:schemeClr val="tx1"/>
                              </a:solidFill>
                              <a:latin typeface="Cambria Math"/>
                            </a:rPr>
                            <m:t>𝑖</m:t>
                          </m:r>
                        </m:sub>
                        <m:sup>
                          <m:r>
                            <a:rPr lang="en-IN" b="0" i="1" smtClean="0">
                              <a:solidFill>
                                <a:schemeClr val="tx1"/>
                              </a:solidFill>
                              <a:latin typeface="Cambria Math"/>
                            </a:rPr>
                            <m:t>𝑉𝑓</m:t>
                          </m:r>
                        </m:sup>
                        <m:e>
                          <m:r>
                            <a:rPr lang="en-IN" b="0" i="1" smtClean="0">
                              <a:solidFill>
                                <a:schemeClr val="tx1"/>
                              </a:solidFill>
                              <a:latin typeface="Cambria Math"/>
                            </a:rPr>
                            <m:t>𝑝</m:t>
                          </m:r>
                          <m:r>
                            <a:rPr lang="en-IN" b="0" i="1" smtClean="0">
                              <a:solidFill>
                                <a:schemeClr val="tx1"/>
                              </a:solidFill>
                              <a:latin typeface="Cambria Math"/>
                            </a:rPr>
                            <m:t> </m:t>
                          </m:r>
                          <m:r>
                            <a:rPr lang="en-IN" b="0" i="1" smtClean="0">
                              <a:solidFill>
                                <a:schemeClr val="tx1"/>
                              </a:solidFill>
                              <a:latin typeface="Cambria Math"/>
                            </a:rPr>
                            <m:t>𝑑𝑣</m:t>
                          </m:r>
                        </m:e>
                      </m:nary>
                    </m:oMath>
                  </m:oMathPara>
                </a14:m>
                <a:endParaRPr lang="en-IN" dirty="0">
                  <a:solidFill>
                    <a:schemeClr val="tx1"/>
                  </a:solidFill>
                  <a:latin typeface="Times New Roman" pitchFamily="18" charset="0"/>
                  <a:cs typeface="Times New Roman" pitchFamily="18" charset="0"/>
                </a:endParaRPr>
              </a:p>
              <a:p>
                <a:pPr marL="0" indent="0" algn="just">
                  <a:buNone/>
                </a:pPr>
                <a:r>
                  <a:rPr lang="en-US" dirty="0">
                    <a:latin typeface="Times New Roman" pitchFamily="18" charset="0"/>
                    <a:cs typeface="Times New Roman" pitchFamily="18" charset="0"/>
                  </a:rPr>
                  <a:t>Above equation shows that the work done on a gas is the negative of the area under the gas’s </a:t>
                </a:r>
                <a:r>
                  <a:rPr lang="en-US" i="1" dirty="0" err="1">
                    <a:latin typeface="Times New Roman" pitchFamily="18" charset="0"/>
                    <a:cs typeface="Times New Roman" pitchFamily="18" charset="0"/>
                  </a:rPr>
                  <a:t>pV</a:t>
                </a:r>
                <a:r>
                  <a:rPr lang="en-US" i="1" dirty="0">
                    <a:latin typeface="Times New Roman" pitchFamily="18" charset="0"/>
                    <a:cs typeface="Times New Roman" pitchFamily="18" charset="0"/>
                  </a:rPr>
                  <a:t> </a:t>
                </a:r>
                <a:r>
                  <a:rPr lang="en-US" dirty="0">
                    <a:latin typeface="Times New Roman" pitchFamily="18" charset="0"/>
                    <a:cs typeface="Times New Roman" pitchFamily="18" charset="0"/>
                  </a:rPr>
                  <a:t>curve as the volume changes from </a:t>
                </a:r>
                <a:r>
                  <a:rPr lang="en-US" i="1" dirty="0">
                    <a:latin typeface="Times New Roman" pitchFamily="18" charset="0"/>
                    <a:cs typeface="Times New Roman" pitchFamily="18" charset="0"/>
                  </a:rPr>
                  <a:t>V</a:t>
                </a:r>
                <a:r>
                  <a:rPr lang="en-US" baseline="-25000" dirty="0">
                    <a:latin typeface="Times New Roman" pitchFamily="18" charset="0"/>
                    <a:cs typeface="Times New Roman" pitchFamily="18" charset="0"/>
                  </a:rPr>
                  <a:t>i</a:t>
                </a:r>
                <a:r>
                  <a:rPr lang="en-US" dirty="0">
                    <a:latin typeface="Times New Roman" pitchFamily="18" charset="0"/>
                    <a:cs typeface="Times New Roman" pitchFamily="18" charset="0"/>
                  </a:rPr>
                  <a:t> to </a:t>
                </a:r>
                <a:r>
                  <a:rPr lang="en-US" i="1" dirty="0" err="1">
                    <a:latin typeface="Times New Roman" pitchFamily="18" charset="0"/>
                    <a:cs typeface="Times New Roman" pitchFamily="18" charset="0"/>
                  </a:rPr>
                  <a:t>V</a:t>
                </a:r>
                <a:r>
                  <a:rPr lang="en-US" baseline="-25000" dirty="0" err="1">
                    <a:latin typeface="Times New Roman" pitchFamily="18" charset="0"/>
                    <a:cs typeface="Times New Roman" pitchFamily="18" charset="0"/>
                  </a:rPr>
                  <a:t>f</a:t>
                </a:r>
                <a:r>
                  <a:rPr lang="en-US" dirty="0">
                    <a:latin typeface="Times New Roman" pitchFamily="18" charset="0"/>
                    <a:cs typeface="Times New Roman" pitchFamily="18" charset="0"/>
                  </a:rPr>
                  <a:t>.</a:t>
                </a:r>
                <a:endParaRPr lang="en-IN" dirty="0">
                  <a:solidFill>
                    <a:schemeClr val="tx1"/>
                  </a:solidFill>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79512" y="476672"/>
                <a:ext cx="8712968" cy="6048672"/>
              </a:xfrm>
              <a:blipFill rotWithShape="1">
                <a:blip r:embed="rId2"/>
                <a:stretch>
                  <a:fillRect l="-1608" t="-2016" r="-2657"/>
                </a:stretch>
              </a:blipFill>
            </p:spPr>
            <p:txBody>
              <a:bodyPr/>
              <a:lstStyle/>
              <a:p>
                <a:r>
                  <a:rPr lang="en-IN">
                    <a:noFill/>
                  </a:rPr>
                  <a:t> </a:t>
                </a:r>
              </a:p>
            </p:txBody>
          </p:sp>
        </mc:Fallback>
      </mc:AlternateContent>
    </p:spTree>
    <p:extLst>
      <p:ext uri="{BB962C8B-B14F-4D97-AF65-F5344CB8AC3E}">
        <p14:creationId xmlns:p14="http://schemas.microsoft.com/office/powerpoint/2010/main" val="17052048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5793507"/>
          </a:xfrm>
        </p:spPr>
        <p:txBody>
          <a:bodyPr>
            <a:normAutofit/>
          </a:bodyPr>
          <a:lstStyle/>
          <a:p>
            <a:pPr marL="0" indent="0">
              <a:buNone/>
            </a:pPr>
            <a:r>
              <a:rPr lang="en-US" sz="3000" dirty="0">
                <a:latin typeface="Times New Roman" pitchFamily="18" charset="0"/>
                <a:cs typeface="Times New Roman" pitchFamily="18" charset="0"/>
              </a:rPr>
              <a:t>Fig (a) below shows gas expansion. The area under the </a:t>
            </a:r>
            <a:r>
              <a:rPr lang="en-US" sz="3000" i="1" dirty="0" err="1">
                <a:latin typeface="Times New Roman" pitchFamily="18" charset="0"/>
                <a:cs typeface="Times New Roman" pitchFamily="18" charset="0"/>
              </a:rPr>
              <a:t>pV</a:t>
            </a:r>
            <a:r>
              <a:rPr lang="en-US" sz="3000" i="1" dirty="0">
                <a:latin typeface="Times New Roman" pitchFamily="18" charset="0"/>
                <a:cs typeface="Times New Roman" pitchFamily="18" charset="0"/>
              </a:rPr>
              <a:t> </a:t>
            </a:r>
            <a:r>
              <a:rPr lang="en-US" sz="3000" dirty="0">
                <a:latin typeface="Times New Roman" pitchFamily="18" charset="0"/>
                <a:cs typeface="Times New Roman" pitchFamily="18" charset="0"/>
              </a:rPr>
              <a:t>curve is positive. This means that the environment does a negative amount of work.</a:t>
            </a:r>
          </a:p>
          <a:p>
            <a:pPr marL="0" indent="0">
              <a:buNone/>
            </a:pPr>
            <a:endParaRPr lang="en-IN" sz="3000" dirty="0">
              <a:latin typeface="Times New Roman" pitchFamily="18" charset="0"/>
              <a:cs typeface="Times New Roman" pitchFamily="18" charset="0"/>
            </a:endParaRPr>
          </a:p>
        </p:txBody>
      </p:sp>
      <p:pic>
        <p:nvPicPr>
          <p:cNvPr id="1026" name="image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1916832"/>
            <a:ext cx="4752528" cy="4464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49883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6213788"/>
          </a:xfrm>
        </p:spPr>
        <p:txBody>
          <a:bodyPr>
            <a:normAutofit/>
          </a:bodyPr>
          <a:lstStyle/>
          <a:p>
            <a:pPr marL="0" indent="0">
              <a:buNone/>
            </a:pPr>
            <a:r>
              <a:rPr lang="en-US" sz="3000" dirty="0">
                <a:latin typeface="Times New Roman" pitchFamily="18" charset="0"/>
                <a:cs typeface="Times New Roman" pitchFamily="18" charset="0"/>
              </a:rPr>
              <a:t>Figure (b) below shows a contraction.  The area is negative (the integration is performed from a larger to a smaller volume) so the work done by the environment on the gas is positive.</a:t>
            </a:r>
            <a:endParaRPr lang="en-IN" sz="3000" dirty="0">
              <a:latin typeface="Times New Roman" pitchFamily="18" charset="0"/>
              <a:cs typeface="Times New Roman" pitchFamily="18" charset="0"/>
            </a:endParaRPr>
          </a:p>
        </p:txBody>
      </p:sp>
      <p:pic>
        <p:nvPicPr>
          <p:cNvPr id="2050" name="image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8752" y="2132856"/>
            <a:ext cx="4321480" cy="4341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0919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endParaRPr lang="en-IN" dirty="0"/>
          </a:p>
        </p:txBody>
      </p:sp>
      <p:pic>
        <p:nvPicPr>
          <p:cNvPr id="1026" name="image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260648"/>
            <a:ext cx="4536504" cy="659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692614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548680"/>
                <a:ext cx="8229600" cy="5904656"/>
              </a:xfrm>
            </p:spPr>
            <p:txBody>
              <a:bodyPr>
                <a:normAutofit fontScale="85000" lnSpcReduction="20000"/>
              </a:bodyPr>
              <a:lstStyle/>
              <a:p>
                <a:pPr marL="0" indent="0">
                  <a:buNone/>
                </a:pPr>
                <a:r>
                  <a:rPr lang="en-US" sz="3000" dirty="0">
                    <a:latin typeface="Cambria Math"/>
                  </a:rPr>
                  <a:t>For Isothermal process</a:t>
                </a:r>
                <a:endParaRPr lang="en-IN" sz="3000" dirty="0">
                  <a:latin typeface="Cambria Math"/>
                </a:endParaRPr>
              </a:p>
              <a:p>
                <a:pPr marL="0" indent="0">
                  <a:buNone/>
                </a:pPr>
                <a14:m>
                  <m:oMathPara xmlns:m="http://schemas.openxmlformats.org/officeDocument/2006/math">
                    <m:oMathParaPr>
                      <m:jc m:val="centerGroup"/>
                    </m:oMathParaPr>
                    <m:oMath xmlns:m="http://schemas.openxmlformats.org/officeDocument/2006/math">
                      <m:r>
                        <m:rPr>
                          <m:sty m:val="p"/>
                        </m:rPr>
                        <a:rPr lang="en-IN" sz="3000" smtClean="0">
                          <a:latin typeface="Cambria Math"/>
                        </a:rPr>
                        <m:t>dw</m:t>
                      </m:r>
                      <m:r>
                        <a:rPr lang="en-IN" sz="3000" smtClean="0">
                          <a:latin typeface="Cambria Math"/>
                        </a:rPr>
                        <m:t>=−</m:t>
                      </m:r>
                      <m:nary>
                        <m:naryPr>
                          <m:ctrlPr>
                            <a:rPr lang="en-US" sz="3000" i="1">
                              <a:latin typeface="Cambria Math" panose="02040503050406030204" pitchFamily="18" charset="0"/>
                            </a:rPr>
                          </m:ctrlPr>
                        </m:naryPr>
                        <m:sub>
                          <m:r>
                            <m:rPr>
                              <m:brk m:alnAt="23"/>
                            </m:rPr>
                            <a:rPr lang="en-IN" sz="3000" i="1">
                              <a:latin typeface="Cambria Math"/>
                            </a:rPr>
                            <m:t>𝑉</m:t>
                          </m:r>
                          <m:r>
                            <a:rPr lang="en-IN" sz="3000" i="1">
                              <a:latin typeface="Cambria Math"/>
                            </a:rPr>
                            <m:t>𝑖</m:t>
                          </m:r>
                        </m:sub>
                        <m:sup>
                          <m:r>
                            <a:rPr lang="en-IN" sz="3000" i="1">
                              <a:latin typeface="Cambria Math"/>
                            </a:rPr>
                            <m:t>𝑉𝑓</m:t>
                          </m:r>
                        </m:sup>
                        <m:e>
                          <m:r>
                            <a:rPr lang="en-IN" sz="3000" i="1">
                              <a:latin typeface="Cambria Math"/>
                            </a:rPr>
                            <m:t>𝑝</m:t>
                          </m:r>
                          <m:r>
                            <a:rPr lang="en-IN" sz="3000" i="1">
                              <a:latin typeface="Cambria Math"/>
                            </a:rPr>
                            <m:t> </m:t>
                          </m:r>
                          <m:r>
                            <a:rPr lang="en-IN" sz="3000" i="1">
                              <a:latin typeface="Cambria Math"/>
                            </a:rPr>
                            <m:t>𝑑𝑣</m:t>
                          </m:r>
                        </m:e>
                      </m:nary>
                    </m:oMath>
                  </m:oMathPara>
                </a14:m>
                <a:endParaRPr lang="en-US" sz="3000" i="1" dirty="0">
                  <a:latin typeface="Times New Roman" pitchFamily="18" charset="0"/>
                  <a:cs typeface="Times New Roman" pitchFamily="18" charset="0"/>
                </a:endParaRPr>
              </a:p>
              <a:p>
                <a:pPr marL="0" indent="0">
                  <a:buNone/>
                </a:pPr>
                <a:r>
                  <a:rPr lang="en-US" sz="3000" i="1" dirty="0">
                    <a:latin typeface="Times New Roman" pitchFamily="18" charset="0"/>
                    <a:cs typeface="Times New Roman" pitchFamily="18" charset="0"/>
                  </a:rPr>
                  <a:t>Substituting PV = </a:t>
                </a:r>
                <a:r>
                  <a:rPr lang="en-US" sz="3000" i="1" dirty="0" err="1">
                    <a:latin typeface="Times New Roman" pitchFamily="18" charset="0"/>
                    <a:cs typeface="Times New Roman" pitchFamily="18" charset="0"/>
                  </a:rPr>
                  <a:t>nRT</a:t>
                </a:r>
                <a:endParaRPr lang="en-US" sz="3000" i="1"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r>
                        <m:rPr>
                          <m:sty m:val="p"/>
                        </m:rPr>
                        <a:rPr lang="en-IN" sz="2400">
                          <a:latin typeface="Cambria Math"/>
                        </a:rPr>
                        <m:t>dw</m:t>
                      </m:r>
                      <m:r>
                        <a:rPr lang="en-IN" sz="2400">
                          <a:latin typeface="Cambria Math"/>
                        </a:rPr>
                        <m:t>=−</m:t>
                      </m:r>
                      <m:r>
                        <m:rPr>
                          <m:sty m:val="p"/>
                        </m:rPr>
                        <a:rPr lang="en-US" sz="2400" b="0" i="0" smtClean="0">
                          <a:latin typeface="Cambria Math"/>
                        </a:rPr>
                        <m:t>nRT</m:t>
                      </m:r>
                      <m:nary>
                        <m:naryPr>
                          <m:ctrlPr>
                            <a:rPr lang="en-US" sz="2400" i="1">
                              <a:latin typeface="Cambria Math" panose="02040503050406030204" pitchFamily="18" charset="0"/>
                            </a:rPr>
                          </m:ctrlPr>
                        </m:naryPr>
                        <m:sub>
                          <m:r>
                            <m:rPr>
                              <m:brk m:alnAt="23"/>
                            </m:rPr>
                            <a:rPr lang="en-IN" sz="2400" i="1">
                              <a:latin typeface="Cambria Math"/>
                            </a:rPr>
                            <m:t>𝑉</m:t>
                          </m:r>
                          <m:r>
                            <a:rPr lang="en-IN" sz="2400" i="1">
                              <a:latin typeface="Cambria Math"/>
                            </a:rPr>
                            <m:t>𝑖</m:t>
                          </m:r>
                        </m:sub>
                        <m:sup>
                          <m:r>
                            <a:rPr lang="en-IN" sz="2400" i="1">
                              <a:latin typeface="Cambria Math"/>
                            </a:rPr>
                            <m:t>𝑉𝑓</m:t>
                          </m:r>
                        </m:sup>
                        <m:e>
                          <m:f>
                            <m:fPr>
                              <m:ctrlPr>
                                <a:rPr lang="en-US" sz="2800" i="1" baseline="-25000">
                                  <a:latin typeface="Cambria Math" panose="02040503050406030204" pitchFamily="18" charset="0"/>
                                  <a:cs typeface="Times New Roman" pitchFamily="18" charset="0"/>
                                </a:rPr>
                              </m:ctrlPr>
                            </m:fPr>
                            <m:num>
                              <m:r>
                                <a:rPr lang="en-US" sz="2800" i="1" baseline="-25000">
                                  <a:latin typeface="Cambria Math"/>
                                  <a:cs typeface="Times New Roman" pitchFamily="18" charset="0"/>
                                </a:rPr>
                                <m:t>𝑑𝑣</m:t>
                              </m:r>
                            </m:num>
                            <m:den>
                              <m:r>
                                <a:rPr lang="en-US" sz="2800" i="1" baseline="-25000">
                                  <a:latin typeface="Cambria Math"/>
                                  <a:cs typeface="Times New Roman" pitchFamily="18" charset="0"/>
                                </a:rPr>
                                <m:t>𝑣</m:t>
                              </m:r>
                            </m:den>
                          </m:f>
                        </m:e>
                      </m:nary>
                    </m:oMath>
                  </m:oMathPara>
                </a14:m>
                <a:endParaRPr lang="en-US" sz="3000" i="1" dirty="0">
                  <a:latin typeface="Times New Roman" pitchFamily="18" charset="0"/>
                  <a:cs typeface="Times New Roman" pitchFamily="18" charset="0"/>
                </a:endParaRPr>
              </a:p>
              <a:p>
                <a:pPr marL="0" indent="0">
                  <a:buNone/>
                </a:pPr>
                <a:endParaRPr lang="en-US" sz="3000" i="1" dirty="0">
                  <a:latin typeface="Times New Roman" pitchFamily="18" charset="0"/>
                  <a:cs typeface="Times New Roman" pitchFamily="18" charset="0"/>
                </a:endParaRPr>
              </a:p>
              <a:p>
                <a:pPr marL="0" indent="0">
                  <a:buNone/>
                </a:pPr>
                <a14:m>
                  <m:oMath xmlns:m="http://schemas.openxmlformats.org/officeDocument/2006/math">
                    <m:r>
                      <a:rPr lang="en-US" sz="2800" b="0" i="0" smtClean="0">
                        <a:latin typeface="Cambria Math"/>
                      </a:rPr>
                      <m:t>                                    </m:t>
                    </m:r>
                    <m:r>
                      <m:rPr>
                        <m:sty m:val="p"/>
                      </m:rPr>
                      <a:rPr lang="en-IN" sz="2800">
                        <a:latin typeface="Cambria Math"/>
                      </a:rPr>
                      <m:t>dw</m:t>
                    </m:r>
                    <m:r>
                      <a:rPr lang="en-IN" sz="2800">
                        <a:latin typeface="Cambria Math"/>
                      </a:rPr>
                      <m:t>=−</m:t>
                    </m:r>
                    <m:r>
                      <m:rPr>
                        <m:sty m:val="p"/>
                      </m:rPr>
                      <a:rPr lang="en-US" sz="2800">
                        <a:latin typeface="Cambria Math"/>
                      </a:rPr>
                      <m:t>nRT</m:t>
                    </m:r>
                  </m:oMath>
                </a14:m>
                <a:r>
                  <a:rPr lang="en-US" sz="3000" i="1" dirty="0">
                    <a:latin typeface="Times New Roman" pitchFamily="18" charset="0"/>
                    <a:cs typeface="Times New Roman" pitchFamily="18" charset="0"/>
                  </a:rPr>
                  <a:t> </a:t>
                </a:r>
                <a:r>
                  <a:rPr lang="en-US" sz="3000" dirty="0">
                    <a:latin typeface="Times New Roman" pitchFamily="18" charset="0"/>
                    <a:cs typeface="Times New Roman" pitchFamily="18" charset="0"/>
                  </a:rPr>
                  <a:t>[</a:t>
                </a:r>
                <a:r>
                  <a:rPr lang="en-US" sz="3000" dirty="0" err="1">
                    <a:latin typeface="Times New Roman" pitchFamily="18" charset="0"/>
                    <a:cs typeface="Times New Roman" pitchFamily="18" charset="0"/>
                  </a:rPr>
                  <a:t>ln</a:t>
                </a:r>
                <a:r>
                  <a:rPr lang="en-US" sz="3000" dirty="0">
                    <a:latin typeface="Times New Roman" pitchFamily="18" charset="0"/>
                    <a:cs typeface="Times New Roman" pitchFamily="18" charset="0"/>
                  </a:rPr>
                  <a:t> </a:t>
                </a:r>
                <a14:m>
                  <m:oMath xmlns:m="http://schemas.openxmlformats.org/officeDocument/2006/math">
                    <m:sSub>
                      <m:sSubPr>
                        <m:ctrlPr>
                          <a:rPr lang="en-US" sz="3000" i="1" smtClean="0">
                            <a:latin typeface="Cambria Math" panose="02040503050406030204" pitchFamily="18" charset="0"/>
                            <a:cs typeface="Times New Roman" pitchFamily="18" charset="0"/>
                          </a:rPr>
                        </m:ctrlPr>
                      </m:sSubPr>
                      <m:e>
                        <m:r>
                          <a:rPr lang="en-US" sz="3000" b="0" i="1" smtClean="0">
                            <a:latin typeface="Cambria Math"/>
                            <a:cs typeface="Times New Roman" pitchFamily="18" charset="0"/>
                          </a:rPr>
                          <m:t>𝑉</m:t>
                        </m:r>
                      </m:e>
                      <m:sub>
                        <m:r>
                          <a:rPr lang="en-US" sz="3000" b="0" i="1" smtClean="0">
                            <a:latin typeface="Cambria Math"/>
                            <a:cs typeface="Times New Roman" pitchFamily="18" charset="0"/>
                          </a:rPr>
                          <m:t>𝑓</m:t>
                        </m:r>
                      </m:sub>
                    </m:sSub>
                    <m:r>
                      <a:rPr lang="en-US" sz="3000" b="0" i="1" smtClean="0">
                        <a:latin typeface="Cambria Math"/>
                        <a:cs typeface="Times New Roman" pitchFamily="18" charset="0"/>
                      </a:rPr>
                      <m:t>−</m:t>
                    </m:r>
                    <m:r>
                      <a:rPr lang="en-US" sz="3000" b="0" i="1" smtClean="0">
                        <a:latin typeface="Cambria Math"/>
                        <a:cs typeface="Times New Roman" pitchFamily="18" charset="0"/>
                      </a:rPr>
                      <m:t>𝑙𝑛</m:t>
                    </m:r>
                    <m:sSub>
                      <m:sSubPr>
                        <m:ctrlPr>
                          <a:rPr lang="en-US" sz="3000" i="1">
                            <a:latin typeface="Cambria Math" panose="02040503050406030204" pitchFamily="18" charset="0"/>
                            <a:cs typeface="Times New Roman" pitchFamily="18" charset="0"/>
                          </a:rPr>
                        </m:ctrlPr>
                      </m:sSubPr>
                      <m:e>
                        <m:r>
                          <a:rPr lang="en-US" sz="3000" i="1">
                            <a:latin typeface="Cambria Math"/>
                            <a:cs typeface="Times New Roman" pitchFamily="18" charset="0"/>
                          </a:rPr>
                          <m:t>𝑉</m:t>
                        </m:r>
                      </m:e>
                      <m:sub>
                        <m:r>
                          <a:rPr lang="en-US" sz="3000" b="0" i="1" smtClean="0">
                            <a:latin typeface="Cambria Math"/>
                            <a:cs typeface="Times New Roman" pitchFamily="18" charset="0"/>
                          </a:rPr>
                          <m:t>𝑖</m:t>
                        </m:r>
                      </m:sub>
                    </m:sSub>
                    <m:r>
                      <a:rPr lang="en-US" sz="3000" b="0" i="1" smtClean="0">
                        <a:latin typeface="Cambria Math"/>
                        <a:cs typeface="Times New Roman" pitchFamily="18" charset="0"/>
                      </a:rPr>
                      <m:t>]</m:t>
                    </m:r>
                  </m:oMath>
                </a14:m>
                <a:endParaRPr lang="en-US" sz="3000" b="0" dirty="0">
                  <a:latin typeface="Times New Roman" pitchFamily="18" charset="0"/>
                  <a:cs typeface="Times New Roman" pitchFamily="18" charset="0"/>
                </a:endParaRPr>
              </a:p>
              <a:p>
                <a:pPr marL="0" indent="0">
                  <a:buNone/>
                </a:pPr>
                <a:endParaRPr lang="en-US" sz="3000" i="1" dirty="0">
                  <a:latin typeface="Times New Roman" pitchFamily="18" charset="0"/>
                  <a:cs typeface="Times New Roman" pitchFamily="18" charset="0"/>
                </a:endParaRPr>
              </a:p>
              <a:p>
                <a:pPr marL="0" indent="0">
                  <a:buNone/>
                </a:pP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dw</a:t>
                </a:r>
                <a:r>
                  <a:rPr lang="en-US" sz="3000" i="1" dirty="0">
                    <a:latin typeface="Times New Roman" pitchFamily="18" charset="0"/>
                    <a:cs typeface="Times New Roman" pitchFamily="18" charset="0"/>
                  </a:rPr>
                  <a:t> = -</a:t>
                </a:r>
                <a:r>
                  <a:rPr lang="en-US" sz="3000" i="1" dirty="0" err="1">
                    <a:latin typeface="Times New Roman" pitchFamily="18" charset="0"/>
                    <a:cs typeface="Times New Roman" pitchFamily="18" charset="0"/>
                  </a:rPr>
                  <a:t>nRT</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ln</a:t>
                </a:r>
                <a:r>
                  <a:rPr lang="en-US" sz="3000" i="1" dirty="0">
                    <a:latin typeface="Times New Roman" pitchFamily="18" charset="0"/>
                    <a:cs typeface="Times New Roman" pitchFamily="18" charset="0"/>
                  </a:rPr>
                  <a:t>[ </a:t>
                </a:r>
                <a14:m>
                  <m:oMath xmlns:m="http://schemas.openxmlformats.org/officeDocument/2006/math">
                    <m:f>
                      <m:fPr>
                        <m:ctrlPr>
                          <a:rPr lang="en-US" sz="3000" i="1" smtClean="0">
                            <a:latin typeface="Cambria Math" panose="02040503050406030204" pitchFamily="18" charset="0"/>
                            <a:cs typeface="Times New Roman" pitchFamily="18" charset="0"/>
                          </a:rPr>
                        </m:ctrlPr>
                      </m:fPr>
                      <m:num>
                        <m:sSub>
                          <m:sSubPr>
                            <m:ctrlPr>
                              <a:rPr lang="en-US" sz="3000" i="1">
                                <a:latin typeface="Cambria Math" panose="02040503050406030204" pitchFamily="18" charset="0"/>
                                <a:cs typeface="Times New Roman" pitchFamily="18" charset="0"/>
                              </a:rPr>
                            </m:ctrlPr>
                          </m:sSubPr>
                          <m:e>
                            <m:r>
                              <a:rPr lang="en-US" sz="3000" i="1">
                                <a:latin typeface="Cambria Math"/>
                                <a:cs typeface="Times New Roman" pitchFamily="18" charset="0"/>
                              </a:rPr>
                              <m:t>𝑉</m:t>
                            </m:r>
                          </m:e>
                          <m:sub>
                            <m:r>
                              <a:rPr lang="en-US" sz="3000" i="1">
                                <a:latin typeface="Cambria Math"/>
                                <a:cs typeface="Times New Roman" pitchFamily="18" charset="0"/>
                              </a:rPr>
                              <m:t>𝑓</m:t>
                            </m:r>
                          </m:sub>
                        </m:sSub>
                      </m:num>
                      <m:den>
                        <m:sSub>
                          <m:sSubPr>
                            <m:ctrlPr>
                              <a:rPr lang="en-US" sz="3000" i="1">
                                <a:latin typeface="Cambria Math" panose="02040503050406030204" pitchFamily="18" charset="0"/>
                                <a:cs typeface="Times New Roman" pitchFamily="18" charset="0"/>
                              </a:rPr>
                            </m:ctrlPr>
                          </m:sSubPr>
                          <m:e>
                            <m:r>
                              <a:rPr lang="en-US" sz="3000" i="1">
                                <a:latin typeface="Cambria Math"/>
                                <a:cs typeface="Times New Roman" pitchFamily="18" charset="0"/>
                              </a:rPr>
                              <m:t>𝑉</m:t>
                            </m:r>
                          </m:e>
                          <m:sub>
                            <m:r>
                              <a:rPr lang="en-US" sz="3000" i="1">
                                <a:latin typeface="Cambria Math"/>
                                <a:cs typeface="Times New Roman" pitchFamily="18" charset="0"/>
                              </a:rPr>
                              <m:t>𝑖</m:t>
                            </m:r>
                          </m:sub>
                        </m:sSub>
                      </m:den>
                    </m:f>
                  </m:oMath>
                </a14:m>
                <a:r>
                  <a:rPr lang="en-US" sz="3000" i="1" dirty="0">
                    <a:latin typeface="Times New Roman" pitchFamily="18" charset="0"/>
                    <a:cs typeface="Times New Roman" pitchFamily="18" charset="0"/>
                  </a:rPr>
                  <a:t>]</a:t>
                </a:r>
              </a:p>
              <a:p>
                <a:pPr marL="0" indent="0">
                  <a:buNone/>
                </a:pP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dw</a:t>
                </a:r>
                <a:r>
                  <a:rPr lang="en-US" sz="3000" i="1" dirty="0">
                    <a:latin typeface="Times New Roman" pitchFamily="18" charset="0"/>
                    <a:cs typeface="Times New Roman" pitchFamily="18" charset="0"/>
                  </a:rPr>
                  <a:t> = -</a:t>
                </a:r>
                <a14:m>
                  <m:oMath xmlns:m="http://schemas.openxmlformats.org/officeDocument/2006/math">
                    <m:sSub>
                      <m:sSubPr>
                        <m:ctrlPr>
                          <a:rPr lang="en-US" sz="3000" i="1" smtClean="0">
                            <a:latin typeface="Cambria Math" panose="02040503050406030204" pitchFamily="18" charset="0"/>
                            <a:cs typeface="Times New Roman" pitchFamily="18" charset="0"/>
                          </a:rPr>
                        </m:ctrlPr>
                      </m:sSubPr>
                      <m:e>
                        <m:r>
                          <a:rPr lang="en-US" sz="3000" b="0" i="1" smtClean="0">
                            <a:latin typeface="Cambria Math"/>
                            <a:cs typeface="Times New Roman" pitchFamily="18" charset="0"/>
                          </a:rPr>
                          <m:t>𝑝</m:t>
                        </m:r>
                      </m:e>
                      <m:sub>
                        <m:r>
                          <a:rPr lang="en-US" sz="3000" b="0" i="1" smtClean="0">
                            <a:latin typeface="Cambria Math"/>
                            <a:cs typeface="Times New Roman" pitchFamily="18" charset="0"/>
                          </a:rPr>
                          <m:t>𝑖</m:t>
                        </m:r>
                      </m:sub>
                    </m:sSub>
                    <m:sSub>
                      <m:sSubPr>
                        <m:ctrlPr>
                          <a:rPr lang="en-US" sz="3000" i="1">
                            <a:latin typeface="Cambria Math" panose="02040503050406030204" pitchFamily="18" charset="0"/>
                            <a:cs typeface="Times New Roman" pitchFamily="18" charset="0"/>
                          </a:rPr>
                        </m:ctrlPr>
                      </m:sSubPr>
                      <m:e>
                        <m:r>
                          <a:rPr lang="en-US" sz="3000" b="0" i="1" smtClean="0">
                            <a:latin typeface="Cambria Math"/>
                            <a:cs typeface="Times New Roman" pitchFamily="18" charset="0"/>
                          </a:rPr>
                          <m:t>𝑣</m:t>
                        </m:r>
                      </m:e>
                      <m:sub>
                        <m:r>
                          <a:rPr lang="en-US" sz="3000" i="1">
                            <a:latin typeface="Cambria Math"/>
                            <a:cs typeface="Times New Roman" pitchFamily="18" charset="0"/>
                          </a:rPr>
                          <m:t>𝑖</m:t>
                        </m:r>
                      </m:sub>
                    </m:sSub>
                  </m:oMath>
                </a14:m>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ln</a:t>
                </a:r>
                <a:r>
                  <a:rPr lang="en-US" sz="3000" i="1" dirty="0">
                    <a:latin typeface="Times New Roman" pitchFamily="18" charset="0"/>
                    <a:cs typeface="Times New Roman" pitchFamily="18" charset="0"/>
                  </a:rPr>
                  <a:t>[ </a:t>
                </a:r>
                <a14:m>
                  <m:oMath xmlns:m="http://schemas.openxmlformats.org/officeDocument/2006/math">
                    <m:f>
                      <m:fPr>
                        <m:ctrlPr>
                          <a:rPr lang="en-US" sz="3000" i="1">
                            <a:latin typeface="Cambria Math" panose="02040503050406030204" pitchFamily="18" charset="0"/>
                            <a:cs typeface="Times New Roman" pitchFamily="18" charset="0"/>
                          </a:rPr>
                        </m:ctrlPr>
                      </m:fPr>
                      <m:num>
                        <m:sSub>
                          <m:sSubPr>
                            <m:ctrlPr>
                              <a:rPr lang="en-US" sz="3000" i="1">
                                <a:latin typeface="Cambria Math" panose="02040503050406030204" pitchFamily="18" charset="0"/>
                                <a:cs typeface="Times New Roman" pitchFamily="18" charset="0"/>
                              </a:rPr>
                            </m:ctrlPr>
                          </m:sSubPr>
                          <m:e>
                            <m:r>
                              <a:rPr lang="en-US" sz="3000" i="1">
                                <a:latin typeface="Cambria Math"/>
                                <a:cs typeface="Times New Roman" pitchFamily="18" charset="0"/>
                              </a:rPr>
                              <m:t>𝑉</m:t>
                            </m:r>
                          </m:e>
                          <m:sub>
                            <m:r>
                              <a:rPr lang="en-US" sz="3000" i="1">
                                <a:latin typeface="Cambria Math"/>
                                <a:cs typeface="Times New Roman" pitchFamily="18" charset="0"/>
                              </a:rPr>
                              <m:t>𝑓</m:t>
                            </m:r>
                          </m:sub>
                        </m:sSub>
                      </m:num>
                      <m:den>
                        <m:sSub>
                          <m:sSubPr>
                            <m:ctrlPr>
                              <a:rPr lang="en-US" sz="3000" i="1">
                                <a:latin typeface="Cambria Math" panose="02040503050406030204" pitchFamily="18" charset="0"/>
                                <a:cs typeface="Times New Roman" pitchFamily="18" charset="0"/>
                              </a:rPr>
                            </m:ctrlPr>
                          </m:sSubPr>
                          <m:e>
                            <m:r>
                              <a:rPr lang="en-US" sz="3000" i="1">
                                <a:latin typeface="Cambria Math"/>
                                <a:cs typeface="Times New Roman" pitchFamily="18" charset="0"/>
                              </a:rPr>
                              <m:t>𝑉</m:t>
                            </m:r>
                          </m:e>
                          <m:sub>
                            <m:r>
                              <a:rPr lang="en-US" sz="3000" i="1">
                                <a:latin typeface="Cambria Math"/>
                                <a:cs typeface="Times New Roman" pitchFamily="18" charset="0"/>
                              </a:rPr>
                              <m:t>𝑖</m:t>
                            </m:r>
                          </m:sub>
                        </m:sSub>
                      </m:den>
                    </m:f>
                  </m:oMath>
                </a14:m>
                <a:r>
                  <a:rPr lang="en-US" sz="3000" i="1" dirty="0">
                    <a:latin typeface="Times New Roman" pitchFamily="18" charset="0"/>
                    <a:cs typeface="Times New Roman" pitchFamily="18" charset="0"/>
                  </a:rPr>
                  <a:t>]</a:t>
                </a:r>
              </a:p>
              <a:p>
                <a:pPr marL="0" indent="0">
                  <a:buNone/>
                </a:pP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dw</a:t>
                </a:r>
                <a:r>
                  <a:rPr lang="en-US" sz="3000" i="1" dirty="0">
                    <a:latin typeface="Times New Roman" pitchFamily="18" charset="0"/>
                    <a:cs typeface="Times New Roman" pitchFamily="18" charset="0"/>
                  </a:rPr>
                  <a:t> = - </a:t>
                </a:r>
                <a14:m>
                  <m:oMath xmlns:m="http://schemas.openxmlformats.org/officeDocument/2006/math">
                    <m:sSub>
                      <m:sSubPr>
                        <m:ctrlPr>
                          <a:rPr lang="en-US" sz="3000" i="1">
                            <a:latin typeface="Cambria Math" panose="02040503050406030204" pitchFamily="18" charset="0"/>
                            <a:cs typeface="Times New Roman" pitchFamily="18" charset="0"/>
                          </a:rPr>
                        </m:ctrlPr>
                      </m:sSubPr>
                      <m:e>
                        <m:r>
                          <a:rPr lang="en-US" sz="3000" i="1">
                            <a:latin typeface="Cambria Math"/>
                            <a:cs typeface="Times New Roman" pitchFamily="18" charset="0"/>
                          </a:rPr>
                          <m:t>𝑝</m:t>
                        </m:r>
                      </m:e>
                      <m:sub>
                        <m:r>
                          <a:rPr lang="en-US" sz="3000" b="0" i="1" smtClean="0">
                            <a:latin typeface="Cambria Math"/>
                            <a:cs typeface="Times New Roman" pitchFamily="18" charset="0"/>
                          </a:rPr>
                          <m:t>𝑓</m:t>
                        </m:r>
                      </m:sub>
                    </m:sSub>
                    <m:sSub>
                      <m:sSubPr>
                        <m:ctrlPr>
                          <a:rPr lang="en-US" sz="3000" i="1">
                            <a:latin typeface="Cambria Math" panose="02040503050406030204" pitchFamily="18" charset="0"/>
                            <a:cs typeface="Times New Roman" pitchFamily="18" charset="0"/>
                          </a:rPr>
                        </m:ctrlPr>
                      </m:sSubPr>
                      <m:e>
                        <m:r>
                          <a:rPr lang="en-US" sz="3000" i="1">
                            <a:latin typeface="Cambria Math"/>
                            <a:cs typeface="Times New Roman" pitchFamily="18" charset="0"/>
                          </a:rPr>
                          <m:t>𝑣</m:t>
                        </m:r>
                      </m:e>
                      <m:sub>
                        <m:r>
                          <a:rPr lang="en-US" sz="3000" b="0" i="1" smtClean="0">
                            <a:latin typeface="Cambria Math"/>
                            <a:cs typeface="Times New Roman" pitchFamily="18" charset="0"/>
                          </a:rPr>
                          <m:t>𝑓</m:t>
                        </m:r>
                      </m:sub>
                    </m:sSub>
                  </m:oMath>
                </a14:m>
                <a:r>
                  <a:rPr lang="en-US" sz="3000" i="1" dirty="0" err="1">
                    <a:latin typeface="Times New Roman" pitchFamily="18" charset="0"/>
                    <a:cs typeface="Times New Roman" pitchFamily="18" charset="0"/>
                  </a:rPr>
                  <a:t>ln</a:t>
                </a:r>
                <a:r>
                  <a:rPr lang="en-US" sz="3000" i="1" dirty="0">
                    <a:latin typeface="Times New Roman" pitchFamily="18" charset="0"/>
                    <a:cs typeface="Times New Roman" pitchFamily="18" charset="0"/>
                  </a:rPr>
                  <a:t>[ </a:t>
                </a:r>
                <a14:m>
                  <m:oMath xmlns:m="http://schemas.openxmlformats.org/officeDocument/2006/math">
                    <m:f>
                      <m:fPr>
                        <m:ctrlPr>
                          <a:rPr lang="en-US" sz="3000" i="1">
                            <a:latin typeface="Cambria Math" panose="02040503050406030204" pitchFamily="18" charset="0"/>
                            <a:cs typeface="Times New Roman" pitchFamily="18" charset="0"/>
                          </a:rPr>
                        </m:ctrlPr>
                      </m:fPr>
                      <m:num>
                        <m:sSub>
                          <m:sSubPr>
                            <m:ctrlPr>
                              <a:rPr lang="en-US" sz="3000" i="1">
                                <a:latin typeface="Cambria Math" panose="02040503050406030204" pitchFamily="18" charset="0"/>
                                <a:cs typeface="Times New Roman" pitchFamily="18" charset="0"/>
                              </a:rPr>
                            </m:ctrlPr>
                          </m:sSubPr>
                          <m:e>
                            <m:r>
                              <a:rPr lang="en-US" sz="3000" i="1">
                                <a:latin typeface="Cambria Math"/>
                                <a:cs typeface="Times New Roman" pitchFamily="18" charset="0"/>
                              </a:rPr>
                              <m:t>𝑉</m:t>
                            </m:r>
                          </m:e>
                          <m:sub>
                            <m:r>
                              <a:rPr lang="en-US" sz="3000" i="1">
                                <a:latin typeface="Cambria Math"/>
                                <a:cs typeface="Times New Roman" pitchFamily="18" charset="0"/>
                              </a:rPr>
                              <m:t>𝑓</m:t>
                            </m:r>
                          </m:sub>
                        </m:sSub>
                      </m:num>
                      <m:den>
                        <m:sSub>
                          <m:sSubPr>
                            <m:ctrlPr>
                              <a:rPr lang="en-US" sz="3000" i="1">
                                <a:latin typeface="Cambria Math" panose="02040503050406030204" pitchFamily="18" charset="0"/>
                                <a:cs typeface="Times New Roman" pitchFamily="18" charset="0"/>
                              </a:rPr>
                            </m:ctrlPr>
                          </m:sSubPr>
                          <m:e>
                            <m:r>
                              <a:rPr lang="en-US" sz="3000" i="1">
                                <a:latin typeface="Cambria Math"/>
                                <a:cs typeface="Times New Roman" pitchFamily="18" charset="0"/>
                              </a:rPr>
                              <m:t>𝑉</m:t>
                            </m:r>
                          </m:e>
                          <m:sub>
                            <m:r>
                              <a:rPr lang="en-US" sz="3000" i="1">
                                <a:latin typeface="Cambria Math"/>
                                <a:cs typeface="Times New Roman" pitchFamily="18" charset="0"/>
                              </a:rPr>
                              <m:t>𝑖</m:t>
                            </m:r>
                          </m:sub>
                        </m:sSub>
                      </m:den>
                    </m:f>
                  </m:oMath>
                </a14:m>
                <a:r>
                  <a:rPr lang="en-US" sz="3000" i="1" dirty="0">
                    <a:latin typeface="Times New Roman" pitchFamily="18" charset="0"/>
                    <a:cs typeface="Times New Roman" pitchFamily="18" charset="0"/>
                  </a:rPr>
                  <a:t>]</a:t>
                </a:r>
              </a:p>
              <a:p>
                <a:pPr marL="0" indent="0">
                  <a:buNone/>
                </a:pPr>
                <a:endParaRPr lang="en-IN" sz="3000"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548680"/>
                <a:ext cx="8229600" cy="5904656"/>
              </a:xfrm>
              <a:blipFill rotWithShape="1">
                <a:blip r:embed="rId2"/>
                <a:stretch>
                  <a:fillRect l="-1259" t="-2270" b="-3199"/>
                </a:stretch>
              </a:blipFill>
            </p:spPr>
            <p:txBody>
              <a:bodyPr/>
              <a:lstStyle/>
              <a:p>
                <a:r>
                  <a:rPr lang="en-IN">
                    <a:noFill/>
                  </a:rPr>
                  <a:t> </a:t>
                </a:r>
              </a:p>
            </p:txBody>
          </p:sp>
        </mc:Fallback>
      </mc:AlternateContent>
    </p:spTree>
    <p:extLst>
      <p:ext uri="{BB962C8B-B14F-4D97-AF65-F5344CB8AC3E}">
        <p14:creationId xmlns:p14="http://schemas.microsoft.com/office/powerpoint/2010/main" val="38253528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5649491"/>
          </a:xfrm>
        </p:spPr>
        <p:txBody>
          <a:bodyPr>
            <a:normAutofit/>
          </a:bodyPr>
          <a:lstStyle/>
          <a:p>
            <a:pPr marL="0" indent="0" algn="just">
              <a:buNone/>
            </a:pPr>
            <a:r>
              <a:rPr lang="en-US" sz="3000" b="1" dirty="0">
                <a:latin typeface="Times New Roman" pitchFamily="18" charset="0"/>
                <a:cs typeface="Times New Roman" pitchFamily="18" charset="0"/>
              </a:rPr>
              <a:t>Adiabatic Expansion of Gas:</a:t>
            </a:r>
            <a:endParaRPr lang="en-IN" sz="3000" dirty="0">
              <a:latin typeface="Times New Roman" pitchFamily="18" charset="0"/>
              <a:cs typeface="Times New Roman" pitchFamily="18" charset="0"/>
            </a:endParaRPr>
          </a:p>
          <a:p>
            <a:pPr marL="0" indent="0" algn="just">
              <a:buNone/>
            </a:pPr>
            <a:r>
              <a:rPr lang="en-US" sz="3000" dirty="0">
                <a:latin typeface="Times New Roman" pitchFamily="18" charset="0"/>
                <a:cs typeface="Times New Roman" pitchFamily="18" charset="0"/>
              </a:rPr>
              <a:t>Adiabatic process in which there is not heat transfer takes place between system and surroundings. </a:t>
            </a:r>
          </a:p>
          <a:p>
            <a:pPr marL="0" indent="0" algn="just">
              <a:buNone/>
            </a:pPr>
            <a:r>
              <a:rPr lang="en-US" sz="3000" dirty="0">
                <a:latin typeface="Times New Roman" pitchFamily="18" charset="0"/>
                <a:cs typeface="Times New Roman" pitchFamily="18" charset="0"/>
              </a:rPr>
              <a:t>Thus in terms of the 1</a:t>
            </a:r>
            <a:r>
              <a:rPr lang="en-US" sz="3000" baseline="30000" dirty="0">
                <a:latin typeface="Times New Roman" pitchFamily="18" charset="0"/>
                <a:cs typeface="Times New Roman" pitchFamily="18" charset="0"/>
              </a:rPr>
              <a:t>st</a:t>
            </a:r>
            <a:r>
              <a:rPr lang="en-US" sz="3000" dirty="0">
                <a:latin typeface="Times New Roman" pitchFamily="18" charset="0"/>
                <a:cs typeface="Times New Roman" pitchFamily="18" charset="0"/>
              </a:rPr>
              <a:t> Law of Thermodynamics, we can say that for a thermodynamic process, </a:t>
            </a:r>
          </a:p>
          <a:p>
            <a:pPr marL="0" indent="0" algn="just">
              <a:buNone/>
            </a:pP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dQ</a:t>
            </a:r>
            <a:r>
              <a:rPr lang="en-US" sz="3000" dirty="0">
                <a:latin typeface="Times New Roman" pitchFamily="18" charset="0"/>
                <a:cs typeface="Times New Roman" pitchFamily="18" charset="0"/>
              </a:rPr>
              <a:t> = </a:t>
            </a:r>
            <a:r>
              <a:rPr lang="en-US" sz="3000" dirty="0" err="1">
                <a:latin typeface="Times New Roman" pitchFamily="18" charset="0"/>
                <a:cs typeface="Times New Roman" pitchFamily="18" charset="0"/>
              </a:rPr>
              <a:t>dU</a:t>
            </a:r>
            <a:r>
              <a:rPr lang="en-US" sz="3000" dirty="0">
                <a:latin typeface="Times New Roman" pitchFamily="18" charset="0"/>
                <a:cs typeface="Times New Roman" pitchFamily="18" charset="0"/>
              </a:rPr>
              <a:t> + </a:t>
            </a:r>
            <a:r>
              <a:rPr lang="en-US" sz="3000" dirty="0" err="1">
                <a:latin typeface="Times New Roman" pitchFamily="18" charset="0"/>
                <a:cs typeface="Times New Roman" pitchFamily="18" charset="0"/>
              </a:rPr>
              <a:t>dW</a:t>
            </a:r>
            <a:r>
              <a:rPr lang="en-US" sz="3000" dirty="0">
                <a:latin typeface="Times New Roman" pitchFamily="18" charset="0"/>
                <a:cs typeface="Times New Roman" pitchFamily="18" charset="0"/>
              </a:rPr>
              <a:t> = 0</a:t>
            </a:r>
            <a:endParaRPr lang="en-IN" sz="3000" dirty="0">
              <a:latin typeface="Times New Roman" pitchFamily="18" charset="0"/>
              <a:cs typeface="Times New Roman" pitchFamily="18" charset="0"/>
            </a:endParaRPr>
          </a:p>
        </p:txBody>
      </p:sp>
    </p:spTree>
    <p:extLst>
      <p:ext uri="{BB962C8B-B14F-4D97-AF65-F5344CB8AC3E}">
        <p14:creationId xmlns:p14="http://schemas.microsoft.com/office/powerpoint/2010/main" val="2038247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a:bodyPr>
              <a:lstStyle/>
              <a:p>
                <a:pPr algn="l"/>
                <a:r>
                  <a:rPr lang="en-US" sz="3000" b="1" dirty="0">
                    <a:latin typeface="Times New Roman" pitchFamily="18" charset="0"/>
                    <a:cs typeface="Times New Roman" pitchFamily="18" charset="0"/>
                  </a:rPr>
                  <a:t>Expression for Adiabatic equation of a state </a:t>
                </a:r>
                <a:br>
                  <a:rPr lang="en-US" sz="3000" b="1" dirty="0">
                    <a:latin typeface="Times New Roman" pitchFamily="18" charset="0"/>
                    <a:cs typeface="Times New Roman" pitchFamily="18" charset="0"/>
                  </a:rPr>
                </a:br>
                <a14:m>
                  <m:oMathPara xmlns:m="http://schemas.openxmlformats.org/officeDocument/2006/math">
                    <m:oMathParaPr>
                      <m:jc m:val="centerGroup"/>
                    </m:oMathParaPr>
                    <m:oMath xmlns:m="http://schemas.openxmlformats.org/officeDocument/2006/math">
                      <m:sSup>
                        <m:sSupPr>
                          <m:ctrlPr>
                            <a:rPr lang="en-US" sz="3000" b="1" i="1" smtClean="0">
                              <a:latin typeface="Cambria Math" panose="02040503050406030204" pitchFamily="18" charset="0"/>
                              <a:cs typeface="Times New Roman" pitchFamily="18" charset="0"/>
                            </a:rPr>
                          </m:ctrlPr>
                        </m:sSupPr>
                        <m:e>
                          <m:r>
                            <a:rPr lang="en-US" sz="3000" b="1" i="1" smtClean="0">
                              <a:latin typeface="Cambria Math"/>
                              <a:cs typeface="Times New Roman" pitchFamily="18" charset="0"/>
                            </a:rPr>
                            <m:t>𝑷𝑽</m:t>
                          </m:r>
                        </m:e>
                        <m:sup>
                          <m:r>
                            <m:rPr>
                              <m:sty m:val="p"/>
                            </m:rPr>
                            <a:rPr lang="el-GR" sz="3000" b="1" i="1" smtClean="0">
                              <a:latin typeface="Cambria Math"/>
                              <a:cs typeface="Times New Roman" pitchFamily="18" charset="0"/>
                            </a:rPr>
                            <m:t>γ</m:t>
                          </m:r>
                        </m:sup>
                      </m:sSup>
                      <m:r>
                        <a:rPr lang="en-US" sz="3000" b="1" i="1" smtClean="0">
                          <a:latin typeface="Cambria Math"/>
                          <a:cs typeface="Times New Roman" pitchFamily="18" charset="0"/>
                        </a:rPr>
                        <m:t>=</m:t>
                      </m:r>
                      <m:r>
                        <a:rPr lang="en-US" sz="3000" b="1" i="1" smtClean="0">
                          <a:latin typeface="Cambria Math"/>
                          <a:cs typeface="Times New Roman" pitchFamily="18" charset="0"/>
                        </a:rPr>
                        <m:t>𝑪𝒐𝒏𝒔𝒕𝒂𝒏𝒕</m:t>
                      </m:r>
                    </m:oMath>
                  </m:oMathPara>
                </a14:m>
                <a:endParaRPr lang="en-IN" sz="3000" b="1" dirty="0">
                  <a:latin typeface="Times New Roman" pitchFamily="18" charset="0"/>
                  <a:cs typeface="Times New Roman" pitchFamily="18" charset="0"/>
                </a:endParaRP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1">
                <a:blip r:embed="rId2"/>
                <a:stretch>
                  <a:fillRect l="-1704" t="-1064" b="-1010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412776"/>
                <a:ext cx="7787208" cy="4968552"/>
              </a:xfrm>
            </p:spPr>
            <p:txBody>
              <a:bodyPr>
                <a:normAutofit fontScale="55000" lnSpcReduction="20000"/>
              </a:bodyPr>
              <a:lstStyle/>
              <a:p>
                <a:pPr marL="0" indent="0">
                  <a:buNone/>
                </a:pPr>
                <a:r>
                  <a:rPr lang="en-US" dirty="0">
                    <a:latin typeface="Times New Roman" pitchFamily="18" charset="0"/>
                    <a:cs typeface="Times New Roman" pitchFamily="18" charset="0"/>
                  </a:rPr>
                  <a:t>From firs law of thermodynamics, the adiabatic process is given by</a:t>
                </a:r>
              </a:p>
              <a:p>
                <a:pPr marL="0" indent="0">
                  <a:buNone/>
                </a:pPr>
                <a:r>
                  <a:rPr lang="en-US" dirty="0" err="1">
                    <a:latin typeface="Times New Roman" pitchFamily="18" charset="0"/>
                    <a:cs typeface="Times New Roman" pitchFamily="18" charset="0"/>
                  </a:rPr>
                  <a:t>dQ</a:t>
                </a:r>
                <a:r>
                  <a:rPr lang="en-US" dirty="0">
                    <a:latin typeface="Times New Roman" pitchFamily="18" charset="0"/>
                    <a:cs typeface="Times New Roman" pitchFamily="18" charset="0"/>
                  </a:rPr>
                  <a:t> = </a:t>
                </a:r>
                <a:r>
                  <a:rPr lang="en-US" dirty="0" err="1">
                    <a:latin typeface="Times New Roman" pitchFamily="18" charset="0"/>
                    <a:cs typeface="Times New Roman" pitchFamily="18" charset="0"/>
                  </a:rPr>
                  <a:t>dU</a:t>
                </a:r>
                <a:r>
                  <a:rPr lang="en-US" dirty="0">
                    <a:latin typeface="Times New Roman" pitchFamily="18" charset="0"/>
                    <a:cs typeface="Times New Roman" pitchFamily="18" charset="0"/>
                  </a:rPr>
                  <a:t> + </a:t>
                </a:r>
                <a:r>
                  <a:rPr lang="en-US" dirty="0" err="1">
                    <a:latin typeface="Times New Roman" pitchFamily="18" charset="0"/>
                    <a:cs typeface="Times New Roman" pitchFamily="18" charset="0"/>
                  </a:rPr>
                  <a:t>dW</a:t>
                </a:r>
                <a:r>
                  <a:rPr lang="en-US" dirty="0">
                    <a:latin typeface="Times New Roman" pitchFamily="18" charset="0"/>
                    <a:cs typeface="Times New Roman" pitchFamily="18" charset="0"/>
                  </a:rPr>
                  <a:t> = 0</a:t>
                </a:r>
              </a:p>
              <a:p>
                <a:pPr marL="0" indent="0">
                  <a:buNone/>
                </a:pPr>
                <a:r>
                  <a:rPr lang="en-US" dirty="0">
                    <a:latin typeface="Times New Roman" pitchFamily="18" charset="0"/>
                    <a:cs typeface="Times New Roman" pitchFamily="18" charset="0"/>
                  </a:rPr>
                  <a:t>But </a:t>
                </a:r>
                <a:r>
                  <a:rPr lang="en-US" dirty="0" err="1">
                    <a:latin typeface="Times New Roman" pitchFamily="18" charset="0"/>
                    <a:cs typeface="Times New Roman" pitchFamily="18" charset="0"/>
                  </a:rPr>
                  <a:t>C</a:t>
                </a:r>
                <a:r>
                  <a:rPr lang="en-US" baseline="-25000" dirty="0" err="1">
                    <a:latin typeface="Times New Roman" pitchFamily="18" charset="0"/>
                    <a:cs typeface="Times New Roman" pitchFamily="18" charset="0"/>
                  </a:rPr>
                  <a:t>v</a:t>
                </a:r>
                <a:r>
                  <a:rPr lang="en-US" dirty="0">
                    <a:latin typeface="Times New Roman" pitchFamily="18" charset="0"/>
                    <a:cs typeface="Times New Roman" pitchFamily="18" charset="0"/>
                  </a:rPr>
                  <a:t> = </a:t>
                </a:r>
                <a14:m>
                  <m:oMath xmlns:m="http://schemas.openxmlformats.org/officeDocument/2006/math">
                    <m:f>
                      <m:fPr>
                        <m:ctrlPr>
                          <a:rPr lang="en-US" sz="4400" i="1" smtClean="0">
                            <a:latin typeface="Cambria Math" panose="02040503050406030204" pitchFamily="18" charset="0"/>
                            <a:cs typeface="Times New Roman" pitchFamily="18" charset="0"/>
                          </a:rPr>
                        </m:ctrlPr>
                      </m:fPr>
                      <m:num>
                        <m:r>
                          <a:rPr lang="en-IN" sz="4400" b="0" i="1" smtClean="0">
                            <a:latin typeface="Cambria Math" panose="02040503050406030204" pitchFamily="18" charset="0"/>
                            <a:cs typeface="Times New Roman" pitchFamily="18" charset="0"/>
                          </a:rPr>
                          <m:t>𝑑𝑈</m:t>
                        </m:r>
                      </m:num>
                      <m:den>
                        <m:r>
                          <a:rPr lang="en-IN" sz="4400" b="0" i="1" smtClean="0">
                            <a:latin typeface="Cambria Math" panose="02040503050406030204" pitchFamily="18" charset="0"/>
                            <a:cs typeface="Times New Roman" pitchFamily="18" charset="0"/>
                          </a:rPr>
                          <m:t>𝑑𝑇</m:t>
                        </m:r>
                      </m:den>
                    </m:f>
                  </m:oMath>
                </a14:m>
                <a:r>
                  <a:rPr lang="en-US" dirty="0">
                    <a:latin typeface="Times New Roman" pitchFamily="18" charset="0"/>
                    <a:cs typeface="Times New Roman" pitchFamily="18" charset="0"/>
                  </a:rPr>
                  <a:t> ,        </a:t>
                </a:r>
                <a:r>
                  <a:rPr lang="en-US" dirty="0" err="1">
                    <a:latin typeface="Times New Roman" pitchFamily="18" charset="0"/>
                    <a:cs typeface="Times New Roman" pitchFamily="18" charset="0"/>
                  </a:rPr>
                  <a:t>dU</a:t>
                </a:r>
                <a:r>
                  <a:rPr lang="en-US" dirty="0">
                    <a:latin typeface="Times New Roman" pitchFamily="18" charset="0"/>
                    <a:cs typeface="Times New Roman" pitchFamily="18" charset="0"/>
                  </a:rPr>
                  <a:t> = </a:t>
                </a:r>
                <a:r>
                  <a:rPr lang="en-US" dirty="0" err="1">
                    <a:latin typeface="Times New Roman" pitchFamily="18" charset="0"/>
                    <a:cs typeface="Times New Roman" pitchFamily="18" charset="0"/>
                  </a:rPr>
                  <a:t>mC</a:t>
                </a:r>
                <a:r>
                  <a:rPr lang="en-US" baseline="-25000" dirty="0" err="1">
                    <a:latin typeface="Times New Roman" pitchFamily="18" charset="0"/>
                    <a:cs typeface="Times New Roman" pitchFamily="18" charset="0"/>
                  </a:rPr>
                  <a:t>v</a:t>
                </a:r>
                <a:r>
                  <a:rPr lang="en-US" dirty="0" err="1">
                    <a:latin typeface="Times New Roman" pitchFamily="18" charset="0"/>
                    <a:cs typeface="Times New Roman" pitchFamily="18" charset="0"/>
                  </a:rPr>
                  <a:t>dT</a:t>
                </a:r>
                <a:r>
                  <a:rPr lang="en-US" dirty="0">
                    <a:latin typeface="Times New Roman" pitchFamily="18" charset="0"/>
                    <a:cs typeface="Times New Roman" pitchFamily="18" charset="0"/>
                  </a:rPr>
                  <a:t>  (assuming mass m = 1kg)</a:t>
                </a:r>
              </a:p>
              <a:p>
                <a:pPr marL="0" indent="0">
                  <a:buNone/>
                </a:pPr>
                <a:r>
                  <a:rPr lang="en-US" dirty="0">
                    <a:latin typeface="Times New Roman" pitchFamily="18" charset="0"/>
                    <a:cs typeface="Times New Roman" pitchFamily="18" charset="0"/>
                  </a:rPr>
                  <a:t> and </a:t>
                </a:r>
                <a:r>
                  <a:rPr lang="en-US" dirty="0" err="1">
                    <a:latin typeface="Times New Roman" pitchFamily="18" charset="0"/>
                    <a:cs typeface="Times New Roman" pitchFamily="18" charset="0"/>
                  </a:rPr>
                  <a:t>dW</a:t>
                </a:r>
                <a:r>
                  <a:rPr lang="en-US" dirty="0">
                    <a:latin typeface="Times New Roman" pitchFamily="18" charset="0"/>
                    <a:cs typeface="Times New Roman" pitchFamily="18" charset="0"/>
                  </a:rPr>
                  <a:t> = </a:t>
                </a:r>
                <a:r>
                  <a:rPr lang="en-US" dirty="0" err="1">
                    <a:latin typeface="Times New Roman" pitchFamily="18" charset="0"/>
                    <a:cs typeface="Times New Roman" pitchFamily="18" charset="0"/>
                  </a:rPr>
                  <a:t>PdV</a:t>
                </a:r>
                <a:endParaRPr lang="en-US" dirty="0">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Hence </a:t>
                </a:r>
                <a:r>
                  <a:rPr lang="en-US" dirty="0" err="1">
                    <a:latin typeface="Times New Roman" pitchFamily="18" charset="0"/>
                    <a:cs typeface="Times New Roman" pitchFamily="18" charset="0"/>
                  </a:rPr>
                  <a:t>dQ</a:t>
                </a:r>
                <a:r>
                  <a:rPr lang="en-US" dirty="0">
                    <a:latin typeface="Times New Roman" pitchFamily="18" charset="0"/>
                    <a:cs typeface="Times New Roman" pitchFamily="18" charset="0"/>
                  </a:rPr>
                  <a:t> = </a:t>
                </a:r>
                <a:r>
                  <a:rPr lang="en-US" dirty="0" err="1">
                    <a:latin typeface="Times New Roman" pitchFamily="18" charset="0"/>
                    <a:cs typeface="Times New Roman" pitchFamily="18" charset="0"/>
                  </a:rPr>
                  <a:t>C</a:t>
                </a:r>
                <a:r>
                  <a:rPr lang="en-US" baseline="-25000" dirty="0" err="1">
                    <a:latin typeface="Times New Roman" pitchFamily="18" charset="0"/>
                    <a:cs typeface="Times New Roman" pitchFamily="18" charset="0"/>
                  </a:rPr>
                  <a:t>v</a:t>
                </a:r>
                <a:r>
                  <a:rPr lang="en-US" dirty="0" err="1">
                    <a:latin typeface="Times New Roman" pitchFamily="18" charset="0"/>
                    <a:cs typeface="Times New Roman" pitchFamily="18" charset="0"/>
                  </a:rPr>
                  <a:t>dT</a:t>
                </a:r>
                <a:r>
                  <a:rPr lang="en-US" dirty="0">
                    <a:latin typeface="Times New Roman" pitchFamily="18" charset="0"/>
                    <a:cs typeface="Times New Roman" pitchFamily="18" charset="0"/>
                  </a:rPr>
                  <a:t> + </a:t>
                </a:r>
                <a:r>
                  <a:rPr lang="en-US" dirty="0" err="1">
                    <a:latin typeface="Times New Roman" pitchFamily="18" charset="0"/>
                    <a:cs typeface="Times New Roman" pitchFamily="18" charset="0"/>
                  </a:rPr>
                  <a:t>PdV</a:t>
                </a:r>
                <a:r>
                  <a:rPr lang="en-US" dirty="0">
                    <a:latin typeface="Times New Roman" pitchFamily="18" charset="0"/>
                    <a:cs typeface="Times New Roman" pitchFamily="18" charset="0"/>
                  </a:rPr>
                  <a:t> = 0   -------(1)</a:t>
                </a:r>
              </a:p>
              <a:p>
                <a:pPr marL="0" indent="0">
                  <a:buNone/>
                </a:pPr>
                <a:r>
                  <a:rPr lang="en-US" dirty="0">
                    <a:latin typeface="Times New Roman" pitchFamily="18" charset="0"/>
                    <a:cs typeface="Times New Roman" pitchFamily="18" charset="0"/>
                  </a:rPr>
                  <a:t>Since By gas equation of a state </a:t>
                </a:r>
              </a:p>
              <a:p>
                <a:pPr marL="0" indent="0">
                  <a:buNone/>
                </a:pPr>
                <a:r>
                  <a:rPr lang="en-US" dirty="0">
                    <a:latin typeface="Times New Roman" pitchFamily="18" charset="0"/>
                    <a:cs typeface="Times New Roman" pitchFamily="18" charset="0"/>
                  </a:rPr>
                  <a:t>PV = RT</a:t>
                </a:r>
              </a:p>
              <a:p>
                <a:pPr marL="0" indent="0">
                  <a:buNone/>
                </a:pPr>
                <a:r>
                  <a:rPr lang="en-US" dirty="0" err="1">
                    <a:latin typeface="Times New Roman" pitchFamily="18" charset="0"/>
                    <a:cs typeface="Times New Roman" pitchFamily="18" charset="0"/>
                  </a:rPr>
                  <a:t>Pdv</a:t>
                </a:r>
                <a:r>
                  <a:rPr lang="en-US" dirty="0">
                    <a:latin typeface="Times New Roman" pitchFamily="18" charset="0"/>
                    <a:cs typeface="Times New Roman" pitchFamily="18" charset="0"/>
                  </a:rPr>
                  <a:t> + </a:t>
                </a:r>
                <a:r>
                  <a:rPr lang="en-US" dirty="0" err="1">
                    <a:latin typeface="Times New Roman" pitchFamily="18" charset="0"/>
                    <a:cs typeface="Times New Roman" pitchFamily="18" charset="0"/>
                  </a:rPr>
                  <a:t>VdP</a:t>
                </a:r>
                <a:r>
                  <a:rPr lang="en-US" dirty="0">
                    <a:latin typeface="Times New Roman" pitchFamily="18" charset="0"/>
                    <a:cs typeface="Times New Roman" pitchFamily="18" charset="0"/>
                  </a:rPr>
                  <a:t> = R </a:t>
                </a:r>
                <a:r>
                  <a:rPr lang="en-US" dirty="0" err="1">
                    <a:latin typeface="Times New Roman" pitchFamily="18" charset="0"/>
                    <a:cs typeface="Times New Roman" pitchFamily="18" charset="0"/>
                  </a:rPr>
                  <a:t>dT</a:t>
                </a:r>
                <a:endParaRPr lang="en-US"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𝑑𝑇</m:t>
                      </m:r>
                      <m:r>
                        <a:rPr lang="en-US" b="0" i="1" smtClean="0">
                          <a:latin typeface="Cambria Math"/>
                        </a:rPr>
                        <m:t>= </m:t>
                      </m:r>
                      <m:f>
                        <m:fPr>
                          <m:ctrlPr>
                            <a:rPr lang="en-US" i="1" smtClean="0">
                              <a:latin typeface="Cambria Math" panose="02040503050406030204" pitchFamily="18" charset="0"/>
                            </a:rPr>
                          </m:ctrlPr>
                        </m:fPr>
                        <m:num>
                          <m:r>
                            <a:rPr lang="en-US" b="0" i="1" smtClean="0">
                              <a:latin typeface="Cambria Math"/>
                            </a:rPr>
                            <m:t>𝑃</m:t>
                          </m:r>
                        </m:num>
                        <m:den>
                          <m:r>
                            <a:rPr lang="en-US" b="0" i="1" smtClean="0">
                              <a:latin typeface="Cambria Math"/>
                            </a:rPr>
                            <m:t>𝑅</m:t>
                          </m:r>
                        </m:den>
                      </m:f>
                      <m:r>
                        <a:rPr lang="en-US" b="0" i="1" smtClean="0">
                          <a:latin typeface="Cambria Math"/>
                        </a:rPr>
                        <m:t>𝑑𝑉</m:t>
                      </m:r>
                      <m:r>
                        <a:rPr lang="en-US" b="0" i="1" smtClean="0">
                          <a:latin typeface="Cambria Math"/>
                        </a:rPr>
                        <m:t>+</m:t>
                      </m:r>
                      <m:f>
                        <m:fPr>
                          <m:ctrlPr>
                            <a:rPr lang="en-US" i="1">
                              <a:latin typeface="Cambria Math" panose="02040503050406030204" pitchFamily="18" charset="0"/>
                            </a:rPr>
                          </m:ctrlPr>
                        </m:fPr>
                        <m:num>
                          <m:r>
                            <a:rPr lang="en-US" b="0" i="1" smtClean="0">
                              <a:latin typeface="Cambria Math"/>
                            </a:rPr>
                            <m:t>𝑉</m:t>
                          </m:r>
                        </m:num>
                        <m:den>
                          <m:r>
                            <a:rPr lang="en-US" i="1" smtClean="0">
                              <a:latin typeface="Cambria Math"/>
                            </a:rPr>
                            <m:t>𝑅</m:t>
                          </m:r>
                        </m:den>
                      </m:f>
                      <m:r>
                        <a:rPr lang="en-US" i="1">
                          <a:latin typeface="Cambria Math"/>
                        </a:rPr>
                        <m:t>𝑑</m:t>
                      </m:r>
                      <m:r>
                        <a:rPr lang="en-US" b="0" i="1" smtClean="0">
                          <a:latin typeface="Cambria Math"/>
                        </a:rPr>
                        <m:t>𝑝</m:t>
                      </m:r>
                    </m:oMath>
                  </m:oMathPara>
                </a14:m>
                <a:endParaRPr lang="en-US" dirty="0">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Substituting in (1)</a:t>
                </a:r>
              </a:p>
              <a:p>
                <a:pPr marL="0" indent="0">
                  <a:buNone/>
                </a:pPr>
                <a:r>
                  <a:rPr lang="en-US" dirty="0">
                    <a:latin typeface="Times New Roman" pitchFamily="18" charset="0"/>
                    <a:cs typeface="Times New Roman" pitchFamily="18" charset="0"/>
                  </a:rPr>
                  <a:t>We get  </a:t>
                </a:r>
                <a:r>
                  <a:rPr lang="en-US" dirty="0" err="1">
                    <a:latin typeface="Times New Roman" pitchFamily="18" charset="0"/>
                    <a:cs typeface="Times New Roman" pitchFamily="18" charset="0"/>
                  </a:rPr>
                  <a:t>C</a:t>
                </a:r>
                <a:r>
                  <a:rPr lang="en-US" baseline="-25000" dirty="0" err="1">
                    <a:latin typeface="Times New Roman" pitchFamily="18" charset="0"/>
                    <a:cs typeface="Times New Roman" pitchFamily="18" charset="0"/>
                  </a:rPr>
                  <a:t>v</a:t>
                </a:r>
                <a:r>
                  <a:rPr lang="en-US" baseline="-25000" dirty="0">
                    <a:latin typeface="Times New Roman" pitchFamily="18" charset="0"/>
                    <a:cs typeface="Times New Roman" pitchFamily="18" charset="0"/>
                  </a:rPr>
                  <a:t>  </a:t>
                </a:r>
                <a14:m>
                  <m:oMath xmlns:m="http://schemas.openxmlformats.org/officeDocument/2006/math">
                    <m:r>
                      <a:rPr lang="en-US" b="0" i="0" smtClean="0">
                        <a:latin typeface="Cambria Math"/>
                      </a:rPr>
                      <m:t>{</m:t>
                    </m:r>
                    <m:f>
                      <m:fPr>
                        <m:ctrlPr>
                          <a:rPr lang="en-US" i="1">
                            <a:latin typeface="Cambria Math" panose="02040503050406030204" pitchFamily="18" charset="0"/>
                          </a:rPr>
                        </m:ctrlPr>
                      </m:fPr>
                      <m:num>
                        <m:r>
                          <a:rPr lang="en-US" i="1">
                            <a:latin typeface="Cambria Math"/>
                          </a:rPr>
                          <m:t>𝑃</m:t>
                        </m:r>
                      </m:num>
                      <m:den>
                        <m:r>
                          <a:rPr lang="en-US" i="1">
                            <a:latin typeface="Cambria Math"/>
                          </a:rPr>
                          <m:t>𝑅</m:t>
                        </m:r>
                      </m:den>
                    </m:f>
                    <m:r>
                      <a:rPr lang="en-US" i="1">
                        <a:latin typeface="Cambria Math"/>
                      </a:rPr>
                      <m:t>𝑑𝑉</m:t>
                    </m:r>
                    <m:r>
                      <a:rPr lang="en-US" i="1">
                        <a:latin typeface="Cambria Math"/>
                      </a:rPr>
                      <m:t>+</m:t>
                    </m:r>
                    <m:f>
                      <m:fPr>
                        <m:ctrlPr>
                          <a:rPr lang="en-US" i="1">
                            <a:latin typeface="Cambria Math" panose="02040503050406030204" pitchFamily="18" charset="0"/>
                          </a:rPr>
                        </m:ctrlPr>
                      </m:fPr>
                      <m:num>
                        <m:r>
                          <a:rPr lang="en-US" i="1">
                            <a:latin typeface="Cambria Math"/>
                          </a:rPr>
                          <m:t>𝑉</m:t>
                        </m:r>
                      </m:num>
                      <m:den>
                        <m:r>
                          <a:rPr lang="en-US" i="1">
                            <a:latin typeface="Cambria Math"/>
                          </a:rPr>
                          <m:t>𝑅</m:t>
                        </m:r>
                      </m:den>
                    </m:f>
                    <m:r>
                      <a:rPr lang="en-US" i="1">
                        <a:latin typeface="Cambria Math"/>
                      </a:rPr>
                      <m:t>𝑑𝑝</m:t>
                    </m:r>
                    <m:r>
                      <a:rPr lang="en-US" i="1" smtClean="0">
                        <a:latin typeface="Cambria Math"/>
                      </a:rPr>
                      <m:t>}</m:t>
                    </m:r>
                  </m:oMath>
                </a14:m>
                <a:r>
                  <a:rPr lang="en-US" dirty="0">
                    <a:latin typeface="Times New Roman" pitchFamily="18" charset="0"/>
                    <a:cs typeface="Times New Roman" pitchFamily="18" charset="0"/>
                  </a:rPr>
                  <a:t> + </a:t>
                </a:r>
                <a:r>
                  <a:rPr lang="en-US" dirty="0" err="1">
                    <a:latin typeface="Times New Roman" pitchFamily="18" charset="0"/>
                    <a:cs typeface="Times New Roman" pitchFamily="18" charset="0"/>
                  </a:rPr>
                  <a:t>PdV</a:t>
                </a:r>
                <a:r>
                  <a:rPr lang="en-US" dirty="0">
                    <a:latin typeface="Times New Roman" pitchFamily="18" charset="0"/>
                    <a:cs typeface="Times New Roman" pitchFamily="18" charset="0"/>
                  </a:rPr>
                  <a:t> = 0</a:t>
                </a:r>
              </a:p>
              <a:p>
                <a:pPr marL="0" indent="0">
                  <a:buNone/>
                </a:pPr>
                <a:endParaRPr lang="en-US" dirty="0">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a:t>
                </a:r>
                <a:r>
                  <a:rPr lang="en-US" baseline="-25000" dirty="0" err="1">
                    <a:latin typeface="Times New Roman" pitchFamily="18" charset="0"/>
                    <a:cs typeface="Times New Roman" pitchFamily="18" charset="0"/>
                  </a:rPr>
                  <a:t>v</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PdV</a:t>
                </a:r>
                <a:r>
                  <a:rPr lang="en-US" dirty="0">
                    <a:latin typeface="Times New Roman" pitchFamily="18" charset="0"/>
                    <a:cs typeface="Times New Roman" pitchFamily="18" charset="0"/>
                  </a:rPr>
                  <a:t> + </a:t>
                </a:r>
                <a:r>
                  <a:rPr lang="en-US" dirty="0" err="1">
                    <a:latin typeface="Times New Roman" pitchFamily="18" charset="0"/>
                    <a:cs typeface="Times New Roman" pitchFamily="18" charset="0"/>
                  </a:rPr>
                  <a:t>VdP</a:t>
                </a:r>
                <a:r>
                  <a:rPr lang="en-US" dirty="0">
                    <a:latin typeface="Times New Roman" pitchFamily="18" charset="0"/>
                    <a:cs typeface="Times New Roman" pitchFamily="18" charset="0"/>
                  </a:rPr>
                  <a:t>] + </a:t>
                </a:r>
                <a:r>
                  <a:rPr lang="en-US" dirty="0" err="1">
                    <a:latin typeface="Times New Roman" pitchFamily="18" charset="0"/>
                    <a:cs typeface="Times New Roman" pitchFamily="18" charset="0"/>
                  </a:rPr>
                  <a:t>RPdV</a:t>
                </a:r>
                <a:r>
                  <a:rPr lang="en-US" dirty="0">
                    <a:latin typeface="Times New Roman" pitchFamily="18" charset="0"/>
                    <a:cs typeface="Times New Roman" pitchFamily="18" charset="0"/>
                  </a:rPr>
                  <a:t> = 0</a:t>
                </a:r>
              </a:p>
              <a:p>
                <a:pPr marL="0" indent="0">
                  <a:buNone/>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a:t>
                </a:r>
                <a:r>
                  <a:rPr lang="en-US" baseline="-25000" dirty="0" err="1">
                    <a:latin typeface="Times New Roman" pitchFamily="18" charset="0"/>
                    <a:cs typeface="Times New Roman" pitchFamily="18" charset="0"/>
                  </a:rPr>
                  <a:t>v</a:t>
                </a:r>
                <a:r>
                  <a:rPr lang="en-US" dirty="0">
                    <a:latin typeface="Times New Roman" pitchFamily="18" charset="0"/>
                    <a:cs typeface="Times New Roman" pitchFamily="18" charset="0"/>
                  </a:rPr>
                  <a:t> + R) </a:t>
                </a:r>
                <a:r>
                  <a:rPr lang="en-US" dirty="0" err="1">
                    <a:latin typeface="Times New Roman" pitchFamily="18" charset="0"/>
                    <a:cs typeface="Times New Roman" pitchFamily="18" charset="0"/>
                  </a:rPr>
                  <a:t>PdV</a:t>
                </a:r>
                <a:r>
                  <a:rPr lang="en-US" dirty="0">
                    <a:latin typeface="Times New Roman" pitchFamily="18" charset="0"/>
                    <a:cs typeface="Times New Roman" pitchFamily="18" charset="0"/>
                  </a:rPr>
                  <a:t> + </a:t>
                </a:r>
                <a:r>
                  <a:rPr lang="en-US" dirty="0" err="1">
                    <a:latin typeface="Times New Roman" pitchFamily="18" charset="0"/>
                    <a:cs typeface="Times New Roman" pitchFamily="18" charset="0"/>
                  </a:rPr>
                  <a:t>C</a:t>
                </a:r>
                <a:r>
                  <a:rPr lang="en-US" baseline="-25000" dirty="0" err="1">
                    <a:latin typeface="Times New Roman" pitchFamily="18" charset="0"/>
                    <a:cs typeface="Times New Roman" pitchFamily="18" charset="0"/>
                  </a:rPr>
                  <a:t>v</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VdP</a:t>
                </a:r>
                <a:r>
                  <a:rPr lang="en-US" dirty="0">
                    <a:latin typeface="Times New Roman" pitchFamily="18" charset="0"/>
                    <a:cs typeface="Times New Roman" pitchFamily="18" charset="0"/>
                  </a:rPr>
                  <a:t> = 0</a:t>
                </a:r>
              </a:p>
              <a:p>
                <a:pPr marL="0" indent="0">
                  <a:buNone/>
                </a:pPr>
                <a:r>
                  <a:rPr lang="en-US" dirty="0">
                    <a:latin typeface="Times New Roman" pitchFamily="18" charset="0"/>
                    <a:cs typeface="Times New Roman" pitchFamily="18" charset="0"/>
                  </a:rPr>
                  <a:t> </a:t>
                </a:r>
              </a:p>
              <a:p>
                <a:pPr marL="0" indent="0">
                  <a:buNone/>
                </a:pPr>
                <a:endParaRPr lang="en-US" dirty="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a:p>
                <a:pPr marL="0" indent="0">
                  <a:buNone/>
                </a:pPr>
                <a:endParaRPr lang="en-IN"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412776"/>
                <a:ext cx="7787208" cy="4968552"/>
              </a:xfrm>
              <a:blipFill>
                <a:blip r:embed="rId3"/>
                <a:stretch>
                  <a:fillRect l="-626" t="-1840"/>
                </a:stretch>
              </a:blipFill>
            </p:spPr>
            <p:txBody>
              <a:bodyPr/>
              <a:lstStyle/>
              <a:p>
                <a:r>
                  <a:rPr lang="en-IN">
                    <a:noFill/>
                  </a:rPr>
                  <a:t> </a:t>
                </a:r>
              </a:p>
            </p:txBody>
          </p:sp>
        </mc:Fallback>
      </mc:AlternateContent>
    </p:spTree>
    <p:extLst>
      <p:ext uri="{BB962C8B-B14F-4D97-AF65-F5344CB8AC3E}">
        <p14:creationId xmlns:p14="http://schemas.microsoft.com/office/powerpoint/2010/main" val="22464721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3451A-BE72-D0BF-C478-C7F1DF1302F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14588BD-497D-7EAA-36BE-6089C1E205AC}"/>
              </a:ext>
            </a:extLst>
          </p:cNvPr>
          <p:cNvSpPr>
            <a:spLocks noGrp="1"/>
          </p:cNvSpPr>
          <p:nvPr>
            <p:ph idx="1"/>
          </p:nvPr>
        </p:nvSpPr>
        <p:spPr/>
        <p:txBody>
          <a:bodyPr>
            <a:normAutofit/>
          </a:bodyPr>
          <a:lstStyle/>
          <a:p>
            <a:pPr marL="0" indent="0">
              <a:lnSpc>
                <a:spcPct val="115000"/>
              </a:lnSpc>
              <a:spcBef>
                <a:spcPts val="380"/>
              </a:spcBef>
              <a:spcAft>
                <a:spcPts val="0"/>
              </a:spcAft>
              <a:buNone/>
            </a:pPr>
            <a:r>
              <a:rPr lang="en-US" sz="2000" dirty="0">
                <a:effectLst/>
                <a:latin typeface="Times New Roman" panose="02020603050405020304" pitchFamily="18" charset="0"/>
                <a:ea typeface="Times New Roman" panose="02020603050405020304" pitchFamily="18" charset="0"/>
              </a:rPr>
              <a:t>But C</a:t>
            </a:r>
            <a:r>
              <a:rPr lang="en-US" sz="2000" baseline="-25000" dirty="0">
                <a:effectLst/>
                <a:latin typeface="Times New Roman" panose="02020603050405020304" pitchFamily="18" charset="0"/>
                <a:ea typeface="Times New Roman" panose="02020603050405020304" pitchFamily="18" charset="0"/>
              </a:rPr>
              <a:t>p</a:t>
            </a:r>
            <a:r>
              <a:rPr lang="en-US" sz="2000" dirty="0">
                <a:effectLst/>
                <a:latin typeface="Times New Roman" panose="02020603050405020304" pitchFamily="18" charset="0"/>
                <a:ea typeface="Times New Roman" panose="02020603050405020304" pitchFamily="18" charset="0"/>
              </a:rPr>
              <a:t> – </a:t>
            </a:r>
            <a:r>
              <a:rPr lang="en-US" sz="2000" dirty="0" err="1">
                <a:effectLst/>
                <a:latin typeface="Times New Roman" panose="02020603050405020304" pitchFamily="18" charset="0"/>
                <a:ea typeface="Times New Roman" panose="02020603050405020304" pitchFamily="18" charset="0"/>
              </a:rPr>
              <a:t>C</a:t>
            </a:r>
            <a:r>
              <a:rPr lang="en-US" sz="2000" baseline="-25000" dirty="0" err="1">
                <a:effectLst/>
                <a:latin typeface="Times New Roman" panose="02020603050405020304" pitchFamily="18" charset="0"/>
                <a:ea typeface="Times New Roman" panose="02020603050405020304" pitchFamily="18" charset="0"/>
              </a:rPr>
              <a:t>v</a:t>
            </a:r>
            <a:r>
              <a:rPr lang="en-US" sz="2000" dirty="0">
                <a:effectLst/>
                <a:latin typeface="Times New Roman" panose="02020603050405020304" pitchFamily="18" charset="0"/>
                <a:ea typeface="Times New Roman" panose="02020603050405020304" pitchFamily="18" charset="0"/>
              </a:rPr>
              <a:t> = R, which means C</a:t>
            </a:r>
            <a:r>
              <a:rPr lang="en-US" sz="2000" baseline="-25000" dirty="0">
                <a:effectLst/>
                <a:latin typeface="Times New Roman" panose="02020603050405020304" pitchFamily="18" charset="0"/>
                <a:ea typeface="Times New Roman" panose="02020603050405020304" pitchFamily="18" charset="0"/>
              </a:rPr>
              <a:t>p</a:t>
            </a:r>
            <a:r>
              <a:rPr lang="en-US" sz="2000" dirty="0">
                <a:effectLst/>
                <a:latin typeface="Times New Roman" panose="02020603050405020304" pitchFamily="18" charset="0"/>
                <a:ea typeface="Times New Roman" panose="02020603050405020304" pitchFamily="18" charset="0"/>
              </a:rPr>
              <a:t> = </a:t>
            </a:r>
            <a:r>
              <a:rPr lang="en-US" sz="2000" dirty="0" err="1">
                <a:effectLst/>
                <a:latin typeface="Times New Roman" panose="02020603050405020304" pitchFamily="18" charset="0"/>
                <a:ea typeface="Times New Roman" panose="02020603050405020304" pitchFamily="18" charset="0"/>
              </a:rPr>
              <a:t>C</a:t>
            </a:r>
            <a:r>
              <a:rPr lang="en-US" sz="2000" baseline="-25000" dirty="0" err="1">
                <a:effectLst/>
                <a:latin typeface="Times New Roman" panose="02020603050405020304" pitchFamily="18" charset="0"/>
                <a:ea typeface="Times New Roman" panose="02020603050405020304" pitchFamily="18" charset="0"/>
              </a:rPr>
              <a:t>v</a:t>
            </a:r>
            <a:r>
              <a:rPr lang="en-US" sz="2000" dirty="0">
                <a:effectLst/>
                <a:latin typeface="Times New Roman" panose="02020603050405020304" pitchFamily="18" charset="0"/>
                <a:ea typeface="Times New Roman" panose="02020603050405020304" pitchFamily="18" charset="0"/>
              </a:rPr>
              <a:t> + R</a:t>
            </a:r>
            <a:endParaRPr lang="en-IN" sz="2000" dirty="0">
              <a:effectLst/>
              <a:latin typeface="Times New Roman" panose="02020603050405020304" pitchFamily="18" charset="0"/>
              <a:ea typeface="Times New Roman" panose="02020603050405020304" pitchFamily="18" charset="0"/>
            </a:endParaRPr>
          </a:p>
          <a:p>
            <a:pPr marL="0" indent="0">
              <a:lnSpc>
                <a:spcPct val="115000"/>
              </a:lnSpc>
              <a:spcBef>
                <a:spcPts val="380"/>
              </a:spcBef>
              <a:spcAft>
                <a:spcPts val="0"/>
              </a:spcAft>
              <a:buNone/>
            </a:pPr>
            <a:r>
              <a:rPr lang="en-US" sz="2000" dirty="0">
                <a:effectLst/>
                <a:latin typeface="Times New Roman" panose="02020603050405020304" pitchFamily="18" charset="0"/>
                <a:ea typeface="Times New Roman" panose="02020603050405020304" pitchFamily="18" charset="0"/>
              </a:rPr>
              <a:t>Thus we get : </a:t>
            </a:r>
            <a:r>
              <a:rPr lang="en-US" sz="2000" dirty="0" err="1">
                <a:effectLst/>
                <a:latin typeface="Times New Roman" panose="02020603050405020304" pitchFamily="18" charset="0"/>
                <a:ea typeface="Times New Roman" panose="02020603050405020304" pitchFamily="18" charset="0"/>
              </a:rPr>
              <a:t>C</a:t>
            </a:r>
            <a:r>
              <a:rPr lang="en-US" sz="2000" baseline="-25000" dirty="0" err="1">
                <a:effectLst/>
                <a:latin typeface="Times New Roman" panose="02020603050405020304" pitchFamily="18" charset="0"/>
                <a:ea typeface="Times New Roman" panose="02020603050405020304" pitchFamily="18" charset="0"/>
              </a:rPr>
              <a:t>p</a:t>
            </a:r>
            <a:r>
              <a:rPr lang="en-US" sz="2000" dirty="0" err="1">
                <a:effectLst/>
                <a:latin typeface="Times New Roman" panose="02020603050405020304" pitchFamily="18" charset="0"/>
                <a:ea typeface="Times New Roman" panose="02020603050405020304" pitchFamily="18" charset="0"/>
              </a:rPr>
              <a:t>PdV</a:t>
            </a:r>
            <a:r>
              <a:rPr lang="en-US" sz="2000" dirty="0">
                <a:effectLst/>
                <a:latin typeface="Times New Roman" panose="02020603050405020304" pitchFamily="18" charset="0"/>
                <a:ea typeface="Times New Roman" panose="02020603050405020304" pitchFamily="18" charset="0"/>
              </a:rPr>
              <a:t> + </a:t>
            </a:r>
            <a:r>
              <a:rPr lang="en-US" sz="2000" dirty="0" err="1">
                <a:effectLst/>
                <a:latin typeface="Times New Roman" panose="02020603050405020304" pitchFamily="18" charset="0"/>
                <a:ea typeface="Times New Roman" panose="02020603050405020304" pitchFamily="18" charset="0"/>
              </a:rPr>
              <a:t>C</a:t>
            </a:r>
            <a:r>
              <a:rPr lang="en-US" sz="2000" baseline="-25000" dirty="0" err="1">
                <a:effectLst/>
                <a:latin typeface="Times New Roman" panose="02020603050405020304" pitchFamily="18" charset="0"/>
                <a:ea typeface="Times New Roman" panose="02020603050405020304" pitchFamily="18" charset="0"/>
              </a:rPr>
              <a:t>v</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VdP</a:t>
            </a:r>
            <a:r>
              <a:rPr lang="en-US" sz="2000" dirty="0">
                <a:effectLst/>
                <a:latin typeface="Times New Roman" panose="02020603050405020304" pitchFamily="18" charset="0"/>
                <a:ea typeface="Times New Roman" panose="02020603050405020304" pitchFamily="18" charset="0"/>
              </a:rPr>
              <a:t>   =  0 </a:t>
            </a:r>
            <a:endParaRPr lang="en-IN" sz="2000" dirty="0">
              <a:effectLst/>
              <a:latin typeface="Times New Roman" panose="02020603050405020304" pitchFamily="18" charset="0"/>
              <a:ea typeface="Times New Roman" panose="02020603050405020304" pitchFamily="18" charset="0"/>
            </a:endParaRPr>
          </a:p>
          <a:p>
            <a:pPr marL="0" indent="0">
              <a:lnSpc>
                <a:spcPct val="115000"/>
              </a:lnSpc>
              <a:spcBef>
                <a:spcPts val="380"/>
              </a:spcBef>
              <a:spcAft>
                <a:spcPts val="0"/>
              </a:spcAft>
              <a:buNone/>
            </a:pPr>
            <a:r>
              <a:rPr lang="en-US" sz="2000" dirty="0">
                <a:effectLst/>
                <a:latin typeface="Times New Roman" panose="02020603050405020304" pitchFamily="18" charset="0"/>
                <a:ea typeface="Times New Roman" panose="02020603050405020304" pitchFamily="18" charset="0"/>
              </a:rPr>
              <a:t>Dividing throughout by </a:t>
            </a:r>
            <a:r>
              <a:rPr lang="en-US" sz="2000" dirty="0" err="1">
                <a:effectLst/>
                <a:latin typeface="Times New Roman" panose="02020603050405020304" pitchFamily="18" charset="0"/>
                <a:ea typeface="Times New Roman" panose="02020603050405020304" pitchFamily="18" charset="0"/>
              </a:rPr>
              <a:t>C</a:t>
            </a:r>
            <a:r>
              <a:rPr lang="en-US" sz="2000" baseline="-25000" dirty="0" err="1">
                <a:effectLst/>
                <a:latin typeface="Times New Roman" panose="02020603050405020304" pitchFamily="18" charset="0"/>
                <a:ea typeface="Times New Roman" panose="02020603050405020304" pitchFamily="18" charset="0"/>
              </a:rPr>
              <a:t>p</a:t>
            </a:r>
            <a:r>
              <a:rPr lang="en-US" sz="2000" dirty="0" err="1">
                <a:effectLst/>
                <a:latin typeface="Times New Roman" panose="02020603050405020304" pitchFamily="18" charset="0"/>
                <a:ea typeface="Times New Roman" panose="02020603050405020304" pitchFamily="18" charset="0"/>
              </a:rPr>
              <a:t>PV</a:t>
            </a:r>
            <a:r>
              <a:rPr lang="en-US" sz="2000" dirty="0">
                <a:effectLst/>
                <a:latin typeface="Times New Roman" panose="02020603050405020304" pitchFamily="18" charset="0"/>
                <a:ea typeface="Times New Roman" panose="02020603050405020304" pitchFamily="18" charset="0"/>
              </a:rPr>
              <a:t>, we get :</a:t>
            </a:r>
            <a:endParaRPr lang="en-IN" sz="2000" dirty="0">
              <a:effectLst/>
              <a:latin typeface="Times New Roman" panose="02020603050405020304" pitchFamily="18" charset="0"/>
              <a:ea typeface="Times New Roman" panose="02020603050405020304" pitchFamily="18" charset="0"/>
            </a:endParaRPr>
          </a:p>
          <a:p>
            <a:pPr marL="0" indent="0">
              <a:lnSpc>
                <a:spcPct val="115000"/>
              </a:lnSpc>
              <a:spcBef>
                <a:spcPts val="380"/>
              </a:spcBef>
              <a:spcAft>
                <a:spcPts val="0"/>
              </a:spcAft>
              <a:buNone/>
            </a:pP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dV</a:t>
            </a:r>
            <a:r>
              <a:rPr lang="en-US" sz="2000" dirty="0">
                <a:effectLst/>
                <a:latin typeface="Times New Roman" panose="02020603050405020304" pitchFamily="18" charset="0"/>
                <a:ea typeface="Times New Roman" panose="02020603050405020304" pitchFamily="18" charset="0"/>
              </a:rPr>
              <a:t>/V  + (</a:t>
            </a:r>
            <a:r>
              <a:rPr lang="en-US" sz="2000" dirty="0" err="1">
                <a:effectLst/>
                <a:latin typeface="Times New Roman" panose="02020603050405020304" pitchFamily="18" charset="0"/>
                <a:ea typeface="Times New Roman" panose="02020603050405020304" pitchFamily="18" charset="0"/>
              </a:rPr>
              <a:t>C</a:t>
            </a:r>
            <a:r>
              <a:rPr lang="en-US" sz="2000" baseline="-25000" dirty="0" err="1">
                <a:effectLst/>
                <a:latin typeface="Times New Roman" panose="02020603050405020304" pitchFamily="18" charset="0"/>
                <a:ea typeface="Times New Roman" panose="02020603050405020304" pitchFamily="18" charset="0"/>
              </a:rPr>
              <a:t>v</a:t>
            </a:r>
            <a:r>
              <a:rPr lang="en-US" sz="2000" dirty="0">
                <a:effectLst/>
                <a:latin typeface="Times New Roman" panose="02020603050405020304" pitchFamily="18" charset="0"/>
                <a:ea typeface="Times New Roman" panose="02020603050405020304" pitchFamily="18" charset="0"/>
              </a:rPr>
              <a:t>/C</a:t>
            </a:r>
            <a:r>
              <a:rPr lang="en-US" sz="2000" baseline="-25000" dirty="0">
                <a:effectLst/>
                <a:latin typeface="Times New Roman" panose="02020603050405020304" pitchFamily="18" charset="0"/>
                <a:ea typeface="Times New Roman" panose="02020603050405020304" pitchFamily="18" charset="0"/>
              </a:rPr>
              <a:t>p</a:t>
            </a:r>
            <a:r>
              <a:rPr lang="en-US" sz="2000" dirty="0">
                <a:effectLst/>
                <a:latin typeface="Times New Roman" panose="02020603050405020304" pitchFamily="18" charset="0"/>
                <a:ea typeface="Times New Roman" panose="02020603050405020304" pitchFamily="18" charset="0"/>
              </a:rPr>
              <a:t>)(</a:t>
            </a:r>
            <a:r>
              <a:rPr lang="en-US" sz="2000" dirty="0" err="1">
                <a:effectLst/>
                <a:latin typeface="Times New Roman" panose="02020603050405020304" pitchFamily="18" charset="0"/>
                <a:ea typeface="Times New Roman" panose="02020603050405020304" pitchFamily="18" charset="0"/>
              </a:rPr>
              <a:t>dP</a:t>
            </a:r>
            <a:r>
              <a:rPr lang="en-US" sz="2000" dirty="0">
                <a:effectLst/>
                <a:latin typeface="Times New Roman" panose="02020603050405020304" pitchFamily="18" charset="0"/>
                <a:ea typeface="Times New Roman" panose="02020603050405020304" pitchFamily="18" charset="0"/>
              </a:rPr>
              <a:t>/P) = 0 </a:t>
            </a:r>
            <a:endParaRPr lang="en-IN" sz="2000" dirty="0">
              <a:effectLst/>
              <a:latin typeface="Times New Roman" panose="02020603050405020304" pitchFamily="18" charset="0"/>
              <a:ea typeface="Times New Roman" panose="02020603050405020304" pitchFamily="18" charset="0"/>
            </a:endParaRPr>
          </a:p>
          <a:p>
            <a:pPr marL="0" indent="0">
              <a:lnSpc>
                <a:spcPct val="115000"/>
              </a:lnSpc>
              <a:spcBef>
                <a:spcPts val="380"/>
              </a:spcBef>
              <a:spcAft>
                <a:spcPts val="0"/>
              </a:spcAft>
              <a:buNone/>
            </a:pPr>
            <a:r>
              <a:rPr lang="en-US" sz="2000" dirty="0">
                <a:effectLst/>
                <a:latin typeface="Times New Roman" panose="02020603050405020304" pitchFamily="18" charset="0"/>
                <a:ea typeface="Times New Roman" panose="02020603050405020304" pitchFamily="18" charset="0"/>
              </a:rPr>
              <a:t>(C</a:t>
            </a:r>
            <a:r>
              <a:rPr lang="en-US" sz="2000" baseline="-25000" dirty="0">
                <a:effectLst/>
                <a:latin typeface="Times New Roman" panose="02020603050405020304" pitchFamily="18" charset="0"/>
                <a:ea typeface="Times New Roman" panose="02020603050405020304" pitchFamily="18" charset="0"/>
              </a:rPr>
              <a:t>p</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C</a:t>
            </a:r>
            <a:r>
              <a:rPr lang="en-US" sz="2000" baseline="-25000" dirty="0" err="1">
                <a:effectLst/>
                <a:latin typeface="Times New Roman" panose="02020603050405020304" pitchFamily="18" charset="0"/>
                <a:ea typeface="Times New Roman" panose="02020603050405020304" pitchFamily="18" charset="0"/>
              </a:rPr>
              <a:t>v</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dV</a:t>
            </a:r>
            <a:r>
              <a:rPr lang="en-US" sz="2000" dirty="0">
                <a:effectLst/>
                <a:latin typeface="Times New Roman" panose="02020603050405020304" pitchFamily="18" charset="0"/>
                <a:ea typeface="Times New Roman" panose="02020603050405020304" pitchFamily="18" charset="0"/>
              </a:rPr>
              <a:t>/V  + </a:t>
            </a:r>
            <a:r>
              <a:rPr lang="en-US" sz="2000" dirty="0" err="1">
                <a:effectLst/>
                <a:latin typeface="Times New Roman" panose="02020603050405020304" pitchFamily="18" charset="0"/>
                <a:ea typeface="Times New Roman" panose="02020603050405020304" pitchFamily="18" charset="0"/>
              </a:rPr>
              <a:t>dP</a:t>
            </a:r>
            <a:r>
              <a:rPr lang="en-US" sz="2000" dirty="0">
                <a:effectLst/>
                <a:latin typeface="Times New Roman" panose="02020603050405020304" pitchFamily="18" charset="0"/>
                <a:ea typeface="Times New Roman" panose="02020603050405020304" pitchFamily="18" charset="0"/>
              </a:rPr>
              <a:t>/P  = 0 </a:t>
            </a:r>
            <a:endParaRPr lang="en-IN" sz="2000" dirty="0">
              <a:effectLst/>
              <a:latin typeface="Times New Roman" panose="02020603050405020304" pitchFamily="18" charset="0"/>
              <a:ea typeface="Times New Roman" panose="02020603050405020304" pitchFamily="18" charset="0"/>
            </a:endParaRPr>
          </a:p>
          <a:p>
            <a:pPr marL="0" indent="0">
              <a:lnSpc>
                <a:spcPct val="115000"/>
              </a:lnSpc>
              <a:spcBef>
                <a:spcPts val="380"/>
              </a:spcBef>
              <a:spcAft>
                <a:spcPts val="0"/>
              </a:spcAft>
              <a:buNone/>
            </a:pPr>
            <a:r>
              <a:rPr lang="en-US" sz="2000" dirty="0">
                <a:effectLst/>
                <a:latin typeface="Times New Roman" panose="02020603050405020304" pitchFamily="18" charset="0"/>
                <a:ea typeface="Times New Roman" panose="02020603050405020304" pitchFamily="18" charset="0"/>
              </a:rPr>
              <a:t>ϒ (</a:t>
            </a:r>
            <a:r>
              <a:rPr lang="en-US" sz="2000" dirty="0" err="1">
                <a:effectLst/>
                <a:latin typeface="Times New Roman" panose="02020603050405020304" pitchFamily="18" charset="0"/>
                <a:ea typeface="Times New Roman" panose="02020603050405020304" pitchFamily="18" charset="0"/>
              </a:rPr>
              <a:t>dV</a:t>
            </a:r>
            <a:r>
              <a:rPr lang="en-US" sz="2000" dirty="0">
                <a:effectLst/>
                <a:latin typeface="Times New Roman" panose="02020603050405020304" pitchFamily="18" charset="0"/>
                <a:ea typeface="Times New Roman" panose="02020603050405020304" pitchFamily="18" charset="0"/>
              </a:rPr>
              <a:t>/V)  + (</a:t>
            </a:r>
            <a:r>
              <a:rPr lang="en-US" sz="2000" dirty="0" err="1">
                <a:effectLst/>
                <a:latin typeface="Times New Roman" panose="02020603050405020304" pitchFamily="18" charset="0"/>
                <a:ea typeface="Times New Roman" panose="02020603050405020304" pitchFamily="18" charset="0"/>
              </a:rPr>
              <a:t>dP</a:t>
            </a:r>
            <a:r>
              <a:rPr lang="en-US" sz="2000" dirty="0">
                <a:effectLst/>
                <a:latin typeface="Times New Roman" panose="02020603050405020304" pitchFamily="18" charset="0"/>
                <a:ea typeface="Times New Roman" panose="02020603050405020304" pitchFamily="18" charset="0"/>
              </a:rPr>
              <a:t>/P)  = 0</a:t>
            </a:r>
            <a:endParaRPr lang="en-IN" sz="2000" dirty="0">
              <a:effectLst/>
              <a:latin typeface="Times New Roman" panose="02020603050405020304" pitchFamily="18" charset="0"/>
              <a:ea typeface="Times New Roman" panose="02020603050405020304" pitchFamily="18" charset="0"/>
            </a:endParaRPr>
          </a:p>
          <a:p>
            <a:pPr marL="0" indent="0">
              <a:lnSpc>
                <a:spcPct val="115000"/>
              </a:lnSpc>
              <a:spcBef>
                <a:spcPts val="380"/>
              </a:spcBef>
              <a:spcAft>
                <a:spcPts val="0"/>
              </a:spcAft>
              <a:buNone/>
            </a:pPr>
            <a:r>
              <a:rPr lang="en-US" sz="2000" dirty="0">
                <a:effectLst/>
                <a:latin typeface="Times New Roman" panose="02020603050405020304" pitchFamily="18" charset="0"/>
                <a:ea typeface="Times New Roman" panose="02020603050405020304" pitchFamily="18" charset="0"/>
              </a:rPr>
              <a:t>Hence, after integration, we get PV</a:t>
            </a:r>
            <a:r>
              <a:rPr lang="en-US" sz="2000" baseline="30000" dirty="0">
                <a:effectLst/>
                <a:latin typeface="Times New Roman" panose="02020603050405020304" pitchFamily="18" charset="0"/>
                <a:ea typeface="Times New Roman" panose="02020603050405020304" pitchFamily="18" charset="0"/>
              </a:rPr>
              <a:t>ϒ</a:t>
            </a:r>
            <a:r>
              <a:rPr lang="en-US" sz="2000" dirty="0">
                <a:effectLst/>
                <a:latin typeface="Times New Roman" panose="02020603050405020304" pitchFamily="18" charset="0"/>
                <a:ea typeface="Times New Roman" panose="02020603050405020304" pitchFamily="18" charset="0"/>
              </a:rPr>
              <a:t> = Constant</a:t>
            </a:r>
            <a:endParaRPr lang="en-IN" sz="2000" dirty="0">
              <a:effectLst/>
              <a:latin typeface="Times New Roman" panose="02020603050405020304" pitchFamily="18" charset="0"/>
              <a:ea typeface="Times New Roman" panose="02020603050405020304" pitchFamily="18" charset="0"/>
            </a:endParaRPr>
          </a:p>
          <a:p>
            <a:pPr marL="0" indent="0">
              <a:buNone/>
            </a:pPr>
            <a:endParaRPr lang="en-IN" sz="3600" dirty="0"/>
          </a:p>
        </p:txBody>
      </p:sp>
    </p:spTree>
    <p:extLst>
      <p:ext uri="{BB962C8B-B14F-4D97-AF65-F5344CB8AC3E}">
        <p14:creationId xmlns:p14="http://schemas.microsoft.com/office/powerpoint/2010/main" val="17344206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Times New Roman" pitchFamily="18" charset="0"/>
                <a:cs typeface="Times New Roman" pitchFamily="18" charset="0"/>
              </a:rPr>
              <a:t>Work done in adiabatic expansion of gas</a:t>
            </a:r>
            <a:endParaRPr lang="en-IN" sz="3200" b="1"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3568" y="1417638"/>
                <a:ext cx="8229600" cy="5256584"/>
              </a:xfrm>
            </p:spPr>
            <p:txBody>
              <a:bodyPr>
                <a:normAutofit fontScale="85000" lnSpcReduction="20000"/>
              </a:bodyPr>
              <a:lstStyle/>
              <a:p>
                <a:pPr marL="0" indent="0">
                  <a:buNone/>
                </a:pPr>
                <a:r>
                  <a:rPr lang="en-US" sz="2800" dirty="0">
                    <a:cs typeface="Times New Roman" pitchFamily="18" charset="0"/>
                  </a:rPr>
                  <a:t>We know that for an adiabatic expansion of gas </a:t>
                </a:r>
                <a14:m>
                  <m:oMath xmlns:m="http://schemas.openxmlformats.org/officeDocument/2006/math">
                    <m:sSup>
                      <m:sSupPr>
                        <m:ctrlPr>
                          <a:rPr lang="en-US" sz="2800" i="1">
                            <a:latin typeface="Cambria Math" panose="02040503050406030204" pitchFamily="18" charset="0"/>
                            <a:cs typeface="Times New Roman" pitchFamily="18" charset="0"/>
                          </a:rPr>
                        </m:ctrlPr>
                      </m:sSupPr>
                      <m:e>
                        <m:r>
                          <a:rPr lang="en-US" sz="2800" b="0" i="1">
                            <a:latin typeface="Cambria Math"/>
                            <a:cs typeface="Times New Roman" pitchFamily="18" charset="0"/>
                          </a:rPr>
                          <m:t>𝑃𝑉</m:t>
                        </m:r>
                      </m:e>
                      <m:sup>
                        <m:r>
                          <a:rPr lang="el-GR" sz="2800" b="0" i="1">
                            <a:latin typeface="Cambria Math"/>
                            <a:cs typeface="Times New Roman" pitchFamily="18" charset="0"/>
                          </a:rPr>
                          <m:t>𝛾</m:t>
                        </m:r>
                      </m:sup>
                    </m:sSup>
                    <m:r>
                      <a:rPr lang="en-US" sz="2800" b="0" i="1">
                        <a:latin typeface="Cambria Math"/>
                        <a:cs typeface="Times New Roman" pitchFamily="18" charset="0"/>
                      </a:rPr>
                      <m:t>=</m:t>
                    </m:r>
                    <m:r>
                      <a:rPr lang="en-US" sz="2800" b="0" i="1" smtClean="0">
                        <a:latin typeface="Cambria Math"/>
                        <a:cs typeface="Times New Roman" pitchFamily="18" charset="0"/>
                      </a:rPr>
                      <m:t>𝐾</m:t>
                    </m:r>
                    <m:r>
                      <a:rPr lang="en-US" sz="2800" b="0" i="1" smtClean="0">
                        <a:latin typeface="Cambria Math"/>
                        <a:cs typeface="Times New Roman" pitchFamily="18" charset="0"/>
                      </a:rPr>
                      <m:t> (</m:t>
                    </m:r>
                    <m:r>
                      <a:rPr lang="en-US" sz="2800" b="0" i="1">
                        <a:latin typeface="Cambria Math"/>
                        <a:cs typeface="Times New Roman" pitchFamily="18" charset="0"/>
                      </a:rPr>
                      <m:t>𝐶𝑜𝑛𝑠𝑡𝑎𝑛𝑡</m:t>
                    </m:r>
                  </m:oMath>
                </a14:m>
                <a:r>
                  <a:rPr lang="en-IN" sz="2800" dirty="0"/>
                  <a:t>)</a:t>
                </a:r>
              </a:p>
              <a:p>
                <a:pPr marL="0" indent="0">
                  <a:buNone/>
                </a:pPr>
                <a:r>
                  <a:rPr lang="en-US" sz="2800" dirty="0" err="1"/>
                  <a:t>i.e</a:t>
                </a:r>
                <a:r>
                  <a:rPr lang="en-US" sz="2800" dirty="0"/>
                  <a:t> </a:t>
                </a:r>
                <a14:m>
                  <m:oMath xmlns:m="http://schemas.openxmlformats.org/officeDocument/2006/math">
                    <m:r>
                      <m:rPr>
                        <m:sty m:val="p"/>
                      </m:rPr>
                      <a:rPr lang="en-US" sz="2800" b="0" i="0" smtClean="0">
                        <a:latin typeface="Cambria Math"/>
                      </a:rPr>
                      <m:t>P</m:t>
                    </m:r>
                    <m:r>
                      <a:rPr lang="en-US" sz="2800" b="0" i="0" smtClean="0">
                        <a:latin typeface="Cambria Math"/>
                      </a:rPr>
                      <m:t>= </m:t>
                    </m:r>
                    <m:f>
                      <m:fPr>
                        <m:ctrlPr>
                          <a:rPr lang="en-US" sz="2800" i="1" smtClean="0">
                            <a:latin typeface="Cambria Math" panose="02040503050406030204" pitchFamily="18" charset="0"/>
                          </a:rPr>
                        </m:ctrlPr>
                      </m:fPr>
                      <m:num>
                        <m:r>
                          <a:rPr lang="en-US" sz="2800" b="0" i="1" smtClean="0">
                            <a:latin typeface="Cambria Math"/>
                          </a:rPr>
                          <m:t>𝐾</m:t>
                        </m:r>
                      </m:num>
                      <m:den>
                        <m:sSup>
                          <m:sSupPr>
                            <m:ctrlPr>
                              <a:rPr lang="en-US" sz="2800" i="1" smtClean="0">
                                <a:latin typeface="Cambria Math" panose="02040503050406030204" pitchFamily="18" charset="0"/>
                              </a:rPr>
                            </m:ctrlPr>
                          </m:sSupPr>
                          <m:e>
                            <m:r>
                              <a:rPr lang="en-US" sz="2800" b="0" i="1" smtClean="0">
                                <a:latin typeface="Cambria Math"/>
                              </a:rPr>
                              <m:t>𝑉</m:t>
                            </m:r>
                          </m:e>
                          <m:sup>
                            <m:r>
                              <a:rPr lang="en-US" sz="2800" i="1" smtClean="0">
                                <a:latin typeface="Cambria Math"/>
                                <a:ea typeface="Cambria Math"/>
                              </a:rPr>
                              <m:t>𝛾</m:t>
                            </m:r>
                          </m:sup>
                        </m:sSup>
                      </m:den>
                    </m:f>
                  </m:oMath>
                </a14:m>
                <a:endParaRPr lang="en-IN" sz="2800" dirty="0"/>
              </a:p>
              <a:p>
                <a:pPr marL="0" indent="0">
                  <a:buNone/>
                </a:pPr>
                <a:r>
                  <a:rPr lang="en-US" sz="2800" dirty="0"/>
                  <a:t>The work done on the system is</a:t>
                </a:r>
              </a:p>
              <a:p>
                <a:pPr marL="0" indent="0">
                  <a:buNone/>
                </a:pPr>
                <a14:m>
                  <m:oMathPara xmlns:m="http://schemas.openxmlformats.org/officeDocument/2006/math">
                    <m:oMathParaPr>
                      <m:jc m:val="centerGroup"/>
                    </m:oMathParaPr>
                    <m:oMath xmlns:m="http://schemas.openxmlformats.org/officeDocument/2006/math">
                      <m:r>
                        <a:rPr lang="en-US" sz="2800" b="0" i="1" smtClean="0">
                          <a:latin typeface="Cambria Math"/>
                        </a:rPr>
                        <m:t>𝑊</m:t>
                      </m:r>
                      <m:r>
                        <a:rPr lang="en-US" sz="2800" b="0" i="1" smtClean="0">
                          <a:latin typeface="Cambria Math"/>
                        </a:rPr>
                        <m:t>= </m:t>
                      </m:r>
                      <m:nary>
                        <m:naryPr>
                          <m:limLoc m:val="undOvr"/>
                          <m:subHide m:val="on"/>
                          <m:supHide m:val="on"/>
                          <m:ctrlPr>
                            <a:rPr lang="en-US" sz="2800" b="0" i="1" smtClean="0">
                              <a:latin typeface="Cambria Math" panose="02040503050406030204" pitchFamily="18" charset="0"/>
                            </a:rPr>
                          </m:ctrlPr>
                        </m:naryPr>
                        <m:sub/>
                        <m:sup/>
                        <m:e>
                          <m:r>
                            <a:rPr lang="en-US" sz="2800" b="0" i="1" smtClean="0">
                              <a:latin typeface="Cambria Math"/>
                            </a:rPr>
                            <m:t>𝑃</m:t>
                          </m:r>
                          <m:r>
                            <a:rPr lang="en-US" sz="2800" b="0" i="1" smtClean="0">
                              <a:latin typeface="Cambria Math"/>
                            </a:rPr>
                            <m:t> </m:t>
                          </m:r>
                          <m:r>
                            <a:rPr lang="en-US" sz="2800" b="0" i="1" smtClean="0">
                              <a:latin typeface="Cambria Math"/>
                            </a:rPr>
                            <m:t>𝑑𝑣</m:t>
                          </m:r>
                        </m:e>
                      </m:nary>
                    </m:oMath>
                  </m:oMathPara>
                </a14:m>
                <a:endParaRPr lang="en-US" sz="2800" b="0" dirty="0"/>
              </a:p>
              <a:p>
                <a:pPr marL="0" indent="0">
                  <a:buNone/>
                </a:pPr>
                <a:r>
                  <a:rPr lang="en-US" sz="2800" dirty="0"/>
                  <a:t>Then </a:t>
                </a:r>
                <a14:m>
                  <m:oMath xmlns:m="http://schemas.openxmlformats.org/officeDocument/2006/math">
                    <m:r>
                      <a:rPr lang="en-US" sz="2800" i="1">
                        <a:latin typeface="Cambria Math"/>
                      </a:rPr>
                      <m:t>𝑊</m:t>
                    </m:r>
                    <m:r>
                      <a:rPr lang="en-US" sz="2800" i="1">
                        <a:latin typeface="Cambria Math"/>
                      </a:rPr>
                      <m:t>= </m:t>
                    </m:r>
                    <m:nary>
                      <m:naryPr>
                        <m:limLoc m:val="undOvr"/>
                        <m:subHide m:val="on"/>
                        <m:supHide m:val="on"/>
                        <m:ctrlPr>
                          <a:rPr lang="en-US" sz="2800" i="1" smtClean="0">
                            <a:latin typeface="Cambria Math" panose="02040503050406030204" pitchFamily="18" charset="0"/>
                          </a:rPr>
                        </m:ctrlPr>
                      </m:naryPr>
                      <m:sub/>
                      <m:sup/>
                      <m:e>
                        <m:f>
                          <m:fPr>
                            <m:ctrlPr>
                              <a:rPr lang="en-US" sz="2800" i="1">
                                <a:latin typeface="Cambria Math" panose="02040503050406030204" pitchFamily="18" charset="0"/>
                              </a:rPr>
                            </m:ctrlPr>
                          </m:fPr>
                          <m:num>
                            <m:r>
                              <a:rPr lang="en-US" sz="2800" i="1">
                                <a:latin typeface="Cambria Math"/>
                              </a:rPr>
                              <m:t>𝐾</m:t>
                            </m:r>
                          </m:num>
                          <m:den>
                            <m:sSup>
                              <m:sSupPr>
                                <m:ctrlPr>
                                  <a:rPr lang="en-US" sz="2800" i="1">
                                    <a:latin typeface="Cambria Math" panose="02040503050406030204" pitchFamily="18" charset="0"/>
                                  </a:rPr>
                                </m:ctrlPr>
                              </m:sSupPr>
                              <m:e>
                                <m:r>
                                  <a:rPr lang="en-US" sz="2800" i="1">
                                    <a:latin typeface="Cambria Math"/>
                                  </a:rPr>
                                  <m:t>𝑉</m:t>
                                </m:r>
                              </m:e>
                              <m:sup>
                                <m:r>
                                  <a:rPr lang="en-US" sz="2800" i="1">
                                    <a:latin typeface="Cambria Math"/>
                                    <a:ea typeface="Cambria Math"/>
                                  </a:rPr>
                                  <m:t>𝛾</m:t>
                                </m:r>
                              </m:sup>
                            </m:sSup>
                          </m:den>
                        </m:f>
                        <m:r>
                          <a:rPr lang="en-US" sz="2800" i="1">
                            <a:latin typeface="Cambria Math"/>
                          </a:rPr>
                          <m:t>𝑑𝑣</m:t>
                        </m:r>
                      </m:e>
                    </m:nary>
                  </m:oMath>
                </a14:m>
                <a:endParaRPr lang="en-IN" sz="2800" dirty="0"/>
              </a:p>
              <a:p>
                <a:pPr marL="0" indent="0">
                  <a:buNone/>
                </a:pPr>
                <a:endParaRPr lang="en-US" sz="2800" dirty="0"/>
              </a:p>
              <a:p>
                <a:pPr marL="0" indent="0">
                  <a:buNone/>
                </a:pPr>
                <a:endParaRPr lang="en-IN" sz="2800" dirty="0"/>
              </a:p>
              <a:p>
                <a:pPr marL="0" indent="0">
                  <a:buNone/>
                </a:pPr>
                <a:r>
                  <a:rPr lang="en-US" sz="2800" dirty="0"/>
                  <a:t>For an adiabatic expansion the initial and final volumes are </a:t>
                </a:r>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a:rPr>
                          <m:t>𝑉</m:t>
                        </m:r>
                      </m:e>
                      <m:sub>
                        <m:r>
                          <a:rPr lang="en-US" sz="2800" b="0" i="1" smtClean="0">
                            <a:latin typeface="Cambria Math"/>
                          </a:rPr>
                          <m:t>𝑖</m:t>
                        </m:r>
                      </m:sub>
                    </m:sSub>
                    <m:r>
                      <a:rPr lang="en-US" sz="2800" b="0" i="1" smtClean="0">
                        <a:latin typeface="Cambria Math"/>
                      </a:rPr>
                      <m:t> </m:t>
                    </m:r>
                    <m:r>
                      <a:rPr lang="en-US" sz="2800" b="0" i="1" smtClean="0">
                        <a:latin typeface="Cambria Math"/>
                      </a:rPr>
                      <m:t>𝑎𝑛𝑑</m:t>
                    </m:r>
                    <m:r>
                      <a:rPr lang="en-US" sz="2800" b="0" i="1" smtClean="0">
                        <a:latin typeface="Cambria Math"/>
                      </a:rPr>
                      <m:t>  </m:t>
                    </m:r>
                    <m:sSub>
                      <m:sSubPr>
                        <m:ctrlPr>
                          <a:rPr lang="en-US" sz="2800" i="1" smtClean="0">
                            <a:latin typeface="Cambria Math" panose="02040503050406030204" pitchFamily="18" charset="0"/>
                          </a:rPr>
                        </m:ctrlPr>
                      </m:sSubPr>
                      <m:e>
                        <m:r>
                          <a:rPr lang="en-US" sz="2800" b="0" i="1" smtClean="0">
                            <a:latin typeface="Cambria Math"/>
                          </a:rPr>
                          <m:t>𝑉</m:t>
                        </m:r>
                      </m:e>
                      <m:sub>
                        <m:r>
                          <a:rPr lang="en-US" sz="2800" b="0" i="1" smtClean="0">
                            <a:latin typeface="Cambria Math"/>
                          </a:rPr>
                          <m:t>𝑓</m:t>
                        </m:r>
                      </m:sub>
                    </m:sSub>
                  </m:oMath>
                </a14:m>
                <a:r>
                  <a:rPr lang="en-IN" sz="2800" dirty="0"/>
                  <a:t> respectively. Where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𝑉</m:t>
                        </m:r>
                      </m:e>
                      <m:sub>
                        <m:r>
                          <a:rPr lang="en-US" sz="2800" i="1">
                            <a:latin typeface="Cambria Math"/>
                          </a:rPr>
                          <m:t>𝑓</m:t>
                        </m:r>
                      </m:sub>
                    </m:sSub>
                  </m:oMath>
                </a14:m>
                <a:r>
                  <a:rPr lang="en-IN" sz="2800" dirty="0"/>
                  <a:t>&gt;</a:t>
                </a:r>
                <a:r>
                  <a:rPr lang="en-US" sz="2800" dirty="0"/>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𝑉</m:t>
                        </m:r>
                      </m:e>
                      <m:sub>
                        <m:r>
                          <a:rPr lang="en-US" sz="2800" i="1">
                            <a:latin typeface="Cambria Math"/>
                          </a:rPr>
                          <m:t>𝑖</m:t>
                        </m:r>
                      </m:sub>
                    </m:sSub>
                  </m:oMath>
                </a14:m>
                <a:r>
                  <a:rPr lang="en-IN" sz="2800" dirty="0"/>
                  <a:t>. </a:t>
                </a:r>
              </a:p>
              <a:p>
                <a:pPr marL="0" indent="0">
                  <a:buNone/>
                </a:pPr>
                <a:endParaRPr lang="en-IN" sz="2800" dirty="0"/>
              </a:p>
              <a:p>
                <a:pPr marL="0" indent="0">
                  <a:buNone/>
                </a:pPr>
                <a:r>
                  <a:rPr lang="en-US" sz="2800" dirty="0"/>
                  <a:t> </a:t>
                </a:r>
                <a:endParaRPr lang="en-IN"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3568" y="1417638"/>
                <a:ext cx="8229600" cy="5256584"/>
              </a:xfrm>
              <a:blipFill>
                <a:blip r:embed="rId2"/>
                <a:stretch>
                  <a:fillRect l="-1111" t="-2204"/>
                </a:stretch>
              </a:blipFill>
            </p:spPr>
            <p:txBody>
              <a:bodyPr/>
              <a:lstStyle/>
              <a:p>
                <a:r>
                  <a:rPr lang="en-IN">
                    <a:noFill/>
                  </a:rPr>
                  <a:t> </a:t>
                </a:r>
              </a:p>
            </p:txBody>
          </p:sp>
        </mc:Fallback>
      </mc:AlternateContent>
    </p:spTree>
    <p:extLst>
      <p:ext uri="{BB962C8B-B14F-4D97-AF65-F5344CB8AC3E}">
        <p14:creationId xmlns:p14="http://schemas.microsoft.com/office/powerpoint/2010/main" val="23751485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A20F57-2E25-31E7-1973-1462DB22D5FF}"/>
              </a:ext>
            </a:extLst>
          </p:cNvPr>
          <p:cNvSpPr>
            <a:spLocks noGrp="1"/>
          </p:cNvSpPr>
          <p:nvPr>
            <p:ph idx="1"/>
          </p:nvPr>
        </p:nvSpPr>
        <p:spPr>
          <a:xfrm>
            <a:off x="457200" y="404664"/>
            <a:ext cx="8229600" cy="5721499"/>
          </a:xfrm>
        </p:spPr>
        <p:txBody>
          <a:bodyPr>
            <a:normAutofit/>
          </a:bodyPr>
          <a:lstStyle/>
          <a:p>
            <a:pPr algn="l"/>
            <a:endParaRPr lang="en-IN" sz="2000" b="0" i="0" u="none" strike="noStrike" baseline="0" dirty="0">
              <a:solidFill>
                <a:srgbClr val="000000"/>
              </a:solidFill>
              <a:latin typeface="Times New Roman" panose="02020603050405020304" pitchFamily="18" charset="0"/>
            </a:endParaRPr>
          </a:p>
          <a:p>
            <a:pPr marL="0" indent="0">
              <a:buNone/>
            </a:pPr>
            <a:r>
              <a:rPr lang="en-US" sz="2000" b="0" i="0" u="none" strike="noStrike" baseline="0" dirty="0">
                <a:latin typeface="Times New Roman" panose="02020603050405020304" pitchFamily="18" charset="0"/>
              </a:rPr>
              <a:t>After integrating the above equation, we get : W = ∫</a:t>
            </a:r>
            <a:r>
              <a:rPr lang="en-US" sz="2000" b="0" i="0" u="none" strike="noStrike" baseline="0" dirty="0" err="1">
                <a:latin typeface="Times New Roman" panose="02020603050405020304" pitchFamily="18" charset="0"/>
              </a:rPr>
              <a:t>dW</a:t>
            </a:r>
            <a:r>
              <a:rPr lang="en-US" sz="2000" b="0" i="0" u="none" strike="noStrike" baseline="0" dirty="0">
                <a:latin typeface="Times New Roman" panose="02020603050405020304" pitchFamily="18" charset="0"/>
              </a:rPr>
              <a:t> = K∫V -ϒ </a:t>
            </a:r>
            <a:r>
              <a:rPr lang="en-US" sz="2000" b="0" i="0" u="none" strike="noStrike" baseline="0" dirty="0" err="1">
                <a:latin typeface="Times New Roman" panose="02020603050405020304" pitchFamily="18" charset="0"/>
              </a:rPr>
              <a:t>dV</a:t>
            </a:r>
            <a:r>
              <a:rPr lang="en-US" sz="2000" b="0" i="0" u="none" strike="noStrike" baseline="0" dirty="0">
                <a:latin typeface="Times New Roman" panose="02020603050405020304" pitchFamily="18" charset="0"/>
              </a:rPr>
              <a:t> </a:t>
            </a:r>
          </a:p>
          <a:p>
            <a:pPr marL="0" indent="0">
              <a:buNone/>
            </a:pPr>
            <a:r>
              <a:rPr lang="en-US" sz="2000" b="1" i="0" u="none" strike="noStrike" baseline="0" dirty="0">
                <a:latin typeface="Times New Roman" panose="02020603050405020304" pitchFamily="18" charset="0"/>
              </a:rPr>
              <a:t>W = (K/(1 – ϒ))V (1-ϒ)</a:t>
            </a:r>
            <a:endParaRPr lang="en-IN" sz="2000" b="0" i="0" u="none" strike="noStrike" baseline="0" dirty="0">
              <a:latin typeface="Cambria" panose="02040503050406030204" pitchFamily="18" charset="0"/>
            </a:endParaRPr>
          </a:p>
          <a:p>
            <a:pPr marL="0" indent="0">
              <a:buNone/>
            </a:pPr>
            <a:r>
              <a:rPr lang="en-US" sz="2000" b="0" i="0" u="none" strike="noStrike" baseline="0" dirty="0">
                <a:latin typeface="Times New Roman" panose="02020603050405020304" pitchFamily="18" charset="0"/>
              </a:rPr>
              <a:t>For adiabatic expansion, the initial and final volumes are Vi and </a:t>
            </a:r>
            <a:r>
              <a:rPr lang="en-US" sz="2000" b="0" i="0" u="none" strike="noStrike" baseline="0" dirty="0" err="1">
                <a:latin typeface="Times New Roman" panose="02020603050405020304" pitchFamily="18" charset="0"/>
              </a:rPr>
              <a:t>Vf</a:t>
            </a:r>
            <a:r>
              <a:rPr lang="en-US" sz="2000" b="0" i="0" u="none" strike="noStrike" baseline="0" dirty="0">
                <a:latin typeface="Times New Roman" panose="02020603050405020304" pitchFamily="18" charset="0"/>
              </a:rPr>
              <a:t>, where </a:t>
            </a:r>
            <a:r>
              <a:rPr lang="en-US" sz="2000" b="0" i="0" u="none" strike="noStrike" baseline="0" dirty="0" err="1">
                <a:latin typeface="Times New Roman" panose="02020603050405020304" pitchFamily="18" charset="0"/>
              </a:rPr>
              <a:t>Vf</a:t>
            </a:r>
            <a:r>
              <a:rPr lang="en-US" sz="2000" b="0" i="0" u="none" strike="noStrike" baseline="0" dirty="0">
                <a:latin typeface="Times New Roman" panose="02020603050405020304" pitchFamily="18" charset="0"/>
              </a:rPr>
              <a:t> &gt; Vi </a:t>
            </a:r>
          </a:p>
          <a:p>
            <a:pPr marL="0" indent="0">
              <a:buNone/>
            </a:pPr>
            <a:r>
              <a:rPr lang="en-US" sz="2000" b="0" i="0" u="none" strike="noStrike" baseline="0" dirty="0">
                <a:latin typeface="Times New Roman" panose="02020603050405020304" pitchFamily="18" charset="0"/>
              </a:rPr>
              <a:t>So work done in adiabatic expansion is W = (K/(1 – ϒ))[</a:t>
            </a:r>
            <a:r>
              <a:rPr lang="en-US" sz="2000" b="0" i="0" u="none" strike="noStrike" baseline="0" dirty="0" err="1">
                <a:latin typeface="Times New Roman" panose="02020603050405020304" pitchFamily="18" charset="0"/>
              </a:rPr>
              <a:t>Vf</a:t>
            </a:r>
            <a:r>
              <a:rPr lang="en-US" sz="2000" b="0" i="0" u="none" strike="noStrike" baseline="0" dirty="0">
                <a:latin typeface="Times New Roman" panose="02020603050405020304" pitchFamily="18" charset="0"/>
              </a:rPr>
              <a:t> (1-ϒ) - Vi (1-ϒ) ] = (K/(ϒ - 1))[Vi (1-ϒ) - </a:t>
            </a:r>
            <a:r>
              <a:rPr lang="en-US" sz="2000" b="0" i="0" u="none" strike="noStrike" baseline="0" dirty="0" err="1">
                <a:latin typeface="Times New Roman" panose="02020603050405020304" pitchFamily="18" charset="0"/>
              </a:rPr>
              <a:t>Vf</a:t>
            </a:r>
            <a:r>
              <a:rPr lang="en-US" sz="2000" b="0" i="0" u="none" strike="noStrike" baseline="0" dirty="0">
                <a:latin typeface="Times New Roman" panose="02020603050405020304" pitchFamily="18" charset="0"/>
              </a:rPr>
              <a:t> (1-ϒ) ] </a:t>
            </a:r>
          </a:p>
          <a:p>
            <a:pPr marL="0" indent="0">
              <a:buNone/>
            </a:pPr>
            <a:r>
              <a:rPr lang="en-IN" sz="2000" b="0" i="0" u="none" strike="noStrike" baseline="0" dirty="0">
                <a:latin typeface="Times New Roman" panose="02020603050405020304" pitchFamily="18" charset="0"/>
              </a:rPr>
              <a:t>W = (1/(</a:t>
            </a:r>
            <a:r>
              <a:rPr lang="el-GR" sz="2000" b="0" i="0" u="none" strike="noStrike" baseline="0" dirty="0">
                <a:latin typeface="Times New Roman" panose="02020603050405020304" pitchFamily="18" charset="0"/>
              </a:rPr>
              <a:t>ϒ - 1))[ (</a:t>
            </a:r>
            <a:r>
              <a:rPr lang="en-IN" sz="2000" b="0" i="0" u="none" strike="noStrike" baseline="0" dirty="0">
                <a:latin typeface="Times New Roman" panose="02020603050405020304" pitchFamily="18" charset="0"/>
              </a:rPr>
              <a:t>K/ Vi (</a:t>
            </a:r>
            <a:r>
              <a:rPr lang="el-GR" sz="2000" b="0" i="0" u="none" strike="noStrike" baseline="0" dirty="0">
                <a:latin typeface="Times New Roman" panose="02020603050405020304" pitchFamily="18" charset="0"/>
              </a:rPr>
              <a:t>ϒ-1) ) - (</a:t>
            </a:r>
            <a:r>
              <a:rPr lang="en-IN" sz="2000" b="0" i="0" u="none" strike="noStrike" baseline="0" dirty="0">
                <a:latin typeface="Times New Roman" panose="02020603050405020304" pitchFamily="18" charset="0"/>
              </a:rPr>
              <a:t>K/ </a:t>
            </a:r>
            <a:r>
              <a:rPr lang="en-IN" sz="2000" b="0" i="0" u="none" strike="noStrike" baseline="0" dirty="0" err="1">
                <a:latin typeface="Times New Roman" panose="02020603050405020304" pitchFamily="18" charset="0"/>
              </a:rPr>
              <a:t>Vf</a:t>
            </a:r>
            <a:r>
              <a:rPr lang="en-IN" sz="2000" b="0" i="0" u="none" strike="noStrike" baseline="0" dirty="0">
                <a:latin typeface="Times New Roman" panose="02020603050405020304" pitchFamily="18" charset="0"/>
              </a:rPr>
              <a:t> (</a:t>
            </a:r>
            <a:r>
              <a:rPr lang="el-GR" sz="2000" b="0" i="0" u="none" strike="noStrike" baseline="0" dirty="0">
                <a:latin typeface="Times New Roman" panose="02020603050405020304" pitchFamily="18" charset="0"/>
              </a:rPr>
              <a:t>ϒ-1) ) ] </a:t>
            </a:r>
          </a:p>
          <a:p>
            <a:pPr marL="0" indent="0">
              <a:buNone/>
            </a:pPr>
            <a:r>
              <a:rPr lang="en-US" sz="2000" b="0" i="0" u="none" strike="noStrike" baseline="0" dirty="0">
                <a:latin typeface="Times New Roman" panose="02020603050405020304" pitchFamily="18" charset="0"/>
              </a:rPr>
              <a:t>Putting K = </a:t>
            </a:r>
            <a:r>
              <a:rPr lang="en-US" sz="2000" b="0" i="0" u="none" strike="noStrike" baseline="0" dirty="0" err="1">
                <a:latin typeface="Times New Roman" panose="02020603050405020304" pitchFamily="18" charset="0"/>
              </a:rPr>
              <a:t>PiViϒ</a:t>
            </a:r>
            <a:r>
              <a:rPr lang="en-US" sz="2000" b="0" i="0" u="none" strike="noStrike" baseline="0" dirty="0">
                <a:latin typeface="Times New Roman" panose="02020603050405020304" pitchFamily="18" charset="0"/>
              </a:rPr>
              <a:t> in the first term and K = </a:t>
            </a:r>
            <a:r>
              <a:rPr lang="en-US" sz="2000" b="0" i="0" u="none" strike="noStrike" baseline="0" dirty="0" err="1">
                <a:latin typeface="Times New Roman" panose="02020603050405020304" pitchFamily="18" charset="0"/>
              </a:rPr>
              <a:t>PfVfϒ</a:t>
            </a:r>
            <a:r>
              <a:rPr lang="en-US" sz="2000" b="0" i="0" u="none" strike="noStrike" baseline="0" dirty="0">
                <a:latin typeface="Times New Roman" panose="02020603050405020304" pitchFamily="18" charset="0"/>
              </a:rPr>
              <a:t> in the second term, we get : </a:t>
            </a:r>
          </a:p>
          <a:p>
            <a:pPr marL="0" indent="0">
              <a:buNone/>
            </a:pPr>
            <a:r>
              <a:rPr lang="en-IN" sz="2000" b="0" i="0" u="none" strike="noStrike" baseline="0" dirty="0">
                <a:latin typeface="Times New Roman" panose="02020603050405020304" pitchFamily="18" charset="0"/>
              </a:rPr>
              <a:t>W = (1/(</a:t>
            </a:r>
            <a:r>
              <a:rPr lang="el-GR" sz="2000" b="0" i="0" u="none" strike="noStrike" baseline="0" dirty="0">
                <a:latin typeface="Times New Roman" panose="02020603050405020304" pitchFamily="18" charset="0"/>
              </a:rPr>
              <a:t>ϒ - 1))[ (</a:t>
            </a:r>
            <a:r>
              <a:rPr lang="en-IN" sz="2000" b="0" i="0" u="none" strike="noStrike" baseline="0" dirty="0" err="1">
                <a:latin typeface="Times New Roman" panose="02020603050405020304" pitchFamily="18" charset="0"/>
              </a:rPr>
              <a:t>PiVi</a:t>
            </a:r>
            <a:r>
              <a:rPr lang="el-GR" sz="2000" b="0" i="0" u="none" strike="noStrike" baseline="0" dirty="0">
                <a:latin typeface="Times New Roman" panose="02020603050405020304" pitchFamily="18" charset="0"/>
              </a:rPr>
              <a:t>ϒ / </a:t>
            </a:r>
            <a:r>
              <a:rPr lang="en-IN" sz="2000" b="0" i="0" u="none" strike="noStrike" baseline="0" dirty="0">
                <a:latin typeface="Times New Roman" panose="02020603050405020304" pitchFamily="18" charset="0"/>
              </a:rPr>
              <a:t>Vi (</a:t>
            </a:r>
            <a:r>
              <a:rPr lang="el-GR" sz="2000" b="0" i="0" u="none" strike="noStrike" baseline="0" dirty="0">
                <a:latin typeface="Times New Roman" panose="02020603050405020304" pitchFamily="18" charset="0"/>
              </a:rPr>
              <a:t>ϒ-1) ) - (</a:t>
            </a:r>
            <a:r>
              <a:rPr lang="en-IN" sz="2000" b="0" i="0" u="none" strike="noStrike" baseline="0" dirty="0" err="1">
                <a:latin typeface="Times New Roman" panose="02020603050405020304" pitchFamily="18" charset="0"/>
              </a:rPr>
              <a:t>PfVf</a:t>
            </a:r>
            <a:r>
              <a:rPr lang="el-GR" sz="2000" b="0" i="0" u="none" strike="noStrike" baseline="0" dirty="0">
                <a:latin typeface="Times New Roman" panose="02020603050405020304" pitchFamily="18" charset="0"/>
              </a:rPr>
              <a:t>ϒ / </a:t>
            </a:r>
            <a:r>
              <a:rPr lang="en-IN" sz="2000" b="0" i="0" u="none" strike="noStrike" baseline="0" dirty="0" err="1">
                <a:latin typeface="Times New Roman" panose="02020603050405020304" pitchFamily="18" charset="0"/>
              </a:rPr>
              <a:t>Vf</a:t>
            </a:r>
            <a:r>
              <a:rPr lang="en-IN" sz="2000" b="0" i="0" u="none" strike="noStrike" baseline="0" dirty="0">
                <a:latin typeface="Times New Roman" panose="02020603050405020304" pitchFamily="18" charset="0"/>
              </a:rPr>
              <a:t> (</a:t>
            </a:r>
            <a:r>
              <a:rPr lang="el-GR" sz="2000" b="0" i="0" u="none" strike="noStrike" baseline="0" dirty="0">
                <a:latin typeface="Times New Roman" panose="02020603050405020304" pitchFamily="18" charset="0"/>
              </a:rPr>
              <a:t>ϒ-1) ) ] = [ </a:t>
            </a:r>
            <a:r>
              <a:rPr lang="en-IN" sz="2000" b="0" i="0" u="none" strike="noStrike" baseline="0" dirty="0" err="1">
                <a:latin typeface="Times New Roman" panose="02020603050405020304" pitchFamily="18" charset="0"/>
              </a:rPr>
              <a:t>PiVi</a:t>
            </a:r>
            <a:r>
              <a:rPr lang="en-IN" sz="2000" b="0" i="0" u="none" strike="noStrike" baseline="0" dirty="0">
                <a:latin typeface="Times New Roman" panose="02020603050405020304" pitchFamily="18" charset="0"/>
              </a:rPr>
              <a:t> - </a:t>
            </a:r>
            <a:r>
              <a:rPr lang="en-IN" sz="2000" b="0" i="0" u="none" strike="noStrike" baseline="0" dirty="0" err="1">
                <a:latin typeface="Times New Roman" panose="02020603050405020304" pitchFamily="18" charset="0"/>
              </a:rPr>
              <a:t>PfVf</a:t>
            </a:r>
            <a:r>
              <a:rPr lang="en-IN" sz="2000" b="0" i="0" u="none" strike="noStrike" baseline="0" dirty="0">
                <a:latin typeface="Times New Roman" panose="02020603050405020304" pitchFamily="18" charset="0"/>
              </a:rPr>
              <a:t> ]/( </a:t>
            </a:r>
            <a:r>
              <a:rPr lang="el-GR" sz="2000" b="0" i="0" u="none" strike="noStrike" baseline="0" dirty="0">
                <a:latin typeface="Times New Roman" panose="02020603050405020304" pitchFamily="18" charset="0"/>
              </a:rPr>
              <a:t>ϒ - 1) </a:t>
            </a:r>
          </a:p>
          <a:p>
            <a:pPr marL="0" indent="0">
              <a:buNone/>
            </a:pPr>
            <a:r>
              <a:rPr lang="en-IN" sz="2000" b="0" i="0" u="none" strike="noStrike" baseline="0" dirty="0">
                <a:latin typeface="Times New Roman" panose="02020603050405020304" pitchFamily="18" charset="0"/>
              </a:rPr>
              <a:t>Thus W = [ </a:t>
            </a:r>
            <a:r>
              <a:rPr lang="en-IN" sz="2000" b="0" i="0" u="none" strike="noStrike" baseline="0" dirty="0" err="1">
                <a:latin typeface="Times New Roman" panose="02020603050405020304" pitchFamily="18" charset="0"/>
              </a:rPr>
              <a:t>PiVi</a:t>
            </a:r>
            <a:r>
              <a:rPr lang="en-IN" sz="2000" b="0" i="0" u="none" strike="noStrike" baseline="0" dirty="0">
                <a:latin typeface="Times New Roman" panose="02020603050405020304" pitchFamily="18" charset="0"/>
              </a:rPr>
              <a:t> - </a:t>
            </a:r>
            <a:r>
              <a:rPr lang="en-IN" sz="2000" b="0" i="0" u="none" strike="noStrike" baseline="0" dirty="0" err="1">
                <a:latin typeface="Times New Roman" panose="02020603050405020304" pitchFamily="18" charset="0"/>
              </a:rPr>
              <a:t>PfVf</a:t>
            </a:r>
            <a:r>
              <a:rPr lang="en-IN" sz="2000" b="0" i="0" u="none" strike="noStrike" baseline="0" dirty="0">
                <a:latin typeface="Times New Roman" panose="02020603050405020304" pitchFamily="18" charset="0"/>
              </a:rPr>
              <a:t> ]/( </a:t>
            </a:r>
            <a:r>
              <a:rPr lang="el-GR" sz="2000" b="0" i="0" u="none" strike="noStrike" baseline="0" dirty="0">
                <a:latin typeface="Times New Roman" panose="02020603050405020304" pitchFamily="18" charset="0"/>
              </a:rPr>
              <a:t>ϒ - 1) </a:t>
            </a:r>
            <a:endParaRPr lang="en-IN" sz="3600" dirty="0"/>
          </a:p>
        </p:txBody>
      </p:sp>
    </p:spTree>
    <p:extLst>
      <p:ext uri="{BB962C8B-B14F-4D97-AF65-F5344CB8AC3E}">
        <p14:creationId xmlns:p14="http://schemas.microsoft.com/office/powerpoint/2010/main" val="25289392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4704"/>
            <a:ext cx="8229600" cy="5361459"/>
          </a:xfrm>
        </p:spPr>
        <p:txBody>
          <a:bodyPr>
            <a:normAutofit fontScale="92500" lnSpcReduction="10000"/>
          </a:bodyPr>
          <a:lstStyle/>
          <a:p>
            <a:pPr marL="0" indent="0" algn="just">
              <a:buNone/>
            </a:pPr>
            <a:r>
              <a:rPr lang="en-US" b="1" dirty="0">
                <a:latin typeface="Times New Roman" pitchFamily="18" charset="0"/>
                <a:cs typeface="Times New Roman" pitchFamily="18" charset="0"/>
              </a:rPr>
              <a:t>Limitations of the First Law</a:t>
            </a:r>
            <a:r>
              <a:rPr lang="en-US" dirty="0">
                <a:latin typeface="Times New Roman" pitchFamily="18" charset="0"/>
                <a:cs typeface="Times New Roman" pitchFamily="18" charset="0"/>
              </a:rPr>
              <a:t>:</a:t>
            </a:r>
            <a:endParaRPr lang="en-IN" b="1" i="1" dirty="0">
              <a:latin typeface="Times New Roman" pitchFamily="18" charset="0"/>
              <a:cs typeface="Times New Roman" pitchFamily="18" charset="0"/>
            </a:endParaRPr>
          </a:p>
          <a:p>
            <a:pPr lvl="0" algn="just"/>
            <a:r>
              <a:rPr lang="en-US" dirty="0">
                <a:latin typeface="Times New Roman" pitchFamily="18" charset="0"/>
                <a:cs typeface="Times New Roman" pitchFamily="18" charset="0"/>
              </a:rPr>
              <a:t>First law does not provide a clear idea about the direction of absorption or evolution of heat.</a:t>
            </a:r>
            <a:endParaRPr lang="en-IN" dirty="0">
              <a:latin typeface="Times New Roman" pitchFamily="18" charset="0"/>
              <a:cs typeface="Times New Roman" pitchFamily="18" charset="0"/>
            </a:endParaRPr>
          </a:p>
          <a:p>
            <a:pPr lvl="0" algn="just"/>
            <a:r>
              <a:rPr lang="en-US" dirty="0">
                <a:latin typeface="Times New Roman" pitchFamily="18" charset="0"/>
                <a:cs typeface="Times New Roman" pitchFamily="18" charset="0"/>
              </a:rPr>
              <a:t>The first law of thermodynamics merely indicates that in any process there is a transformation between the various forms of energy involved in the process but has nothing to say regarding the feasibility of such transformation.</a:t>
            </a:r>
            <a:endParaRPr lang="en-IN" dirty="0">
              <a:latin typeface="Times New Roman" pitchFamily="18" charset="0"/>
              <a:cs typeface="Times New Roman" pitchFamily="18" charset="0"/>
            </a:endParaRPr>
          </a:p>
          <a:p>
            <a:pPr lvl="0" algn="just"/>
            <a:r>
              <a:rPr lang="en-US" dirty="0">
                <a:latin typeface="Times New Roman" pitchFamily="18" charset="0"/>
                <a:cs typeface="Times New Roman" pitchFamily="18" charset="0"/>
              </a:rPr>
              <a:t>First law does not provide any information regarding the direction in which processes will take place or whether it is a spontaneous or a non-spontaneous process.</a:t>
            </a:r>
            <a:endParaRPr lang="en-IN" dirty="0">
              <a:latin typeface="Times New Roman" pitchFamily="18" charset="0"/>
              <a:cs typeface="Times New Roman" pitchFamily="18" charset="0"/>
            </a:endParaRPr>
          </a:p>
          <a:p>
            <a:pPr marL="0" indent="0" algn="just">
              <a:buNone/>
            </a:pP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11314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5649491"/>
          </a:xfrm>
        </p:spPr>
        <p:txBody>
          <a:bodyPr>
            <a:normAutofit fontScale="92500" lnSpcReduction="10000"/>
          </a:bodyPr>
          <a:lstStyle/>
          <a:p>
            <a:pPr marL="0" indent="0" algn="just">
              <a:buNone/>
            </a:pPr>
            <a:r>
              <a:rPr lang="en-US" b="1" dirty="0">
                <a:latin typeface="Times New Roman" pitchFamily="18" charset="0"/>
                <a:cs typeface="Times New Roman" pitchFamily="18" charset="0"/>
              </a:rPr>
              <a:t>Thermal Reservoir:</a:t>
            </a:r>
            <a:endParaRPr lang="en-IN" b="1" i="1" dirty="0">
              <a:latin typeface="Times New Roman" pitchFamily="18" charset="0"/>
              <a:cs typeface="Times New Roman" pitchFamily="18" charset="0"/>
            </a:endParaRPr>
          </a:p>
          <a:p>
            <a:pPr marL="0" indent="0" algn="just">
              <a:buNone/>
            </a:pPr>
            <a:r>
              <a:rPr lang="en-US" dirty="0">
                <a:latin typeface="Times New Roman" pitchFamily="18" charset="0"/>
                <a:cs typeface="Times New Roman" pitchFamily="18" charset="0"/>
              </a:rPr>
              <a:t>	A thermal reservoir is a large system from which a quantity of energy can be absorbed or added as heat without changing its temperature. </a:t>
            </a:r>
          </a:p>
          <a:p>
            <a:pPr marL="0" indent="0" algn="just">
              <a:buNone/>
            </a:pPr>
            <a:r>
              <a:rPr lang="en-US" dirty="0">
                <a:latin typeface="Times New Roman" pitchFamily="18" charset="0"/>
                <a:cs typeface="Times New Roman" pitchFamily="18" charset="0"/>
              </a:rPr>
              <a:t>	The atmosphere and sea are examples of thermal reservoirs. </a:t>
            </a:r>
          </a:p>
          <a:p>
            <a:pPr marL="0" indent="0" algn="just">
              <a:buNone/>
            </a:pPr>
            <a:r>
              <a:rPr lang="en-US" dirty="0">
                <a:latin typeface="Times New Roman" pitchFamily="18" charset="0"/>
                <a:cs typeface="Times New Roman" pitchFamily="18" charset="0"/>
              </a:rPr>
              <a:t>	Any physical body whose thermal energy capacity is large relative to the amount of energy it supplies or absorbs can be </a:t>
            </a:r>
            <a:r>
              <a:rPr lang="en-US" dirty="0" err="1">
                <a:latin typeface="Times New Roman" pitchFamily="18" charset="0"/>
                <a:cs typeface="Times New Roman" pitchFamily="18" charset="0"/>
              </a:rPr>
              <a:t>modelled</a:t>
            </a:r>
            <a:r>
              <a:rPr lang="en-US" dirty="0">
                <a:latin typeface="Times New Roman" pitchFamily="18" charset="0"/>
                <a:cs typeface="Times New Roman" pitchFamily="18" charset="0"/>
              </a:rPr>
              <a:t> as a thermal reservoir. A reservoir that supplies energy in the form of heat is called a source and one that absorbs energy in the form of heat is called a sink.</a:t>
            </a:r>
            <a:endParaRPr lang="en-IN" dirty="0">
              <a:latin typeface="Times New Roman" pitchFamily="18" charset="0"/>
              <a:cs typeface="Times New Roman" pitchFamily="18" charset="0"/>
            </a:endParaRPr>
          </a:p>
          <a:p>
            <a:pPr marL="0" indent="0" algn="just">
              <a:buNone/>
            </a:pP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5311503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8640"/>
            <a:ext cx="8229600" cy="5937523"/>
          </a:xfrm>
        </p:spPr>
        <p:txBody>
          <a:bodyPr>
            <a:normAutofit fontScale="92500" lnSpcReduction="20000"/>
          </a:bodyPr>
          <a:lstStyle/>
          <a:p>
            <a:pPr marL="0" indent="0" algn="just">
              <a:buNone/>
            </a:pPr>
            <a:r>
              <a:rPr lang="en-US" b="1" dirty="0">
                <a:latin typeface="Times New Roman" pitchFamily="18" charset="0"/>
                <a:cs typeface="Times New Roman" pitchFamily="18" charset="0"/>
              </a:rPr>
              <a:t>Heat Engine:</a:t>
            </a:r>
            <a:endParaRPr lang="en-IN" b="1" i="1" dirty="0">
              <a:latin typeface="Times New Roman" pitchFamily="18" charset="0"/>
              <a:cs typeface="Times New Roman" pitchFamily="18" charset="0"/>
            </a:endParaRPr>
          </a:p>
          <a:p>
            <a:pPr marL="0" indent="0" algn="just">
              <a:buNone/>
            </a:pPr>
            <a:r>
              <a:rPr lang="en-US" dirty="0">
                <a:latin typeface="Times New Roman" pitchFamily="18" charset="0"/>
                <a:cs typeface="Times New Roman" pitchFamily="18" charset="0"/>
              </a:rPr>
              <a:t>	It is a cyclically operating device which absorbs energy as heat from a high temperature reservoir, converts part of the energy into work and rejects the rest of the energy as heat to a thermal reservoir at low temperature.</a:t>
            </a:r>
            <a:endParaRPr lang="en-IN" dirty="0">
              <a:latin typeface="Times New Roman" pitchFamily="18" charset="0"/>
              <a:cs typeface="Times New Roman" pitchFamily="18" charset="0"/>
            </a:endParaRPr>
          </a:p>
          <a:p>
            <a:pPr marL="0" indent="0" algn="just">
              <a:buNone/>
            </a:pPr>
            <a:r>
              <a:rPr lang="en-US" dirty="0">
                <a:latin typeface="Times New Roman" pitchFamily="18" charset="0"/>
                <a:cs typeface="Times New Roman" pitchFamily="18" charset="0"/>
              </a:rPr>
              <a:t>	The working fluid is a substance, which absorbs energy as heat from a source, and rejects energy as heat to a sink.</a:t>
            </a:r>
            <a:endParaRPr lang="en-IN" dirty="0">
              <a:latin typeface="Times New Roman" pitchFamily="18" charset="0"/>
              <a:cs typeface="Times New Roman" pitchFamily="18" charset="0"/>
            </a:endParaRPr>
          </a:p>
          <a:p>
            <a:pPr marL="0" indent="0" algn="just">
              <a:buNone/>
            </a:pPr>
            <a:r>
              <a:rPr lang="en-US" dirty="0">
                <a:latin typeface="Times New Roman" pitchFamily="18" charset="0"/>
                <a:cs typeface="Times New Roman" pitchFamily="18" charset="0"/>
              </a:rPr>
              <a:t> </a:t>
            </a:r>
            <a:endParaRPr lang="en-IN" dirty="0">
              <a:latin typeface="Times New Roman" pitchFamily="18" charset="0"/>
              <a:cs typeface="Times New Roman" pitchFamily="18" charset="0"/>
            </a:endParaRPr>
          </a:p>
          <a:p>
            <a:pPr marL="0" indent="0" algn="just">
              <a:buNone/>
            </a:pPr>
            <a:br>
              <a:rPr lang="en-IN" dirty="0">
                <a:latin typeface="Times New Roman" pitchFamily="18" charset="0"/>
                <a:cs typeface="Times New Roman" pitchFamily="18" charset="0"/>
              </a:rPr>
            </a:br>
            <a:endParaRPr lang="en-IN" dirty="0">
              <a:latin typeface="Times New Roman" pitchFamily="18" charset="0"/>
              <a:cs typeface="Times New Roman" pitchFamily="18" charset="0"/>
            </a:endParaRPr>
          </a:p>
          <a:p>
            <a:pPr marL="0" indent="0" algn="just">
              <a:buNone/>
            </a:pPr>
            <a:r>
              <a:rPr lang="en-US" dirty="0">
                <a:latin typeface="Times New Roman" pitchFamily="18" charset="0"/>
                <a:cs typeface="Times New Roman" pitchFamily="18" charset="0"/>
              </a:rPr>
              <a:t> </a:t>
            </a:r>
            <a:r>
              <a:rPr lang="en-IN" dirty="0">
                <a:latin typeface="Times New Roman" pitchFamily="18" charset="0"/>
                <a:cs typeface="Times New Roman" pitchFamily="18" charset="0"/>
              </a:rPr>
              <a:t> </a:t>
            </a:r>
            <a:br>
              <a:rPr lang="en-IN" dirty="0">
                <a:latin typeface="Times New Roman" pitchFamily="18" charset="0"/>
                <a:cs typeface="Times New Roman" pitchFamily="18" charset="0"/>
              </a:rPr>
            </a:br>
            <a:endParaRPr lang="en-IN" dirty="0">
              <a:latin typeface="Times New Roman" pitchFamily="18" charset="0"/>
              <a:cs typeface="Times New Roman" pitchFamily="18" charset="0"/>
            </a:endParaRPr>
          </a:p>
          <a:p>
            <a:pPr marL="0" indent="0" algn="just">
              <a:buNone/>
            </a:pPr>
            <a:endParaRPr lang="en-IN" dirty="0">
              <a:latin typeface="Times New Roman" pitchFamily="18" charset="0"/>
              <a:cs typeface="Times New Roman" pitchFamily="18" charset="0"/>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7511" y="3717031"/>
            <a:ext cx="4240673" cy="3019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10914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600" b="1" dirty="0" err="1">
                <a:latin typeface="Times New Roman" pitchFamily="18" charset="0"/>
                <a:cs typeface="Times New Roman" pitchFamily="18" charset="0"/>
              </a:rPr>
              <a:t>Numericals</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a:bodyPr>
          <a:lstStyle/>
          <a:p>
            <a:pPr marL="0" indent="0" algn="just">
              <a:buNone/>
            </a:pPr>
            <a:r>
              <a:rPr lang="en-US" dirty="0">
                <a:latin typeface="Times New Roman" pitchFamily="18" charset="0"/>
                <a:cs typeface="Times New Roman" pitchFamily="18" charset="0"/>
              </a:rPr>
              <a:t>1)A turbine is supplied with steam at a gauge pressure of 1.4 </a:t>
            </a:r>
            <a:r>
              <a:rPr lang="en-US" dirty="0" err="1">
                <a:latin typeface="Times New Roman" pitchFamily="18" charset="0"/>
                <a:cs typeface="Times New Roman" pitchFamily="18" charset="0"/>
              </a:rPr>
              <a:t>MPa</a:t>
            </a:r>
            <a:r>
              <a:rPr lang="en-US" dirty="0">
                <a:latin typeface="Times New Roman" pitchFamily="18" charset="0"/>
                <a:cs typeface="Times New Roman" pitchFamily="18" charset="0"/>
              </a:rPr>
              <a:t>. After expansion in the turbine the steam flows into a condenser which is maintained at a vacuum of 710 mm Hg. The barometric pressure is 772 mm Hg. Express the inlet and exhaust steam pressure in </a:t>
            </a:r>
            <a:r>
              <a:rPr lang="en-US" dirty="0" err="1">
                <a:latin typeface="Times New Roman" pitchFamily="18" charset="0"/>
                <a:cs typeface="Times New Roman" pitchFamily="18" charset="0"/>
              </a:rPr>
              <a:t>pascals</a:t>
            </a:r>
            <a:r>
              <a:rPr lang="en-US" dirty="0">
                <a:latin typeface="Times New Roman" pitchFamily="18" charset="0"/>
                <a:cs typeface="Times New Roman" pitchFamily="18" charset="0"/>
              </a:rPr>
              <a:t> (absolute). Take the density of mercury as 13.6 × 10</a:t>
            </a:r>
            <a:r>
              <a:rPr lang="en-US" baseline="30000" dirty="0">
                <a:latin typeface="Times New Roman" pitchFamily="18" charset="0"/>
                <a:cs typeface="Times New Roman" pitchFamily="18" charset="0"/>
              </a:rPr>
              <a:t>3</a:t>
            </a:r>
            <a:r>
              <a:rPr lang="en-US" dirty="0">
                <a:latin typeface="Times New Roman" pitchFamily="18" charset="0"/>
                <a:cs typeface="Times New Roman" pitchFamily="18" charset="0"/>
              </a:rPr>
              <a:t> kg/m</a:t>
            </a:r>
            <a:r>
              <a:rPr lang="en-US" baseline="30000" dirty="0">
                <a:latin typeface="Times New Roman" pitchFamily="18" charset="0"/>
                <a:cs typeface="Times New Roman" pitchFamily="18" charset="0"/>
              </a:rPr>
              <a:t>3</a:t>
            </a:r>
            <a:endParaRPr lang="en-IN" dirty="0">
              <a:latin typeface="Times New Roman" pitchFamily="18" charset="0"/>
              <a:cs typeface="Times New Roman" pitchFamily="18" charset="0"/>
            </a:endParaRPr>
          </a:p>
          <a:p>
            <a:pPr marL="0" indent="0">
              <a:buNone/>
            </a:pPr>
            <a:br>
              <a:rPr lang="en-IN" dirty="0">
                <a:latin typeface="Times New Roman" pitchFamily="18" charset="0"/>
                <a:cs typeface="Times New Roman" pitchFamily="18" charset="0"/>
              </a:rPr>
            </a:b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1950145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28916-81F1-6AA4-E14D-8C0060D3378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79C9278-BEC1-06F9-142D-7C2593E6132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CAC23AE6-FD2F-64B8-6F25-02BB4EB94FCE}"/>
              </a:ext>
            </a:extLst>
          </p:cNvPr>
          <p:cNvPicPr>
            <a:picLocks noChangeAspect="1"/>
          </p:cNvPicPr>
          <p:nvPr/>
        </p:nvPicPr>
        <p:blipFill>
          <a:blip r:embed="rId2"/>
          <a:stretch>
            <a:fillRect/>
          </a:stretch>
        </p:blipFill>
        <p:spPr>
          <a:xfrm rot="16200000">
            <a:off x="1143000" y="0"/>
            <a:ext cx="6858000" cy="6858000"/>
          </a:xfrm>
          <a:prstGeom prst="rect">
            <a:avLst/>
          </a:prstGeom>
        </p:spPr>
      </p:pic>
    </p:spTree>
    <p:extLst>
      <p:ext uri="{BB962C8B-B14F-4D97-AF65-F5344CB8AC3E}">
        <p14:creationId xmlns:p14="http://schemas.microsoft.com/office/powerpoint/2010/main" val="36061171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lstStyle/>
          <a:p>
            <a:pPr marL="0" indent="0" algn="just">
              <a:buNone/>
            </a:pPr>
            <a:r>
              <a:rPr lang="en-US" dirty="0"/>
              <a:t>2) The pressure of gas in a pipe line is measured with a mercury manometer having one limb open to the atmosphere. If the difference in the height of mercury in the two limbs is 562 mm, calculate the gas pressure. The barometer reads 761 mm Hg, the acceleration due to gravity is</a:t>
            </a:r>
          </a:p>
          <a:p>
            <a:pPr marL="0" indent="0" algn="just">
              <a:buNone/>
            </a:pPr>
            <a:r>
              <a:rPr lang="en-US" dirty="0"/>
              <a:t>9.79 m/s</a:t>
            </a:r>
            <a:r>
              <a:rPr lang="en-US" baseline="30000" dirty="0"/>
              <a:t>2</a:t>
            </a:r>
            <a:r>
              <a:rPr lang="en-US" dirty="0"/>
              <a:t>, and the density of mercury is 13,640 kg/m</a:t>
            </a:r>
            <a:r>
              <a:rPr lang="en-US" baseline="30000" dirty="0"/>
              <a:t>3</a:t>
            </a:r>
            <a:r>
              <a:rPr lang="en-US" dirty="0"/>
              <a:t>.</a:t>
            </a:r>
            <a:endParaRPr lang="en-IN" dirty="0"/>
          </a:p>
          <a:p>
            <a:pPr marL="0" indent="0">
              <a:buNone/>
            </a:pPr>
            <a:endParaRPr lang="en-IN" dirty="0"/>
          </a:p>
        </p:txBody>
      </p:sp>
    </p:spTree>
    <p:extLst>
      <p:ext uri="{BB962C8B-B14F-4D97-AF65-F5344CB8AC3E}">
        <p14:creationId xmlns:p14="http://schemas.microsoft.com/office/powerpoint/2010/main" val="4590980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8B975-DBC6-3C96-E863-FE80A7695F2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9F1336F-D8E1-593F-7025-F58515E16044}"/>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AF024B6-D0CB-2464-4C99-04C549FD35CA}"/>
              </a:ext>
            </a:extLst>
          </p:cNvPr>
          <p:cNvPicPr>
            <a:picLocks noChangeAspect="1"/>
          </p:cNvPicPr>
          <p:nvPr/>
        </p:nvPicPr>
        <p:blipFill>
          <a:blip r:embed="rId2"/>
          <a:stretch>
            <a:fillRect/>
          </a:stretch>
        </p:blipFill>
        <p:spPr>
          <a:xfrm>
            <a:off x="252000" y="0"/>
            <a:ext cx="8640000" cy="6858000"/>
          </a:xfrm>
          <a:prstGeom prst="rect">
            <a:avLst/>
          </a:prstGeom>
        </p:spPr>
      </p:pic>
    </p:spTree>
    <p:extLst>
      <p:ext uri="{BB962C8B-B14F-4D97-AF65-F5344CB8AC3E}">
        <p14:creationId xmlns:p14="http://schemas.microsoft.com/office/powerpoint/2010/main" val="14172816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5793507"/>
          </a:xfrm>
        </p:spPr>
        <p:txBody>
          <a:bodyPr/>
          <a:lstStyle/>
          <a:p>
            <a:pPr marL="0" indent="0" algn="just">
              <a:buNone/>
            </a:pPr>
            <a:r>
              <a:rPr lang="en-US" dirty="0"/>
              <a:t>3) When the valve of the evacuated bottle is opened, atmospheric air rush pressure is 101.325 </a:t>
            </a:r>
            <a:r>
              <a:rPr lang="en-US" dirty="0" err="1"/>
              <a:t>kPa</a:t>
            </a:r>
            <a:r>
              <a:rPr lang="en-US" dirty="0"/>
              <a:t>, and 0.6 m</a:t>
            </a:r>
            <a:r>
              <a:rPr lang="en-US" baseline="30000" dirty="0"/>
              <a:t>3</a:t>
            </a:r>
            <a:r>
              <a:rPr lang="en-US" dirty="0"/>
              <a:t> of air (measured at atmospheric conditions) enters into the bottle, calculate the work done by air.</a:t>
            </a:r>
            <a:endParaRPr lang="en-IN" dirty="0"/>
          </a:p>
          <a:p>
            <a:pPr marL="0" indent="0">
              <a:buNone/>
            </a:pP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2785056"/>
            <a:ext cx="3206874" cy="3145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22421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8AF94-9F22-4A69-4A5F-CE55AF9E374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7457FED-B341-B4A4-1FF2-4C8B1DB55868}"/>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2DD8C39-37DA-0576-1FA2-23ECFA72A992}"/>
              </a:ext>
            </a:extLst>
          </p:cNvPr>
          <p:cNvPicPr>
            <a:picLocks noChangeAspect="1"/>
          </p:cNvPicPr>
          <p:nvPr/>
        </p:nvPicPr>
        <p:blipFill>
          <a:blip r:embed="rId2"/>
          <a:stretch>
            <a:fillRect/>
          </a:stretch>
        </p:blipFill>
        <p:spPr>
          <a:xfrm>
            <a:off x="0" y="628650"/>
            <a:ext cx="9144000" cy="5600700"/>
          </a:xfrm>
          <a:prstGeom prst="rect">
            <a:avLst/>
          </a:prstGeom>
        </p:spPr>
      </p:pic>
    </p:spTree>
    <p:extLst>
      <p:ext uri="{BB962C8B-B14F-4D97-AF65-F5344CB8AC3E}">
        <p14:creationId xmlns:p14="http://schemas.microsoft.com/office/powerpoint/2010/main" val="3471213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5793507"/>
          </a:xfrm>
        </p:spPr>
        <p:txBody>
          <a:bodyPr>
            <a:normAutofit/>
          </a:bodyPr>
          <a:lstStyle/>
          <a:p>
            <a:pPr marL="0" indent="0" algn="just">
              <a:buNone/>
            </a:pPr>
            <a:r>
              <a:rPr lang="en-US" sz="2800" dirty="0"/>
              <a:t>4) A piston and cylinder machine containing a fluid system has a stirring device in the cylinder. The piston is frictionless, and it is held down against the fluid due to the atmospheric pressure of 101.325 </a:t>
            </a:r>
            <a:r>
              <a:rPr lang="en-US" sz="2800" dirty="0" err="1"/>
              <a:t>kPa</a:t>
            </a:r>
            <a:r>
              <a:rPr lang="en-US" sz="2800" dirty="0"/>
              <a:t>. The stirring device is turned 10,000 revolutions with an average torque against the fluid of 1.275 </a:t>
            </a:r>
            <a:r>
              <a:rPr lang="en-US" sz="2800" dirty="0" err="1"/>
              <a:t>mN</a:t>
            </a:r>
            <a:r>
              <a:rPr lang="en-US" sz="2800" dirty="0"/>
              <a:t>. Meanwhile the piston of 0.6 m diameter moves out 0.8 m. Find the net work transfer for the system.</a:t>
            </a:r>
            <a:endParaRPr lang="en-IN" sz="28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3861048"/>
            <a:ext cx="6286785" cy="2689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815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FA43C-334B-36C0-DBE2-7B918E22926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043B1B5-2E90-1604-D1C7-4357DB9D74EA}"/>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982C3C37-588E-4F61-A267-A3432E83832D}"/>
              </a:ext>
            </a:extLst>
          </p:cNvPr>
          <p:cNvPicPr>
            <a:picLocks noChangeAspect="1"/>
          </p:cNvPicPr>
          <p:nvPr/>
        </p:nvPicPr>
        <p:blipFill>
          <a:blip r:embed="rId2"/>
          <a:stretch>
            <a:fillRect/>
          </a:stretch>
        </p:blipFill>
        <p:spPr>
          <a:xfrm>
            <a:off x="2000250" y="0"/>
            <a:ext cx="6028134" cy="6858000"/>
          </a:xfrm>
          <a:prstGeom prst="rect">
            <a:avLst/>
          </a:prstGeom>
        </p:spPr>
      </p:pic>
    </p:spTree>
    <p:extLst>
      <p:ext uri="{BB962C8B-B14F-4D97-AF65-F5344CB8AC3E}">
        <p14:creationId xmlns:p14="http://schemas.microsoft.com/office/powerpoint/2010/main" val="23042505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404664"/>
                <a:ext cx="8229600" cy="5721499"/>
              </a:xfrm>
            </p:spPr>
            <p:txBody>
              <a:bodyPr/>
              <a:lstStyle/>
              <a:p>
                <a:pPr marL="0" indent="0">
                  <a:buNone/>
                </a:pPr>
                <a:r>
                  <a:rPr lang="en-US" dirty="0"/>
                  <a:t>5) A liter of hydrogen at 27 </a:t>
                </a:r>
                <a:r>
                  <a:rPr lang="en-US" baseline="30000" dirty="0" err="1"/>
                  <a:t>o</a:t>
                </a:r>
                <a:r>
                  <a:rPr lang="en-US" dirty="0" err="1"/>
                  <a:t>C</a:t>
                </a:r>
                <a:r>
                  <a:rPr lang="en-US" dirty="0"/>
                  <a:t> and 10</a:t>
                </a:r>
                <a:r>
                  <a:rPr lang="en-US" baseline="30000" dirty="0"/>
                  <a:t>6 </a:t>
                </a:r>
                <a:r>
                  <a:rPr lang="en-US" dirty="0"/>
                  <a:t>dyne/cm</a:t>
                </a:r>
                <a:r>
                  <a:rPr lang="en-US" baseline="30000" dirty="0"/>
                  <a:t>2</a:t>
                </a:r>
                <a:r>
                  <a:rPr lang="en-US" dirty="0"/>
                  <a:t> pressure expands isothermally until its volume is doubled and then adiabatically until it is redoubled. Find final pressure and work done in each case. Given </a:t>
                </a:r>
                <a14:m>
                  <m:oMath xmlns:m="http://schemas.openxmlformats.org/officeDocument/2006/math">
                    <m:r>
                      <a:rPr lang="en-US" i="1" smtClean="0">
                        <a:latin typeface="Cambria Math"/>
                        <a:ea typeface="Cambria Math"/>
                      </a:rPr>
                      <m:t>𝛾</m:t>
                    </m:r>
                    <m:r>
                      <a:rPr lang="en-US" b="0" i="1" smtClean="0">
                        <a:latin typeface="Cambria Math"/>
                        <a:ea typeface="Cambria Math"/>
                      </a:rPr>
                      <m:t>=</m:t>
                    </m:r>
                  </m:oMath>
                </a14:m>
                <a:r>
                  <a:rPr lang="en-IN" dirty="0"/>
                  <a:t> 1.4.</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404664"/>
                <a:ext cx="8229600" cy="5721499"/>
              </a:xfrm>
              <a:blipFill rotWithShape="1">
                <a:blip r:embed="rId3"/>
                <a:stretch>
                  <a:fillRect l="-1852" t="-1384" r="-2593"/>
                </a:stretch>
              </a:blipFill>
            </p:spPr>
            <p:txBody>
              <a:bodyPr/>
              <a:lstStyle/>
              <a:p>
                <a:r>
                  <a:rPr lang="en-IN">
                    <a:noFill/>
                  </a:rPr>
                  <a:t> </a:t>
                </a:r>
              </a:p>
            </p:txBody>
          </p:sp>
        </mc:Fallback>
      </mc:AlternateContent>
    </p:spTree>
    <p:extLst>
      <p:ext uri="{BB962C8B-B14F-4D97-AF65-F5344CB8AC3E}">
        <p14:creationId xmlns:p14="http://schemas.microsoft.com/office/powerpoint/2010/main" val="897603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077BC-E5DA-3DE7-C556-F72116BDD63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A83B816-42D8-EFFC-25F6-64EE8A34D705}"/>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205CF91-12D6-795D-4D98-D8CF6F1EC730}"/>
              </a:ext>
            </a:extLst>
          </p:cNvPr>
          <p:cNvPicPr>
            <a:picLocks noChangeAspect="1"/>
          </p:cNvPicPr>
          <p:nvPr/>
        </p:nvPicPr>
        <p:blipFill>
          <a:blip r:embed="rId2"/>
          <a:stretch>
            <a:fillRect/>
          </a:stretch>
        </p:blipFill>
        <p:spPr>
          <a:xfrm>
            <a:off x="2000250" y="0"/>
            <a:ext cx="6028134" cy="6858000"/>
          </a:xfrm>
          <a:prstGeom prst="rect">
            <a:avLst/>
          </a:prstGeom>
        </p:spPr>
      </p:pic>
    </p:spTree>
    <p:extLst>
      <p:ext uri="{BB962C8B-B14F-4D97-AF65-F5344CB8AC3E}">
        <p14:creationId xmlns:p14="http://schemas.microsoft.com/office/powerpoint/2010/main" val="20020349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5721499"/>
          </a:xfrm>
        </p:spPr>
        <p:txBody>
          <a:bodyPr>
            <a:normAutofit/>
          </a:bodyPr>
          <a:lstStyle/>
          <a:p>
            <a:pPr marL="0" indent="0" algn="just">
              <a:buNone/>
            </a:pPr>
            <a:r>
              <a:rPr lang="en-US" sz="2800" dirty="0"/>
              <a:t>6) It is required to melt 5 </a:t>
            </a:r>
            <a:r>
              <a:rPr lang="en-US" sz="2800" dirty="0" err="1"/>
              <a:t>tonnes</a:t>
            </a:r>
            <a:r>
              <a:rPr lang="en-US" sz="2800" dirty="0"/>
              <a:t> per hour of iron from a charge at 15 </a:t>
            </a:r>
            <a:r>
              <a:rPr lang="en-US" sz="2800" baseline="30000" dirty="0" err="1"/>
              <a:t>o</a:t>
            </a:r>
            <a:r>
              <a:rPr lang="en-US" sz="2800" dirty="0" err="1"/>
              <a:t>C</a:t>
            </a:r>
            <a:r>
              <a:rPr lang="en-US" sz="2800" dirty="0"/>
              <a:t> to molten metal at 1650 </a:t>
            </a:r>
            <a:r>
              <a:rPr lang="en-US" sz="2800" baseline="30000" dirty="0" err="1"/>
              <a:t>o</a:t>
            </a:r>
            <a:r>
              <a:rPr lang="en-US" sz="2800" dirty="0" err="1"/>
              <a:t>C.</a:t>
            </a:r>
            <a:r>
              <a:rPr lang="en-US" sz="2800" dirty="0"/>
              <a:t> The melting point is 1535 </a:t>
            </a:r>
            <a:r>
              <a:rPr lang="en-US" sz="2800" baseline="30000" dirty="0" err="1"/>
              <a:t>o</a:t>
            </a:r>
            <a:r>
              <a:rPr lang="en-US" sz="2800" dirty="0" err="1"/>
              <a:t>C</a:t>
            </a:r>
            <a:r>
              <a:rPr lang="en-US" sz="2800" dirty="0"/>
              <a:t>, and the latent heat is 270 kJ kg</a:t>
            </a:r>
            <a:r>
              <a:rPr lang="en-US" sz="2800" baseline="30000" dirty="0"/>
              <a:t>-1</a:t>
            </a:r>
            <a:r>
              <a:rPr lang="en-US" sz="2800" dirty="0"/>
              <a:t>. The specific heat in solid state is 0.502 and in liquid state (29.93/atomic weight kJ kg</a:t>
            </a:r>
            <a:r>
              <a:rPr lang="en-US" sz="2800" baseline="30000" dirty="0"/>
              <a:t>-1</a:t>
            </a:r>
            <a:r>
              <a:rPr lang="en-US" sz="2800" dirty="0"/>
              <a:t> K</a:t>
            </a:r>
            <a:r>
              <a:rPr lang="en-US" sz="2800" baseline="30000" dirty="0"/>
              <a:t>-1</a:t>
            </a:r>
            <a:r>
              <a:rPr lang="en-US" sz="2800" dirty="0"/>
              <a:t>). If an electric furnace has 70% efficiency, find the kW rating needed. If the density in molten state is 6900 kg m-3 and the bath volume is three times the hourly melting rate, find the dimensions of the cylindrical furnace if the length to diameter ratio is 2. The atomic weight of iron is 56.</a:t>
            </a:r>
          </a:p>
          <a:p>
            <a:pPr marL="0" indent="0">
              <a:buNone/>
            </a:pPr>
            <a:endParaRPr lang="en-IN" dirty="0"/>
          </a:p>
        </p:txBody>
      </p:sp>
    </p:spTree>
    <p:extLst>
      <p:ext uri="{BB962C8B-B14F-4D97-AF65-F5344CB8AC3E}">
        <p14:creationId xmlns:p14="http://schemas.microsoft.com/office/powerpoint/2010/main" val="37249649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3F381-0690-DC27-57D3-418F6DD4872B}"/>
              </a:ext>
            </a:extLst>
          </p:cNvPr>
          <p:cNvSpPr>
            <a:spLocks noGrp="1"/>
          </p:cNvSpPr>
          <p:nvPr>
            <p:ph type="title"/>
          </p:nvPr>
        </p:nvSpPr>
        <p:spPr/>
        <p:txBody>
          <a:bodyPr>
            <a:normAutofit/>
          </a:bodyPr>
          <a:lstStyle/>
          <a:p>
            <a:pPr algn="l"/>
            <a:r>
              <a:rPr lang="en-IN" sz="2400" dirty="0"/>
              <a:t>Q=</a:t>
            </a:r>
            <a:r>
              <a:rPr lang="en-IN" sz="2400" dirty="0" err="1"/>
              <a:t>mC</a:t>
            </a:r>
            <a:r>
              <a:rPr lang="en-IN" sz="2400" dirty="0"/>
              <a:t>(</a:t>
            </a:r>
            <a:r>
              <a:rPr lang="el-GR" sz="2400" dirty="0"/>
              <a:t>Δ</a:t>
            </a:r>
            <a:r>
              <a:rPr lang="en-IN" sz="2400" dirty="0"/>
              <a:t>T)</a:t>
            </a:r>
          </a:p>
        </p:txBody>
      </p:sp>
      <p:sp>
        <p:nvSpPr>
          <p:cNvPr id="3" name="Content Placeholder 2">
            <a:extLst>
              <a:ext uri="{FF2B5EF4-FFF2-40B4-BE49-F238E27FC236}">
                <a16:creationId xmlns:a16="http://schemas.microsoft.com/office/drawing/2014/main" id="{BAAA6F43-25BE-6754-CD08-273D571E4283}"/>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B9091852-B0BD-9B11-F6CA-CEEC86C21C1D}"/>
              </a:ext>
            </a:extLst>
          </p:cNvPr>
          <p:cNvPicPr>
            <a:picLocks noChangeAspect="1"/>
          </p:cNvPicPr>
          <p:nvPr/>
        </p:nvPicPr>
        <p:blipFill>
          <a:blip r:embed="rId2"/>
          <a:stretch>
            <a:fillRect/>
          </a:stretch>
        </p:blipFill>
        <p:spPr>
          <a:xfrm>
            <a:off x="2000250" y="0"/>
            <a:ext cx="5143500" cy="6858000"/>
          </a:xfrm>
          <a:prstGeom prst="rect">
            <a:avLst/>
          </a:prstGeom>
        </p:spPr>
      </p:pic>
    </p:spTree>
    <p:extLst>
      <p:ext uri="{BB962C8B-B14F-4D97-AF65-F5344CB8AC3E}">
        <p14:creationId xmlns:p14="http://schemas.microsoft.com/office/powerpoint/2010/main" val="5823280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5793507"/>
          </a:xfrm>
        </p:spPr>
        <p:txBody>
          <a:bodyPr>
            <a:normAutofit/>
          </a:bodyPr>
          <a:lstStyle/>
          <a:p>
            <a:pPr marL="0" indent="0">
              <a:buNone/>
            </a:pPr>
            <a:r>
              <a:rPr lang="en-US" dirty="0"/>
              <a:t>7) A stationary mass of gas is compressed without friction from an initial state of 0.3 m</a:t>
            </a:r>
            <a:r>
              <a:rPr lang="en-US" baseline="30000" dirty="0"/>
              <a:t>3</a:t>
            </a:r>
            <a:r>
              <a:rPr lang="en-US" dirty="0"/>
              <a:t> and 0.105 </a:t>
            </a:r>
            <a:r>
              <a:rPr lang="en-US" dirty="0" err="1"/>
              <a:t>MPa</a:t>
            </a:r>
            <a:r>
              <a:rPr lang="en-US" dirty="0"/>
              <a:t> to a final state of 0.15 m</a:t>
            </a:r>
            <a:r>
              <a:rPr lang="en-US" baseline="30000" dirty="0"/>
              <a:t>3</a:t>
            </a:r>
            <a:r>
              <a:rPr lang="en-US" dirty="0"/>
              <a:t> and 0.105 </a:t>
            </a:r>
            <a:r>
              <a:rPr lang="en-US" dirty="0" err="1"/>
              <a:t>MPa</a:t>
            </a:r>
            <a:r>
              <a:rPr lang="en-US" dirty="0"/>
              <a:t>, the pressure remaining constant during the process. There is a transfer of 37.6 kJ of heat from the gas during the process. How much does the internal energy of the gas change?</a:t>
            </a:r>
            <a:endParaRPr lang="en-IN" dirty="0"/>
          </a:p>
        </p:txBody>
      </p:sp>
    </p:spTree>
    <p:extLst>
      <p:ext uri="{BB962C8B-B14F-4D97-AF65-F5344CB8AC3E}">
        <p14:creationId xmlns:p14="http://schemas.microsoft.com/office/powerpoint/2010/main" val="16973382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84906-8BB6-8C87-9901-683B44619BE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6B6B561-E8A2-9B60-377B-6B666D337E71}"/>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1FB94E33-6831-6526-47E9-8322A8E395D6}"/>
              </a:ext>
            </a:extLst>
          </p:cNvPr>
          <p:cNvPicPr>
            <a:picLocks noChangeAspect="1"/>
          </p:cNvPicPr>
          <p:nvPr/>
        </p:nvPicPr>
        <p:blipFill>
          <a:blip r:embed="rId2"/>
          <a:stretch>
            <a:fillRect/>
          </a:stretch>
        </p:blipFill>
        <p:spPr>
          <a:xfrm>
            <a:off x="2000250" y="0"/>
            <a:ext cx="5668094" cy="7605464"/>
          </a:xfrm>
          <a:prstGeom prst="rect">
            <a:avLst/>
          </a:prstGeom>
        </p:spPr>
      </p:pic>
    </p:spTree>
    <p:extLst>
      <p:ext uri="{BB962C8B-B14F-4D97-AF65-F5344CB8AC3E}">
        <p14:creationId xmlns:p14="http://schemas.microsoft.com/office/powerpoint/2010/main" val="39012139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5793507"/>
          </a:xfrm>
        </p:spPr>
        <p:txBody>
          <a:bodyPr>
            <a:normAutofit/>
          </a:bodyPr>
          <a:lstStyle/>
          <a:p>
            <a:pPr marL="0" indent="0">
              <a:buNone/>
            </a:pPr>
            <a:r>
              <a:rPr lang="en-US" dirty="0"/>
              <a:t>8) </a:t>
            </a:r>
            <a:r>
              <a:rPr lang="en-US" sz="2400" dirty="0"/>
              <a:t>When a system is taken from state a to state b, along path </a:t>
            </a:r>
            <a:r>
              <a:rPr lang="en-US" sz="2400" dirty="0" err="1"/>
              <a:t>acb</a:t>
            </a:r>
            <a:r>
              <a:rPr lang="en-US" sz="2400" dirty="0"/>
              <a:t>, 84 kJ of heat flow into the system, and the system does 32 kJ of work. a) How much will the heat that flows into the system along path </a:t>
            </a:r>
            <a:r>
              <a:rPr lang="en-US" sz="2400" dirty="0" err="1"/>
              <a:t>adb</a:t>
            </a:r>
            <a:r>
              <a:rPr lang="en-US" sz="2400" dirty="0"/>
              <a:t>, if the work done is 10.5 kJ. b) When the system is returned from b to a along the curved path, the work done on the system is 21 kJ. Does the system absorb or liberate heat, and how much of the heat is absorbed or liberated, c) If </a:t>
            </a:r>
            <a:r>
              <a:rPr lang="en-US" sz="2400" dirty="0" err="1"/>
              <a:t>Ua</a:t>
            </a:r>
            <a:r>
              <a:rPr lang="en-US" sz="2400" dirty="0"/>
              <a:t> = 0 and </a:t>
            </a:r>
            <a:r>
              <a:rPr lang="en-US" sz="2400" dirty="0" err="1"/>
              <a:t>Ud</a:t>
            </a:r>
            <a:r>
              <a:rPr lang="en-US" sz="2400" dirty="0"/>
              <a:t> = 42 kJ, find the heat absorbed in the processes ad and db.</a:t>
            </a:r>
            <a:endParaRPr lang="en-IN" sz="2400" dirty="0"/>
          </a:p>
          <a:p>
            <a:pPr marL="0" indent="0">
              <a:buNone/>
            </a:pPr>
            <a:r>
              <a:rPr lang="en-US" sz="2400" dirty="0"/>
              <a:t> </a:t>
            </a:r>
            <a:endParaRPr lang="en-IN" sz="24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800" y="3677631"/>
            <a:ext cx="3027412" cy="2713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79740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71B7F04-E945-578B-F8BF-B16E589C9BE6}"/>
              </a:ext>
            </a:extLst>
          </p:cNvPr>
          <p:cNvPicPr>
            <a:picLocks noChangeAspect="1"/>
          </p:cNvPicPr>
          <p:nvPr/>
        </p:nvPicPr>
        <p:blipFill>
          <a:blip r:embed="rId2"/>
          <a:stretch>
            <a:fillRect/>
          </a:stretch>
        </p:blipFill>
        <p:spPr>
          <a:xfrm>
            <a:off x="2000250" y="0"/>
            <a:ext cx="5143500" cy="6858000"/>
          </a:xfrm>
          <a:prstGeom prst="rect">
            <a:avLst/>
          </a:prstGeom>
        </p:spPr>
      </p:pic>
    </p:spTree>
    <p:extLst>
      <p:ext uri="{BB962C8B-B14F-4D97-AF65-F5344CB8AC3E}">
        <p14:creationId xmlns:p14="http://schemas.microsoft.com/office/powerpoint/2010/main" val="11746642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2089</TotalTime>
  <Words>3497</Words>
  <Application>Microsoft Office PowerPoint</Application>
  <PresentationFormat>On-screen Show (4:3)</PresentationFormat>
  <Paragraphs>247</Paragraphs>
  <Slides>58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58</vt:i4>
      </vt:variant>
    </vt:vector>
  </HeadingPairs>
  <TitlesOfParts>
    <vt:vector size="65" baseType="lpstr">
      <vt:lpstr>Arial</vt:lpstr>
      <vt:lpstr>Calibri</vt:lpstr>
      <vt:lpstr>Cambria</vt:lpstr>
      <vt:lpstr>Cambria Math</vt:lpstr>
      <vt:lpstr>Times New Roman</vt:lpstr>
      <vt:lpstr>Wingdings</vt:lpstr>
      <vt:lpstr>Office Theme</vt:lpstr>
      <vt:lpstr>Thermodynamics</vt:lpstr>
      <vt:lpstr>PowerPoint Presentation</vt:lpstr>
      <vt:lpstr>PowerPoint Presentation</vt:lpstr>
      <vt:lpstr>PowerPoint Presentation</vt:lpstr>
      <vt:lpstr>Thermodynamic Equilibrium:</vt:lpstr>
      <vt:lpstr>Property:</vt:lpstr>
      <vt:lpstr>PowerPoint Presentation</vt:lpstr>
      <vt:lpstr>PowerPoint Presentation</vt:lpstr>
      <vt:lpstr>Irreversible Process:</vt:lpstr>
      <vt:lpstr>Causes of Irreversibility:</vt:lpstr>
      <vt:lpstr>PowerPoint Presentation</vt:lpstr>
      <vt:lpstr>Zeroth Law of Thermodynamics:</vt:lpstr>
      <vt:lpstr>Principles of Thermometry</vt:lpstr>
      <vt:lpstr>Liquid (in glass) thermometers</vt:lpstr>
      <vt:lpstr>PowerPoint Presentation</vt:lpstr>
      <vt:lpstr>Constant Volume Gas Thermometers </vt:lpstr>
      <vt:lpstr>PowerPoint Presentation</vt:lpstr>
      <vt:lpstr>Six’s Maximum and Minimum thermometer (invented by James Six in 1782)</vt:lpstr>
      <vt:lpstr>Scales of Temperature</vt:lpstr>
      <vt:lpstr>Joule’s experiment</vt:lpstr>
      <vt:lpstr>Resistance thermometer</vt:lpstr>
      <vt:lpstr>PowerPoint Presentation</vt:lpstr>
      <vt:lpstr>Internal Energy</vt:lpstr>
      <vt:lpstr>First Law of Thermodynamics</vt:lpstr>
      <vt:lpstr>Corollary 1</vt:lpstr>
      <vt:lpstr>Corollary 2:</vt:lpstr>
      <vt:lpstr>Corollary 3:</vt:lpstr>
      <vt:lpstr>Work done in Ideal gas process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Expression for Adiabatic equation of a state  〖PV〗^γ=Constant</vt:lpstr>
      <vt:lpstr>PowerPoint Presentation</vt:lpstr>
      <vt:lpstr>Work done in adiabatic expansion of gas</vt:lpstr>
      <vt:lpstr>PowerPoint Presentation</vt:lpstr>
      <vt:lpstr>PowerPoint Presentation</vt:lpstr>
      <vt:lpstr>PowerPoint Presentation</vt:lpstr>
      <vt:lpstr>PowerPoint Presentation</vt:lpstr>
      <vt:lpstr>Numericals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Q=mC(ΔT)</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 done in Ideal gas process</dc:title>
  <dc:creator>USER</dc:creator>
  <cp:lastModifiedBy>Ramyashree M S</cp:lastModifiedBy>
  <cp:revision>82</cp:revision>
  <dcterms:created xsi:type="dcterms:W3CDTF">2023-02-12T10:14:26Z</dcterms:created>
  <dcterms:modified xsi:type="dcterms:W3CDTF">2024-12-04T23:40:18Z</dcterms:modified>
</cp:coreProperties>
</file>