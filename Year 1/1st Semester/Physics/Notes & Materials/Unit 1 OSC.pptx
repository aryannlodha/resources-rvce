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6" r:id="rId9"/>
    <p:sldId id="267" r:id="rId10"/>
    <p:sldId id="268" r:id="rId11"/>
    <p:sldId id="263" r:id="rId12"/>
    <p:sldId id="264" r:id="rId13"/>
    <p:sldId id="265"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D1026-DD98-5DE6-14F1-3FC0646A1D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4BEF42-54B9-52BE-6BD5-ACB2BED480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54595BE-A5E3-CD71-8FCB-DCB74849FB6E}"/>
              </a:ext>
            </a:extLst>
          </p:cNvPr>
          <p:cNvSpPr>
            <a:spLocks noGrp="1"/>
          </p:cNvSpPr>
          <p:nvPr>
            <p:ph type="dt" sz="half" idx="10"/>
          </p:nvPr>
        </p:nvSpPr>
        <p:spPr/>
        <p:txBody>
          <a:bodyPr/>
          <a:lstStyle/>
          <a:p>
            <a:fld id="{B02801B1-F465-4383-9DD8-38C3E4DBF26A}" type="datetimeFigureOut">
              <a:rPr lang="en-IN" smtClean="0"/>
              <a:t>18-10-2024</a:t>
            </a:fld>
            <a:endParaRPr lang="en-IN"/>
          </a:p>
        </p:txBody>
      </p:sp>
      <p:sp>
        <p:nvSpPr>
          <p:cNvPr id="5" name="Footer Placeholder 4">
            <a:extLst>
              <a:ext uri="{FF2B5EF4-FFF2-40B4-BE49-F238E27FC236}">
                <a16:creationId xmlns:a16="http://schemas.microsoft.com/office/drawing/2014/main" id="{BACA3950-A411-F837-9ACC-342C99A758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5DAC44-0616-BC6F-F6F0-FF56C61DE39C}"/>
              </a:ext>
            </a:extLst>
          </p:cNvPr>
          <p:cNvSpPr>
            <a:spLocks noGrp="1"/>
          </p:cNvSpPr>
          <p:nvPr>
            <p:ph type="sldNum" sz="quarter" idx="12"/>
          </p:nvPr>
        </p:nvSpPr>
        <p:spPr/>
        <p:txBody>
          <a:bodyPr/>
          <a:lstStyle/>
          <a:p>
            <a:fld id="{A2282F25-DB37-4F75-A2D8-AB22C3EB8D31}" type="slidenum">
              <a:rPr lang="en-IN" smtClean="0"/>
              <a:t>‹#›</a:t>
            </a:fld>
            <a:endParaRPr lang="en-IN"/>
          </a:p>
        </p:txBody>
      </p:sp>
    </p:spTree>
    <p:extLst>
      <p:ext uri="{BB962C8B-B14F-4D97-AF65-F5344CB8AC3E}">
        <p14:creationId xmlns:p14="http://schemas.microsoft.com/office/powerpoint/2010/main" val="1820666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912FC-5105-E5C5-7BBA-CB0B798B9D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F19E1D-D7FD-5FD9-8112-A011BF78C7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577143-0E5A-A4A3-6A40-4F3C39F346D3}"/>
              </a:ext>
            </a:extLst>
          </p:cNvPr>
          <p:cNvSpPr>
            <a:spLocks noGrp="1"/>
          </p:cNvSpPr>
          <p:nvPr>
            <p:ph type="dt" sz="half" idx="10"/>
          </p:nvPr>
        </p:nvSpPr>
        <p:spPr/>
        <p:txBody>
          <a:bodyPr/>
          <a:lstStyle/>
          <a:p>
            <a:fld id="{B02801B1-F465-4383-9DD8-38C3E4DBF26A}" type="datetimeFigureOut">
              <a:rPr lang="en-IN" smtClean="0"/>
              <a:t>18-10-2024</a:t>
            </a:fld>
            <a:endParaRPr lang="en-IN"/>
          </a:p>
        </p:txBody>
      </p:sp>
      <p:sp>
        <p:nvSpPr>
          <p:cNvPr id="5" name="Footer Placeholder 4">
            <a:extLst>
              <a:ext uri="{FF2B5EF4-FFF2-40B4-BE49-F238E27FC236}">
                <a16:creationId xmlns:a16="http://schemas.microsoft.com/office/drawing/2014/main" id="{160CA44E-2E92-C5ED-9F0E-E5352968D6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B3DE74-A285-2FA5-2808-9F324832934A}"/>
              </a:ext>
            </a:extLst>
          </p:cNvPr>
          <p:cNvSpPr>
            <a:spLocks noGrp="1"/>
          </p:cNvSpPr>
          <p:nvPr>
            <p:ph type="sldNum" sz="quarter" idx="12"/>
          </p:nvPr>
        </p:nvSpPr>
        <p:spPr/>
        <p:txBody>
          <a:bodyPr/>
          <a:lstStyle/>
          <a:p>
            <a:fld id="{A2282F25-DB37-4F75-A2D8-AB22C3EB8D31}" type="slidenum">
              <a:rPr lang="en-IN" smtClean="0"/>
              <a:t>‹#›</a:t>
            </a:fld>
            <a:endParaRPr lang="en-IN"/>
          </a:p>
        </p:txBody>
      </p:sp>
    </p:spTree>
    <p:extLst>
      <p:ext uri="{BB962C8B-B14F-4D97-AF65-F5344CB8AC3E}">
        <p14:creationId xmlns:p14="http://schemas.microsoft.com/office/powerpoint/2010/main" val="298857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0E627-9F92-0582-97E1-F9D35B1BA2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924145-CF10-4674-50AD-DF0BFA99F3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ECB154-C517-53C1-EFE0-FDA5B2063883}"/>
              </a:ext>
            </a:extLst>
          </p:cNvPr>
          <p:cNvSpPr>
            <a:spLocks noGrp="1"/>
          </p:cNvSpPr>
          <p:nvPr>
            <p:ph type="dt" sz="half" idx="10"/>
          </p:nvPr>
        </p:nvSpPr>
        <p:spPr/>
        <p:txBody>
          <a:bodyPr/>
          <a:lstStyle/>
          <a:p>
            <a:fld id="{B02801B1-F465-4383-9DD8-38C3E4DBF26A}" type="datetimeFigureOut">
              <a:rPr lang="en-IN" smtClean="0"/>
              <a:t>18-10-2024</a:t>
            </a:fld>
            <a:endParaRPr lang="en-IN"/>
          </a:p>
        </p:txBody>
      </p:sp>
      <p:sp>
        <p:nvSpPr>
          <p:cNvPr id="5" name="Footer Placeholder 4">
            <a:extLst>
              <a:ext uri="{FF2B5EF4-FFF2-40B4-BE49-F238E27FC236}">
                <a16:creationId xmlns:a16="http://schemas.microsoft.com/office/drawing/2014/main" id="{77CEB577-5ACA-42A3-247E-B8DC94D47B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B26AB2-D5CC-59FD-B90B-423E6FE19DFC}"/>
              </a:ext>
            </a:extLst>
          </p:cNvPr>
          <p:cNvSpPr>
            <a:spLocks noGrp="1"/>
          </p:cNvSpPr>
          <p:nvPr>
            <p:ph type="sldNum" sz="quarter" idx="12"/>
          </p:nvPr>
        </p:nvSpPr>
        <p:spPr/>
        <p:txBody>
          <a:bodyPr/>
          <a:lstStyle/>
          <a:p>
            <a:fld id="{A2282F25-DB37-4F75-A2D8-AB22C3EB8D31}" type="slidenum">
              <a:rPr lang="en-IN" smtClean="0"/>
              <a:t>‹#›</a:t>
            </a:fld>
            <a:endParaRPr lang="en-IN"/>
          </a:p>
        </p:txBody>
      </p:sp>
    </p:spTree>
    <p:extLst>
      <p:ext uri="{BB962C8B-B14F-4D97-AF65-F5344CB8AC3E}">
        <p14:creationId xmlns:p14="http://schemas.microsoft.com/office/powerpoint/2010/main" val="4017216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06984-9847-970F-29BE-9D1F05AA8E3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53D10F-C4AA-700A-DCE9-31D54729FE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4827297-AE07-C937-F6B2-02D884F129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51C1056-6153-5CC6-CB84-AE5693E81E9F}"/>
              </a:ext>
            </a:extLst>
          </p:cNvPr>
          <p:cNvSpPr>
            <a:spLocks noGrp="1"/>
          </p:cNvSpPr>
          <p:nvPr>
            <p:ph type="dt" sz="half" idx="10"/>
          </p:nvPr>
        </p:nvSpPr>
        <p:spPr/>
        <p:txBody>
          <a:bodyPr/>
          <a:lstStyle/>
          <a:p>
            <a:fld id="{B02801B1-F465-4383-9DD8-38C3E4DBF26A}" type="datetimeFigureOut">
              <a:rPr lang="en-IN" smtClean="0"/>
              <a:t>18-10-2024</a:t>
            </a:fld>
            <a:endParaRPr lang="en-IN"/>
          </a:p>
        </p:txBody>
      </p:sp>
      <p:sp>
        <p:nvSpPr>
          <p:cNvPr id="6" name="Footer Placeholder 5">
            <a:extLst>
              <a:ext uri="{FF2B5EF4-FFF2-40B4-BE49-F238E27FC236}">
                <a16:creationId xmlns:a16="http://schemas.microsoft.com/office/drawing/2014/main" id="{39A1B84D-26A1-4305-8949-67ED7142FD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58258B-5B66-861F-387C-879BCD770FE0}"/>
              </a:ext>
            </a:extLst>
          </p:cNvPr>
          <p:cNvSpPr>
            <a:spLocks noGrp="1"/>
          </p:cNvSpPr>
          <p:nvPr>
            <p:ph type="sldNum" sz="quarter" idx="12"/>
          </p:nvPr>
        </p:nvSpPr>
        <p:spPr/>
        <p:txBody>
          <a:bodyPr/>
          <a:lstStyle/>
          <a:p>
            <a:fld id="{A2282F25-DB37-4F75-A2D8-AB22C3EB8D31}" type="slidenum">
              <a:rPr lang="en-IN" smtClean="0"/>
              <a:t>‹#›</a:t>
            </a:fld>
            <a:endParaRPr lang="en-IN"/>
          </a:p>
        </p:txBody>
      </p:sp>
    </p:spTree>
    <p:extLst>
      <p:ext uri="{BB962C8B-B14F-4D97-AF65-F5344CB8AC3E}">
        <p14:creationId xmlns:p14="http://schemas.microsoft.com/office/powerpoint/2010/main" val="2902852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AB6FD-DDE6-7B60-EC81-5A3CA56A29F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C19D74-3EA8-F97A-0799-D08D77F063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2DDEED-EE8F-F918-B72B-4B73E6B625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D27EAC6-2224-807D-E3C5-10A0ACE861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92B352-645E-7A91-E23D-4588988AF9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08F1689-10F0-5FE6-24DB-133AFF995D83}"/>
              </a:ext>
            </a:extLst>
          </p:cNvPr>
          <p:cNvSpPr>
            <a:spLocks noGrp="1"/>
          </p:cNvSpPr>
          <p:nvPr>
            <p:ph type="dt" sz="half" idx="10"/>
          </p:nvPr>
        </p:nvSpPr>
        <p:spPr/>
        <p:txBody>
          <a:bodyPr/>
          <a:lstStyle/>
          <a:p>
            <a:fld id="{B02801B1-F465-4383-9DD8-38C3E4DBF26A}" type="datetimeFigureOut">
              <a:rPr lang="en-IN" smtClean="0"/>
              <a:t>18-10-2024</a:t>
            </a:fld>
            <a:endParaRPr lang="en-IN"/>
          </a:p>
        </p:txBody>
      </p:sp>
      <p:sp>
        <p:nvSpPr>
          <p:cNvPr id="8" name="Footer Placeholder 7">
            <a:extLst>
              <a:ext uri="{FF2B5EF4-FFF2-40B4-BE49-F238E27FC236}">
                <a16:creationId xmlns:a16="http://schemas.microsoft.com/office/drawing/2014/main" id="{E182222B-4FFB-541A-BAD0-49FD0A72B8C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F0C04F5-8692-62CA-43DF-374DC63E729B}"/>
              </a:ext>
            </a:extLst>
          </p:cNvPr>
          <p:cNvSpPr>
            <a:spLocks noGrp="1"/>
          </p:cNvSpPr>
          <p:nvPr>
            <p:ph type="sldNum" sz="quarter" idx="12"/>
          </p:nvPr>
        </p:nvSpPr>
        <p:spPr/>
        <p:txBody>
          <a:bodyPr/>
          <a:lstStyle/>
          <a:p>
            <a:fld id="{A2282F25-DB37-4F75-A2D8-AB22C3EB8D31}" type="slidenum">
              <a:rPr lang="en-IN" smtClean="0"/>
              <a:t>‹#›</a:t>
            </a:fld>
            <a:endParaRPr lang="en-IN"/>
          </a:p>
        </p:txBody>
      </p:sp>
    </p:spTree>
    <p:extLst>
      <p:ext uri="{BB962C8B-B14F-4D97-AF65-F5344CB8AC3E}">
        <p14:creationId xmlns:p14="http://schemas.microsoft.com/office/powerpoint/2010/main" val="109274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2B6FE-7E59-A8C3-AB8B-40A27F5BAA4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21BF61-2510-5FC3-2F9A-8B71D0E06A0E}"/>
              </a:ext>
            </a:extLst>
          </p:cNvPr>
          <p:cNvSpPr>
            <a:spLocks noGrp="1"/>
          </p:cNvSpPr>
          <p:nvPr>
            <p:ph type="dt" sz="half" idx="10"/>
          </p:nvPr>
        </p:nvSpPr>
        <p:spPr/>
        <p:txBody>
          <a:bodyPr/>
          <a:lstStyle/>
          <a:p>
            <a:fld id="{B02801B1-F465-4383-9DD8-38C3E4DBF26A}" type="datetimeFigureOut">
              <a:rPr lang="en-IN" smtClean="0"/>
              <a:t>18-10-2024</a:t>
            </a:fld>
            <a:endParaRPr lang="en-IN"/>
          </a:p>
        </p:txBody>
      </p:sp>
      <p:sp>
        <p:nvSpPr>
          <p:cNvPr id="4" name="Footer Placeholder 3">
            <a:extLst>
              <a:ext uri="{FF2B5EF4-FFF2-40B4-BE49-F238E27FC236}">
                <a16:creationId xmlns:a16="http://schemas.microsoft.com/office/drawing/2014/main" id="{D715E30B-04B9-4596-348E-9EF2CCDABF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3EF3237-EF21-1F80-7CCC-660383B2D9E5}"/>
              </a:ext>
            </a:extLst>
          </p:cNvPr>
          <p:cNvSpPr>
            <a:spLocks noGrp="1"/>
          </p:cNvSpPr>
          <p:nvPr>
            <p:ph type="sldNum" sz="quarter" idx="12"/>
          </p:nvPr>
        </p:nvSpPr>
        <p:spPr/>
        <p:txBody>
          <a:bodyPr/>
          <a:lstStyle/>
          <a:p>
            <a:fld id="{A2282F25-DB37-4F75-A2D8-AB22C3EB8D31}" type="slidenum">
              <a:rPr lang="en-IN" smtClean="0"/>
              <a:t>‹#›</a:t>
            </a:fld>
            <a:endParaRPr lang="en-IN"/>
          </a:p>
        </p:txBody>
      </p:sp>
    </p:spTree>
    <p:extLst>
      <p:ext uri="{BB962C8B-B14F-4D97-AF65-F5344CB8AC3E}">
        <p14:creationId xmlns:p14="http://schemas.microsoft.com/office/powerpoint/2010/main" val="2778174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2FCF76-2551-3CD9-6C70-C3008B631BFE}"/>
              </a:ext>
            </a:extLst>
          </p:cNvPr>
          <p:cNvSpPr>
            <a:spLocks noGrp="1"/>
          </p:cNvSpPr>
          <p:nvPr>
            <p:ph type="dt" sz="half" idx="10"/>
          </p:nvPr>
        </p:nvSpPr>
        <p:spPr/>
        <p:txBody>
          <a:bodyPr/>
          <a:lstStyle/>
          <a:p>
            <a:fld id="{B02801B1-F465-4383-9DD8-38C3E4DBF26A}" type="datetimeFigureOut">
              <a:rPr lang="en-IN" smtClean="0"/>
              <a:t>18-10-2024</a:t>
            </a:fld>
            <a:endParaRPr lang="en-IN"/>
          </a:p>
        </p:txBody>
      </p:sp>
      <p:sp>
        <p:nvSpPr>
          <p:cNvPr id="3" name="Footer Placeholder 2">
            <a:extLst>
              <a:ext uri="{FF2B5EF4-FFF2-40B4-BE49-F238E27FC236}">
                <a16:creationId xmlns:a16="http://schemas.microsoft.com/office/drawing/2014/main" id="{5BE60206-E273-E1AE-E7A7-9D9A78A0B87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4A66D60-078A-3824-5F4C-C42397A89717}"/>
              </a:ext>
            </a:extLst>
          </p:cNvPr>
          <p:cNvSpPr>
            <a:spLocks noGrp="1"/>
          </p:cNvSpPr>
          <p:nvPr>
            <p:ph type="sldNum" sz="quarter" idx="12"/>
          </p:nvPr>
        </p:nvSpPr>
        <p:spPr/>
        <p:txBody>
          <a:bodyPr/>
          <a:lstStyle/>
          <a:p>
            <a:fld id="{A2282F25-DB37-4F75-A2D8-AB22C3EB8D31}" type="slidenum">
              <a:rPr lang="en-IN" smtClean="0"/>
              <a:t>‹#›</a:t>
            </a:fld>
            <a:endParaRPr lang="en-IN"/>
          </a:p>
        </p:txBody>
      </p:sp>
    </p:spTree>
    <p:extLst>
      <p:ext uri="{BB962C8B-B14F-4D97-AF65-F5344CB8AC3E}">
        <p14:creationId xmlns:p14="http://schemas.microsoft.com/office/powerpoint/2010/main" val="387755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D8AA6-6D64-8DF2-F2F6-A0B4D2DB82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B1880F7-7E43-B835-DC8F-41EBEC99C2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7A2599A-00AD-7101-9962-A166418229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A07FEF-8A2C-C031-5CCF-E537C16D2F13}"/>
              </a:ext>
            </a:extLst>
          </p:cNvPr>
          <p:cNvSpPr>
            <a:spLocks noGrp="1"/>
          </p:cNvSpPr>
          <p:nvPr>
            <p:ph type="dt" sz="half" idx="10"/>
          </p:nvPr>
        </p:nvSpPr>
        <p:spPr/>
        <p:txBody>
          <a:bodyPr/>
          <a:lstStyle/>
          <a:p>
            <a:fld id="{B02801B1-F465-4383-9DD8-38C3E4DBF26A}" type="datetimeFigureOut">
              <a:rPr lang="en-IN" smtClean="0"/>
              <a:t>18-10-2024</a:t>
            </a:fld>
            <a:endParaRPr lang="en-IN"/>
          </a:p>
        </p:txBody>
      </p:sp>
      <p:sp>
        <p:nvSpPr>
          <p:cNvPr id="6" name="Footer Placeholder 5">
            <a:extLst>
              <a:ext uri="{FF2B5EF4-FFF2-40B4-BE49-F238E27FC236}">
                <a16:creationId xmlns:a16="http://schemas.microsoft.com/office/drawing/2014/main" id="{EBF2547B-E255-505B-3635-142F082AE1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367E2E-3230-E12B-52C0-E7DA7140D797}"/>
              </a:ext>
            </a:extLst>
          </p:cNvPr>
          <p:cNvSpPr>
            <a:spLocks noGrp="1"/>
          </p:cNvSpPr>
          <p:nvPr>
            <p:ph type="sldNum" sz="quarter" idx="12"/>
          </p:nvPr>
        </p:nvSpPr>
        <p:spPr/>
        <p:txBody>
          <a:bodyPr/>
          <a:lstStyle/>
          <a:p>
            <a:fld id="{A2282F25-DB37-4F75-A2D8-AB22C3EB8D31}" type="slidenum">
              <a:rPr lang="en-IN" smtClean="0"/>
              <a:t>‹#›</a:t>
            </a:fld>
            <a:endParaRPr lang="en-IN"/>
          </a:p>
        </p:txBody>
      </p:sp>
    </p:spTree>
    <p:extLst>
      <p:ext uri="{BB962C8B-B14F-4D97-AF65-F5344CB8AC3E}">
        <p14:creationId xmlns:p14="http://schemas.microsoft.com/office/powerpoint/2010/main" val="3303612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3EA67-2473-799F-DDDA-B5FC04395C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03859C7-BF57-5860-3C07-96A406FF4D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CABE0A5-D87F-6925-827B-A53744E82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B8A621-9DFF-6427-B7A9-6705FBF7EBDC}"/>
              </a:ext>
            </a:extLst>
          </p:cNvPr>
          <p:cNvSpPr>
            <a:spLocks noGrp="1"/>
          </p:cNvSpPr>
          <p:nvPr>
            <p:ph type="dt" sz="half" idx="10"/>
          </p:nvPr>
        </p:nvSpPr>
        <p:spPr/>
        <p:txBody>
          <a:bodyPr/>
          <a:lstStyle/>
          <a:p>
            <a:fld id="{B02801B1-F465-4383-9DD8-38C3E4DBF26A}" type="datetimeFigureOut">
              <a:rPr lang="en-IN" smtClean="0"/>
              <a:t>18-10-2024</a:t>
            </a:fld>
            <a:endParaRPr lang="en-IN"/>
          </a:p>
        </p:txBody>
      </p:sp>
      <p:sp>
        <p:nvSpPr>
          <p:cNvPr id="6" name="Footer Placeholder 5">
            <a:extLst>
              <a:ext uri="{FF2B5EF4-FFF2-40B4-BE49-F238E27FC236}">
                <a16:creationId xmlns:a16="http://schemas.microsoft.com/office/drawing/2014/main" id="{29BC8BEE-1FB6-8793-B414-5D16CA84C8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A9EABB-CD55-EF62-03A8-5EA4F24469B7}"/>
              </a:ext>
            </a:extLst>
          </p:cNvPr>
          <p:cNvSpPr>
            <a:spLocks noGrp="1"/>
          </p:cNvSpPr>
          <p:nvPr>
            <p:ph type="sldNum" sz="quarter" idx="12"/>
          </p:nvPr>
        </p:nvSpPr>
        <p:spPr/>
        <p:txBody>
          <a:bodyPr/>
          <a:lstStyle/>
          <a:p>
            <a:fld id="{A2282F25-DB37-4F75-A2D8-AB22C3EB8D31}" type="slidenum">
              <a:rPr lang="en-IN" smtClean="0"/>
              <a:t>‹#›</a:t>
            </a:fld>
            <a:endParaRPr lang="en-IN"/>
          </a:p>
        </p:txBody>
      </p:sp>
    </p:spTree>
    <p:extLst>
      <p:ext uri="{BB962C8B-B14F-4D97-AF65-F5344CB8AC3E}">
        <p14:creationId xmlns:p14="http://schemas.microsoft.com/office/powerpoint/2010/main" val="2495022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06660-9085-DA38-BAF4-1AFA713FD0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A04F92-AF02-4AC9-52DD-BFCC1354E9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446725-D028-D18D-84E1-A73B076F1DD1}"/>
              </a:ext>
            </a:extLst>
          </p:cNvPr>
          <p:cNvSpPr>
            <a:spLocks noGrp="1"/>
          </p:cNvSpPr>
          <p:nvPr>
            <p:ph type="dt" sz="half" idx="10"/>
          </p:nvPr>
        </p:nvSpPr>
        <p:spPr/>
        <p:txBody>
          <a:bodyPr/>
          <a:lstStyle/>
          <a:p>
            <a:fld id="{B02801B1-F465-4383-9DD8-38C3E4DBF26A}" type="datetimeFigureOut">
              <a:rPr lang="en-IN" smtClean="0"/>
              <a:t>18-10-2024</a:t>
            </a:fld>
            <a:endParaRPr lang="en-IN"/>
          </a:p>
        </p:txBody>
      </p:sp>
      <p:sp>
        <p:nvSpPr>
          <p:cNvPr id="5" name="Footer Placeholder 4">
            <a:extLst>
              <a:ext uri="{FF2B5EF4-FFF2-40B4-BE49-F238E27FC236}">
                <a16:creationId xmlns:a16="http://schemas.microsoft.com/office/drawing/2014/main" id="{4E915359-BA9E-7143-70AC-D4B907B7E9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A3848D-9244-A1C0-82F3-96920B14D63B}"/>
              </a:ext>
            </a:extLst>
          </p:cNvPr>
          <p:cNvSpPr>
            <a:spLocks noGrp="1"/>
          </p:cNvSpPr>
          <p:nvPr>
            <p:ph type="sldNum" sz="quarter" idx="12"/>
          </p:nvPr>
        </p:nvSpPr>
        <p:spPr/>
        <p:txBody>
          <a:bodyPr/>
          <a:lstStyle/>
          <a:p>
            <a:fld id="{A2282F25-DB37-4F75-A2D8-AB22C3EB8D31}" type="slidenum">
              <a:rPr lang="en-IN" smtClean="0"/>
              <a:t>‹#›</a:t>
            </a:fld>
            <a:endParaRPr lang="en-IN"/>
          </a:p>
        </p:txBody>
      </p:sp>
    </p:spTree>
    <p:extLst>
      <p:ext uri="{BB962C8B-B14F-4D97-AF65-F5344CB8AC3E}">
        <p14:creationId xmlns:p14="http://schemas.microsoft.com/office/powerpoint/2010/main" val="3388682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BF81C8-2EE2-B73B-753D-FCC36DEACB1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8D8A1A-DB3C-3A96-4E92-4C5815ACB9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9A6878-71B0-317F-C1E7-0AFD1970B236}"/>
              </a:ext>
            </a:extLst>
          </p:cNvPr>
          <p:cNvSpPr>
            <a:spLocks noGrp="1"/>
          </p:cNvSpPr>
          <p:nvPr>
            <p:ph type="dt" sz="half" idx="10"/>
          </p:nvPr>
        </p:nvSpPr>
        <p:spPr/>
        <p:txBody>
          <a:bodyPr/>
          <a:lstStyle/>
          <a:p>
            <a:fld id="{B02801B1-F465-4383-9DD8-38C3E4DBF26A}" type="datetimeFigureOut">
              <a:rPr lang="en-IN" smtClean="0"/>
              <a:t>18-10-2024</a:t>
            </a:fld>
            <a:endParaRPr lang="en-IN"/>
          </a:p>
        </p:txBody>
      </p:sp>
      <p:sp>
        <p:nvSpPr>
          <p:cNvPr id="5" name="Footer Placeholder 4">
            <a:extLst>
              <a:ext uri="{FF2B5EF4-FFF2-40B4-BE49-F238E27FC236}">
                <a16:creationId xmlns:a16="http://schemas.microsoft.com/office/drawing/2014/main" id="{1F5122D7-46BE-B12F-38E7-ABE7AB6C12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C666F8-7537-677E-25F7-8BDD6ECA8A61}"/>
              </a:ext>
            </a:extLst>
          </p:cNvPr>
          <p:cNvSpPr>
            <a:spLocks noGrp="1"/>
          </p:cNvSpPr>
          <p:nvPr>
            <p:ph type="sldNum" sz="quarter" idx="12"/>
          </p:nvPr>
        </p:nvSpPr>
        <p:spPr/>
        <p:txBody>
          <a:bodyPr/>
          <a:lstStyle/>
          <a:p>
            <a:fld id="{A2282F25-DB37-4F75-A2D8-AB22C3EB8D31}" type="slidenum">
              <a:rPr lang="en-IN" smtClean="0"/>
              <a:t>‹#›</a:t>
            </a:fld>
            <a:endParaRPr lang="en-IN"/>
          </a:p>
        </p:txBody>
      </p:sp>
    </p:spTree>
    <p:extLst>
      <p:ext uri="{BB962C8B-B14F-4D97-AF65-F5344CB8AC3E}">
        <p14:creationId xmlns:p14="http://schemas.microsoft.com/office/powerpoint/2010/main" val="1634276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D9820B-1CA7-13C2-2061-7DD4DB6FC3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BB15A50-95B1-F876-607D-A646522DB5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2D3777-77AB-0266-FD5B-7F05B53608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2801B1-F465-4383-9DD8-38C3E4DBF26A}" type="datetimeFigureOut">
              <a:rPr lang="en-IN" smtClean="0"/>
              <a:t>18-10-2024</a:t>
            </a:fld>
            <a:endParaRPr lang="en-IN"/>
          </a:p>
        </p:txBody>
      </p:sp>
      <p:sp>
        <p:nvSpPr>
          <p:cNvPr id="5" name="Footer Placeholder 4">
            <a:extLst>
              <a:ext uri="{FF2B5EF4-FFF2-40B4-BE49-F238E27FC236}">
                <a16:creationId xmlns:a16="http://schemas.microsoft.com/office/drawing/2014/main" id="{3A11F800-F594-4D96-B4E9-2950F3BEFC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DE10CE1-FD0A-9D41-91FF-90CBDC97F4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282F25-DB37-4F75-A2D8-AB22C3EB8D31}" type="slidenum">
              <a:rPr lang="en-IN" smtClean="0"/>
              <a:t>‹#›</a:t>
            </a:fld>
            <a:endParaRPr lang="en-IN"/>
          </a:p>
        </p:txBody>
      </p:sp>
    </p:spTree>
    <p:extLst>
      <p:ext uri="{BB962C8B-B14F-4D97-AF65-F5344CB8AC3E}">
        <p14:creationId xmlns:p14="http://schemas.microsoft.com/office/powerpoint/2010/main" val="2145778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emf"/><Relationship Id="rId7" Type="http://schemas.openxmlformats.org/officeDocument/2006/relationships/image" Target="../media/image7.png"/><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emf"/><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29.emf"/><Relationship Id="rId3" Type="http://schemas.openxmlformats.org/officeDocument/2006/relationships/image" Target="../media/image24.wmf"/><Relationship Id="rId7" Type="http://schemas.openxmlformats.org/officeDocument/2006/relationships/image" Target="../media/image26.emf"/><Relationship Id="rId12" Type="http://schemas.openxmlformats.org/officeDocument/2006/relationships/oleObject" Target="../embeddings/oleObject12.bin"/><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oleObject" Target="../embeddings/oleObject9.bin"/><Relationship Id="rId11" Type="http://schemas.openxmlformats.org/officeDocument/2006/relationships/image" Target="../media/image28.wmf"/><Relationship Id="rId5" Type="http://schemas.openxmlformats.org/officeDocument/2006/relationships/image" Target="../media/image25.e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27.emf"/></Relationships>
</file>

<file path=ppt/slides/_rels/slide15.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image" Target="../media/image30.emf"/><Relationship Id="rId7" Type="http://schemas.openxmlformats.org/officeDocument/2006/relationships/oleObject" Target="../embeddings/oleObject16.bin"/><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image" Target="../media/image31.emf"/><Relationship Id="rId5" Type="http://schemas.openxmlformats.org/officeDocument/2006/relationships/oleObject" Target="../embeddings/oleObject15.bin"/><Relationship Id="rId4" Type="http://schemas.openxmlformats.org/officeDocument/2006/relationships/oleObject" Target="../embeddings/oleObject14.bin"/><Relationship Id="rId9"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emf"/></Relationships>
</file>

<file path=ppt/slides/_rels/slide17.xml.rels><?xml version="1.0" encoding="UTF-8" standalone="yes"?>
<Relationships xmlns="http://schemas.openxmlformats.org/package/2006/relationships"><Relationship Id="rId8" Type="http://schemas.openxmlformats.org/officeDocument/2006/relationships/image" Target="../media/image40.emf"/><Relationship Id="rId13" Type="http://schemas.openxmlformats.org/officeDocument/2006/relationships/image" Target="../media/image43.emf"/><Relationship Id="rId3" Type="http://schemas.openxmlformats.org/officeDocument/2006/relationships/oleObject" Target="../embeddings/oleObject18.bin"/><Relationship Id="rId7" Type="http://schemas.openxmlformats.org/officeDocument/2006/relationships/oleObject" Target="../embeddings/oleObject20.bin"/><Relationship Id="rId12" Type="http://schemas.openxmlformats.org/officeDocument/2006/relationships/image" Target="../media/image42.emf"/><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39.emf"/><Relationship Id="rId11" Type="http://schemas.openxmlformats.org/officeDocument/2006/relationships/oleObject" Target="../embeddings/oleObject22.bin"/><Relationship Id="rId5" Type="http://schemas.openxmlformats.org/officeDocument/2006/relationships/oleObject" Target="../embeddings/oleObject19.bin"/><Relationship Id="rId10" Type="http://schemas.openxmlformats.org/officeDocument/2006/relationships/image" Target="../media/image41.emf"/><Relationship Id="rId4" Type="http://schemas.openxmlformats.org/officeDocument/2006/relationships/image" Target="../media/image38.emf"/><Relationship Id="rId9" Type="http://schemas.openxmlformats.org/officeDocument/2006/relationships/oleObject" Target="../embeddings/oleObject21.bin"/></Relationships>
</file>

<file path=ppt/slides/_rels/slide18.x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6.emf"/><Relationship Id="rId5" Type="http://schemas.openxmlformats.org/officeDocument/2006/relationships/oleObject" Target="../embeddings/oleObject24.bin"/><Relationship Id="rId4" Type="http://schemas.openxmlformats.org/officeDocument/2006/relationships/image" Target="../media/image45.emf"/></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image" Target="../media/image53.wmf"/><Relationship Id="rId1" Type="http://schemas.openxmlformats.org/officeDocument/2006/relationships/slideLayout" Target="../slideLayouts/slideLayout2.xml"/><Relationship Id="rId4" Type="http://schemas.openxmlformats.org/officeDocument/2006/relationships/image" Target="../media/image54.emf"/></Relationships>
</file>

<file path=ppt/slides/_rels/slide24.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oleObject" Target="../embeddings/oleObject27.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1.bin"/><Relationship Id="rId3" Type="http://schemas.openxmlformats.org/officeDocument/2006/relationships/image" Target="../media/image56.wmf"/><Relationship Id="rId7" Type="http://schemas.openxmlformats.org/officeDocument/2006/relationships/image" Target="../media/image58.emf"/><Relationship Id="rId2"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30.bin"/><Relationship Id="rId5" Type="http://schemas.openxmlformats.org/officeDocument/2006/relationships/image" Target="../media/image57.wmf"/><Relationship Id="rId4" Type="http://schemas.openxmlformats.org/officeDocument/2006/relationships/oleObject" Target="../embeddings/oleObject29.bin"/><Relationship Id="rId9" Type="http://schemas.openxmlformats.org/officeDocument/2006/relationships/image" Target="../media/image59.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2.bin"/><Relationship Id="rId7" Type="http://schemas.openxmlformats.org/officeDocument/2006/relationships/image" Target="../media/image63.emf"/><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oleObject" Target="../embeddings/oleObject33.bin"/><Relationship Id="rId5" Type="http://schemas.openxmlformats.org/officeDocument/2006/relationships/image" Target="../media/image62.png"/><Relationship Id="rId4" Type="http://schemas.openxmlformats.org/officeDocument/2006/relationships/image" Target="../media/image61.emf"/></Relationships>
</file>

<file path=ppt/slides/_rels/slide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8.emf"/><Relationship Id="rId7" Type="http://schemas.openxmlformats.org/officeDocument/2006/relationships/image" Target="../media/image70.emf"/><Relationship Id="rId2" Type="http://schemas.openxmlformats.org/officeDocument/2006/relationships/oleObject" Target="../embeddings/oleObject34.bin"/><Relationship Id="rId1" Type="http://schemas.openxmlformats.org/officeDocument/2006/relationships/slideLayout" Target="../slideLayouts/slideLayout2.xml"/><Relationship Id="rId6" Type="http://schemas.openxmlformats.org/officeDocument/2006/relationships/oleObject" Target="../embeddings/oleObject36.bin"/><Relationship Id="rId5" Type="http://schemas.openxmlformats.org/officeDocument/2006/relationships/image" Target="../media/image69.emf"/><Relationship Id="rId4" Type="http://schemas.openxmlformats.org/officeDocument/2006/relationships/oleObject" Target="../embeddings/oleObject35.bin"/></Relationships>
</file>

<file path=ppt/slides/_rels/slide3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image" Target="../media/image72.wmf"/><Relationship Id="rId7" Type="http://schemas.openxmlformats.org/officeDocument/2006/relationships/image" Target="../media/image74.emf"/><Relationship Id="rId2" Type="http://schemas.openxmlformats.org/officeDocument/2006/relationships/oleObject" Target="../embeddings/oleObject37.bin"/><Relationship Id="rId1" Type="http://schemas.openxmlformats.org/officeDocument/2006/relationships/slideLayout" Target="../slideLayouts/slideLayout2.xml"/><Relationship Id="rId6" Type="http://schemas.openxmlformats.org/officeDocument/2006/relationships/oleObject" Target="../embeddings/oleObject39.bin"/><Relationship Id="rId11" Type="http://schemas.openxmlformats.org/officeDocument/2006/relationships/image" Target="../media/image76.emf"/><Relationship Id="rId5" Type="http://schemas.openxmlformats.org/officeDocument/2006/relationships/image" Target="../media/image73.emf"/><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75.emf"/></Relationships>
</file>

<file path=ppt/slides/_rels/slide3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3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5" Type="http://schemas.openxmlformats.org/officeDocument/2006/relationships/image" Target="../media/image82.emf"/><Relationship Id="rId4" Type="http://schemas.openxmlformats.org/officeDocument/2006/relationships/oleObject" Target="../embeddings/oleObject42.bin"/></Relationships>
</file>

<file path=ppt/slides/_rels/slide3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D32C2-7645-10E9-B130-49AE138155FC}"/>
              </a:ext>
            </a:extLst>
          </p:cNvPr>
          <p:cNvSpPr>
            <a:spLocks noGrp="1"/>
          </p:cNvSpPr>
          <p:nvPr>
            <p:ph type="ctrTitle"/>
          </p:nvPr>
        </p:nvSpPr>
        <p:spPr>
          <a:xfrm>
            <a:off x="1524000" y="797898"/>
            <a:ext cx="9144000" cy="617947"/>
          </a:xfrm>
        </p:spPr>
        <p:txBody>
          <a:bodyPr>
            <a:noAutofit/>
          </a:bodyPr>
          <a:lstStyle/>
          <a:p>
            <a:pPr algn="l"/>
            <a:r>
              <a:rPr lang="en-IN" sz="3600" b="1" dirty="0">
                <a:latin typeface="Times New Roman" panose="02020603050405020304" pitchFamily="18" charset="0"/>
                <a:cs typeface="Times New Roman" panose="02020603050405020304" pitchFamily="18" charset="0"/>
              </a:rPr>
              <a:t>Course: Classical Physics for Engineers</a:t>
            </a:r>
          </a:p>
        </p:txBody>
      </p:sp>
      <p:sp>
        <p:nvSpPr>
          <p:cNvPr id="3" name="Subtitle 2">
            <a:extLst>
              <a:ext uri="{FF2B5EF4-FFF2-40B4-BE49-F238E27FC236}">
                <a16:creationId xmlns:a16="http://schemas.microsoft.com/office/drawing/2014/main" id="{F07839A1-A37D-AB16-1E20-9C355ED34459}"/>
              </a:ext>
            </a:extLst>
          </p:cNvPr>
          <p:cNvSpPr>
            <a:spLocks noGrp="1"/>
          </p:cNvSpPr>
          <p:nvPr>
            <p:ph type="subTitle" idx="1"/>
          </p:nvPr>
        </p:nvSpPr>
        <p:spPr>
          <a:xfrm>
            <a:off x="511277" y="1504335"/>
            <a:ext cx="11415252" cy="5270091"/>
          </a:xfrm>
        </p:spPr>
        <p:txBody>
          <a:bodyPr>
            <a:normAutofit/>
          </a:bodyPr>
          <a:lstStyle/>
          <a:p>
            <a:r>
              <a:rPr lang="en-IN" b="1" dirty="0">
                <a:latin typeface="Times New Roman" panose="02020603050405020304" pitchFamily="18" charset="0"/>
                <a:cs typeface="Times New Roman" panose="02020603050405020304" pitchFamily="18" charset="0"/>
              </a:rPr>
              <a:t>Unit 1 : Oscillations</a:t>
            </a:r>
          </a:p>
          <a:p>
            <a:pPr algn="just"/>
            <a:r>
              <a:rPr lang="en-US" sz="1800" dirty="0">
                <a:effectLst/>
                <a:latin typeface="Times New Roman" panose="02020603050405020304" pitchFamily="18" charset="0"/>
                <a:ea typeface="Times New Roman" panose="02020603050405020304" pitchFamily="18" charset="0"/>
              </a:rPr>
              <a:t>Motion of bodies can be broadly classified into three categories:</a:t>
            </a:r>
            <a:endParaRPr lang="en-IN" sz="180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pPr>
            <a:r>
              <a:rPr lang="en-US" sz="1800" dirty="0">
                <a:effectLst/>
                <a:latin typeface="Times New Roman" panose="02020603050405020304" pitchFamily="18" charset="0"/>
                <a:ea typeface="Times New Roman" panose="02020603050405020304" pitchFamily="18" charset="0"/>
              </a:rPr>
              <a:t>Translational motion</a:t>
            </a:r>
            <a:endParaRPr lang="en-IN" sz="180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pPr>
            <a:r>
              <a:rPr lang="en-US" sz="1800" dirty="0">
                <a:effectLst/>
                <a:latin typeface="Times New Roman" panose="02020603050405020304" pitchFamily="18" charset="0"/>
                <a:ea typeface="Times New Roman" panose="02020603050405020304" pitchFamily="18" charset="0"/>
              </a:rPr>
              <a:t>Rotational motion</a:t>
            </a:r>
            <a:endParaRPr lang="en-IN" sz="180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pPr>
            <a:r>
              <a:rPr lang="en-US" sz="1800" dirty="0">
                <a:effectLst/>
                <a:latin typeface="Times New Roman" panose="02020603050405020304" pitchFamily="18" charset="0"/>
                <a:ea typeface="Times New Roman" panose="02020603050405020304" pitchFamily="18" charset="0"/>
              </a:rPr>
              <a:t>Vibrational / Oscillatory motion</a:t>
            </a:r>
            <a:endParaRPr lang="en-IN" sz="1800" dirty="0">
              <a:effectLst/>
              <a:latin typeface="Times New Roman" panose="02020603050405020304" pitchFamily="18" charset="0"/>
              <a:ea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When a body executes back and forth motion which repeats over and again about a mean position, then the body is said to have Vibrational/oscillatory motion. If such motion repeats in regular intervals of time then it is called Periodic motion or Harmonic motion and the body executing such motion is called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Harmonic oscillator.</a:t>
            </a:r>
          </a:p>
          <a:p>
            <a:pPr algn="just"/>
            <a:r>
              <a:rPr lang="en-US" sz="2000" b="0" u="none" strike="noStrike" baseline="0" dirty="0">
                <a:latin typeface="Times New Roman" panose="02020603050405020304" pitchFamily="18" charset="0"/>
                <a:cs typeface="Times New Roman" panose="02020603050405020304" pitchFamily="18" charset="0"/>
              </a:rPr>
              <a:t>In harmonic motion there is a linear relation between force acting on the body and displacement produced. </a:t>
            </a:r>
          </a:p>
          <a:p>
            <a:pPr algn="just"/>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If there is no linear relation between the force and displacement then the motion is called un harmonic motion. Many systems are un harmonic in nature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6798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2D9F67-108B-F5B3-54B9-3E6CB31711D4}"/>
              </a:ext>
            </a:extLst>
          </p:cNvPr>
          <p:cNvSpPr>
            <a:spLocks noGrp="1"/>
          </p:cNvSpPr>
          <p:nvPr>
            <p:ph idx="1"/>
          </p:nvPr>
        </p:nvSpPr>
        <p:spPr>
          <a:xfrm>
            <a:off x="314632" y="334296"/>
            <a:ext cx="11729884" cy="6302478"/>
          </a:xfrm>
        </p:spPr>
        <p:txBody>
          <a:bodyPr>
            <a:normAutofit/>
          </a:bodyPr>
          <a:lstStyle/>
          <a:p>
            <a:pPr marL="0" indent="0">
              <a:buNone/>
            </a:pPr>
            <a:r>
              <a:rPr lang="en-US" sz="1800" b="1" i="0" u="none" strike="noStrike" baseline="0" dirty="0">
                <a:latin typeface="Times New Roman" panose="02020603050405020304" pitchFamily="18" charset="0"/>
              </a:rPr>
              <a:t>1. Mean position</a:t>
            </a:r>
            <a:r>
              <a:rPr lang="en-US" sz="1800" b="0" i="0" u="none" strike="noStrike" baseline="0" dirty="0">
                <a:latin typeface="Times New Roman" panose="02020603050405020304" pitchFamily="18" charset="0"/>
              </a:rPr>
              <a:t>: The position of the oscillating body at rest. </a:t>
            </a:r>
          </a:p>
          <a:p>
            <a:pPr marL="0" indent="0">
              <a:buNone/>
            </a:pPr>
            <a:r>
              <a:rPr lang="en-US" sz="1800" b="0" i="0" u="none" strike="noStrike" baseline="0" dirty="0">
                <a:latin typeface="Times New Roman" panose="02020603050405020304" pitchFamily="18" charset="0"/>
              </a:rPr>
              <a:t>2. </a:t>
            </a:r>
            <a:r>
              <a:rPr lang="en-US" sz="1800" b="1" i="0" u="none" strike="noStrike" baseline="0" dirty="0">
                <a:latin typeface="Times New Roman" panose="02020603050405020304" pitchFamily="18" charset="0"/>
              </a:rPr>
              <a:t>Amplitude: </a:t>
            </a:r>
            <a:r>
              <a:rPr lang="en-US" sz="1800" b="0" i="0" u="none" strike="noStrike" baseline="0" dirty="0">
                <a:latin typeface="Times New Roman" panose="02020603050405020304" pitchFamily="18" charset="0"/>
              </a:rPr>
              <a:t>The amplitude of an SHM is the maximum displacement of the body from its mean position. </a:t>
            </a:r>
          </a:p>
          <a:p>
            <a:endParaRPr lang="en-IN" sz="1800" b="0" i="0" u="none" strike="noStrike" baseline="0" dirty="0">
              <a:latin typeface="Times New Roman" panose="02020603050405020304" pitchFamily="18" charset="0"/>
            </a:endParaRPr>
          </a:p>
          <a:p>
            <a:pPr marL="0" indent="0">
              <a:buNone/>
            </a:pPr>
            <a:r>
              <a:rPr lang="en-US" sz="1800" b="0" i="0" u="none" strike="noStrike" baseline="0" dirty="0">
                <a:latin typeface="Times New Roman" panose="02020603050405020304" pitchFamily="18" charset="0"/>
              </a:rPr>
              <a:t>3. </a:t>
            </a:r>
            <a:r>
              <a:rPr lang="en-US" sz="1800" b="1" i="0" u="none" strike="noStrike" baseline="0" dirty="0">
                <a:latin typeface="Times New Roman" panose="02020603050405020304" pitchFamily="18" charset="0"/>
              </a:rPr>
              <a:t>Time Period: </a:t>
            </a:r>
            <a:r>
              <a:rPr lang="en-US" sz="1800" b="0" i="0" u="none" strike="noStrike" baseline="0" dirty="0">
                <a:latin typeface="Times New Roman" panose="02020603050405020304" pitchFamily="18" charset="0"/>
              </a:rPr>
              <a:t>The time interval during which the oscillation repeats itself is called the time period. It is denoted by </a:t>
            </a:r>
            <a:r>
              <a:rPr lang="en-US" sz="1800" b="1" i="0" u="none" strike="noStrike" baseline="0" dirty="0">
                <a:latin typeface="Times New Roman" panose="02020603050405020304" pitchFamily="18" charset="0"/>
              </a:rPr>
              <a:t>T </a:t>
            </a:r>
            <a:r>
              <a:rPr lang="en-US" sz="1800" b="0" i="0" u="none" strike="noStrike" baseline="0" dirty="0">
                <a:latin typeface="Times New Roman" panose="02020603050405020304" pitchFamily="18" charset="0"/>
              </a:rPr>
              <a:t>and its unit in seconds. </a:t>
            </a:r>
          </a:p>
          <a:p>
            <a:endParaRPr lang="en-IN" dirty="0"/>
          </a:p>
          <a:p>
            <a:endParaRPr lang="en-IN" dirty="0"/>
          </a:p>
          <a:p>
            <a:pPr marL="0" lvl="0" indent="0" algn="just">
              <a:buNone/>
            </a:pPr>
            <a:r>
              <a:rPr lang="en-US" sz="1800" b="1" dirty="0">
                <a:effectLst/>
                <a:latin typeface="Times New Roman" panose="02020603050405020304" pitchFamily="18" charset="0"/>
                <a:ea typeface="Times New Roman" panose="02020603050405020304" pitchFamily="18" charset="0"/>
              </a:rPr>
              <a:t>4. Frequency: </a:t>
            </a:r>
            <a:r>
              <a:rPr lang="en-US" sz="1800" dirty="0">
                <a:effectLst/>
                <a:latin typeface="Times New Roman" panose="02020603050405020304" pitchFamily="18" charset="0"/>
                <a:ea typeface="Times New Roman" panose="02020603050405020304" pitchFamily="18" charset="0"/>
              </a:rPr>
              <a:t>The number of oscillations that a body completes in one second is called the frequency of periodic motion. It is the reciprocal of the time period T and it is denoted by f    </a:t>
            </a:r>
            <a:endParaRPr lang="en-IN" sz="1800" dirty="0">
              <a:effectLst/>
              <a:latin typeface="Times New Roman" panose="02020603050405020304" pitchFamily="18" charset="0"/>
              <a:ea typeface="Times New Roman" panose="02020603050405020304" pitchFamily="18" charset="0"/>
            </a:endParaRPr>
          </a:p>
          <a:p>
            <a:pPr marL="457200" algn="ctr"/>
            <a:r>
              <a:rPr lang="en-US" sz="1800" dirty="0">
                <a:effectLst/>
                <a:latin typeface="Times New Roman" panose="02020603050405020304" pitchFamily="18" charset="0"/>
                <a:ea typeface="Times New Roman" panose="02020603050405020304" pitchFamily="18" charset="0"/>
              </a:rPr>
              <a:t>Frequency f=1/T</a:t>
            </a:r>
            <a:endParaRPr lang="en-IN" sz="1800" dirty="0">
              <a:effectLst/>
              <a:latin typeface="Times New Roman" panose="02020603050405020304" pitchFamily="18" charset="0"/>
              <a:ea typeface="Times New Roman" panose="02020603050405020304" pitchFamily="18" charset="0"/>
            </a:endParaRPr>
          </a:p>
          <a:p>
            <a:pPr marL="0" lvl="0" indent="0">
              <a:buNone/>
            </a:pPr>
            <a:r>
              <a:rPr lang="en-US" sz="1800" b="1" dirty="0">
                <a:effectLst/>
                <a:latin typeface="Times New Roman" panose="02020603050405020304" pitchFamily="18" charset="0"/>
                <a:ea typeface="Times New Roman" panose="02020603050405020304" pitchFamily="18" charset="0"/>
              </a:rPr>
              <a:t>5. Angular frequency: </a:t>
            </a:r>
            <a:r>
              <a:rPr lang="en-US" sz="1800" dirty="0">
                <a:effectLst/>
                <a:latin typeface="Times New Roman" panose="02020603050405020304" pitchFamily="18" charset="0"/>
                <a:ea typeface="Times New Roman" panose="02020603050405020304" pitchFamily="18" charset="0"/>
              </a:rPr>
              <a:t>This is the orbital frequency or circular frequency and it is measured in radians per second. It is denoted by ω</a:t>
            </a:r>
          </a:p>
          <a:p>
            <a:pPr marL="0" indent="0">
              <a:buNone/>
            </a:pPr>
            <a:r>
              <a:rPr lang="en-US" sz="1800" dirty="0">
                <a:effectLst/>
                <a:latin typeface="Times New Roman" panose="02020603050405020304" pitchFamily="18" charset="0"/>
                <a:ea typeface="Times New Roman" panose="02020603050405020304" pitchFamily="18" charset="0"/>
              </a:rPr>
              <a:t>ω = 2п x 1/T = 2пf</a:t>
            </a:r>
            <a:endParaRPr lang="en-IN" sz="1800" dirty="0">
              <a:effectLst/>
              <a:latin typeface="Times New Roman" panose="02020603050405020304" pitchFamily="18" charset="0"/>
              <a:ea typeface="Times New Roman" panose="02020603050405020304" pitchFamily="18" charset="0"/>
            </a:endParaRPr>
          </a:p>
          <a:p>
            <a:pPr marL="0" indent="0" algn="l">
              <a:buNone/>
            </a:pPr>
            <a:r>
              <a:rPr lang="en-IN" dirty="0">
                <a:latin typeface="Times New Roman" panose="02020603050405020304" pitchFamily="18" charset="0"/>
                <a:cs typeface="Times New Roman" panose="02020603050405020304" pitchFamily="18" charset="0"/>
              </a:rPr>
              <a:t>6. Phase: </a:t>
            </a:r>
            <a:r>
              <a:rPr lang="en-US" sz="1800" b="0" i="0" u="none" strike="noStrike" baseline="0" dirty="0">
                <a:latin typeface="Times New Roman" panose="02020603050405020304" pitchFamily="18" charset="0"/>
                <a:cs typeface="Times New Roman" panose="02020603050405020304" pitchFamily="18" charset="0"/>
              </a:rPr>
              <a:t>It is the </a:t>
            </a:r>
            <a:r>
              <a:rPr lang="en-US" sz="1800" b="0" i="0" u="none" strike="noStrike" baseline="0" dirty="0" err="1">
                <a:latin typeface="Times New Roman" panose="02020603050405020304" pitchFamily="18" charset="0"/>
                <a:cs typeface="Times New Roman" panose="02020603050405020304" pitchFamily="18" charset="0"/>
              </a:rPr>
              <a:t>stateof</a:t>
            </a:r>
            <a:r>
              <a:rPr lang="en-US" sz="1800" b="0" i="0" u="none" strike="noStrike" baseline="0" dirty="0">
                <a:latin typeface="Times New Roman" panose="02020603050405020304" pitchFamily="18" charset="0"/>
                <a:cs typeface="Times New Roman" panose="02020603050405020304" pitchFamily="18" charset="0"/>
              </a:rPr>
              <a:t> an oscillating system. If the SHM is represented by y=A sin (</a:t>
            </a:r>
            <a:r>
              <a:rPr lang="en-US" sz="1800" b="0" i="0" u="none" strike="noStrike" baseline="0" dirty="0" err="1">
                <a:latin typeface="Times New Roman" panose="02020603050405020304" pitchFamily="18" charset="0"/>
                <a:cs typeface="Times New Roman" panose="02020603050405020304" pitchFamily="18" charset="0"/>
              </a:rPr>
              <a:t>ωt</a:t>
            </a:r>
            <a:r>
              <a:rPr lang="en-US" sz="1800" b="0" i="0" u="none" strike="noStrike" baseline="0" dirty="0">
                <a:latin typeface="Times New Roman" panose="02020603050405020304" pitchFamily="18" charset="0"/>
                <a:cs typeface="Times New Roman" panose="02020603050405020304" pitchFamily="18" charset="0"/>
              </a:rPr>
              <a:t>+ ), together with ω as the angular frequency</a:t>
            </a:r>
            <a:r>
              <a:rPr lang="en-US" sz="1800" b="0" i="0" u="none" strike="noStrike" baseline="0" dirty="0">
                <a:latin typeface="Times New Roman" panose="02020603050405020304" pitchFamily="18" charset="0"/>
              </a:rPr>
              <a:t>. The quantity (</a:t>
            </a:r>
            <a:r>
              <a:rPr lang="en-US" sz="1800" b="0" i="0" u="none" strike="noStrike" baseline="0" dirty="0" err="1">
                <a:latin typeface="Times New Roman" panose="02020603050405020304" pitchFamily="18" charset="0"/>
              </a:rPr>
              <a:t>ωt</a:t>
            </a:r>
            <a:r>
              <a:rPr lang="en-US" sz="1800" b="0" i="0" u="none" strike="noStrike" baseline="0" dirty="0">
                <a:latin typeface="Times New Roman" panose="02020603050405020304" pitchFamily="18" charset="0"/>
              </a:rPr>
              <a:t>+</a:t>
            </a:r>
            <a:r>
              <a:rPr lang="en-US" sz="1800" b="0" i="0" u="none" strike="noStrike" baseline="0" dirty="0">
                <a:latin typeface="Symbol" panose="05050102010706020507" pitchFamily="18" charset="2"/>
              </a:rPr>
              <a:t> </a:t>
            </a:r>
            <a:r>
              <a:rPr lang="en-US" sz="1800" b="0" i="0" u="none" strike="noStrike" baseline="0" dirty="0">
                <a:latin typeface="Times New Roman" panose="02020603050405020304" pitchFamily="18" charset="0"/>
              </a:rPr>
              <a:t>) of the sine function is called the total phase of the motion at time ‘t’ and ‘</a:t>
            </a:r>
            <a:r>
              <a:rPr lang="en-US" sz="1800" b="0" i="0" u="none" strike="noStrike" baseline="0" dirty="0">
                <a:latin typeface="Symbol" panose="05050102010706020507" pitchFamily="18" charset="2"/>
              </a:rPr>
              <a:t> </a:t>
            </a:r>
            <a:r>
              <a:rPr lang="en-US" sz="1800" b="0" i="0" u="none" strike="noStrike" baseline="0" dirty="0">
                <a:latin typeface="Times New Roman" panose="02020603050405020304" pitchFamily="18" charset="0"/>
              </a:rPr>
              <a:t>’ is the initial </a:t>
            </a:r>
            <a:r>
              <a:rPr lang="en-IN" sz="1800" b="0" i="0" u="none" strike="noStrike" baseline="0" dirty="0">
                <a:latin typeface="Times New Roman" panose="02020603050405020304" pitchFamily="18" charset="0"/>
              </a:rPr>
              <a:t>phase or epoch.</a:t>
            </a:r>
            <a:endParaRPr lang="en-IN" dirty="0"/>
          </a:p>
        </p:txBody>
      </p:sp>
      <p:graphicFrame>
        <p:nvGraphicFramePr>
          <p:cNvPr id="4" name="Object 3">
            <a:extLst>
              <a:ext uri="{FF2B5EF4-FFF2-40B4-BE49-F238E27FC236}">
                <a16:creationId xmlns:a16="http://schemas.microsoft.com/office/drawing/2014/main" id="{94D98E94-735B-506C-DB4A-6D13C2B2030C}"/>
              </a:ext>
            </a:extLst>
          </p:cNvPr>
          <p:cNvGraphicFramePr>
            <a:graphicFrameLocks noChangeAspect="1"/>
          </p:cNvGraphicFramePr>
          <p:nvPr>
            <p:extLst>
              <p:ext uri="{D42A27DB-BD31-4B8C-83A1-F6EECF244321}">
                <p14:modId xmlns:p14="http://schemas.microsoft.com/office/powerpoint/2010/main" val="3028399731"/>
              </p:ext>
            </p:extLst>
          </p:nvPr>
        </p:nvGraphicFramePr>
        <p:xfrm>
          <a:off x="3561787" y="2263212"/>
          <a:ext cx="4111491" cy="568478"/>
        </p:xfrm>
        <a:graphic>
          <a:graphicData uri="http://schemas.openxmlformats.org/presentationml/2006/ole">
            <mc:AlternateContent xmlns:mc="http://schemas.openxmlformats.org/markup-compatibility/2006">
              <mc:Choice xmlns:v="urn:schemas-microsoft-com:vml" Requires="v">
                <p:oleObj name="Equation" r:id="rId2" imgW="2618147" imgH="362319" progId="Equation.DSMT4">
                  <p:embed/>
                </p:oleObj>
              </mc:Choice>
              <mc:Fallback>
                <p:oleObj name="Equation" r:id="rId2" imgW="2618147" imgH="362319" progId="Equation.DSMT4">
                  <p:embed/>
                  <p:pic>
                    <p:nvPicPr>
                      <p:cNvPr id="0" name=""/>
                      <p:cNvPicPr/>
                      <p:nvPr/>
                    </p:nvPicPr>
                    <p:blipFill>
                      <a:blip r:embed="rId3"/>
                      <a:stretch>
                        <a:fillRect/>
                      </a:stretch>
                    </p:blipFill>
                    <p:spPr>
                      <a:xfrm>
                        <a:off x="3561787" y="2263212"/>
                        <a:ext cx="4111491" cy="568478"/>
                      </a:xfrm>
                      <a:prstGeom prst="rect">
                        <a:avLst/>
                      </a:prstGeom>
                    </p:spPr>
                  </p:pic>
                </p:oleObj>
              </mc:Fallback>
            </mc:AlternateContent>
          </a:graphicData>
        </a:graphic>
      </p:graphicFrame>
    </p:spTree>
    <p:extLst>
      <p:ext uri="{BB962C8B-B14F-4D97-AF65-F5344CB8AC3E}">
        <p14:creationId xmlns:p14="http://schemas.microsoft.com/office/powerpoint/2010/main" val="2210498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BA1E8-F8BA-A8B0-01E4-33E856D7691A}"/>
              </a:ext>
            </a:extLst>
          </p:cNvPr>
          <p:cNvSpPr>
            <a:spLocks noGrp="1"/>
          </p:cNvSpPr>
          <p:nvPr>
            <p:ph type="title"/>
          </p:nvPr>
        </p:nvSpPr>
        <p:spPr>
          <a:xfrm>
            <a:off x="838200" y="365125"/>
            <a:ext cx="10515600" cy="706591"/>
          </a:xfrm>
        </p:spPr>
        <p:txBody>
          <a:bodyPr>
            <a:normAutofit/>
          </a:bodyPr>
          <a:lstStyle/>
          <a:p>
            <a:r>
              <a:rPr lang="en-US" sz="2400" b="1" cap="small" spc="100" dirty="0">
                <a:effectLst/>
                <a:latin typeface="Times New Roman" panose="02020603050405020304" pitchFamily="18" charset="0"/>
                <a:ea typeface="Times New Roman" panose="02020603050405020304" pitchFamily="18" charset="0"/>
              </a:rPr>
              <a:t>Simple harmonic Motion (SHM)</a:t>
            </a:r>
            <a:endParaRPr lang="en-IN" sz="5400" b="1" dirty="0"/>
          </a:p>
        </p:txBody>
      </p:sp>
      <p:sp>
        <p:nvSpPr>
          <p:cNvPr id="3" name="Content Placeholder 2">
            <a:extLst>
              <a:ext uri="{FF2B5EF4-FFF2-40B4-BE49-F238E27FC236}">
                <a16:creationId xmlns:a16="http://schemas.microsoft.com/office/drawing/2014/main" id="{1E61583B-3062-1623-E56F-BC78F465EA57}"/>
              </a:ext>
            </a:extLst>
          </p:cNvPr>
          <p:cNvSpPr>
            <a:spLocks noGrp="1"/>
          </p:cNvSpPr>
          <p:nvPr>
            <p:ph idx="1"/>
          </p:nvPr>
        </p:nvSpPr>
        <p:spPr>
          <a:xfrm>
            <a:off x="838200" y="1071716"/>
            <a:ext cx="10515600" cy="5105247"/>
          </a:xfrm>
        </p:spPr>
        <p:txBody>
          <a:bodyPr>
            <a:normAutofit fontScale="92500" lnSpcReduction="10000"/>
          </a:bodyPr>
          <a:lstStyle/>
          <a:p>
            <a:pPr marL="0" indent="0">
              <a:buNone/>
            </a:pPr>
            <a:r>
              <a:rPr lang="en-US" sz="2400" dirty="0">
                <a:effectLst/>
                <a:latin typeface="Times New Roman" panose="02020603050405020304" pitchFamily="18" charset="0"/>
                <a:ea typeface="Times New Roman" panose="02020603050405020304" pitchFamily="18" charset="0"/>
              </a:rPr>
              <a:t>A body is said to be undergoing Simple Harmonic Motion (SHM) when the acceleration of the body is always proportional to its displacement and is directed towards its equilibrium or mean position.</a:t>
            </a:r>
          </a:p>
          <a:p>
            <a:pPr marL="0" indent="0">
              <a:buNone/>
            </a:pPr>
            <a:r>
              <a:rPr lang="en-US" sz="2400" dirty="0">
                <a:effectLst/>
                <a:latin typeface="Times New Roman" panose="02020603050405020304" pitchFamily="18" charset="0"/>
                <a:ea typeface="Times New Roman" panose="02020603050405020304" pitchFamily="18" charset="0"/>
              </a:rPr>
              <a:t>A particle or a system which executes simple harmonic motion is called </a:t>
            </a:r>
            <a:r>
              <a:rPr lang="en-US" sz="2400" b="1" i="1" dirty="0">
                <a:effectLst/>
                <a:latin typeface="Times New Roman" panose="02020603050405020304" pitchFamily="18" charset="0"/>
                <a:ea typeface="Times New Roman" panose="02020603050405020304" pitchFamily="18" charset="0"/>
              </a:rPr>
              <a:t>Simple Harmonic Oscillator</a:t>
            </a:r>
            <a:r>
              <a:rPr lang="en-US" sz="2400" dirty="0">
                <a:effectLst/>
                <a:latin typeface="Times New Roman" panose="02020603050405020304" pitchFamily="18" charset="0"/>
                <a:ea typeface="Times New Roman" panose="02020603050405020304" pitchFamily="18" charset="0"/>
              </a:rPr>
              <a:t>.</a:t>
            </a:r>
            <a:endParaRPr lang="en-US" sz="3200" dirty="0">
              <a:effectLst/>
              <a:latin typeface="Times New Roman" panose="02020603050405020304" pitchFamily="18" charset="0"/>
              <a:ea typeface="Times New Roman" panose="02020603050405020304" pitchFamily="18" charset="0"/>
            </a:endParaRPr>
          </a:p>
          <a:p>
            <a:pPr marL="0" indent="0">
              <a:buNone/>
            </a:pPr>
            <a:endParaRPr lang="en-US" sz="2400" dirty="0">
              <a:latin typeface="Times New Roman" panose="02020603050405020304" pitchFamily="18" charset="0"/>
            </a:endParaRPr>
          </a:p>
          <a:p>
            <a:pPr algn="just"/>
            <a:r>
              <a:rPr lang="en-US" sz="2400" b="1" dirty="0">
                <a:effectLst/>
                <a:latin typeface="Times New Roman" panose="02020603050405020304" pitchFamily="18" charset="0"/>
                <a:ea typeface="Times New Roman" panose="02020603050405020304" pitchFamily="18" charset="0"/>
              </a:rPr>
              <a:t>Linear Simple Harmonic Motion: </a:t>
            </a:r>
            <a:r>
              <a:rPr lang="en-US" sz="2400" dirty="0">
                <a:effectLst/>
                <a:latin typeface="Times New Roman" panose="02020603050405020304" pitchFamily="18" charset="0"/>
                <a:ea typeface="Times New Roman" panose="02020603050405020304" pitchFamily="18" charset="0"/>
              </a:rPr>
              <a:t>If the body </a:t>
            </a:r>
            <a:r>
              <a:rPr lang="en-US" sz="2400" dirty="0" err="1">
                <a:effectLst/>
                <a:latin typeface="Times New Roman" panose="02020603050405020304" pitchFamily="18" charset="0"/>
                <a:ea typeface="Times New Roman" panose="02020603050405020304" pitchFamily="18" charset="0"/>
              </a:rPr>
              <a:t>executingSHM</a:t>
            </a:r>
            <a:r>
              <a:rPr lang="en-US" sz="2400" dirty="0">
                <a:effectLst/>
                <a:latin typeface="Times New Roman" panose="02020603050405020304" pitchFamily="18" charset="0"/>
                <a:ea typeface="Times New Roman" panose="02020603050405020304" pitchFamily="18" charset="0"/>
              </a:rPr>
              <a:t> has a linear acceleration then the motion of the body is linear simple harmonic motion.</a:t>
            </a:r>
            <a:endParaRPr lang="en-IN" sz="2400" dirty="0">
              <a:effectLst/>
              <a:latin typeface="Times New Roman" panose="02020603050405020304" pitchFamily="18" charset="0"/>
              <a:ea typeface="Times New Roman" panose="02020603050405020304" pitchFamily="18" charset="0"/>
            </a:endParaRPr>
          </a:p>
          <a:p>
            <a:pPr marL="0" indent="0" algn="just">
              <a:buNone/>
            </a:pPr>
            <a:r>
              <a:rPr lang="en-US" sz="2400" dirty="0">
                <a:effectLst/>
                <a:latin typeface="Times New Roman" panose="02020603050405020304" pitchFamily="18" charset="0"/>
                <a:ea typeface="Times New Roman" panose="02020603050405020304" pitchFamily="18" charset="0"/>
              </a:rPr>
              <a:t>    Examples: motion of simple pendulum, the motion of a point mass tied with a </a:t>
            </a:r>
          </a:p>
          <a:p>
            <a:pPr marL="0" indent="0" algn="just">
              <a:buNone/>
            </a:pPr>
            <a:r>
              <a:rPr lang="en-US" sz="2400" dirty="0">
                <a:effectLst/>
                <a:latin typeface="Times New Roman" panose="02020603050405020304" pitchFamily="18" charset="0"/>
                <a:ea typeface="Times New Roman" panose="02020603050405020304" pitchFamily="18" charset="0"/>
              </a:rPr>
              <a:t>    spring etc.,</a:t>
            </a:r>
            <a:endParaRPr lang="en-IN" sz="2400" dirty="0">
              <a:effectLst/>
              <a:latin typeface="Times New Roman" panose="02020603050405020304" pitchFamily="18" charset="0"/>
              <a:ea typeface="Times New Roman" panose="02020603050405020304" pitchFamily="18" charset="0"/>
            </a:endParaRPr>
          </a:p>
          <a:p>
            <a:pPr marL="0" indent="0" algn="just">
              <a:buNone/>
            </a:pPr>
            <a:endParaRPr lang="en-IN" sz="2400" dirty="0">
              <a:effectLst/>
              <a:latin typeface="Times New Roman" panose="02020603050405020304" pitchFamily="18" charset="0"/>
              <a:ea typeface="Times New Roman" panose="02020603050405020304" pitchFamily="18" charset="0"/>
            </a:endParaRPr>
          </a:p>
          <a:p>
            <a:pPr algn="just"/>
            <a:r>
              <a:rPr lang="en-US" sz="2400" b="1" dirty="0">
                <a:effectLst/>
                <a:latin typeface="Times New Roman" panose="02020603050405020304" pitchFamily="18" charset="0"/>
                <a:ea typeface="Times New Roman" panose="02020603050405020304" pitchFamily="18" charset="0"/>
              </a:rPr>
              <a:t>Angular Simple Harmonic Motion: </a:t>
            </a:r>
            <a:r>
              <a:rPr lang="en-US" sz="2400" dirty="0">
                <a:effectLst/>
                <a:latin typeface="Times New Roman" panose="02020603050405020304" pitchFamily="18" charset="0"/>
                <a:ea typeface="Times New Roman" panose="02020603050405020304" pitchFamily="18" charset="0"/>
              </a:rPr>
              <a:t>If the body executing SHM has an angular acceleration then the motion of the body is angular simple harmonic motion.</a:t>
            </a:r>
            <a:endParaRPr lang="en-IN" sz="2400" dirty="0">
              <a:effectLst/>
              <a:latin typeface="Times New Roman" panose="02020603050405020304" pitchFamily="18" charset="0"/>
              <a:ea typeface="Times New Roman" panose="02020603050405020304" pitchFamily="18" charset="0"/>
            </a:endParaRPr>
          </a:p>
          <a:p>
            <a:pPr marL="0" indent="0" algn="just">
              <a:buNone/>
            </a:pPr>
            <a:r>
              <a:rPr lang="en-US" sz="2400" dirty="0">
                <a:effectLst/>
                <a:latin typeface="Times New Roman" panose="02020603050405020304" pitchFamily="18" charset="0"/>
                <a:ea typeface="Times New Roman" panose="02020603050405020304" pitchFamily="18" charset="0"/>
              </a:rPr>
              <a:t>   Examples: Oscillations of a torsional pendulum</a:t>
            </a:r>
            <a:endParaRPr lang="en-IN" sz="2400" dirty="0">
              <a:effectLst/>
              <a:latin typeface="Times New Roman" panose="02020603050405020304" pitchFamily="18" charset="0"/>
              <a:ea typeface="Times New Roman" panose="02020603050405020304" pitchFamily="18" charset="0"/>
            </a:endParaRPr>
          </a:p>
          <a:p>
            <a:pPr marL="0" indent="0">
              <a:buNone/>
            </a:pPr>
            <a:endParaRPr lang="en-IN" sz="3600" dirty="0"/>
          </a:p>
        </p:txBody>
      </p:sp>
    </p:spTree>
    <p:extLst>
      <p:ext uri="{BB962C8B-B14F-4D97-AF65-F5344CB8AC3E}">
        <p14:creationId xmlns:p14="http://schemas.microsoft.com/office/powerpoint/2010/main" val="3393464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BDB77-D8CC-965B-A9F9-E7B4B73E93E9}"/>
              </a:ext>
            </a:extLst>
          </p:cNvPr>
          <p:cNvSpPr>
            <a:spLocks noGrp="1"/>
          </p:cNvSpPr>
          <p:nvPr>
            <p:ph type="title"/>
          </p:nvPr>
        </p:nvSpPr>
        <p:spPr>
          <a:xfrm>
            <a:off x="838200" y="365126"/>
            <a:ext cx="10515600" cy="598436"/>
          </a:xfrm>
        </p:spPr>
        <p:txBody>
          <a:bodyPr>
            <a:normAutofit/>
          </a:bodyPr>
          <a:lstStyle/>
          <a:p>
            <a:r>
              <a:rPr lang="en-US" sz="2400" b="1" kern="0" dirty="0">
                <a:effectLst/>
                <a:latin typeface="Times New Roman" panose="02020603050405020304" pitchFamily="18" charset="0"/>
                <a:ea typeface="Times New Roman" panose="02020603050405020304" pitchFamily="18" charset="0"/>
              </a:rPr>
              <a:t>Free vibrations or Un damped vibrations</a:t>
            </a:r>
            <a:endParaRPr lang="en-IN" sz="5400" dirty="0"/>
          </a:p>
        </p:txBody>
      </p:sp>
      <p:sp>
        <p:nvSpPr>
          <p:cNvPr id="3" name="Content Placeholder 2">
            <a:extLst>
              <a:ext uri="{FF2B5EF4-FFF2-40B4-BE49-F238E27FC236}">
                <a16:creationId xmlns:a16="http://schemas.microsoft.com/office/drawing/2014/main" id="{7C051899-8DB6-F228-9335-062A0629C6B6}"/>
              </a:ext>
            </a:extLst>
          </p:cNvPr>
          <p:cNvSpPr>
            <a:spLocks noGrp="1"/>
          </p:cNvSpPr>
          <p:nvPr>
            <p:ph idx="1"/>
          </p:nvPr>
        </p:nvSpPr>
        <p:spPr>
          <a:xfrm>
            <a:off x="838200" y="963562"/>
            <a:ext cx="10515600" cy="5213401"/>
          </a:xfrm>
        </p:spPr>
        <p:txBody>
          <a:bodyPr/>
          <a:lstStyle/>
          <a:p>
            <a:pPr marL="0" indent="0">
              <a:buNone/>
            </a:pPr>
            <a:r>
              <a:rPr lang="en-US" sz="1800" dirty="0">
                <a:effectLst/>
                <a:latin typeface="Times New Roman" panose="02020603050405020304" pitchFamily="18" charset="0"/>
                <a:ea typeface="Times New Roman" panose="02020603050405020304" pitchFamily="18" charset="0"/>
              </a:rPr>
              <a:t>If a body oscillates without the influence of any external force, then the oscillations are called </a:t>
            </a:r>
            <a:r>
              <a:rPr lang="en-US" sz="1800" b="1" dirty="0">
                <a:effectLst/>
                <a:latin typeface="Times New Roman" panose="02020603050405020304" pitchFamily="18" charset="0"/>
                <a:ea typeface="Times New Roman" panose="02020603050405020304" pitchFamily="18" charset="0"/>
              </a:rPr>
              <a:t>free oscillations or un damped oscillations</a:t>
            </a:r>
            <a:r>
              <a:rPr lang="en-US" sz="1800" dirty="0">
                <a:effectLst/>
                <a:latin typeface="Times New Roman" panose="02020603050405020304" pitchFamily="18" charset="0"/>
                <a:ea typeface="Times New Roman" panose="02020603050405020304" pitchFamily="18" charset="0"/>
              </a:rPr>
              <a:t>. </a:t>
            </a:r>
          </a:p>
          <a:p>
            <a:pPr marL="0" indent="0">
              <a:buNone/>
            </a:pPr>
            <a:r>
              <a:rPr lang="en-US" sz="1800" dirty="0">
                <a:effectLst/>
                <a:latin typeface="Times New Roman" panose="02020603050405020304" pitchFamily="18" charset="0"/>
                <a:ea typeface="Times New Roman" panose="02020603050405020304" pitchFamily="18" charset="0"/>
              </a:rPr>
              <a:t>In free oscillations the body oscillates with its natural frequency and the amplitude remains constant.</a:t>
            </a:r>
          </a:p>
          <a:p>
            <a:pPr marL="0" indent="0">
              <a:buNone/>
            </a:pPr>
            <a:endParaRPr lang="en-US" sz="1800" dirty="0">
              <a:latin typeface="Times New Roman" panose="02020603050405020304" pitchFamily="18" charset="0"/>
            </a:endParaRPr>
          </a:p>
          <a:p>
            <a:pPr marL="0" indent="0">
              <a:buNone/>
            </a:pPr>
            <a:endParaRPr lang="en-IN" dirty="0"/>
          </a:p>
        </p:txBody>
      </p:sp>
      <p:pic>
        <p:nvPicPr>
          <p:cNvPr id="6" name="Picture 5">
            <a:extLst>
              <a:ext uri="{FF2B5EF4-FFF2-40B4-BE49-F238E27FC236}">
                <a16:creationId xmlns:a16="http://schemas.microsoft.com/office/drawing/2014/main" id="{84C9EA55-34E5-911E-CD12-E0FB3D84A93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72062" y="2967037"/>
            <a:ext cx="2047875" cy="923925"/>
          </a:xfrm>
          <a:prstGeom prst="rect">
            <a:avLst/>
          </a:prstGeom>
          <a:noFill/>
          <a:ln>
            <a:noFill/>
          </a:ln>
        </p:spPr>
      </p:pic>
    </p:spTree>
    <p:extLst>
      <p:ext uri="{BB962C8B-B14F-4D97-AF65-F5344CB8AC3E}">
        <p14:creationId xmlns:p14="http://schemas.microsoft.com/office/powerpoint/2010/main" val="2666454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6675D-F6ED-5BE2-61D2-596620DD03BE}"/>
              </a:ext>
            </a:extLst>
          </p:cNvPr>
          <p:cNvSpPr>
            <a:spLocks noGrp="1"/>
          </p:cNvSpPr>
          <p:nvPr>
            <p:ph type="title"/>
          </p:nvPr>
        </p:nvSpPr>
        <p:spPr>
          <a:xfrm>
            <a:off x="838200" y="365125"/>
            <a:ext cx="10515600" cy="618101"/>
          </a:xfrm>
        </p:spPr>
        <p:txBody>
          <a:bodyPr>
            <a:normAutofit/>
          </a:bodyPr>
          <a:lstStyle/>
          <a:p>
            <a:r>
              <a:rPr lang="en-US" sz="2400" b="1" dirty="0">
                <a:effectLst/>
                <a:latin typeface="Times New Roman" panose="02020603050405020304" pitchFamily="18" charset="0"/>
                <a:ea typeface="Times New Roman" panose="02020603050405020304" pitchFamily="18" charset="0"/>
              </a:rPr>
              <a:t>Examples of Simple harmonic oscillator</a:t>
            </a:r>
            <a:endParaRPr lang="en-IN" sz="5400" dirty="0"/>
          </a:p>
        </p:txBody>
      </p:sp>
      <p:sp>
        <p:nvSpPr>
          <p:cNvPr id="3" name="Content Placeholder 2">
            <a:extLst>
              <a:ext uri="{FF2B5EF4-FFF2-40B4-BE49-F238E27FC236}">
                <a16:creationId xmlns:a16="http://schemas.microsoft.com/office/drawing/2014/main" id="{06288B47-102D-9E74-F82F-B7540082E52B}"/>
              </a:ext>
            </a:extLst>
          </p:cNvPr>
          <p:cNvSpPr>
            <a:spLocks noGrp="1"/>
          </p:cNvSpPr>
          <p:nvPr>
            <p:ph idx="1"/>
          </p:nvPr>
        </p:nvSpPr>
        <p:spPr>
          <a:xfrm>
            <a:off x="838200" y="983226"/>
            <a:ext cx="10515600" cy="5193737"/>
          </a:xfrm>
        </p:spPr>
        <p:txBody>
          <a:bodyPr>
            <a:normAutofit fontScale="92500" lnSpcReduction="20000"/>
          </a:bodyPr>
          <a:lstStyle/>
          <a:p>
            <a:pPr algn="just">
              <a:lnSpc>
                <a:spcPct val="150000"/>
              </a:lnSpc>
            </a:pPr>
            <a:r>
              <a:rPr lang="en-US" sz="1800" dirty="0">
                <a:effectLst/>
                <a:latin typeface="Times New Roman" panose="02020603050405020304" pitchFamily="18" charset="0"/>
                <a:ea typeface="Times New Roman" panose="02020603050405020304" pitchFamily="18" charset="0"/>
              </a:rPr>
              <a:t>The spring and mass system is an example for linear simple harmonic oscillator.</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dirty="0">
                <a:effectLst/>
                <a:latin typeface="Times New Roman" panose="02020603050405020304" pitchFamily="18" charset="0"/>
                <a:ea typeface="Times New Roman" panose="02020603050405020304" pitchFamily="18" charset="0"/>
              </a:rPr>
              <a:t>The spring mass system consists of a block of mass </a:t>
            </a:r>
            <a:r>
              <a:rPr lang="en-US" sz="1800" i="1" dirty="0">
                <a:effectLst/>
                <a:latin typeface="Times New Roman" panose="02020603050405020304" pitchFamily="18" charset="0"/>
                <a:ea typeface="Times New Roman" panose="02020603050405020304" pitchFamily="18" charset="0"/>
              </a:rPr>
              <a:t>m </a:t>
            </a:r>
            <a:r>
              <a:rPr lang="en-US" sz="1800" dirty="0">
                <a:effectLst/>
                <a:latin typeface="Times New Roman" panose="02020603050405020304" pitchFamily="18" charset="0"/>
                <a:ea typeface="Times New Roman" panose="02020603050405020304" pitchFamily="18" charset="0"/>
              </a:rPr>
              <a:t>suspended from a rigid support by means of a mass less spring (</a:t>
            </a:r>
            <a:r>
              <a:rPr lang="en-US" sz="1800" dirty="0" err="1">
                <a:effectLst/>
                <a:latin typeface="Times New Roman" panose="02020603050405020304" pitchFamily="18" charset="0"/>
                <a:ea typeface="Times New Roman" panose="02020603050405020304" pitchFamily="18" charset="0"/>
              </a:rPr>
              <a:t>ie</a:t>
            </a:r>
            <a:r>
              <a:rPr lang="en-US" sz="1800" dirty="0">
                <a:effectLst/>
                <a:latin typeface="Times New Roman" panose="02020603050405020304" pitchFamily="18" charset="0"/>
                <a:ea typeface="Times New Roman" panose="02020603050405020304" pitchFamily="18" charset="0"/>
              </a:rPr>
              <a:t> a spring whose mass is negligible). </a:t>
            </a:r>
            <a:endParaRPr lang="en-IN" sz="1800" dirty="0">
              <a:effectLst/>
              <a:latin typeface="Times New Roman" panose="02020603050405020304" pitchFamily="18" charset="0"/>
              <a:ea typeface="Times New Roman" panose="02020603050405020304" pitchFamily="18" charset="0"/>
            </a:endParaRP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US" sz="1800" dirty="0">
                <a:effectLst/>
                <a:latin typeface="Times New Roman" panose="02020603050405020304" pitchFamily="18" charset="0"/>
                <a:ea typeface="Times New Roman" panose="02020603050405020304" pitchFamily="18" charset="0"/>
              </a:rPr>
              <a:t>According to Hooke’s </a:t>
            </a:r>
            <a:r>
              <a:rPr lang="en-US" sz="1800" b="1" dirty="0">
                <a:effectLst/>
                <a:latin typeface="Times New Roman" panose="02020603050405020304" pitchFamily="18" charset="0"/>
                <a:ea typeface="Times New Roman" panose="02020603050405020304" pitchFamily="18" charset="0"/>
              </a:rPr>
              <a:t>Law “The restoring force produced in a system is proportional to the displacement”.</a:t>
            </a:r>
            <a:r>
              <a:rPr lang="en-US" sz="1800" dirty="0">
                <a:effectLst/>
                <a:latin typeface="Times New Roman" panose="02020603050405020304" pitchFamily="18" charset="0"/>
                <a:ea typeface="Times New Roman" panose="02020603050405020304" pitchFamily="18" charset="0"/>
              </a:rPr>
              <a:t> When the mass is displaced through a distance ‘</a:t>
            </a:r>
            <a:r>
              <a:rPr lang="en-US" sz="1800" dirty="0" err="1">
                <a:effectLst/>
                <a:latin typeface="Times New Roman" panose="02020603050405020304" pitchFamily="18" charset="0"/>
                <a:ea typeface="Times New Roman" panose="02020603050405020304" pitchFamily="18" charset="0"/>
              </a:rPr>
              <a:t>y’then</a:t>
            </a:r>
            <a:r>
              <a:rPr lang="en-US" sz="1800" dirty="0">
                <a:effectLst/>
                <a:latin typeface="Times New Roman" panose="02020603050405020304" pitchFamily="18" charset="0"/>
                <a:ea typeface="Times New Roman" panose="02020603050405020304" pitchFamily="18" charset="0"/>
              </a:rPr>
              <a:t> the restoring force (F) produced is                          </a:t>
            </a:r>
          </a:p>
          <a:p>
            <a:pPr marL="0" indent="0">
              <a:buNone/>
            </a:pPr>
            <a:r>
              <a:rPr lang="en-US" sz="1800"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 α y</a:t>
            </a:r>
            <a:endParaRPr lang="en-IN" sz="1800" dirty="0">
              <a:effectLst/>
              <a:latin typeface="Times New Roman" panose="02020603050405020304" pitchFamily="18" charset="0"/>
              <a:ea typeface="Times New Roman" panose="02020603050405020304" pitchFamily="18" charset="0"/>
            </a:endParaRPr>
          </a:p>
          <a:p>
            <a:pPr marL="0" indent="0">
              <a:buNone/>
            </a:pPr>
            <a:r>
              <a:rPr lang="en-IN" dirty="0"/>
              <a:t>					</a:t>
            </a:r>
            <a:r>
              <a:rPr lang="en-US" sz="1800" dirty="0">
                <a:effectLst/>
                <a:latin typeface="Times New Roman" panose="02020603050405020304" pitchFamily="18" charset="0"/>
                <a:ea typeface="Times New Roman" panose="02020603050405020304" pitchFamily="18" charset="0"/>
              </a:rPr>
              <a:t>F = −</a:t>
            </a:r>
            <a:r>
              <a:rPr lang="en-US" sz="1800" dirty="0" err="1">
                <a:effectLst/>
                <a:latin typeface="Times New Roman" panose="02020603050405020304" pitchFamily="18" charset="0"/>
                <a:ea typeface="Times New Roman" panose="02020603050405020304" pitchFamily="18" charset="0"/>
              </a:rPr>
              <a:t>ky</a:t>
            </a:r>
            <a:r>
              <a:rPr lang="en-US" sz="1800" i="1"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(1)</a:t>
            </a:r>
          </a:p>
          <a:p>
            <a:pPr marL="0" indent="0">
              <a:buNone/>
            </a:pPr>
            <a:r>
              <a:rPr lang="en-US" sz="1800" dirty="0">
                <a:effectLst/>
                <a:latin typeface="Times New Roman" panose="02020603050405020304" pitchFamily="18" charset="0"/>
                <a:ea typeface="Times New Roman" panose="02020603050405020304" pitchFamily="18" charset="0"/>
              </a:rPr>
              <a:t>       The constant </a:t>
            </a:r>
            <a:r>
              <a:rPr lang="en-US" sz="1800" i="1" dirty="0">
                <a:effectLst/>
                <a:latin typeface="Times New Roman" panose="02020603050405020304" pitchFamily="18" charset="0"/>
                <a:ea typeface="Times New Roman" panose="02020603050405020304" pitchFamily="18" charset="0"/>
              </a:rPr>
              <a:t>k </a:t>
            </a:r>
            <a:r>
              <a:rPr lang="en-US" sz="1800" dirty="0">
                <a:effectLst/>
                <a:latin typeface="Times New Roman" panose="02020603050405020304" pitchFamily="18" charset="0"/>
                <a:ea typeface="Times New Roman" panose="02020603050405020304" pitchFamily="18" charset="0"/>
              </a:rPr>
              <a:t>is called </a:t>
            </a:r>
            <a:r>
              <a:rPr lang="en-US" sz="1800" b="1" dirty="0">
                <a:effectLst/>
                <a:latin typeface="Times New Roman" panose="02020603050405020304" pitchFamily="18" charset="0"/>
                <a:ea typeface="Times New Roman" panose="02020603050405020304" pitchFamily="18" charset="0"/>
              </a:rPr>
              <a:t>force constant or spring constant or stiffness constant</a:t>
            </a:r>
            <a:r>
              <a:rPr lang="en-US" sz="1800" dirty="0">
                <a:effectLst/>
                <a:latin typeface="Times New Roman" panose="02020603050405020304" pitchFamily="18" charset="0"/>
                <a:ea typeface="Times New Roman" panose="02020603050405020304" pitchFamily="18" charset="0"/>
              </a:rPr>
              <a:t>.</a:t>
            </a:r>
          </a:p>
          <a:p>
            <a:pPr marL="0" indent="0">
              <a:buNone/>
            </a:pPr>
            <a:r>
              <a:rPr lang="en-US" sz="1800" dirty="0">
                <a:effectLst/>
                <a:latin typeface="Times New Roman" panose="02020603050405020304" pitchFamily="18" charset="0"/>
                <a:ea typeface="Times New Roman" panose="02020603050405020304" pitchFamily="18" charset="0"/>
              </a:rPr>
              <a:t>Spring constant is the measure of the stiffness of the spring.</a:t>
            </a:r>
          </a:p>
          <a:p>
            <a:pPr marL="0" indent="0">
              <a:buNone/>
            </a:pPr>
            <a:r>
              <a:rPr lang="en-US" sz="1800" dirty="0">
                <a:latin typeface="Times New Roman" panose="02020603050405020304" pitchFamily="18" charset="0"/>
                <a:ea typeface="Times New Roman" panose="02020603050405020304" pitchFamily="18" charset="0"/>
              </a:rPr>
              <a:t>-</a:t>
            </a:r>
            <a:r>
              <a:rPr lang="en-US" sz="1800" dirty="0" err="1">
                <a:latin typeface="Times New Roman" panose="02020603050405020304" pitchFamily="18" charset="0"/>
                <a:ea typeface="Times New Roman" panose="02020603050405020304" pitchFamily="18" charset="0"/>
              </a:rPr>
              <a:t>ve</a:t>
            </a:r>
            <a:r>
              <a:rPr lang="en-US" sz="1800" dirty="0">
                <a:latin typeface="Times New Roman" panose="02020603050405020304" pitchFamily="18" charset="0"/>
                <a:ea typeface="Times New Roman" panose="02020603050405020304" pitchFamily="18" charset="0"/>
              </a:rPr>
              <a:t> sign denotes the restoring force is opposite to the direction of applied force.</a:t>
            </a:r>
            <a:endParaRPr lang="en-US" sz="1800" dirty="0">
              <a:effectLst/>
              <a:latin typeface="Times New Roman" panose="02020603050405020304" pitchFamily="18" charset="0"/>
              <a:ea typeface="Times New Roman" panose="02020603050405020304" pitchFamily="18" charset="0"/>
            </a:endParaRPr>
          </a:p>
          <a:p>
            <a:pPr marL="0" indent="0">
              <a:buNone/>
            </a:pPr>
            <a:endParaRPr lang="en-US" sz="1800" dirty="0">
              <a:effectLst/>
              <a:latin typeface="Times New Roman" panose="02020603050405020304" pitchFamily="18" charset="0"/>
              <a:ea typeface="Times New Roman" panose="02020603050405020304" pitchFamily="18" charset="0"/>
            </a:endParaRPr>
          </a:p>
          <a:p>
            <a:pPr marL="0" indent="0">
              <a:buNone/>
            </a:pPr>
            <a:endParaRPr lang="en-IN" sz="1800" dirty="0">
              <a:effectLst/>
              <a:latin typeface="Times New Roman" panose="02020603050405020304" pitchFamily="18" charset="0"/>
              <a:ea typeface="Times New Roman" panose="02020603050405020304" pitchFamily="18" charset="0"/>
            </a:endParaRPr>
          </a:p>
          <a:p>
            <a:pPr marL="0" indent="0">
              <a:buNone/>
            </a:pPr>
            <a:endParaRPr lang="en-IN" dirty="0"/>
          </a:p>
        </p:txBody>
      </p:sp>
      <p:pic>
        <p:nvPicPr>
          <p:cNvPr id="6" name="Picture 5">
            <a:extLst>
              <a:ext uri="{FF2B5EF4-FFF2-40B4-BE49-F238E27FC236}">
                <a16:creationId xmlns:a16="http://schemas.microsoft.com/office/drawing/2014/main" id="{C9BFB342-7DFC-2FA1-9246-CD60711EFDA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80845" y="2097957"/>
            <a:ext cx="1885950" cy="1600200"/>
          </a:xfrm>
          <a:prstGeom prst="rect">
            <a:avLst/>
          </a:prstGeom>
          <a:noFill/>
          <a:ln>
            <a:noFill/>
          </a:ln>
        </p:spPr>
      </p:pic>
    </p:spTree>
    <p:extLst>
      <p:ext uri="{BB962C8B-B14F-4D97-AF65-F5344CB8AC3E}">
        <p14:creationId xmlns:p14="http://schemas.microsoft.com/office/powerpoint/2010/main" val="2999612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D3E1B1-0686-6C4C-98F0-56E8C470791E}"/>
              </a:ext>
            </a:extLst>
          </p:cNvPr>
          <p:cNvSpPr>
            <a:spLocks noGrp="1"/>
          </p:cNvSpPr>
          <p:nvPr>
            <p:ph idx="1"/>
          </p:nvPr>
        </p:nvSpPr>
        <p:spPr>
          <a:xfrm>
            <a:off x="838200" y="511276"/>
            <a:ext cx="10515600" cy="6272981"/>
          </a:xfrm>
        </p:spPr>
        <p:txBody>
          <a:bodyPr>
            <a:normAutofit lnSpcReduction="10000"/>
          </a:bodyPr>
          <a:lstStyle/>
          <a:p>
            <a:r>
              <a:rPr lang="en-US" sz="1800" dirty="0">
                <a:effectLst/>
                <a:latin typeface="Times New Roman" panose="02020603050405020304" pitchFamily="18" charset="0"/>
                <a:ea typeface="Times New Roman" panose="02020603050405020304" pitchFamily="18" charset="0"/>
              </a:rPr>
              <a:t>In equilibrium condition the linear restoring force (F) in magnitude is equal to </a:t>
            </a:r>
            <a:r>
              <a:rPr lang="en-US" sz="1800" dirty="0" err="1">
                <a:effectLst/>
                <a:latin typeface="Times New Roman" panose="02020603050405020304" pitchFamily="18" charset="0"/>
                <a:ea typeface="Times New Roman" panose="02020603050405020304" pitchFamily="18" charset="0"/>
              </a:rPr>
              <a:t>theweight</a:t>
            </a:r>
            <a:r>
              <a:rPr lang="en-US" sz="1800" dirty="0">
                <a:effectLst/>
                <a:latin typeface="Times New Roman" panose="02020603050405020304" pitchFamily="18" charset="0"/>
                <a:ea typeface="Times New Roman" panose="02020603050405020304" pitchFamily="18" charset="0"/>
              </a:rPr>
              <a:t> ‘</a:t>
            </a:r>
            <a:r>
              <a:rPr lang="en-US" sz="1800" i="1" dirty="0">
                <a:effectLst/>
                <a:latin typeface="Times New Roman" panose="02020603050405020304" pitchFamily="18" charset="0"/>
                <a:ea typeface="Times New Roman" panose="02020603050405020304" pitchFamily="18" charset="0"/>
              </a:rPr>
              <a:t>mg’ </a:t>
            </a:r>
            <a:r>
              <a:rPr lang="en-US" sz="1800" dirty="0">
                <a:effectLst/>
                <a:latin typeface="Times New Roman" panose="02020603050405020304" pitchFamily="18" charset="0"/>
                <a:ea typeface="Times New Roman" panose="02020603050405020304" pitchFamily="18" charset="0"/>
              </a:rPr>
              <a:t>of the hanging mass.</a:t>
            </a:r>
          </a:p>
          <a:p>
            <a:endParaRPr lang="en-IN" dirty="0"/>
          </a:p>
          <a:p>
            <a:endParaRPr lang="en-IN" dirty="0"/>
          </a:p>
          <a:p>
            <a:r>
              <a:rPr lang="en-US" sz="1800" dirty="0">
                <a:effectLst/>
                <a:latin typeface="Times New Roman" panose="02020603050405020304" pitchFamily="18" charset="0"/>
                <a:ea typeface="Times New Roman" panose="02020603050405020304" pitchFamily="18" charset="0"/>
              </a:rPr>
              <a:t>Now, if the mass is displaced down through a distance ‘y’ from its equilibrium position and released then it executes oscillatory motion.</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From Newton’s second law of motion for the block we can write</a:t>
            </a:r>
          </a:p>
          <a:p>
            <a:endParaRPr lang="en-US" sz="1800" dirty="0">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latin typeface="Times New Roman" panose="02020603050405020304" pitchFamily="18" charset="0"/>
              <a:ea typeface="Times New Roman" panose="02020603050405020304" pitchFamily="18" charset="0"/>
            </a:endParaRPr>
          </a:p>
          <a:p>
            <a:pPr marL="0" indent="0">
              <a:buNone/>
            </a:pPr>
            <a:r>
              <a:rPr lang="en-US" sz="1800" dirty="0">
                <a:effectLst/>
                <a:latin typeface="Times New Roman" panose="02020603050405020304" pitchFamily="18" charset="0"/>
                <a:ea typeface="Times New Roman" panose="02020603050405020304" pitchFamily="18" charset="0"/>
              </a:rPr>
              <a:t> </a:t>
            </a:r>
          </a:p>
          <a:p>
            <a:endParaRPr lang="en-US" sz="1800" dirty="0">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latin typeface="Times New Roman" panose="02020603050405020304" pitchFamily="18" charset="0"/>
              <a:ea typeface="Times New Roman" panose="02020603050405020304" pitchFamily="18" charset="0"/>
            </a:endParaRPr>
          </a:p>
          <a:p>
            <a:pPr lvl="8"/>
            <a:r>
              <a:rPr lang="en-IN" sz="800" dirty="0">
                <a:effectLst/>
                <a:latin typeface="Times New Roman" panose="02020603050405020304" pitchFamily="18" charset="0"/>
                <a:ea typeface="Times New Roman" panose="02020603050405020304" pitchFamily="18" charset="0"/>
              </a:rPr>
              <a:t>t</a:t>
            </a:r>
          </a:p>
          <a:p>
            <a:pPr marL="0" indent="0">
              <a:buNone/>
            </a:pPr>
            <a:r>
              <a:rPr lang="en-IN" dirty="0"/>
              <a:t>					Th             </a:t>
            </a:r>
          </a:p>
          <a:p>
            <a:pPr marL="0" indent="0">
              <a:buNone/>
            </a:pPr>
            <a:r>
              <a:rPr lang="en-IN" sz="1800" dirty="0">
                <a:latin typeface="Times New Roman" panose="02020603050405020304" pitchFamily="18" charset="0"/>
                <a:cs typeface="Times New Roman" panose="02020603050405020304" pitchFamily="18" charset="0"/>
              </a:rPr>
              <a:t>                                                                                                          This is the differential equation for free                </a:t>
            </a:r>
          </a:p>
          <a:p>
            <a:pPr marL="0" indent="0">
              <a:buNone/>
            </a:pPr>
            <a:r>
              <a:rPr lang="en-IN" sz="1800" dirty="0">
                <a:latin typeface="Times New Roman" panose="02020603050405020304" pitchFamily="18" charset="0"/>
                <a:cs typeface="Times New Roman" panose="02020603050405020304" pitchFamily="18" charset="0"/>
              </a:rPr>
              <a:t>                                                                                                          oscillator</a:t>
            </a:r>
          </a:p>
        </p:txBody>
      </p:sp>
      <p:graphicFrame>
        <p:nvGraphicFramePr>
          <p:cNvPr id="5" name="Object 4">
            <a:extLst>
              <a:ext uri="{FF2B5EF4-FFF2-40B4-BE49-F238E27FC236}">
                <a16:creationId xmlns:a16="http://schemas.microsoft.com/office/drawing/2014/main" id="{A674D694-3106-F883-A7DA-FA8B536645E5}"/>
              </a:ext>
            </a:extLst>
          </p:cNvPr>
          <p:cNvGraphicFramePr>
            <a:graphicFrameLocks noChangeAspect="1"/>
          </p:cNvGraphicFramePr>
          <p:nvPr>
            <p:extLst>
              <p:ext uri="{D42A27DB-BD31-4B8C-83A1-F6EECF244321}">
                <p14:modId xmlns:p14="http://schemas.microsoft.com/office/powerpoint/2010/main" val="3103895816"/>
              </p:ext>
            </p:extLst>
          </p:nvPr>
        </p:nvGraphicFramePr>
        <p:xfrm>
          <a:off x="4079465" y="1172292"/>
          <a:ext cx="3785943" cy="882650"/>
        </p:xfrm>
        <a:graphic>
          <a:graphicData uri="http://schemas.openxmlformats.org/presentationml/2006/ole">
            <mc:AlternateContent xmlns:mc="http://schemas.openxmlformats.org/markup-compatibility/2006">
              <mc:Choice xmlns:v="urn:schemas-microsoft-com:vml" Requires="v">
                <p:oleObj name="Equation" r:id="rId2" imgW="2989495" imgH="696157" progId="Equation.DSMT4">
                  <p:embed/>
                </p:oleObj>
              </mc:Choice>
              <mc:Fallback>
                <p:oleObj name="Equation" r:id="rId2" imgW="2989495" imgH="696157" progId="Equation.DSMT4">
                  <p:embed/>
                  <p:pic>
                    <p:nvPicPr>
                      <p:cNvPr id="0" name=""/>
                      <p:cNvPicPr/>
                      <p:nvPr/>
                    </p:nvPicPr>
                    <p:blipFill>
                      <a:blip r:embed="rId3"/>
                      <a:stretch>
                        <a:fillRect/>
                      </a:stretch>
                    </p:blipFill>
                    <p:spPr>
                      <a:xfrm>
                        <a:off x="4079465" y="1172292"/>
                        <a:ext cx="3785943" cy="88265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106852C8-D47E-65A7-98ED-0D9E900BB981}"/>
              </a:ext>
            </a:extLst>
          </p:cNvPr>
          <p:cNvGraphicFramePr>
            <a:graphicFrameLocks noChangeAspect="1"/>
          </p:cNvGraphicFramePr>
          <p:nvPr>
            <p:extLst>
              <p:ext uri="{D42A27DB-BD31-4B8C-83A1-F6EECF244321}">
                <p14:modId xmlns:p14="http://schemas.microsoft.com/office/powerpoint/2010/main" val="2399768839"/>
              </p:ext>
            </p:extLst>
          </p:nvPr>
        </p:nvGraphicFramePr>
        <p:xfrm>
          <a:off x="1755980" y="2910299"/>
          <a:ext cx="8047286" cy="695683"/>
        </p:xfrm>
        <a:graphic>
          <a:graphicData uri="http://schemas.openxmlformats.org/presentationml/2006/ole">
            <mc:AlternateContent xmlns:mc="http://schemas.openxmlformats.org/markup-compatibility/2006">
              <mc:Choice xmlns:v="urn:schemas-microsoft-com:vml" Requires="v">
                <p:oleObj name="Equation" r:id="rId4" imgW="4627097" imgH="400533" progId="Equation.DSMT4">
                  <p:embed/>
                </p:oleObj>
              </mc:Choice>
              <mc:Fallback>
                <p:oleObj name="Equation" r:id="rId4" imgW="4627097" imgH="400533" progId="Equation.DSMT4">
                  <p:embed/>
                  <p:pic>
                    <p:nvPicPr>
                      <p:cNvPr id="0" name=""/>
                      <p:cNvPicPr/>
                      <p:nvPr/>
                    </p:nvPicPr>
                    <p:blipFill>
                      <a:blip r:embed="rId5"/>
                      <a:stretch>
                        <a:fillRect/>
                      </a:stretch>
                    </p:blipFill>
                    <p:spPr>
                      <a:xfrm>
                        <a:off x="1755980" y="2910299"/>
                        <a:ext cx="8047286" cy="695683"/>
                      </a:xfrm>
                      <a:prstGeom prst="rect">
                        <a:avLst/>
                      </a:prstGeom>
                    </p:spPr>
                  </p:pic>
                </p:oleObj>
              </mc:Fallback>
            </mc:AlternateContent>
          </a:graphicData>
        </a:graphic>
      </p:graphicFrame>
      <p:pic>
        <p:nvPicPr>
          <p:cNvPr id="19" name="Picture 18">
            <a:extLst>
              <a:ext uri="{FF2B5EF4-FFF2-40B4-BE49-F238E27FC236}">
                <a16:creationId xmlns:a16="http://schemas.microsoft.com/office/drawing/2014/main" id="{BA21B750-67AE-B351-FC79-C62A0C1A7B15}"/>
              </a:ext>
            </a:extLst>
          </p:cNvPr>
          <p:cNvPicPr>
            <a:picLocks noChangeAspect="1"/>
          </p:cNvPicPr>
          <p:nvPr/>
        </p:nvPicPr>
        <p:blipFill>
          <a:blip r:embed="rId6"/>
          <a:stretch>
            <a:fillRect/>
          </a:stretch>
        </p:blipFill>
        <p:spPr>
          <a:xfrm>
            <a:off x="1942598" y="3745810"/>
            <a:ext cx="1048505" cy="609743"/>
          </a:xfrm>
          <a:prstGeom prst="rect">
            <a:avLst/>
          </a:prstGeom>
        </p:spPr>
      </p:pic>
      <p:pic>
        <p:nvPicPr>
          <p:cNvPr id="20" name="Picture 19">
            <a:extLst>
              <a:ext uri="{FF2B5EF4-FFF2-40B4-BE49-F238E27FC236}">
                <a16:creationId xmlns:a16="http://schemas.microsoft.com/office/drawing/2014/main" id="{81B0BD75-F5C9-71DB-DA4A-C4D8D6E5FAE9}"/>
              </a:ext>
            </a:extLst>
          </p:cNvPr>
          <p:cNvPicPr>
            <a:picLocks noChangeAspect="1"/>
          </p:cNvPicPr>
          <p:nvPr/>
        </p:nvPicPr>
        <p:blipFill>
          <a:blip r:embed="rId7"/>
          <a:stretch>
            <a:fillRect/>
          </a:stretch>
        </p:blipFill>
        <p:spPr>
          <a:xfrm>
            <a:off x="4203475" y="3745810"/>
            <a:ext cx="2635230" cy="454510"/>
          </a:xfrm>
          <a:prstGeom prst="rect">
            <a:avLst/>
          </a:prstGeom>
        </p:spPr>
      </p:pic>
      <p:pic>
        <p:nvPicPr>
          <p:cNvPr id="21" name="Picture 20">
            <a:extLst>
              <a:ext uri="{FF2B5EF4-FFF2-40B4-BE49-F238E27FC236}">
                <a16:creationId xmlns:a16="http://schemas.microsoft.com/office/drawing/2014/main" id="{7A2D664E-057F-463B-E0CB-5F145769172A}"/>
              </a:ext>
            </a:extLst>
          </p:cNvPr>
          <p:cNvPicPr>
            <a:picLocks noChangeAspect="1"/>
          </p:cNvPicPr>
          <p:nvPr/>
        </p:nvPicPr>
        <p:blipFill>
          <a:blip r:embed="rId8"/>
          <a:stretch>
            <a:fillRect/>
          </a:stretch>
        </p:blipFill>
        <p:spPr>
          <a:xfrm>
            <a:off x="1626010" y="4570766"/>
            <a:ext cx="5154930" cy="2009438"/>
          </a:xfrm>
          <a:prstGeom prst="rect">
            <a:avLst/>
          </a:prstGeom>
        </p:spPr>
      </p:pic>
    </p:spTree>
    <p:extLst>
      <p:ext uri="{BB962C8B-B14F-4D97-AF65-F5344CB8AC3E}">
        <p14:creationId xmlns:p14="http://schemas.microsoft.com/office/powerpoint/2010/main" val="3074442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B9D5AF-908A-969E-2514-CD06381CD9C9}"/>
              </a:ext>
            </a:extLst>
          </p:cNvPr>
          <p:cNvSpPr>
            <a:spLocks noGrp="1"/>
          </p:cNvSpPr>
          <p:nvPr>
            <p:ph idx="1"/>
          </p:nvPr>
        </p:nvSpPr>
        <p:spPr>
          <a:xfrm>
            <a:off x="838200" y="550606"/>
            <a:ext cx="10515600" cy="5626357"/>
          </a:xfrm>
        </p:spPr>
        <p:txBody>
          <a:bodyPr/>
          <a:lstStyle/>
          <a:p>
            <a:pPr marL="0" indent="0">
              <a:buNone/>
            </a:pPr>
            <a:r>
              <a:rPr lang="en-US" sz="1800" b="1" dirty="0">
                <a:effectLst/>
                <a:latin typeface="Times New Roman" panose="02020603050405020304" pitchFamily="18" charset="0"/>
                <a:ea typeface="Times New Roman" panose="02020603050405020304" pitchFamily="18" charset="0"/>
              </a:rPr>
              <a:t>Period of the oscillator (T)</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We have F = ma and also F = -</a:t>
            </a:r>
            <a:r>
              <a:rPr lang="en-US" sz="1800" dirty="0" err="1">
                <a:effectLst/>
                <a:latin typeface="Times New Roman" panose="02020603050405020304" pitchFamily="18" charset="0"/>
                <a:ea typeface="Times New Roman" panose="02020603050405020304" pitchFamily="18" charset="0"/>
              </a:rPr>
              <a:t>ky.</a:t>
            </a:r>
            <a:r>
              <a:rPr lang="en-US" sz="1800" dirty="0">
                <a:effectLst/>
                <a:latin typeface="Times New Roman" panose="02020603050405020304" pitchFamily="18" charset="0"/>
                <a:ea typeface="Times New Roman" panose="02020603050405020304" pitchFamily="18" charset="0"/>
              </a:rPr>
              <a:t> </a:t>
            </a:r>
          </a:p>
          <a:p>
            <a:pPr marL="0" indent="0">
              <a:buNone/>
            </a:pPr>
            <a:r>
              <a:rPr lang="en-US" sz="1800" dirty="0">
                <a:effectLst/>
                <a:latin typeface="Times New Roman" panose="02020603050405020304" pitchFamily="18" charset="0"/>
                <a:ea typeface="Times New Roman" panose="02020603050405020304" pitchFamily="18" charset="0"/>
              </a:rPr>
              <a:t>At equilibrium, magnitude of restoring force is equal to weight of hanging mass. </a:t>
            </a:r>
          </a:p>
          <a:p>
            <a:pPr marL="0" indent="0">
              <a:buNone/>
            </a:pPr>
            <a:r>
              <a:rPr lang="en-US" sz="1800" dirty="0" err="1">
                <a:effectLst/>
                <a:latin typeface="Times New Roman" panose="02020603050405020304" pitchFamily="18" charset="0"/>
                <a:ea typeface="Times New Roman" panose="02020603050405020304" pitchFamily="18" charset="0"/>
              </a:rPr>
              <a:t>i.e</a:t>
            </a:r>
            <a:r>
              <a:rPr lang="en-US" sz="1800" dirty="0">
                <a:effectLst/>
                <a:latin typeface="Times New Roman" panose="02020603050405020304" pitchFamily="18" charset="0"/>
                <a:ea typeface="Times New Roman" panose="02020603050405020304" pitchFamily="18" charset="0"/>
              </a:rPr>
              <a:t>, ma = </a:t>
            </a:r>
            <a:r>
              <a:rPr lang="en-US" sz="1800" dirty="0" err="1">
                <a:effectLst/>
                <a:latin typeface="Times New Roman" panose="02020603050405020304" pitchFamily="18" charset="0"/>
                <a:ea typeface="Times New Roman" panose="02020603050405020304" pitchFamily="18" charset="0"/>
              </a:rPr>
              <a:t>ky</a:t>
            </a:r>
            <a:endParaRPr lang="en-IN" sz="1800" dirty="0">
              <a:effectLst/>
              <a:latin typeface="Times New Roman" panose="02020603050405020304" pitchFamily="18" charset="0"/>
              <a:ea typeface="Times New Roman" panose="02020603050405020304" pitchFamily="18" charset="0"/>
            </a:endParaRPr>
          </a:p>
          <a:p>
            <a:endParaRPr lang="en-IN" dirty="0"/>
          </a:p>
        </p:txBody>
      </p:sp>
      <p:graphicFrame>
        <p:nvGraphicFramePr>
          <p:cNvPr id="12" name="Object 11">
            <a:extLst>
              <a:ext uri="{FF2B5EF4-FFF2-40B4-BE49-F238E27FC236}">
                <a16:creationId xmlns:a16="http://schemas.microsoft.com/office/drawing/2014/main" id="{DB5A3F0A-CF75-0B04-4B72-2FF679803076}"/>
              </a:ext>
            </a:extLst>
          </p:cNvPr>
          <p:cNvGraphicFramePr>
            <a:graphicFrameLocks noChangeAspect="1"/>
          </p:cNvGraphicFramePr>
          <p:nvPr>
            <p:extLst>
              <p:ext uri="{D42A27DB-BD31-4B8C-83A1-F6EECF244321}">
                <p14:modId xmlns:p14="http://schemas.microsoft.com/office/powerpoint/2010/main" val="1955685687"/>
              </p:ext>
            </p:extLst>
          </p:nvPr>
        </p:nvGraphicFramePr>
        <p:xfrm>
          <a:off x="919009" y="2129709"/>
          <a:ext cx="3529174" cy="525001"/>
        </p:xfrm>
        <a:graphic>
          <a:graphicData uri="http://schemas.openxmlformats.org/presentationml/2006/ole">
            <mc:AlternateContent xmlns:mc="http://schemas.openxmlformats.org/markup-compatibility/2006">
              <mc:Choice xmlns:v="urn:schemas-microsoft-com:vml" Requires="v">
                <p:oleObj name="Equation" r:id="rId2" imgW="2113661" imgH="314731" progId="Equation.DSMT4">
                  <p:embed/>
                </p:oleObj>
              </mc:Choice>
              <mc:Fallback>
                <p:oleObj name="Equation" r:id="rId2" imgW="2113661" imgH="314731" progId="Equation.DSMT4">
                  <p:embed/>
                  <p:pic>
                    <p:nvPicPr>
                      <p:cNvPr id="0" name=""/>
                      <p:cNvPicPr/>
                      <p:nvPr/>
                    </p:nvPicPr>
                    <p:blipFill>
                      <a:blip r:embed="rId3"/>
                      <a:stretch>
                        <a:fillRect/>
                      </a:stretch>
                    </p:blipFill>
                    <p:spPr>
                      <a:xfrm>
                        <a:off x="919009" y="2129709"/>
                        <a:ext cx="3529174" cy="525001"/>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0B9102C1-7766-8E31-7220-CE68AFA39627}"/>
              </a:ext>
            </a:extLst>
          </p:cNvPr>
          <p:cNvGraphicFramePr>
            <a:graphicFrameLocks noChangeAspect="1"/>
          </p:cNvGraphicFramePr>
          <p:nvPr>
            <p:extLst>
              <p:ext uri="{D42A27DB-BD31-4B8C-83A1-F6EECF244321}">
                <p14:modId xmlns:p14="http://schemas.microsoft.com/office/powerpoint/2010/main" val="2966500846"/>
              </p:ext>
            </p:extLst>
          </p:nvPr>
        </p:nvGraphicFramePr>
        <p:xfrm>
          <a:off x="2176463" y="2757488"/>
          <a:ext cx="4362450" cy="2376487"/>
        </p:xfrm>
        <a:graphic>
          <a:graphicData uri="http://schemas.openxmlformats.org/presentationml/2006/ole">
            <mc:AlternateContent xmlns:mc="http://schemas.openxmlformats.org/markup-compatibility/2006">
              <mc:Choice xmlns:v="urn:schemas-microsoft-com:vml" Requires="v">
                <p:oleObj name="Equation" r:id="rId4" imgW="2984400" imgH="1625400" progId="Equation.DSMT4">
                  <p:embed/>
                </p:oleObj>
              </mc:Choice>
              <mc:Fallback>
                <p:oleObj name="Equation" r:id="rId4" imgW="2984400" imgH="1625400" progId="Equation.DSMT4">
                  <p:embed/>
                  <p:pic>
                    <p:nvPicPr>
                      <p:cNvPr id="0" name=""/>
                      <p:cNvPicPr/>
                      <p:nvPr/>
                    </p:nvPicPr>
                    <p:blipFill>
                      <a:blip r:embed="rId5"/>
                      <a:stretch>
                        <a:fillRect/>
                      </a:stretch>
                    </p:blipFill>
                    <p:spPr>
                      <a:xfrm>
                        <a:off x="2176463" y="2757488"/>
                        <a:ext cx="4362450" cy="2376487"/>
                      </a:xfrm>
                      <a:prstGeom prst="rect">
                        <a:avLst/>
                      </a:prstGeom>
                    </p:spPr>
                  </p:pic>
                </p:oleObj>
              </mc:Fallback>
            </mc:AlternateContent>
          </a:graphicData>
        </a:graphic>
      </p:graphicFrame>
    </p:spTree>
    <p:extLst>
      <p:ext uri="{BB962C8B-B14F-4D97-AF65-F5344CB8AC3E}">
        <p14:creationId xmlns:p14="http://schemas.microsoft.com/office/powerpoint/2010/main" val="296617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AD7EE-A75F-2488-6FFA-5C4A64F65FA9}"/>
              </a:ext>
            </a:extLst>
          </p:cNvPr>
          <p:cNvSpPr>
            <a:spLocks noGrp="1"/>
          </p:cNvSpPr>
          <p:nvPr>
            <p:ph type="title"/>
          </p:nvPr>
        </p:nvSpPr>
        <p:spPr>
          <a:xfrm>
            <a:off x="838200" y="365126"/>
            <a:ext cx="10515600" cy="315912"/>
          </a:xfrm>
        </p:spPr>
        <p:txBody>
          <a:bodyPr>
            <a:noAutofit/>
          </a:bodyPr>
          <a:lstStyle/>
          <a:p>
            <a:br>
              <a:rPr lang="en-IN" sz="2000" b="0" i="0" u="none" strike="noStrike" baseline="0" dirty="0">
                <a:solidFill>
                  <a:srgbClr val="000000"/>
                </a:solidFill>
                <a:latin typeface="Times New Roman" panose="02020603050405020304" pitchFamily="18" charset="0"/>
              </a:rPr>
            </a:br>
            <a:r>
              <a:rPr lang="en-US" sz="2000" b="1" i="0" u="none" strike="noStrike" baseline="0" dirty="0">
                <a:latin typeface="Times New Roman" panose="02020603050405020304" pitchFamily="18" charset="0"/>
              </a:rPr>
              <a:t>Spring Constant in Series and Parallel combination Springs in Series </a:t>
            </a:r>
            <a:endParaRPr lang="en-IN" sz="4800" dirty="0"/>
          </a:p>
        </p:txBody>
      </p:sp>
      <p:sp>
        <p:nvSpPr>
          <p:cNvPr id="3" name="Content Placeholder 2">
            <a:extLst>
              <a:ext uri="{FF2B5EF4-FFF2-40B4-BE49-F238E27FC236}">
                <a16:creationId xmlns:a16="http://schemas.microsoft.com/office/drawing/2014/main" id="{9DB4BEEF-5B30-3A13-F79E-E3088B58B745}"/>
              </a:ext>
            </a:extLst>
          </p:cNvPr>
          <p:cNvSpPr>
            <a:spLocks noGrp="1"/>
          </p:cNvSpPr>
          <p:nvPr>
            <p:ph idx="1"/>
          </p:nvPr>
        </p:nvSpPr>
        <p:spPr>
          <a:xfrm>
            <a:off x="838200" y="963561"/>
            <a:ext cx="10515600" cy="5213402"/>
          </a:xfrm>
        </p:spPr>
        <p:txBody>
          <a:bodyPr>
            <a:normAutofit/>
          </a:bodyPr>
          <a:lstStyle/>
          <a:p>
            <a:pPr marL="0" indent="0" algn="l">
              <a:buNone/>
            </a:pPr>
            <a:r>
              <a:rPr lang="en-IN" sz="1800" dirty="0">
                <a:latin typeface="Times New Roman" panose="02020603050405020304" pitchFamily="18" charset="0"/>
                <a:cs typeface="Times New Roman" panose="02020603050405020304" pitchFamily="18" charset="0"/>
              </a:rPr>
              <a:t>Consider two springs </a:t>
            </a:r>
            <a:r>
              <a:rPr lang="en-IN" sz="1800" b="0" i="0" u="none" strike="noStrike" baseline="0" dirty="0">
                <a:latin typeface="Times New Roman" panose="02020603050405020304" pitchFamily="18" charset="0"/>
                <a:cs typeface="Times New Roman" panose="02020603050405020304" pitchFamily="18" charset="0"/>
              </a:rPr>
              <a:t>K1 and K2 be connected in series and a mass ‘m’ to the lower end of the bottom most spring.</a:t>
            </a:r>
          </a:p>
          <a:p>
            <a:pPr marL="0" indent="0" algn="l">
              <a:buNone/>
            </a:pPr>
            <a:r>
              <a:rPr lang="en-IN" sz="1800" dirty="0">
                <a:latin typeface="Times New Roman" panose="02020603050405020304" pitchFamily="18" charset="0"/>
                <a:cs typeface="Times New Roman" panose="02020603050405020304" pitchFamily="18" charset="0"/>
              </a:rPr>
              <a:t>   Let ‘y’ is the displacement of mass m at any time when mass ‘m’ is pulled down and</a:t>
            </a:r>
          </a:p>
          <a:p>
            <a:pPr marL="0" indent="0" algn="l">
              <a:buNone/>
            </a:pPr>
            <a:r>
              <a:rPr lang="en-IN" sz="1800" dirty="0">
                <a:latin typeface="Times New Roman" panose="02020603050405020304" pitchFamily="18" charset="0"/>
                <a:cs typeface="Times New Roman" panose="02020603050405020304" pitchFamily="18" charset="0"/>
              </a:rPr>
              <a:t>   released.</a:t>
            </a:r>
          </a:p>
          <a:p>
            <a:pPr marL="0" indent="0" algn="l">
              <a:buNone/>
            </a:pPr>
            <a:r>
              <a:rPr lang="en-IN" sz="1800" b="0" i="0" u="none" strike="noStrike" baseline="0" dirty="0">
                <a:latin typeface="Times New Roman" panose="02020603050405020304" pitchFamily="18" charset="0"/>
                <a:cs typeface="Times New Roman" panose="02020603050405020304" pitchFamily="18" charset="0"/>
              </a:rPr>
              <a:t>L</a:t>
            </a:r>
            <a:r>
              <a:rPr lang="en-IN" sz="1800" dirty="0">
                <a:latin typeface="Times New Roman" panose="02020603050405020304" pitchFamily="18" charset="0"/>
                <a:cs typeface="Times New Roman" panose="02020603050405020304" pitchFamily="18" charset="0"/>
              </a:rPr>
              <a:t>et y1 and y2 be the extension of two springs</a:t>
            </a:r>
          </a:p>
          <a:p>
            <a:pPr marL="0" indent="0" algn="l">
              <a:buNone/>
            </a:pPr>
            <a:r>
              <a:rPr lang="en-IN" sz="1800" b="0" i="0" u="none" strike="noStrike" baseline="0" dirty="0">
                <a:latin typeface="Times New Roman" panose="02020603050405020304" pitchFamily="18" charset="0"/>
                <a:cs typeface="Times New Roman" panose="02020603050405020304" pitchFamily="18" charset="0"/>
              </a:rPr>
              <a:t>The total extension of the spring system is </a:t>
            </a:r>
          </a:p>
          <a:p>
            <a:pPr marL="0" indent="0" algn="l">
              <a:buNone/>
            </a:pPr>
            <a:endParaRPr lang="en-IN" sz="1800" dirty="0">
              <a:latin typeface="Times New Roman" panose="02020603050405020304" pitchFamily="18" charset="0"/>
              <a:cs typeface="Times New Roman" panose="02020603050405020304" pitchFamily="18" charset="0"/>
            </a:endParaRPr>
          </a:p>
          <a:p>
            <a:pPr marL="0" indent="0" algn="l">
              <a:buNone/>
            </a:pPr>
            <a:r>
              <a:rPr lang="en-IN" sz="1800" dirty="0">
                <a:latin typeface="Times New Roman" panose="02020603050405020304" pitchFamily="18" charset="0"/>
                <a:cs typeface="Times New Roman" panose="02020603050405020304" pitchFamily="18" charset="0"/>
              </a:rPr>
              <a:t>In series restoring force in each spring is same.</a:t>
            </a:r>
          </a:p>
          <a:p>
            <a:pPr marL="0" indent="0" algn="l">
              <a:buNone/>
            </a:pPr>
            <a:r>
              <a:rPr lang="en-IN" sz="1800" b="0" i="0" u="none" strike="noStrike" baseline="0" dirty="0">
                <a:latin typeface="Times New Roman" panose="02020603050405020304" pitchFamily="18" charset="0"/>
                <a:cs typeface="Times New Roman" panose="02020603050405020304" pitchFamily="18" charset="0"/>
              </a:rPr>
              <a:t>Then </a:t>
            </a:r>
          </a:p>
          <a:p>
            <a:pPr marL="0" indent="0" algn="l">
              <a:buNone/>
            </a:pPr>
            <a:endParaRPr lang="en-IN" sz="1800" b="0" i="0" u="none" strike="noStrike" baseline="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BD3CFEA-0768-8FB2-DA90-651C6ABAA977}"/>
              </a:ext>
            </a:extLst>
          </p:cNvPr>
          <p:cNvPicPr>
            <a:picLocks noChangeAspect="1"/>
          </p:cNvPicPr>
          <p:nvPr/>
        </p:nvPicPr>
        <p:blipFill>
          <a:blip r:embed="rId2"/>
          <a:stretch>
            <a:fillRect/>
          </a:stretch>
        </p:blipFill>
        <p:spPr>
          <a:xfrm>
            <a:off x="9158402" y="1388911"/>
            <a:ext cx="1973464" cy="3478057"/>
          </a:xfrm>
          <a:prstGeom prst="rect">
            <a:avLst/>
          </a:prstGeom>
        </p:spPr>
      </p:pic>
      <p:pic>
        <p:nvPicPr>
          <p:cNvPr id="4" name="Picture 3">
            <a:extLst>
              <a:ext uri="{FF2B5EF4-FFF2-40B4-BE49-F238E27FC236}">
                <a16:creationId xmlns:a16="http://schemas.microsoft.com/office/drawing/2014/main" id="{0F912E94-E2D5-44BE-ED2F-2D2EC174C9FB}"/>
              </a:ext>
            </a:extLst>
          </p:cNvPr>
          <p:cNvPicPr>
            <a:picLocks noChangeAspect="1"/>
          </p:cNvPicPr>
          <p:nvPr/>
        </p:nvPicPr>
        <p:blipFill>
          <a:blip r:embed="rId3"/>
          <a:stretch>
            <a:fillRect/>
          </a:stretch>
        </p:blipFill>
        <p:spPr>
          <a:xfrm>
            <a:off x="2272870" y="3144052"/>
            <a:ext cx="1089762" cy="370337"/>
          </a:xfrm>
          <a:prstGeom prst="rect">
            <a:avLst/>
          </a:prstGeom>
        </p:spPr>
      </p:pic>
      <p:pic>
        <p:nvPicPr>
          <p:cNvPr id="6" name="Picture 5">
            <a:extLst>
              <a:ext uri="{FF2B5EF4-FFF2-40B4-BE49-F238E27FC236}">
                <a16:creationId xmlns:a16="http://schemas.microsoft.com/office/drawing/2014/main" id="{242875F0-164E-246E-788A-6A62135C8B84}"/>
              </a:ext>
            </a:extLst>
          </p:cNvPr>
          <p:cNvPicPr>
            <a:picLocks noChangeAspect="1"/>
          </p:cNvPicPr>
          <p:nvPr/>
        </p:nvPicPr>
        <p:blipFill>
          <a:blip r:embed="rId4"/>
          <a:stretch>
            <a:fillRect/>
          </a:stretch>
        </p:blipFill>
        <p:spPr>
          <a:xfrm>
            <a:off x="1474539" y="3796912"/>
            <a:ext cx="1343212" cy="466790"/>
          </a:xfrm>
          <a:prstGeom prst="rect">
            <a:avLst/>
          </a:prstGeom>
        </p:spPr>
      </p:pic>
      <p:pic>
        <p:nvPicPr>
          <p:cNvPr id="7" name="Picture 6">
            <a:extLst>
              <a:ext uri="{FF2B5EF4-FFF2-40B4-BE49-F238E27FC236}">
                <a16:creationId xmlns:a16="http://schemas.microsoft.com/office/drawing/2014/main" id="{56AA99C1-E70E-5103-F2BF-DF8C1C2573DB}"/>
              </a:ext>
            </a:extLst>
          </p:cNvPr>
          <p:cNvPicPr>
            <a:picLocks noChangeAspect="1"/>
          </p:cNvPicPr>
          <p:nvPr/>
        </p:nvPicPr>
        <p:blipFill>
          <a:blip r:embed="rId5"/>
          <a:stretch>
            <a:fillRect/>
          </a:stretch>
        </p:blipFill>
        <p:spPr>
          <a:xfrm>
            <a:off x="723150" y="4309403"/>
            <a:ext cx="5372850" cy="2124371"/>
          </a:xfrm>
          <a:prstGeom prst="rect">
            <a:avLst/>
          </a:prstGeom>
        </p:spPr>
      </p:pic>
    </p:spTree>
    <p:extLst>
      <p:ext uri="{BB962C8B-B14F-4D97-AF65-F5344CB8AC3E}">
        <p14:creationId xmlns:p14="http://schemas.microsoft.com/office/powerpoint/2010/main" val="235898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CFBF3-B717-7946-0F5F-B4E4E60DF2B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C32E1B8-7010-47C2-3B33-3478D48D244E}"/>
              </a:ext>
            </a:extLst>
          </p:cNvPr>
          <p:cNvSpPr>
            <a:spLocks noGrp="1"/>
          </p:cNvSpPr>
          <p:nvPr>
            <p:ph idx="1"/>
          </p:nvPr>
        </p:nvSpPr>
        <p:spPr/>
        <p:txBody>
          <a:bodyPr/>
          <a:lstStyle/>
          <a:p>
            <a:endParaRPr lang="en-IN" dirty="0"/>
          </a:p>
          <a:p>
            <a:endParaRPr lang="en-IN" dirty="0"/>
          </a:p>
          <a:p>
            <a:endParaRPr lang="en-IN" dirty="0"/>
          </a:p>
          <a:p>
            <a:endParaRPr lang="en-IN" dirty="0"/>
          </a:p>
        </p:txBody>
      </p:sp>
      <p:pic>
        <p:nvPicPr>
          <p:cNvPr id="4" name="Picture 3">
            <a:extLst>
              <a:ext uri="{FF2B5EF4-FFF2-40B4-BE49-F238E27FC236}">
                <a16:creationId xmlns:a16="http://schemas.microsoft.com/office/drawing/2014/main" id="{5C75FC0D-B759-6FE1-AE76-8DF77AD35D0D}"/>
              </a:ext>
            </a:extLst>
          </p:cNvPr>
          <p:cNvPicPr>
            <a:picLocks noChangeAspect="1"/>
          </p:cNvPicPr>
          <p:nvPr/>
        </p:nvPicPr>
        <p:blipFill>
          <a:blip r:embed="rId2"/>
          <a:stretch>
            <a:fillRect/>
          </a:stretch>
        </p:blipFill>
        <p:spPr>
          <a:xfrm>
            <a:off x="637413" y="1690688"/>
            <a:ext cx="5458587" cy="2876951"/>
          </a:xfrm>
          <a:prstGeom prst="rect">
            <a:avLst/>
          </a:prstGeom>
        </p:spPr>
      </p:pic>
    </p:spTree>
    <p:extLst>
      <p:ext uri="{BB962C8B-B14F-4D97-AF65-F5344CB8AC3E}">
        <p14:creationId xmlns:p14="http://schemas.microsoft.com/office/powerpoint/2010/main" val="3405539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60B69-D55C-CD13-B3AA-01620E140E2C}"/>
              </a:ext>
            </a:extLst>
          </p:cNvPr>
          <p:cNvSpPr>
            <a:spLocks noGrp="1"/>
          </p:cNvSpPr>
          <p:nvPr>
            <p:ph type="title"/>
          </p:nvPr>
        </p:nvSpPr>
        <p:spPr>
          <a:xfrm>
            <a:off x="838200" y="365126"/>
            <a:ext cx="10515600" cy="529610"/>
          </a:xfrm>
        </p:spPr>
        <p:txBody>
          <a:bodyPr>
            <a:normAutofit/>
          </a:bodyPr>
          <a:lstStyle/>
          <a:p>
            <a:r>
              <a:rPr lang="en-IN" sz="2800" b="1" dirty="0">
                <a:latin typeface="Times New Roman" panose="02020603050405020304" pitchFamily="18" charset="0"/>
                <a:cs typeface="Times New Roman" panose="02020603050405020304" pitchFamily="18" charset="0"/>
              </a:rPr>
              <a:t>Springs in Parallel</a:t>
            </a:r>
          </a:p>
        </p:txBody>
      </p:sp>
      <p:sp>
        <p:nvSpPr>
          <p:cNvPr id="3" name="Content Placeholder 2">
            <a:extLst>
              <a:ext uri="{FF2B5EF4-FFF2-40B4-BE49-F238E27FC236}">
                <a16:creationId xmlns:a16="http://schemas.microsoft.com/office/drawing/2014/main" id="{167F0225-1FA2-FD9C-4D67-60DFF302E61F}"/>
              </a:ext>
            </a:extLst>
          </p:cNvPr>
          <p:cNvSpPr>
            <a:spLocks noGrp="1"/>
          </p:cNvSpPr>
          <p:nvPr>
            <p:ph idx="1"/>
          </p:nvPr>
        </p:nvSpPr>
        <p:spPr>
          <a:xfrm>
            <a:off x="838200" y="894736"/>
            <a:ext cx="10515600" cy="5282227"/>
          </a:xfrm>
        </p:spPr>
        <p:txBody>
          <a:bodyPr/>
          <a:lstStyle/>
          <a:p>
            <a:pPr marL="0" indent="0" algn="just">
              <a:buNone/>
            </a:pPr>
            <a:r>
              <a:rPr lang="en-US" sz="2400" b="0" i="0" u="none" strike="noStrike" baseline="0" dirty="0">
                <a:latin typeface="Times New Roman" panose="02020603050405020304" pitchFamily="18" charset="0"/>
              </a:rPr>
              <a:t>Consider two springs A and B of force constants K1 and K2 be connected in parallel and a mass ‘m’ is attached at the lower end as shown in the figure 4. Let mass ‘m’ be pulled a little and released. Let ‘y’ be the displacement of mass ‘m’ from equilibrium position. Let F1 and F2 be the restoring forces developed in springs A and B respectively. </a:t>
            </a:r>
          </a:p>
          <a:p>
            <a:pPr marL="0" indent="0" algn="just">
              <a:buNone/>
            </a:pPr>
            <a:endParaRPr lang="en-IN" dirty="0"/>
          </a:p>
        </p:txBody>
      </p:sp>
      <p:pic>
        <p:nvPicPr>
          <p:cNvPr id="5" name="Picture 4">
            <a:extLst>
              <a:ext uri="{FF2B5EF4-FFF2-40B4-BE49-F238E27FC236}">
                <a16:creationId xmlns:a16="http://schemas.microsoft.com/office/drawing/2014/main" id="{66F95CB5-FC0B-C5DE-F9C6-2DA661F8877F}"/>
              </a:ext>
            </a:extLst>
          </p:cNvPr>
          <p:cNvPicPr>
            <a:picLocks noChangeAspect="1"/>
          </p:cNvPicPr>
          <p:nvPr/>
        </p:nvPicPr>
        <p:blipFill>
          <a:blip r:embed="rId2"/>
          <a:stretch>
            <a:fillRect/>
          </a:stretch>
        </p:blipFill>
        <p:spPr>
          <a:xfrm>
            <a:off x="9295004" y="3131201"/>
            <a:ext cx="2711097" cy="3466243"/>
          </a:xfrm>
          <a:prstGeom prst="rect">
            <a:avLst/>
          </a:prstGeom>
        </p:spPr>
      </p:pic>
      <p:pic>
        <p:nvPicPr>
          <p:cNvPr id="6" name="Picture 5">
            <a:extLst>
              <a:ext uri="{FF2B5EF4-FFF2-40B4-BE49-F238E27FC236}">
                <a16:creationId xmlns:a16="http://schemas.microsoft.com/office/drawing/2014/main" id="{6901FABC-11B1-FA0E-8E73-E6C7A5D0974B}"/>
              </a:ext>
            </a:extLst>
          </p:cNvPr>
          <p:cNvPicPr>
            <a:picLocks noChangeAspect="1"/>
          </p:cNvPicPr>
          <p:nvPr/>
        </p:nvPicPr>
        <p:blipFill>
          <a:blip r:embed="rId3"/>
          <a:stretch>
            <a:fillRect/>
          </a:stretch>
        </p:blipFill>
        <p:spPr>
          <a:xfrm>
            <a:off x="915505" y="2629489"/>
            <a:ext cx="4698715" cy="1944545"/>
          </a:xfrm>
          <a:prstGeom prst="rect">
            <a:avLst/>
          </a:prstGeom>
        </p:spPr>
      </p:pic>
      <p:pic>
        <p:nvPicPr>
          <p:cNvPr id="7" name="Picture 6">
            <a:extLst>
              <a:ext uri="{FF2B5EF4-FFF2-40B4-BE49-F238E27FC236}">
                <a16:creationId xmlns:a16="http://schemas.microsoft.com/office/drawing/2014/main" id="{5490CDDC-A058-E81C-73F7-790CC81E8F11}"/>
              </a:ext>
            </a:extLst>
          </p:cNvPr>
          <p:cNvPicPr>
            <a:picLocks noChangeAspect="1"/>
          </p:cNvPicPr>
          <p:nvPr/>
        </p:nvPicPr>
        <p:blipFill>
          <a:blip r:embed="rId4"/>
          <a:stretch>
            <a:fillRect/>
          </a:stretch>
        </p:blipFill>
        <p:spPr>
          <a:xfrm>
            <a:off x="915505" y="4794036"/>
            <a:ext cx="4948188" cy="1514751"/>
          </a:xfrm>
          <a:prstGeom prst="rect">
            <a:avLst/>
          </a:prstGeom>
        </p:spPr>
      </p:pic>
    </p:spTree>
    <p:extLst>
      <p:ext uri="{BB962C8B-B14F-4D97-AF65-F5344CB8AC3E}">
        <p14:creationId xmlns:p14="http://schemas.microsoft.com/office/powerpoint/2010/main" val="3075042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3273B-FE12-DB46-0373-6C64C42782DD}"/>
              </a:ext>
            </a:extLst>
          </p:cNvPr>
          <p:cNvSpPr>
            <a:spLocks noGrp="1"/>
          </p:cNvSpPr>
          <p:nvPr>
            <p:ph type="title"/>
          </p:nvPr>
        </p:nvSpPr>
        <p:spPr>
          <a:xfrm>
            <a:off x="838200" y="365125"/>
            <a:ext cx="10515600" cy="559107"/>
          </a:xfrm>
        </p:spPr>
        <p:txBody>
          <a:bodyPr>
            <a:normAutofit/>
          </a:bodyPr>
          <a:lstStyle/>
          <a:p>
            <a:r>
              <a:rPr lang="en-US" sz="2400" dirty="0">
                <a:effectLst/>
                <a:latin typeface="Times New Roman" panose="02020603050405020304" pitchFamily="18" charset="0"/>
                <a:ea typeface="Times New Roman" panose="02020603050405020304" pitchFamily="18" charset="0"/>
              </a:rPr>
              <a:t>T</a:t>
            </a:r>
            <a:r>
              <a:rPr lang="en-US" sz="2400" b="1" dirty="0">
                <a:effectLst/>
                <a:latin typeface="Times New Roman" panose="02020603050405020304" pitchFamily="18" charset="0"/>
                <a:ea typeface="Times New Roman" panose="02020603050405020304" pitchFamily="18" charset="0"/>
              </a:rPr>
              <a:t>orsion Pendulum:</a:t>
            </a:r>
            <a:endParaRPr lang="en-IN" sz="5400" dirty="0"/>
          </a:p>
        </p:txBody>
      </p:sp>
      <p:sp>
        <p:nvSpPr>
          <p:cNvPr id="3" name="Content Placeholder 2">
            <a:extLst>
              <a:ext uri="{FF2B5EF4-FFF2-40B4-BE49-F238E27FC236}">
                <a16:creationId xmlns:a16="http://schemas.microsoft.com/office/drawing/2014/main" id="{64A158E2-061B-4D02-9D87-6CECBB149FDA}"/>
              </a:ext>
            </a:extLst>
          </p:cNvPr>
          <p:cNvSpPr>
            <a:spLocks noGrp="1"/>
          </p:cNvSpPr>
          <p:nvPr>
            <p:ph idx="1"/>
          </p:nvPr>
        </p:nvSpPr>
        <p:spPr>
          <a:xfrm>
            <a:off x="838200" y="924232"/>
            <a:ext cx="10515600" cy="5252731"/>
          </a:xfrm>
        </p:spPr>
        <p:txBody>
          <a:bodyPr/>
          <a:lstStyle/>
          <a:p>
            <a:pPr marL="0" indent="0">
              <a:buNone/>
            </a:pPr>
            <a:r>
              <a:rPr lang="en-US" sz="1800" dirty="0">
                <a:effectLst/>
                <a:latin typeface="Times New Roman" panose="02020603050405020304" pitchFamily="18" charset="0"/>
                <a:ea typeface="Times New Roman" panose="02020603050405020304" pitchFamily="18" charset="0"/>
              </a:rPr>
              <a:t>A pendulum in which the oscillations are due to the torsion (or twist) is a torsion pendulum.</a:t>
            </a:r>
          </a:p>
          <a:p>
            <a:pPr marL="0" indent="0">
              <a:buNone/>
            </a:pPr>
            <a:endParaRPr lang="en-IN" dirty="0"/>
          </a:p>
          <a:p>
            <a:pPr marL="0" indent="0">
              <a:buNone/>
            </a:pPr>
            <a:endParaRPr lang="en-IN" dirty="0"/>
          </a:p>
          <a:p>
            <a:pPr marL="0" indent="0">
              <a:buNone/>
            </a:pPr>
            <a:endParaRPr lang="en-IN" dirty="0"/>
          </a:p>
          <a:p>
            <a:r>
              <a:rPr lang="en-US" sz="1800" dirty="0">
                <a:effectLst/>
                <a:latin typeface="Times New Roman" panose="02020603050405020304" pitchFamily="18" charset="0"/>
                <a:ea typeface="Times New Roman" panose="02020603050405020304" pitchFamily="18" charset="0"/>
              </a:rPr>
              <a:t>If θ is the angle of twist in the wire and ‘C’ is the couple per unit twist for the wire,</a:t>
            </a:r>
            <a:r>
              <a:rPr lang="en-IN" sz="1800"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then the restoring couple = </a:t>
            </a:r>
            <a:r>
              <a:rPr lang="en-US" sz="1800" dirty="0" err="1">
                <a:effectLst/>
                <a:latin typeface="Times New Roman" panose="02020603050405020304" pitchFamily="18" charset="0"/>
                <a:ea typeface="Times New Roman" panose="02020603050405020304" pitchFamily="18" charset="0"/>
              </a:rPr>
              <a:t>Cθ</a:t>
            </a:r>
            <a:r>
              <a:rPr lang="en-US" sz="1800"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marL="0" indent="0">
              <a:buNone/>
            </a:pPr>
            <a:r>
              <a:rPr lang="en-US" sz="1800" dirty="0">
                <a:effectLst/>
                <a:latin typeface="Times New Roman" panose="02020603050405020304" pitchFamily="18" charset="0"/>
                <a:ea typeface="Times New Roman" panose="02020603050405020304" pitchFamily="18" charset="0"/>
              </a:rPr>
              <a:t>At any instant, the deflecting couple (Iα)  is equal to the restoring couple, </a:t>
            </a:r>
          </a:p>
          <a:p>
            <a:pPr marL="0" indent="0">
              <a:buNone/>
            </a:pPr>
            <a:r>
              <a:rPr lang="en-US" sz="1800" dirty="0">
                <a:effectLst/>
                <a:latin typeface="Times New Roman" panose="02020603050405020304" pitchFamily="18" charset="0"/>
                <a:ea typeface="Times New Roman" panose="02020603050405020304" pitchFamily="18" charset="0"/>
              </a:rPr>
              <a:t>(where I is the   moment of inertia of the wire about the axis and α is the angular acceleration).</a:t>
            </a:r>
          </a:p>
          <a:p>
            <a:pPr marL="0" indent="0">
              <a:buNone/>
            </a:pPr>
            <a:r>
              <a:rPr lang="en-US" sz="1800" dirty="0">
                <a:effectLst/>
                <a:latin typeface="Times New Roman" panose="02020603050405020304" pitchFamily="18" charset="0"/>
                <a:ea typeface="Times New Roman" panose="02020603050405020304" pitchFamily="18" charset="0"/>
              </a:rPr>
              <a:t> I α= -</a:t>
            </a:r>
            <a:r>
              <a:rPr lang="en-US" sz="1800" dirty="0" err="1">
                <a:effectLst/>
                <a:latin typeface="Times New Roman" panose="02020603050405020304" pitchFamily="18" charset="0"/>
                <a:ea typeface="Times New Roman" panose="02020603050405020304" pitchFamily="18" charset="0"/>
              </a:rPr>
              <a:t>Cθ</a:t>
            </a:r>
            <a:r>
              <a:rPr lang="en-US" sz="1800" dirty="0">
                <a:effectLst/>
                <a:latin typeface="Times New Roman" panose="02020603050405020304" pitchFamily="18" charset="0"/>
                <a:ea typeface="Times New Roman" panose="02020603050405020304" pitchFamily="18" charset="0"/>
              </a:rPr>
              <a:t>  ……………..(1) </a:t>
            </a:r>
            <a:endParaRPr lang="en-IN" sz="1800" dirty="0">
              <a:effectLst/>
              <a:latin typeface="Times New Roman" panose="02020603050405020304" pitchFamily="18" charset="0"/>
              <a:ea typeface="Times New Roman" panose="02020603050405020304" pitchFamily="18" charset="0"/>
            </a:endParaRPr>
          </a:p>
          <a:p>
            <a:pPr marL="0" indent="0">
              <a:buNone/>
            </a:pPr>
            <a:r>
              <a:rPr lang="en-US" sz="1800" dirty="0">
                <a:effectLst/>
                <a:latin typeface="Times New Roman" panose="02020603050405020304" pitchFamily="18" charset="0"/>
                <a:ea typeface="Times New Roman" panose="02020603050405020304" pitchFamily="18" charset="0"/>
              </a:rPr>
              <a:t> α =- (C/I)θ  …..(2)</a:t>
            </a:r>
          </a:p>
          <a:p>
            <a:pPr marL="0" indent="0">
              <a:buNone/>
            </a:pPr>
            <a:endParaRPr lang="en-IN" dirty="0"/>
          </a:p>
          <a:p>
            <a:pPr marL="0" indent="0">
              <a:buNone/>
            </a:pPr>
            <a:endParaRPr lang="en-IN" dirty="0"/>
          </a:p>
          <a:p>
            <a:pPr marL="0" indent="0">
              <a:buNone/>
            </a:pPr>
            <a:endParaRPr lang="en-IN" dirty="0"/>
          </a:p>
        </p:txBody>
      </p:sp>
      <p:pic>
        <p:nvPicPr>
          <p:cNvPr id="6" name="Picture 5">
            <a:extLst>
              <a:ext uri="{FF2B5EF4-FFF2-40B4-BE49-F238E27FC236}">
                <a16:creationId xmlns:a16="http://schemas.microsoft.com/office/drawing/2014/main" id="{D49B896E-A51D-6D77-4207-FCD4EA9D86D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81744" y="1397021"/>
            <a:ext cx="1645285" cy="1586230"/>
          </a:xfrm>
          <a:prstGeom prst="rect">
            <a:avLst/>
          </a:prstGeom>
          <a:noFill/>
          <a:ln>
            <a:noFill/>
          </a:ln>
        </p:spPr>
      </p:pic>
      <p:pic>
        <p:nvPicPr>
          <p:cNvPr id="10" name="Picture 9">
            <a:extLst>
              <a:ext uri="{FF2B5EF4-FFF2-40B4-BE49-F238E27FC236}">
                <a16:creationId xmlns:a16="http://schemas.microsoft.com/office/drawing/2014/main" id="{598B560C-618A-A1D7-75D8-BB8BFDE63D8A}"/>
              </a:ext>
            </a:extLst>
          </p:cNvPr>
          <p:cNvPicPr>
            <a:picLocks noChangeAspect="1"/>
          </p:cNvPicPr>
          <p:nvPr/>
        </p:nvPicPr>
        <p:blipFill>
          <a:blip r:embed="rId3"/>
          <a:stretch>
            <a:fillRect/>
          </a:stretch>
        </p:blipFill>
        <p:spPr>
          <a:xfrm>
            <a:off x="1148735" y="5094043"/>
            <a:ext cx="4368800" cy="480695"/>
          </a:xfrm>
          <a:prstGeom prst="rect">
            <a:avLst/>
          </a:prstGeom>
        </p:spPr>
      </p:pic>
    </p:spTree>
    <p:extLst>
      <p:ext uri="{BB962C8B-B14F-4D97-AF65-F5344CB8AC3E}">
        <p14:creationId xmlns:p14="http://schemas.microsoft.com/office/powerpoint/2010/main" val="2348123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3DEAA-D28B-C4DB-1338-59B176455EF8}"/>
              </a:ext>
            </a:extLst>
          </p:cNvPr>
          <p:cNvSpPr>
            <a:spLocks noGrp="1"/>
          </p:cNvSpPr>
          <p:nvPr>
            <p:ph type="title"/>
          </p:nvPr>
        </p:nvSpPr>
        <p:spPr>
          <a:xfrm>
            <a:off x="838200" y="365125"/>
            <a:ext cx="10515600" cy="627933"/>
          </a:xfrm>
        </p:spPr>
        <p:txBody>
          <a:bodyPr>
            <a:normAutofit/>
          </a:bodyPr>
          <a:lstStyle/>
          <a:p>
            <a:r>
              <a:rPr lang="en-IN" sz="3600" b="1" dirty="0">
                <a:latin typeface="Times New Roman" panose="02020603050405020304" pitchFamily="18" charset="0"/>
                <a:cs typeface="Times New Roman" panose="02020603050405020304" pitchFamily="18" charset="0"/>
              </a:rPr>
              <a:t>Damped oscillation (vibration)</a:t>
            </a:r>
          </a:p>
        </p:txBody>
      </p:sp>
      <p:sp>
        <p:nvSpPr>
          <p:cNvPr id="3" name="Content Placeholder 2">
            <a:extLst>
              <a:ext uri="{FF2B5EF4-FFF2-40B4-BE49-F238E27FC236}">
                <a16:creationId xmlns:a16="http://schemas.microsoft.com/office/drawing/2014/main" id="{8FA66F76-B7A9-0BAD-9F1C-8A83F86D6148}"/>
              </a:ext>
            </a:extLst>
          </p:cNvPr>
          <p:cNvSpPr>
            <a:spLocks noGrp="1"/>
          </p:cNvSpPr>
          <p:nvPr>
            <p:ph idx="1"/>
          </p:nvPr>
        </p:nvSpPr>
        <p:spPr>
          <a:xfrm>
            <a:off x="838200" y="993058"/>
            <a:ext cx="10515600" cy="5183905"/>
          </a:xfrm>
        </p:spPr>
        <p:txBody>
          <a:bodyPr>
            <a:normAutofit/>
          </a:bodyPr>
          <a:lstStyle/>
          <a:p>
            <a:r>
              <a:rPr lang="en-US" sz="2400" dirty="0">
                <a:effectLst/>
                <a:latin typeface="Times New Roman" panose="02020603050405020304" pitchFamily="18" charset="0"/>
                <a:ea typeface="Times New Roman" panose="02020603050405020304" pitchFamily="18" charset="0"/>
              </a:rPr>
              <a:t>The vibrations which are subjected to external opposing force are called damped vibrations.</a:t>
            </a:r>
          </a:p>
          <a:p>
            <a:r>
              <a:rPr lang="en-US" sz="2400" dirty="0">
                <a:effectLst/>
                <a:latin typeface="Times New Roman" panose="02020603050405020304" pitchFamily="18" charset="0"/>
                <a:ea typeface="Times New Roman" panose="02020603050405020304" pitchFamily="18" charset="0"/>
              </a:rPr>
              <a:t>If a body set into vibrations, its amplitude will be continuously decreasing due to friction/resistance</a:t>
            </a:r>
            <a:endParaRPr lang="en-US" sz="3200" dirty="0">
              <a:latin typeface="Times New Roman" panose="02020603050405020304" pitchFamily="18" charset="0"/>
            </a:endParaRPr>
          </a:p>
          <a:p>
            <a:pPr marL="0" indent="0">
              <a:buNone/>
            </a:pPr>
            <a:endParaRPr lang="en-IN" sz="3600" dirty="0"/>
          </a:p>
          <a:p>
            <a:pPr marL="0" indent="0">
              <a:buNone/>
            </a:pPr>
            <a:endParaRPr lang="en-IN" sz="3600" dirty="0"/>
          </a:p>
          <a:p>
            <a:pPr marL="0" indent="0">
              <a:buNone/>
            </a:pPr>
            <a:endParaRPr lang="en-IN" sz="3600" dirty="0"/>
          </a:p>
        </p:txBody>
      </p:sp>
      <p:pic>
        <p:nvPicPr>
          <p:cNvPr id="5" name="Picture 4">
            <a:extLst>
              <a:ext uri="{FF2B5EF4-FFF2-40B4-BE49-F238E27FC236}">
                <a16:creationId xmlns:a16="http://schemas.microsoft.com/office/drawing/2014/main" id="{663634AA-78A0-87F7-A456-92477E14D80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4875" y="2796356"/>
            <a:ext cx="4486275" cy="1619250"/>
          </a:xfrm>
          <a:prstGeom prst="rect">
            <a:avLst/>
          </a:prstGeom>
          <a:noFill/>
          <a:ln>
            <a:noFill/>
          </a:ln>
        </p:spPr>
      </p:pic>
    </p:spTree>
    <p:extLst>
      <p:ext uri="{BB962C8B-B14F-4D97-AF65-F5344CB8AC3E}">
        <p14:creationId xmlns:p14="http://schemas.microsoft.com/office/powerpoint/2010/main" val="2212342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2CB13-F512-713E-046C-D53B476BB69B}"/>
              </a:ext>
            </a:extLst>
          </p:cNvPr>
          <p:cNvSpPr>
            <a:spLocks noGrp="1"/>
          </p:cNvSpPr>
          <p:nvPr>
            <p:ph type="title"/>
          </p:nvPr>
        </p:nvSpPr>
        <p:spPr>
          <a:xfrm>
            <a:off x="838200" y="365125"/>
            <a:ext cx="10515600" cy="470617"/>
          </a:xfrm>
        </p:spPr>
        <p:txBody>
          <a:bodyPr>
            <a:normAutofit fontScale="90000"/>
          </a:bodyPr>
          <a:lstStyle/>
          <a:p>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Differential equation of damped vibrations and solution</a:t>
            </a:r>
            <a:endParaRPr lang="en-IN" sz="6000" dirty="0"/>
          </a:p>
        </p:txBody>
      </p:sp>
      <p:sp>
        <p:nvSpPr>
          <p:cNvPr id="3" name="Content Placeholder 2">
            <a:extLst>
              <a:ext uri="{FF2B5EF4-FFF2-40B4-BE49-F238E27FC236}">
                <a16:creationId xmlns:a16="http://schemas.microsoft.com/office/drawing/2014/main" id="{11B865EA-AE5C-81EB-9DD2-824388D4192E}"/>
              </a:ext>
            </a:extLst>
          </p:cNvPr>
          <p:cNvSpPr>
            <a:spLocks noGrp="1"/>
          </p:cNvSpPr>
          <p:nvPr>
            <p:ph idx="1"/>
          </p:nvPr>
        </p:nvSpPr>
        <p:spPr>
          <a:xfrm>
            <a:off x="838200" y="1012722"/>
            <a:ext cx="10685206" cy="5845277"/>
          </a:xfrm>
        </p:spPr>
        <p:txBody>
          <a:bodyPr/>
          <a:lstStyle/>
          <a:p>
            <a:pPr marL="0" indent="0">
              <a:buNone/>
            </a:pPr>
            <a:r>
              <a:rPr lang="en-US" sz="1800" dirty="0">
                <a:effectLst/>
                <a:latin typeface="Times New Roman" panose="02020603050405020304" pitchFamily="18" charset="0"/>
                <a:ea typeface="Times New Roman" panose="02020603050405020304" pitchFamily="18" charset="0"/>
              </a:rPr>
              <a:t>If y is the displacement of the body from the equilibrium state at any instant of time ‘t’, then </a:t>
            </a:r>
            <a:r>
              <a:rPr lang="en-US" sz="1800" dirty="0" err="1">
                <a:effectLst/>
                <a:latin typeface="Times New Roman" panose="02020603050405020304" pitchFamily="18" charset="0"/>
                <a:ea typeface="Times New Roman" panose="02020603050405020304" pitchFamily="18" charset="0"/>
              </a:rPr>
              <a:t>dy</a:t>
            </a:r>
            <a:r>
              <a:rPr lang="en-US" sz="1800" dirty="0">
                <a:effectLst/>
                <a:latin typeface="Times New Roman" panose="02020603050405020304" pitchFamily="18" charset="0"/>
                <a:ea typeface="Times New Roman" panose="02020603050405020304" pitchFamily="18" charset="0"/>
              </a:rPr>
              <a:t>/dt is the instantaneous velocity and d</a:t>
            </a:r>
            <a:r>
              <a:rPr lang="en-US" sz="1800" baseline="30000" dirty="0">
                <a:effectLst/>
                <a:latin typeface="Times New Roman" panose="02020603050405020304" pitchFamily="18" charset="0"/>
                <a:ea typeface="Times New Roman" panose="02020603050405020304" pitchFamily="18" charset="0"/>
              </a:rPr>
              <a:t>2</a:t>
            </a:r>
            <a:r>
              <a:rPr lang="en-US" sz="1800" dirty="0">
                <a:effectLst/>
                <a:latin typeface="Times New Roman" panose="02020603050405020304" pitchFamily="18" charset="0"/>
                <a:ea typeface="Times New Roman" panose="02020603050405020304" pitchFamily="18" charset="0"/>
              </a:rPr>
              <a:t>y/dt</a:t>
            </a:r>
            <a:r>
              <a:rPr lang="en-US" sz="1800" baseline="30000" dirty="0">
                <a:effectLst/>
                <a:latin typeface="Times New Roman" panose="02020603050405020304" pitchFamily="18" charset="0"/>
                <a:ea typeface="Times New Roman" panose="02020603050405020304" pitchFamily="18" charset="0"/>
              </a:rPr>
              <a:t>2</a:t>
            </a:r>
            <a:r>
              <a:rPr lang="en-US" sz="1800" dirty="0">
                <a:effectLst/>
                <a:latin typeface="Times New Roman" panose="02020603050405020304" pitchFamily="18" charset="0"/>
                <a:ea typeface="Times New Roman" panose="02020603050405020304" pitchFamily="18" charset="0"/>
              </a:rPr>
              <a:t> is the acceleration. </a:t>
            </a:r>
            <a:endParaRPr lang="en-IN" sz="1800" dirty="0">
              <a:effectLst/>
              <a:latin typeface="Times New Roman" panose="02020603050405020304" pitchFamily="18" charset="0"/>
              <a:ea typeface="Times New Roman" panose="02020603050405020304" pitchFamily="18" charset="0"/>
            </a:endParaRPr>
          </a:p>
          <a:p>
            <a:pPr marL="0" indent="0" algn="just">
              <a:buNone/>
            </a:pPr>
            <a:r>
              <a:rPr lang="en-US" sz="1800" dirty="0">
                <a:effectLst/>
                <a:latin typeface="Times New Roman" panose="02020603050405020304" pitchFamily="18" charset="0"/>
                <a:ea typeface="Times New Roman" panose="02020603050405020304" pitchFamily="18" charset="0"/>
              </a:rPr>
              <a:t>At any instant the two forces acting on the body are:</a:t>
            </a:r>
            <a:endParaRPr lang="en-IN" sz="1800" dirty="0">
              <a:effectLst/>
              <a:latin typeface="Times New Roman" panose="02020603050405020304" pitchFamily="18" charset="0"/>
              <a:ea typeface="Times New Roman" panose="02020603050405020304" pitchFamily="18" charset="0"/>
            </a:endParaRPr>
          </a:p>
          <a:p>
            <a:pPr marL="342900" lvl="0" indent="-342900" algn="just">
              <a:buFont typeface="+mj-lt"/>
              <a:buAutoNum type="romanLcPeriod"/>
            </a:pPr>
            <a:r>
              <a:rPr lang="en-US" sz="1800" dirty="0">
                <a:effectLst/>
                <a:latin typeface="Times New Roman" panose="02020603050405020304" pitchFamily="18" charset="0"/>
                <a:ea typeface="Times New Roman" panose="02020603050405020304" pitchFamily="18" charset="0"/>
              </a:rPr>
              <a:t>A restoring force which is proportional to displacement and acts in the opposite </a:t>
            </a:r>
          </a:p>
          <a:p>
            <a:pPr marL="0" lvl="0" indent="0" algn="just">
              <a:buNone/>
            </a:pPr>
            <a:r>
              <a:rPr lang="en-US" sz="1800"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direction, it may be written as</a:t>
            </a:r>
            <a:endParaRPr lang="en-IN" sz="1800" dirty="0">
              <a:effectLst/>
              <a:latin typeface="Times New Roman" panose="02020603050405020304" pitchFamily="18" charset="0"/>
              <a:ea typeface="Times New Roman" panose="02020603050405020304" pitchFamily="18" charset="0"/>
            </a:endParaRPr>
          </a:p>
          <a:p>
            <a:pPr marL="0" indent="0">
              <a:buNone/>
            </a:pPr>
            <a:r>
              <a:rPr lang="en-US" sz="1800" i="1" dirty="0">
                <a:effectLst/>
                <a:latin typeface="Times New Roman" panose="02020603050405020304" pitchFamily="18" charset="0"/>
                <a:ea typeface="Times New Roman" panose="02020603050405020304" pitchFamily="18" charset="0"/>
              </a:rPr>
              <a:t>		</a:t>
            </a:r>
            <a:r>
              <a:rPr lang="en-US" sz="1800" i="1" dirty="0" err="1">
                <a:effectLst/>
                <a:latin typeface="Times New Roman" panose="02020603050405020304" pitchFamily="18" charset="0"/>
                <a:ea typeface="Times New Roman" panose="02020603050405020304" pitchFamily="18" charset="0"/>
              </a:rPr>
              <a:t>F</a:t>
            </a:r>
            <a:r>
              <a:rPr lang="en-US" sz="1800" i="1" baseline="-25000" dirty="0" err="1">
                <a:effectLst/>
                <a:latin typeface="Times New Roman" panose="02020603050405020304" pitchFamily="18" charset="0"/>
                <a:ea typeface="Times New Roman" panose="02020603050405020304" pitchFamily="18" charset="0"/>
              </a:rPr>
              <a:t>restoring</a:t>
            </a:r>
            <a:r>
              <a:rPr lang="en-US" sz="1800" dirty="0">
                <a:effectLst/>
                <a:latin typeface="Times New Roman" panose="02020603050405020304" pitchFamily="18" charset="0"/>
                <a:ea typeface="Times New Roman" panose="02020603050405020304" pitchFamily="18" charset="0"/>
              </a:rPr>
              <a:t>= </a:t>
            </a:r>
            <a:r>
              <a:rPr lang="en-US" sz="1800" i="1" dirty="0">
                <a:effectLst/>
                <a:latin typeface="Times New Roman" panose="02020603050405020304" pitchFamily="18" charset="0"/>
                <a:ea typeface="Times New Roman" panose="02020603050405020304" pitchFamily="18" charset="0"/>
              </a:rPr>
              <a:t>−</a:t>
            </a:r>
            <a:r>
              <a:rPr lang="en-US" sz="1800" i="1" dirty="0" err="1">
                <a:effectLst/>
                <a:latin typeface="Times New Roman" panose="02020603050405020304" pitchFamily="18" charset="0"/>
                <a:ea typeface="Times New Roman" panose="02020603050405020304" pitchFamily="18" charset="0"/>
              </a:rPr>
              <a:t>ky</a:t>
            </a:r>
            <a:r>
              <a:rPr lang="en-US" sz="1800" i="1" dirty="0">
                <a:effectLst/>
                <a:latin typeface="Times New Roman" panose="02020603050405020304" pitchFamily="18" charset="0"/>
                <a:ea typeface="Times New Roman" panose="02020603050405020304" pitchFamily="18" charset="0"/>
              </a:rPr>
              <a:t>     Where k is the spring constant</a:t>
            </a:r>
          </a:p>
          <a:p>
            <a:pPr marL="400050" indent="-400050">
              <a:buAutoNum type="romanLcPeriod" startAt="2"/>
            </a:pPr>
            <a:r>
              <a:rPr lang="en-US" sz="1800" dirty="0">
                <a:effectLst/>
                <a:latin typeface="Times New Roman" panose="02020603050405020304" pitchFamily="18" charset="0"/>
                <a:ea typeface="Times New Roman" panose="02020603050405020304" pitchFamily="18" charset="0"/>
              </a:rPr>
              <a:t>A </a:t>
            </a:r>
            <a:r>
              <a:rPr lang="en-US" sz="1800" i="1" dirty="0">
                <a:effectLst/>
                <a:latin typeface="Times New Roman" panose="02020603050405020304" pitchFamily="18" charset="0"/>
                <a:ea typeface="Times New Roman" panose="02020603050405020304" pitchFamily="18" charset="0"/>
              </a:rPr>
              <a:t>frictional or damping</a:t>
            </a:r>
            <a:r>
              <a:rPr lang="en-US" sz="1800" dirty="0">
                <a:effectLst/>
                <a:latin typeface="Times New Roman" panose="02020603050405020304" pitchFamily="18" charset="0"/>
                <a:ea typeface="Times New Roman" panose="02020603050405020304" pitchFamily="18" charset="0"/>
              </a:rPr>
              <a:t> force which is directly proportional to the velocity of the mass and is opposite to the motion, it may be written as</a:t>
            </a:r>
          </a:p>
          <a:p>
            <a:pPr marL="0" indent="0">
              <a:buNone/>
            </a:pPr>
            <a:r>
              <a:rPr lang="en-US" sz="1800" dirty="0">
                <a:effectLst/>
                <a:latin typeface="Times New Roman" panose="02020603050405020304" pitchFamily="18" charset="0"/>
                <a:ea typeface="Times New Roman" panose="02020603050405020304" pitchFamily="18" charset="0"/>
              </a:rPr>
              <a:t>The net force acting on the oscillator is the summation of the two.</a:t>
            </a:r>
            <a:endParaRPr lang="en-IN" sz="1800" dirty="0">
              <a:effectLst/>
              <a:latin typeface="Times New Roman" panose="02020603050405020304" pitchFamily="18" charset="0"/>
              <a:ea typeface="Times New Roman" panose="02020603050405020304" pitchFamily="18" charset="0"/>
            </a:endParaRPr>
          </a:p>
          <a:p>
            <a:pPr marL="0" indent="0">
              <a:buNone/>
            </a:pPr>
            <a:endParaRPr lang="en-IN" sz="1800" dirty="0">
              <a:effectLst/>
              <a:latin typeface="Times New Roman" panose="02020603050405020304" pitchFamily="18" charset="0"/>
              <a:ea typeface="Times New Roman" panose="02020603050405020304" pitchFamily="18" charset="0"/>
            </a:endParaRPr>
          </a:p>
          <a:p>
            <a:pPr marL="0" indent="0">
              <a:buNone/>
            </a:pPr>
            <a:endParaRPr lang="en-IN" sz="1800" dirty="0">
              <a:latin typeface="Times New Roman" panose="02020603050405020304" pitchFamily="18" charset="0"/>
              <a:ea typeface="Times New Roman" panose="02020603050405020304" pitchFamily="18" charset="0"/>
            </a:endParaRPr>
          </a:p>
          <a:p>
            <a:pPr marL="0" indent="0">
              <a:buNone/>
            </a:pPr>
            <a:endParaRPr lang="en-IN" sz="1800" dirty="0">
              <a:effectLst/>
              <a:latin typeface="Times New Roman" panose="02020603050405020304" pitchFamily="18" charset="0"/>
              <a:ea typeface="Times New Roman" panose="02020603050405020304" pitchFamily="18" charset="0"/>
            </a:endParaRPr>
          </a:p>
          <a:p>
            <a:pPr marL="0" indent="0">
              <a:buNone/>
            </a:pPr>
            <a:endParaRPr lang="en-IN" sz="1800" dirty="0">
              <a:latin typeface="Times New Roman" panose="02020603050405020304" pitchFamily="18" charset="0"/>
              <a:ea typeface="Times New Roman" panose="02020603050405020304" pitchFamily="18" charset="0"/>
            </a:endParaRPr>
          </a:p>
          <a:p>
            <a:pPr marL="0" indent="0">
              <a:buNone/>
            </a:pPr>
            <a:endParaRPr lang="en-IN" sz="1800" dirty="0">
              <a:effectLst/>
              <a:latin typeface="Times New Roman" panose="02020603050405020304" pitchFamily="18" charset="0"/>
              <a:ea typeface="Times New Roman" panose="02020603050405020304" pitchFamily="18" charset="0"/>
            </a:endParaRPr>
          </a:p>
          <a:p>
            <a:pPr marL="0" indent="0">
              <a:buNone/>
            </a:pPr>
            <a:endParaRPr lang="en-IN" sz="1800" dirty="0">
              <a:latin typeface="Times New Roman" panose="02020603050405020304" pitchFamily="18" charset="0"/>
              <a:ea typeface="Times New Roman" panose="02020603050405020304" pitchFamily="18" charset="0"/>
            </a:endParaRPr>
          </a:p>
          <a:p>
            <a:pPr marL="0" indent="0">
              <a:buNone/>
            </a:pPr>
            <a:r>
              <a:rPr lang="en-IN" sz="1800" dirty="0">
                <a:effectLst/>
                <a:latin typeface="Times New Roman" panose="02020603050405020304" pitchFamily="18" charset="0"/>
                <a:ea typeface="Times New Roman" panose="02020603050405020304" pitchFamily="18" charset="0"/>
              </a:rPr>
              <a:t>						This is the </a:t>
            </a:r>
          </a:p>
          <a:p>
            <a:pPr marL="0" indent="0">
              <a:buNone/>
            </a:pPr>
            <a:endParaRPr lang="en-IN" dirty="0"/>
          </a:p>
        </p:txBody>
      </p:sp>
      <p:pic>
        <p:nvPicPr>
          <p:cNvPr id="4" name="Picture 3">
            <a:extLst>
              <a:ext uri="{FF2B5EF4-FFF2-40B4-BE49-F238E27FC236}">
                <a16:creationId xmlns:a16="http://schemas.microsoft.com/office/drawing/2014/main" id="{E5663442-2F0C-3E52-0CBD-84D8E46C01AB}"/>
              </a:ext>
            </a:extLst>
          </p:cNvPr>
          <p:cNvPicPr>
            <a:picLocks noChangeAspect="1"/>
          </p:cNvPicPr>
          <p:nvPr/>
        </p:nvPicPr>
        <p:blipFill>
          <a:blip r:embed="rId2"/>
          <a:stretch>
            <a:fillRect/>
          </a:stretch>
        </p:blipFill>
        <p:spPr>
          <a:xfrm>
            <a:off x="8984024" y="758390"/>
            <a:ext cx="2896004" cy="3296110"/>
          </a:xfrm>
          <a:prstGeom prst="rect">
            <a:avLst/>
          </a:prstGeom>
        </p:spPr>
      </p:pic>
      <p:graphicFrame>
        <p:nvGraphicFramePr>
          <p:cNvPr id="19" name="Object 18">
            <a:extLst>
              <a:ext uri="{FF2B5EF4-FFF2-40B4-BE49-F238E27FC236}">
                <a16:creationId xmlns:a16="http://schemas.microsoft.com/office/drawing/2014/main" id="{A9CCD628-7E52-1196-7743-F49EFF901F7B}"/>
              </a:ext>
            </a:extLst>
          </p:cNvPr>
          <p:cNvGraphicFramePr>
            <a:graphicFrameLocks noChangeAspect="1"/>
          </p:cNvGraphicFramePr>
          <p:nvPr>
            <p:extLst>
              <p:ext uri="{D42A27DB-BD31-4B8C-83A1-F6EECF244321}">
                <p14:modId xmlns:p14="http://schemas.microsoft.com/office/powerpoint/2010/main" val="1490733502"/>
              </p:ext>
            </p:extLst>
          </p:nvPr>
        </p:nvGraphicFramePr>
        <p:xfrm>
          <a:off x="1005708" y="3955923"/>
          <a:ext cx="6024418" cy="2902077"/>
        </p:xfrm>
        <a:graphic>
          <a:graphicData uri="http://schemas.openxmlformats.org/presentationml/2006/ole">
            <mc:AlternateContent xmlns:mc="http://schemas.openxmlformats.org/markup-compatibility/2006">
              <mc:Choice xmlns:v="urn:schemas-microsoft-com:vml" Requires="v">
                <p:oleObj name="Equation" r:id="rId3" imgW="4950587" imgH="2384814" progId="Equation.DSMT4">
                  <p:embed/>
                </p:oleObj>
              </mc:Choice>
              <mc:Fallback>
                <p:oleObj name="Equation" r:id="rId3" imgW="4950587" imgH="2384814" progId="Equation.DSMT4">
                  <p:embed/>
                  <p:pic>
                    <p:nvPicPr>
                      <p:cNvPr id="0" name=""/>
                      <p:cNvPicPr/>
                      <p:nvPr/>
                    </p:nvPicPr>
                    <p:blipFill>
                      <a:blip r:embed="rId4"/>
                      <a:stretch>
                        <a:fillRect/>
                      </a:stretch>
                    </p:blipFill>
                    <p:spPr>
                      <a:xfrm>
                        <a:off x="1005708" y="3955923"/>
                        <a:ext cx="6024418" cy="2902077"/>
                      </a:xfrm>
                      <a:prstGeom prst="rect">
                        <a:avLst/>
                      </a:prstGeom>
                    </p:spPr>
                  </p:pic>
                </p:oleObj>
              </mc:Fallback>
            </mc:AlternateContent>
          </a:graphicData>
        </a:graphic>
      </p:graphicFrame>
    </p:spTree>
    <p:extLst>
      <p:ext uri="{BB962C8B-B14F-4D97-AF65-F5344CB8AC3E}">
        <p14:creationId xmlns:p14="http://schemas.microsoft.com/office/powerpoint/2010/main" val="1246158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94F122-3E79-6EEE-4C98-9FA6D6936488}"/>
              </a:ext>
            </a:extLst>
          </p:cNvPr>
          <p:cNvSpPr>
            <a:spLocks noGrp="1"/>
          </p:cNvSpPr>
          <p:nvPr>
            <p:ph idx="1"/>
          </p:nvPr>
        </p:nvSpPr>
        <p:spPr>
          <a:xfrm>
            <a:off x="285135" y="216310"/>
            <a:ext cx="11068665" cy="5960653"/>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Let       = 2b, and </a:t>
            </a: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Then                            This is the differential equation of second order.   ---- (2)</a:t>
            </a: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In order to solve the equation, let us assume the solution of the form</a:t>
            </a:r>
          </a:p>
          <a:p>
            <a:pPr marL="0" indent="0">
              <a:buNone/>
            </a:pPr>
            <a:r>
              <a:rPr lang="en-IN" sz="2400" dirty="0">
                <a:latin typeface="Times New Roman" panose="02020603050405020304" pitchFamily="18" charset="0"/>
                <a:cs typeface="Times New Roman" panose="02020603050405020304" pitchFamily="18" charset="0"/>
              </a:rPr>
              <a:t>                           --------  (3)</a:t>
            </a:r>
          </a:p>
          <a:p>
            <a:pPr marL="0" indent="0">
              <a:buNone/>
            </a:pPr>
            <a:r>
              <a:rPr lang="en-US" sz="2000" dirty="0">
                <a:effectLst/>
                <a:latin typeface="Times New Roman" panose="02020603050405020304" pitchFamily="18" charset="0"/>
                <a:ea typeface="Times New Roman" panose="02020603050405020304" pitchFamily="18" charset="0"/>
              </a:rPr>
              <a:t>Where A and α are 2 arbitrary constants (variational parameters). Differentiating equation (3) with respect to time t, we have</a:t>
            </a:r>
            <a:endParaRPr lang="en-IN" sz="2000" dirty="0">
              <a:effectLst/>
              <a:latin typeface="Times New Roman" panose="02020603050405020304" pitchFamily="18" charset="0"/>
              <a:ea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r>
              <a:rPr lang="en-US" sz="1800" dirty="0">
                <a:effectLst/>
                <a:latin typeface="Times New Roman" panose="02020603050405020304" pitchFamily="18" charset="0"/>
                <a:ea typeface="Times New Roman" panose="02020603050405020304" pitchFamily="18" charset="0"/>
              </a:rPr>
              <a:t>By substituting these values in equation (2), we have</a:t>
            </a:r>
            <a:endParaRPr lang="en-IN" sz="1800" dirty="0">
              <a:effectLst/>
              <a:latin typeface="Times New Roman" panose="02020603050405020304" pitchFamily="18" charset="0"/>
              <a:ea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graphicFrame>
        <p:nvGraphicFramePr>
          <p:cNvPr id="26" name="Object 25">
            <a:extLst>
              <a:ext uri="{FF2B5EF4-FFF2-40B4-BE49-F238E27FC236}">
                <a16:creationId xmlns:a16="http://schemas.microsoft.com/office/drawing/2014/main" id="{FD901420-68DA-B4BE-EFEF-07E2D0760D4D}"/>
              </a:ext>
            </a:extLst>
          </p:cNvPr>
          <p:cNvGraphicFramePr>
            <a:graphicFrameLocks noChangeAspect="1"/>
          </p:cNvGraphicFramePr>
          <p:nvPr>
            <p:extLst>
              <p:ext uri="{D42A27DB-BD31-4B8C-83A1-F6EECF244321}">
                <p14:modId xmlns:p14="http://schemas.microsoft.com/office/powerpoint/2010/main" val="3973823079"/>
              </p:ext>
            </p:extLst>
          </p:nvPr>
        </p:nvGraphicFramePr>
        <p:xfrm>
          <a:off x="949836" y="51772"/>
          <a:ext cx="367685" cy="791937"/>
        </p:xfrm>
        <a:graphic>
          <a:graphicData uri="http://schemas.openxmlformats.org/presentationml/2006/ole">
            <mc:AlternateContent xmlns:mc="http://schemas.openxmlformats.org/markup-compatibility/2006">
              <mc:Choice xmlns:v="urn:schemas-microsoft-com:vml" Requires="v">
                <p:oleObj name="Equation" r:id="rId2" imgW="164880" imgH="355320" progId="Equation.DSMT4">
                  <p:embed/>
                </p:oleObj>
              </mc:Choice>
              <mc:Fallback>
                <p:oleObj name="Equation" r:id="rId2" imgW="164880" imgH="355320" progId="Equation.DSMT4">
                  <p:embed/>
                  <p:pic>
                    <p:nvPicPr>
                      <p:cNvPr id="0" name=""/>
                      <p:cNvPicPr/>
                      <p:nvPr/>
                    </p:nvPicPr>
                    <p:blipFill>
                      <a:blip r:embed="rId3"/>
                      <a:stretch>
                        <a:fillRect/>
                      </a:stretch>
                    </p:blipFill>
                    <p:spPr>
                      <a:xfrm>
                        <a:off x="949836" y="51772"/>
                        <a:ext cx="367685" cy="791937"/>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58FAF54B-3F6B-0673-E0E6-53E201A85B20}"/>
              </a:ext>
            </a:extLst>
          </p:cNvPr>
          <p:cNvGraphicFramePr>
            <a:graphicFrameLocks noChangeAspect="1"/>
          </p:cNvGraphicFramePr>
          <p:nvPr>
            <p:extLst>
              <p:ext uri="{D42A27DB-BD31-4B8C-83A1-F6EECF244321}">
                <p14:modId xmlns:p14="http://schemas.microsoft.com/office/powerpoint/2010/main" val="1529395925"/>
              </p:ext>
            </p:extLst>
          </p:nvPr>
        </p:nvGraphicFramePr>
        <p:xfrm>
          <a:off x="2834303" y="218921"/>
          <a:ext cx="724974" cy="517839"/>
        </p:xfrm>
        <a:graphic>
          <a:graphicData uri="http://schemas.openxmlformats.org/presentationml/2006/ole">
            <mc:AlternateContent xmlns:mc="http://schemas.openxmlformats.org/markup-compatibility/2006">
              <mc:Choice xmlns:v="urn:schemas-microsoft-com:vml" Requires="v">
                <p:oleObj name="Equation" r:id="rId4" imgW="466344" imgH="333838" progId="Equation.DSMT4">
                  <p:embed/>
                </p:oleObj>
              </mc:Choice>
              <mc:Fallback>
                <p:oleObj name="Equation" r:id="rId4" imgW="466344" imgH="333838" progId="Equation.DSMT4">
                  <p:embed/>
                  <p:pic>
                    <p:nvPicPr>
                      <p:cNvPr id="0" name=""/>
                      <p:cNvPicPr/>
                      <p:nvPr/>
                    </p:nvPicPr>
                    <p:blipFill>
                      <a:blip r:embed="rId5"/>
                      <a:stretch>
                        <a:fillRect/>
                      </a:stretch>
                    </p:blipFill>
                    <p:spPr>
                      <a:xfrm>
                        <a:off x="2834303" y="218921"/>
                        <a:ext cx="724974" cy="517839"/>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F9194C45-388A-42CB-7A5F-166F4F3DBAE6}"/>
              </a:ext>
            </a:extLst>
          </p:cNvPr>
          <p:cNvGraphicFramePr>
            <a:graphicFrameLocks noChangeAspect="1"/>
          </p:cNvGraphicFramePr>
          <p:nvPr>
            <p:extLst>
              <p:ext uri="{D42A27DB-BD31-4B8C-83A1-F6EECF244321}">
                <p14:modId xmlns:p14="http://schemas.microsoft.com/office/powerpoint/2010/main" val="745281716"/>
              </p:ext>
            </p:extLst>
          </p:nvPr>
        </p:nvGraphicFramePr>
        <p:xfrm>
          <a:off x="1170037" y="1103619"/>
          <a:ext cx="1785722" cy="517839"/>
        </p:xfrm>
        <a:graphic>
          <a:graphicData uri="http://schemas.openxmlformats.org/presentationml/2006/ole">
            <mc:AlternateContent xmlns:mc="http://schemas.openxmlformats.org/markup-compatibility/2006">
              <mc:Choice xmlns:v="urn:schemas-microsoft-com:vml" Requires="v">
                <p:oleObj name="Equation" r:id="rId6" imgW="1380321" imgH="400533" progId="Equation.DSMT4">
                  <p:embed/>
                </p:oleObj>
              </mc:Choice>
              <mc:Fallback>
                <p:oleObj name="Equation" r:id="rId6" imgW="1380321" imgH="400533" progId="Equation.DSMT4">
                  <p:embed/>
                  <p:pic>
                    <p:nvPicPr>
                      <p:cNvPr id="0" name=""/>
                      <p:cNvPicPr/>
                      <p:nvPr/>
                    </p:nvPicPr>
                    <p:blipFill>
                      <a:blip r:embed="rId7"/>
                      <a:stretch>
                        <a:fillRect/>
                      </a:stretch>
                    </p:blipFill>
                    <p:spPr>
                      <a:xfrm>
                        <a:off x="1170037" y="1103619"/>
                        <a:ext cx="1785722" cy="517839"/>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B10BF4D8-5256-36B1-537B-C3F16B72BB21}"/>
              </a:ext>
            </a:extLst>
          </p:cNvPr>
          <p:cNvGraphicFramePr>
            <a:graphicFrameLocks noChangeAspect="1"/>
          </p:cNvGraphicFramePr>
          <p:nvPr>
            <p:extLst>
              <p:ext uri="{D42A27DB-BD31-4B8C-83A1-F6EECF244321}">
                <p14:modId xmlns:p14="http://schemas.microsoft.com/office/powerpoint/2010/main" val="1833955841"/>
              </p:ext>
            </p:extLst>
          </p:nvPr>
        </p:nvGraphicFramePr>
        <p:xfrm>
          <a:off x="1317520" y="2413536"/>
          <a:ext cx="953731" cy="435991"/>
        </p:xfrm>
        <a:graphic>
          <a:graphicData uri="http://schemas.openxmlformats.org/presentationml/2006/ole">
            <mc:AlternateContent xmlns:mc="http://schemas.openxmlformats.org/markup-compatibility/2006">
              <mc:Choice xmlns:v="urn:schemas-microsoft-com:vml" Requires="v">
                <p:oleObj name="Equation" r:id="rId8" imgW="666411" imgH="305357" progId="Equation.DSMT4">
                  <p:embed/>
                </p:oleObj>
              </mc:Choice>
              <mc:Fallback>
                <p:oleObj name="Equation" r:id="rId8" imgW="666411" imgH="305357" progId="Equation.DSMT4">
                  <p:embed/>
                  <p:pic>
                    <p:nvPicPr>
                      <p:cNvPr id="0" name=""/>
                      <p:cNvPicPr/>
                      <p:nvPr/>
                    </p:nvPicPr>
                    <p:blipFill>
                      <a:blip r:embed="rId9"/>
                      <a:stretch>
                        <a:fillRect/>
                      </a:stretch>
                    </p:blipFill>
                    <p:spPr>
                      <a:xfrm>
                        <a:off x="1317520" y="2413536"/>
                        <a:ext cx="953731" cy="435991"/>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0070D74F-15F7-1756-E3EE-3E91383B4601}"/>
              </a:ext>
            </a:extLst>
          </p:cNvPr>
          <p:cNvGraphicFramePr>
            <a:graphicFrameLocks noChangeAspect="1"/>
          </p:cNvGraphicFramePr>
          <p:nvPr>
            <p:extLst>
              <p:ext uri="{D42A27DB-BD31-4B8C-83A1-F6EECF244321}">
                <p14:modId xmlns:p14="http://schemas.microsoft.com/office/powerpoint/2010/main" val="3202438091"/>
              </p:ext>
            </p:extLst>
          </p:nvPr>
        </p:nvGraphicFramePr>
        <p:xfrm>
          <a:off x="1440502" y="3644474"/>
          <a:ext cx="2509511" cy="603061"/>
        </p:xfrm>
        <a:graphic>
          <a:graphicData uri="http://schemas.openxmlformats.org/presentationml/2006/ole">
            <mc:AlternateContent xmlns:mc="http://schemas.openxmlformats.org/markup-compatibility/2006">
              <mc:Choice xmlns:v="urn:schemas-microsoft-com:vml" Requires="v">
                <p:oleObj name="Equation" r:id="rId10" imgW="1638000" imgH="393480" progId="Equation.DSMT4">
                  <p:embed/>
                </p:oleObj>
              </mc:Choice>
              <mc:Fallback>
                <p:oleObj name="Equation" r:id="rId10" imgW="1638000" imgH="393480" progId="Equation.DSMT4">
                  <p:embed/>
                  <p:pic>
                    <p:nvPicPr>
                      <p:cNvPr id="0" name=""/>
                      <p:cNvPicPr/>
                      <p:nvPr/>
                    </p:nvPicPr>
                    <p:blipFill>
                      <a:blip r:embed="rId11"/>
                      <a:stretch>
                        <a:fillRect/>
                      </a:stretch>
                    </p:blipFill>
                    <p:spPr>
                      <a:xfrm>
                        <a:off x="1440502" y="3644474"/>
                        <a:ext cx="2509511" cy="603061"/>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116902E9-D6FC-8140-70BD-7B2D25FB683A}"/>
              </a:ext>
            </a:extLst>
          </p:cNvPr>
          <p:cNvGraphicFramePr>
            <a:graphicFrameLocks noChangeAspect="1"/>
          </p:cNvGraphicFramePr>
          <p:nvPr>
            <p:extLst>
              <p:ext uri="{D42A27DB-BD31-4B8C-83A1-F6EECF244321}">
                <p14:modId xmlns:p14="http://schemas.microsoft.com/office/powerpoint/2010/main" val="2667337679"/>
              </p:ext>
            </p:extLst>
          </p:nvPr>
        </p:nvGraphicFramePr>
        <p:xfrm>
          <a:off x="1317519" y="5215012"/>
          <a:ext cx="2838473" cy="1126489"/>
        </p:xfrm>
        <a:graphic>
          <a:graphicData uri="http://schemas.openxmlformats.org/presentationml/2006/ole">
            <mc:AlternateContent xmlns:mc="http://schemas.openxmlformats.org/markup-compatibility/2006">
              <mc:Choice xmlns:v="urn:schemas-microsoft-com:vml" Requires="v">
                <p:oleObj name="Equation" r:id="rId12" imgW="1923309" imgH="763213" progId="Equation.DSMT4">
                  <p:embed/>
                </p:oleObj>
              </mc:Choice>
              <mc:Fallback>
                <p:oleObj name="Equation" r:id="rId12" imgW="1923309" imgH="763213" progId="Equation.DSMT4">
                  <p:embed/>
                  <p:pic>
                    <p:nvPicPr>
                      <p:cNvPr id="0" name=""/>
                      <p:cNvPicPr/>
                      <p:nvPr/>
                    </p:nvPicPr>
                    <p:blipFill>
                      <a:blip r:embed="rId13"/>
                      <a:stretch>
                        <a:fillRect/>
                      </a:stretch>
                    </p:blipFill>
                    <p:spPr>
                      <a:xfrm>
                        <a:off x="1317519" y="5215012"/>
                        <a:ext cx="2838473" cy="1126489"/>
                      </a:xfrm>
                      <a:prstGeom prst="rect">
                        <a:avLst/>
                      </a:prstGeom>
                    </p:spPr>
                  </p:pic>
                </p:oleObj>
              </mc:Fallback>
            </mc:AlternateContent>
          </a:graphicData>
        </a:graphic>
      </p:graphicFrame>
    </p:spTree>
    <p:extLst>
      <p:ext uri="{BB962C8B-B14F-4D97-AF65-F5344CB8AC3E}">
        <p14:creationId xmlns:p14="http://schemas.microsoft.com/office/powerpoint/2010/main" val="3185722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875E3C-E8AA-A281-9767-8C771FD5B398}"/>
              </a:ext>
            </a:extLst>
          </p:cNvPr>
          <p:cNvSpPr>
            <a:spLocks noGrp="1"/>
          </p:cNvSpPr>
          <p:nvPr>
            <p:ph idx="1"/>
          </p:nvPr>
        </p:nvSpPr>
        <p:spPr>
          <a:xfrm>
            <a:off x="393289" y="176980"/>
            <a:ext cx="11592233" cy="6292645"/>
          </a:xfrm>
        </p:spPr>
        <p:txBody>
          <a:bodyPr/>
          <a:lstStyle/>
          <a:p>
            <a:pPr marL="0" indent="0">
              <a:buNone/>
            </a:pPr>
            <a:r>
              <a:rPr lang="en-US" sz="1800" dirty="0">
                <a:effectLst/>
                <a:latin typeface="Times New Roman" panose="02020603050405020304" pitchFamily="18" charset="0"/>
                <a:ea typeface="Times New Roman" panose="02020603050405020304" pitchFamily="18" charset="0"/>
              </a:rPr>
              <a:t>For the above equation to be satisfied, either y=0 or </a:t>
            </a:r>
          </a:p>
          <a:p>
            <a:pPr marL="0" indent="0">
              <a:buNone/>
            </a:pPr>
            <a:endParaRPr lang="en-US" sz="1800" dirty="0">
              <a:latin typeface="Times New Roman" panose="02020603050405020304" pitchFamily="18" charset="0"/>
            </a:endParaRPr>
          </a:p>
          <a:p>
            <a:pPr marL="0" indent="0">
              <a:buNone/>
            </a:pPr>
            <a:r>
              <a:rPr lang="en-US" sz="1800" dirty="0">
                <a:latin typeface="Times New Roman" panose="02020603050405020304" pitchFamily="18" charset="0"/>
              </a:rPr>
              <a:t>Considering the solution </a:t>
            </a:r>
          </a:p>
          <a:p>
            <a:pPr marL="0" indent="0">
              <a:buNone/>
            </a:pPr>
            <a:r>
              <a:rPr lang="en-US" sz="1800" dirty="0">
                <a:effectLst/>
                <a:latin typeface="Times New Roman" panose="02020603050405020304" pitchFamily="18" charset="0"/>
                <a:ea typeface="Times New Roman" panose="02020603050405020304" pitchFamily="18" charset="0"/>
              </a:rPr>
              <a:t>The standard solution of the above quadratic equation has two roots, it is given by,  </a:t>
            </a:r>
          </a:p>
          <a:p>
            <a:pPr marL="0" indent="0">
              <a:buNone/>
            </a:pPr>
            <a:endParaRPr lang="en-US" sz="1800" dirty="0">
              <a:latin typeface="Times New Roman" panose="02020603050405020304" pitchFamily="18" charset="0"/>
              <a:ea typeface="Times New Roman" panose="02020603050405020304" pitchFamily="18" charset="0"/>
            </a:endParaRPr>
          </a:p>
          <a:p>
            <a:pPr marL="0" indent="0">
              <a:buNone/>
            </a:pPr>
            <a:endParaRPr lang="en-US" sz="1800" dirty="0">
              <a:effectLst/>
              <a:latin typeface="Times New Roman" panose="02020603050405020304" pitchFamily="18" charset="0"/>
              <a:ea typeface="Times New Roman" panose="02020603050405020304" pitchFamily="18" charset="0"/>
            </a:endParaRPr>
          </a:p>
          <a:p>
            <a:pPr marL="0" indent="0">
              <a:buNone/>
            </a:pPr>
            <a:endParaRPr lang="en-US" sz="1800" dirty="0">
              <a:latin typeface="Times New Roman" panose="02020603050405020304" pitchFamily="18" charset="0"/>
              <a:ea typeface="Times New Roman" panose="02020603050405020304" pitchFamily="18" charset="0"/>
            </a:endParaRPr>
          </a:p>
          <a:p>
            <a:pPr marL="0" indent="0">
              <a:buNone/>
            </a:pPr>
            <a:endParaRPr lang="en-US" sz="1800" dirty="0">
              <a:effectLst/>
              <a:latin typeface="Times New Roman" panose="02020603050405020304" pitchFamily="18" charset="0"/>
              <a:ea typeface="Times New Roman" panose="02020603050405020304" pitchFamily="18" charset="0"/>
            </a:endParaRPr>
          </a:p>
          <a:p>
            <a:pPr marL="0" indent="0">
              <a:buNone/>
            </a:pPr>
            <a:r>
              <a:rPr lang="en-US" sz="1800" dirty="0">
                <a:effectLst/>
                <a:latin typeface="Times New Roman" panose="02020603050405020304" pitchFamily="18" charset="0"/>
                <a:ea typeface="Times New Roman" panose="02020603050405020304" pitchFamily="18" charset="0"/>
              </a:rPr>
              <a:t>Therefore</a:t>
            </a:r>
            <a:r>
              <a:rPr lang="en-US" sz="1800" b="1"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 general solution of equation (2) is given by</a:t>
            </a:r>
            <a:endParaRPr lang="en-US" sz="1800" dirty="0">
              <a:latin typeface="Times New Roman" panose="02020603050405020304" pitchFamily="18" charset="0"/>
              <a:ea typeface="Times New Roman" panose="02020603050405020304" pitchFamily="18" charset="0"/>
            </a:endParaRPr>
          </a:p>
          <a:p>
            <a:pPr marL="0" indent="0">
              <a:buNone/>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0" indent="0">
              <a:buNone/>
            </a:pPr>
            <a:endParaRPr lang="en-IN" dirty="0"/>
          </a:p>
          <a:p>
            <a:pPr marL="0" indent="0">
              <a:buNone/>
            </a:pPr>
            <a:endParaRPr lang="en-IN" dirty="0"/>
          </a:p>
        </p:txBody>
      </p:sp>
      <p:graphicFrame>
        <p:nvGraphicFramePr>
          <p:cNvPr id="8" name="Object 7">
            <a:extLst>
              <a:ext uri="{FF2B5EF4-FFF2-40B4-BE49-F238E27FC236}">
                <a16:creationId xmlns:a16="http://schemas.microsoft.com/office/drawing/2014/main" id="{AB5230AA-756E-6672-0548-20CBF2C88073}"/>
              </a:ext>
            </a:extLst>
          </p:cNvPr>
          <p:cNvGraphicFramePr>
            <a:graphicFrameLocks noChangeAspect="1"/>
          </p:cNvGraphicFramePr>
          <p:nvPr>
            <p:extLst>
              <p:ext uri="{D42A27DB-BD31-4B8C-83A1-F6EECF244321}">
                <p14:modId xmlns:p14="http://schemas.microsoft.com/office/powerpoint/2010/main" val="80335460"/>
              </p:ext>
            </p:extLst>
          </p:nvPr>
        </p:nvGraphicFramePr>
        <p:xfrm>
          <a:off x="5327855" y="206476"/>
          <a:ext cx="1423984" cy="344130"/>
        </p:xfrm>
        <a:graphic>
          <a:graphicData uri="http://schemas.openxmlformats.org/presentationml/2006/ole">
            <mc:AlternateContent xmlns:mc="http://schemas.openxmlformats.org/markup-compatibility/2006">
              <mc:Choice xmlns:v="urn:schemas-microsoft-com:vml" Requires="v">
                <p:oleObj name="Equation" r:id="rId2" imgW="1142471" imgH="276516" progId="Equation.DSMT4">
                  <p:embed/>
                </p:oleObj>
              </mc:Choice>
              <mc:Fallback>
                <p:oleObj name="Equation" r:id="rId2" imgW="1142471" imgH="276516" progId="Equation.DSMT4">
                  <p:embed/>
                  <p:pic>
                    <p:nvPicPr>
                      <p:cNvPr id="0" name=""/>
                      <p:cNvPicPr/>
                      <p:nvPr/>
                    </p:nvPicPr>
                    <p:blipFill>
                      <a:blip r:embed="rId3"/>
                      <a:stretch>
                        <a:fillRect/>
                      </a:stretch>
                    </p:blipFill>
                    <p:spPr>
                      <a:xfrm>
                        <a:off x="5327855" y="206476"/>
                        <a:ext cx="1423984" cy="34413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86DBD9F7-A4B7-9495-3921-C0A17913127E}"/>
              </a:ext>
            </a:extLst>
          </p:cNvPr>
          <p:cNvGraphicFramePr>
            <a:graphicFrameLocks noChangeAspect="1"/>
          </p:cNvGraphicFramePr>
          <p:nvPr>
            <p:extLst>
              <p:ext uri="{D42A27DB-BD31-4B8C-83A1-F6EECF244321}">
                <p14:modId xmlns:p14="http://schemas.microsoft.com/office/powerpoint/2010/main" val="3822645373"/>
              </p:ext>
            </p:extLst>
          </p:nvPr>
        </p:nvGraphicFramePr>
        <p:xfrm>
          <a:off x="2791131" y="919726"/>
          <a:ext cx="1401943" cy="338803"/>
        </p:xfrm>
        <a:graphic>
          <a:graphicData uri="http://schemas.openxmlformats.org/presentationml/2006/ole">
            <mc:AlternateContent xmlns:mc="http://schemas.openxmlformats.org/markup-compatibility/2006">
              <mc:Choice xmlns:v="urn:schemas-microsoft-com:vml" Requires="v">
                <p:oleObj name="Equation" r:id="rId4" imgW="1142471" imgH="276516" progId="Equation.DSMT4">
                  <p:embed/>
                </p:oleObj>
              </mc:Choice>
              <mc:Fallback>
                <p:oleObj name="Equation" r:id="rId4" imgW="1142471" imgH="276516" progId="Equation.DSMT4">
                  <p:embed/>
                  <p:pic>
                    <p:nvPicPr>
                      <p:cNvPr id="0" name=""/>
                      <p:cNvPicPr/>
                      <p:nvPr/>
                    </p:nvPicPr>
                    <p:blipFill>
                      <a:blip r:embed="rId3"/>
                      <a:stretch>
                        <a:fillRect/>
                      </a:stretch>
                    </p:blipFill>
                    <p:spPr>
                      <a:xfrm>
                        <a:off x="2791131" y="919726"/>
                        <a:ext cx="1401943" cy="338803"/>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D777E3E1-AF9E-B758-70D7-56E2E71684BC}"/>
              </a:ext>
            </a:extLst>
          </p:cNvPr>
          <p:cNvGraphicFramePr>
            <a:graphicFrameLocks noChangeAspect="1"/>
          </p:cNvGraphicFramePr>
          <p:nvPr>
            <p:extLst>
              <p:ext uri="{D42A27DB-BD31-4B8C-83A1-F6EECF244321}">
                <p14:modId xmlns:p14="http://schemas.microsoft.com/office/powerpoint/2010/main" val="1423493520"/>
              </p:ext>
            </p:extLst>
          </p:nvPr>
        </p:nvGraphicFramePr>
        <p:xfrm>
          <a:off x="2285384" y="1764378"/>
          <a:ext cx="1907689" cy="1065942"/>
        </p:xfrm>
        <a:graphic>
          <a:graphicData uri="http://schemas.openxmlformats.org/presentationml/2006/ole">
            <mc:AlternateContent xmlns:mc="http://schemas.openxmlformats.org/markup-compatibility/2006">
              <mc:Choice xmlns:v="urn:schemas-microsoft-com:vml" Requires="v">
                <p:oleObj name="Equation" r:id="rId5" imgW="1485392" imgH="829908" progId="Equation.DSMT4">
                  <p:embed/>
                </p:oleObj>
              </mc:Choice>
              <mc:Fallback>
                <p:oleObj name="Equation" r:id="rId5" imgW="1485392" imgH="829908" progId="Equation.DSMT4">
                  <p:embed/>
                  <p:pic>
                    <p:nvPicPr>
                      <p:cNvPr id="0" name=""/>
                      <p:cNvPicPr/>
                      <p:nvPr/>
                    </p:nvPicPr>
                    <p:blipFill>
                      <a:blip r:embed="rId6"/>
                      <a:stretch>
                        <a:fillRect/>
                      </a:stretch>
                    </p:blipFill>
                    <p:spPr>
                      <a:xfrm>
                        <a:off x="2285384" y="1764378"/>
                        <a:ext cx="1907689" cy="1065942"/>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F3AB4CFE-582F-8FF5-F16B-E79F3CC157AF}"/>
              </a:ext>
            </a:extLst>
          </p:cNvPr>
          <p:cNvGraphicFramePr>
            <a:graphicFrameLocks noChangeAspect="1"/>
          </p:cNvGraphicFramePr>
          <p:nvPr>
            <p:extLst>
              <p:ext uri="{D42A27DB-BD31-4B8C-83A1-F6EECF244321}">
                <p14:modId xmlns:p14="http://schemas.microsoft.com/office/powerpoint/2010/main" val="27176101"/>
              </p:ext>
            </p:extLst>
          </p:nvPr>
        </p:nvGraphicFramePr>
        <p:xfrm>
          <a:off x="1709738" y="3683102"/>
          <a:ext cx="4406348" cy="596230"/>
        </p:xfrm>
        <a:graphic>
          <a:graphicData uri="http://schemas.openxmlformats.org/presentationml/2006/ole">
            <mc:AlternateContent xmlns:mc="http://schemas.openxmlformats.org/markup-compatibility/2006">
              <mc:Choice xmlns:v="urn:schemas-microsoft-com:vml" Requires="v">
                <p:oleObj name="Equation" r:id="rId7" imgW="2675361" imgH="362319" progId="Equation.DSMT4">
                  <p:embed/>
                </p:oleObj>
              </mc:Choice>
              <mc:Fallback>
                <p:oleObj name="Equation" r:id="rId7" imgW="2675361" imgH="362319" progId="Equation.DSMT4">
                  <p:embed/>
                  <p:pic>
                    <p:nvPicPr>
                      <p:cNvPr id="0" name=""/>
                      <p:cNvPicPr/>
                      <p:nvPr/>
                    </p:nvPicPr>
                    <p:blipFill>
                      <a:blip r:embed="rId8"/>
                      <a:stretch>
                        <a:fillRect/>
                      </a:stretch>
                    </p:blipFill>
                    <p:spPr>
                      <a:xfrm>
                        <a:off x="1709738" y="3683102"/>
                        <a:ext cx="4406348" cy="596230"/>
                      </a:xfrm>
                      <a:prstGeom prst="rect">
                        <a:avLst/>
                      </a:prstGeom>
                    </p:spPr>
                  </p:pic>
                </p:oleObj>
              </mc:Fallback>
            </mc:AlternateContent>
          </a:graphicData>
        </a:graphic>
      </p:graphicFrame>
      <p:pic>
        <p:nvPicPr>
          <p:cNvPr id="22" name="Picture 21">
            <a:extLst>
              <a:ext uri="{FF2B5EF4-FFF2-40B4-BE49-F238E27FC236}">
                <a16:creationId xmlns:a16="http://schemas.microsoft.com/office/drawing/2014/main" id="{91ECB732-BC08-7A23-7BA0-3A02F8236BE4}"/>
              </a:ext>
            </a:extLst>
          </p:cNvPr>
          <p:cNvPicPr>
            <a:picLocks noChangeAspect="1"/>
          </p:cNvPicPr>
          <p:nvPr/>
        </p:nvPicPr>
        <p:blipFill>
          <a:blip r:embed="rId9"/>
          <a:stretch>
            <a:fillRect/>
          </a:stretch>
        </p:blipFill>
        <p:spPr>
          <a:xfrm>
            <a:off x="678425" y="4505474"/>
            <a:ext cx="5869860" cy="624017"/>
          </a:xfrm>
          <a:prstGeom prst="rect">
            <a:avLst/>
          </a:prstGeom>
        </p:spPr>
      </p:pic>
    </p:spTree>
    <p:extLst>
      <p:ext uri="{BB962C8B-B14F-4D97-AF65-F5344CB8AC3E}">
        <p14:creationId xmlns:p14="http://schemas.microsoft.com/office/powerpoint/2010/main" val="1878061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C00AE0-552E-EC1F-A7DB-FFDBDB75881B}"/>
              </a:ext>
            </a:extLst>
          </p:cNvPr>
          <p:cNvSpPr>
            <a:spLocks noGrp="1"/>
          </p:cNvSpPr>
          <p:nvPr>
            <p:ph idx="1"/>
          </p:nvPr>
        </p:nvSpPr>
        <p:spPr>
          <a:xfrm>
            <a:off x="304799" y="265470"/>
            <a:ext cx="11611897" cy="6302477"/>
          </a:xfrm>
        </p:spPr>
        <p:txBody>
          <a:bodyPr>
            <a:normAutofit/>
          </a:bodyPr>
          <a:lstStyle/>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is real and less than b, Hence in above equation exponents are negative. It means the displacement decreases continuously with time.</a:t>
            </a:r>
          </a:p>
          <a:p>
            <a:endParaRPr lang="en-IN" sz="2400" dirty="0">
              <a:latin typeface="Times New Roman" panose="02020603050405020304" pitchFamily="18" charset="0"/>
              <a:cs typeface="Times New Roman" panose="02020603050405020304" pitchFamily="18" charset="0"/>
            </a:endParaRPr>
          </a:p>
          <a:p>
            <a:r>
              <a:rPr lang="en-IN" sz="2400" dirty="0" err="1">
                <a:latin typeface="Times New Roman" panose="02020603050405020304" pitchFamily="18" charset="0"/>
                <a:cs typeface="Times New Roman" panose="02020603050405020304" pitchFamily="18" charset="0"/>
              </a:rPr>
              <a:t>i.e</a:t>
            </a:r>
            <a:r>
              <a:rPr lang="en-IN" sz="2400" dirty="0">
                <a:latin typeface="Times New Roman" panose="02020603050405020304" pitchFamily="18" charset="0"/>
                <a:cs typeface="Times New Roman" panose="02020603050405020304" pitchFamily="18" charset="0"/>
              </a:rPr>
              <a:t> particle once displaced will return to its mean position without performing oscillation. Such motion is called over damping or aperiodic motion</a:t>
            </a:r>
          </a:p>
          <a:p>
            <a:endParaRPr lang="en-IN" sz="2400" dirty="0">
              <a:latin typeface="Times New Roman" panose="02020603050405020304" pitchFamily="18" charset="0"/>
              <a:cs typeface="Times New Roman" panose="02020603050405020304" pitchFamily="18" charset="0"/>
            </a:endParaRPr>
          </a:p>
          <a:p>
            <a:pPr algn="l"/>
            <a:r>
              <a:rPr lang="en-IN" sz="2400" dirty="0" err="1">
                <a:latin typeface="Times New Roman" panose="02020603050405020304" pitchFamily="18" charset="0"/>
                <a:cs typeface="Times New Roman" panose="02020603050405020304" pitchFamily="18" charset="0"/>
              </a:rPr>
              <a:t>Eg</a:t>
            </a:r>
            <a:r>
              <a:rPr lang="en-IN" sz="240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pendulum moving in thick oil or by a deadbeat moving coil galvanometer. </a:t>
            </a:r>
          </a:p>
          <a:p>
            <a:pPr algn="l"/>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E71134B-8183-1F93-CC2A-00C6BF4FB7A2}"/>
              </a:ext>
            </a:extLst>
          </p:cNvPr>
          <p:cNvPicPr>
            <a:picLocks noChangeAspect="1"/>
          </p:cNvPicPr>
          <p:nvPr/>
        </p:nvPicPr>
        <p:blipFill>
          <a:blip r:embed="rId2"/>
          <a:stretch>
            <a:fillRect/>
          </a:stretch>
        </p:blipFill>
        <p:spPr>
          <a:xfrm>
            <a:off x="304799" y="290053"/>
            <a:ext cx="6058746" cy="438211"/>
          </a:xfrm>
          <a:prstGeom prst="rect">
            <a:avLst/>
          </a:prstGeom>
        </p:spPr>
      </p:pic>
      <p:graphicFrame>
        <p:nvGraphicFramePr>
          <p:cNvPr id="7" name="Object 6">
            <a:extLst>
              <a:ext uri="{FF2B5EF4-FFF2-40B4-BE49-F238E27FC236}">
                <a16:creationId xmlns:a16="http://schemas.microsoft.com/office/drawing/2014/main" id="{12A3A042-BCF5-99B8-E0A3-77535C01659B}"/>
              </a:ext>
            </a:extLst>
          </p:cNvPr>
          <p:cNvGraphicFramePr>
            <a:graphicFrameLocks noChangeAspect="1"/>
          </p:cNvGraphicFramePr>
          <p:nvPr>
            <p:extLst>
              <p:ext uri="{D42A27DB-BD31-4B8C-83A1-F6EECF244321}">
                <p14:modId xmlns:p14="http://schemas.microsoft.com/office/powerpoint/2010/main" val="2125561527"/>
              </p:ext>
            </p:extLst>
          </p:nvPr>
        </p:nvGraphicFramePr>
        <p:xfrm>
          <a:off x="875071" y="1224525"/>
          <a:ext cx="967086" cy="438211"/>
        </p:xfrm>
        <a:graphic>
          <a:graphicData uri="http://schemas.openxmlformats.org/presentationml/2006/ole">
            <mc:AlternateContent xmlns:mc="http://schemas.openxmlformats.org/markup-compatibility/2006">
              <mc:Choice xmlns:v="urn:schemas-microsoft-com:vml" Requires="v">
                <p:oleObj name="Equation" r:id="rId3" imgW="609198" imgH="276516" progId="Equation.DSMT4">
                  <p:embed/>
                </p:oleObj>
              </mc:Choice>
              <mc:Fallback>
                <p:oleObj name="Equation" r:id="rId3" imgW="609198" imgH="276516" progId="Equation.DSMT4">
                  <p:embed/>
                  <p:pic>
                    <p:nvPicPr>
                      <p:cNvPr id="0" name=""/>
                      <p:cNvPicPr/>
                      <p:nvPr/>
                    </p:nvPicPr>
                    <p:blipFill>
                      <a:blip r:embed="rId4"/>
                      <a:stretch>
                        <a:fillRect/>
                      </a:stretch>
                    </p:blipFill>
                    <p:spPr>
                      <a:xfrm>
                        <a:off x="875071" y="1224525"/>
                        <a:ext cx="967086" cy="438211"/>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CEA5D40D-AF71-75F5-B262-AB5B230112A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153745" y="4110651"/>
            <a:ext cx="2981434" cy="1503568"/>
          </a:xfrm>
          <a:prstGeom prst="rect">
            <a:avLst/>
          </a:prstGeom>
          <a:noFill/>
          <a:ln>
            <a:noFill/>
          </a:ln>
        </p:spPr>
      </p:pic>
    </p:spTree>
    <p:extLst>
      <p:ext uri="{BB962C8B-B14F-4D97-AF65-F5344CB8AC3E}">
        <p14:creationId xmlns:p14="http://schemas.microsoft.com/office/powerpoint/2010/main" val="684593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C7A253-EF99-6900-D28B-C9E6959D0A96}"/>
              </a:ext>
            </a:extLst>
          </p:cNvPr>
          <p:cNvSpPr>
            <a:spLocks noGrp="1"/>
          </p:cNvSpPr>
          <p:nvPr>
            <p:ph idx="1"/>
          </p:nvPr>
        </p:nvSpPr>
        <p:spPr>
          <a:xfrm>
            <a:off x="483799" y="792802"/>
            <a:ext cx="10870001" cy="5834140"/>
          </a:xfrm>
        </p:spPr>
        <p:txBody>
          <a:bodyPr>
            <a:normAutofit lnSpcReduction="10000"/>
          </a:bodyPr>
          <a:lstStyle/>
          <a:p>
            <a:pPr marL="0" indent="0">
              <a:buNone/>
            </a:pPr>
            <a:r>
              <a:rPr lang="en-IN" sz="2400" dirty="0">
                <a:latin typeface="Times New Roman" panose="02020603050405020304" pitchFamily="18" charset="0"/>
                <a:cs typeface="Times New Roman" panose="02020603050405020304" pitchFamily="18" charset="0"/>
              </a:rPr>
              <a:t>For            the solution of 4 does not satisfy the equation 2.</a:t>
            </a:r>
          </a:p>
          <a:p>
            <a:pPr marL="0" indent="0">
              <a:buNone/>
            </a:pPr>
            <a:r>
              <a:rPr lang="en-IN" sz="2400" dirty="0">
                <a:latin typeface="Times New Roman" panose="02020603050405020304" pitchFamily="18" charset="0"/>
                <a:cs typeface="Times New Roman" panose="02020603050405020304" pitchFamily="18" charset="0"/>
              </a:rPr>
              <a:t>Hence, consider               is small nonzero quantity </a:t>
            </a:r>
            <a:r>
              <a:rPr lang="el-GR" sz="2400" dirty="0">
                <a:latin typeface="Times New Roman" panose="02020603050405020304" pitchFamily="18" charset="0"/>
                <a:cs typeface="Times New Roman" panose="02020603050405020304" pitchFamily="18" charset="0"/>
              </a:rPr>
              <a:t>β</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r>
              <a:rPr lang="en-US" sz="1800" dirty="0" err="1">
                <a:effectLst/>
                <a:latin typeface="Times New Roman" panose="02020603050405020304" pitchFamily="18" charset="0"/>
                <a:ea typeface="Times New Roman" panose="02020603050405020304" pitchFamily="18" charset="0"/>
              </a:rPr>
              <a:t>As‘t</a:t>
            </a:r>
            <a:r>
              <a:rPr lang="en-US" sz="1800" dirty="0">
                <a:effectLst/>
                <a:latin typeface="Times New Roman" panose="02020603050405020304" pitchFamily="18" charset="0"/>
                <a:ea typeface="Times New Roman" panose="02020603050405020304" pitchFamily="18" charset="0"/>
              </a:rPr>
              <a:t>’ is present in          (dominant) and also in the term                 both of them contribute to the variation of y with respect to time.</a:t>
            </a:r>
            <a:endParaRPr lang="en-IN" sz="2400" dirty="0">
              <a:latin typeface="Times New Roman" panose="02020603050405020304" pitchFamily="18" charset="0"/>
              <a:cs typeface="Times New Roman" panose="02020603050405020304" pitchFamily="18" charset="0"/>
            </a:endParaRPr>
          </a:p>
          <a:p>
            <a:pPr marL="0" indent="0">
              <a:lnSpc>
                <a:spcPct val="150000"/>
              </a:lnSpc>
              <a:buNone/>
            </a:pPr>
            <a:r>
              <a:rPr lang="en-US" sz="1800" dirty="0">
                <a:effectLst/>
                <a:latin typeface="Times New Roman" panose="02020603050405020304" pitchFamily="18" charset="0"/>
                <a:ea typeface="Times New Roman" panose="02020603050405020304" pitchFamily="18" charset="0"/>
              </a:rPr>
              <a:t>y decreases throughout with increase of t, the decrement is slow in the beginning, and then decreases rapidly to approach the value zero. i.e., the body attains equilibrium position (Fig.9).  Such damping motion of a body is called </a:t>
            </a:r>
            <a:r>
              <a:rPr lang="en-US" sz="1800" b="1" dirty="0">
                <a:effectLst/>
                <a:latin typeface="Times New Roman" panose="02020603050405020304" pitchFamily="18" charset="0"/>
                <a:ea typeface="Times New Roman" panose="02020603050405020304" pitchFamily="18" charset="0"/>
              </a:rPr>
              <a:t>critical damping</a:t>
            </a:r>
            <a:r>
              <a:rPr lang="en-US" sz="1800" dirty="0">
                <a:effectLst/>
                <a:latin typeface="Times New Roman" panose="02020603050405020304" pitchFamily="18" charset="0"/>
                <a:ea typeface="Times New Roman" panose="02020603050405020304" pitchFamily="18" charset="0"/>
              </a:rPr>
              <a:t>.</a:t>
            </a:r>
          </a:p>
          <a:p>
            <a:pPr marL="0" indent="0">
              <a:lnSpc>
                <a:spcPct val="150000"/>
              </a:lnSpc>
              <a:buNone/>
            </a:pPr>
            <a:r>
              <a:rPr lang="en-US" sz="1800" dirty="0" err="1">
                <a:latin typeface="Times New Roman" panose="02020603050405020304" pitchFamily="18" charset="0"/>
                <a:cs typeface="Times New Roman" panose="02020603050405020304" pitchFamily="18" charset="0"/>
              </a:rPr>
              <a:t>Eg</a:t>
            </a:r>
            <a:r>
              <a:rPr lang="en-US" sz="1800" dirty="0">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voltmeter, ammeter, spring syste</a:t>
            </a:r>
            <a:r>
              <a:rPr lang="en-US" sz="1800" dirty="0">
                <a:latin typeface="Times New Roman" panose="02020603050405020304" pitchFamily="18" charset="0"/>
                <a:ea typeface="Times New Roman" panose="02020603050405020304" pitchFamily="18" charset="0"/>
              </a:rPr>
              <a:t>m in automobiles</a:t>
            </a:r>
            <a:endParaRPr lang="en-US"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44A733D-4050-D527-3521-B649E2215418}"/>
              </a:ext>
            </a:extLst>
          </p:cNvPr>
          <p:cNvPicPr>
            <a:picLocks noChangeAspect="1"/>
          </p:cNvPicPr>
          <p:nvPr/>
        </p:nvPicPr>
        <p:blipFill>
          <a:blip r:embed="rId2"/>
          <a:stretch>
            <a:fillRect/>
          </a:stretch>
        </p:blipFill>
        <p:spPr>
          <a:xfrm>
            <a:off x="483799" y="299984"/>
            <a:ext cx="4105848" cy="381053"/>
          </a:xfrm>
          <a:prstGeom prst="rect">
            <a:avLst/>
          </a:prstGeom>
        </p:spPr>
      </p:pic>
      <p:graphicFrame>
        <p:nvGraphicFramePr>
          <p:cNvPr id="7" name="Object 6">
            <a:extLst>
              <a:ext uri="{FF2B5EF4-FFF2-40B4-BE49-F238E27FC236}">
                <a16:creationId xmlns:a16="http://schemas.microsoft.com/office/drawing/2014/main" id="{3E8CA2C1-C5C1-4559-4D95-9D88CBD865E2}"/>
              </a:ext>
            </a:extLst>
          </p:cNvPr>
          <p:cNvGraphicFramePr>
            <a:graphicFrameLocks noChangeAspect="1"/>
          </p:cNvGraphicFramePr>
          <p:nvPr>
            <p:extLst>
              <p:ext uri="{D42A27DB-BD31-4B8C-83A1-F6EECF244321}">
                <p14:modId xmlns:p14="http://schemas.microsoft.com/office/powerpoint/2010/main" val="3528131638"/>
              </p:ext>
            </p:extLst>
          </p:nvPr>
        </p:nvGraphicFramePr>
        <p:xfrm>
          <a:off x="1064802" y="855044"/>
          <a:ext cx="685339" cy="322512"/>
        </p:xfrm>
        <a:graphic>
          <a:graphicData uri="http://schemas.openxmlformats.org/presentationml/2006/ole">
            <mc:AlternateContent xmlns:mc="http://schemas.openxmlformats.org/markup-compatibility/2006">
              <mc:Choice xmlns:v="urn:schemas-microsoft-com:vml" Requires="v">
                <p:oleObj name="Equation" r:id="rId3" imgW="485415" imgH="228928" progId="Equation.DSMT4">
                  <p:embed/>
                </p:oleObj>
              </mc:Choice>
              <mc:Fallback>
                <p:oleObj name="Equation" r:id="rId3" imgW="485415" imgH="228928" progId="Equation.DSMT4">
                  <p:embed/>
                  <p:pic>
                    <p:nvPicPr>
                      <p:cNvPr id="0" name=""/>
                      <p:cNvPicPr/>
                      <p:nvPr/>
                    </p:nvPicPr>
                    <p:blipFill>
                      <a:blip r:embed="rId4"/>
                      <a:stretch>
                        <a:fillRect/>
                      </a:stretch>
                    </p:blipFill>
                    <p:spPr>
                      <a:xfrm>
                        <a:off x="1064802" y="855044"/>
                        <a:ext cx="685339" cy="322512"/>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16DD8FA1-31EC-BE86-A63D-E8485EEB3F29}"/>
              </a:ext>
            </a:extLst>
          </p:cNvPr>
          <p:cNvGraphicFramePr>
            <a:graphicFrameLocks noChangeAspect="1"/>
          </p:cNvGraphicFramePr>
          <p:nvPr>
            <p:extLst>
              <p:ext uri="{D42A27DB-BD31-4B8C-83A1-F6EECF244321}">
                <p14:modId xmlns:p14="http://schemas.microsoft.com/office/powerpoint/2010/main" val="3056819146"/>
              </p:ext>
            </p:extLst>
          </p:nvPr>
        </p:nvGraphicFramePr>
        <p:xfrm>
          <a:off x="2694036" y="1269630"/>
          <a:ext cx="856197" cy="387964"/>
        </p:xfrm>
        <a:graphic>
          <a:graphicData uri="http://schemas.openxmlformats.org/presentationml/2006/ole">
            <mc:AlternateContent xmlns:mc="http://schemas.openxmlformats.org/markup-compatibility/2006">
              <mc:Choice xmlns:v="urn:schemas-microsoft-com:vml" Requires="v">
                <p:oleObj name="Equation" r:id="rId5" imgW="609198" imgH="276516" progId="Equation.DSMT4">
                  <p:embed/>
                </p:oleObj>
              </mc:Choice>
              <mc:Fallback>
                <p:oleObj name="Equation" r:id="rId5" imgW="609198" imgH="276516" progId="Equation.DSMT4">
                  <p:embed/>
                  <p:pic>
                    <p:nvPicPr>
                      <p:cNvPr id="0" name=""/>
                      <p:cNvPicPr/>
                      <p:nvPr/>
                    </p:nvPicPr>
                    <p:blipFill>
                      <a:blip r:embed="rId6"/>
                      <a:stretch>
                        <a:fillRect/>
                      </a:stretch>
                    </p:blipFill>
                    <p:spPr>
                      <a:xfrm>
                        <a:off x="2694036" y="1269630"/>
                        <a:ext cx="856197" cy="387964"/>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09CDE1CC-1992-2441-95EE-B5FB3686EEB2}"/>
              </a:ext>
            </a:extLst>
          </p:cNvPr>
          <p:cNvGraphicFramePr>
            <a:graphicFrameLocks noChangeAspect="1"/>
          </p:cNvGraphicFramePr>
          <p:nvPr>
            <p:extLst>
              <p:ext uri="{D42A27DB-BD31-4B8C-83A1-F6EECF244321}">
                <p14:modId xmlns:p14="http://schemas.microsoft.com/office/powerpoint/2010/main" val="602960166"/>
              </p:ext>
            </p:extLst>
          </p:nvPr>
        </p:nvGraphicFramePr>
        <p:xfrm>
          <a:off x="618968" y="1887794"/>
          <a:ext cx="6606769" cy="2265106"/>
        </p:xfrm>
        <a:graphic>
          <a:graphicData uri="http://schemas.openxmlformats.org/presentationml/2006/ole">
            <mc:AlternateContent xmlns:mc="http://schemas.openxmlformats.org/markup-compatibility/2006">
              <mc:Choice xmlns:v="urn:schemas-microsoft-com:vml" Requires="v">
                <p:oleObj name="Equation" r:id="rId7" imgW="4227322" imgH="1449996" progId="Equation.DSMT4">
                  <p:embed/>
                </p:oleObj>
              </mc:Choice>
              <mc:Fallback>
                <p:oleObj name="Equation" r:id="rId7" imgW="4227322" imgH="1449996" progId="Equation.DSMT4">
                  <p:embed/>
                  <p:pic>
                    <p:nvPicPr>
                      <p:cNvPr id="0" name=""/>
                      <p:cNvPicPr/>
                      <p:nvPr/>
                    </p:nvPicPr>
                    <p:blipFill>
                      <a:blip r:embed="rId8"/>
                      <a:stretch>
                        <a:fillRect/>
                      </a:stretch>
                    </p:blipFill>
                    <p:spPr>
                      <a:xfrm>
                        <a:off x="618968" y="1887794"/>
                        <a:ext cx="6606769" cy="2265106"/>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134EC6F4-AB3B-496C-918D-0554C305D8BE}"/>
              </a:ext>
            </a:extLst>
          </p:cNvPr>
          <p:cNvGraphicFramePr>
            <a:graphicFrameLocks noChangeAspect="1"/>
          </p:cNvGraphicFramePr>
          <p:nvPr>
            <p:extLst>
              <p:ext uri="{D42A27DB-BD31-4B8C-83A1-F6EECF244321}">
                <p14:modId xmlns:p14="http://schemas.microsoft.com/office/powerpoint/2010/main" val="1455646437"/>
              </p:ext>
            </p:extLst>
          </p:nvPr>
        </p:nvGraphicFramePr>
        <p:xfrm>
          <a:off x="2288459" y="4451924"/>
          <a:ext cx="385913" cy="321594"/>
        </p:xfrm>
        <a:graphic>
          <a:graphicData uri="http://schemas.openxmlformats.org/presentationml/2006/ole">
            <mc:AlternateContent xmlns:mc="http://schemas.openxmlformats.org/markup-compatibility/2006">
              <mc:Choice xmlns:v="urn:schemas-microsoft-com:vml" Requires="v">
                <p:oleObj name="Equation" r:id="rId9" imgW="228494" imgH="190713" progId="Equation.DSMT4">
                  <p:embed/>
                </p:oleObj>
              </mc:Choice>
              <mc:Fallback>
                <p:oleObj name="Equation" r:id="rId9" imgW="228494" imgH="190713" progId="Equation.DSMT4">
                  <p:embed/>
                  <p:pic>
                    <p:nvPicPr>
                      <p:cNvPr id="0" name=""/>
                      <p:cNvPicPr/>
                      <p:nvPr/>
                    </p:nvPicPr>
                    <p:blipFill>
                      <a:blip r:embed="rId10"/>
                      <a:stretch>
                        <a:fillRect/>
                      </a:stretch>
                    </p:blipFill>
                    <p:spPr>
                      <a:xfrm>
                        <a:off x="2288459" y="4451924"/>
                        <a:ext cx="385913" cy="321594"/>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60E0B763-B93D-AD99-1054-3AE51CF30572}"/>
              </a:ext>
            </a:extLst>
          </p:cNvPr>
          <p:cNvGraphicFramePr>
            <a:graphicFrameLocks noChangeAspect="1"/>
          </p:cNvGraphicFramePr>
          <p:nvPr>
            <p:extLst>
              <p:ext uri="{D42A27DB-BD31-4B8C-83A1-F6EECF244321}">
                <p14:modId xmlns:p14="http://schemas.microsoft.com/office/powerpoint/2010/main" val="1574826640"/>
              </p:ext>
            </p:extLst>
          </p:nvPr>
        </p:nvGraphicFramePr>
        <p:xfrm>
          <a:off x="5674442" y="4498114"/>
          <a:ext cx="869145" cy="265572"/>
        </p:xfrm>
        <a:graphic>
          <a:graphicData uri="http://schemas.openxmlformats.org/presentationml/2006/ole">
            <mc:AlternateContent xmlns:mc="http://schemas.openxmlformats.org/markup-compatibility/2006">
              <mc:Choice xmlns:v="urn:schemas-microsoft-com:vml" Requires="v">
                <p:oleObj name="Equation" r:id="rId11" imgW="685482" imgH="209820" progId="Equation.DSMT4">
                  <p:embed/>
                </p:oleObj>
              </mc:Choice>
              <mc:Fallback>
                <p:oleObj name="Equation" r:id="rId11" imgW="685482" imgH="209820" progId="Equation.DSMT4">
                  <p:embed/>
                  <p:pic>
                    <p:nvPicPr>
                      <p:cNvPr id="0" name=""/>
                      <p:cNvPicPr/>
                      <p:nvPr/>
                    </p:nvPicPr>
                    <p:blipFill>
                      <a:blip r:embed="rId12"/>
                      <a:stretch>
                        <a:fillRect/>
                      </a:stretch>
                    </p:blipFill>
                    <p:spPr>
                      <a:xfrm>
                        <a:off x="5674442" y="4498114"/>
                        <a:ext cx="869145" cy="265572"/>
                      </a:xfrm>
                      <a:prstGeom prst="rect">
                        <a:avLst/>
                      </a:prstGeom>
                    </p:spPr>
                  </p:pic>
                </p:oleObj>
              </mc:Fallback>
            </mc:AlternateContent>
          </a:graphicData>
        </a:graphic>
      </p:graphicFrame>
      <p:pic>
        <p:nvPicPr>
          <p:cNvPr id="28" name="Picture 27">
            <a:extLst>
              <a:ext uri="{FF2B5EF4-FFF2-40B4-BE49-F238E27FC236}">
                <a16:creationId xmlns:a16="http://schemas.microsoft.com/office/drawing/2014/main" id="{448F1217-5785-A345-AD6A-B49EADF11799}"/>
              </a:ext>
            </a:extLst>
          </p:cNvPr>
          <p:cNvPicPr>
            <a:picLocks noChangeAspect="1"/>
          </p:cNvPicPr>
          <p:nvPr/>
        </p:nvPicPr>
        <p:blipFill>
          <a:blip r:embed="rId13"/>
          <a:stretch>
            <a:fillRect/>
          </a:stretch>
        </p:blipFill>
        <p:spPr>
          <a:xfrm>
            <a:off x="8541471" y="388116"/>
            <a:ext cx="3589193" cy="1971626"/>
          </a:xfrm>
          <a:prstGeom prst="rect">
            <a:avLst/>
          </a:prstGeom>
        </p:spPr>
      </p:pic>
    </p:spTree>
    <p:extLst>
      <p:ext uri="{BB962C8B-B14F-4D97-AF65-F5344CB8AC3E}">
        <p14:creationId xmlns:p14="http://schemas.microsoft.com/office/powerpoint/2010/main" val="3864576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D15025-B8F3-8A24-93FC-C414758D0B98}"/>
              </a:ext>
            </a:extLst>
          </p:cNvPr>
          <p:cNvPicPr>
            <a:picLocks noChangeAspect="1"/>
          </p:cNvPicPr>
          <p:nvPr/>
        </p:nvPicPr>
        <p:blipFill>
          <a:blip r:embed="rId2"/>
          <a:stretch>
            <a:fillRect/>
          </a:stretch>
        </p:blipFill>
        <p:spPr>
          <a:xfrm>
            <a:off x="614414" y="365125"/>
            <a:ext cx="3667637" cy="342948"/>
          </a:xfrm>
          <a:prstGeom prst="rect">
            <a:avLst/>
          </a:prstGeom>
        </p:spPr>
      </p:pic>
      <p:sp>
        <p:nvSpPr>
          <p:cNvPr id="3" name="Content Placeholder 2">
            <a:extLst>
              <a:ext uri="{FF2B5EF4-FFF2-40B4-BE49-F238E27FC236}">
                <a16:creationId xmlns:a16="http://schemas.microsoft.com/office/drawing/2014/main" id="{43A55FF6-DF71-2571-9228-174BCD574438}"/>
              </a:ext>
            </a:extLst>
          </p:cNvPr>
          <p:cNvSpPr>
            <a:spLocks noGrp="1"/>
          </p:cNvSpPr>
          <p:nvPr>
            <p:ph idx="1"/>
          </p:nvPr>
        </p:nvSpPr>
        <p:spPr>
          <a:xfrm>
            <a:off x="285135" y="796412"/>
            <a:ext cx="11582400" cy="5696463"/>
          </a:xfrm>
        </p:spPr>
        <p:txBody>
          <a:bodyPr/>
          <a:lstStyle/>
          <a:p>
            <a:pPr marL="0" indent="0">
              <a:buNone/>
            </a:pPr>
            <a:r>
              <a:rPr lang="en-US" sz="1800" dirty="0">
                <a:effectLst/>
                <a:latin typeface="Times New Roman" panose="02020603050405020304" pitchFamily="18" charset="0"/>
                <a:ea typeface="Times New Roman" panose="02020603050405020304" pitchFamily="18" charset="0"/>
              </a:rPr>
              <a:t>In this case               is imaginary. </a:t>
            </a:r>
          </a:p>
          <a:p>
            <a:pPr marL="0" indent="0">
              <a:buNone/>
            </a:pPr>
            <a:r>
              <a:rPr lang="en-US" sz="1800" dirty="0">
                <a:effectLst/>
                <a:latin typeface="Times New Roman" panose="02020603050405020304" pitchFamily="18" charset="0"/>
                <a:ea typeface="Times New Roman" panose="02020603050405020304" pitchFamily="18" charset="0"/>
              </a:rPr>
              <a:t>Let us write </a:t>
            </a:r>
          </a:p>
          <a:p>
            <a:pPr marL="0" indent="0">
              <a:buNone/>
            </a:pPr>
            <a:endParaRPr lang="en-US" sz="1800" dirty="0">
              <a:latin typeface="Times New Roman" panose="02020603050405020304" pitchFamily="18" charset="0"/>
            </a:endParaRPr>
          </a:p>
          <a:p>
            <a:pPr marL="0" indent="0">
              <a:buNone/>
            </a:pPr>
            <a:endParaRPr lang="en-US" sz="1800" dirty="0">
              <a:latin typeface="Times New Roman" panose="02020603050405020304" pitchFamily="18" charset="0"/>
            </a:endParaRPr>
          </a:p>
          <a:p>
            <a:pPr marL="0" indent="0">
              <a:buNone/>
            </a:pPr>
            <a:endParaRPr lang="en-US" sz="1800" dirty="0">
              <a:latin typeface="Times New Roman" panose="02020603050405020304" pitchFamily="18" charset="0"/>
            </a:endParaRPr>
          </a:p>
          <a:p>
            <a:pPr marL="0" indent="0">
              <a:buNone/>
            </a:pPr>
            <a:endParaRPr lang="en-US" sz="1800" dirty="0">
              <a:latin typeface="Times New Roman" panose="02020603050405020304" pitchFamily="18" charset="0"/>
            </a:endParaRPr>
          </a:p>
          <a:p>
            <a:pPr marL="0" indent="0">
              <a:buNone/>
            </a:pPr>
            <a:endParaRPr lang="en-US" sz="1800" dirty="0">
              <a:latin typeface="Times New Roman" panose="02020603050405020304" pitchFamily="18" charset="0"/>
            </a:endParaRPr>
          </a:p>
          <a:p>
            <a:pPr marL="0" indent="0">
              <a:buNone/>
            </a:pPr>
            <a:endParaRPr lang="en-US" sz="1800" dirty="0">
              <a:latin typeface="Times New Roman" panose="02020603050405020304" pitchFamily="18" charset="0"/>
            </a:endParaRPr>
          </a:p>
          <a:p>
            <a:pPr marL="0" indent="0">
              <a:buNone/>
            </a:pPr>
            <a:endParaRPr lang="en-US" sz="1800" dirty="0">
              <a:latin typeface="Times New Roman" panose="02020603050405020304" pitchFamily="18" charset="0"/>
            </a:endParaRPr>
          </a:p>
          <a:p>
            <a:pPr marL="0" indent="0">
              <a:buNone/>
            </a:pPr>
            <a:endParaRPr lang="en-US" sz="1800" dirty="0">
              <a:latin typeface="Times New Roman" panose="02020603050405020304" pitchFamily="18" charset="0"/>
            </a:endParaRPr>
          </a:p>
          <a:p>
            <a:pPr marL="0" indent="0">
              <a:buNone/>
            </a:pPr>
            <a:endParaRPr lang="en-US" sz="1800" dirty="0">
              <a:latin typeface="Times New Roman" panose="02020603050405020304" pitchFamily="18" charset="0"/>
            </a:endParaRPr>
          </a:p>
          <a:p>
            <a:pPr marL="0" indent="0">
              <a:buNone/>
            </a:pPr>
            <a:endParaRPr lang="en-US" sz="1800" dirty="0">
              <a:latin typeface="Times New Roman" panose="02020603050405020304" pitchFamily="18" charset="0"/>
            </a:endParaRPr>
          </a:p>
          <a:p>
            <a:pPr marL="0" indent="0">
              <a:buNone/>
            </a:pPr>
            <a:endParaRPr lang="en-US" sz="1800" dirty="0">
              <a:latin typeface="Times New Roman" panose="02020603050405020304" pitchFamily="18" charset="0"/>
            </a:endParaRPr>
          </a:p>
          <a:p>
            <a:pPr marL="0" indent="0">
              <a:buNone/>
            </a:pPr>
            <a:endParaRPr lang="en-US" sz="1800" dirty="0">
              <a:latin typeface="Times New Roman" panose="02020603050405020304" pitchFamily="18" charset="0"/>
            </a:endParaRPr>
          </a:p>
          <a:p>
            <a:pPr marL="0" indent="0">
              <a:buNone/>
            </a:pPr>
            <a:endParaRPr lang="en-US" sz="1800" dirty="0">
              <a:latin typeface="Times New Roman" panose="02020603050405020304" pitchFamily="18" charset="0"/>
            </a:endParaRPr>
          </a:p>
          <a:p>
            <a:pPr marL="0" indent="0">
              <a:buNone/>
            </a:pPr>
            <a:endParaRPr lang="en-US" sz="1800" dirty="0">
              <a:latin typeface="Times New Roman" panose="02020603050405020304" pitchFamily="18" charset="0"/>
            </a:endParaRPr>
          </a:p>
          <a:p>
            <a:pPr marL="0" indent="0">
              <a:buNone/>
            </a:pPr>
            <a:endParaRPr lang="en-IN" dirty="0"/>
          </a:p>
        </p:txBody>
      </p:sp>
      <p:graphicFrame>
        <p:nvGraphicFramePr>
          <p:cNvPr id="6" name="Object 5">
            <a:extLst>
              <a:ext uri="{FF2B5EF4-FFF2-40B4-BE49-F238E27FC236}">
                <a16:creationId xmlns:a16="http://schemas.microsoft.com/office/drawing/2014/main" id="{32A08816-1F14-F8AA-B89D-43B32EE4B669}"/>
              </a:ext>
            </a:extLst>
          </p:cNvPr>
          <p:cNvGraphicFramePr>
            <a:graphicFrameLocks noChangeAspect="1"/>
          </p:cNvGraphicFramePr>
          <p:nvPr>
            <p:extLst>
              <p:ext uri="{D42A27DB-BD31-4B8C-83A1-F6EECF244321}">
                <p14:modId xmlns:p14="http://schemas.microsoft.com/office/powerpoint/2010/main" val="2730407418"/>
              </p:ext>
            </p:extLst>
          </p:nvPr>
        </p:nvGraphicFramePr>
        <p:xfrm>
          <a:off x="1435510" y="796412"/>
          <a:ext cx="757084" cy="343054"/>
        </p:xfrm>
        <a:graphic>
          <a:graphicData uri="http://schemas.openxmlformats.org/presentationml/2006/ole">
            <mc:AlternateContent xmlns:mc="http://schemas.openxmlformats.org/markup-compatibility/2006">
              <mc:Choice xmlns:v="urn:schemas-microsoft-com:vml" Requires="v">
                <p:oleObj name="Equation" r:id="rId3" imgW="609198" imgH="276516" progId="Equation.DSMT4">
                  <p:embed/>
                </p:oleObj>
              </mc:Choice>
              <mc:Fallback>
                <p:oleObj name="Equation" r:id="rId3" imgW="609198" imgH="276516" progId="Equation.DSMT4">
                  <p:embed/>
                  <p:pic>
                    <p:nvPicPr>
                      <p:cNvPr id="0" name=""/>
                      <p:cNvPicPr/>
                      <p:nvPr/>
                    </p:nvPicPr>
                    <p:blipFill>
                      <a:blip r:embed="rId4"/>
                      <a:stretch>
                        <a:fillRect/>
                      </a:stretch>
                    </p:blipFill>
                    <p:spPr>
                      <a:xfrm>
                        <a:off x="1435510" y="796412"/>
                        <a:ext cx="757084" cy="343054"/>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067A30AD-E40F-4F76-45D0-0D451EC09F42}"/>
              </a:ext>
            </a:extLst>
          </p:cNvPr>
          <p:cNvGraphicFramePr>
            <a:graphicFrameLocks noChangeAspect="1"/>
          </p:cNvGraphicFramePr>
          <p:nvPr>
            <p:extLst>
              <p:ext uri="{D42A27DB-BD31-4B8C-83A1-F6EECF244321}">
                <p14:modId xmlns:p14="http://schemas.microsoft.com/office/powerpoint/2010/main" val="3690126769"/>
              </p:ext>
            </p:extLst>
          </p:nvPr>
        </p:nvGraphicFramePr>
        <p:xfrm>
          <a:off x="285135" y="1631692"/>
          <a:ext cx="5414938" cy="2625675"/>
        </p:xfrm>
        <a:graphic>
          <a:graphicData uri="http://schemas.openxmlformats.org/presentationml/2006/ole">
            <mc:AlternateContent xmlns:mc="http://schemas.openxmlformats.org/markup-compatibility/2006">
              <mc:Choice xmlns:v="urn:schemas-microsoft-com:vml" Requires="v">
                <p:oleObj name="Equation" r:id="rId5" imgW="4151037" imgH="2012762" progId="Equation.DSMT4">
                  <p:embed/>
                </p:oleObj>
              </mc:Choice>
              <mc:Fallback>
                <p:oleObj name="Equation" r:id="rId5" imgW="4151037" imgH="2012762" progId="Equation.DSMT4">
                  <p:embed/>
                  <p:pic>
                    <p:nvPicPr>
                      <p:cNvPr id="0" name=""/>
                      <p:cNvPicPr/>
                      <p:nvPr/>
                    </p:nvPicPr>
                    <p:blipFill>
                      <a:blip r:embed="rId6"/>
                      <a:stretch>
                        <a:fillRect/>
                      </a:stretch>
                    </p:blipFill>
                    <p:spPr>
                      <a:xfrm>
                        <a:off x="285135" y="1631692"/>
                        <a:ext cx="5414938" cy="2625675"/>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9014F8DB-D942-C475-0747-4E466F12DC1A}"/>
              </a:ext>
            </a:extLst>
          </p:cNvPr>
          <p:cNvGraphicFramePr>
            <a:graphicFrameLocks noChangeAspect="1"/>
          </p:cNvGraphicFramePr>
          <p:nvPr>
            <p:extLst>
              <p:ext uri="{D42A27DB-BD31-4B8C-83A1-F6EECF244321}">
                <p14:modId xmlns:p14="http://schemas.microsoft.com/office/powerpoint/2010/main" val="3266717310"/>
              </p:ext>
            </p:extLst>
          </p:nvPr>
        </p:nvGraphicFramePr>
        <p:xfrm>
          <a:off x="324465" y="4510828"/>
          <a:ext cx="5920595" cy="1722824"/>
        </p:xfrm>
        <a:graphic>
          <a:graphicData uri="http://schemas.openxmlformats.org/presentationml/2006/ole">
            <mc:AlternateContent xmlns:mc="http://schemas.openxmlformats.org/markup-compatibility/2006">
              <mc:Choice xmlns:v="urn:schemas-microsoft-com:vml" Requires="v">
                <p:oleObj name="Equation" r:id="rId7" imgW="3998828" imgH="1163746" progId="Equation.DSMT4">
                  <p:embed/>
                </p:oleObj>
              </mc:Choice>
              <mc:Fallback>
                <p:oleObj name="Equation" r:id="rId7" imgW="3998828" imgH="1163746" progId="Equation.DSMT4">
                  <p:embed/>
                  <p:pic>
                    <p:nvPicPr>
                      <p:cNvPr id="0" name=""/>
                      <p:cNvPicPr/>
                      <p:nvPr/>
                    </p:nvPicPr>
                    <p:blipFill>
                      <a:blip r:embed="rId8"/>
                      <a:stretch>
                        <a:fillRect/>
                      </a:stretch>
                    </p:blipFill>
                    <p:spPr>
                      <a:xfrm>
                        <a:off x="324465" y="4510828"/>
                        <a:ext cx="5920595" cy="1722824"/>
                      </a:xfrm>
                      <a:prstGeom prst="rect">
                        <a:avLst/>
                      </a:prstGeom>
                    </p:spPr>
                  </p:pic>
                </p:oleObj>
              </mc:Fallback>
            </mc:AlternateContent>
          </a:graphicData>
        </a:graphic>
      </p:graphicFrame>
      <p:sp>
        <p:nvSpPr>
          <p:cNvPr id="12" name="TextBox 11">
            <a:extLst>
              <a:ext uri="{FF2B5EF4-FFF2-40B4-BE49-F238E27FC236}">
                <a16:creationId xmlns:a16="http://schemas.microsoft.com/office/drawing/2014/main" id="{735D6E8A-907A-826D-3E81-A1335829A6B5}"/>
              </a:ext>
            </a:extLst>
          </p:cNvPr>
          <p:cNvSpPr txBox="1"/>
          <p:nvPr/>
        </p:nvSpPr>
        <p:spPr>
          <a:xfrm>
            <a:off x="2992604" y="5952659"/>
            <a:ext cx="6096000" cy="369332"/>
          </a:xfrm>
          <a:prstGeom prst="rect">
            <a:avLst/>
          </a:prstGeom>
          <a:noFill/>
        </p:spPr>
        <p:txBody>
          <a:bodyPr wrap="square">
            <a:spAutoFit/>
          </a:bodyPr>
          <a:lstStyle/>
          <a:p>
            <a:r>
              <a:rPr lang="en-US" sz="1800" dirty="0">
                <a:effectLst/>
                <a:latin typeface="Times New Roman" panose="02020603050405020304" pitchFamily="18" charset="0"/>
                <a:ea typeface="Times New Roman" panose="02020603050405020304" pitchFamily="18" charset="0"/>
              </a:rPr>
              <a:t>represents displacement in the </a:t>
            </a:r>
            <a:r>
              <a:rPr lang="en-US" sz="1800" b="1" dirty="0">
                <a:effectLst/>
                <a:latin typeface="Times New Roman" panose="02020603050405020304" pitchFamily="18" charset="0"/>
                <a:ea typeface="Times New Roman" panose="02020603050405020304" pitchFamily="18" charset="0"/>
              </a:rPr>
              <a:t>damped harmonic oscillations</a:t>
            </a:r>
            <a:r>
              <a:rPr lang="en-US" sz="1800" dirty="0">
                <a:effectLst/>
                <a:latin typeface="Times New Roman" panose="02020603050405020304" pitchFamily="18" charset="0"/>
                <a:ea typeface="Times New Roman" panose="02020603050405020304" pitchFamily="18" charset="0"/>
              </a:rPr>
              <a:t>.</a:t>
            </a:r>
            <a:endParaRPr lang="en-IN" dirty="0"/>
          </a:p>
        </p:txBody>
      </p:sp>
    </p:spTree>
    <p:extLst>
      <p:ext uri="{BB962C8B-B14F-4D97-AF65-F5344CB8AC3E}">
        <p14:creationId xmlns:p14="http://schemas.microsoft.com/office/powerpoint/2010/main" val="4293924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10FE13-AF56-5B84-6FBF-095882A216B0}"/>
              </a:ext>
            </a:extLst>
          </p:cNvPr>
          <p:cNvSpPr>
            <a:spLocks noGrp="1"/>
          </p:cNvSpPr>
          <p:nvPr>
            <p:ph idx="1"/>
          </p:nvPr>
        </p:nvSpPr>
        <p:spPr>
          <a:xfrm>
            <a:off x="383457" y="245806"/>
            <a:ext cx="11552903" cy="6361471"/>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Oscillations are not simple harmonic because </a:t>
            </a:r>
          </a:p>
        </p:txBody>
      </p:sp>
      <p:pic>
        <p:nvPicPr>
          <p:cNvPr id="4" name="Picture 3">
            <a:extLst>
              <a:ext uri="{FF2B5EF4-FFF2-40B4-BE49-F238E27FC236}">
                <a16:creationId xmlns:a16="http://schemas.microsoft.com/office/drawing/2014/main" id="{6C7D6754-C96F-FC85-5220-F28FAC80C831}"/>
              </a:ext>
            </a:extLst>
          </p:cNvPr>
          <p:cNvPicPr>
            <a:picLocks noChangeAspect="1"/>
          </p:cNvPicPr>
          <p:nvPr/>
        </p:nvPicPr>
        <p:blipFill>
          <a:blip r:embed="rId2"/>
          <a:stretch>
            <a:fillRect/>
          </a:stretch>
        </p:blipFill>
        <p:spPr>
          <a:xfrm>
            <a:off x="465715" y="693974"/>
            <a:ext cx="8239332" cy="1813251"/>
          </a:xfrm>
          <a:prstGeom prst="rect">
            <a:avLst/>
          </a:prstGeom>
        </p:spPr>
      </p:pic>
      <p:pic>
        <p:nvPicPr>
          <p:cNvPr id="5" name="Picture 4">
            <a:extLst>
              <a:ext uri="{FF2B5EF4-FFF2-40B4-BE49-F238E27FC236}">
                <a16:creationId xmlns:a16="http://schemas.microsoft.com/office/drawing/2014/main" id="{F52ED6DA-A02C-78DC-F921-AF6296EC00C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27160" y="3281517"/>
            <a:ext cx="5188781" cy="1664108"/>
          </a:xfrm>
          <a:prstGeom prst="rect">
            <a:avLst/>
          </a:prstGeom>
          <a:noFill/>
          <a:ln>
            <a:noFill/>
          </a:ln>
        </p:spPr>
      </p:pic>
    </p:spTree>
    <p:extLst>
      <p:ext uri="{BB962C8B-B14F-4D97-AF65-F5344CB8AC3E}">
        <p14:creationId xmlns:p14="http://schemas.microsoft.com/office/powerpoint/2010/main" val="7126083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0DECE-C15E-C09F-E08C-D5038B1C0EF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FF87E7E-7081-000C-2F00-F99439CF1C4F}"/>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51EF58D2-5277-B369-B2C3-4102D1FA083C}"/>
              </a:ext>
            </a:extLst>
          </p:cNvPr>
          <p:cNvPicPr>
            <a:picLocks noChangeAspect="1"/>
          </p:cNvPicPr>
          <p:nvPr/>
        </p:nvPicPr>
        <p:blipFill>
          <a:blip r:embed="rId2"/>
          <a:stretch>
            <a:fillRect/>
          </a:stretch>
        </p:blipFill>
        <p:spPr>
          <a:xfrm>
            <a:off x="2052073" y="1814287"/>
            <a:ext cx="8087854" cy="3229426"/>
          </a:xfrm>
          <a:prstGeom prst="rect">
            <a:avLst/>
          </a:prstGeom>
        </p:spPr>
      </p:pic>
    </p:spTree>
    <p:extLst>
      <p:ext uri="{BB962C8B-B14F-4D97-AF65-F5344CB8AC3E}">
        <p14:creationId xmlns:p14="http://schemas.microsoft.com/office/powerpoint/2010/main" val="61396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AC315-C6AF-BCFF-E969-768CB84FB8B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A8A11B4-3A3B-7831-00A2-6AFDFCAEBDED}"/>
              </a:ext>
            </a:extLst>
          </p:cNvPr>
          <p:cNvSpPr>
            <a:spLocks noGrp="1"/>
          </p:cNvSpPr>
          <p:nvPr>
            <p:ph idx="1"/>
          </p:nvPr>
        </p:nvSpPr>
        <p:spPr/>
        <p:txBody>
          <a:bodyPr/>
          <a:lstStyle/>
          <a:p>
            <a:endParaRPr lang="en-IN" dirty="0"/>
          </a:p>
          <a:p>
            <a:endParaRPr lang="en-IN" dirty="0"/>
          </a:p>
          <a:p>
            <a:endParaRPr lang="en-IN" dirty="0"/>
          </a:p>
        </p:txBody>
      </p:sp>
      <p:pic>
        <p:nvPicPr>
          <p:cNvPr id="4" name="Picture 3">
            <a:extLst>
              <a:ext uri="{FF2B5EF4-FFF2-40B4-BE49-F238E27FC236}">
                <a16:creationId xmlns:a16="http://schemas.microsoft.com/office/drawing/2014/main" id="{117EFF31-6177-465A-F50A-1136928DA331}"/>
              </a:ext>
            </a:extLst>
          </p:cNvPr>
          <p:cNvPicPr>
            <a:picLocks noChangeAspect="1"/>
          </p:cNvPicPr>
          <p:nvPr/>
        </p:nvPicPr>
        <p:blipFill>
          <a:blip r:embed="rId2"/>
          <a:stretch>
            <a:fillRect/>
          </a:stretch>
        </p:blipFill>
        <p:spPr>
          <a:xfrm>
            <a:off x="838199" y="576107"/>
            <a:ext cx="8991145" cy="1577158"/>
          </a:xfrm>
          <a:prstGeom prst="rect">
            <a:avLst/>
          </a:prstGeom>
        </p:spPr>
      </p:pic>
      <p:pic>
        <p:nvPicPr>
          <p:cNvPr id="5" name="Picture 4">
            <a:extLst>
              <a:ext uri="{FF2B5EF4-FFF2-40B4-BE49-F238E27FC236}">
                <a16:creationId xmlns:a16="http://schemas.microsoft.com/office/drawing/2014/main" id="{37498C45-5D97-68A2-7EB7-509DE08AFC51}"/>
              </a:ext>
            </a:extLst>
          </p:cNvPr>
          <p:cNvPicPr>
            <a:picLocks noChangeAspect="1"/>
          </p:cNvPicPr>
          <p:nvPr/>
        </p:nvPicPr>
        <p:blipFill>
          <a:blip r:embed="rId3"/>
          <a:stretch>
            <a:fillRect/>
          </a:stretch>
        </p:blipFill>
        <p:spPr>
          <a:xfrm>
            <a:off x="838199" y="2707620"/>
            <a:ext cx="5739624" cy="1854548"/>
          </a:xfrm>
          <a:prstGeom prst="rect">
            <a:avLst/>
          </a:prstGeom>
        </p:spPr>
      </p:pic>
    </p:spTree>
    <p:extLst>
      <p:ext uri="{BB962C8B-B14F-4D97-AF65-F5344CB8AC3E}">
        <p14:creationId xmlns:p14="http://schemas.microsoft.com/office/powerpoint/2010/main" val="22049062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A830B-B4E6-D612-09B9-6544988B6ED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C09A2F5-DA98-813D-902C-D36F85291C59}"/>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7BBD3E1A-5552-1DE3-2509-E8B4D418E502}"/>
              </a:ext>
            </a:extLst>
          </p:cNvPr>
          <p:cNvPicPr>
            <a:picLocks noChangeAspect="1"/>
          </p:cNvPicPr>
          <p:nvPr/>
        </p:nvPicPr>
        <p:blipFill>
          <a:blip r:embed="rId2"/>
          <a:stretch>
            <a:fillRect/>
          </a:stretch>
        </p:blipFill>
        <p:spPr>
          <a:xfrm>
            <a:off x="973964" y="471949"/>
            <a:ext cx="8736839" cy="5043948"/>
          </a:xfrm>
          <a:prstGeom prst="rect">
            <a:avLst/>
          </a:prstGeom>
        </p:spPr>
      </p:pic>
    </p:spTree>
    <p:extLst>
      <p:ext uri="{BB962C8B-B14F-4D97-AF65-F5344CB8AC3E}">
        <p14:creationId xmlns:p14="http://schemas.microsoft.com/office/powerpoint/2010/main" val="104885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AB01E-915D-0253-0484-EF41AE554F6E}"/>
              </a:ext>
            </a:extLst>
          </p:cNvPr>
          <p:cNvSpPr>
            <a:spLocks noGrp="1"/>
          </p:cNvSpPr>
          <p:nvPr>
            <p:ph type="title"/>
          </p:nvPr>
        </p:nvSpPr>
        <p:spPr>
          <a:xfrm>
            <a:off x="838200" y="365125"/>
            <a:ext cx="10515600" cy="480449"/>
          </a:xfrm>
        </p:spPr>
        <p:txBody>
          <a:bodyPr>
            <a:normAutofit fontScale="90000"/>
          </a:bodyPr>
          <a:lstStyle/>
          <a:p>
            <a:r>
              <a:rPr lang="en-IN" sz="3200" b="1" dirty="0">
                <a:latin typeface="Times New Roman" panose="02020603050405020304" pitchFamily="18" charset="0"/>
                <a:cs typeface="Times New Roman" panose="02020603050405020304" pitchFamily="18" charset="0"/>
              </a:rPr>
              <a:t>Forced Vibration</a:t>
            </a:r>
          </a:p>
        </p:txBody>
      </p:sp>
      <p:sp>
        <p:nvSpPr>
          <p:cNvPr id="3" name="Content Placeholder 2">
            <a:extLst>
              <a:ext uri="{FF2B5EF4-FFF2-40B4-BE49-F238E27FC236}">
                <a16:creationId xmlns:a16="http://schemas.microsoft.com/office/drawing/2014/main" id="{911A4F39-14F1-AF6E-2FB0-75B7B5C4FE76}"/>
              </a:ext>
            </a:extLst>
          </p:cNvPr>
          <p:cNvSpPr>
            <a:spLocks noGrp="1"/>
          </p:cNvSpPr>
          <p:nvPr>
            <p:ph idx="1"/>
          </p:nvPr>
        </p:nvSpPr>
        <p:spPr>
          <a:xfrm>
            <a:off x="838200" y="845574"/>
            <a:ext cx="10515600" cy="5331389"/>
          </a:xfrm>
        </p:spPr>
        <p:txBody>
          <a:bodyPr/>
          <a:lstStyle/>
          <a:p>
            <a:pPr marL="0" indent="0">
              <a:buNone/>
            </a:pPr>
            <a:r>
              <a:rPr lang="en-US" sz="1800" dirty="0">
                <a:latin typeface="Times New Roman" panose="02020603050405020304" pitchFamily="18" charset="0"/>
                <a:ea typeface="Times New Roman" panose="02020603050405020304" pitchFamily="18" charset="0"/>
              </a:rPr>
              <a:t>T</a:t>
            </a:r>
            <a:r>
              <a:rPr lang="en-US" sz="1800" dirty="0">
                <a:effectLst/>
                <a:latin typeface="Times New Roman" panose="02020603050405020304" pitchFamily="18" charset="0"/>
                <a:ea typeface="Times New Roman" panose="02020603050405020304" pitchFamily="18" charset="0"/>
              </a:rPr>
              <a:t>he vibrations in which the body vibrates with frequency other than natural frequency of the body, and they are due to applied external periodic force.</a:t>
            </a:r>
          </a:p>
          <a:p>
            <a:pPr marL="0" indent="0">
              <a:buNone/>
            </a:pPr>
            <a:endParaRPr lang="en-US" sz="1800" b="1" dirty="0">
              <a:latin typeface="Times New Roman" panose="02020603050405020304" pitchFamily="18" charset="0"/>
            </a:endParaRPr>
          </a:p>
          <a:p>
            <a:pPr marL="0" indent="0">
              <a:buNone/>
            </a:pPr>
            <a:r>
              <a:rPr lang="en-US" sz="1800" b="1" cap="small" spc="100" dirty="0">
                <a:effectLst/>
                <a:latin typeface="Times New Roman" panose="02020603050405020304" pitchFamily="18" charset="0"/>
                <a:ea typeface="Times New Roman" panose="02020603050405020304" pitchFamily="18" charset="0"/>
              </a:rPr>
              <a:t>Differential equation of forced vibrations and solution</a:t>
            </a:r>
            <a:endParaRPr lang="en-IN" sz="1800" dirty="0">
              <a:effectLst/>
              <a:latin typeface="Times New Roman" panose="02020603050405020304" pitchFamily="18" charset="0"/>
              <a:ea typeface="Times New Roman" panose="02020603050405020304" pitchFamily="18" charset="0"/>
            </a:endParaRPr>
          </a:p>
          <a:p>
            <a:pPr marL="0" indent="0">
              <a:lnSpc>
                <a:spcPct val="150000"/>
              </a:lnSpc>
              <a:buNone/>
            </a:pPr>
            <a:r>
              <a:rPr lang="en-US" sz="1800" dirty="0">
                <a:effectLst/>
                <a:latin typeface="Times New Roman" panose="02020603050405020304" pitchFamily="18" charset="0"/>
                <a:ea typeface="Times New Roman" panose="02020603050405020304" pitchFamily="18" charset="0"/>
              </a:rPr>
              <a:t>Consider a particle of mass m is connected to a spring. When it is displaced and released it starts oscillating about a mean position.  The particle is driven by external periodic force </a:t>
            </a:r>
          </a:p>
          <a:p>
            <a:pPr marL="0" indent="0">
              <a:lnSpc>
                <a:spcPct val="150000"/>
              </a:lnSpc>
              <a:buNone/>
            </a:pPr>
            <a:r>
              <a:rPr lang="en-US" sz="1800" dirty="0" err="1">
                <a:effectLst/>
                <a:latin typeface="Times New Roman" panose="02020603050405020304" pitchFamily="18" charset="0"/>
                <a:ea typeface="Times New Roman" panose="02020603050405020304" pitchFamily="18" charset="0"/>
              </a:rPr>
              <a:t>F</a:t>
            </a:r>
            <a:r>
              <a:rPr lang="en-US" sz="1800" baseline="-25000" dirty="0" err="1">
                <a:effectLst/>
                <a:latin typeface="Times New Roman" panose="02020603050405020304" pitchFamily="18" charset="0"/>
                <a:ea typeface="Times New Roman" panose="02020603050405020304" pitchFamily="18" charset="0"/>
              </a:rPr>
              <a:t>restoring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ky</a:t>
            </a:r>
            <a:endParaRPr lang="en-US" sz="1800" dirty="0">
              <a:latin typeface="Times New Roman" panose="02020603050405020304" pitchFamily="18" charset="0"/>
              <a:ea typeface="Times New Roman" panose="02020603050405020304" pitchFamily="18" charset="0"/>
            </a:endParaRPr>
          </a:p>
          <a:p>
            <a:pPr marL="0" indent="0">
              <a:lnSpc>
                <a:spcPct val="150000"/>
              </a:lnSpc>
              <a:buNone/>
            </a:pPr>
            <a:r>
              <a:rPr lang="en-US" sz="1800" dirty="0">
                <a:effectLst/>
                <a:latin typeface="Times New Roman" panose="02020603050405020304" pitchFamily="18" charset="0"/>
                <a:ea typeface="Times New Roman" panose="02020603050405020304" pitchFamily="18" charset="0"/>
              </a:rPr>
              <a:t>F </a:t>
            </a:r>
            <a:r>
              <a:rPr lang="en-US" sz="1800" baseline="-25000" dirty="0">
                <a:effectLst/>
                <a:latin typeface="Times New Roman" panose="02020603050405020304" pitchFamily="18" charset="0"/>
                <a:ea typeface="Times New Roman" panose="02020603050405020304" pitchFamily="18" charset="0"/>
              </a:rPr>
              <a:t>damping </a:t>
            </a:r>
            <a:r>
              <a:rPr lang="en-US" sz="1800" dirty="0">
                <a:effectLst/>
                <a:latin typeface="Times New Roman" panose="02020603050405020304" pitchFamily="18" charset="0"/>
                <a:ea typeface="Times New Roman" panose="02020603050405020304" pitchFamily="18" charset="0"/>
              </a:rPr>
              <a:t>=               where, r is frictional force or </a:t>
            </a:r>
            <a:r>
              <a:rPr lang="en-US" sz="1800" dirty="0">
                <a:latin typeface="Times New Roman" panose="02020603050405020304" pitchFamily="18" charset="0"/>
                <a:ea typeface="Times New Roman" panose="02020603050405020304" pitchFamily="18" charset="0"/>
              </a:rPr>
              <a:t>unit velocity</a:t>
            </a:r>
          </a:p>
          <a:p>
            <a:pPr marL="0" indent="0">
              <a:lnSpc>
                <a:spcPct val="150000"/>
              </a:lnSpc>
              <a:buNone/>
            </a:pPr>
            <a:r>
              <a:rPr lang="en-US" sz="1800" dirty="0">
                <a:latin typeface="Times New Roman" panose="02020603050405020304" pitchFamily="18" charset="0"/>
              </a:rPr>
              <a:t>Applied force                where,  </a:t>
            </a:r>
            <a:r>
              <a:rPr lang="en-US" sz="1800" dirty="0" err="1">
                <a:latin typeface="Times New Roman" panose="02020603050405020304" pitchFamily="18" charset="0"/>
              </a:rPr>
              <a:t>F</a:t>
            </a:r>
            <a:r>
              <a:rPr lang="en-US" sz="1100" dirty="0" err="1">
                <a:latin typeface="Times New Roman" panose="02020603050405020304" pitchFamily="18" charset="0"/>
              </a:rPr>
              <a:t>o</a:t>
            </a:r>
            <a:r>
              <a:rPr lang="en-US" sz="2400" dirty="0">
                <a:latin typeface="Times New Roman" panose="02020603050405020304" pitchFamily="18" charset="0"/>
              </a:rPr>
              <a:t> </a:t>
            </a:r>
            <a:r>
              <a:rPr lang="en-US" sz="1800" dirty="0">
                <a:latin typeface="Times New Roman" panose="02020603050405020304" pitchFamily="18" charset="0"/>
              </a:rPr>
              <a:t>is maximum value of the force, </a:t>
            </a:r>
            <a:r>
              <a:rPr lang="en-US" sz="1800" dirty="0" err="1">
                <a:effectLst/>
                <a:latin typeface="Times New Roman" panose="02020603050405020304" pitchFamily="18" charset="0"/>
                <a:ea typeface="Times New Roman" panose="02020603050405020304" pitchFamily="18" charset="0"/>
              </a:rPr>
              <a:t>ω</a:t>
            </a:r>
            <a:r>
              <a:rPr lang="en-US" sz="1800" baseline="-25000" dirty="0" err="1">
                <a:effectLst/>
                <a:latin typeface="Times New Roman" panose="02020603050405020304" pitchFamily="18" charset="0"/>
                <a:ea typeface="Times New Roman" panose="02020603050405020304" pitchFamily="18" charset="0"/>
              </a:rPr>
              <a:t>d</a:t>
            </a:r>
            <a:r>
              <a:rPr lang="en-US" sz="1800" dirty="0">
                <a:effectLst/>
                <a:latin typeface="Times New Roman" panose="02020603050405020304" pitchFamily="18" charset="0"/>
                <a:ea typeface="Times New Roman" panose="02020603050405020304" pitchFamily="18" charset="0"/>
              </a:rPr>
              <a:t> is the angular frequency of the driving force.</a:t>
            </a:r>
            <a:endParaRPr lang="en-IN" dirty="0"/>
          </a:p>
        </p:txBody>
      </p:sp>
      <p:pic>
        <p:nvPicPr>
          <p:cNvPr id="14" name="Picture 13">
            <a:extLst>
              <a:ext uri="{FF2B5EF4-FFF2-40B4-BE49-F238E27FC236}">
                <a16:creationId xmlns:a16="http://schemas.microsoft.com/office/drawing/2014/main" id="{D1A0A03C-50A1-23D4-38F0-75716C379FC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17836" y="2739666"/>
            <a:ext cx="987362" cy="347663"/>
          </a:xfrm>
          <a:prstGeom prst="rect">
            <a:avLst/>
          </a:prstGeom>
          <a:noFill/>
          <a:ln>
            <a:noFill/>
          </a:ln>
        </p:spPr>
      </p:pic>
      <p:graphicFrame>
        <p:nvGraphicFramePr>
          <p:cNvPr id="21" name="Object 20">
            <a:extLst>
              <a:ext uri="{FF2B5EF4-FFF2-40B4-BE49-F238E27FC236}">
                <a16:creationId xmlns:a16="http://schemas.microsoft.com/office/drawing/2014/main" id="{2E5FD6B8-0D42-D880-8EFD-C4E57BC54516}"/>
              </a:ext>
            </a:extLst>
          </p:cNvPr>
          <p:cNvGraphicFramePr>
            <a:graphicFrameLocks noChangeAspect="1"/>
          </p:cNvGraphicFramePr>
          <p:nvPr>
            <p:extLst>
              <p:ext uri="{D42A27DB-BD31-4B8C-83A1-F6EECF244321}">
                <p14:modId xmlns:p14="http://schemas.microsoft.com/office/powerpoint/2010/main" val="1267355075"/>
              </p:ext>
            </p:extLst>
          </p:nvPr>
        </p:nvGraphicFramePr>
        <p:xfrm>
          <a:off x="1897780" y="3733597"/>
          <a:ext cx="432465" cy="537305"/>
        </p:xfrm>
        <a:graphic>
          <a:graphicData uri="http://schemas.openxmlformats.org/presentationml/2006/ole">
            <mc:AlternateContent xmlns:mc="http://schemas.openxmlformats.org/markup-compatibility/2006">
              <mc:Choice xmlns:v="urn:schemas-microsoft-com:vml" Requires="v">
                <p:oleObj name="Equation" r:id="rId3" imgW="314134" imgH="391160" progId="Equation.DSMT4">
                  <p:embed/>
                </p:oleObj>
              </mc:Choice>
              <mc:Fallback>
                <p:oleObj name="Equation" r:id="rId3" imgW="314134" imgH="391160" progId="Equation.DSMT4">
                  <p:embed/>
                  <p:pic>
                    <p:nvPicPr>
                      <p:cNvPr id="0" name=""/>
                      <p:cNvPicPr/>
                      <p:nvPr/>
                    </p:nvPicPr>
                    <p:blipFill>
                      <a:blip r:embed="rId4"/>
                      <a:stretch>
                        <a:fillRect/>
                      </a:stretch>
                    </p:blipFill>
                    <p:spPr>
                      <a:xfrm>
                        <a:off x="1897780" y="3733597"/>
                        <a:ext cx="432465" cy="537305"/>
                      </a:xfrm>
                      <a:prstGeom prst="rect">
                        <a:avLst/>
                      </a:prstGeom>
                    </p:spPr>
                  </p:pic>
                </p:oleObj>
              </mc:Fallback>
            </mc:AlternateContent>
          </a:graphicData>
        </a:graphic>
      </p:graphicFrame>
      <p:pic>
        <p:nvPicPr>
          <p:cNvPr id="22" name="Picture 21">
            <a:extLst>
              <a:ext uri="{FF2B5EF4-FFF2-40B4-BE49-F238E27FC236}">
                <a16:creationId xmlns:a16="http://schemas.microsoft.com/office/drawing/2014/main" id="{C66F817A-9F1A-9630-D01A-F90889FE2AF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13179" y="4404851"/>
            <a:ext cx="805017" cy="287506"/>
          </a:xfrm>
          <a:prstGeom prst="rect">
            <a:avLst/>
          </a:prstGeom>
          <a:noFill/>
          <a:ln>
            <a:noFill/>
          </a:ln>
        </p:spPr>
      </p:pic>
    </p:spTree>
    <p:extLst>
      <p:ext uri="{BB962C8B-B14F-4D97-AF65-F5344CB8AC3E}">
        <p14:creationId xmlns:p14="http://schemas.microsoft.com/office/powerpoint/2010/main" val="1127438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028168-4081-4633-A7E5-42B6187CB577}"/>
              </a:ext>
            </a:extLst>
          </p:cNvPr>
          <p:cNvSpPr>
            <a:spLocks noGrp="1"/>
          </p:cNvSpPr>
          <p:nvPr>
            <p:ph idx="1"/>
          </p:nvPr>
        </p:nvSpPr>
        <p:spPr>
          <a:xfrm>
            <a:off x="838200" y="432620"/>
            <a:ext cx="10515600" cy="5744344"/>
          </a:xfrm>
        </p:spPr>
        <p:txBody>
          <a:bodyPr/>
          <a:lstStyle/>
          <a:p>
            <a:pPr marL="0" indent="0">
              <a:buNone/>
            </a:pPr>
            <a:r>
              <a:rPr lang="en-US" sz="1800" dirty="0">
                <a:effectLst/>
                <a:latin typeface="Times New Roman" panose="02020603050405020304" pitchFamily="18" charset="0"/>
                <a:ea typeface="Times New Roman" panose="02020603050405020304" pitchFamily="18" charset="0"/>
              </a:rPr>
              <a:t>The total force acting on the particle is given by,</a:t>
            </a:r>
          </a:p>
          <a:p>
            <a:pPr marL="0" indent="0">
              <a:buNone/>
            </a:pPr>
            <a:endParaRPr lang="en-IN" dirty="0"/>
          </a:p>
        </p:txBody>
      </p:sp>
      <p:graphicFrame>
        <p:nvGraphicFramePr>
          <p:cNvPr id="5" name="Object 4">
            <a:extLst>
              <a:ext uri="{FF2B5EF4-FFF2-40B4-BE49-F238E27FC236}">
                <a16:creationId xmlns:a16="http://schemas.microsoft.com/office/drawing/2014/main" id="{25CD7497-90C7-5D35-356F-33DCE41CCF84}"/>
              </a:ext>
            </a:extLst>
          </p:cNvPr>
          <p:cNvGraphicFramePr>
            <a:graphicFrameLocks noChangeAspect="1"/>
          </p:cNvGraphicFramePr>
          <p:nvPr>
            <p:extLst>
              <p:ext uri="{D42A27DB-BD31-4B8C-83A1-F6EECF244321}">
                <p14:modId xmlns:p14="http://schemas.microsoft.com/office/powerpoint/2010/main" val="3061609439"/>
              </p:ext>
            </p:extLst>
          </p:nvPr>
        </p:nvGraphicFramePr>
        <p:xfrm>
          <a:off x="959004" y="898935"/>
          <a:ext cx="9374354" cy="5010252"/>
        </p:xfrm>
        <a:graphic>
          <a:graphicData uri="http://schemas.openxmlformats.org/presentationml/2006/ole">
            <mc:AlternateContent xmlns:mc="http://schemas.openxmlformats.org/markup-compatibility/2006">
              <mc:Choice xmlns:v="urn:schemas-microsoft-com:vml" Requires="v">
                <p:oleObj name="Equation" r:id="rId2" imgW="5712354" imgH="3052490" progId="Equation.DSMT4">
                  <p:embed/>
                </p:oleObj>
              </mc:Choice>
              <mc:Fallback>
                <p:oleObj name="Equation" r:id="rId2" imgW="5712354" imgH="3052490" progId="Equation.DSMT4">
                  <p:embed/>
                  <p:pic>
                    <p:nvPicPr>
                      <p:cNvPr id="0" name=""/>
                      <p:cNvPicPr/>
                      <p:nvPr/>
                    </p:nvPicPr>
                    <p:blipFill>
                      <a:blip r:embed="rId3"/>
                      <a:stretch>
                        <a:fillRect/>
                      </a:stretch>
                    </p:blipFill>
                    <p:spPr>
                      <a:xfrm>
                        <a:off x="959004" y="898935"/>
                        <a:ext cx="9374354" cy="5010252"/>
                      </a:xfrm>
                      <a:prstGeom prst="rect">
                        <a:avLst/>
                      </a:prstGeom>
                    </p:spPr>
                  </p:pic>
                </p:oleObj>
              </mc:Fallback>
            </mc:AlternateContent>
          </a:graphicData>
        </a:graphic>
      </p:graphicFrame>
    </p:spTree>
    <p:extLst>
      <p:ext uri="{BB962C8B-B14F-4D97-AF65-F5344CB8AC3E}">
        <p14:creationId xmlns:p14="http://schemas.microsoft.com/office/powerpoint/2010/main" val="20772731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FD9DA2-9ABC-D4EA-8ED0-A0BDD6CF874B}"/>
              </a:ext>
            </a:extLst>
          </p:cNvPr>
          <p:cNvSpPr>
            <a:spLocks noGrp="1"/>
          </p:cNvSpPr>
          <p:nvPr>
            <p:ph idx="1"/>
          </p:nvPr>
        </p:nvSpPr>
        <p:spPr>
          <a:xfrm>
            <a:off x="838200" y="412955"/>
            <a:ext cx="10515600" cy="5764008"/>
          </a:xfrm>
        </p:spPr>
        <p:txBody>
          <a:bodyPr/>
          <a:lstStyle/>
          <a:p>
            <a:pPr marL="0" indent="0">
              <a:buNone/>
            </a:pPr>
            <a:r>
              <a:rPr lang="en-IN" dirty="0">
                <a:latin typeface="Times New Roman" panose="02020603050405020304" pitchFamily="18" charset="0"/>
                <a:cs typeface="Times New Roman" panose="02020603050405020304" pitchFamily="18" charset="0"/>
              </a:rPr>
              <a:t>Let the solution of the above equation is of the form</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sz="1800" dirty="0">
                <a:effectLst/>
                <a:latin typeface="Times New Roman" panose="02020603050405020304" pitchFamily="18" charset="0"/>
                <a:ea typeface="Calibri" panose="020F0502020204030204" pitchFamily="34" charset="0"/>
              </a:rPr>
              <a:t>represent the SHM and </a:t>
            </a:r>
            <a:r>
              <a:rPr lang="en-US" sz="1800" dirty="0" err="1">
                <a:effectLst/>
                <a:latin typeface="Times New Roman" panose="02020603050405020304" pitchFamily="18" charset="0"/>
                <a:ea typeface="Times New Roman" panose="02020603050405020304" pitchFamily="18" charset="0"/>
              </a:rPr>
              <a:t>ω</a:t>
            </a:r>
            <a:r>
              <a:rPr lang="en-US" sz="1800" baseline="-25000" dirty="0" err="1">
                <a:effectLst/>
                <a:latin typeface="Times New Roman" panose="02020603050405020304" pitchFamily="18" charset="0"/>
                <a:ea typeface="Times New Roman" panose="02020603050405020304" pitchFamily="18" charset="0"/>
              </a:rPr>
              <a:t>d</a:t>
            </a:r>
            <a:r>
              <a:rPr lang="en-IN" sz="1800" dirty="0">
                <a:effectLst/>
                <a:latin typeface="Times New Roman" panose="02020603050405020304" pitchFamily="18" charset="0"/>
                <a:ea typeface="Calibri" panose="020F0502020204030204" pitchFamily="34" charset="0"/>
              </a:rPr>
              <a:t> and </a:t>
            </a:r>
            <a:r>
              <a:rPr lang="el-GR" sz="1800" dirty="0">
                <a:effectLst/>
                <a:latin typeface="Times New Roman" panose="02020603050405020304" pitchFamily="18" charset="0"/>
                <a:ea typeface="Calibri" panose="020F0502020204030204" pitchFamily="34" charset="0"/>
              </a:rPr>
              <a:t>Φ</a:t>
            </a:r>
            <a:r>
              <a:rPr lang="en-IN" sz="1800" dirty="0">
                <a:effectLst/>
                <a:latin typeface="Times New Roman" panose="02020603050405020304" pitchFamily="18" charset="0"/>
                <a:ea typeface="Calibri" panose="020F0502020204030204" pitchFamily="34" charset="0"/>
              </a:rPr>
              <a:t> </a:t>
            </a:r>
            <a:r>
              <a:rPr lang="en-IN" sz="1800" dirty="0" err="1">
                <a:effectLst/>
                <a:latin typeface="Times New Roman" panose="02020603050405020304" pitchFamily="18" charset="0"/>
                <a:ea typeface="Calibri" panose="020F0502020204030204" pitchFamily="34" charset="0"/>
              </a:rPr>
              <a:t>represetns</a:t>
            </a:r>
            <a:r>
              <a:rPr lang="en-IN" sz="1800" dirty="0">
                <a:effectLst/>
                <a:latin typeface="Times New Roman" panose="02020603050405020304" pitchFamily="18" charset="0"/>
                <a:ea typeface="Calibri" panose="020F0502020204030204" pitchFamily="34" charset="0"/>
              </a:rPr>
              <a:t> amplitude and phase of oscillatory body respectively.</a:t>
            </a:r>
            <a:endParaRPr lang="en-IN"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Differentiate above equation w.r.t ‘t’ twice</a:t>
            </a: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r>
              <a:rPr lang="en-US" sz="1800" dirty="0">
                <a:solidFill>
                  <a:srgbClr val="FF0000"/>
                </a:solidFill>
                <a:effectLst/>
                <a:latin typeface="Times New Roman" panose="02020603050405020304" pitchFamily="18" charset="0"/>
                <a:ea typeface="Times New Roman" panose="02020603050405020304" pitchFamily="18" charset="0"/>
              </a:rPr>
              <a:t>By substituting the values of y, </a:t>
            </a:r>
            <a:r>
              <a:rPr lang="en-US" sz="1800" dirty="0" err="1">
                <a:solidFill>
                  <a:srgbClr val="FF0000"/>
                </a:solidFill>
                <a:effectLst/>
                <a:latin typeface="Times New Roman" panose="02020603050405020304" pitchFamily="18" charset="0"/>
                <a:ea typeface="Times New Roman" panose="02020603050405020304" pitchFamily="18" charset="0"/>
              </a:rPr>
              <a:t>dy</a:t>
            </a:r>
            <a:r>
              <a:rPr lang="en-US" sz="1800" dirty="0">
                <a:solidFill>
                  <a:srgbClr val="FF0000"/>
                </a:solidFill>
                <a:effectLst/>
                <a:latin typeface="Times New Roman" panose="02020603050405020304" pitchFamily="18" charset="0"/>
                <a:ea typeface="Times New Roman" panose="02020603050405020304" pitchFamily="18" charset="0"/>
              </a:rPr>
              <a:t>/dt and d</a:t>
            </a:r>
            <a:r>
              <a:rPr lang="en-US" sz="1800" baseline="30000" dirty="0">
                <a:solidFill>
                  <a:srgbClr val="FF0000"/>
                </a:solidFill>
                <a:effectLst/>
                <a:latin typeface="Times New Roman" panose="02020603050405020304" pitchFamily="18" charset="0"/>
                <a:ea typeface="Times New Roman" panose="02020603050405020304" pitchFamily="18" charset="0"/>
              </a:rPr>
              <a:t>2</a:t>
            </a:r>
            <a:r>
              <a:rPr lang="en-US" sz="1800" dirty="0">
                <a:solidFill>
                  <a:srgbClr val="FF0000"/>
                </a:solidFill>
                <a:effectLst/>
                <a:latin typeface="Times New Roman" panose="02020603050405020304" pitchFamily="18" charset="0"/>
                <a:ea typeface="Times New Roman" panose="02020603050405020304" pitchFamily="18" charset="0"/>
              </a:rPr>
              <a:t>y/dt</a:t>
            </a:r>
            <a:r>
              <a:rPr lang="en-US" sz="1800" baseline="30000" dirty="0">
                <a:solidFill>
                  <a:srgbClr val="FF0000"/>
                </a:solidFill>
                <a:effectLst/>
                <a:latin typeface="Times New Roman" panose="02020603050405020304" pitchFamily="18" charset="0"/>
                <a:ea typeface="Times New Roman" panose="02020603050405020304" pitchFamily="18" charset="0"/>
              </a:rPr>
              <a:t>2</a:t>
            </a:r>
            <a:r>
              <a:rPr lang="en-US" sz="1800" dirty="0">
                <a:solidFill>
                  <a:srgbClr val="FF0000"/>
                </a:solidFill>
                <a:effectLst/>
                <a:latin typeface="Times New Roman" panose="02020603050405020304" pitchFamily="18" charset="0"/>
                <a:ea typeface="Times New Roman" panose="02020603050405020304" pitchFamily="18" charset="0"/>
              </a:rPr>
              <a:t> in the differential equation of the forced oscillations , we get</a:t>
            </a:r>
          </a:p>
          <a:p>
            <a:pPr marL="0" indent="0">
              <a:buNone/>
            </a:pPr>
            <a:endParaRPr lang="en-US" sz="1800" dirty="0">
              <a:solidFill>
                <a:srgbClr val="FF0000"/>
              </a:solidFill>
              <a:latin typeface="Times New Roman" panose="02020603050405020304" pitchFamily="18" charset="0"/>
              <a:ea typeface="Times New Roman" panose="02020603050405020304" pitchFamily="18" charset="0"/>
            </a:endParaRPr>
          </a:p>
          <a:p>
            <a:pPr marL="0" indent="0">
              <a:buNone/>
            </a:pPr>
            <a:endParaRPr lang="en-US" sz="1800" dirty="0">
              <a:solidFill>
                <a:srgbClr val="FF0000"/>
              </a:solidFill>
              <a:effectLst/>
              <a:latin typeface="Times New Roman" panose="02020603050405020304" pitchFamily="18" charset="0"/>
              <a:ea typeface="Times New Roman" panose="02020603050405020304" pitchFamily="18" charset="0"/>
            </a:endParaRPr>
          </a:p>
          <a:p>
            <a:pPr marL="0" indent="0">
              <a:buNone/>
            </a:pPr>
            <a:endParaRPr lang="en-US" sz="1800" dirty="0">
              <a:solidFill>
                <a:srgbClr val="FF0000"/>
              </a:solidFill>
              <a:latin typeface="Times New Roman" panose="02020603050405020304" pitchFamily="18" charset="0"/>
              <a:ea typeface="Times New Roman" panose="02020603050405020304" pitchFamily="18" charset="0"/>
            </a:endParaRPr>
          </a:p>
          <a:p>
            <a:pPr marL="0" indent="0">
              <a:buNone/>
            </a:pPr>
            <a:endParaRPr lang="en-US" sz="1800" dirty="0">
              <a:solidFill>
                <a:srgbClr val="FF0000"/>
              </a:solidFill>
              <a:effectLst/>
              <a:latin typeface="Times New Roman" panose="02020603050405020304" pitchFamily="18" charset="0"/>
              <a:ea typeface="Times New Roman" panose="02020603050405020304" pitchFamily="18" charset="0"/>
            </a:endParaRPr>
          </a:p>
          <a:p>
            <a:pPr marL="0" indent="0">
              <a:buNone/>
            </a:pPr>
            <a:r>
              <a:rPr lang="en-US" sz="1800" dirty="0">
                <a:solidFill>
                  <a:srgbClr val="FF0000"/>
                </a:solidFill>
                <a:effectLst/>
                <a:latin typeface="Times New Roman" panose="02020603050405020304" pitchFamily="18" charset="0"/>
                <a:ea typeface="Times New Roman" panose="02020603050405020304" pitchFamily="18" charset="0"/>
              </a:rPr>
              <a:t>If equation (4) holds good for all values of t, then the coefficients of sin (</a:t>
            </a:r>
            <a:r>
              <a:rPr lang="en-US" sz="1800" dirty="0" err="1">
                <a:solidFill>
                  <a:srgbClr val="FF0000"/>
                </a:solidFill>
                <a:effectLst/>
                <a:latin typeface="Times New Roman" panose="02020603050405020304" pitchFamily="18" charset="0"/>
                <a:ea typeface="Times New Roman" panose="02020603050405020304" pitchFamily="18" charset="0"/>
              </a:rPr>
              <a:t>ω</a:t>
            </a:r>
            <a:r>
              <a:rPr lang="en-US" sz="1800" baseline="-25000" dirty="0" err="1">
                <a:solidFill>
                  <a:srgbClr val="FF0000"/>
                </a:solidFill>
                <a:effectLst/>
                <a:latin typeface="Times New Roman" panose="02020603050405020304" pitchFamily="18" charset="0"/>
                <a:ea typeface="Times New Roman" panose="02020603050405020304" pitchFamily="18" charset="0"/>
              </a:rPr>
              <a:t>d</a:t>
            </a:r>
            <a:r>
              <a:rPr lang="en-US" sz="1800" dirty="0" err="1">
                <a:solidFill>
                  <a:srgbClr val="FF0000"/>
                </a:solidFill>
                <a:effectLst/>
                <a:latin typeface="Times New Roman" panose="02020603050405020304" pitchFamily="18" charset="0"/>
                <a:ea typeface="Times New Roman" panose="02020603050405020304" pitchFamily="18" charset="0"/>
              </a:rPr>
              <a:t>t</a:t>
            </a:r>
            <a:r>
              <a:rPr lang="en-US" sz="1800" dirty="0">
                <a:solidFill>
                  <a:srgbClr val="FF0000"/>
                </a:solidFill>
                <a:effectLst/>
                <a:latin typeface="Times New Roman" panose="02020603050405020304" pitchFamily="18" charset="0"/>
                <a:ea typeface="Times New Roman" panose="02020603050405020304" pitchFamily="18" charset="0"/>
              </a:rPr>
              <a:t>- φ) and cos(</a:t>
            </a:r>
            <a:r>
              <a:rPr lang="en-US" sz="1800" dirty="0" err="1">
                <a:solidFill>
                  <a:srgbClr val="FF0000"/>
                </a:solidFill>
                <a:effectLst/>
                <a:latin typeface="Times New Roman" panose="02020603050405020304" pitchFamily="18" charset="0"/>
                <a:ea typeface="Times New Roman" panose="02020603050405020304" pitchFamily="18" charset="0"/>
              </a:rPr>
              <a:t>ω</a:t>
            </a:r>
            <a:r>
              <a:rPr lang="en-US" sz="1800" baseline="-25000" dirty="0" err="1">
                <a:solidFill>
                  <a:srgbClr val="FF0000"/>
                </a:solidFill>
                <a:effectLst/>
                <a:latin typeface="Times New Roman" panose="02020603050405020304" pitchFamily="18" charset="0"/>
                <a:ea typeface="Times New Roman" panose="02020603050405020304" pitchFamily="18" charset="0"/>
              </a:rPr>
              <a:t>d</a:t>
            </a:r>
            <a:r>
              <a:rPr lang="en-US" sz="1800" dirty="0" err="1">
                <a:solidFill>
                  <a:srgbClr val="FF0000"/>
                </a:solidFill>
                <a:effectLst/>
                <a:latin typeface="Times New Roman" panose="02020603050405020304" pitchFamily="18" charset="0"/>
                <a:ea typeface="Times New Roman" panose="02020603050405020304" pitchFamily="18" charset="0"/>
              </a:rPr>
              <a:t>t</a:t>
            </a:r>
            <a:r>
              <a:rPr lang="en-US" sz="1800" dirty="0">
                <a:solidFill>
                  <a:srgbClr val="FF0000"/>
                </a:solidFill>
                <a:effectLst/>
                <a:latin typeface="Times New Roman" panose="02020603050405020304" pitchFamily="18" charset="0"/>
                <a:ea typeface="Times New Roman" panose="02020603050405020304" pitchFamily="18" charset="0"/>
              </a:rPr>
              <a:t>- φ) must be equal on both sides, then </a:t>
            </a:r>
            <a:endParaRPr lang="en-IN" sz="1800" dirty="0">
              <a:effectLst/>
              <a:latin typeface="Times New Roman" panose="02020603050405020304" pitchFamily="18" charset="0"/>
              <a:ea typeface="Times New Roman" panose="02020603050405020304" pitchFamily="18" charset="0"/>
            </a:endParaRPr>
          </a:p>
          <a:p>
            <a:pPr marL="0" indent="0">
              <a:buNone/>
            </a:pPr>
            <a:endParaRPr lang="en-IN" sz="1800" dirty="0">
              <a:effectLst/>
              <a:latin typeface="Times New Roman" panose="02020603050405020304" pitchFamily="18" charset="0"/>
              <a:ea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graphicFrame>
        <p:nvGraphicFramePr>
          <p:cNvPr id="4" name="Object 3">
            <a:extLst>
              <a:ext uri="{FF2B5EF4-FFF2-40B4-BE49-F238E27FC236}">
                <a16:creationId xmlns:a16="http://schemas.microsoft.com/office/drawing/2014/main" id="{424EF739-9970-128B-82CD-C82669B48EC6}"/>
              </a:ext>
            </a:extLst>
          </p:cNvPr>
          <p:cNvGraphicFramePr>
            <a:graphicFrameLocks noChangeAspect="1"/>
          </p:cNvGraphicFramePr>
          <p:nvPr>
            <p:extLst>
              <p:ext uri="{D42A27DB-BD31-4B8C-83A1-F6EECF244321}">
                <p14:modId xmlns:p14="http://schemas.microsoft.com/office/powerpoint/2010/main" val="135007052"/>
              </p:ext>
            </p:extLst>
          </p:nvPr>
        </p:nvGraphicFramePr>
        <p:xfrm>
          <a:off x="1051897" y="1041862"/>
          <a:ext cx="3743398" cy="403480"/>
        </p:xfrm>
        <a:graphic>
          <a:graphicData uri="http://schemas.openxmlformats.org/presentationml/2006/ole">
            <mc:AlternateContent xmlns:mc="http://schemas.openxmlformats.org/markup-compatibility/2006">
              <mc:Choice xmlns:v="urn:schemas-microsoft-com:vml" Requires="v">
                <p:oleObj name="Equation" r:id="rId2" imgW="2120760" imgH="228600" progId="Equation.DSMT4">
                  <p:embed/>
                </p:oleObj>
              </mc:Choice>
              <mc:Fallback>
                <p:oleObj name="Equation" r:id="rId2" imgW="2120760" imgH="228600" progId="Equation.DSMT4">
                  <p:embed/>
                  <p:pic>
                    <p:nvPicPr>
                      <p:cNvPr id="0" name=""/>
                      <p:cNvPicPr/>
                      <p:nvPr/>
                    </p:nvPicPr>
                    <p:blipFill>
                      <a:blip r:embed="rId3"/>
                      <a:stretch>
                        <a:fillRect/>
                      </a:stretch>
                    </p:blipFill>
                    <p:spPr>
                      <a:xfrm>
                        <a:off x="1051897" y="1041862"/>
                        <a:ext cx="3743398" cy="403480"/>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77DBAA64-76BE-6464-2C86-5E9F5FC242CA}"/>
              </a:ext>
            </a:extLst>
          </p:cNvPr>
          <p:cNvGraphicFramePr>
            <a:graphicFrameLocks noChangeAspect="1"/>
          </p:cNvGraphicFramePr>
          <p:nvPr>
            <p:extLst>
              <p:ext uri="{D42A27DB-BD31-4B8C-83A1-F6EECF244321}">
                <p14:modId xmlns:p14="http://schemas.microsoft.com/office/powerpoint/2010/main" val="963462800"/>
              </p:ext>
            </p:extLst>
          </p:nvPr>
        </p:nvGraphicFramePr>
        <p:xfrm>
          <a:off x="1051896" y="2348527"/>
          <a:ext cx="4740726" cy="630647"/>
        </p:xfrm>
        <a:graphic>
          <a:graphicData uri="http://schemas.openxmlformats.org/presentationml/2006/ole">
            <mc:AlternateContent xmlns:mc="http://schemas.openxmlformats.org/markup-compatibility/2006">
              <mc:Choice xmlns:v="urn:schemas-microsoft-com:vml" Requires="v">
                <p:oleObj name="Equation" r:id="rId4" imgW="2768400" imgH="368280" progId="Equation.DSMT4">
                  <p:embed/>
                </p:oleObj>
              </mc:Choice>
              <mc:Fallback>
                <p:oleObj name="Equation" r:id="rId4" imgW="2768400" imgH="368280" progId="Equation.DSMT4">
                  <p:embed/>
                  <p:pic>
                    <p:nvPicPr>
                      <p:cNvPr id="0" name=""/>
                      <p:cNvPicPr/>
                      <p:nvPr/>
                    </p:nvPicPr>
                    <p:blipFill>
                      <a:blip r:embed="rId5"/>
                      <a:stretch>
                        <a:fillRect/>
                      </a:stretch>
                    </p:blipFill>
                    <p:spPr>
                      <a:xfrm>
                        <a:off x="1051896" y="2348527"/>
                        <a:ext cx="4740726" cy="630647"/>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5022D5C3-AE59-4F81-E7D6-4DC3DFCA7C1A}"/>
              </a:ext>
            </a:extLst>
          </p:cNvPr>
          <p:cNvGraphicFramePr>
            <a:graphicFrameLocks noChangeAspect="1"/>
          </p:cNvGraphicFramePr>
          <p:nvPr>
            <p:extLst>
              <p:ext uri="{D42A27DB-BD31-4B8C-83A1-F6EECF244321}">
                <p14:modId xmlns:p14="http://schemas.microsoft.com/office/powerpoint/2010/main" val="1293919447"/>
              </p:ext>
            </p:extLst>
          </p:nvPr>
        </p:nvGraphicFramePr>
        <p:xfrm>
          <a:off x="1002735" y="3481364"/>
          <a:ext cx="8359122" cy="1325226"/>
        </p:xfrm>
        <a:graphic>
          <a:graphicData uri="http://schemas.openxmlformats.org/presentationml/2006/ole">
            <mc:AlternateContent xmlns:mc="http://schemas.openxmlformats.org/markup-compatibility/2006">
              <mc:Choice xmlns:v="urn:schemas-microsoft-com:vml" Requires="v">
                <p:oleObj name="Equation" r:id="rId6" imgW="6378766" imgH="1011248" progId="Equation.DSMT4">
                  <p:embed/>
                </p:oleObj>
              </mc:Choice>
              <mc:Fallback>
                <p:oleObj name="Equation" r:id="rId6" imgW="6378766" imgH="1011248" progId="Equation.DSMT4">
                  <p:embed/>
                  <p:pic>
                    <p:nvPicPr>
                      <p:cNvPr id="0" name=""/>
                      <p:cNvPicPr/>
                      <p:nvPr/>
                    </p:nvPicPr>
                    <p:blipFill>
                      <a:blip r:embed="rId7"/>
                      <a:stretch>
                        <a:fillRect/>
                      </a:stretch>
                    </p:blipFill>
                    <p:spPr>
                      <a:xfrm>
                        <a:off x="1002735" y="3481364"/>
                        <a:ext cx="8359122" cy="1325226"/>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A8E19085-6A0F-2FC1-E8FE-75BA543B5556}"/>
              </a:ext>
            </a:extLst>
          </p:cNvPr>
          <p:cNvGraphicFramePr>
            <a:graphicFrameLocks noChangeAspect="1"/>
          </p:cNvGraphicFramePr>
          <p:nvPr>
            <p:extLst>
              <p:ext uri="{D42A27DB-BD31-4B8C-83A1-F6EECF244321}">
                <p14:modId xmlns:p14="http://schemas.microsoft.com/office/powerpoint/2010/main" val="3519408650"/>
              </p:ext>
            </p:extLst>
          </p:nvPr>
        </p:nvGraphicFramePr>
        <p:xfrm>
          <a:off x="2567910" y="5770564"/>
          <a:ext cx="5667621" cy="908589"/>
        </p:xfrm>
        <a:graphic>
          <a:graphicData uri="http://schemas.openxmlformats.org/presentationml/2006/ole">
            <mc:AlternateContent xmlns:mc="http://schemas.openxmlformats.org/markup-compatibility/2006">
              <mc:Choice xmlns:v="urn:schemas-microsoft-com:vml" Requires="v">
                <p:oleObj name="Equation" r:id="rId8" imgW="3455839" imgH="553392" progId="Equation.DSMT4">
                  <p:embed/>
                </p:oleObj>
              </mc:Choice>
              <mc:Fallback>
                <p:oleObj name="Equation" r:id="rId8" imgW="3455839" imgH="553392" progId="Equation.DSMT4">
                  <p:embed/>
                  <p:pic>
                    <p:nvPicPr>
                      <p:cNvPr id="0" name=""/>
                      <p:cNvPicPr/>
                      <p:nvPr/>
                    </p:nvPicPr>
                    <p:blipFill>
                      <a:blip r:embed="rId9"/>
                      <a:stretch>
                        <a:fillRect/>
                      </a:stretch>
                    </p:blipFill>
                    <p:spPr>
                      <a:xfrm>
                        <a:off x="2567910" y="5770564"/>
                        <a:ext cx="5667621" cy="908589"/>
                      </a:xfrm>
                      <a:prstGeom prst="rect">
                        <a:avLst/>
                      </a:prstGeom>
                    </p:spPr>
                  </p:pic>
                </p:oleObj>
              </mc:Fallback>
            </mc:AlternateContent>
          </a:graphicData>
        </a:graphic>
      </p:graphicFrame>
    </p:spTree>
    <p:extLst>
      <p:ext uri="{BB962C8B-B14F-4D97-AF65-F5344CB8AC3E}">
        <p14:creationId xmlns:p14="http://schemas.microsoft.com/office/powerpoint/2010/main" val="37717826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543878C-7A5B-BF9F-617B-995A80B430E0}"/>
              </a:ext>
            </a:extLst>
          </p:cNvPr>
          <p:cNvPicPr>
            <a:picLocks noGrp="1" noChangeAspect="1"/>
          </p:cNvPicPr>
          <p:nvPr>
            <p:ph idx="1"/>
          </p:nvPr>
        </p:nvPicPr>
        <p:blipFill>
          <a:blip r:embed="rId2"/>
          <a:stretch>
            <a:fillRect/>
          </a:stretch>
        </p:blipFill>
        <p:spPr>
          <a:xfrm>
            <a:off x="1327233" y="3283802"/>
            <a:ext cx="3126780" cy="883488"/>
          </a:xfrm>
          <a:prstGeom prst="rect">
            <a:avLst/>
          </a:prstGeom>
        </p:spPr>
      </p:pic>
      <p:graphicFrame>
        <p:nvGraphicFramePr>
          <p:cNvPr id="4" name="Object 3">
            <a:extLst>
              <a:ext uri="{FF2B5EF4-FFF2-40B4-BE49-F238E27FC236}">
                <a16:creationId xmlns:a16="http://schemas.microsoft.com/office/drawing/2014/main" id="{A098DC12-A9F5-B246-6910-0DE2D8C4A8CC}"/>
              </a:ext>
            </a:extLst>
          </p:cNvPr>
          <p:cNvGraphicFramePr>
            <a:graphicFrameLocks noChangeAspect="1"/>
          </p:cNvGraphicFramePr>
          <p:nvPr>
            <p:extLst>
              <p:ext uri="{D42A27DB-BD31-4B8C-83A1-F6EECF244321}">
                <p14:modId xmlns:p14="http://schemas.microsoft.com/office/powerpoint/2010/main" val="1363517036"/>
              </p:ext>
            </p:extLst>
          </p:nvPr>
        </p:nvGraphicFramePr>
        <p:xfrm>
          <a:off x="1187859" y="4295569"/>
          <a:ext cx="3766069" cy="787708"/>
        </p:xfrm>
        <a:graphic>
          <a:graphicData uri="http://schemas.openxmlformats.org/presentationml/2006/ole">
            <mc:AlternateContent xmlns:mc="http://schemas.openxmlformats.org/markup-compatibility/2006">
              <mc:Choice xmlns:v="urn:schemas-microsoft-com:vml" Requires="v">
                <p:oleObj name="Equation" r:id="rId3" imgW="2323084" imgH="486336" progId="Equation.DSMT4">
                  <p:embed/>
                </p:oleObj>
              </mc:Choice>
              <mc:Fallback>
                <p:oleObj name="Equation" r:id="rId3" imgW="2323084" imgH="486336" progId="Equation.DSMT4">
                  <p:embed/>
                  <p:pic>
                    <p:nvPicPr>
                      <p:cNvPr id="0" name=""/>
                      <p:cNvPicPr/>
                      <p:nvPr/>
                    </p:nvPicPr>
                    <p:blipFill>
                      <a:blip r:embed="rId4"/>
                      <a:stretch>
                        <a:fillRect/>
                      </a:stretch>
                    </p:blipFill>
                    <p:spPr>
                      <a:xfrm>
                        <a:off x="1187859" y="4295569"/>
                        <a:ext cx="3766069" cy="78770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E620F048-E7D4-41C9-0567-4A91F9103A9A}"/>
              </a:ext>
            </a:extLst>
          </p:cNvPr>
          <p:cNvPicPr>
            <a:picLocks noChangeAspect="1"/>
          </p:cNvPicPr>
          <p:nvPr/>
        </p:nvPicPr>
        <p:blipFill>
          <a:blip r:embed="rId5"/>
          <a:stretch>
            <a:fillRect/>
          </a:stretch>
        </p:blipFill>
        <p:spPr>
          <a:xfrm>
            <a:off x="1585414" y="5083277"/>
            <a:ext cx="9021172" cy="1510988"/>
          </a:xfrm>
          <a:prstGeom prst="rect">
            <a:avLst/>
          </a:prstGeom>
        </p:spPr>
      </p:pic>
      <p:sp>
        <p:nvSpPr>
          <p:cNvPr id="8" name="TextBox 7">
            <a:extLst>
              <a:ext uri="{FF2B5EF4-FFF2-40B4-BE49-F238E27FC236}">
                <a16:creationId xmlns:a16="http://schemas.microsoft.com/office/drawing/2014/main" id="{30C756E6-2A1D-99B6-F3E7-6310206119EE}"/>
              </a:ext>
            </a:extLst>
          </p:cNvPr>
          <p:cNvSpPr txBox="1"/>
          <p:nvPr/>
        </p:nvSpPr>
        <p:spPr>
          <a:xfrm>
            <a:off x="865238" y="345428"/>
            <a:ext cx="6587613" cy="646331"/>
          </a:xfrm>
          <a:prstGeom prst="rect">
            <a:avLst/>
          </a:prstGeom>
          <a:noFill/>
        </p:spPr>
        <p:txBody>
          <a:bodyPr wrap="square">
            <a:spAutoFit/>
          </a:bodyPr>
          <a:lstStyle/>
          <a:p>
            <a:r>
              <a:rPr lang="en-US" sz="1800" dirty="0">
                <a:solidFill>
                  <a:srgbClr val="FF0000"/>
                </a:solidFill>
                <a:effectLst/>
                <a:latin typeface="Times New Roman" panose="02020603050405020304" pitchFamily="18" charset="0"/>
                <a:ea typeface="Times New Roman" panose="02020603050405020304" pitchFamily="18" charset="0"/>
              </a:rPr>
              <a:t>By squaring and adding equations (5) and (6), we have</a:t>
            </a:r>
            <a:endParaRPr lang="en-IN" sz="1800" dirty="0">
              <a:effectLst/>
              <a:latin typeface="Times New Roman" panose="02020603050405020304" pitchFamily="18" charset="0"/>
              <a:ea typeface="Times New Roman" panose="02020603050405020304" pitchFamily="18" charset="0"/>
            </a:endParaRPr>
          </a:p>
          <a:p>
            <a:r>
              <a:rPr lang="en-US" sz="1800" dirty="0">
                <a:solidFill>
                  <a:srgbClr val="FF0000"/>
                </a:solidFill>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graphicFrame>
        <p:nvGraphicFramePr>
          <p:cNvPr id="9" name="Object 8">
            <a:extLst>
              <a:ext uri="{FF2B5EF4-FFF2-40B4-BE49-F238E27FC236}">
                <a16:creationId xmlns:a16="http://schemas.microsoft.com/office/drawing/2014/main" id="{7A6E0F7E-A87B-C2D9-2748-B3388436B53B}"/>
              </a:ext>
            </a:extLst>
          </p:cNvPr>
          <p:cNvGraphicFramePr>
            <a:graphicFrameLocks noChangeAspect="1"/>
          </p:cNvGraphicFramePr>
          <p:nvPr>
            <p:extLst>
              <p:ext uri="{D42A27DB-BD31-4B8C-83A1-F6EECF244321}">
                <p14:modId xmlns:p14="http://schemas.microsoft.com/office/powerpoint/2010/main" val="1398949800"/>
              </p:ext>
            </p:extLst>
          </p:nvPr>
        </p:nvGraphicFramePr>
        <p:xfrm>
          <a:off x="1187859" y="1060393"/>
          <a:ext cx="4254584" cy="1467335"/>
        </p:xfrm>
        <a:graphic>
          <a:graphicData uri="http://schemas.openxmlformats.org/presentationml/2006/ole">
            <mc:AlternateContent xmlns:mc="http://schemas.openxmlformats.org/markup-compatibility/2006">
              <mc:Choice xmlns:v="urn:schemas-microsoft-com:vml" Requires="v">
                <p:oleObj name="Equation" r:id="rId6" imgW="2932282" imgH="1011248" progId="Equation.DSMT4">
                  <p:embed/>
                </p:oleObj>
              </mc:Choice>
              <mc:Fallback>
                <p:oleObj name="Equation" r:id="rId6" imgW="2932282" imgH="1011248" progId="Equation.DSMT4">
                  <p:embed/>
                  <p:pic>
                    <p:nvPicPr>
                      <p:cNvPr id="0" name=""/>
                      <p:cNvPicPr/>
                      <p:nvPr/>
                    </p:nvPicPr>
                    <p:blipFill>
                      <a:blip r:embed="rId7"/>
                      <a:stretch>
                        <a:fillRect/>
                      </a:stretch>
                    </p:blipFill>
                    <p:spPr>
                      <a:xfrm>
                        <a:off x="1187859" y="1060393"/>
                        <a:ext cx="4254584" cy="1467335"/>
                      </a:xfrm>
                      <a:prstGeom prst="rect">
                        <a:avLst/>
                      </a:prstGeom>
                    </p:spPr>
                  </p:pic>
                </p:oleObj>
              </mc:Fallback>
            </mc:AlternateContent>
          </a:graphicData>
        </a:graphic>
      </p:graphicFrame>
      <p:sp>
        <p:nvSpPr>
          <p:cNvPr id="12" name="TextBox 11">
            <a:extLst>
              <a:ext uri="{FF2B5EF4-FFF2-40B4-BE49-F238E27FC236}">
                <a16:creationId xmlns:a16="http://schemas.microsoft.com/office/drawing/2014/main" id="{70D492A7-E902-2189-7F2B-C30E7DBACB7F}"/>
              </a:ext>
            </a:extLst>
          </p:cNvPr>
          <p:cNvSpPr txBox="1"/>
          <p:nvPr/>
        </p:nvSpPr>
        <p:spPr>
          <a:xfrm>
            <a:off x="829216" y="2415249"/>
            <a:ext cx="6096000" cy="646331"/>
          </a:xfrm>
          <a:prstGeom prst="rect">
            <a:avLst/>
          </a:prstGeom>
          <a:noFill/>
        </p:spPr>
        <p:txBody>
          <a:bodyPr wrap="square">
            <a:spAutoFit/>
          </a:bodyPr>
          <a:lstStyle/>
          <a:p>
            <a:endParaRPr lang="en-US" sz="1800" dirty="0">
              <a:solidFill>
                <a:srgbClr val="FF0000"/>
              </a:solidFill>
              <a:effectLst/>
              <a:latin typeface="Times New Roman" panose="02020603050405020304" pitchFamily="18" charset="0"/>
              <a:ea typeface="Times New Roman" panose="02020603050405020304" pitchFamily="18" charset="0"/>
            </a:endParaRPr>
          </a:p>
          <a:p>
            <a:r>
              <a:rPr lang="en-US" sz="1800" dirty="0">
                <a:solidFill>
                  <a:srgbClr val="FF0000"/>
                </a:solidFill>
                <a:effectLst/>
                <a:latin typeface="Times New Roman" panose="02020603050405020304" pitchFamily="18" charset="0"/>
                <a:ea typeface="Times New Roman" panose="02020603050405020304" pitchFamily="18" charset="0"/>
              </a:rPr>
              <a:t>By dividing equation (6) by (5), we get </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84410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A0D0C-559A-4BBA-B427-8F0F6EC8D9DA}"/>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82C8B7F8-511C-25D0-41D7-114463247A79}"/>
              </a:ext>
            </a:extLst>
          </p:cNvPr>
          <p:cNvPicPr>
            <a:picLocks noGrp="1" noChangeAspect="1"/>
          </p:cNvPicPr>
          <p:nvPr>
            <p:ph idx="1"/>
          </p:nvPr>
        </p:nvPicPr>
        <p:blipFill>
          <a:blip r:embed="rId2"/>
          <a:stretch>
            <a:fillRect/>
          </a:stretch>
        </p:blipFill>
        <p:spPr>
          <a:xfrm>
            <a:off x="982238" y="228396"/>
            <a:ext cx="9735909" cy="2924583"/>
          </a:xfrm>
          <a:prstGeom prst="rect">
            <a:avLst/>
          </a:prstGeom>
        </p:spPr>
      </p:pic>
      <p:pic>
        <p:nvPicPr>
          <p:cNvPr id="5" name="Picture 4">
            <a:extLst>
              <a:ext uri="{FF2B5EF4-FFF2-40B4-BE49-F238E27FC236}">
                <a16:creationId xmlns:a16="http://schemas.microsoft.com/office/drawing/2014/main" id="{EA7BA3C6-27F7-D374-5FA9-76E4F2B8CFB0}"/>
              </a:ext>
            </a:extLst>
          </p:cNvPr>
          <p:cNvPicPr>
            <a:picLocks noChangeAspect="1"/>
          </p:cNvPicPr>
          <p:nvPr/>
        </p:nvPicPr>
        <p:blipFill>
          <a:blip r:embed="rId3"/>
          <a:stretch>
            <a:fillRect/>
          </a:stretch>
        </p:blipFill>
        <p:spPr>
          <a:xfrm>
            <a:off x="838200" y="3281519"/>
            <a:ext cx="7802064" cy="2429214"/>
          </a:xfrm>
          <a:prstGeom prst="rect">
            <a:avLst/>
          </a:prstGeom>
        </p:spPr>
      </p:pic>
      <p:sp>
        <p:nvSpPr>
          <p:cNvPr id="8" name="TextBox 7">
            <a:extLst>
              <a:ext uri="{FF2B5EF4-FFF2-40B4-BE49-F238E27FC236}">
                <a16:creationId xmlns:a16="http://schemas.microsoft.com/office/drawing/2014/main" id="{FD3BD9EA-4484-24D0-7026-5C30B2EC3922}"/>
              </a:ext>
            </a:extLst>
          </p:cNvPr>
          <p:cNvSpPr txBox="1"/>
          <p:nvPr/>
        </p:nvSpPr>
        <p:spPr>
          <a:xfrm>
            <a:off x="639096" y="5534070"/>
            <a:ext cx="11169445" cy="1200329"/>
          </a:xfrm>
          <a:prstGeom prst="rect">
            <a:avLst/>
          </a:prstGeom>
          <a:noFill/>
        </p:spPr>
        <p:txBody>
          <a:bodyPr wrap="square">
            <a:spAutoFit/>
          </a:bodyPr>
          <a:lstStyle/>
          <a:p>
            <a:pPr algn="just"/>
            <a:r>
              <a:rPr lang="en-US" sz="2400" dirty="0">
                <a:effectLst/>
                <a:latin typeface="Times New Roman" panose="02020603050405020304" pitchFamily="18" charset="0"/>
                <a:ea typeface="Times New Roman" panose="02020603050405020304" pitchFamily="18" charset="0"/>
              </a:rPr>
              <a:t>This shows that the amplitude of the vibration is independent of frequency of the driving force and is dependent on the magnitude of the driving force and the force-constant (k). In such a case the force and displacement are always in phase.</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969522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21B4D-1C5E-82FD-F687-86F4CAA1200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78C8A68-13EE-9D07-E25B-E8ACEB86CB54}"/>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E2DB60C9-F313-11E1-19EB-83DC2F9601CF}"/>
              </a:ext>
            </a:extLst>
          </p:cNvPr>
          <p:cNvPicPr>
            <a:picLocks noChangeAspect="1"/>
          </p:cNvPicPr>
          <p:nvPr/>
        </p:nvPicPr>
        <p:blipFill>
          <a:blip r:embed="rId2"/>
          <a:stretch>
            <a:fillRect/>
          </a:stretch>
        </p:blipFill>
        <p:spPr>
          <a:xfrm>
            <a:off x="-432619" y="296649"/>
            <a:ext cx="12191999" cy="3783738"/>
          </a:xfrm>
          <a:prstGeom prst="rect">
            <a:avLst/>
          </a:prstGeom>
        </p:spPr>
      </p:pic>
      <p:sp>
        <p:nvSpPr>
          <p:cNvPr id="7" name="TextBox 6">
            <a:extLst>
              <a:ext uri="{FF2B5EF4-FFF2-40B4-BE49-F238E27FC236}">
                <a16:creationId xmlns:a16="http://schemas.microsoft.com/office/drawing/2014/main" id="{F18D8DD1-2B66-16AB-A36B-46B76362A24B}"/>
              </a:ext>
            </a:extLst>
          </p:cNvPr>
          <p:cNvSpPr txBox="1"/>
          <p:nvPr/>
        </p:nvSpPr>
        <p:spPr>
          <a:xfrm>
            <a:off x="393290" y="4157801"/>
            <a:ext cx="11198941" cy="1200329"/>
          </a:xfrm>
          <a:prstGeom prst="rect">
            <a:avLst/>
          </a:prstGeom>
          <a:noFill/>
        </p:spPr>
        <p:txBody>
          <a:bodyPr wrap="square">
            <a:spAutoFit/>
          </a:bodyPr>
          <a:lstStyle/>
          <a:p>
            <a:pPr algn="just"/>
            <a:r>
              <a:rPr lang="en-US" sz="2400" dirty="0">
                <a:latin typeface="Times New Roman" panose="02020603050405020304" pitchFamily="18" charset="0"/>
                <a:ea typeface="Times New Roman" panose="02020603050405020304" pitchFamily="18" charset="0"/>
              </a:rPr>
              <a:t>T</a:t>
            </a:r>
            <a:r>
              <a:rPr lang="en-US" sz="2400" dirty="0">
                <a:effectLst/>
                <a:latin typeface="Times New Roman" panose="02020603050405020304" pitchFamily="18" charset="0"/>
                <a:ea typeface="Times New Roman" panose="02020603050405020304" pitchFamily="18" charset="0"/>
              </a:rPr>
              <a:t>he amplitude of the vibrations becomes maximum and is inversely proportional to the damping coefficient. For small damping, the amplitude is large and for large damping, the amplitude is small. The displacement lags behind the force by a phase π/2.</a:t>
            </a:r>
            <a:endParaRPr lang="en-IN" sz="2400" dirty="0"/>
          </a:p>
        </p:txBody>
      </p:sp>
    </p:spTree>
    <p:extLst>
      <p:ext uri="{BB962C8B-B14F-4D97-AF65-F5344CB8AC3E}">
        <p14:creationId xmlns:p14="http://schemas.microsoft.com/office/powerpoint/2010/main" val="22119267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21D00-B61F-2B5B-5698-A09910B23FE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AF7035E-F182-5EAF-4FF4-1A5359F3160E}"/>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178FB8D0-3FBE-1A55-AD8E-B43D3BD34E07}"/>
              </a:ext>
            </a:extLst>
          </p:cNvPr>
          <p:cNvPicPr>
            <a:picLocks noChangeAspect="1"/>
          </p:cNvPicPr>
          <p:nvPr/>
        </p:nvPicPr>
        <p:blipFill>
          <a:blip r:embed="rId2"/>
          <a:stretch>
            <a:fillRect/>
          </a:stretch>
        </p:blipFill>
        <p:spPr>
          <a:xfrm>
            <a:off x="2557104" y="0"/>
            <a:ext cx="7520961" cy="5034010"/>
          </a:xfrm>
          <a:prstGeom prst="rect">
            <a:avLst/>
          </a:prstGeom>
        </p:spPr>
      </p:pic>
      <p:sp>
        <p:nvSpPr>
          <p:cNvPr id="7" name="TextBox 6">
            <a:extLst>
              <a:ext uri="{FF2B5EF4-FFF2-40B4-BE49-F238E27FC236}">
                <a16:creationId xmlns:a16="http://schemas.microsoft.com/office/drawing/2014/main" id="{DB9B6480-655A-A650-62AC-6387C61028C5}"/>
              </a:ext>
            </a:extLst>
          </p:cNvPr>
          <p:cNvSpPr txBox="1"/>
          <p:nvPr/>
        </p:nvSpPr>
        <p:spPr>
          <a:xfrm>
            <a:off x="639097" y="5168947"/>
            <a:ext cx="10972800" cy="830997"/>
          </a:xfrm>
          <a:prstGeom prst="rect">
            <a:avLst/>
          </a:prstGeom>
          <a:noFill/>
        </p:spPr>
        <p:txBody>
          <a:bodyPr wrap="square">
            <a:spAutoFit/>
          </a:bodyPr>
          <a:lstStyle/>
          <a:p>
            <a:pPr algn="just"/>
            <a:r>
              <a:rPr lang="en-US" sz="2400" dirty="0">
                <a:effectLst/>
                <a:latin typeface="Times New Roman" panose="02020603050405020304" pitchFamily="18" charset="0"/>
                <a:ea typeface="Times New Roman" panose="02020603050405020304" pitchFamily="18" charset="0"/>
              </a:rPr>
              <a:t>The amplitude depends on the mass and continuously decreases as the driving frequency </a:t>
            </a:r>
            <a:r>
              <a:rPr lang="en-US" sz="2400" dirty="0" err="1">
                <a:effectLst/>
                <a:latin typeface="Times New Roman" panose="02020603050405020304" pitchFamily="18" charset="0"/>
                <a:ea typeface="Times New Roman" panose="02020603050405020304" pitchFamily="18" charset="0"/>
              </a:rPr>
              <a:t>ω</a:t>
            </a:r>
            <a:r>
              <a:rPr lang="en-US" sz="2400" baseline="-25000" dirty="0" err="1">
                <a:effectLst/>
                <a:latin typeface="Times New Roman" panose="02020603050405020304" pitchFamily="18" charset="0"/>
                <a:ea typeface="Times New Roman" panose="02020603050405020304" pitchFamily="18" charset="0"/>
              </a:rPr>
              <a:t>d</a:t>
            </a:r>
            <a:r>
              <a:rPr lang="en-US" sz="2400" dirty="0">
                <a:effectLst/>
                <a:latin typeface="Times New Roman" panose="02020603050405020304" pitchFamily="18" charset="0"/>
                <a:ea typeface="Times New Roman" panose="02020603050405020304" pitchFamily="18" charset="0"/>
              </a:rPr>
              <a:t> is increased and phase difference towards π.</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724552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9FB642-1DE2-C6BB-7A80-61579222419C}"/>
              </a:ext>
            </a:extLst>
          </p:cNvPr>
          <p:cNvSpPr>
            <a:spLocks noGrp="1"/>
          </p:cNvSpPr>
          <p:nvPr>
            <p:ph idx="1"/>
          </p:nvPr>
        </p:nvSpPr>
        <p:spPr>
          <a:xfrm>
            <a:off x="363793" y="334297"/>
            <a:ext cx="11543071" cy="6263148"/>
          </a:xfrm>
        </p:spPr>
        <p:txBody>
          <a:bodyPr/>
          <a:lstStyle/>
          <a:p>
            <a:pPr marL="0" indent="0">
              <a:buNone/>
            </a:pPr>
            <a:r>
              <a:rPr lang="en-US" b="1" i="1" dirty="0">
                <a:effectLst/>
                <a:latin typeface="Times New Roman" panose="02020603050405020304" pitchFamily="18" charset="0"/>
                <a:ea typeface="Times New Roman" panose="02020603050405020304" pitchFamily="18" charset="0"/>
              </a:rPr>
              <a:t>Resonance:</a:t>
            </a:r>
            <a:endParaRPr lang="en-US" sz="1800" b="1" i="1" dirty="0">
              <a:effectLst/>
              <a:latin typeface="Times New Roman" panose="02020603050405020304" pitchFamily="18" charset="0"/>
              <a:ea typeface="Times New Roman" panose="02020603050405020304" pitchFamily="18" charset="0"/>
            </a:endParaRPr>
          </a:p>
          <a:p>
            <a:pPr marL="0" indent="0">
              <a:buNone/>
            </a:pPr>
            <a:r>
              <a:rPr lang="en-US" sz="2400" dirty="0">
                <a:effectLst/>
                <a:latin typeface="Times New Roman" panose="02020603050405020304" pitchFamily="18" charset="0"/>
                <a:ea typeface="Times New Roman" panose="02020603050405020304" pitchFamily="18" charset="0"/>
              </a:rPr>
              <a:t>Resonance is a phenomenon in which a body vibrates with its natural frequency with maximum amplitude under the influence of an external vibration with the same frequency.</a:t>
            </a:r>
            <a:endParaRPr lang="en-IN" sz="2400" dirty="0">
              <a:effectLst/>
              <a:latin typeface="Times New Roman" panose="02020603050405020304" pitchFamily="18" charset="0"/>
              <a:ea typeface="Times New Roman" panose="02020603050405020304" pitchFamily="18" charset="0"/>
            </a:endParaRPr>
          </a:p>
          <a:p>
            <a:endParaRPr lang="en-IN" dirty="0"/>
          </a:p>
          <a:p>
            <a:pPr marL="0" indent="0">
              <a:buNone/>
            </a:pPr>
            <a:r>
              <a:rPr lang="en-US" sz="2400" b="1" dirty="0">
                <a:effectLst/>
                <a:latin typeface="Times New Roman" panose="02020603050405020304" pitchFamily="18" charset="0"/>
                <a:ea typeface="Times New Roman" panose="02020603050405020304" pitchFamily="18" charset="0"/>
              </a:rPr>
              <a:t>Condition of amplitude resonance: </a:t>
            </a:r>
            <a:r>
              <a:rPr lang="en-US" sz="2400" dirty="0">
                <a:effectLst/>
                <a:latin typeface="Times New Roman" panose="02020603050405020304" pitchFamily="18" charset="0"/>
                <a:ea typeface="Times New Roman" panose="02020603050405020304" pitchFamily="18" charset="0"/>
              </a:rPr>
              <a:t>The phenomenon of amplitude becoming a maximum is known as amplitude resonance.</a:t>
            </a:r>
          </a:p>
          <a:p>
            <a:pPr marL="0" indent="0">
              <a:buNone/>
            </a:pPr>
            <a:endParaRPr lang="en-US" sz="2400" b="1" dirty="0">
              <a:effectLst/>
              <a:latin typeface="Times New Roman" panose="02020603050405020304" pitchFamily="18" charset="0"/>
              <a:ea typeface="Times New Roman" panose="02020603050405020304" pitchFamily="18" charset="0"/>
            </a:endParaRPr>
          </a:p>
          <a:p>
            <a:pPr marL="0" indent="0">
              <a:buNone/>
            </a:pPr>
            <a:r>
              <a:rPr lang="en-IN" sz="3600" dirty="0"/>
              <a:t>			</a:t>
            </a:r>
            <a:r>
              <a:rPr lang="en-IN" sz="2000" dirty="0"/>
              <a:t>is the amplitude of forced oscillation </a:t>
            </a:r>
          </a:p>
          <a:p>
            <a:pPr marL="0" indent="0">
              <a:buNone/>
            </a:pPr>
            <a:endParaRPr lang="en-IN" sz="2000" dirty="0"/>
          </a:p>
          <a:p>
            <a:pPr marL="0" indent="0">
              <a:buNone/>
            </a:pPr>
            <a:r>
              <a:rPr lang="en-IN" sz="2000" dirty="0"/>
              <a:t>At resonance, </a:t>
            </a:r>
          </a:p>
          <a:p>
            <a:pPr marL="0" indent="0">
              <a:buNone/>
            </a:pPr>
            <a:r>
              <a:rPr lang="en-IN" sz="2000" dirty="0"/>
              <a:t>i.e. </a:t>
            </a:r>
          </a:p>
          <a:p>
            <a:pPr marL="0" indent="0">
              <a:buNone/>
            </a:pPr>
            <a:endParaRPr lang="en-IN" sz="2000" dirty="0"/>
          </a:p>
          <a:p>
            <a:pPr marL="0" indent="0">
              <a:buNone/>
            </a:pPr>
            <a:r>
              <a:rPr lang="en-US" sz="1800" dirty="0">
                <a:effectLst/>
                <a:latin typeface="Times New Roman" panose="02020603050405020304" pitchFamily="18" charset="0"/>
                <a:ea typeface="Times New Roman" panose="02020603050405020304" pitchFamily="18" charset="0"/>
              </a:rPr>
              <a:t>If the damping is small i.e., b is small, the condition of maximum amplitude reduced</a:t>
            </a:r>
            <a:endParaRPr lang="en-IN" sz="2000" dirty="0"/>
          </a:p>
        </p:txBody>
      </p:sp>
      <p:graphicFrame>
        <p:nvGraphicFramePr>
          <p:cNvPr id="6" name="Object 5">
            <a:extLst>
              <a:ext uri="{FF2B5EF4-FFF2-40B4-BE49-F238E27FC236}">
                <a16:creationId xmlns:a16="http://schemas.microsoft.com/office/drawing/2014/main" id="{0F6E05D3-5888-BE72-3C11-DFB643EEBF41}"/>
              </a:ext>
            </a:extLst>
          </p:cNvPr>
          <p:cNvGraphicFramePr>
            <a:graphicFrameLocks noChangeAspect="1"/>
          </p:cNvGraphicFramePr>
          <p:nvPr>
            <p:extLst>
              <p:ext uri="{D42A27DB-BD31-4B8C-83A1-F6EECF244321}">
                <p14:modId xmlns:p14="http://schemas.microsoft.com/office/powerpoint/2010/main" val="4260452194"/>
              </p:ext>
            </p:extLst>
          </p:nvPr>
        </p:nvGraphicFramePr>
        <p:xfrm>
          <a:off x="678273" y="3214329"/>
          <a:ext cx="2362200" cy="787400"/>
        </p:xfrm>
        <a:graphic>
          <a:graphicData uri="http://schemas.openxmlformats.org/presentationml/2006/ole">
            <mc:AlternateContent xmlns:mc="http://schemas.openxmlformats.org/markup-compatibility/2006">
              <mc:Choice xmlns:v="urn:schemas-microsoft-com:vml" Requires="v">
                <p:oleObj name="Equation" r:id="rId2" imgW="1513819" imgH="505444" progId="Equation.DSMT4">
                  <p:embed/>
                </p:oleObj>
              </mc:Choice>
              <mc:Fallback>
                <p:oleObj name="Equation" r:id="rId2" imgW="1513819" imgH="505444" progId="Equation.DSMT4">
                  <p:embed/>
                  <p:pic>
                    <p:nvPicPr>
                      <p:cNvPr id="0" name=""/>
                      <p:cNvPicPr/>
                      <p:nvPr/>
                    </p:nvPicPr>
                    <p:blipFill>
                      <a:blip r:embed="rId3"/>
                      <a:stretch>
                        <a:fillRect/>
                      </a:stretch>
                    </p:blipFill>
                    <p:spPr>
                      <a:xfrm>
                        <a:off x="678273" y="3214329"/>
                        <a:ext cx="2362200" cy="7874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6E941F3C-CFE8-3B44-C056-9F4DBD5663D9}"/>
              </a:ext>
            </a:extLst>
          </p:cNvPr>
          <p:cNvGraphicFramePr>
            <a:graphicFrameLocks noChangeAspect="1"/>
          </p:cNvGraphicFramePr>
          <p:nvPr>
            <p:extLst>
              <p:ext uri="{D42A27DB-BD31-4B8C-83A1-F6EECF244321}">
                <p14:modId xmlns:p14="http://schemas.microsoft.com/office/powerpoint/2010/main" val="418870818"/>
              </p:ext>
            </p:extLst>
          </p:nvPr>
        </p:nvGraphicFramePr>
        <p:xfrm>
          <a:off x="2008700" y="4464306"/>
          <a:ext cx="606681" cy="285497"/>
        </p:xfrm>
        <a:graphic>
          <a:graphicData uri="http://schemas.openxmlformats.org/presentationml/2006/ole">
            <mc:AlternateContent xmlns:mc="http://schemas.openxmlformats.org/markup-compatibility/2006">
              <mc:Choice xmlns:v="urn:schemas-microsoft-com:vml" Requires="v">
                <p:oleObj name="Equation" r:id="rId4" imgW="485415" imgH="228928" progId="Equation.DSMT4">
                  <p:embed/>
                </p:oleObj>
              </mc:Choice>
              <mc:Fallback>
                <p:oleObj name="Equation" r:id="rId4" imgW="485415" imgH="228928" progId="Equation.DSMT4">
                  <p:embed/>
                  <p:pic>
                    <p:nvPicPr>
                      <p:cNvPr id="0" name=""/>
                      <p:cNvPicPr/>
                      <p:nvPr/>
                    </p:nvPicPr>
                    <p:blipFill>
                      <a:blip r:embed="rId5"/>
                      <a:stretch>
                        <a:fillRect/>
                      </a:stretch>
                    </p:blipFill>
                    <p:spPr>
                      <a:xfrm>
                        <a:off x="2008700" y="4464306"/>
                        <a:ext cx="606681" cy="285497"/>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7CCF48A1-F33E-D679-04C4-D29ADEA0DD40}"/>
              </a:ext>
            </a:extLst>
          </p:cNvPr>
          <p:cNvGraphicFramePr>
            <a:graphicFrameLocks noChangeAspect="1"/>
          </p:cNvGraphicFramePr>
          <p:nvPr>
            <p:extLst>
              <p:ext uri="{D42A27DB-BD31-4B8C-83A1-F6EECF244321}">
                <p14:modId xmlns:p14="http://schemas.microsoft.com/office/powerpoint/2010/main" val="3707274484"/>
              </p:ext>
            </p:extLst>
          </p:nvPr>
        </p:nvGraphicFramePr>
        <p:xfrm>
          <a:off x="8492152" y="5500225"/>
          <a:ext cx="1207685" cy="654769"/>
        </p:xfrm>
        <a:graphic>
          <a:graphicData uri="http://schemas.openxmlformats.org/presentationml/2006/ole">
            <mc:AlternateContent xmlns:mc="http://schemas.openxmlformats.org/markup-compatibility/2006">
              <mc:Choice xmlns:v="urn:schemas-microsoft-com:vml" Requires="v">
                <p:oleObj name="Equation" r:id="rId6" imgW="790194" imgH="429375" progId="Equation.DSMT4">
                  <p:embed/>
                </p:oleObj>
              </mc:Choice>
              <mc:Fallback>
                <p:oleObj name="Equation" r:id="rId6" imgW="790194" imgH="429375" progId="Equation.DSMT4">
                  <p:embed/>
                  <p:pic>
                    <p:nvPicPr>
                      <p:cNvPr id="0" name=""/>
                      <p:cNvPicPr/>
                      <p:nvPr/>
                    </p:nvPicPr>
                    <p:blipFill>
                      <a:blip r:embed="rId7"/>
                      <a:stretch>
                        <a:fillRect/>
                      </a:stretch>
                    </p:blipFill>
                    <p:spPr>
                      <a:xfrm>
                        <a:off x="8492152" y="5500225"/>
                        <a:ext cx="1207685" cy="654769"/>
                      </a:xfrm>
                      <a:prstGeom prst="rect">
                        <a:avLst/>
                      </a:prstGeom>
                    </p:spPr>
                  </p:pic>
                </p:oleObj>
              </mc:Fallback>
            </mc:AlternateContent>
          </a:graphicData>
        </a:graphic>
      </p:graphicFrame>
    </p:spTree>
    <p:extLst>
      <p:ext uri="{BB962C8B-B14F-4D97-AF65-F5344CB8AC3E}">
        <p14:creationId xmlns:p14="http://schemas.microsoft.com/office/powerpoint/2010/main" val="2244572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042D4-1A82-CCD1-0C60-C9B03B9773B4}"/>
              </a:ext>
            </a:extLst>
          </p:cNvPr>
          <p:cNvSpPr>
            <a:spLocks noGrp="1"/>
          </p:cNvSpPr>
          <p:nvPr>
            <p:ph type="title"/>
          </p:nvPr>
        </p:nvSpPr>
        <p:spPr>
          <a:xfrm>
            <a:off x="838200" y="365126"/>
            <a:ext cx="10515600" cy="315912"/>
          </a:xfrm>
        </p:spPr>
        <p:txBody>
          <a:bodyPr>
            <a:normAutofit fontScale="90000"/>
          </a:bodyPr>
          <a:lstStyle/>
          <a:p>
            <a:r>
              <a:rPr lang="en-US" sz="3100" b="1" dirty="0">
                <a:effectLst/>
                <a:latin typeface="Times New Roman" panose="02020603050405020304" pitchFamily="18" charset="0"/>
                <a:ea typeface="Times New Roman" panose="02020603050405020304" pitchFamily="18" charset="0"/>
              </a:rPr>
              <a:t>Sharpness of the resonance.</a:t>
            </a:r>
            <a:endParaRPr lang="en-IN" sz="5400" dirty="0"/>
          </a:p>
        </p:txBody>
      </p:sp>
      <p:sp>
        <p:nvSpPr>
          <p:cNvPr id="3" name="Content Placeholder 2">
            <a:extLst>
              <a:ext uri="{FF2B5EF4-FFF2-40B4-BE49-F238E27FC236}">
                <a16:creationId xmlns:a16="http://schemas.microsoft.com/office/drawing/2014/main" id="{D34F0881-A461-1A29-755A-37F0C0BC9CC1}"/>
              </a:ext>
            </a:extLst>
          </p:cNvPr>
          <p:cNvSpPr>
            <a:spLocks noGrp="1"/>
          </p:cNvSpPr>
          <p:nvPr>
            <p:ph idx="1"/>
          </p:nvPr>
        </p:nvSpPr>
        <p:spPr>
          <a:xfrm>
            <a:off x="838200" y="776748"/>
            <a:ext cx="10515600" cy="5400215"/>
          </a:xfrm>
        </p:spPr>
        <p:txBody>
          <a:bodyPr>
            <a:normAutofit lnSpcReduction="10000"/>
          </a:bodyPr>
          <a:lstStyle/>
          <a:p>
            <a:pPr marL="0" indent="0" algn="just">
              <a:buNone/>
            </a:pPr>
            <a:r>
              <a:rPr lang="en-US" dirty="0">
                <a:effectLst/>
                <a:latin typeface="Times New Roman" panose="02020603050405020304" pitchFamily="18" charset="0"/>
                <a:ea typeface="Times New Roman" panose="02020603050405020304" pitchFamily="18" charset="0"/>
              </a:rPr>
              <a:t>Sharpness of resonance can be defined as the rate of fall in amplitude, with respect to the change in forcing frequency on either side of the resonant frequency.</a:t>
            </a:r>
          </a:p>
          <a:p>
            <a:pPr marL="0" indent="0" algn="just">
              <a:buNone/>
            </a:pPr>
            <a:endParaRPr lang="en-US" sz="4000" dirty="0">
              <a:latin typeface="Times New Roman" panose="02020603050405020304" pitchFamily="18" charset="0"/>
            </a:endParaRPr>
          </a:p>
          <a:p>
            <a:pPr marL="0" indent="0" algn="just">
              <a:buNone/>
            </a:pPr>
            <a:endParaRPr lang="en-US" sz="4000" dirty="0">
              <a:latin typeface="Times New Roman" panose="02020603050405020304" pitchFamily="18" charset="0"/>
            </a:endParaRPr>
          </a:p>
          <a:p>
            <a:pPr marL="0" indent="0" algn="just">
              <a:buNone/>
            </a:pPr>
            <a:endParaRPr lang="en-US" sz="4000" dirty="0">
              <a:latin typeface="Times New Roman" panose="02020603050405020304" pitchFamily="18" charset="0"/>
            </a:endParaRPr>
          </a:p>
          <a:p>
            <a:pPr marL="0" indent="0" algn="just">
              <a:buNone/>
            </a:pPr>
            <a:endParaRPr lang="en-US" sz="4000" dirty="0">
              <a:latin typeface="Times New Roman" panose="02020603050405020304" pitchFamily="18" charset="0"/>
            </a:endParaRPr>
          </a:p>
          <a:p>
            <a:pPr marL="0" indent="0" algn="just">
              <a:buNone/>
            </a:pPr>
            <a:endParaRPr lang="en-US" sz="1800" dirty="0">
              <a:effectLst/>
              <a:latin typeface="Times New Roman" panose="02020603050405020304" pitchFamily="18" charset="0"/>
              <a:ea typeface="Times New Roman" panose="02020603050405020304" pitchFamily="18" charset="0"/>
            </a:endParaRPr>
          </a:p>
          <a:p>
            <a:pPr marL="0" indent="0" algn="just">
              <a:buNone/>
            </a:pPr>
            <a:endParaRPr lang="en-US" sz="1800" dirty="0">
              <a:latin typeface="Times New Roman" panose="02020603050405020304" pitchFamily="18" charset="0"/>
              <a:ea typeface="Times New Roman" panose="02020603050405020304" pitchFamily="18" charset="0"/>
            </a:endParaRPr>
          </a:p>
          <a:p>
            <a:pPr marL="0" indent="0" algn="just">
              <a:buNone/>
            </a:pPr>
            <a:r>
              <a:rPr lang="en-US" sz="2400" dirty="0">
                <a:effectLst/>
                <a:latin typeface="Times New Roman" panose="02020603050405020304" pitchFamily="18" charset="0"/>
                <a:ea typeface="Times New Roman" panose="02020603050405020304" pitchFamily="18" charset="0"/>
              </a:rPr>
              <a:t>It can be seen that the resonant peak moves towards the left as the damping factor is increased. It is also observed that the value of amplitude, which is different for different values of b (damping), diminishes as the value of b increases.</a:t>
            </a:r>
            <a:endParaRPr lang="en-US" sz="4800" dirty="0">
              <a:latin typeface="Times New Roman" panose="02020603050405020304" pitchFamily="18" charset="0"/>
            </a:endParaRPr>
          </a:p>
          <a:p>
            <a:pPr marL="0" indent="0" algn="just">
              <a:buNone/>
            </a:pPr>
            <a:endParaRPr lang="en-US" sz="4000" dirty="0">
              <a:latin typeface="Times New Roman" panose="02020603050405020304" pitchFamily="18" charset="0"/>
            </a:endParaRPr>
          </a:p>
          <a:p>
            <a:pPr marL="0" indent="0" algn="just">
              <a:buNone/>
            </a:pPr>
            <a:endParaRPr lang="en-US" sz="4000" dirty="0">
              <a:latin typeface="Times New Roman" panose="02020603050405020304" pitchFamily="18" charset="0"/>
            </a:endParaRPr>
          </a:p>
          <a:p>
            <a:pPr marL="0" indent="0" algn="just">
              <a:buNone/>
            </a:pPr>
            <a:endParaRPr lang="en-IN" sz="4000" dirty="0"/>
          </a:p>
        </p:txBody>
      </p:sp>
      <p:pic>
        <p:nvPicPr>
          <p:cNvPr id="6" name="Picture 5">
            <a:extLst>
              <a:ext uri="{FF2B5EF4-FFF2-40B4-BE49-F238E27FC236}">
                <a16:creationId xmlns:a16="http://schemas.microsoft.com/office/drawing/2014/main" id="{0BA7DFA6-59C8-2A50-DD78-5CCD7C456C6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22905" y="2176462"/>
            <a:ext cx="4544644" cy="2936312"/>
          </a:xfrm>
          <a:prstGeom prst="rect">
            <a:avLst/>
          </a:prstGeom>
          <a:noFill/>
          <a:ln>
            <a:noFill/>
          </a:ln>
        </p:spPr>
      </p:pic>
    </p:spTree>
    <p:extLst>
      <p:ext uri="{BB962C8B-B14F-4D97-AF65-F5344CB8AC3E}">
        <p14:creationId xmlns:p14="http://schemas.microsoft.com/office/powerpoint/2010/main" val="9777322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185944-52D0-3920-6900-A5B43C2A6842}"/>
              </a:ext>
            </a:extLst>
          </p:cNvPr>
          <p:cNvSpPr>
            <a:spLocks noGrp="1"/>
          </p:cNvSpPr>
          <p:nvPr>
            <p:ph idx="1"/>
          </p:nvPr>
        </p:nvSpPr>
        <p:spPr>
          <a:xfrm>
            <a:off x="521110" y="255639"/>
            <a:ext cx="10832690" cy="5921324"/>
          </a:xfrm>
        </p:spPr>
        <p:txBody>
          <a:bodyPr/>
          <a:lstStyle/>
          <a:p>
            <a:pPr marL="0" indent="0">
              <a:buNone/>
            </a:pPr>
            <a:r>
              <a:rPr lang="en-IN" dirty="0"/>
              <a:t>3) </a:t>
            </a:r>
            <a:r>
              <a:rPr lang="en-US" sz="1800" dirty="0">
                <a:effectLst/>
                <a:latin typeface="Times New Roman" panose="02020603050405020304" pitchFamily="18" charset="0"/>
                <a:ea typeface="Times New Roman" panose="02020603050405020304" pitchFamily="18" charset="0"/>
              </a:rPr>
              <a:t>A particle executes SHM of period 31.4 second and amplitude 5cm. Calculate its maximum velocity and maximum acceleration.</a:t>
            </a:r>
            <a:endParaRPr lang="en-IN" sz="1800" dirty="0">
              <a:effectLst/>
              <a:latin typeface="Times New Roman" panose="02020603050405020304" pitchFamily="18" charset="0"/>
              <a:ea typeface="Times New Roman" panose="02020603050405020304" pitchFamily="18" charset="0"/>
            </a:endParaRPr>
          </a:p>
          <a:p>
            <a:pPr marL="0" indent="0">
              <a:buNone/>
            </a:pPr>
            <a:r>
              <a:rPr lang="en-IN" sz="2000" b="1" dirty="0"/>
              <a:t>Solution:</a:t>
            </a:r>
          </a:p>
          <a:p>
            <a:pPr marL="0" indent="0">
              <a:buNone/>
            </a:pPr>
            <a:r>
              <a:rPr lang="en-US" sz="1800" dirty="0">
                <a:effectLst/>
                <a:latin typeface="Times New Roman" panose="02020603050405020304" pitchFamily="18" charset="0"/>
                <a:ea typeface="Times New Roman" panose="02020603050405020304" pitchFamily="18" charset="0"/>
              </a:rPr>
              <a:t>The maximum velocity at y =0 in                        (Obtained from equation of free oscillation y=A sin </a:t>
            </a:r>
            <a:r>
              <a:rPr lang="el-GR" sz="1800" dirty="0">
                <a:effectLst/>
                <a:latin typeface="Times New Roman" panose="02020603050405020304" pitchFamily="18" charset="0"/>
                <a:ea typeface="Times New Roman" panose="02020603050405020304" pitchFamily="18" charset="0"/>
              </a:rPr>
              <a:t>ω</a:t>
            </a:r>
            <a:r>
              <a:rPr lang="en-IN" sz="1800" dirty="0">
                <a:effectLst/>
                <a:latin typeface="Times New Roman" panose="02020603050405020304" pitchFamily="18" charset="0"/>
                <a:ea typeface="Times New Roman" panose="02020603050405020304" pitchFamily="18" charset="0"/>
              </a:rPr>
              <a:t>t</a:t>
            </a:r>
            <a:endParaRPr lang="en-US" sz="1800" dirty="0">
              <a:effectLst/>
              <a:latin typeface="Times New Roman" panose="02020603050405020304" pitchFamily="18" charset="0"/>
              <a:ea typeface="Times New Roman" panose="02020603050405020304" pitchFamily="18" charset="0"/>
            </a:endParaRPr>
          </a:p>
          <a:p>
            <a:pPr marL="0" indent="0">
              <a:buNone/>
            </a:pPr>
            <a:r>
              <a:rPr lang="en-US" sz="1800" dirty="0" err="1">
                <a:effectLst/>
                <a:latin typeface="Times New Roman" panose="02020603050405020304" pitchFamily="18" charset="0"/>
                <a:ea typeface="Times New Roman" panose="02020603050405020304" pitchFamily="18" charset="0"/>
              </a:rPr>
              <a:t>v</a:t>
            </a:r>
            <a:r>
              <a:rPr lang="en-US" sz="1800" baseline="-25000" dirty="0" err="1">
                <a:effectLst/>
                <a:latin typeface="Times New Roman" panose="02020603050405020304" pitchFamily="18" charset="0"/>
                <a:ea typeface="Times New Roman" panose="02020603050405020304" pitchFamily="18" charset="0"/>
              </a:rPr>
              <a:t>max</a:t>
            </a:r>
            <a:r>
              <a:rPr lang="en-US" sz="1800" dirty="0">
                <a:effectLst/>
                <a:latin typeface="Times New Roman" panose="02020603050405020304" pitchFamily="18" charset="0"/>
                <a:ea typeface="Times New Roman" panose="02020603050405020304" pitchFamily="18" charset="0"/>
              </a:rPr>
              <a:t>= </a:t>
            </a:r>
          </a:p>
          <a:p>
            <a:pPr marL="0" indent="0">
              <a:buNone/>
            </a:pPr>
            <a:endParaRPr lang="en-US" sz="1800" b="1" dirty="0">
              <a:latin typeface="Times New Roman" panose="02020603050405020304" pitchFamily="18" charset="0"/>
            </a:endParaRPr>
          </a:p>
          <a:p>
            <a:pPr marL="0" indent="0">
              <a:buNone/>
            </a:pPr>
            <a:endParaRPr lang="en-IN" b="1" dirty="0"/>
          </a:p>
          <a:p>
            <a:pPr marL="0" indent="0">
              <a:buNone/>
            </a:pPr>
            <a:endParaRPr lang="en-IN" b="1" dirty="0"/>
          </a:p>
          <a:p>
            <a:pPr marL="0" indent="0">
              <a:buNone/>
            </a:pPr>
            <a:endParaRPr lang="en-IN" b="1" dirty="0"/>
          </a:p>
          <a:p>
            <a:pPr marL="0" indent="0">
              <a:buNone/>
            </a:pPr>
            <a:r>
              <a:rPr lang="en-US" sz="1800" dirty="0">
                <a:effectLst/>
                <a:latin typeface="Times New Roman" panose="02020603050405020304" pitchFamily="18" charset="0"/>
                <a:ea typeface="Times New Roman" panose="02020603050405020304" pitchFamily="18" charset="0"/>
              </a:rPr>
              <a:t>maximum acceleration is</a:t>
            </a:r>
            <a:r>
              <a:rPr lang="en-IN" sz="1800" b="1" dirty="0">
                <a:effectLst/>
                <a:latin typeface="Times New Roman" panose="02020603050405020304" pitchFamily="18" charset="0"/>
                <a:ea typeface="Times New Roman" panose="02020603050405020304" pitchFamily="18" charset="0"/>
              </a:rPr>
              <a:t> </a:t>
            </a:r>
            <a:endParaRPr lang="en-IN" b="1" dirty="0"/>
          </a:p>
        </p:txBody>
      </p:sp>
      <p:graphicFrame>
        <p:nvGraphicFramePr>
          <p:cNvPr id="20" name="Object 19">
            <a:extLst>
              <a:ext uri="{FF2B5EF4-FFF2-40B4-BE49-F238E27FC236}">
                <a16:creationId xmlns:a16="http://schemas.microsoft.com/office/drawing/2014/main" id="{93356BB4-765E-5666-314A-034020B626D5}"/>
              </a:ext>
            </a:extLst>
          </p:cNvPr>
          <p:cNvGraphicFramePr>
            <a:graphicFrameLocks noChangeAspect="1"/>
          </p:cNvGraphicFramePr>
          <p:nvPr>
            <p:extLst>
              <p:ext uri="{D42A27DB-BD31-4B8C-83A1-F6EECF244321}">
                <p14:modId xmlns:p14="http://schemas.microsoft.com/office/powerpoint/2010/main" val="1688174835"/>
              </p:ext>
            </p:extLst>
          </p:nvPr>
        </p:nvGraphicFramePr>
        <p:xfrm>
          <a:off x="3784548" y="1399918"/>
          <a:ext cx="1012159" cy="428881"/>
        </p:xfrm>
        <a:graphic>
          <a:graphicData uri="http://schemas.openxmlformats.org/presentationml/2006/ole">
            <mc:AlternateContent xmlns:mc="http://schemas.openxmlformats.org/markup-compatibility/2006">
              <mc:Choice xmlns:v="urn:schemas-microsoft-com:vml" Requires="v">
                <p:oleObj name="Equation" r:id="rId2" imgW="749160" imgH="317160" progId="Equation.DSMT4">
                  <p:embed/>
                </p:oleObj>
              </mc:Choice>
              <mc:Fallback>
                <p:oleObj name="Equation" r:id="rId2" imgW="749160" imgH="317160" progId="Equation.DSMT4">
                  <p:embed/>
                  <p:pic>
                    <p:nvPicPr>
                      <p:cNvPr id="0" name=""/>
                      <p:cNvPicPr/>
                      <p:nvPr/>
                    </p:nvPicPr>
                    <p:blipFill>
                      <a:blip r:embed="rId3"/>
                      <a:stretch>
                        <a:fillRect/>
                      </a:stretch>
                    </p:blipFill>
                    <p:spPr>
                      <a:xfrm>
                        <a:off x="3784548" y="1399918"/>
                        <a:ext cx="1012159" cy="428881"/>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B22751A7-942E-58AA-3FF5-408793B69BF4}"/>
              </a:ext>
            </a:extLst>
          </p:cNvPr>
          <p:cNvGraphicFramePr>
            <a:graphicFrameLocks noChangeAspect="1"/>
          </p:cNvGraphicFramePr>
          <p:nvPr>
            <p:extLst>
              <p:ext uri="{D42A27DB-BD31-4B8C-83A1-F6EECF244321}">
                <p14:modId xmlns:p14="http://schemas.microsoft.com/office/powerpoint/2010/main" val="2033854850"/>
              </p:ext>
            </p:extLst>
          </p:nvPr>
        </p:nvGraphicFramePr>
        <p:xfrm>
          <a:off x="1169271" y="1828798"/>
          <a:ext cx="457202" cy="304801"/>
        </p:xfrm>
        <a:graphic>
          <a:graphicData uri="http://schemas.openxmlformats.org/presentationml/2006/ole">
            <mc:AlternateContent xmlns:mc="http://schemas.openxmlformats.org/markup-compatibility/2006">
              <mc:Choice xmlns:v="urn:schemas-microsoft-com:vml" Requires="v">
                <p:oleObj name="Equation" r:id="rId4" imgW="256921" imgH="171606" progId="Equation.DSMT4">
                  <p:embed/>
                </p:oleObj>
              </mc:Choice>
              <mc:Fallback>
                <p:oleObj name="Equation" r:id="rId4" imgW="256921" imgH="171606" progId="Equation.DSMT4">
                  <p:embed/>
                  <p:pic>
                    <p:nvPicPr>
                      <p:cNvPr id="0" name=""/>
                      <p:cNvPicPr/>
                      <p:nvPr/>
                    </p:nvPicPr>
                    <p:blipFill>
                      <a:blip r:embed="rId5"/>
                      <a:stretch>
                        <a:fillRect/>
                      </a:stretch>
                    </p:blipFill>
                    <p:spPr>
                      <a:xfrm>
                        <a:off x="1169271" y="1828798"/>
                        <a:ext cx="457202" cy="304801"/>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97ABE16E-0367-D6DB-8527-88E80F6C1185}"/>
              </a:ext>
            </a:extLst>
          </p:cNvPr>
          <p:cNvGraphicFramePr>
            <a:graphicFrameLocks noChangeAspect="1"/>
          </p:cNvGraphicFramePr>
          <p:nvPr>
            <p:extLst>
              <p:ext uri="{D42A27DB-BD31-4B8C-83A1-F6EECF244321}">
                <p14:modId xmlns:p14="http://schemas.microsoft.com/office/powerpoint/2010/main" val="1956359561"/>
              </p:ext>
            </p:extLst>
          </p:nvPr>
        </p:nvGraphicFramePr>
        <p:xfrm>
          <a:off x="717448" y="2400402"/>
          <a:ext cx="3887230" cy="1028598"/>
        </p:xfrm>
        <a:graphic>
          <a:graphicData uri="http://schemas.openxmlformats.org/presentationml/2006/ole">
            <mc:AlternateContent xmlns:mc="http://schemas.openxmlformats.org/markup-compatibility/2006">
              <mc:Choice xmlns:v="urn:schemas-microsoft-com:vml" Requires="v">
                <p:oleObj name="Equation" r:id="rId6" imgW="2418080" imgH="639195" progId="Equation.DSMT4">
                  <p:embed/>
                </p:oleObj>
              </mc:Choice>
              <mc:Fallback>
                <p:oleObj name="Equation" r:id="rId6" imgW="2418080" imgH="639195" progId="Equation.DSMT4">
                  <p:embed/>
                  <p:pic>
                    <p:nvPicPr>
                      <p:cNvPr id="0" name=""/>
                      <p:cNvPicPr/>
                      <p:nvPr/>
                    </p:nvPicPr>
                    <p:blipFill>
                      <a:blip r:embed="rId7"/>
                      <a:stretch>
                        <a:fillRect/>
                      </a:stretch>
                    </p:blipFill>
                    <p:spPr>
                      <a:xfrm>
                        <a:off x="717448" y="2400402"/>
                        <a:ext cx="3887230" cy="1028598"/>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13D38C09-C715-4173-8287-07595FFBF20E}"/>
              </a:ext>
            </a:extLst>
          </p:cNvPr>
          <p:cNvGraphicFramePr>
            <a:graphicFrameLocks noChangeAspect="1"/>
          </p:cNvGraphicFramePr>
          <p:nvPr>
            <p:extLst>
              <p:ext uri="{D42A27DB-BD31-4B8C-83A1-F6EECF244321}">
                <p14:modId xmlns:p14="http://schemas.microsoft.com/office/powerpoint/2010/main" val="3817314996"/>
              </p:ext>
            </p:extLst>
          </p:nvPr>
        </p:nvGraphicFramePr>
        <p:xfrm>
          <a:off x="3013895" y="4057138"/>
          <a:ext cx="478665" cy="337881"/>
        </p:xfrm>
        <a:graphic>
          <a:graphicData uri="http://schemas.openxmlformats.org/presentationml/2006/ole">
            <mc:AlternateContent xmlns:mc="http://schemas.openxmlformats.org/markup-compatibility/2006">
              <mc:Choice xmlns:v="urn:schemas-microsoft-com:vml" Requires="v">
                <p:oleObj name="Equation" r:id="rId8" imgW="323850" imgH="228928" progId="Equation.DSMT4">
                  <p:embed/>
                </p:oleObj>
              </mc:Choice>
              <mc:Fallback>
                <p:oleObj name="Equation" r:id="rId8" imgW="323850" imgH="228928" progId="Equation.DSMT4">
                  <p:embed/>
                  <p:pic>
                    <p:nvPicPr>
                      <p:cNvPr id="0" name=""/>
                      <p:cNvPicPr/>
                      <p:nvPr/>
                    </p:nvPicPr>
                    <p:blipFill>
                      <a:blip r:embed="rId9"/>
                      <a:stretch>
                        <a:fillRect/>
                      </a:stretch>
                    </p:blipFill>
                    <p:spPr>
                      <a:xfrm>
                        <a:off x="3013895" y="4057138"/>
                        <a:ext cx="478665" cy="337881"/>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55E09FCD-6478-54C9-C3C2-88E679F081DB}"/>
              </a:ext>
            </a:extLst>
          </p:cNvPr>
          <p:cNvGraphicFramePr>
            <a:graphicFrameLocks noChangeAspect="1"/>
          </p:cNvGraphicFramePr>
          <p:nvPr>
            <p:extLst>
              <p:ext uri="{D42A27DB-BD31-4B8C-83A1-F6EECF244321}">
                <p14:modId xmlns:p14="http://schemas.microsoft.com/office/powerpoint/2010/main" val="3659027623"/>
              </p:ext>
            </p:extLst>
          </p:nvPr>
        </p:nvGraphicFramePr>
        <p:xfrm>
          <a:off x="1397872" y="4918382"/>
          <a:ext cx="4137689" cy="502924"/>
        </p:xfrm>
        <a:graphic>
          <a:graphicData uri="http://schemas.openxmlformats.org/presentationml/2006/ole">
            <mc:AlternateContent xmlns:mc="http://schemas.openxmlformats.org/markup-compatibility/2006">
              <mc:Choice xmlns:v="urn:schemas-microsoft-com:vml" Requires="v">
                <p:oleObj name="Equation" r:id="rId10" imgW="1723242" imgH="209820" progId="Equation.DSMT4">
                  <p:embed/>
                </p:oleObj>
              </mc:Choice>
              <mc:Fallback>
                <p:oleObj name="Equation" r:id="rId10" imgW="1723242" imgH="209820" progId="Equation.DSMT4">
                  <p:embed/>
                  <p:pic>
                    <p:nvPicPr>
                      <p:cNvPr id="0" name=""/>
                      <p:cNvPicPr/>
                      <p:nvPr/>
                    </p:nvPicPr>
                    <p:blipFill>
                      <a:blip r:embed="rId11"/>
                      <a:stretch>
                        <a:fillRect/>
                      </a:stretch>
                    </p:blipFill>
                    <p:spPr>
                      <a:xfrm>
                        <a:off x="1397872" y="4918382"/>
                        <a:ext cx="4137689" cy="502924"/>
                      </a:xfrm>
                      <a:prstGeom prst="rect">
                        <a:avLst/>
                      </a:prstGeom>
                    </p:spPr>
                  </p:pic>
                </p:oleObj>
              </mc:Fallback>
            </mc:AlternateContent>
          </a:graphicData>
        </a:graphic>
      </p:graphicFrame>
    </p:spTree>
    <p:extLst>
      <p:ext uri="{BB962C8B-B14F-4D97-AF65-F5344CB8AC3E}">
        <p14:creationId xmlns:p14="http://schemas.microsoft.com/office/powerpoint/2010/main" val="1923678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A7E50D77-D28E-B973-4422-BA0FCDD51E73}"/>
                  </a:ext>
                </a:extLst>
              </p:cNvPr>
              <p:cNvSpPr>
                <a:spLocks noGrp="1"/>
              </p:cNvSpPr>
              <p:nvPr>
                <p:ph type="title"/>
              </p:nvPr>
            </p:nvSpPr>
            <p:spPr/>
            <p:txBody>
              <a:bodyPr>
                <a:normAutofit/>
              </a:bodyPr>
              <a:lstStyle/>
              <a:p>
                <a:r>
                  <a:rPr lang="en-IN" sz="2400" dirty="0">
                    <a:latin typeface="Times New Roman" panose="02020603050405020304" pitchFamily="18" charset="0"/>
                    <a:cs typeface="Times New Roman" panose="02020603050405020304" pitchFamily="18" charset="0"/>
                  </a:rPr>
                  <a:t>4) In spring-mass systems shown in the figure, </a:t>
                </a:r>
                <a14:m>
                  <m:oMath xmlns:m="http://schemas.openxmlformats.org/officeDocument/2006/math">
                    <m:sSub>
                      <m:sSubPr>
                        <m:ctrlPr>
                          <a:rPr lang="en-IN" sz="2400" i="1" smtClean="0">
                            <a:solidFill>
                              <a:srgbClr val="836967"/>
                            </a:solidFill>
                            <a:latin typeface="Cambria Math" panose="02040503050406030204" pitchFamily="18" charset="0"/>
                          </a:rPr>
                        </m:ctrlPr>
                      </m:sSubPr>
                      <m:e>
                        <m:r>
                          <a:rPr lang="en-IN" sz="2400" i="1" smtClean="0">
                            <a:latin typeface="Cambria Math" panose="02040503050406030204" pitchFamily="18" charset="0"/>
                          </a:rPr>
                          <m:t>𝑘</m:t>
                        </m:r>
                      </m:e>
                      <m:sub>
                        <m:r>
                          <a:rPr lang="en-IN" sz="2400" i="0" smtClean="0">
                            <a:latin typeface="Cambria Math" panose="02040503050406030204" pitchFamily="18" charset="0"/>
                          </a:rPr>
                          <m:t>1</m:t>
                        </m:r>
                      </m:sub>
                    </m:sSub>
                    <m:r>
                      <a:rPr lang="en-IN" sz="2400" i="1" smtClean="0">
                        <a:latin typeface="Cambria Math" panose="02040503050406030204" pitchFamily="18" charset="0"/>
                      </a:rPr>
                      <m:t> </m:t>
                    </m:r>
                  </m:oMath>
                </a14:m>
                <a:r>
                  <a:rPr lang="en-IN" sz="2400" dirty="0">
                    <a:latin typeface="Times New Roman" panose="02020603050405020304" pitchFamily="18" charset="0"/>
                    <a:cs typeface="Times New Roman" panose="02020603050405020304" pitchFamily="18" charset="0"/>
                  </a:rPr>
                  <a:t>= 2000 N/m, </a:t>
                </a:r>
                <a14:m>
                  <m:oMath xmlns:m="http://schemas.openxmlformats.org/officeDocument/2006/math">
                    <m:sSub>
                      <m:sSubPr>
                        <m:ctrlPr>
                          <a:rPr lang="en-IN" sz="2400" i="1">
                            <a:solidFill>
                              <a:srgbClr val="836967"/>
                            </a:solidFill>
                            <a:latin typeface="Cambria Math" panose="02040503050406030204" pitchFamily="18" charset="0"/>
                          </a:rPr>
                        </m:ctrlPr>
                      </m:sSubPr>
                      <m:e>
                        <m:r>
                          <a:rPr lang="en-IN" sz="2400" i="1">
                            <a:latin typeface="Cambria Math" panose="02040503050406030204" pitchFamily="18" charset="0"/>
                          </a:rPr>
                          <m:t>𝑘</m:t>
                        </m:r>
                      </m:e>
                      <m:sub>
                        <m:r>
                          <a:rPr lang="en-IN" sz="2400" b="0" i="0" smtClean="0">
                            <a:latin typeface="Cambria Math" panose="02040503050406030204" pitchFamily="18" charset="0"/>
                          </a:rPr>
                          <m:t>2</m:t>
                        </m:r>
                      </m:sub>
                    </m:sSub>
                  </m:oMath>
                </a14:m>
                <a:r>
                  <a:rPr lang="en-IN" sz="2400" dirty="0">
                    <a:latin typeface="Times New Roman" panose="02020603050405020304" pitchFamily="18" charset="0"/>
                    <a:cs typeface="Times New Roman" panose="02020603050405020304" pitchFamily="18" charset="0"/>
                  </a:rPr>
                  <a:t> = 1500 N/m, </a:t>
                </a:r>
                <a14:m>
                  <m:oMath xmlns:m="http://schemas.openxmlformats.org/officeDocument/2006/math">
                    <m:sSub>
                      <m:sSubPr>
                        <m:ctrlPr>
                          <a:rPr lang="en-IN" sz="2400" i="1">
                            <a:solidFill>
                              <a:srgbClr val="836967"/>
                            </a:solidFill>
                            <a:latin typeface="Cambria Math" panose="02040503050406030204" pitchFamily="18" charset="0"/>
                          </a:rPr>
                        </m:ctrlPr>
                      </m:sSubPr>
                      <m:e>
                        <m:r>
                          <a:rPr lang="en-IN" sz="2400" i="1">
                            <a:latin typeface="Cambria Math" panose="02040503050406030204" pitchFamily="18" charset="0"/>
                          </a:rPr>
                          <m:t>𝑘</m:t>
                        </m:r>
                      </m:e>
                      <m:sub>
                        <m:r>
                          <a:rPr lang="en-IN" sz="2400" b="0" i="0" smtClean="0">
                            <a:latin typeface="Cambria Math" panose="02040503050406030204" pitchFamily="18" charset="0"/>
                          </a:rPr>
                          <m:t>3</m:t>
                        </m:r>
                      </m:sub>
                    </m:sSub>
                  </m:oMath>
                </a14:m>
                <a:r>
                  <a:rPr lang="en-IN" sz="2400" dirty="0">
                    <a:latin typeface="Times New Roman" panose="02020603050405020304" pitchFamily="18" charset="0"/>
                    <a:cs typeface="Times New Roman" panose="02020603050405020304" pitchFamily="18" charset="0"/>
                  </a:rPr>
                  <a:t> = 3000 N/m, </a:t>
                </a:r>
                <a14:m>
                  <m:oMath xmlns:m="http://schemas.openxmlformats.org/officeDocument/2006/math">
                    <m:sSub>
                      <m:sSubPr>
                        <m:ctrlPr>
                          <a:rPr lang="en-IN" sz="2400" i="1">
                            <a:solidFill>
                              <a:srgbClr val="836967"/>
                            </a:solidFill>
                            <a:latin typeface="Cambria Math" panose="02040503050406030204" pitchFamily="18" charset="0"/>
                          </a:rPr>
                        </m:ctrlPr>
                      </m:sSubPr>
                      <m:e>
                        <m:r>
                          <a:rPr lang="en-IN" sz="2400" i="1">
                            <a:latin typeface="Cambria Math" panose="02040503050406030204" pitchFamily="18" charset="0"/>
                          </a:rPr>
                          <m:t>𝑘</m:t>
                        </m:r>
                      </m:e>
                      <m:sub>
                        <m:r>
                          <a:rPr lang="en-IN" sz="2400" b="0" i="0" smtClean="0">
                            <a:latin typeface="Cambria Math" panose="02040503050406030204" pitchFamily="18" charset="0"/>
                          </a:rPr>
                          <m:t>4</m:t>
                        </m:r>
                      </m:sub>
                    </m:sSub>
                    <m:r>
                      <a:rPr lang="en-IN" sz="2400" i="1">
                        <a:latin typeface="Cambria Math" panose="02040503050406030204" pitchFamily="18" charset="0"/>
                      </a:rPr>
                      <m:t> </m:t>
                    </m:r>
                  </m:oMath>
                </a14:m>
                <a:r>
                  <a:rPr lang="en-IN"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IN" sz="2400" i="1">
                            <a:solidFill>
                              <a:srgbClr val="836967"/>
                            </a:solidFill>
                            <a:latin typeface="Cambria Math" panose="02040503050406030204" pitchFamily="18" charset="0"/>
                          </a:rPr>
                        </m:ctrlPr>
                      </m:sSubPr>
                      <m:e>
                        <m:r>
                          <a:rPr lang="en-IN" sz="2400" i="1">
                            <a:latin typeface="Cambria Math" panose="02040503050406030204" pitchFamily="18" charset="0"/>
                          </a:rPr>
                          <m:t>𝑘</m:t>
                        </m:r>
                      </m:e>
                      <m:sub>
                        <m:r>
                          <a:rPr lang="en-IN" sz="2400" b="0" i="0" smtClean="0">
                            <a:latin typeface="Cambria Math" panose="02040503050406030204" pitchFamily="18" charset="0"/>
                          </a:rPr>
                          <m:t>5</m:t>
                        </m:r>
                      </m:sub>
                    </m:sSub>
                  </m:oMath>
                </a14:m>
                <a:r>
                  <a:rPr lang="en-IN" sz="2400" dirty="0">
                    <a:latin typeface="Times New Roman" panose="02020603050405020304" pitchFamily="18" charset="0"/>
                    <a:cs typeface="Times New Roman" panose="02020603050405020304" pitchFamily="18" charset="0"/>
                  </a:rPr>
                  <a:t> = 500 N/m. Find m such that the system has a natural frequency of 10 Hz in each of the cases.</a:t>
                </a:r>
              </a:p>
            </p:txBody>
          </p:sp>
        </mc:Choice>
        <mc:Fallback>
          <p:sp>
            <p:nvSpPr>
              <p:cNvPr id="2" name="Title 1">
                <a:extLst>
                  <a:ext uri="{FF2B5EF4-FFF2-40B4-BE49-F238E27FC236}">
                    <a16:creationId xmlns:a16="http://schemas.microsoft.com/office/drawing/2014/main" id="{A7E50D77-D28E-B973-4422-BA0FCDD51E73}"/>
                  </a:ext>
                </a:extLst>
              </p:cNvPr>
              <p:cNvSpPr>
                <a:spLocks noGrp="1" noRot="1" noChangeAspect="1" noMove="1" noResize="1" noEditPoints="1" noAdjustHandles="1" noChangeArrowheads="1" noChangeShapeType="1" noTextEdit="1"/>
              </p:cNvSpPr>
              <p:nvPr>
                <p:ph type="title"/>
              </p:nvPr>
            </p:nvSpPr>
            <p:spPr>
              <a:blipFill>
                <a:blip r:embed="rId2"/>
                <a:stretch>
                  <a:fillRect l="-928" r="-1623" b="-1382"/>
                </a:stretch>
              </a:blipFill>
            </p:spPr>
            <p:txBody>
              <a:bodyPr/>
              <a:lstStyle/>
              <a:p>
                <a:r>
                  <a:rPr lang="en-IN">
                    <a:noFill/>
                  </a:rPr>
                  <a:t> </a:t>
                </a:r>
              </a:p>
            </p:txBody>
          </p:sp>
        </mc:Fallback>
      </mc:AlternateContent>
      <p:sp>
        <p:nvSpPr>
          <p:cNvPr id="3" name="Content Placeholder 2">
            <a:extLst>
              <a:ext uri="{FF2B5EF4-FFF2-40B4-BE49-F238E27FC236}">
                <a16:creationId xmlns:a16="http://schemas.microsoft.com/office/drawing/2014/main" id="{07942BF5-0FCF-1421-99B5-BC20DFE9D87C}"/>
              </a:ext>
            </a:extLst>
          </p:cNvPr>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pPr marL="0" indent="0">
              <a:buNone/>
            </a:pPr>
            <a:r>
              <a:rPr lang="en-IN" dirty="0"/>
              <a:t>m = 0.1 kg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5A77DF8-0D33-26F7-3C82-1FAA25EF361B}"/>
                  </a:ext>
                </a:extLst>
              </p:cNvPr>
              <p:cNvSpPr txBox="1"/>
              <p:nvPr/>
            </p:nvSpPr>
            <p:spPr>
              <a:xfrm>
                <a:off x="1145458" y="4468762"/>
                <a:ext cx="1342103" cy="404791"/>
              </a:xfrm>
              <a:prstGeom prst="rect">
                <a:avLst/>
              </a:prstGeom>
              <a:noFill/>
            </p:spPr>
            <p:txBody>
              <a:bodyPr wrap="square" lIns="0" tIns="0" rIns="0" bIns="0" rtlCol="0">
                <a:spAutoFit/>
              </a:bodyPr>
              <a:lstStyle/>
              <a:p>
                <a:r>
                  <a:rPr lang="en-IN" dirty="0">
                    <a:solidFill>
                      <a:srgbClr val="836967"/>
                    </a:solidFill>
                  </a:rPr>
                  <a:t>f = </a:t>
                </a:r>
                <a14:m>
                  <m:oMath xmlns:m="http://schemas.openxmlformats.org/officeDocument/2006/math">
                    <m:f>
                      <m:fPr>
                        <m:ctrlPr>
                          <a:rPr lang="en-IN" i="1" smtClean="0">
                            <a:solidFill>
                              <a:srgbClr val="836967"/>
                            </a:solidFill>
                            <a:latin typeface="Cambria Math" panose="02040503050406030204" pitchFamily="18" charset="0"/>
                          </a:rPr>
                        </m:ctrlPr>
                      </m:fPr>
                      <m:num>
                        <m:r>
                          <a:rPr lang="en-IN">
                            <a:latin typeface="Cambria Math" panose="02040503050406030204" pitchFamily="18" charset="0"/>
                          </a:rPr>
                          <m:t>1</m:t>
                        </m:r>
                      </m:num>
                      <m:den>
                        <m:r>
                          <a:rPr lang="en-IN" b="0" i="1" smtClean="0">
                            <a:latin typeface="Cambria Math" panose="02040503050406030204" pitchFamily="18" charset="0"/>
                          </a:rPr>
                          <m:t>2</m:t>
                        </m:r>
                        <m:r>
                          <a:rPr lang="en-IN" i="1">
                            <a:latin typeface="Cambria Math" panose="02040503050406030204" pitchFamily="18" charset="0"/>
                          </a:rPr>
                          <m:t>𝜋</m:t>
                        </m:r>
                      </m:den>
                    </m:f>
                    <m:rad>
                      <m:radPr>
                        <m:degHide m:val="on"/>
                        <m:ctrlPr>
                          <a:rPr lang="en-IN" i="1">
                            <a:solidFill>
                              <a:srgbClr val="836967"/>
                            </a:solidFill>
                            <a:latin typeface="Cambria Math" panose="02040503050406030204" pitchFamily="18" charset="0"/>
                          </a:rPr>
                        </m:ctrlPr>
                      </m:radPr>
                      <m:deg/>
                      <m:e>
                        <m:f>
                          <m:fPr>
                            <m:type m:val="skw"/>
                            <m:ctrlPr>
                              <a:rPr lang="en-IN" i="1">
                                <a:solidFill>
                                  <a:srgbClr val="836967"/>
                                </a:solidFill>
                                <a:latin typeface="Cambria Math" panose="02040503050406030204" pitchFamily="18" charset="0"/>
                              </a:rPr>
                            </m:ctrlPr>
                          </m:fPr>
                          <m:num>
                            <m:r>
                              <a:rPr lang="en-IN" b="0" i="1" smtClean="0">
                                <a:solidFill>
                                  <a:srgbClr val="836967"/>
                                </a:solidFill>
                                <a:latin typeface="Cambria Math" panose="02040503050406030204" pitchFamily="18" charset="0"/>
                              </a:rPr>
                              <m:t>𝑘</m:t>
                            </m:r>
                          </m:num>
                          <m:den>
                            <m:r>
                              <a:rPr lang="en-IN" i="1">
                                <a:latin typeface="Cambria Math" panose="02040503050406030204" pitchFamily="18" charset="0"/>
                              </a:rPr>
                              <m:t>𝑚</m:t>
                            </m:r>
                          </m:den>
                        </m:f>
                      </m:e>
                    </m:rad>
                  </m:oMath>
                </a14:m>
                <a:endParaRPr lang="en-IN" dirty="0"/>
              </a:p>
            </p:txBody>
          </p:sp>
        </mc:Choice>
        <mc:Fallback xmlns="">
          <p:sp>
            <p:nvSpPr>
              <p:cNvPr id="4" name="TextBox 3">
                <a:extLst>
                  <a:ext uri="{FF2B5EF4-FFF2-40B4-BE49-F238E27FC236}">
                    <a16:creationId xmlns:a16="http://schemas.microsoft.com/office/drawing/2014/main" id="{E5A77DF8-0D33-26F7-3C82-1FAA25EF361B}"/>
                  </a:ext>
                </a:extLst>
              </p:cNvPr>
              <p:cNvSpPr txBox="1">
                <a:spLocks noRot="1" noChangeAspect="1" noMove="1" noResize="1" noEditPoints="1" noAdjustHandles="1" noChangeArrowheads="1" noChangeShapeType="1" noTextEdit="1"/>
              </p:cNvSpPr>
              <p:nvPr/>
            </p:nvSpPr>
            <p:spPr>
              <a:xfrm>
                <a:off x="1145458" y="4468762"/>
                <a:ext cx="1342103" cy="404791"/>
              </a:xfrm>
              <a:prstGeom prst="rect">
                <a:avLst/>
              </a:prstGeom>
              <a:blipFill>
                <a:blip r:embed="rId3"/>
                <a:stretch>
                  <a:fillRect l="-10909" t="-103030" r="-22727" b="-159091"/>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9BD5C0AB-6380-8788-0971-60278C154EF0}"/>
              </a:ext>
            </a:extLst>
          </p:cNvPr>
          <p:cNvPicPr>
            <a:picLocks noChangeAspect="1"/>
          </p:cNvPicPr>
          <p:nvPr/>
        </p:nvPicPr>
        <p:blipFill>
          <a:blip r:embed="rId4"/>
          <a:stretch>
            <a:fillRect/>
          </a:stretch>
        </p:blipFill>
        <p:spPr>
          <a:xfrm>
            <a:off x="9113944" y="1375232"/>
            <a:ext cx="1932598" cy="5106226"/>
          </a:xfrm>
          <a:prstGeom prst="rect">
            <a:avLst/>
          </a:prstGeom>
        </p:spPr>
      </p:pic>
    </p:spTree>
    <p:extLst>
      <p:ext uri="{BB962C8B-B14F-4D97-AF65-F5344CB8AC3E}">
        <p14:creationId xmlns:p14="http://schemas.microsoft.com/office/powerpoint/2010/main" val="37044711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D5DA5-9616-1265-3B49-6F46F78BAB05}"/>
              </a:ext>
            </a:extLst>
          </p:cNvPr>
          <p:cNvSpPr>
            <a:spLocks noGrp="1"/>
          </p:cNvSpPr>
          <p:nvPr>
            <p:ph type="title"/>
          </p:nvPr>
        </p:nvSpPr>
        <p:spPr/>
        <p:txBody>
          <a:bodyPr>
            <a:normAutofit fontScale="90000"/>
          </a:bodyPr>
          <a:lstStyle/>
          <a:p>
            <a:r>
              <a:rPr lang="en-IN" sz="2400" dirty="0">
                <a:latin typeface="Times New Roman" panose="02020603050405020304" pitchFamily="18" charset="0"/>
                <a:cs typeface="Times New Roman" panose="02020603050405020304" pitchFamily="18" charset="0"/>
              </a:rPr>
              <a:t>5) Calculate the peak amplitude of vibration of a system whose natural frequency is 100 Hz when it oscillates in a resistive medium for which the value of damping/unit mass is 0.008 rad/s under the action of an external periodic force / unit mass of amplitude 5 N/kg, with </a:t>
            </a:r>
            <a:r>
              <a:rPr lang="en-IN" sz="2400" dirty="0" err="1">
                <a:latin typeface="Times New Roman" panose="02020603050405020304" pitchFamily="18" charset="0"/>
                <a:cs typeface="Times New Roman" panose="02020603050405020304" pitchFamily="18" charset="0"/>
              </a:rPr>
              <a:t>tunable</a:t>
            </a:r>
            <a:r>
              <a:rPr lang="en-IN" sz="2400" dirty="0">
                <a:latin typeface="Times New Roman" panose="02020603050405020304" pitchFamily="18" charset="0"/>
                <a:cs typeface="Times New Roman" panose="02020603050405020304" pitchFamily="18" charset="0"/>
              </a:rPr>
              <a:t> frequency.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137558A-2D8B-399C-E9A5-0B6D833012FD}"/>
                  </a:ext>
                </a:extLst>
              </p:cNvPr>
              <p:cNvSpPr>
                <a:spLocks noGrp="1"/>
              </p:cNvSpPr>
              <p:nvPr>
                <p:ph idx="1"/>
              </p:nvPr>
            </p:nvSpPr>
            <p:spPr/>
            <p:txBody>
              <a:bodyPr>
                <a:normAutofit fontScale="92500" lnSpcReduction="20000"/>
              </a:bodyPr>
              <a:lstStyle/>
              <a:p>
                <a:pPr marL="0" indent="0">
                  <a:buNone/>
                </a:pPr>
                <a:r>
                  <a:rPr lang="en-IN" sz="2000" dirty="0">
                    <a:latin typeface="Times New Roman" panose="02020603050405020304" pitchFamily="18" charset="0"/>
                    <a:cs typeface="Times New Roman" panose="02020603050405020304" pitchFamily="18" charset="0"/>
                  </a:rPr>
                  <a:t>Given: </a:t>
                </a:r>
              </a:p>
              <a:p>
                <a:pPr marL="0" indent="0">
                  <a:buNone/>
                </a:pPr>
                <a:r>
                  <a:rPr lang="en-IN" sz="2000" dirty="0">
                    <a:latin typeface="Times New Roman" panose="02020603050405020304" pitchFamily="18" charset="0"/>
                    <a:cs typeface="Times New Roman" panose="02020603050405020304" pitchFamily="18" charset="0"/>
                  </a:rPr>
                  <a:t>Natural frequency </a:t>
                </a:r>
                <a:r>
                  <a:rPr lang="el-GR" sz="2000" dirty="0">
                    <a:latin typeface="Times New Roman" panose="02020603050405020304" pitchFamily="18" charset="0"/>
                    <a:cs typeface="Times New Roman" panose="02020603050405020304" pitchFamily="18" charset="0"/>
                  </a:rPr>
                  <a:t>υ</a:t>
                </a:r>
                <a:r>
                  <a:rPr lang="en-IN" sz="2000" dirty="0">
                    <a:latin typeface="Times New Roman" panose="02020603050405020304" pitchFamily="18" charset="0"/>
                    <a:cs typeface="Times New Roman" panose="02020603050405020304" pitchFamily="18" charset="0"/>
                  </a:rPr>
                  <a:t>  = 1000 Hz</a:t>
                </a:r>
              </a:p>
              <a:p>
                <a:pPr marL="0" indent="0">
                  <a:buNone/>
                </a:pPr>
                <a:r>
                  <a:rPr lang="en-IN" sz="2000" dirty="0" err="1">
                    <a:latin typeface="Times New Roman" panose="02020603050405020304" pitchFamily="18" charset="0"/>
                    <a:cs typeface="Times New Roman" panose="02020603050405020304" pitchFamily="18" charset="0"/>
                  </a:rPr>
                  <a:t>Daming</a:t>
                </a:r>
                <a:r>
                  <a:rPr lang="en-IN" sz="2000" dirty="0">
                    <a:latin typeface="Times New Roman" panose="02020603050405020304" pitchFamily="18" charset="0"/>
                    <a:cs typeface="Times New Roman" panose="02020603050405020304" pitchFamily="18" charset="0"/>
                  </a:rPr>
                  <a:t> /unit mass  (r/m)= 0.008 rad/s</a:t>
                </a:r>
              </a:p>
              <a:p>
                <a:pPr marL="0" indent="0">
                  <a:buNone/>
                </a:pPr>
                <a:r>
                  <a:rPr lang="en-IN" sz="2000" dirty="0">
                    <a:latin typeface="Times New Roman" panose="02020603050405020304" pitchFamily="18" charset="0"/>
                    <a:cs typeface="Times New Roman" panose="02020603050405020304" pitchFamily="18" charset="0"/>
                  </a:rPr>
                  <a:t>Amplitude of applied force/unit mass (F/m =  N/kg</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We have 2b = </a:t>
                </a:r>
                <a14:m>
                  <m:oMath xmlns:m="http://schemas.openxmlformats.org/officeDocument/2006/math">
                    <m:f>
                      <m:fPr>
                        <m:ctrlPr>
                          <a:rPr lang="en-IN" sz="2000" i="1" smtClean="0">
                            <a:latin typeface="Cambria Math" panose="02040503050406030204" pitchFamily="18" charset="0"/>
                            <a:cs typeface="Times New Roman" panose="02020603050405020304" pitchFamily="18" charset="0"/>
                          </a:rPr>
                        </m:ctrlPr>
                      </m:fPr>
                      <m:num>
                        <m:r>
                          <a:rPr lang="en-IN" sz="2000" b="0" i="1" smtClean="0">
                            <a:latin typeface="Cambria Math" panose="02040503050406030204" pitchFamily="18" charset="0"/>
                            <a:cs typeface="Times New Roman" panose="02020603050405020304" pitchFamily="18" charset="0"/>
                          </a:rPr>
                          <m:t>𝑟</m:t>
                        </m:r>
                      </m:num>
                      <m:den>
                        <m:r>
                          <a:rPr lang="en-IN" sz="2000" b="0" i="1" smtClean="0">
                            <a:latin typeface="Cambria Math" panose="02040503050406030204" pitchFamily="18" charset="0"/>
                            <a:cs typeface="Times New Roman" panose="02020603050405020304" pitchFamily="18" charset="0"/>
                          </a:rPr>
                          <m:t>𝑚</m:t>
                        </m:r>
                      </m:den>
                    </m:f>
                  </m:oMath>
                </a14:m>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b = 0.004</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At maximum amplitude, </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A max = 0.1 m</a:t>
                </a:r>
              </a:p>
            </p:txBody>
          </p:sp>
        </mc:Choice>
        <mc:Fallback>
          <p:sp>
            <p:nvSpPr>
              <p:cNvPr id="3" name="Content Placeholder 2">
                <a:extLst>
                  <a:ext uri="{FF2B5EF4-FFF2-40B4-BE49-F238E27FC236}">
                    <a16:creationId xmlns:a16="http://schemas.microsoft.com/office/drawing/2014/main" id="{C137558A-2D8B-399C-E9A5-0B6D833012FD}"/>
                  </a:ext>
                </a:extLst>
              </p:cNvPr>
              <p:cNvSpPr>
                <a:spLocks noGrp="1" noRot="1" noChangeAspect="1" noMove="1" noResize="1" noEditPoints="1" noAdjustHandles="1" noChangeArrowheads="1" noChangeShapeType="1" noTextEdit="1"/>
              </p:cNvSpPr>
              <p:nvPr>
                <p:ph idx="1"/>
              </p:nvPr>
            </p:nvSpPr>
            <p:spPr>
              <a:blipFill>
                <a:blip r:embed="rId2"/>
                <a:stretch>
                  <a:fillRect l="-580" t="-2521" b="-182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6BE3EAF4-A66D-2E2F-380D-05EEB31A9FC0}"/>
              </a:ext>
            </a:extLst>
          </p:cNvPr>
          <p:cNvPicPr>
            <a:picLocks noChangeAspect="1"/>
          </p:cNvPicPr>
          <p:nvPr/>
        </p:nvPicPr>
        <p:blipFill>
          <a:blip r:embed="rId3"/>
          <a:stretch>
            <a:fillRect/>
          </a:stretch>
        </p:blipFill>
        <p:spPr>
          <a:xfrm>
            <a:off x="1177997" y="4599739"/>
            <a:ext cx="2638793" cy="962159"/>
          </a:xfrm>
          <a:prstGeom prst="rect">
            <a:avLst/>
          </a:prstGeom>
        </p:spPr>
      </p:pic>
      <p:graphicFrame>
        <p:nvGraphicFramePr>
          <p:cNvPr id="6" name="Object 5">
            <a:extLst>
              <a:ext uri="{FF2B5EF4-FFF2-40B4-BE49-F238E27FC236}">
                <a16:creationId xmlns:a16="http://schemas.microsoft.com/office/drawing/2014/main" id="{A1EC6611-4810-6A40-6E8F-9D7C95CBCA53}"/>
              </a:ext>
            </a:extLst>
          </p:cNvPr>
          <p:cNvGraphicFramePr>
            <a:graphicFrameLocks noChangeAspect="1"/>
          </p:cNvGraphicFramePr>
          <p:nvPr>
            <p:extLst>
              <p:ext uri="{D42A27DB-BD31-4B8C-83A1-F6EECF244321}">
                <p14:modId xmlns:p14="http://schemas.microsoft.com/office/powerpoint/2010/main" val="2223684494"/>
              </p:ext>
            </p:extLst>
          </p:nvPr>
        </p:nvGraphicFramePr>
        <p:xfrm>
          <a:off x="3513577" y="5553166"/>
          <a:ext cx="689129" cy="326524"/>
        </p:xfrm>
        <a:graphic>
          <a:graphicData uri="http://schemas.openxmlformats.org/presentationml/2006/ole">
            <mc:AlternateContent xmlns:mc="http://schemas.openxmlformats.org/markup-compatibility/2006">
              <mc:Choice xmlns:v="urn:schemas-microsoft-com:vml" Requires="v">
                <p:oleObj name="Equation" r:id="rId4" imgW="606679" imgH="286610" progId="Equation.DSMT4">
                  <p:embed/>
                </p:oleObj>
              </mc:Choice>
              <mc:Fallback>
                <p:oleObj name="Equation" r:id="rId4" imgW="606679" imgH="286610" progId="Equation.DSMT4">
                  <p:embed/>
                  <p:pic>
                    <p:nvPicPr>
                      <p:cNvPr id="0" name=""/>
                      <p:cNvPicPr/>
                      <p:nvPr/>
                    </p:nvPicPr>
                    <p:blipFill>
                      <a:blip r:embed="rId5"/>
                      <a:stretch>
                        <a:fillRect/>
                      </a:stretch>
                    </p:blipFill>
                    <p:spPr>
                      <a:xfrm>
                        <a:off x="3513577" y="5553166"/>
                        <a:ext cx="689129" cy="326524"/>
                      </a:xfrm>
                      <a:prstGeom prst="rect">
                        <a:avLst/>
                      </a:prstGeom>
                    </p:spPr>
                  </p:pic>
                </p:oleObj>
              </mc:Fallback>
            </mc:AlternateContent>
          </a:graphicData>
        </a:graphic>
      </p:graphicFrame>
    </p:spTree>
    <p:extLst>
      <p:ext uri="{BB962C8B-B14F-4D97-AF65-F5344CB8AC3E}">
        <p14:creationId xmlns:p14="http://schemas.microsoft.com/office/powerpoint/2010/main" val="32159974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36B8-44A5-EB6A-FEFE-4750E4011468}"/>
              </a:ext>
            </a:extLst>
          </p:cNvPr>
          <p:cNvSpPr>
            <a:spLocks noGrp="1"/>
          </p:cNvSpPr>
          <p:nvPr>
            <p:ph type="title"/>
          </p:nvPr>
        </p:nvSpPr>
        <p:spPr>
          <a:xfrm>
            <a:off x="393290" y="365126"/>
            <a:ext cx="10960510" cy="1198204"/>
          </a:xfrm>
        </p:spPr>
        <p:txBody>
          <a:bodyPr>
            <a:normAutofit/>
          </a:bodyPr>
          <a:lstStyle/>
          <a:p>
            <a:r>
              <a:rPr lang="en-IN" sz="2000" dirty="0">
                <a:latin typeface="Times New Roman" panose="02020603050405020304" pitchFamily="18" charset="0"/>
                <a:cs typeface="Times New Roman" panose="02020603050405020304" pitchFamily="18" charset="0"/>
              </a:rPr>
              <a:t>6) A 20 gm oscillator with natural angular frequency 10 rad/second in damping medium. The damping force is proportional to velocity of the vibrator. If the damping coefficient id 0.17, how does the oscillations decay?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8E52604-1574-02EE-764E-580A35B49C31}"/>
                  </a:ext>
                </a:extLst>
              </p:cNvPr>
              <p:cNvSpPr>
                <a:spLocks noGrp="1"/>
              </p:cNvSpPr>
              <p:nvPr>
                <p:ph idx="1"/>
              </p:nvPr>
            </p:nvSpPr>
            <p:spPr>
              <a:xfrm>
                <a:off x="393290" y="1563329"/>
                <a:ext cx="10960510" cy="5161936"/>
              </a:xfrm>
            </p:spPr>
            <p:txBody>
              <a:bodyPr>
                <a:normAutofit/>
              </a:bodyPr>
              <a:lstStyle/>
              <a:p>
                <a:pPr marL="0" indent="0">
                  <a:buNone/>
                </a:pPr>
                <a:r>
                  <a:rPr lang="en-IN" sz="2000" dirty="0">
                    <a:latin typeface="Times New Roman" panose="02020603050405020304" pitchFamily="18" charset="0"/>
                    <a:cs typeface="Times New Roman" panose="02020603050405020304" pitchFamily="18" charset="0"/>
                  </a:rPr>
                  <a:t>Given:</a:t>
                </a:r>
              </a:p>
              <a:p>
                <a:pPr marL="0" indent="0">
                  <a:buNone/>
                </a:pPr>
                <a:r>
                  <a:rPr lang="en-IN" sz="2000" dirty="0">
                    <a:latin typeface="Times New Roman" panose="02020603050405020304" pitchFamily="18" charset="0"/>
                    <a:cs typeface="Times New Roman" panose="02020603050405020304" pitchFamily="18" charset="0"/>
                  </a:rPr>
                  <a:t>Mass of the oscillator, m = 20 gm = 0.2 kg</a:t>
                </a:r>
              </a:p>
              <a:p>
                <a:pPr marL="0" indent="0">
                  <a:buNone/>
                </a:pPr>
                <a:r>
                  <a:rPr lang="en-IN" sz="2000" dirty="0">
                    <a:latin typeface="Times New Roman" panose="02020603050405020304" pitchFamily="18" charset="0"/>
                    <a:cs typeface="Times New Roman" panose="02020603050405020304" pitchFamily="18" charset="0"/>
                  </a:rPr>
                  <a:t>Natural angular frequency </a:t>
                </a:r>
                <a:r>
                  <a:rPr lang="el-GR" sz="2000" dirty="0">
                    <a:latin typeface="Times New Roman" panose="02020603050405020304" pitchFamily="18" charset="0"/>
                    <a:cs typeface="Times New Roman" panose="02020603050405020304" pitchFamily="18" charset="0"/>
                  </a:rPr>
                  <a:t>ω</a:t>
                </a:r>
                <a:r>
                  <a:rPr lang="en-IN" sz="2000" dirty="0">
                    <a:latin typeface="Times New Roman" panose="02020603050405020304" pitchFamily="18" charset="0"/>
                    <a:cs typeface="Times New Roman" panose="02020603050405020304" pitchFamily="18" charset="0"/>
                  </a:rPr>
                  <a:t> = 10 rad/second</a:t>
                </a:r>
              </a:p>
              <a:p>
                <a:pPr marL="0" indent="0">
                  <a:buNone/>
                </a:pPr>
                <a:r>
                  <a:rPr lang="en-IN" sz="2000" dirty="0">
                    <a:latin typeface="Times New Roman" panose="02020603050405020304" pitchFamily="18" charset="0"/>
                    <a:cs typeface="Times New Roman" panose="02020603050405020304" pitchFamily="18" charset="0"/>
                  </a:rPr>
                  <a:t>Damping force </a:t>
                </a:r>
                <a:r>
                  <a:rPr lang="el-GR" sz="2000" dirty="0">
                    <a:latin typeface="Times New Roman" panose="02020603050405020304" pitchFamily="18" charset="0"/>
                    <a:cs typeface="Times New Roman" panose="02020603050405020304" pitchFamily="18" charset="0"/>
                  </a:rPr>
                  <a:t>α</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dy</a:t>
                </a:r>
                <a:r>
                  <a:rPr lang="en-IN" sz="2000" dirty="0">
                    <a:latin typeface="Times New Roman" panose="02020603050405020304" pitchFamily="18" charset="0"/>
                    <a:cs typeface="Times New Roman" panose="02020603050405020304" pitchFamily="18" charset="0"/>
                  </a:rPr>
                  <a:t>/ dt) </a:t>
                </a:r>
              </a:p>
              <a:p>
                <a:pPr marL="0" indent="0">
                  <a:buNone/>
                </a:pPr>
                <a:r>
                  <a:rPr lang="en-IN" sz="2000" dirty="0">
                    <a:latin typeface="Times New Roman" panose="02020603050405020304" pitchFamily="18" charset="0"/>
                    <a:cs typeface="Times New Roman" panose="02020603050405020304" pitchFamily="18" charset="0"/>
                  </a:rPr>
                  <a:t>Damping coefficient, r = 0.17 kg/s</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b = 4.25</a:t>
                </a:r>
              </a:p>
              <a:p>
                <a:pPr marL="0" indent="0">
                  <a:buNone/>
                </a:pPr>
                <a:r>
                  <a:rPr lang="en-IN" sz="2000" dirty="0">
                    <a:latin typeface="Times New Roman" panose="02020603050405020304" pitchFamily="18" charset="0"/>
                    <a:cs typeface="Times New Roman" panose="02020603050405020304" pitchFamily="18" charset="0"/>
                  </a:rPr>
                  <a:t>ω = 100</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Here </a:t>
                </a:r>
                <a14:m>
                  <m:oMath xmlns:m="http://schemas.openxmlformats.org/officeDocument/2006/math">
                    <m:sSup>
                      <m:sSupPr>
                        <m:ctrlPr>
                          <a:rPr lang="en-IN" sz="2000" i="1" smtClean="0">
                            <a:latin typeface="Cambria Math" panose="02040503050406030204" pitchFamily="18" charset="0"/>
                          </a:rPr>
                        </m:ctrlPr>
                      </m:sSupPr>
                      <m:e>
                        <m:r>
                          <a:rPr lang="en-IN" sz="2000" b="0" i="1" smtClean="0">
                            <a:latin typeface="Cambria Math" panose="02040503050406030204" pitchFamily="18" charset="0"/>
                          </a:rPr>
                          <m:t>𝑏</m:t>
                        </m:r>
                      </m:e>
                      <m:sup>
                        <m:r>
                          <a:rPr lang="en-IN" sz="2000" b="0" i="1" smtClean="0">
                            <a:latin typeface="Cambria Math" panose="02040503050406030204" pitchFamily="18" charset="0"/>
                          </a:rPr>
                          <m:t>2</m:t>
                        </m:r>
                      </m:sup>
                    </m:sSup>
                  </m:oMath>
                </a14:m>
                <a:r>
                  <a:rPr lang="en-IN" sz="2000" dirty="0">
                    <a:latin typeface="Times New Roman" panose="02020603050405020304" pitchFamily="18" charset="0"/>
                    <a:cs typeface="Times New Roman" panose="02020603050405020304" pitchFamily="18" charset="0"/>
                  </a:rPr>
                  <a:t>  &lt; </a:t>
                </a:r>
                <a14:m>
                  <m:oMath xmlns:m="http://schemas.openxmlformats.org/officeDocument/2006/math">
                    <m:sSup>
                      <m:sSupPr>
                        <m:ctrlPr>
                          <a:rPr lang="en-IN" sz="2000" i="1">
                            <a:latin typeface="Cambria Math" panose="02040503050406030204" pitchFamily="18" charset="0"/>
                          </a:rPr>
                        </m:ctrlPr>
                      </m:sSupPr>
                      <m:e>
                        <m:r>
                          <m:rPr>
                            <m:sty m:val="p"/>
                          </m:rPr>
                          <a:rPr lang="el-GR" sz="2000" i="1" smtClean="0">
                            <a:latin typeface="Cambria Math" panose="02040503050406030204" pitchFamily="18" charset="0"/>
                          </a:rPr>
                          <m:t>ω</m:t>
                        </m:r>
                      </m:e>
                      <m:sup>
                        <m:r>
                          <a:rPr lang="en-IN" sz="2000" i="1">
                            <a:latin typeface="Cambria Math" panose="02040503050406030204" pitchFamily="18" charset="0"/>
                          </a:rPr>
                          <m:t>2</m:t>
                        </m:r>
                      </m:sup>
                    </m:sSup>
                  </m:oMath>
                </a14:m>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Underdamping</a:t>
                </a:r>
              </a:p>
              <a:p>
                <a:pPr marL="0" indent="0">
                  <a:buNone/>
                </a:pPr>
                <a:endParaRPr lang="en-IN" sz="20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98E52604-1574-02EE-764E-580A35B49C31}"/>
                  </a:ext>
                </a:extLst>
              </p:cNvPr>
              <p:cNvSpPr>
                <a:spLocks noGrp="1" noRot="1" noChangeAspect="1" noMove="1" noResize="1" noEditPoints="1" noAdjustHandles="1" noChangeArrowheads="1" noChangeShapeType="1" noTextEdit="1"/>
              </p:cNvSpPr>
              <p:nvPr>
                <p:ph idx="1"/>
              </p:nvPr>
            </p:nvSpPr>
            <p:spPr>
              <a:xfrm>
                <a:off x="393290" y="1563329"/>
                <a:ext cx="10960510" cy="5161936"/>
              </a:xfrm>
              <a:blipFill>
                <a:blip r:embed="rId2"/>
                <a:stretch>
                  <a:fillRect l="-612" t="-1181"/>
                </a:stretch>
              </a:blipFill>
            </p:spPr>
            <p:txBody>
              <a:bodyPr/>
              <a:lstStyle/>
              <a:p>
                <a:r>
                  <a:rPr lang="en-IN">
                    <a:noFill/>
                  </a:rPr>
                  <a:t> </a:t>
                </a:r>
              </a:p>
            </p:txBody>
          </p:sp>
        </mc:Fallback>
      </mc:AlternateContent>
    </p:spTree>
    <p:extLst>
      <p:ext uri="{BB962C8B-B14F-4D97-AF65-F5344CB8AC3E}">
        <p14:creationId xmlns:p14="http://schemas.microsoft.com/office/powerpoint/2010/main" val="31455654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772</TotalTime>
  <Words>2438</Words>
  <Application>Microsoft Office PowerPoint</Application>
  <PresentationFormat>Widescreen</PresentationFormat>
  <Paragraphs>266</Paragraphs>
  <Slides>35</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35</vt:i4>
      </vt:variant>
    </vt:vector>
  </HeadingPairs>
  <TitlesOfParts>
    <vt:vector size="44" baseType="lpstr">
      <vt:lpstr>Arial</vt:lpstr>
      <vt:lpstr>Calibri</vt:lpstr>
      <vt:lpstr>Calibri Light</vt:lpstr>
      <vt:lpstr>Cambria Math</vt:lpstr>
      <vt:lpstr>Symbol</vt:lpstr>
      <vt:lpstr>Times New Roman</vt:lpstr>
      <vt:lpstr>Office Theme</vt:lpstr>
      <vt:lpstr>Equation</vt:lpstr>
      <vt:lpstr>MathType 7.0 Equation</vt:lpstr>
      <vt:lpstr>Course: Classical Physics for Engineers</vt:lpstr>
      <vt:lpstr>PowerPoint Presentation</vt:lpstr>
      <vt:lpstr>Simple harmonic Motion (SHM)</vt:lpstr>
      <vt:lpstr>Free vibrations or Un damped vibrations</vt:lpstr>
      <vt:lpstr>Examples of Simple harmonic oscillator</vt:lpstr>
      <vt:lpstr>PowerPoint Presentation</vt:lpstr>
      <vt:lpstr>PowerPoint Presentation</vt:lpstr>
      <vt:lpstr> Spring Constant in Series and Parallel combination Springs in Series </vt:lpstr>
      <vt:lpstr>PowerPoint Presentation</vt:lpstr>
      <vt:lpstr>Springs in Parallel</vt:lpstr>
      <vt:lpstr>Torsion Pendulum:</vt:lpstr>
      <vt:lpstr>Damped oscillation (vibration)</vt:lpstr>
      <vt:lpstr>Differential equation of damped vibrations and 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Forced Vibration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Sharpness of the resonance.</vt:lpstr>
      <vt:lpstr>PowerPoint Presentation</vt:lpstr>
      <vt:lpstr>4) In spring-mass systems shown in the figure, k_1  = 2000 N/m, k_2 = 1500 N/m, k_3 = 3000 N/m, k_4  = k_5 = 500 N/m. Find m such that the system has a natural frequency of 10 Hz in each of the cases.</vt:lpstr>
      <vt:lpstr>5) Calculate the peak amplitude of vibration of a system whose natural frequency is 100 Hz when it oscillates in a resistive medium for which the value of damping/unit mass is 0.008 rad/s under the action of an external periodic force / unit mass of amplitude 5 N/kg, with tunable frequency.</vt:lpstr>
      <vt:lpstr>6) A 20 gm oscillator with natural angular frequency 10 rad/second in damping medium. The damping force is proportional to velocity of the vibrator. If the damping coefficient id 0.17, how does the oscillations decay?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Ramyashree M S</dc:creator>
  <cp:lastModifiedBy>Ramyashree M S</cp:lastModifiedBy>
  <cp:revision>38</cp:revision>
  <dcterms:created xsi:type="dcterms:W3CDTF">2024-10-07T10:44:56Z</dcterms:created>
  <dcterms:modified xsi:type="dcterms:W3CDTF">2024-10-18T04:13:01Z</dcterms:modified>
</cp:coreProperties>
</file>