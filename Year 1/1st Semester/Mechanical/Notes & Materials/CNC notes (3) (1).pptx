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3" r:id="rId3"/>
    <p:sldId id="260" r:id="rId4"/>
    <p:sldId id="256" r:id="rId5"/>
    <p:sldId id="257" r:id="rId6"/>
    <p:sldId id="258" r:id="rId7"/>
    <p:sldId id="264" r:id="rId8"/>
    <p:sldId id="265" r:id="rId9"/>
    <p:sldId id="266"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236"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512CB13-9656-4E4B-A612-AAE658C8E34A}" type="datetimeFigureOut">
              <a:rPr lang="en-US" smtClean="0"/>
              <a:pPr/>
              <a:t>4/7/2020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1F585A-0472-4B66-9044-CABA25979D3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12CB13-9656-4E4B-A612-AAE658C8E34A}" type="datetimeFigureOut">
              <a:rPr lang="en-US" smtClean="0"/>
              <a:pPr/>
              <a:t>4/7/2020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1F585A-0472-4B66-9044-CABA25979D3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512CB13-9656-4E4B-A612-AAE658C8E34A}" type="datetimeFigureOut">
              <a:rPr lang="en-US" smtClean="0"/>
              <a:pPr/>
              <a:t>4/7/2020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1F585A-0472-4B66-9044-CABA25979D3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512CB13-9656-4E4B-A612-AAE658C8E34A}" type="datetimeFigureOut">
              <a:rPr lang="en-US" smtClean="0"/>
              <a:pPr/>
              <a:t>4/7/2020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1F585A-0472-4B66-9044-CABA25979D3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512CB13-9656-4E4B-A612-AAE658C8E34A}" type="datetimeFigureOut">
              <a:rPr lang="en-US" smtClean="0"/>
              <a:pPr/>
              <a:t>4/7/2020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1F585A-0472-4B66-9044-CABA25979D3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512CB13-9656-4E4B-A612-AAE658C8E34A}" type="datetimeFigureOut">
              <a:rPr lang="en-US" smtClean="0"/>
              <a:pPr/>
              <a:t>4/7/2020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1F585A-0472-4B66-9044-CABA25979D3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12CB13-9656-4E4B-A612-AAE658C8E34A}" type="datetimeFigureOut">
              <a:rPr lang="en-US" smtClean="0"/>
              <a:pPr/>
              <a:t>4/7/2020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1F585A-0472-4B66-9044-CABA25979D3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512CB13-9656-4E4B-A612-AAE658C8E34A}" type="datetimeFigureOut">
              <a:rPr lang="en-US" smtClean="0"/>
              <a:pPr/>
              <a:t>4/7/2020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1F585A-0472-4B66-9044-CABA25979D3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512CB13-9656-4E4B-A612-AAE658C8E34A}" type="datetimeFigureOut">
              <a:rPr lang="en-US" smtClean="0"/>
              <a:pPr/>
              <a:t>4/7/2020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1F585A-0472-4B66-9044-CABA25979D3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12CB13-9656-4E4B-A612-AAE658C8E34A}" type="datetimeFigureOut">
              <a:rPr lang="en-US" smtClean="0"/>
              <a:pPr/>
              <a:t>4/7/2020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1F585A-0472-4B66-9044-CABA25979D3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12CB13-9656-4E4B-A612-AAE658C8E34A}" type="datetimeFigureOut">
              <a:rPr lang="en-US" smtClean="0"/>
              <a:pPr/>
              <a:t>4/7/2020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1F585A-0472-4B66-9044-CABA25979D3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12CB13-9656-4E4B-A612-AAE658C8E34A}" type="datetimeFigureOut">
              <a:rPr lang="en-US" smtClean="0"/>
              <a:pPr/>
              <a:t>4/7/2020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1F585A-0472-4B66-9044-CABA25979D3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229600" cy="457200"/>
          </a:xfrm>
        </p:spPr>
        <p:txBody>
          <a:bodyPr>
            <a:normAutofit fontScale="90000"/>
          </a:bodyPr>
          <a:lstStyle/>
          <a:p>
            <a:r>
              <a:rPr lang="en-US" b="1" u="sng" dirty="0" smtClean="0"/>
              <a:t>Computer Numerical Control</a:t>
            </a:r>
            <a:r>
              <a:rPr lang="en-US" dirty="0" smtClean="0"/>
              <a:t/>
            </a:r>
            <a:br>
              <a:rPr lang="en-US" dirty="0" smtClean="0"/>
            </a:br>
            <a:endParaRPr lang="en-US" dirty="0"/>
          </a:p>
        </p:txBody>
      </p:sp>
      <p:sp>
        <p:nvSpPr>
          <p:cNvPr id="3" name="Content Placeholder 2"/>
          <p:cNvSpPr>
            <a:spLocks noGrp="1"/>
          </p:cNvSpPr>
          <p:nvPr>
            <p:ph idx="1"/>
          </p:nvPr>
        </p:nvSpPr>
        <p:spPr>
          <a:xfrm>
            <a:off x="76200" y="914400"/>
            <a:ext cx="8915400" cy="5791200"/>
          </a:xfrm>
        </p:spPr>
        <p:txBody>
          <a:bodyPr>
            <a:noAutofit/>
          </a:bodyPr>
          <a:lstStyle/>
          <a:p>
            <a:pPr algn="just">
              <a:lnSpc>
                <a:spcPct val="170000"/>
              </a:lnSpc>
              <a:buNone/>
            </a:pPr>
            <a:r>
              <a:rPr lang="en-US" sz="1800" dirty="0" smtClean="0">
                <a:latin typeface="Times New Roman" pitchFamily="18" charset="0"/>
                <a:cs typeface="Times New Roman" pitchFamily="18" charset="0"/>
              </a:rPr>
              <a:t>Computer Numerical Control or CNC is an advanced form of the </a:t>
            </a:r>
            <a:r>
              <a:rPr lang="en-US" sz="1800" dirty="0" smtClean="0">
                <a:latin typeface="Times New Roman" pitchFamily="18" charset="0"/>
                <a:cs typeface="Times New Roman" pitchFamily="18" charset="0"/>
              </a:rPr>
              <a:t>NC </a:t>
            </a:r>
            <a:r>
              <a:rPr lang="en-US" sz="1800" dirty="0" smtClean="0">
                <a:latin typeface="Times New Roman" pitchFamily="18" charset="0"/>
                <a:cs typeface="Times New Roman" pitchFamily="18" charset="0"/>
              </a:rPr>
              <a:t>system where the machine control unit is a dedicated microcomputer instead of a hard-wired controller, as in conventional NC.</a:t>
            </a:r>
          </a:p>
          <a:p>
            <a:pPr algn="just">
              <a:lnSpc>
                <a:spcPct val="170000"/>
              </a:lnSpc>
            </a:pPr>
            <a:r>
              <a:rPr lang="en-US" sz="1800" dirty="0" smtClean="0">
                <a:latin typeface="Times New Roman" pitchFamily="18" charset="0"/>
                <a:cs typeface="Times New Roman" pitchFamily="18" charset="0"/>
              </a:rPr>
              <a:t>CNC has evolved during the rapid improvements of the computer technology. The advent of Microprocessor, from the 1970s have helped in quick advancements in the Computer Technology and is in turn adapted in modern CNC Technology. Today’s CNC controller has latest features like high speed of operation, large memories, bus architectures, improved servos, etc.</a:t>
            </a:r>
          </a:p>
          <a:p>
            <a:pPr algn="just">
              <a:lnSpc>
                <a:spcPct val="170000"/>
              </a:lnSpc>
            </a:pPr>
            <a:r>
              <a:rPr lang="en-US" sz="1800" dirty="0" smtClean="0">
                <a:latin typeface="Times New Roman" pitchFamily="18" charset="0"/>
                <a:cs typeface="Times New Roman" pitchFamily="18" charset="0"/>
              </a:rPr>
              <a:t>CNC Technology has powered the machine Tool industry today. It is used in majority of machine tools like machining centers, turning centers, grinders, lathes, drilling	machines, etc.</a:t>
            </a:r>
          </a:p>
          <a:p>
            <a:pPr>
              <a:lnSpc>
                <a:spcPct val="170000"/>
              </a:lnSpc>
            </a:pPr>
            <a:endParaRPr lang="en-US" sz="1000" dirty="0" smtClean="0"/>
          </a:p>
          <a:p>
            <a:pPr>
              <a:lnSpc>
                <a:spcPct val="170000"/>
              </a:lnSpc>
              <a:buNone/>
            </a:pPr>
            <a:endParaRPr lang="en-US" sz="1000" dirty="0" smtClean="0"/>
          </a:p>
          <a:p>
            <a:pPr>
              <a:lnSpc>
                <a:spcPct val="170000"/>
              </a:lnSpc>
            </a:pPr>
            <a:endParaRPr 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latin typeface="Times New Roman" pitchFamily="18" charset="0"/>
                <a:cs typeface="Times New Roman" pitchFamily="18" charset="0"/>
              </a:rPr>
              <a:t>Elements of a CNC System</a:t>
            </a:r>
            <a:br>
              <a:rPr lang="en-US" b="1" u="sng"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457200" y="1600200"/>
            <a:ext cx="8305800" cy="4525963"/>
          </a:xfrm>
        </p:spPr>
        <p:txBody>
          <a:bodyPr>
            <a:normAutofit lnSpcReduction="10000"/>
          </a:bodyPr>
          <a:lstStyle/>
          <a:p>
            <a:pPr>
              <a:buNone/>
            </a:pPr>
            <a:r>
              <a:rPr lang="en-US" dirty="0" smtClean="0">
                <a:latin typeface="Times New Roman" panose="02020603050405020304" pitchFamily="18" charset="0"/>
                <a:cs typeface="Times New Roman" panose="02020603050405020304" pitchFamily="18" charset="0"/>
              </a:rPr>
              <a:t>A CNC System consists of the following elements:</a:t>
            </a:r>
          </a:p>
          <a:p>
            <a:pPr lvl="0"/>
            <a:r>
              <a:rPr lang="en-US" dirty="0" smtClean="0">
                <a:latin typeface="Times New Roman" panose="02020603050405020304" pitchFamily="18" charset="0"/>
                <a:cs typeface="Times New Roman" panose="02020603050405020304" pitchFamily="18" charset="0"/>
              </a:rPr>
              <a:t>Input Device</a:t>
            </a:r>
          </a:p>
          <a:p>
            <a:pPr lvl="0"/>
            <a:r>
              <a:rPr lang="en-US" dirty="0" smtClean="0">
                <a:latin typeface="Times New Roman" panose="02020603050405020304" pitchFamily="18" charset="0"/>
                <a:cs typeface="Times New Roman" panose="02020603050405020304" pitchFamily="18" charset="0"/>
              </a:rPr>
              <a:t>MCU or Machine Control Unit</a:t>
            </a:r>
          </a:p>
          <a:p>
            <a:pPr lvl="0"/>
            <a:r>
              <a:rPr lang="en-US" dirty="0" smtClean="0">
                <a:latin typeface="Times New Roman" panose="02020603050405020304" pitchFamily="18" charset="0"/>
                <a:cs typeface="Times New Roman" panose="02020603050405020304" pitchFamily="18" charset="0"/>
              </a:rPr>
              <a:t>Machine Tool</a:t>
            </a:r>
          </a:p>
          <a:p>
            <a:pPr lvl="0"/>
            <a:r>
              <a:rPr lang="en-US" dirty="0" smtClean="0">
                <a:latin typeface="Times New Roman" panose="02020603050405020304" pitchFamily="18" charset="0"/>
                <a:cs typeface="Times New Roman" panose="02020603050405020304" pitchFamily="18" charset="0"/>
              </a:rPr>
              <a:t>Driving System</a:t>
            </a:r>
          </a:p>
          <a:p>
            <a:pPr lvl="0"/>
            <a:r>
              <a:rPr lang="en-US" dirty="0" smtClean="0">
                <a:latin typeface="Times New Roman" panose="02020603050405020304" pitchFamily="18" charset="0"/>
                <a:cs typeface="Times New Roman" panose="02020603050405020304" pitchFamily="18" charset="0"/>
              </a:rPr>
              <a:t>Feedback devices</a:t>
            </a:r>
          </a:p>
          <a:p>
            <a:pPr lvl="0"/>
            <a:r>
              <a:rPr lang="en-US" dirty="0" smtClean="0">
                <a:latin typeface="Times New Roman" panose="02020603050405020304" pitchFamily="18" charset="0"/>
                <a:cs typeface="Times New Roman" panose="02020603050405020304" pitchFamily="18" charset="0"/>
              </a:rPr>
              <a:t>Display Unit</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b="1" dirty="0" smtClean="0"/>
              <a:t>Elements of a CNC System</a:t>
            </a:r>
            <a:r>
              <a:rPr lang="en-US" dirty="0" smtClean="0"/>
              <a:t/>
            </a:r>
            <a:br>
              <a:rPr lang="en-US" dirty="0" smtClean="0"/>
            </a:br>
            <a:endParaRPr lang="en-US" dirty="0"/>
          </a:p>
        </p:txBody>
      </p:sp>
      <p:pic>
        <p:nvPicPr>
          <p:cNvPr id="4" name="Content Placeholder 3" descr="cnc.JPG"/>
          <p:cNvPicPr>
            <a:picLocks noGrp="1" noChangeAspect="1"/>
          </p:cNvPicPr>
          <p:nvPr>
            <p:ph idx="1"/>
          </p:nvPr>
        </p:nvPicPr>
        <p:blipFill>
          <a:blip r:embed="rId2"/>
          <a:srcRect l="4630" t="8696" r="26852" b="27536"/>
          <a:stretch>
            <a:fillRect/>
          </a:stretch>
        </p:blipFill>
        <p:spPr>
          <a:xfrm>
            <a:off x="762000" y="1143000"/>
            <a:ext cx="7843052" cy="4663440"/>
          </a:xfr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66092"/>
            <a:ext cx="8458200" cy="6463308"/>
          </a:xfrm>
          <a:prstGeom prst="rect">
            <a:avLst/>
          </a:prstGeom>
          <a:noFill/>
        </p:spPr>
        <p:txBody>
          <a:bodyPr wrap="square" rtlCol="0">
            <a:spAutoFit/>
          </a:bodyPr>
          <a:lstStyle/>
          <a:p>
            <a:pPr algn="just"/>
            <a:r>
              <a:rPr lang="en-US" b="1" u="sng" dirty="0" smtClean="0">
                <a:latin typeface="Times New Roman" panose="02020603050405020304" pitchFamily="18" charset="0"/>
                <a:cs typeface="Times New Roman" panose="02020603050405020304" pitchFamily="18" charset="0"/>
              </a:rPr>
              <a:t>Input Device:</a:t>
            </a:r>
          </a:p>
          <a:p>
            <a:pPr algn="just"/>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Through input device, part program is entered into CNC  control or MCU (Machine Control Unit). Various input devices are as follows</a:t>
            </a:r>
          </a:p>
          <a:p>
            <a:pPr lvl="1" algn="just">
              <a:buFont typeface="Wingdings" pitchFamily="2" charset="2"/>
              <a:buChar char="Ø"/>
            </a:pPr>
            <a:r>
              <a:rPr lang="en-US" b="1" dirty="0" smtClean="0">
                <a:latin typeface="Times New Roman" panose="02020603050405020304" pitchFamily="18" charset="0"/>
                <a:cs typeface="Times New Roman" panose="02020603050405020304" pitchFamily="18" charset="0"/>
              </a:rPr>
              <a:t>USB ( Universal serial Bus) </a:t>
            </a:r>
            <a:r>
              <a:rPr lang="en-US" dirty="0" smtClean="0">
                <a:latin typeface="Times New Roman" panose="02020603050405020304" pitchFamily="18" charset="0"/>
                <a:cs typeface="Times New Roman" panose="02020603050405020304" pitchFamily="18" charset="0"/>
              </a:rPr>
              <a:t>: USB flash drives transfer data to the control</a:t>
            </a:r>
          </a:p>
          <a:p>
            <a:pPr lvl="1" algn="just">
              <a:buFont typeface="Wingdings" pitchFamily="2" charset="2"/>
              <a:buChar char="Ø"/>
            </a:pPr>
            <a:r>
              <a:rPr lang="en-US" b="1" dirty="0" smtClean="0">
                <a:latin typeface="Times New Roman" panose="02020603050405020304" pitchFamily="18" charset="0"/>
                <a:cs typeface="Times New Roman" panose="02020603050405020304" pitchFamily="18" charset="0"/>
              </a:rPr>
              <a:t>Serial communication</a:t>
            </a:r>
            <a:r>
              <a:rPr lang="en-US" dirty="0" smtClean="0">
                <a:latin typeface="Times New Roman" panose="02020603050405020304" pitchFamily="18" charset="0"/>
                <a:cs typeface="Times New Roman" panose="02020603050405020304" pitchFamily="18" charset="0"/>
              </a:rPr>
              <a:t>: A serial communication port connects computer system and CNC machine tool through an interface called RS-232. Through RS-232 cable , data is transferred from computer to CNC machine</a:t>
            </a:r>
          </a:p>
          <a:p>
            <a:pPr lvl="1" algn="just">
              <a:buFont typeface="Wingdings" pitchFamily="2" charset="2"/>
              <a:buChar char="Ø"/>
            </a:pPr>
            <a:r>
              <a:rPr lang="en-US" b="1" dirty="0" smtClean="0">
                <a:latin typeface="Times New Roman" panose="02020603050405020304" pitchFamily="18" charset="0"/>
                <a:cs typeface="Times New Roman" panose="02020603050405020304" pitchFamily="18" charset="0"/>
              </a:rPr>
              <a:t>Ethernet Communication</a:t>
            </a:r>
            <a:r>
              <a:rPr lang="en-US" dirty="0" smtClean="0">
                <a:latin typeface="Times New Roman" panose="02020603050405020304" pitchFamily="18" charset="0"/>
                <a:cs typeface="Times New Roman" panose="02020603050405020304" pitchFamily="18" charset="0"/>
              </a:rPr>
              <a:t>: Here, CNC machines are provided with Ethernet Card support. An Ethernet cable transfers data from the computer to CNC machine</a:t>
            </a:r>
          </a:p>
          <a:p>
            <a:pPr lvl="1" algn="just">
              <a:buFont typeface="Wingdings" pitchFamily="2" charset="2"/>
              <a:buChar char="Ø"/>
            </a:pPr>
            <a:r>
              <a:rPr lang="en-US" b="1" dirty="0" smtClean="0">
                <a:latin typeface="Times New Roman" panose="02020603050405020304" pitchFamily="18" charset="0"/>
                <a:cs typeface="Times New Roman" panose="02020603050405020304" pitchFamily="18" charset="0"/>
              </a:rPr>
              <a:t>Conventional Programming</a:t>
            </a:r>
            <a:r>
              <a:rPr lang="en-US" dirty="0" smtClean="0">
                <a:latin typeface="Times New Roman" panose="02020603050405020304" pitchFamily="18" charset="0"/>
                <a:cs typeface="Times New Roman" panose="02020603050405020304" pitchFamily="18" charset="0"/>
              </a:rPr>
              <a:t>: A built-in intelligent software inside the controller enables the operator to enter step by step data</a:t>
            </a:r>
          </a:p>
          <a:p>
            <a:pPr lvl="1" algn="just">
              <a:buFont typeface="Wingdings" pitchFamily="2" charset="2"/>
              <a:buChar char="Ø"/>
            </a:pPr>
            <a:endParaRPr lang="en-US" dirty="0">
              <a:latin typeface="Times New Roman" panose="02020603050405020304" pitchFamily="18" charset="0"/>
              <a:cs typeface="Times New Roman" panose="02020603050405020304" pitchFamily="18" charset="0"/>
            </a:endParaRPr>
          </a:p>
          <a:p>
            <a:pPr algn="just"/>
            <a:r>
              <a:rPr lang="en-US" b="1" u="sng" dirty="0">
                <a:latin typeface="Times New Roman" panose="02020603050405020304" pitchFamily="18" charset="0"/>
                <a:cs typeface="Times New Roman" panose="02020603050405020304" pitchFamily="18" charset="0"/>
              </a:rPr>
              <a:t>MCU or Machine Control Unit:</a:t>
            </a:r>
          </a:p>
          <a:p>
            <a:pPr algn="just"/>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It is the heart of the CNC system. It consists of the following components</a:t>
            </a:r>
            <a:endParaRPr lang="en-US" dirty="0">
              <a:latin typeface="Times New Roman" panose="02020603050405020304" pitchFamily="18" charset="0"/>
              <a:cs typeface="Times New Roman" panose="02020603050405020304" pitchFamily="18" charset="0"/>
            </a:endParaRPr>
          </a:p>
          <a:p>
            <a:pPr marL="800100" lvl="1" indent="-342900" algn="just">
              <a:buFont typeface="Wingdings" pitchFamily="2" charset="2"/>
              <a:buChar char="Ø"/>
            </a:pPr>
            <a:r>
              <a:rPr lang="en-US" b="1" dirty="0" smtClean="0">
                <a:latin typeface="Times New Roman" panose="02020603050405020304" pitchFamily="18" charset="0"/>
                <a:cs typeface="Times New Roman" panose="02020603050405020304" pitchFamily="18" charset="0"/>
              </a:rPr>
              <a:t>Central Processing Unit (CPU) </a:t>
            </a:r>
            <a:r>
              <a:rPr lang="en-US" dirty="0" smtClean="0">
                <a:latin typeface="Times New Roman" panose="02020603050405020304" pitchFamily="18" charset="0"/>
                <a:cs typeface="Times New Roman" panose="02020603050405020304" pitchFamily="18" charset="0"/>
              </a:rPr>
              <a:t>: It comprises of</a:t>
            </a:r>
          </a:p>
          <a:p>
            <a:pPr lvl="2" algn="just">
              <a:buFont typeface="Wingdings" pitchFamily="2" charset="2"/>
              <a:buChar char="v"/>
            </a:pPr>
            <a:r>
              <a:rPr lang="en-US" b="1" dirty="0" smtClean="0">
                <a:latin typeface="Times New Roman" panose="02020603050405020304" pitchFamily="18" charset="0"/>
                <a:cs typeface="Times New Roman" panose="02020603050405020304" pitchFamily="18" charset="0"/>
              </a:rPr>
              <a:t>A control section </a:t>
            </a:r>
            <a:r>
              <a:rPr lang="en-US" dirty="0" smtClean="0">
                <a:latin typeface="Times New Roman" panose="02020603050405020304" pitchFamily="18" charset="0"/>
                <a:cs typeface="Times New Roman" panose="02020603050405020304" pitchFamily="18" charset="0"/>
              </a:rPr>
              <a:t>that retrieves data from memory and generates signals which in turn activates all MCU components</a:t>
            </a:r>
          </a:p>
          <a:p>
            <a:pPr lvl="2" algn="just">
              <a:buFont typeface="Wingdings" pitchFamily="2" charset="2"/>
              <a:buChar char="v"/>
            </a:pPr>
            <a:r>
              <a:rPr lang="en-US" b="1" dirty="0" smtClean="0">
                <a:latin typeface="Times New Roman" panose="02020603050405020304" pitchFamily="18" charset="0"/>
                <a:cs typeface="Times New Roman" panose="02020603050405020304" pitchFamily="18" charset="0"/>
              </a:rPr>
              <a:t>An ALU (Arithmetic Logic Unit) </a:t>
            </a:r>
            <a:r>
              <a:rPr lang="en-US" dirty="0" smtClean="0">
                <a:latin typeface="Times New Roman" panose="02020603050405020304" pitchFamily="18" charset="0"/>
                <a:cs typeface="Times New Roman" panose="02020603050405020304" pitchFamily="18" charset="0"/>
              </a:rPr>
              <a:t>that performs integer arithmetic operations and logical operations</a:t>
            </a:r>
          </a:p>
          <a:p>
            <a:pPr lvl="2" algn="just">
              <a:buFont typeface="Wingdings" pitchFamily="2" charset="2"/>
              <a:buChar char="v"/>
            </a:pPr>
            <a:r>
              <a:rPr lang="en-US" b="1" dirty="0" smtClean="0">
                <a:latin typeface="Times New Roman" panose="02020603050405020304" pitchFamily="18" charset="0"/>
                <a:cs typeface="Times New Roman" panose="02020603050405020304" pitchFamily="18" charset="0"/>
              </a:rPr>
              <a:t>Intermediate Access Memory</a:t>
            </a:r>
            <a:r>
              <a:rPr lang="en-US" dirty="0" smtClean="0">
                <a:latin typeface="Times New Roman" panose="02020603050405020304" pitchFamily="18" charset="0"/>
                <a:cs typeface="Times New Roman" panose="02020603050405020304" pitchFamily="18" charset="0"/>
              </a:rPr>
              <a:t>: This holds the data and programs temporarily that is required at that instant by the control section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228600"/>
            <a:ext cx="8458200" cy="6463308"/>
          </a:xfrm>
          <a:prstGeom prst="rect">
            <a:avLst/>
          </a:prstGeom>
          <a:noFill/>
        </p:spPr>
        <p:txBody>
          <a:bodyPr wrap="square" rtlCol="0">
            <a:spAutoFit/>
          </a:bodyPr>
          <a:lstStyle/>
          <a:p>
            <a:pPr algn="just"/>
            <a:r>
              <a:rPr lang="en-US" b="1" i="1" u="sng" dirty="0" smtClean="0">
                <a:latin typeface="Times New Roman" panose="02020603050405020304" pitchFamily="18" charset="0"/>
                <a:cs typeface="Times New Roman" panose="02020603050405020304" pitchFamily="18" charset="0"/>
              </a:rPr>
              <a:t>MCU …………contd.</a:t>
            </a:r>
          </a:p>
          <a:p>
            <a:pPr algn="just"/>
            <a:endParaRPr lang="en-US" dirty="0" smtClean="0">
              <a:latin typeface="Times New Roman" panose="02020603050405020304" pitchFamily="18" charset="0"/>
              <a:cs typeface="Times New Roman" panose="02020603050405020304" pitchFamily="18" charset="0"/>
            </a:endParaRPr>
          </a:p>
          <a:p>
            <a:pPr marL="800100" lvl="1" indent="-342900" algn="just">
              <a:buFont typeface="Wingdings" pitchFamily="2" charset="2"/>
              <a:buChar char="Ø"/>
            </a:pPr>
            <a:r>
              <a:rPr lang="en-US" b="1" dirty="0" smtClean="0">
                <a:latin typeface="Times New Roman" panose="02020603050405020304" pitchFamily="18" charset="0"/>
                <a:cs typeface="Times New Roman" panose="02020603050405020304" pitchFamily="18" charset="0"/>
              </a:rPr>
              <a:t>CNC Memory</a:t>
            </a:r>
            <a:r>
              <a:rPr lang="en-US" dirty="0" smtClean="0">
                <a:latin typeface="Times New Roman" panose="02020603050405020304" pitchFamily="18" charset="0"/>
                <a:cs typeface="Times New Roman" panose="02020603050405020304" pitchFamily="18" charset="0"/>
              </a:rPr>
              <a:t>: The memory of CNC is divided into</a:t>
            </a:r>
          </a:p>
          <a:p>
            <a:pPr lvl="2" algn="just">
              <a:buFont typeface="Wingdings" pitchFamily="2" charset="2"/>
              <a:buChar char="v"/>
            </a:pPr>
            <a:r>
              <a:rPr lang="en-US" b="1" dirty="0" smtClean="0">
                <a:latin typeface="Times New Roman" panose="02020603050405020304" pitchFamily="18" charset="0"/>
                <a:cs typeface="Times New Roman" panose="02020603050405020304" pitchFamily="18" charset="0"/>
              </a:rPr>
              <a:t>Main memory</a:t>
            </a:r>
            <a:r>
              <a:rPr lang="en-US" dirty="0" smtClean="0">
                <a:latin typeface="Times New Roman" panose="02020603050405020304" pitchFamily="18" charset="0"/>
                <a:cs typeface="Times New Roman" panose="02020603050405020304" pitchFamily="18" charset="0"/>
              </a:rPr>
              <a:t>. This consists of </a:t>
            </a:r>
          </a:p>
          <a:p>
            <a:pPr lvl="3" algn="just">
              <a:buFont typeface="Wingdings" pitchFamily="2" charset="2"/>
              <a:buChar char="§"/>
            </a:pPr>
            <a:r>
              <a:rPr lang="en-US"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Read only Memory (ROM) </a:t>
            </a:r>
            <a:r>
              <a:rPr lang="en-US" dirty="0" smtClean="0">
                <a:latin typeface="Times New Roman" panose="02020603050405020304" pitchFamily="18" charset="0"/>
                <a:cs typeface="Times New Roman" panose="02020603050405020304" pitchFamily="18" charset="0"/>
              </a:rPr>
              <a:t>– stores Operating System (OS) software and machine interface programs</a:t>
            </a:r>
          </a:p>
          <a:p>
            <a:pPr lvl="3" algn="just">
              <a:buFont typeface="Wingdings" pitchFamily="2" charset="2"/>
              <a:buChar char="§"/>
            </a:pP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Random Access Memory (RAM) </a:t>
            </a:r>
            <a:r>
              <a:rPr lang="en-US" dirty="0" smtClean="0">
                <a:latin typeface="Times New Roman" panose="02020603050405020304" pitchFamily="18" charset="0"/>
                <a:cs typeface="Times New Roman" panose="02020603050405020304" pitchFamily="18" charset="0"/>
              </a:rPr>
              <a:t>– stores part programs</a:t>
            </a:r>
          </a:p>
          <a:p>
            <a:pPr lvl="2" algn="just">
              <a:buFont typeface="Wingdings" pitchFamily="2" charset="2"/>
              <a:buChar char="v"/>
            </a:pPr>
            <a:r>
              <a:rPr lang="en-US" b="1" dirty="0">
                <a:latin typeface="Times New Roman" panose="02020603050405020304" pitchFamily="18" charset="0"/>
                <a:cs typeface="Times New Roman" panose="02020603050405020304" pitchFamily="18" charset="0"/>
              </a:rPr>
              <a:t>Secondary Memory </a:t>
            </a:r>
            <a:r>
              <a:rPr lang="en-US" dirty="0" smtClean="0">
                <a:latin typeface="Times New Roman" panose="02020603050405020304" pitchFamily="18" charset="0"/>
                <a:cs typeface="Times New Roman" panose="02020603050405020304" pitchFamily="18" charset="0"/>
              </a:rPr>
              <a:t>– such as Hard Disks which is used to store large programs and can be used by main memory  when required</a:t>
            </a:r>
          </a:p>
          <a:p>
            <a:pPr lvl="2" algn="just">
              <a:buFont typeface="Wingdings" pitchFamily="2" charset="2"/>
              <a:buChar char="v"/>
            </a:pPr>
            <a:endParaRPr lang="en-US" dirty="0">
              <a:latin typeface="Times New Roman" panose="02020603050405020304" pitchFamily="18" charset="0"/>
              <a:cs typeface="Times New Roman" panose="02020603050405020304" pitchFamily="18" charset="0"/>
            </a:endParaRPr>
          </a:p>
          <a:p>
            <a:pPr lvl="1" algn="just">
              <a:buFont typeface="Wingdings" pitchFamily="2" charset="2"/>
              <a:buChar char="Ø"/>
            </a:pPr>
            <a:r>
              <a:rPr lang="en-US" b="1" dirty="0" smtClean="0">
                <a:latin typeface="Times New Roman" panose="02020603050405020304" pitchFamily="18" charset="0"/>
                <a:cs typeface="Times New Roman" panose="02020603050405020304" pitchFamily="18" charset="0"/>
              </a:rPr>
              <a:t>Input / Output (I/O) Interface :</a:t>
            </a:r>
          </a:p>
          <a:p>
            <a:pPr lvl="1" algn="just"/>
            <a:r>
              <a:rPr lang="en-US" dirty="0" smtClean="0">
                <a:latin typeface="Times New Roman" panose="02020603050405020304" pitchFamily="18" charset="0"/>
                <a:cs typeface="Times New Roman" panose="02020603050405020304" pitchFamily="18" charset="0"/>
              </a:rPr>
              <a:t>I/O interface establishes communication between the machine operator, the components of CNC system and other connected computers</a:t>
            </a:r>
          </a:p>
          <a:p>
            <a:pPr lvl="1" algn="just"/>
            <a:endParaRPr lang="en-US" dirty="0">
              <a:latin typeface="Times New Roman" panose="02020603050405020304" pitchFamily="18" charset="0"/>
              <a:cs typeface="Times New Roman" panose="02020603050405020304" pitchFamily="18" charset="0"/>
            </a:endParaRPr>
          </a:p>
          <a:p>
            <a:pPr lvl="1" algn="just">
              <a:buFont typeface="Wingdings" pitchFamily="2" charset="2"/>
              <a:buChar char="Ø"/>
            </a:pPr>
            <a:r>
              <a:rPr lang="en-US" b="1" dirty="0">
                <a:latin typeface="Times New Roman" panose="02020603050405020304" pitchFamily="18" charset="0"/>
                <a:cs typeface="Times New Roman" panose="02020603050405020304" pitchFamily="18" charset="0"/>
              </a:rPr>
              <a:t>Machine Tool Controls: </a:t>
            </a:r>
          </a:p>
          <a:p>
            <a:pPr lvl="1" algn="just"/>
            <a:r>
              <a:rPr lang="en-US" dirty="0" smtClean="0">
                <a:latin typeface="Times New Roman" panose="02020603050405020304" pitchFamily="18" charset="0"/>
                <a:cs typeface="Times New Roman" panose="02020603050405020304" pitchFamily="18" charset="0"/>
              </a:rPr>
              <a:t>A machine tool consists of various axes e.g. X,Y,Z,A,B,C and a spindle which rotates at the designed RPM. Machine Tool Control hardware components in the MCU control the position and velocity of each of the axis and rotational speed of the spindle</a:t>
            </a:r>
          </a:p>
          <a:p>
            <a:pPr lvl="1" algn="just"/>
            <a:endParaRPr lang="en-US" dirty="0">
              <a:latin typeface="Times New Roman" panose="02020603050405020304" pitchFamily="18" charset="0"/>
              <a:cs typeface="Times New Roman" panose="02020603050405020304" pitchFamily="18" charset="0"/>
            </a:endParaRPr>
          </a:p>
          <a:p>
            <a:pPr lvl="1" algn="just">
              <a:buFont typeface="Wingdings" pitchFamily="2" charset="2"/>
              <a:buChar char="Ø"/>
            </a:pPr>
            <a:r>
              <a:rPr lang="en-US" b="1" dirty="0">
                <a:latin typeface="Times New Roman" panose="02020603050405020304" pitchFamily="18" charset="0"/>
                <a:cs typeface="Times New Roman" panose="02020603050405020304" pitchFamily="18" charset="0"/>
              </a:rPr>
              <a:t>Sequence controls for auxiliary functions:</a:t>
            </a:r>
          </a:p>
          <a:p>
            <a:pPr lvl="1" algn="just"/>
            <a:r>
              <a:rPr lang="en-US" dirty="0" smtClean="0">
                <a:latin typeface="Times New Roman" panose="02020603050405020304" pitchFamily="18" charset="0"/>
                <a:cs typeface="Times New Roman" panose="02020603050405020304" pitchFamily="18" charset="0"/>
              </a:rPr>
              <a:t>Certain auxiliary functions like </a:t>
            </a:r>
            <a:r>
              <a:rPr lang="en-US" b="1" dirty="0" smtClean="0">
                <a:latin typeface="Times New Roman" panose="02020603050405020304" pitchFamily="18" charset="0"/>
                <a:cs typeface="Times New Roman" panose="02020603050405020304" pitchFamily="18" charset="0"/>
              </a:rPr>
              <a:t>coolant control, emergency stop, tool changing </a:t>
            </a:r>
            <a:r>
              <a:rPr lang="en-US" dirty="0" smtClean="0">
                <a:latin typeface="Times New Roman" panose="02020603050405020304" pitchFamily="18" charset="0"/>
                <a:cs typeface="Times New Roman" panose="02020603050405020304" pitchFamily="18" charset="0"/>
              </a:rPr>
              <a:t>function etc. are also carried out under part program controls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228600"/>
            <a:ext cx="8458200" cy="6463308"/>
          </a:xfrm>
          <a:prstGeom prst="rect">
            <a:avLst/>
          </a:prstGeom>
          <a:noFill/>
        </p:spPr>
        <p:txBody>
          <a:bodyPr wrap="square" rtlCol="0">
            <a:spAutoFit/>
          </a:bodyPr>
          <a:lstStyle/>
          <a:p>
            <a:pPr algn="just"/>
            <a:r>
              <a:rPr lang="en-US" b="1" u="sng" dirty="0" smtClean="0">
                <a:latin typeface="Times New Roman" panose="02020603050405020304" pitchFamily="18" charset="0"/>
                <a:cs typeface="Times New Roman" panose="02020603050405020304" pitchFamily="18" charset="0"/>
              </a:rPr>
              <a:t>Machine Tool:</a:t>
            </a:r>
          </a:p>
          <a:p>
            <a:pPr algn="just"/>
            <a:r>
              <a:rPr lang="en-US" dirty="0" smtClean="0">
                <a:latin typeface="Times New Roman" panose="02020603050405020304" pitchFamily="18" charset="0"/>
                <a:cs typeface="Times New Roman" panose="02020603050405020304" pitchFamily="18" charset="0"/>
              </a:rPr>
              <a:t>The essential parts of the machine tool include the machine table, machine slide, the driving lead screw, </a:t>
            </a:r>
            <a:r>
              <a:rPr lang="en-US" dirty="0" smtClean="0">
                <a:latin typeface="Times New Roman" panose="02020603050405020304" pitchFamily="18" charset="0"/>
                <a:cs typeface="Times New Roman" panose="02020603050405020304" pitchFamily="18" charset="0"/>
              </a:rPr>
              <a:t>ball screw</a:t>
            </a:r>
            <a:r>
              <a:rPr lang="en-US" dirty="0" smtClean="0">
                <a:latin typeface="Times New Roman" panose="02020603050405020304" pitchFamily="18" charset="0"/>
                <a:cs typeface="Times New Roman" panose="02020603050405020304" pitchFamily="18" charset="0"/>
              </a:rPr>
              <a:t>, rigid and heavy machine structure, automatic tool changing system, spindle and spindle drive system, chip removal system etc.</a:t>
            </a:r>
          </a:p>
          <a:p>
            <a:pPr algn="just"/>
            <a:endParaRPr lang="en-US" b="1" u="sng" dirty="0">
              <a:latin typeface="Times New Roman" panose="02020603050405020304" pitchFamily="18" charset="0"/>
              <a:cs typeface="Times New Roman" panose="02020603050405020304" pitchFamily="18" charset="0"/>
            </a:endParaRPr>
          </a:p>
          <a:p>
            <a:pPr algn="just"/>
            <a:r>
              <a:rPr lang="en-US" b="1" u="sng" dirty="0" smtClean="0">
                <a:latin typeface="Times New Roman" panose="02020603050405020304" pitchFamily="18" charset="0"/>
                <a:cs typeface="Times New Roman" panose="02020603050405020304" pitchFamily="18" charset="0"/>
              </a:rPr>
              <a:t>Driving System:</a:t>
            </a:r>
          </a:p>
          <a:p>
            <a:pPr algn="just"/>
            <a:r>
              <a:rPr lang="en-US" dirty="0" smtClean="0">
                <a:latin typeface="Times New Roman" panose="02020603050405020304" pitchFamily="18" charset="0"/>
                <a:cs typeface="Times New Roman" panose="02020603050405020304" pitchFamily="18" charset="0"/>
              </a:rPr>
              <a:t>A driving system essentially is made up of amplifier circuits, drive motors and ball-led screws. The commonly used types of electrical motors include DC Servo Motor, AC Servo Motor, Stepper Motor and Linear Motor</a:t>
            </a:r>
          </a:p>
          <a:p>
            <a:pPr algn="just"/>
            <a:endParaRPr lang="en-US" dirty="0">
              <a:latin typeface="Times New Roman" panose="02020603050405020304" pitchFamily="18" charset="0"/>
              <a:cs typeface="Times New Roman" panose="02020603050405020304" pitchFamily="18" charset="0"/>
            </a:endParaRPr>
          </a:p>
          <a:p>
            <a:pPr algn="just"/>
            <a:r>
              <a:rPr lang="en-US" b="1" u="sng" dirty="0">
                <a:latin typeface="Times New Roman" panose="02020603050405020304" pitchFamily="18" charset="0"/>
                <a:cs typeface="Times New Roman" panose="02020603050405020304" pitchFamily="18" charset="0"/>
              </a:rPr>
              <a:t>Feedback Devices:</a:t>
            </a:r>
          </a:p>
          <a:p>
            <a:pPr algn="just"/>
            <a:r>
              <a:rPr lang="en-US" dirty="0" smtClean="0">
                <a:latin typeface="Times New Roman" panose="02020603050405020304" pitchFamily="18" charset="0"/>
                <a:cs typeface="Times New Roman" panose="02020603050405020304" pitchFamily="18" charset="0"/>
              </a:rPr>
              <a:t>For the accurate operation of a CNC machine , the positional values and speed of the axes needs to be continuously updated. This is done by feedback devices. There are two types of feedback devices</a:t>
            </a:r>
          </a:p>
          <a:p>
            <a:pPr lvl="1" algn="just">
              <a:buFont typeface="Wingdings" pitchFamily="2" charset="2"/>
              <a:buChar char="Ø"/>
            </a:pPr>
            <a:r>
              <a:rPr lang="en-US" dirty="0" smtClean="0">
                <a:latin typeface="Times New Roman" panose="02020603050405020304" pitchFamily="18" charset="0"/>
                <a:cs typeface="Times New Roman" panose="02020603050405020304" pitchFamily="18" charset="0"/>
              </a:rPr>
              <a:t>Positional feedback devices</a:t>
            </a:r>
          </a:p>
          <a:p>
            <a:pPr lvl="1" algn="just">
              <a:buFont typeface="Wingdings" pitchFamily="2" charset="2"/>
              <a:buChar char="Ø"/>
            </a:pPr>
            <a:r>
              <a:rPr lang="en-US" dirty="0" smtClean="0">
                <a:latin typeface="Times New Roman" panose="02020603050405020304" pitchFamily="18" charset="0"/>
                <a:cs typeface="Times New Roman" panose="02020603050405020304" pitchFamily="18" charset="0"/>
              </a:rPr>
              <a:t>Velocity feedback devices</a:t>
            </a:r>
          </a:p>
          <a:p>
            <a:pPr lvl="1" algn="just">
              <a:buFont typeface="Wingdings" pitchFamily="2" charset="2"/>
              <a:buChar char="Ø"/>
            </a:pPr>
            <a:endParaRPr lang="en-US" dirty="0">
              <a:latin typeface="Times New Roman" panose="02020603050405020304" pitchFamily="18" charset="0"/>
              <a:cs typeface="Times New Roman" panose="02020603050405020304" pitchFamily="18" charset="0"/>
            </a:endParaRPr>
          </a:p>
          <a:p>
            <a:pPr algn="just"/>
            <a:r>
              <a:rPr lang="en-US" b="1" u="sng" dirty="0">
                <a:latin typeface="Times New Roman" panose="02020603050405020304" pitchFamily="18" charset="0"/>
                <a:cs typeface="Times New Roman" panose="02020603050405020304" pitchFamily="18" charset="0"/>
              </a:rPr>
              <a:t>Display Unit:</a:t>
            </a:r>
          </a:p>
          <a:p>
            <a:pPr algn="just"/>
            <a:r>
              <a:rPr lang="en-US" dirty="0" smtClean="0">
                <a:latin typeface="Times New Roman" panose="02020603050405020304" pitchFamily="18" charset="0"/>
                <a:cs typeface="Times New Roman" panose="02020603050405020304" pitchFamily="18" charset="0"/>
              </a:rPr>
              <a:t>This device displays the current status of operation such as the spindle RPM, the running part program, the feed rate, position of the machine slide etc. It shows the graphic simulation of the paths taken by the tool. Any malfunction of the CNC system is also displayed as warnings. Other data e.g. machine parameters, logic diagram of program controller, error message and diagnostic data are also displayed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436" y="381000"/>
            <a:ext cx="8229600" cy="487362"/>
          </a:xfrm>
        </p:spPr>
        <p:txBody>
          <a:bodyPr>
            <a:normAutofit fontScale="90000"/>
          </a:bodyPr>
          <a:lstStyle/>
          <a:p>
            <a:r>
              <a:rPr lang="en-US" b="1" u="sng" dirty="0" smtClean="0">
                <a:latin typeface="Times New Roman" panose="02020603050405020304" pitchFamily="18" charset="0"/>
                <a:cs typeface="Times New Roman" panose="02020603050405020304" pitchFamily="18" charset="0"/>
              </a:rPr>
              <a:t>Advantages of CNC Machines</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295400"/>
            <a:ext cx="8229600" cy="5334000"/>
          </a:xfrm>
        </p:spPr>
        <p:txBody>
          <a:bodyPr>
            <a:noAutofit/>
          </a:bodyPr>
          <a:lstStyle/>
          <a:p>
            <a:pPr lvl="0">
              <a:lnSpc>
                <a:spcPct val="150000"/>
              </a:lnSpc>
            </a:pPr>
            <a:r>
              <a:rPr lang="en-US" sz="2000" dirty="0" smtClean="0">
                <a:latin typeface="Times New Roman" panose="02020603050405020304" pitchFamily="18" charset="0"/>
                <a:cs typeface="Times New Roman" panose="02020603050405020304" pitchFamily="18" charset="0"/>
              </a:rPr>
              <a:t>The accuracy and repeatability obtained is high. Many Aircraft parts are produced by CNC machines.</a:t>
            </a:r>
          </a:p>
          <a:p>
            <a:pPr lvl="0">
              <a:lnSpc>
                <a:spcPct val="150000"/>
              </a:lnSpc>
            </a:pPr>
            <a:r>
              <a:rPr lang="en-US" sz="2000" dirty="0" smtClean="0">
                <a:latin typeface="Times New Roman" panose="02020603050405020304" pitchFamily="18" charset="0"/>
                <a:cs typeface="Times New Roman" panose="02020603050405020304" pitchFamily="18" charset="0"/>
              </a:rPr>
              <a:t>Complex shaped contours can be machined. E.g.- Turbine blades, impellers etc.</a:t>
            </a:r>
          </a:p>
          <a:p>
            <a:pPr lvl="0">
              <a:lnSpc>
                <a:spcPct val="150000"/>
              </a:lnSpc>
            </a:pPr>
            <a:r>
              <a:rPr lang="en-US" sz="2000" dirty="0" smtClean="0">
                <a:latin typeface="Times New Roman" panose="02020603050405020304" pitchFamily="18" charset="0"/>
                <a:cs typeface="Times New Roman" panose="02020603050405020304" pitchFamily="18" charset="0"/>
              </a:rPr>
              <a:t>Can be easily programmed to handle variety of product styles.</a:t>
            </a:r>
          </a:p>
          <a:p>
            <a:pPr lvl="0">
              <a:lnSpc>
                <a:spcPct val="150000"/>
              </a:lnSpc>
            </a:pPr>
            <a:r>
              <a:rPr lang="en-US" sz="2000" dirty="0" smtClean="0">
                <a:latin typeface="Times New Roman" panose="02020603050405020304" pitchFamily="18" charset="0"/>
                <a:cs typeface="Times New Roman" panose="02020603050405020304" pitchFamily="18" charset="0"/>
              </a:rPr>
              <a:t>High volume production compared to conventional machines.</a:t>
            </a:r>
          </a:p>
          <a:p>
            <a:pPr lvl="0">
              <a:lnSpc>
                <a:spcPct val="150000"/>
              </a:lnSpc>
            </a:pPr>
            <a:r>
              <a:rPr lang="en-US" sz="2000" dirty="0" smtClean="0">
                <a:latin typeface="Times New Roman" panose="02020603050405020304" pitchFamily="18" charset="0"/>
                <a:cs typeface="Times New Roman" panose="02020603050405020304" pitchFamily="18" charset="0"/>
              </a:rPr>
              <a:t>Even lesser skilled or trained people can operate CNC machines unlike the conventional ones where highly skilled people are required.</a:t>
            </a:r>
          </a:p>
          <a:p>
            <a:pPr lvl="0">
              <a:lnSpc>
                <a:spcPct val="150000"/>
              </a:lnSpc>
            </a:pPr>
            <a:r>
              <a:rPr lang="en-US" sz="2000" dirty="0" smtClean="0">
                <a:latin typeface="Times New Roman" panose="02020603050405020304" pitchFamily="18" charset="0"/>
                <a:cs typeface="Times New Roman" panose="02020603050405020304" pitchFamily="18" charset="0"/>
              </a:rPr>
              <a:t>CNC Machines can be used uninterruptedly without turning them off provided regular maintenance is done.</a:t>
            </a:r>
          </a:p>
          <a:p>
            <a:pPr>
              <a:lnSpc>
                <a:spcPct val="150000"/>
              </a:lnSpc>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964" y="0"/>
            <a:ext cx="8229600" cy="503238"/>
          </a:xfrm>
        </p:spPr>
        <p:txBody>
          <a:bodyPr>
            <a:noAutofit/>
          </a:bodyPr>
          <a:lstStyle/>
          <a:p>
            <a:r>
              <a:rPr lang="en-US" sz="3600" b="1" u="sng" dirty="0" smtClean="0">
                <a:latin typeface="Times New Roman" panose="02020603050405020304" pitchFamily="18" charset="0"/>
                <a:cs typeface="Times New Roman" panose="02020603050405020304" pitchFamily="18" charset="0"/>
              </a:rPr>
              <a:t>Advantages of CNC Machines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304800"/>
            <a:ext cx="8915400" cy="4800600"/>
          </a:xfrm>
        </p:spPr>
        <p:txBody>
          <a:bodyPr>
            <a:noAutofit/>
          </a:bodyPr>
          <a:lstStyle/>
          <a:p>
            <a:pPr lvl="0" algn="just">
              <a:lnSpc>
                <a:spcPct val="170000"/>
              </a:lnSpc>
            </a:pPr>
            <a:r>
              <a:rPr lang="en-US" sz="2000" dirty="0" smtClean="0">
                <a:latin typeface="Times New Roman" panose="02020603050405020304" pitchFamily="18" charset="0"/>
                <a:cs typeface="Times New Roman" panose="02020603050405020304" pitchFamily="18" charset="0"/>
              </a:rPr>
              <a:t>Avoids errors that were otherwise committed by humans operating conventional machines.</a:t>
            </a:r>
          </a:p>
          <a:p>
            <a:pPr lvl="0" algn="just">
              <a:lnSpc>
                <a:spcPct val="170000"/>
              </a:lnSpc>
            </a:pPr>
            <a:r>
              <a:rPr lang="en-US" sz="2000" dirty="0" smtClean="0">
                <a:latin typeface="Times New Roman" panose="02020603050405020304" pitchFamily="18" charset="0"/>
                <a:cs typeface="Times New Roman" panose="02020603050405020304" pitchFamily="18" charset="0"/>
              </a:rPr>
              <a:t>Since CNC machines can be programmed, one person may well take care of a number of CNC machines. This reduces the employees and hence costs are reduced.</a:t>
            </a:r>
          </a:p>
          <a:p>
            <a:pPr lvl="0" algn="just">
              <a:lnSpc>
                <a:spcPct val="170000"/>
              </a:lnSpc>
            </a:pPr>
            <a:r>
              <a:rPr lang="en-US" sz="2000" dirty="0" smtClean="0">
                <a:latin typeface="Times New Roman" panose="02020603050405020304" pitchFamily="18" charset="0"/>
                <a:cs typeface="Times New Roman" panose="02020603050405020304" pitchFamily="18" charset="0"/>
              </a:rPr>
              <a:t> Using CNC machines results in a safer </a:t>
            </a:r>
            <a:r>
              <a:rPr lang="en-US" sz="2400" dirty="0" smtClean="0">
                <a:latin typeface="Times New Roman" panose="02020603050405020304" pitchFamily="18" charset="0"/>
                <a:cs typeface="Times New Roman" panose="02020603050405020304" pitchFamily="18" charset="0"/>
              </a:rPr>
              <a:t>work</a:t>
            </a:r>
            <a:r>
              <a:rPr lang="en-US" sz="2000" dirty="0" smtClean="0">
                <a:latin typeface="Times New Roman" panose="02020603050405020304" pitchFamily="18" charset="0"/>
                <a:cs typeface="Times New Roman" panose="02020603050405020304" pitchFamily="18" charset="0"/>
              </a:rPr>
              <a:t> environment since the operator is not exposed to the machine area during machining.</a:t>
            </a:r>
          </a:p>
          <a:p>
            <a:pPr lvl="0" algn="just">
              <a:lnSpc>
                <a:spcPct val="170000"/>
              </a:lnSpc>
            </a:pPr>
            <a:r>
              <a:rPr lang="en-US" sz="2000" dirty="0" smtClean="0">
                <a:latin typeface="Times New Roman" panose="02020603050405020304" pitchFamily="18" charset="0"/>
                <a:cs typeface="Times New Roman" panose="02020603050405020304" pitchFamily="18" charset="0"/>
              </a:rPr>
              <a:t> CNC Machines can be upgraded to newer technologies by replacing the existing CNC Control with an advanced one.</a:t>
            </a:r>
          </a:p>
          <a:p>
            <a:pPr lvl="0" algn="just">
              <a:lnSpc>
                <a:spcPct val="170000"/>
              </a:lnSpc>
            </a:pPr>
            <a:r>
              <a:rPr lang="en-US" sz="2000" dirty="0" smtClean="0">
                <a:latin typeface="Times New Roman" panose="02020603050405020304" pitchFamily="18" charset="0"/>
                <a:cs typeface="Times New Roman" panose="02020603050405020304" pitchFamily="18" charset="0"/>
              </a:rPr>
              <a:t>Many CNC Machined can be linked together to a main computer. Programs can be downloaded to any connected CNC machines. This leads us to another type of NC concept called as the Direct Numerical Control (DNC).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latin typeface="Times New Roman" panose="02020603050405020304" pitchFamily="18" charset="0"/>
                <a:cs typeface="Times New Roman" panose="02020603050405020304" pitchFamily="18" charset="0"/>
              </a:rPr>
              <a:t>Disadvantages of CNC Machines</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62500" lnSpcReduction="20000"/>
          </a:bodyPr>
          <a:lstStyle/>
          <a:p>
            <a:pPr lvl="0">
              <a:lnSpc>
                <a:spcPct val="170000"/>
              </a:lnSpc>
            </a:pPr>
            <a:r>
              <a:rPr lang="en-US" dirty="0" smtClean="0">
                <a:latin typeface="Times New Roman" panose="02020603050405020304" pitchFamily="18" charset="0"/>
                <a:cs typeface="Times New Roman" panose="02020603050405020304" pitchFamily="18" charset="0"/>
              </a:rPr>
              <a:t>A thorough programming knowledge is required by the operators or programmers. This again requires skilled programmer and hence the cost of labor can be high.</a:t>
            </a:r>
          </a:p>
          <a:p>
            <a:pPr lvl="0">
              <a:lnSpc>
                <a:spcPct val="170000"/>
              </a:lnSpc>
            </a:pPr>
            <a:r>
              <a:rPr lang="en-US" dirty="0" smtClean="0">
                <a:latin typeface="Times New Roman" panose="02020603050405020304" pitchFamily="18" charset="0"/>
                <a:cs typeface="Times New Roman" panose="02020603050405020304" pitchFamily="18" charset="0"/>
              </a:rPr>
              <a:t>Cost of a CNC Machine is high compared to the conventional Machines Tools.</a:t>
            </a:r>
          </a:p>
          <a:p>
            <a:pPr lvl="0">
              <a:lnSpc>
                <a:spcPct val="170000"/>
              </a:lnSpc>
            </a:pPr>
            <a:r>
              <a:rPr lang="en-US" dirty="0" smtClean="0">
                <a:latin typeface="Times New Roman" panose="02020603050405020304" pitchFamily="18" charset="0"/>
                <a:cs typeface="Times New Roman" panose="02020603050405020304" pitchFamily="18" charset="0"/>
              </a:rPr>
              <a:t>The spares of CNC Machines are relatively costlier than conventional Machines.</a:t>
            </a:r>
          </a:p>
          <a:p>
            <a:pPr lvl="0">
              <a:lnSpc>
                <a:spcPct val="170000"/>
              </a:lnSpc>
            </a:pPr>
            <a:r>
              <a:rPr lang="en-US" dirty="0" smtClean="0">
                <a:latin typeface="Times New Roman" panose="02020603050405020304" pitchFamily="18" charset="0"/>
                <a:cs typeface="Times New Roman" panose="02020603050405020304" pitchFamily="18" charset="0"/>
              </a:rPr>
              <a:t>CNC Machines require air conditioned environment and/or a chiller unit. Thus extra costs are involved.</a:t>
            </a:r>
          </a:p>
          <a:p>
            <a:pPr>
              <a:lnSpc>
                <a:spcPct val="17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768</TotalTime>
  <Words>1050</Words>
  <Application>Microsoft Office PowerPoint</Application>
  <PresentationFormat>On-screen Show (4:3)</PresentationFormat>
  <Paragraphs>76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Times New Roman</vt:lpstr>
      <vt:lpstr>Wingdings</vt:lpstr>
      <vt:lpstr>Office Theme</vt:lpstr>
      <vt:lpstr>Computer Numerical Control </vt:lpstr>
      <vt:lpstr>Elements of a CNC System </vt:lpstr>
      <vt:lpstr>Elements of a CNC System </vt:lpstr>
      <vt:lpstr>PowerPoint Presentation</vt:lpstr>
      <vt:lpstr>PowerPoint Presentation</vt:lpstr>
      <vt:lpstr>PowerPoint Presentation</vt:lpstr>
      <vt:lpstr>Advantages of CNC Machines </vt:lpstr>
      <vt:lpstr>Advantages of CNC Machines</vt:lpstr>
      <vt:lpstr>Disadvantages of CNC Machines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lenovo</cp:lastModifiedBy>
  <cp:revision>41</cp:revision>
  <dcterms:created xsi:type="dcterms:W3CDTF">2016-09-19T06:47:35Z</dcterms:created>
  <dcterms:modified xsi:type="dcterms:W3CDTF">2020-04-07T16:10:39Z</dcterms:modified>
</cp:coreProperties>
</file>