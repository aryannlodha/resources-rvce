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87"/>
  </p:notesMasterIdLst>
  <p:sldIdLst>
    <p:sldId id="4471" r:id="rId3"/>
    <p:sldId id="4570" r:id="rId4"/>
    <p:sldId id="4571" r:id="rId5"/>
    <p:sldId id="4572" r:id="rId6"/>
    <p:sldId id="4579" r:id="rId7"/>
    <p:sldId id="4573" r:id="rId8"/>
    <p:sldId id="4574" r:id="rId9"/>
    <p:sldId id="4575" r:id="rId10"/>
    <p:sldId id="4578" r:id="rId11"/>
    <p:sldId id="894" r:id="rId12"/>
    <p:sldId id="910" r:id="rId13"/>
    <p:sldId id="911" r:id="rId14"/>
    <p:sldId id="912" r:id="rId15"/>
    <p:sldId id="959" r:id="rId16"/>
    <p:sldId id="895" r:id="rId17"/>
    <p:sldId id="896" r:id="rId18"/>
    <p:sldId id="897" r:id="rId19"/>
    <p:sldId id="4587" r:id="rId20"/>
    <p:sldId id="898" r:id="rId21"/>
    <p:sldId id="4588" r:id="rId22"/>
    <p:sldId id="899" r:id="rId23"/>
    <p:sldId id="927" r:id="rId24"/>
    <p:sldId id="4589" r:id="rId25"/>
    <p:sldId id="4590" r:id="rId26"/>
    <p:sldId id="4591" r:id="rId27"/>
    <p:sldId id="4592" r:id="rId28"/>
    <p:sldId id="901" r:id="rId29"/>
    <p:sldId id="913" r:id="rId30"/>
    <p:sldId id="4593" r:id="rId31"/>
    <p:sldId id="914" r:id="rId32"/>
    <p:sldId id="4596" r:id="rId33"/>
    <p:sldId id="4594" r:id="rId34"/>
    <p:sldId id="4595" r:id="rId35"/>
    <p:sldId id="902" r:id="rId36"/>
    <p:sldId id="903" r:id="rId37"/>
    <p:sldId id="4602" r:id="rId38"/>
    <p:sldId id="4603" r:id="rId39"/>
    <p:sldId id="4601" r:id="rId40"/>
    <p:sldId id="4597" r:id="rId41"/>
    <p:sldId id="4598" r:id="rId42"/>
    <p:sldId id="4599" r:id="rId43"/>
    <p:sldId id="4604" r:id="rId44"/>
    <p:sldId id="4600" r:id="rId45"/>
    <p:sldId id="4605" r:id="rId46"/>
    <p:sldId id="904" r:id="rId47"/>
    <p:sldId id="955" r:id="rId48"/>
    <p:sldId id="957" r:id="rId49"/>
    <p:sldId id="956" r:id="rId50"/>
    <p:sldId id="928" r:id="rId51"/>
    <p:sldId id="929" r:id="rId52"/>
    <p:sldId id="930" r:id="rId53"/>
    <p:sldId id="931" r:id="rId54"/>
    <p:sldId id="932" r:id="rId55"/>
    <p:sldId id="933" r:id="rId56"/>
    <p:sldId id="961" r:id="rId57"/>
    <p:sldId id="962" r:id="rId58"/>
    <p:sldId id="963" r:id="rId59"/>
    <p:sldId id="964" r:id="rId60"/>
    <p:sldId id="965" r:id="rId61"/>
    <p:sldId id="966" r:id="rId62"/>
    <p:sldId id="967" r:id="rId63"/>
    <p:sldId id="960" r:id="rId64"/>
    <p:sldId id="935" r:id="rId65"/>
    <p:sldId id="936" r:id="rId66"/>
    <p:sldId id="937" r:id="rId67"/>
    <p:sldId id="938" r:id="rId68"/>
    <p:sldId id="939" r:id="rId69"/>
    <p:sldId id="940" r:id="rId70"/>
    <p:sldId id="941" r:id="rId71"/>
    <p:sldId id="942" r:id="rId72"/>
    <p:sldId id="954" r:id="rId73"/>
    <p:sldId id="943" r:id="rId74"/>
    <p:sldId id="4606" r:id="rId75"/>
    <p:sldId id="944" r:id="rId76"/>
    <p:sldId id="952" r:id="rId77"/>
    <p:sldId id="4607" r:id="rId78"/>
    <p:sldId id="946" r:id="rId79"/>
    <p:sldId id="4608" r:id="rId80"/>
    <p:sldId id="947" r:id="rId81"/>
    <p:sldId id="948" r:id="rId82"/>
    <p:sldId id="953" r:id="rId83"/>
    <p:sldId id="949" r:id="rId84"/>
    <p:sldId id="950" r:id="rId85"/>
    <p:sldId id="951" r:id="rId86"/>
  </p:sldIdLst>
  <p:sldSz cx="12192000"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03" autoAdjust="0"/>
    <p:restoredTop sz="0" autoAdjust="0"/>
  </p:normalViewPr>
  <p:slideViewPr>
    <p:cSldViewPr snapToGrid="0">
      <p:cViewPr varScale="1">
        <p:scale>
          <a:sx n="69" d="100"/>
          <a:sy n="69" d="100"/>
        </p:scale>
        <p:origin x="654"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heme" Target="theme/theme1.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6A973A30-4E8D-4F5A-A660-0CF9FA0EA0CF}" type="datetimeFigureOut">
              <a:rPr lang="en-IN" smtClean="0"/>
              <a:t>30-12-2024</a:t>
            </a:fld>
            <a:endParaRPr lang="en-IN"/>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77223E4C-C78F-4806-9F29-9550DE44BB40}" type="slidenum">
              <a:rPr lang="en-IN" smtClean="0"/>
              <a:t>‹#›</a:t>
            </a:fld>
            <a:endParaRPr lang="en-IN"/>
          </a:p>
        </p:txBody>
      </p:sp>
    </p:spTree>
    <p:extLst>
      <p:ext uri="{BB962C8B-B14F-4D97-AF65-F5344CB8AC3E}">
        <p14:creationId xmlns:p14="http://schemas.microsoft.com/office/powerpoint/2010/main" val="113801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E002E866-3256-0C64-470F-914180530587}"/>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40A9AE22-C713-3D99-F7A8-933D368805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F40A1CF3-CA54-C7AD-F5D6-95037BB5E7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1359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7C11B3F0-A168-DC2C-0CE0-803B31E7A2C9}"/>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9BDDD8C7-9E1D-22E7-BFCC-E174C008F1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A2C608B8-954F-F406-BDD4-F2936257DA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8376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507CEDF2-BE91-2E2D-20BF-6E0E2ADB4E90}"/>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9920C92-E67E-EB07-0FD5-5827B454C9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5474988-6EDC-5996-7CD3-6440429282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3423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855B8B57-6492-D514-6436-4311479E8483}"/>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64F1BBBE-AB0F-5B6D-923F-2CCB9A47A8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C6CC1A1E-628F-B39F-6C08-8F3993DBA5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9046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E0D429BC-8480-1ADF-04EB-892661B14F17}"/>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65A35C5D-0F75-1A35-2A14-FDB5DCC4B4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CB1C1C8C-8E19-DC74-3677-AAFD8E564D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6222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9DBBDBE2-8DC1-E226-6AA1-2F3C79406FFC}"/>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8520191B-B0C9-C8D1-4762-2153985D40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806DFCFC-CB4D-083B-76B2-1BCB9B9854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665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F9C802E1-57E4-0D77-F361-38A2B7D60A81}"/>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24C37819-4BE3-BDF1-99DF-5DA82BAC0F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AFECBF00-D581-6AFE-2402-26919EED46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1027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E9BA28CD-31B7-0ED7-CD87-6BB5C922FB37}"/>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94A07697-92A5-EFFB-FA99-B74B74AD80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FFF71316-5E7A-3C21-63C4-BDCF852C60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6758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E9BA28CD-31B7-0ED7-CD87-6BB5C922FB37}"/>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94A07697-92A5-EFFB-FA99-B74B74AD80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FFF71316-5E7A-3C21-63C4-BDCF852C60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214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3E32A9D3-13DA-03F4-C428-792C9CED7989}"/>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3641649B-3286-D6B3-F417-DA234EE665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5F2A8169-4CEC-C7F5-56BF-B8996E29DB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23189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3E32A9D3-13DA-03F4-C428-792C9CED7989}"/>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3641649B-3286-D6B3-F417-DA234EE665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5F2A8169-4CEC-C7F5-56BF-B8996E29DB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2394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11878A58-80C2-200B-A819-308B23200101}"/>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F83448F5-A40E-401C-19BC-D73E7F3FC0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681BB58-21A6-EF07-08A7-14B7A18C7E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0850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99DBB7EF-109E-963D-3593-472C86FDA143}"/>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6FD8B94D-A73E-A1B3-CCEE-DAAF26E844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0C205621-54AB-2A9F-47D9-9A7145D77E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4827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99DBB7EF-109E-963D-3593-472C86FDA143}"/>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6FD8B94D-A73E-A1B3-CCEE-DAAF26E844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0C205621-54AB-2A9F-47D9-9A7145D77E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24709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99DBB7EF-109E-963D-3593-472C86FDA143}"/>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6FD8B94D-A73E-A1B3-CCEE-DAAF26E844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0C205621-54AB-2A9F-47D9-9A7145D77E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85922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99DBB7EF-109E-963D-3593-472C86FDA143}"/>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6FD8B94D-A73E-A1B3-CCEE-DAAF26E844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0C205621-54AB-2A9F-47D9-9A7145D77E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7137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99DBB7EF-109E-963D-3593-472C86FDA143}"/>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6FD8B94D-A73E-A1B3-CCEE-DAAF26E844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0C205621-54AB-2A9F-47D9-9A7145D77E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5963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FD4888D2-059A-4E2B-7E32-770D886E3825}"/>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C2922098-4738-BAB4-3069-21F3FE0234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343CA0DD-2E96-D8A2-6D7B-05D5AFF219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158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ACE9A491-4410-8EB5-C870-CD38A2A169AE}"/>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F1B831D8-48B2-AAF9-5FDE-E0DC45BA22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1AC0E6A8-3FBE-BCCB-2A08-0FA1917D9D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99709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ACE9A491-4410-8EB5-C870-CD38A2A169AE}"/>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F1B831D8-48B2-AAF9-5FDE-E0DC45BA22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1AC0E6A8-3FBE-BCCB-2A08-0FA1917D9D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52156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1E81D846-229C-6893-1E1B-99AC0240B3E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0CBCE352-8116-A2B7-5714-0BBF03AD03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951E1C9B-CC39-2B45-C2C7-59998FF17A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39745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1E81D846-229C-6893-1E1B-99AC0240B3E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0CBCE352-8116-A2B7-5714-0BBF03AD03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951E1C9B-CC39-2B45-C2C7-59998FF17A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36789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1E81D846-229C-6893-1E1B-99AC0240B3E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0CBCE352-8116-A2B7-5714-0BBF03AD03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951E1C9B-CC39-2B45-C2C7-59998FF17A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41121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1E81D846-229C-6893-1E1B-99AC0240B3E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0CBCE352-8116-A2B7-5714-0BBF03AD03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951E1C9B-CC39-2B45-C2C7-59998FF17A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7165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ADEFC5A4-5F19-2677-AA78-5E4D8EF68C80}"/>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ACDB95DD-FA18-50D8-2972-9FBFA49BB2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F2ECC0EF-7BE1-FA10-6668-C7EBA44C06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98545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B44354AF-1E82-518E-A5E9-372D342B6E6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FB3769E-1CF7-4A03-3585-297637F5CD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7589EFF-CFD0-6476-EB48-4C4B16B694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18188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B44354AF-1E82-518E-A5E9-372D342B6E6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FB3769E-1CF7-4A03-3585-297637F5CD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7589EFF-CFD0-6476-EB48-4C4B16B694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51000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B44354AF-1E82-518E-A5E9-372D342B6E6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FB3769E-1CF7-4A03-3585-297637F5CD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7589EFF-CFD0-6476-EB48-4C4B16B694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46995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B44354AF-1E82-518E-A5E9-372D342B6E6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FB3769E-1CF7-4A03-3585-297637F5CD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7589EFF-CFD0-6476-EB48-4C4B16B694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9069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B44354AF-1E82-518E-A5E9-372D342B6E6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FB3769E-1CF7-4A03-3585-297637F5CD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7589EFF-CFD0-6476-EB48-4C4B16B694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7352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B44354AF-1E82-518E-A5E9-372D342B6E6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FB3769E-1CF7-4A03-3585-297637F5CD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7589EFF-CFD0-6476-EB48-4C4B16B694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95496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B44354AF-1E82-518E-A5E9-372D342B6E6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FB3769E-1CF7-4A03-3585-297637F5CD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7589EFF-CFD0-6476-EB48-4C4B16B694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53578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B44354AF-1E82-518E-A5E9-372D342B6E6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FB3769E-1CF7-4A03-3585-297637F5CD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7589EFF-CFD0-6476-EB48-4C4B16B694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9869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B44354AF-1E82-518E-A5E9-372D342B6E6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FB3769E-1CF7-4A03-3585-297637F5CD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7589EFF-CFD0-6476-EB48-4C4B16B694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31236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B44354AF-1E82-518E-A5E9-372D342B6E6D}"/>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FB3769E-1CF7-4A03-3585-297637F5CD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7589EFF-CFD0-6476-EB48-4C4B16B694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10875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91EC655D-C9CF-D964-423C-6C6A54A97DD7}"/>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1712E30-C829-BC8E-0A27-B46DD56EF9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0AEAAF35-E5F1-EABF-F2CC-56E2B961A2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06183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F15F9CB4-7953-2DA9-D401-034404528543}"/>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5E6B28F-8CCB-B713-BD4C-6ECDB922A9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11A60C09-9370-9A33-B90F-4EFDA2AEFB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49429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3BE9478F-4CAE-2B19-4D6D-5696A443C9F7}"/>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573B3DAF-F342-B6FA-0B84-623F2B4EF9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948A2C29-1F21-32F8-6F8D-FF6291BA74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08055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7AF19EB3-5CC6-044E-1ECA-C66E0FEC1697}"/>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9B7D3895-3F48-6840-5FC2-57D2EE3447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4328C7F4-47A1-4B0A-05CC-7F024962CA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81776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01168F78-B7F1-02C7-589A-3BFFC43EA404}"/>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3F9736E8-29CA-4892-09B1-C839569BBF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B6612A3B-FA5B-CC67-5930-046DB4B6BE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39353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970F3B34-CC75-338F-FF4F-AA09E41E4EC0}"/>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4581A534-9ABB-AA01-37DA-2EC8BEC998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539AD111-10C1-4220-1E20-134005092E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14057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DD5E550F-3BDA-5AA1-2FE7-A064665D23E4}"/>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868C8EB1-A2B3-9454-666A-CD65B0BCCB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3EE5FA7A-0217-68F1-CE29-399CC6FFA5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57863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6F8C94F6-AF9F-16FA-DAED-0EC4E975AA8A}"/>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FBD53690-6502-7863-1E67-5997BD32EB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C21B7E65-735E-B291-F8C4-4703445000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40797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FF7915A6-F4F0-C638-8A6D-6FE735DE6FFB}"/>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CE1005F0-7521-595C-0D3F-AA6A6BE510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084FFF34-A7C4-8CF5-E55D-227F927E13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82887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1CF7F396-F8B9-8603-A8A0-16AC812B2161}"/>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15795522-4E43-E853-57FF-761B47016E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4F757D79-E504-B890-EED3-3A99BE4ED9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13425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A97CC59D-3C3D-A7AC-0F02-F35D220AFBA8}"/>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2B999C06-F51F-3223-2FEF-D3CB468E64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3029F082-BCDA-3CC6-A472-100C75C447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66254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96719722-32BD-0519-4C0A-5A1F4291A1C3}"/>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F93DCE72-D945-138B-6059-2D0E96C4FA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BFA9EEB9-1306-D6F8-FFC3-A5CA87110F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43233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F223042B-8650-EC76-31A0-A3F1E8DF778F}"/>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1C8236E7-8170-5612-69B7-77684CF3AD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16E414ED-C318-05A5-173A-D88A53141E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83615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55358205-4DE6-8658-6BC9-F6F71B0204A0}"/>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B158161-C834-07E3-0010-04FA492186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F890CD6C-F64B-645D-47FC-8C7814D599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72998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FB109D3C-2C8A-0FD5-C083-CDF904CF11B1}"/>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BC1E720B-0F1E-89A4-264A-DDFB83E8C4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C0F2A49-AF93-EBA9-76A9-9A465B0FF4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40941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2225DFD1-9F81-A28F-1C66-B6F007F3EC2B}"/>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767190FC-BBEA-B861-9BB0-CBA0F0F9AE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3096E661-A635-21A7-2DF0-945B7C658D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6561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063D8DD0-F197-D18C-A72A-64FEAA9943FC}"/>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6DD6EB82-2641-CD20-F706-A6BC32E6C6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6FF786E3-88D6-3C02-3E58-6721469C53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74749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278CB185-9F0B-5C9E-EB9A-52B83753CF40}"/>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7D4097BB-FF3F-CE87-155F-A36F0B5445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FAF07387-6F03-A620-0D35-19D46F3681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34435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54151DE8-978B-BAB2-C443-EA0FD40F06A6}"/>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FEC57626-5975-0F56-370E-16CEED905C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3449C73A-36F0-E8D6-4D4D-BD49D296D2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008626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53120BD3-EA94-0532-1167-98F9D7D8D5C9}"/>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EB4C9F06-B610-5556-CF9E-1395BAFA1E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CD9E3D0C-1A3F-639C-013C-ED33C1DCF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6294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8772F8AB-60F9-71AB-AFFC-22A15C63D1FC}"/>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DD326C56-5E98-A81F-BBD8-82840EE1D1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5F33AB93-3B9E-A9D3-D4B3-D3C7F2E6CC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2008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F37A48B7-3572-4398-8888-AE44AA571B49}"/>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7162FA51-0C8F-2E81-92E3-F27AB7D428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527227C6-663F-237C-64C0-0223F1C043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66369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E1914635-34F9-6749-27FA-C834D5C4ECA9}"/>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65A79639-133A-54CE-7558-D7B6B1C01C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A53F6074-737E-0890-39F0-EC0C807EA6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763744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2B2EB582-A448-751D-DBB5-27924CC93FB2}"/>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0CDCA80F-CD7E-DE9D-E517-53D64AF97B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91BB16F7-FA00-F9F1-F5BB-85651894D3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43844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82F77920-AC7E-B594-0BEC-406A4ADFAC91}"/>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642400DB-B758-4A38-3E8E-35D94C51CA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2CBAA2C0-E40B-8F26-7BC0-6DB85530C2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277652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F214E9E5-1071-E27E-DA4D-5CC1888C7B34}"/>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04589632-1099-4698-8308-EF2E07CECC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095C728D-36BC-31E8-56FC-C46BA98CAD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262271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EA6B72A1-A761-B191-46CA-2D7D587EC10F}"/>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5A531CC3-050E-C6C1-DE59-89FE5DECB0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FA4C666C-F2FA-5CCB-2B8A-BFCDABE20E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711966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2BED81F9-1AE3-64FE-923F-021B07BB7B6A}"/>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1B95DEC8-8EB0-2BD1-FFB8-E07FECD595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69C83C4D-5CC1-8E50-7EB3-3C980BB522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66602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2BED81F9-1AE3-64FE-923F-021B07BB7B6A}"/>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1B95DEC8-8EB0-2BD1-FFB8-E07FECD595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69C83C4D-5CC1-8E50-7EB3-3C980BB522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26450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14577910-6257-14EA-1FBD-0081AA95916A}"/>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5A35F8DF-66B4-F486-4A7F-93CC7C1F08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A1139AEA-66D7-A663-8066-41C3CDC9A6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333709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F2038218-36A0-DB68-1BF2-D8BDCDF552C0}"/>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C47F5C7E-1D87-A1C5-A032-A246735AB6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688AC8C-C607-DB95-FEAA-20D4285207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837761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F2038218-36A0-DB68-1BF2-D8BDCDF552C0}"/>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C47F5C7E-1D87-A1C5-A032-A246735AB6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688AC8C-C607-DB95-FEAA-20D4285207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686315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4167525E-8C3B-0ACC-20DA-48B2D806CC9B}"/>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9EC7628F-C963-7590-DF36-C28B793A9B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2A67D469-80C4-023E-FA8E-B7A7D10017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977323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4167525E-8C3B-0ACC-20DA-48B2D806CC9B}"/>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9EC7628F-C963-7590-DF36-C28B793A9B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2A67D469-80C4-023E-FA8E-B7A7D10017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652177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EDD3660F-354C-1017-AD8A-3983FAFB54C5}"/>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745C354E-3246-A3B3-8275-9DB5E5145D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5627A170-6E1D-856C-8E72-BB6629CE57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422166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D93712FF-7F14-3822-1F83-C613926B9A5A}"/>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95F94100-6415-7094-130C-2811842043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2820EB07-B964-2085-04AC-A3BF616F9F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885790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B0CA41FC-8F2E-4AB5-B90E-B3CBBEB35006}"/>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0E2D35F3-699F-0308-58E4-0529693519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00E7CE46-0688-3172-EB9C-DC99A40C8E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198297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C7706D5B-8512-5CFC-DC4D-AA989EA87DCB}"/>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43E456AD-AC16-A18A-7E67-8D5B39198B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3A34F00F-79A1-DD3A-A445-C1C4E4A12A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917042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0E231EBD-943D-A175-A5C0-136D4A63D622}"/>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F44EAC93-C060-5628-8D0A-58F0358313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E70DC3AA-DDF4-3A3E-3B4D-558CEDCB7C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923314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a:extLst>
            <a:ext uri="{FF2B5EF4-FFF2-40B4-BE49-F238E27FC236}">
              <a16:creationId xmlns:a16="http://schemas.microsoft.com/office/drawing/2014/main" id="{9878B37C-3592-0BAB-9234-0A662B18DE88}"/>
            </a:ext>
          </a:extLst>
        </p:cNvPr>
        <p:cNvGrpSpPr/>
        <p:nvPr/>
      </p:nvGrpSpPr>
      <p:grpSpPr>
        <a:xfrm>
          <a:off x="0" y="0"/>
          <a:ext cx="0" cy="0"/>
          <a:chOff x="0" y="0"/>
          <a:chExt cx="0" cy="0"/>
        </a:xfrm>
      </p:grpSpPr>
      <p:sp>
        <p:nvSpPr>
          <p:cNvPr id="55" name="Google Shape;55;g23d66680d41_0_0:notes">
            <a:extLst>
              <a:ext uri="{FF2B5EF4-FFF2-40B4-BE49-F238E27FC236}">
                <a16:creationId xmlns:a16="http://schemas.microsoft.com/office/drawing/2014/main" id="{7010A403-459F-8BE4-6F23-E5524EBBD1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a:extLst>
              <a:ext uri="{FF2B5EF4-FFF2-40B4-BE49-F238E27FC236}">
                <a16:creationId xmlns:a16="http://schemas.microsoft.com/office/drawing/2014/main" id="{B6E2B855-0B5B-7E46-9E53-5A96C28355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3020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95310"/>
            <a:ext cx="9144000" cy="2387600"/>
          </a:xfrm>
        </p:spPr>
        <p:txBody>
          <a:bodyPr anchor="b"/>
          <a:lstStyle>
            <a:lvl1pPr algn="ctr">
              <a:defRPr sz="6000">
                <a:solidFill>
                  <a:srgbClr val="002060"/>
                </a:solidFill>
                <a:latin typeface="Bookman Old Style" panose="02050604050505020204" pitchFamily="18" charset="0"/>
              </a:defRPr>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rgbClr val="C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4" name="Date Placeholder 3"/>
          <p:cNvSpPr>
            <a:spLocks noGrp="1"/>
          </p:cNvSpPr>
          <p:nvPr>
            <p:ph type="dt" sz="half" idx="10"/>
          </p:nvPr>
        </p:nvSpPr>
        <p:spPr/>
        <p:txBody>
          <a:bodyPr/>
          <a:lstStyle/>
          <a:p>
            <a:fld id="{D3F99E61-0CE5-49A0-ADAE-575C3A21A57B}" type="datetime2">
              <a:rPr lang="en-IN" smtClean="0"/>
              <a:t>Monday, 30 December 2024</a:t>
            </a:fld>
            <a:endParaRPr lang="en-IN"/>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
        <p:nvSpPr>
          <p:cNvPr id="10" name="object 7"/>
          <p:cNvSpPr txBox="1"/>
          <p:nvPr userDrawn="1"/>
        </p:nvSpPr>
        <p:spPr>
          <a:xfrm>
            <a:off x="4541263" y="6344368"/>
            <a:ext cx="3498933" cy="377108"/>
          </a:xfrm>
          <a:prstGeom prst="rect">
            <a:avLst/>
          </a:prstGeom>
        </p:spPr>
        <p:txBody>
          <a:bodyPr wrap="square" lIns="0" tIns="7701" rIns="0" bIns="0">
            <a:spAutoFit/>
          </a:bodyPr>
          <a:lstStyle/>
          <a:p>
            <a:pPr marL="7701" algn="ctr">
              <a:spcBef>
                <a:spcPts val="61"/>
              </a:spcBef>
              <a:defRPr/>
            </a:pPr>
            <a:r>
              <a:rPr sz="2400" b="1" i="1" spc="-3" dirty="0">
                <a:solidFill>
                  <a:srgbClr val="422C75"/>
                </a:solidFill>
                <a:latin typeface="Bookman Old Style" panose="02050604050505020204" pitchFamily="18" charset="0"/>
                <a:ea typeface="ＭＳ Ｐゴシック" charset="0"/>
                <a:cs typeface="Playfair Display"/>
              </a:rPr>
              <a:t>Go, change </a:t>
            </a:r>
            <a:r>
              <a:rPr sz="2400" b="1" i="1" dirty="0">
                <a:solidFill>
                  <a:srgbClr val="422C75"/>
                </a:solidFill>
                <a:latin typeface="Bookman Old Style" panose="02050604050505020204" pitchFamily="18" charset="0"/>
                <a:ea typeface="ＭＳ Ｐゴシック" charset="0"/>
                <a:cs typeface="Playfair Display"/>
              </a:rPr>
              <a:t>the</a:t>
            </a:r>
            <a:r>
              <a:rPr sz="2400" b="1" i="1" spc="-49" dirty="0">
                <a:solidFill>
                  <a:srgbClr val="422C75"/>
                </a:solidFill>
                <a:latin typeface="Bookman Old Style" panose="02050604050505020204" pitchFamily="18" charset="0"/>
                <a:ea typeface="ＭＳ Ｐゴシック" charset="0"/>
                <a:cs typeface="Playfair Display"/>
              </a:rPr>
              <a:t> </a:t>
            </a:r>
            <a:r>
              <a:rPr sz="2400" b="1" i="1" spc="-3" dirty="0">
                <a:solidFill>
                  <a:srgbClr val="422C75"/>
                </a:solidFill>
                <a:latin typeface="Bookman Old Style" panose="02050604050505020204" pitchFamily="18" charset="0"/>
                <a:ea typeface="ＭＳ Ｐゴシック" charset="0"/>
                <a:cs typeface="Playfair Display"/>
              </a:rPr>
              <a:t>world</a:t>
            </a:r>
            <a:endParaRPr sz="2400" b="1" dirty="0">
              <a:latin typeface="Bookman Old Style" panose="02050604050505020204" pitchFamily="18" charset="0"/>
              <a:ea typeface="ＭＳ Ｐゴシック" charset="0"/>
              <a:cs typeface="Playfair Display"/>
            </a:endParaRPr>
          </a:p>
        </p:txBody>
      </p:sp>
      <p:pic>
        <p:nvPicPr>
          <p:cNvPr id="13" name="Picture 12">
            <a:extLst>
              <a:ext uri="{FF2B5EF4-FFF2-40B4-BE49-F238E27FC236}">
                <a16:creationId xmlns:a16="http://schemas.microsoft.com/office/drawing/2014/main" id="{432A6D4B-382C-5C68-3C64-26E14200A155}"/>
              </a:ext>
            </a:extLst>
          </p:cNvPr>
          <p:cNvPicPr>
            <a:picLocks noChangeAspect="1"/>
          </p:cNvPicPr>
          <p:nvPr userDrawn="1"/>
        </p:nvPicPr>
        <p:blipFill rotWithShape="1">
          <a:blip r:embed="rId2"/>
          <a:srcRect t="13833"/>
          <a:stretch/>
        </p:blipFill>
        <p:spPr>
          <a:xfrm>
            <a:off x="0" y="0"/>
            <a:ext cx="2207505" cy="997630"/>
          </a:xfrm>
          <a:prstGeom prst="rect">
            <a:avLst/>
          </a:prstGeom>
        </p:spPr>
      </p:pic>
      <p:pic>
        <p:nvPicPr>
          <p:cNvPr id="7" name="Picture 6">
            <a:extLst>
              <a:ext uri="{FF2B5EF4-FFF2-40B4-BE49-F238E27FC236}">
                <a16:creationId xmlns:a16="http://schemas.microsoft.com/office/drawing/2014/main" id="{6098D825-C68D-67AB-208B-22C27A09C8CB}"/>
              </a:ext>
            </a:extLst>
          </p:cNvPr>
          <p:cNvPicPr>
            <a:picLocks noChangeAspect="1"/>
          </p:cNvPicPr>
          <p:nvPr userDrawn="1"/>
        </p:nvPicPr>
        <p:blipFill>
          <a:blip r:embed="rId3"/>
          <a:stretch>
            <a:fillRect/>
          </a:stretch>
        </p:blipFill>
        <p:spPr>
          <a:xfrm>
            <a:off x="10581086" y="160157"/>
            <a:ext cx="1436102" cy="869947"/>
          </a:xfrm>
          <a:prstGeom prst="rect">
            <a:avLst/>
          </a:prstGeom>
        </p:spPr>
      </p:pic>
    </p:spTree>
    <p:extLst>
      <p:ext uri="{BB962C8B-B14F-4D97-AF65-F5344CB8AC3E}">
        <p14:creationId xmlns:p14="http://schemas.microsoft.com/office/powerpoint/2010/main" val="4159531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813" y="1258282"/>
            <a:ext cx="11842377" cy="4918680"/>
          </a:xfrm>
          <a:ln>
            <a:noFill/>
          </a:ln>
        </p:spPr>
        <p:txBody>
          <a:bodyPr/>
          <a:lstStyle>
            <a:lvl1pPr>
              <a:defRPr>
                <a:solidFill>
                  <a:srgbClr val="002060"/>
                </a:solidFill>
                <a:latin typeface="Bookman Old Style" panose="02050604050505020204" pitchFamily="18" charset="0"/>
              </a:defRPr>
            </a:lvl1pPr>
            <a:lvl2pPr>
              <a:defRPr>
                <a:latin typeface="Bookman Old Style" panose="02050604050505020204" pitchFamily="18" charset="0"/>
              </a:defRPr>
            </a:lvl2pPr>
            <a:lvl3pPr>
              <a:defRPr>
                <a:solidFill>
                  <a:srgbClr val="002060"/>
                </a:solidFill>
                <a:latin typeface="Bookman Old Style" panose="02050604050505020204" pitchFamily="18" charset="0"/>
              </a:defRPr>
            </a:lvl3pPr>
            <a:lvl4pPr>
              <a:defRPr>
                <a:solidFill>
                  <a:srgbClr val="002060"/>
                </a:solidFill>
                <a:latin typeface="Bookman Old Style" panose="02050604050505020204" pitchFamily="18" charset="0"/>
              </a:defRPr>
            </a:lvl4pPr>
            <a:lvl5pPr>
              <a:defRPr>
                <a:solidFill>
                  <a:srgbClr val="002060"/>
                </a:solidFill>
                <a:latin typeface="Bookman Old Style" panose="020506040505050202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object 7"/>
          <p:cNvSpPr txBox="1"/>
          <p:nvPr userDrawn="1"/>
        </p:nvSpPr>
        <p:spPr>
          <a:xfrm>
            <a:off x="5055596" y="6405140"/>
            <a:ext cx="2080806"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sp>
        <p:nvSpPr>
          <p:cNvPr id="9" name="Date Placeholder 8"/>
          <p:cNvSpPr>
            <a:spLocks noGrp="1"/>
          </p:cNvSpPr>
          <p:nvPr>
            <p:ph type="dt" sz="half" idx="10"/>
          </p:nvPr>
        </p:nvSpPr>
        <p:spPr>
          <a:xfrm>
            <a:off x="174812" y="6347205"/>
            <a:ext cx="2743200" cy="365125"/>
          </a:xfrm>
        </p:spPr>
        <p:txBody>
          <a:bodyPr/>
          <a:lstStyle>
            <a:lvl1pPr>
              <a:defRPr b="1">
                <a:solidFill>
                  <a:srgbClr val="002060"/>
                </a:solidFill>
                <a:latin typeface="Bookman Old Style" panose="02050604050505020204" pitchFamily="18" charset="0"/>
              </a:defRPr>
            </a:lvl1pPr>
          </a:lstStyle>
          <a:p>
            <a:pPr algn="ctr"/>
            <a:fld id="{6BA3F8B8-C75C-44FF-9C37-B9B69285372F}" type="datetime2">
              <a:rPr lang="en-IN" smtClean="0"/>
              <a:t>Monday, 30 December 2024</a:t>
            </a:fld>
            <a:endParaRPr lang="en-IN" dirty="0"/>
          </a:p>
        </p:txBody>
      </p:sp>
      <p:sp>
        <p:nvSpPr>
          <p:cNvPr id="16" name="Slide Number Placeholder 15"/>
          <p:cNvSpPr>
            <a:spLocks noGrp="1"/>
          </p:cNvSpPr>
          <p:nvPr>
            <p:ph type="sldNum" sz="quarter" idx="12"/>
          </p:nvPr>
        </p:nvSpPr>
        <p:spPr>
          <a:xfrm>
            <a:off x="9273988" y="6347205"/>
            <a:ext cx="2743200" cy="365125"/>
          </a:xfrm>
        </p:spPr>
        <p:txBody>
          <a:bodyPr/>
          <a:lstStyle>
            <a:lvl1pPr>
              <a:defRPr b="1">
                <a:solidFill>
                  <a:srgbClr val="002060"/>
                </a:solidFill>
                <a:latin typeface="Bookman Old Style" panose="02050604050505020204" pitchFamily="18" charset="0"/>
              </a:defRPr>
            </a:lvl1pPr>
          </a:lstStyle>
          <a:p>
            <a:fld id="{9BA15CD2-76D6-4EFE-91D9-7087332E3318}" type="slidenum">
              <a:rPr lang="en-IN" smtClean="0"/>
              <a:pPr/>
              <a:t>‹#›</a:t>
            </a:fld>
            <a:endParaRPr lang="en-IN" dirty="0"/>
          </a:p>
        </p:txBody>
      </p:sp>
      <p:pic>
        <p:nvPicPr>
          <p:cNvPr id="5" name="Picture 4">
            <a:extLst>
              <a:ext uri="{FF2B5EF4-FFF2-40B4-BE49-F238E27FC236}">
                <a16:creationId xmlns:a16="http://schemas.microsoft.com/office/drawing/2014/main" id="{F054BB44-0752-FBF4-85E9-6BB716BF441F}"/>
              </a:ext>
            </a:extLst>
          </p:cNvPr>
          <p:cNvPicPr>
            <a:picLocks noChangeAspect="1"/>
          </p:cNvPicPr>
          <p:nvPr userDrawn="1"/>
        </p:nvPicPr>
        <p:blipFill rotWithShape="1">
          <a:blip r:embed="rId2"/>
          <a:srcRect t="13833"/>
          <a:stretch/>
        </p:blipFill>
        <p:spPr>
          <a:xfrm>
            <a:off x="-1" y="76427"/>
            <a:ext cx="2207505" cy="997630"/>
          </a:xfrm>
          <a:prstGeom prst="rect">
            <a:avLst/>
          </a:prstGeom>
        </p:spPr>
      </p:pic>
      <p:pic>
        <p:nvPicPr>
          <p:cNvPr id="2" name="Picture 1">
            <a:extLst>
              <a:ext uri="{FF2B5EF4-FFF2-40B4-BE49-F238E27FC236}">
                <a16:creationId xmlns:a16="http://schemas.microsoft.com/office/drawing/2014/main" id="{70130CE8-CB06-2D3C-FB51-25FF66C41391}"/>
              </a:ext>
            </a:extLst>
          </p:cNvPr>
          <p:cNvPicPr>
            <a:picLocks noChangeAspect="1"/>
          </p:cNvPicPr>
          <p:nvPr userDrawn="1"/>
        </p:nvPicPr>
        <p:blipFill>
          <a:blip r:embed="rId3"/>
          <a:stretch>
            <a:fillRect/>
          </a:stretch>
        </p:blipFill>
        <p:spPr>
          <a:xfrm>
            <a:off x="10581086" y="160157"/>
            <a:ext cx="1436102" cy="869947"/>
          </a:xfrm>
          <a:prstGeom prst="rect">
            <a:avLst/>
          </a:prstGeom>
        </p:spPr>
      </p:pic>
    </p:spTree>
    <p:extLst>
      <p:ext uri="{BB962C8B-B14F-4D97-AF65-F5344CB8AC3E}">
        <p14:creationId xmlns:p14="http://schemas.microsoft.com/office/powerpoint/2010/main" val="1273647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8942" y="1258282"/>
            <a:ext cx="5750859" cy="4918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172202" y="1258280"/>
            <a:ext cx="5795682" cy="4918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4"/>
          <p:cNvSpPr>
            <a:spLocks noGrp="1"/>
          </p:cNvSpPr>
          <p:nvPr>
            <p:ph type="dt" sz="half" idx="10"/>
          </p:nvPr>
        </p:nvSpPr>
        <p:spPr>
          <a:xfrm>
            <a:off x="268940" y="6356350"/>
            <a:ext cx="2743200" cy="365125"/>
          </a:xfrm>
        </p:spPr>
        <p:txBody>
          <a:bodyPr/>
          <a:lstStyle/>
          <a:p>
            <a:fld id="{1B8ABF7C-0B56-4C7F-B575-109DA1438369}" type="datetime2">
              <a:rPr lang="en-IN" smtClean="0"/>
              <a:t>Monday, 30 December 2024</a:t>
            </a:fld>
            <a:endParaRPr lang="en-IN"/>
          </a:p>
        </p:txBody>
      </p:sp>
      <p:sp>
        <p:nvSpPr>
          <p:cNvPr id="7" name="Slide Number Placeholder 6"/>
          <p:cNvSpPr>
            <a:spLocks noGrp="1"/>
          </p:cNvSpPr>
          <p:nvPr>
            <p:ph type="sldNum" sz="quarter" idx="12"/>
          </p:nvPr>
        </p:nvSpPr>
        <p:spPr>
          <a:xfrm>
            <a:off x="9224683" y="6356350"/>
            <a:ext cx="2743200" cy="365125"/>
          </a:xfrm>
        </p:spPr>
        <p:txBody>
          <a:bodyPr/>
          <a:lstStyle/>
          <a:p>
            <a:fld id="{9BA15CD2-76D6-4EFE-91D9-7087332E3318}" type="slidenum">
              <a:rPr lang="en-IN" smtClean="0"/>
              <a:t>‹#›</a:t>
            </a:fld>
            <a:endParaRPr lang="en-IN"/>
          </a:p>
        </p:txBody>
      </p:sp>
      <p:grpSp>
        <p:nvGrpSpPr>
          <p:cNvPr id="12" name="Group 11"/>
          <p:cNvGrpSpPr/>
          <p:nvPr userDrawn="1"/>
        </p:nvGrpSpPr>
        <p:grpSpPr>
          <a:xfrm>
            <a:off x="4862837" y="6212514"/>
            <a:ext cx="2313924" cy="600635"/>
            <a:chOff x="9682912" y="8965"/>
            <a:chExt cx="2402541" cy="600635"/>
          </a:xfrm>
        </p:grpSpPr>
        <p:sp>
          <p:nvSpPr>
            <p:cNvPr id="13" name="Rounded Rectangle 12"/>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4"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pic>
        <p:nvPicPr>
          <p:cNvPr id="2" name="Picture 1">
            <a:extLst>
              <a:ext uri="{FF2B5EF4-FFF2-40B4-BE49-F238E27FC236}">
                <a16:creationId xmlns:a16="http://schemas.microsoft.com/office/drawing/2014/main" id="{D279472C-35DE-C259-8137-352893A9BE1E}"/>
              </a:ext>
            </a:extLst>
          </p:cNvPr>
          <p:cNvPicPr>
            <a:picLocks noChangeAspect="1"/>
          </p:cNvPicPr>
          <p:nvPr userDrawn="1"/>
        </p:nvPicPr>
        <p:blipFill rotWithShape="1">
          <a:blip r:embed="rId2"/>
          <a:srcRect t="13833"/>
          <a:stretch/>
        </p:blipFill>
        <p:spPr>
          <a:xfrm>
            <a:off x="224117" y="81266"/>
            <a:ext cx="2207505" cy="997630"/>
          </a:xfrm>
          <a:prstGeom prst="rect">
            <a:avLst/>
          </a:prstGeom>
        </p:spPr>
      </p:pic>
      <p:pic>
        <p:nvPicPr>
          <p:cNvPr id="8" name="Picture 7">
            <a:extLst>
              <a:ext uri="{FF2B5EF4-FFF2-40B4-BE49-F238E27FC236}">
                <a16:creationId xmlns:a16="http://schemas.microsoft.com/office/drawing/2014/main" id="{B5A85AF4-F6B9-1875-3BDF-805EC53592D9}"/>
              </a:ext>
            </a:extLst>
          </p:cNvPr>
          <p:cNvPicPr>
            <a:picLocks noChangeAspect="1"/>
          </p:cNvPicPr>
          <p:nvPr userDrawn="1"/>
        </p:nvPicPr>
        <p:blipFill>
          <a:blip r:embed="rId3"/>
          <a:stretch>
            <a:fillRect/>
          </a:stretch>
        </p:blipFill>
        <p:spPr>
          <a:xfrm>
            <a:off x="10531781" y="0"/>
            <a:ext cx="1436102" cy="869947"/>
          </a:xfrm>
          <a:prstGeom prst="rect">
            <a:avLst/>
          </a:prstGeom>
        </p:spPr>
      </p:pic>
    </p:spTree>
    <p:extLst>
      <p:ext uri="{BB962C8B-B14F-4D97-AF65-F5344CB8AC3E}">
        <p14:creationId xmlns:p14="http://schemas.microsoft.com/office/powerpoint/2010/main" val="1153109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normAutofit/>
          </a:bodyPr>
          <a:lstStyle>
            <a:lvl1pPr>
              <a:defRPr sz="5400">
                <a:solidFill>
                  <a:srgbClr val="C00000"/>
                </a:solidFill>
                <a:latin typeface="Bookman Old Style" panose="02050604050505020204" pitchFamily="18" charset="0"/>
              </a:defRPr>
            </a:lvl1pPr>
          </a:lstStyle>
          <a:p>
            <a:r>
              <a:rPr lang="en-US" dirty="0"/>
              <a:t>Click to edit Master title style</a:t>
            </a:r>
            <a:endParaRPr lang="en-IN"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rgbClr val="002060"/>
                </a:solidFill>
                <a:latin typeface="Bookman Old Style" panose="020506040505050202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3E121CB2-2EF3-47E5-83C4-07D8FF657D5A}" type="datetime2">
              <a:rPr lang="en-IN" smtClean="0"/>
              <a:t>Monday, 30 December 2024</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grpSp>
        <p:nvGrpSpPr>
          <p:cNvPr id="12" name="Group 11"/>
          <p:cNvGrpSpPr/>
          <p:nvPr userDrawn="1"/>
        </p:nvGrpSpPr>
        <p:grpSpPr>
          <a:xfrm>
            <a:off x="9842217" y="17838"/>
            <a:ext cx="2313924" cy="600635"/>
            <a:chOff x="9682912" y="8965"/>
            <a:chExt cx="2402541" cy="600635"/>
          </a:xfrm>
        </p:grpSpPr>
        <p:sp>
          <p:nvSpPr>
            <p:cNvPr id="13" name="Rounded Rectangle 12"/>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4"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724077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0" name="Group 9"/>
          <p:cNvGrpSpPr/>
          <p:nvPr userDrawn="1"/>
        </p:nvGrpSpPr>
        <p:grpSpPr>
          <a:xfrm>
            <a:off x="-35002" y="0"/>
            <a:ext cx="12191145" cy="6858000"/>
            <a:chOff x="-35003" y="-1"/>
            <a:chExt cx="12191144" cy="6858000"/>
          </a:xfrm>
        </p:grpSpPr>
        <p:sp>
          <p:nvSpPr>
            <p:cNvPr id="11" name="Rectangle 10"/>
            <p:cNvSpPr/>
            <p:nvPr userDrawn="1"/>
          </p:nvSpPr>
          <p:spPr>
            <a:xfrm>
              <a:off x="-35003" y="-1"/>
              <a:ext cx="12191144"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grpSp>
          <p:nvGrpSpPr>
            <p:cNvPr id="12" name="Group 11"/>
            <p:cNvGrpSpPr/>
            <p:nvPr userDrawn="1"/>
          </p:nvGrpSpPr>
          <p:grpSpPr>
            <a:xfrm>
              <a:off x="0" y="-1"/>
              <a:ext cx="1174375" cy="932329"/>
              <a:chOff x="1" y="0"/>
              <a:chExt cx="995082" cy="663388"/>
            </a:xfrm>
          </p:grpSpPr>
          <p:sp>
            <p:nvSpPr>
              <p:cNvPr id="13"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4"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sp>
        <p:nvSpPr>
          <p:cNvPr id="2" name="Title 1"/>
          <p:cNvSpPr>
            <a:spLocks noGrp="1"/>
          </p:cNvSpPr>
          <p:nvPr>
            <p:ph type="title"/>
          </p:nvPr>
        </p:nvSpPr>
        <p:spPr>
          <a:xfrm>
            <a:off x="839789"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E72AF35-25D4-42D1-A380-D94D58C90ED6}" type="datetime2">
              <a:rPr lang="en-IN" smtClean="0"/>
              <a:t>Monday, 30 December 2024</a:t>
            </a:fld>
            <a:endParaRPr lang="en-IN"/>
          </a:p>
        </p:txBody>
      </p:sp>
      <p:sp>
        <p:nvSpPr>
          <p:cNvPr id="8" name="Footer Placeholder 7"/>
          <p:cNvSpPr>
            <a:spLocks noGrp="1"/>
          </p:cNvSpPr>
          <p:nvPr>
            <p:ph type="ftr" sz="quarter" idx="11"/>
          </p:nvPr>
        </p:nvSpPr>
        <p:spPr/>
        <p:txBody>
          <a:bodyPr/>
          <a:lstStyle>
            <a:lvl1pPr>
              <a:defRPr b="1">
                <a:solidFill>
                  <a:srgbClr val="C00000"/>
                </a:solidFill>
                <a:latin typeface="Bookman Old Style" panose="02050604050505020204" pitchFamily="18" charset="0"/>
              </a:defRPr>
            </a:lvl1pPr>
          </a:lstStyle>
          <a:p>
            <a:r>
              <a:rPr lang="en-GB" dirty="0"/>
              <a:t>RV COLLEGE OF ENGINEERING</a:t>
            </a:r>
            <a:endParaRPr lang="en-IN" dirty="0"/>
          </a:p>
        </p:txBody>
      </p:sp>
      <p:sp>
        <p:nvSpPr>
          <p:cNvPr id="9" name="Slide Number Placeholder 8"/>
          <p:cNvSpPr>
            <a:spLocks noGrp="1"/>
          </p:cNvSpPr>
          <p:nvPr>
            <p:ph type="sldNum" sz="quarter" idx="12"/>
          </p:nvPr>
        </p:nvSpPr>
        <p:spPr/>
        <p:txBody>
          <a:bodyPr/>
          <a:lstStyle/>
          <a:p>
            <a:fld id="{9BA15CD2-76D6-4EFE-91D9-7087332E3318}" type="slidenum">
              <a:rPr lang="en-IN" smtClean="0"/>
              <a:t>‹#›</a:t>
            </a:fld>
            <a:endParaRPr lang="en-IN"/>
          </a:p>
        </p:txBody>
      </p:sp>
      <p:grpSp>
        <p:nvGrpSpPr>
          <p:cNvPr id="15" name="Group 14"/>
          <p:cNvGrpSpPr/>
          <p:nvPr userDrawn="1"/>
        </p:nvGrpSpPr>
        <p:grpSpPr>
          <a:xfrm>
            <a:off x="9842217" y="17838"/>
            <a:ext cx="2313924" cy="600635"/>
            <a:chOff x="9682912" y="8965"/>
            <a:chExt cx="2402541" cy="600635"/>
          </a:xfrm>
        </p:grpSpPr>
        <p:sp>
          <p:nvSpPr>
            <p:cNvPr id="16" name="Rounded Rectangle 15"/>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7"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2192387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userDrawn="1"/>
        </p:nvSpPr>
        <p:spPr>
          <a:xfrm>
            <a:off x="856" y="0"/>
            <a:ext cx="12191145"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0974DEC-F31F-442A-AF7E-39FCF65F09EF}" type="datetime2">
              <a:rPr lang="en-IN" smtClean="0"/>
              <a:t>Monday, 30 December 2024</a:t>
            </a:fld>
            <a:endParaRPr lang="en-IN"/>
          </a:p>
        </p:txBody>
      </p:sp>
      <p:sp>
        <p:nvSpPr>
          <p:cNvPr id="4" name="Footer Placeholder 3"/>
          <p:cNvSpPr>
            <a:spLocks noGrp="1"/>
          </p:cNvSpPr>
          <p:nvPr>
            <p:ph type="ftr" sz="quarter" idx="11"/>
          </p:nvPr>
        </p:nvSpPr>
        <p:spPr/>
        <p:txBody>
          <a:bodyPr/>
          <a:lstStyle/>
          <a:p>
            <a:r>
              <a:rPr lang="en-IN"/>
              <a:t>RV COLLEGE OF ENGINEERING</a:t>
            </a:r>
          </a:p>
        </p:txBody>
      </p:sp>
      <p:sp>
        <p:nvSpPr>
          <p:cNvPr id="5" name="Slide Number Placeholder 4"/>
          <p:cNvSpPr>
            <a:spLocks noGrp="1"/>
          </p:cNvSpPr>
          <p:nvPr>
            <p:ph type="sldNum" sz="quarter" idx="12"/>
          </p:nvPr>
        </p:nvSpPr>
        <p:spPr/>
        <p:txBody>
          <a:bodyPr/>
          <a:lstStyle/>
          <a:p>
            <a:fld id="{9BA15CD2-76D6-4EFE-91D9-7087332E3318}" type="slidenum">
              <a:rPr lang="en-IN" smtClean="0"/>
              <a:t>‹#›</a:t>
            </a:fld>
            <a:endParaRPr lang="en-IN"/>
          </a:p>
        </p:txBody>
      </p:sp>
      <p:grpSp>
        <p:nvGrpSpPr>
          <p:cNvPr id="7" name="Group 6"/>
          <p:cNvGrpSpPr/>
          <p:nvPr userDrawn="1"/>
        </p:nvGrpSpPr>
        <p:grpSpPr>
          <a:xfrm>
            <a:off x="0" y="1"/>
            <a:ext cx="1174375" cy="932329"/>
            <a:chOff x="1" y="0"/>
            <a:chExt cx="995082" cy="663388"/>
          </a:xfrm>
        </p:grpSpPr>
        <p:sp>
          <p:nvSpPr>
            <p:cNvPr id="8"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9"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nvGrpSpPr>
          <p:cNvPr id="10" name="Group 9"/>
          <p:cNvGrpSpPr/>
          <p:nvPr userDrawn="1"/>
        </p:nvGrpSpPr>
        <p:grpSpPr>
          <a:xfrm>
            <a:off x="9842217" y="17838"/>
            <a:ext cx="2313924" cy="600635"/>
            <a:chOff x="9682912" y="8965"/>
            <a:chExt cx="2402541" cy="600635"/>
          </a:xfrm>
        </p:grpSpPr>
        <p:sp>
          <p:nvSpPr>
            <p:cNvPr id="11" name="Rounded Rectangle 10"/>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2"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44950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4BAEB3-0664-49E1-9FE0-BA29E4444757}" type="datetime2">
              <a:rPr lang="en-IN" smtClean="0"/>
              <a:t>Monday, 30 December 2024</a:t>
            </a:fld>
            <a:endParaRPr lang="en-IN"/>
          </a:p>
        </p:txBody>
      </p:sp>
      <p:sp>
        <p:nvSpPr>
          <p:cNvPr id="3" name="Footer Placeholder 2"/>
          <p:cNvSpPr>
            <a:spLocks noGrp="1"/>
          </p:cNvSpPr>
          <p:nvPr>
            <p:ph type="ftr" sz="quarter" idx="11"/>
          </p:nvPr>
        </p:nvSpPr>
        <p:spPr/>
        <p:txBody>
          <a:bodyPr/>
          <a:lstStyle/>
          <a:p>
            <a:r>
              <a:rPr lang="en-IN"/>
              <a:t>RV COLLEGE OF ENGINEERING</a:t>
            </a:r>
          </a:p>
        </p:txBody>
      </p:sp>
      <p:sp>
        <p:nvSpPr>
          <p:cNvPr id="4" name="Slide Number Placeholder 3"/>
          <p:cNvSpPr>
            <a:spLocks noGrp="1"/>
          </p:cNvSpPr>
          <p:nvPr>
            <p:ph type="sldNum" sz="quarter" idx="12"/>
          </p:nvPr>
        </p:nvSpPr>
        <p:spPr/>
        <p:txBody>
          <a:bodyPr/>
          <a:lstStyle/>
          <a:p>
            <a:fld id="{9BA15CD2-76D6-4EFE-91D9-7087332E3318}" type="slidenum">
              <a:rPr lang="en-IN" smtClean="0"/>
              <a:t>‹#›</a:t>
            </a:fld>
            <a:endParaRPr lang="en-IN"/>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51096" y="1605964"/>
            <a:ext cx="5889812" cy="3646074"/>
          </a:xfrm>
          <a:prstGeom prst="rect">
            <a:avLst/>
          </a:prstGeom>
        </p:spPr>
      </p:pic>
    </p:spTree>
    <p:extLst>
      <p:ext uri="{BB962C8B-B14F-4D97-AF65-F5344CB8AC3E}">
        <p14:creationId xmlns:p14="http://schemas.microsoft.com/office/powerpoint/2010/main" val="339075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p:cNvGrpSpPr/>
          <p:nvPr userDrawn="1"/>
        </p:nvGrpSpPr>
        <p:grpSpPr>
          <a:xfrm>
            <a:off x="-35002" y="0"/>
            <a:ext cx="12191145" cy="6858000"/>
            <a:chOff x="-35003" y="-1"/>
            <a:chExt cx="12191144" cy="6858000"/>
          </a:xfrm>
        </p:grpSpPr>
        <p:sp>
          <p:nvSpPr>
            <p:cNvPr id="9" name="Rectangle 8"/>
            <p:cNvSpPr/>
            <p:nvPr userDrawn="1"/>
          </p:nvSpPr>
          <p:spPr>
            <a:xfrm>
              <a:off x="-35003" y="-1"/>
              <a:ext cx="12191144"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grpSp>
          <p:nvGrpSpPr>
            <p:cNvPr id="10" name="Group 9"/>
            <p:cNvGrpSpPr/>
            <p:nvPr userDrawn="1"/>
          </p:nvGrpSpPr>
          <p:grpSpPr>
            <a:xfrm>
              <a:off x="0" y="-1"/>
              <a:ext cx="1174375" cy="932329"/>
              <a:chOff x="1" y="0"/>
              <a:chExt cx="995082" cy="663388"/>
            </a:xfrm>
          </p:grpSpPr>
          <p:sp>
            <p:nvSpPr>
              <p:cNvPr id="11"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2"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1F77AC3-F117-417D-9C17-587E6F3BE300}" type="datetime2">
              <a:rPr lang="en-IN" smtClean="0"/>
              <a:t>Monday, 30 December 2024</a:t>
            </a:fld>
            <a:endParaRPr lang="en-IN"/>
          </a:p>
        </p:txBody>
      </p:sp>
      <p:sp>
        <p:nvSpPr>
          <p:cNvPr id="6" name="Footer Placeholder 5"/>
          <p:cNvSpPr>
            <a:spLocks noGrp="1"/>
          </p:cNvSpPr>
          <p:nvPr>
            <p:ph type="ftr" sz="quarter" idx="11"/>
          </p:nvPr>
        </p:nvSpPr>
        <p:spPr/>
        <p:txBody>
          <a:bodyPr/>
          <a:lstStyle/>
          <a:p>
            <a:r>
              <a:rPr lang="en-IN"/>
              <a:t>RV COLLEGE OF ENGINEERING</a:t>
            </a:r>
          </a:p>
        </p:txBody>
      </p:sp>
      <p:sp>
        <p:nvSpPr>
          <p:cNvPr id="7" name="Slide Number Placeholder 6"/>
          <p:cNvSpPr>
            <a:spLocks noGrp="1"/>
          </p:cNvSpPr>
          <p:nvPr>
            <p:ph type="sldNum" sz="quarter" idx="12"/>
          </p:nvPr>
        </p:nvSpPr>
        <p:spPr/>
        <p:txBody>
          <a:bodyPr/>
          <a:lstStyle/>
          <a:p>
            <a:fld id="{9BA15CD2-76D6-4EFE-91D9-7087332E3318}" type="slidenum">
              <a:rPr lang="en-IN" smtClean="0"/>
              <a:t>‹#›</a:t>
            </a:fld>
            <a:endParaRPr lang="en-IN"/>
          </a:p>
        </p:txBody>
      </p:sp>
      <p:grpSp>
        <p:nvGrpSpPr>
          <p:cNvPr id="13" name="Group 12"/>
          <p:cNvGrpSpPr/>
          <p:nvPr userDrawn="1"/>
        </p:nvGrpSpPr>
        <p:grpSpPr>
          <a:xfrm>
            <a:off x="9842217" y="17838"/>
            <a:ext cx="2313924" cy="600635"/>
            <a:chOff x="9682912" y="8965"/>
            <a:chExt cx="2402541" cy="600635"/>
          </a:xfrm>
        </p:grpSpPr>
        <p:sp>
          <p:nvSpPr>
            <p:cNvPr id="14" name="Rounded Rectangle 13"/>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5"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986681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51A392-D277-4C60-80CA-4155BF24A22F}" type="datetime2">
              <a:rPr lang="en-IN" smtClean="0"/>
              <a:t>Monday, 30 December 2024</a:t>
            </a:fld>
            <a:endParaRPr lang="en-IN"/>
          </a:p>
        </p:txBody>
      </p:sp>
      <p:sp>
        <p:nvSpPr>
          <p:cNvPr id="6" name="Footer Placeholder 5"/>
          <p:cNvSpPr>
            <a:spLocks noGrp="1"/>
          </p:cNvSpPr>
          <p:nvPr>
            <p:ph type="ftr" sz="quarter" idx="11"/>
          </p:nvPr>
        </p:nvSpPr>
        <p:spPr/>
        <p:txBody>
          <a:bodyPr/>
          <a:lstStyle/>
          <a:p>
            <a:r>
              <a:rPr lang="en-IN"/>
              <a:t>RV COLLEGE OF ENGINEERING</a:t>
            </a:r>
          </a:p>
        </p:txBody>
      </p:sp>
      <p:sp>
        <p:nvSpPr>
          <p:cNvPr id="7" name="Slide Number Placeholder 6"/>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71507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457930-B2AB-48F5-8AD5-4A9179262E34}" type="datetime2">
              <a:rPr lang="en-IN" smtClean="0"/>
              <a:t>Monday, 30 December 2024</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3216580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120EB2B-9CFC-43E8-806F-531A6B6EF1FD}" type="datetime2">
              <a:rPr lang="en-IN" smtClean="0"/>
              <a:t>Monday, 30 December 2024</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1216403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2" name="Google Shape;12;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3" name="Google Shape;13;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pic>
        <p:nvPicPr>
          <p:cNvPr id="14" name="Google Shape;14;p2"/>
          <p:cNvPicPr preferRelativeResize="0"/>
          <p:nvPr/>
        </p:nvPicPr>
        <p:blipFill>
          <a:blip r:embed="rId2">
            <a:alphaModFix/>
          </a:blip>
          <a:stretch>
            <a:fillRect/>
          </a:stretch>
        </p:blipFill>
        <p:spPr>
          <a:xfrm>
            <a:off x="4617618" y="6306735"/>
            <a:ext cx="2956765" cy="449667"/>
          </a:xfrm>
          <a:prstGeom prst="rect">
            <a:avLst/>
          </a:prstGeom>
          <a:noFill/>
          <a:ln>
            <a:noFill/>
          </a:ln>
        </p:spPr>
      </p:pic>
    </p:spTree>
    <p:extLst>
      <p:ext uri="{BB962C8B-B14F-4D97-AF65-F5344CB8AC3E}">
        <p14:creationId xmlns:p14="http://schemas.microsoft.com/office/powerpoint/2010/main" val="749596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522300" y="12454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3"/>
          <p:cNvSpPr txBox="1">
            <a:spLocks noGrp="1"/>
          </p:cNvSpPr>
          <p:nvPr>
            <p:ph type="body" idx="1"/>
          </p:nvPr>
        </p:nvSpPr>
        <p:spPr>
          <a:xfrm>
            <a:off x="337667" y="2476667"/>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8" name="Google Shape;18;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pic>
        <p:nvPicPr>
          <p:cNvPr id="19" name="Google Shape;19;p3"/>
          <p:cNvPicPr preferRelativeResize="0"/>
          <p:nvPr/>
        </p:nvPicPr>
        <p:blipFill>
          <a:blip r:embed="rId2">
            <a:alphaModFix/>
          </a:blip>
          <a:stretch>
            <a:fillRect/>
          </a:stretch>
        </p:blipFill>
        <p:spPr>
          <a:xfrm>
            <a:off x="9311467" y="553568"/>
            <a:ext cx="2632068" cy="400233"/>
          </a:xfrm>
          <a:prstGeom prst="rect">
            <a:avLst/>
          </a:prstGeom>
          <a:noFill/>
          <a:ln>
            <a:noFill/>
          </a:ln>
        </p:spPr>
      </p:pic>
    </p:spTree>
    <p:extLst>
      <p:ext uri="{BB962C8B-B14F-4D97-AF65-F5344CB8AC3E}">
        <p14:creationId xmlns:p14="http://schemas.microsoft.com/office/powerpoint/2010/main" val="1618610960"/>
      </p:ext>
    </p:extLst>
  </p:cSld>
  <p:clrMapOvr>
    <a:masterClrMapping/>
  </p:clrMapOvr>
  <p:extLst mod="1">
    <p:ext uri="{DCECCB84-F9BA-43D5-87BE-67443E8EF086}">
      <p15:sldGuideLst xmlns:p15="http://schemas.microsoft.com/office/powerpoint/2012/main">
        <p15:guide id="1" orient="horz" pos="413">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522300" y="1035333"/>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4"/>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2899322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522300" y="1035333"/>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9441080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6"/>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0003250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9613053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8"/>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8"/>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8"/>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8"/>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3642839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9"/>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1828477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0"/>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0"/>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210034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6.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5.pn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D0449F-E26E-4CC2-B153-3EB375A0CF11}" type="datetime2">
              <a:rPr lang="en-IN" smtClean="0"/>
              <a:t>Monday, 30 December 2024</a:t>
            </a:fld>
            <a:endParaRPr lang="en-IN"/>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RV COLLEGE OF ENGINEERING</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A15CD2-76D6-4EFE-91D9-7087332E3318}" type="slidenum">
              <a:rPr lang="en-IN" smtClean="0"/>
              <a:t>‹#›</a:t>
            </a:fld>
            <a:endParaRPr lang="en-IN"/>
          </a:p>
        </p:txBody>
      </p:sp>
    </p:spTree>
    <p:extLst>
      <p:ext uri="{BB962C8B-B14F-4D97-AF65-F5344CB8AC3E}">
        <p14:creationId xmlns:p14="http://schemas.microsoft.com/office/powerpoint/2010/main" val="362659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22300" y="1035333"/>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2009067"/>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GB" smtClean="0"/>
              <a:pPr/>
              <a:t>‹#›</a:t>
            </a:fld>
            <a:endParaRPr lang="en-GB"/>
          </a:p>
        </p:txBody>
      </p:sp>
      <p:pic>
        <p:nvPicPr>
          <p:cNvPr id="9" name="Google Shape;9;p1"/>
          <p:cNvPicPr preferRelativeResize="0"/>
          <p:nvPr/>
        </p:nvPicPr>
        <p:blipFill>
          <a:blip r:embed="rId12">
            <a:alphaModFix/>
          </a:blip>
          <a:stretch>
            <a:fillRect/>
          </a:stretch>
        </p:blipFill>
        <p:spPr>
          <a:xfrm>
            <a:off x="288001" y="288001"/>
            <a:ext cx="2010241" cy="863999"/>
          </a:xfrm>
          <a:prstGeom prst="rect">
            <a:avLst/>
          </a:prstGeom>
          <a:noFill/>
          <a:ln>
            <a:noFill/>
          </a:ln>
        </p:spPr>
      </p:pic>
    </p:spTree>
    <p:extLst>
      <p:ext uri="{BB962C8B-B14F-4D97-AF65-F5344CB8AC3E}">
        <p14:creationId xmlns:p14="http://schemas.microsoft.com/office/powerpoint/2010/main" val="414790376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microsoft.com/office/2007/relationships/hdphoto" Target="../media/hdphoto2.wdp"/></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microsoft.com/office/2007/relationships/hdphoto" Target="../media/hdphoto3.wdp"/></Relationships>
</file>

<file path=ppt/slides/_rels/slide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microsoft.com/office/2007/relationships/hdphoto" Target="../media/hdphoto4.wdp"/></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0.png"/><Relationship Id="rId4"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microsoft.com/office/2007/relationships/hdphoto" Target="../media/hdphoto5.wdp"/></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2.png"/><Relationship Id="rId4"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4.xml"/><Relationship Id="rId1" Type="http://schemas.openxmlformats.org/officeDocument/2006/relationships/slideLayout" Target="../slideLayouts/slideLayout13.xml"/><Relationship Id="rId5" Type="http://schemas.microsoft.com/office/2007/relationships/hdphoto" Target="../media/hdphoto6.wdp"/><Relationship Id="rId4" Type="http://schemas.openxmlformats.org/officeDocument/2006/relationships/image" Target="../media/image27.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13.xml"/><Relationship Id="rId6" Type="http://schemas.microsoft.com/office/2007/relationships/hdphoto" Target="../media/hdphoto8.wdp"/><Relationship Id="rId5" Type="http://schemas.openxmlformats.org/officeDocument/2006/relationships/image" Target="../media/image29.png"/><Relationship Id="rId4" Type="http://schemas.microsoft.com/office/2007/relationships/hdphoto" Target="../media/hdphoto7.wdp"/></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8.xml"/><Relationship Id="rId1" Type="http://schemas.openxmlformats.org/officeDocument/2006/relationships/slideLayout" Target="../slideLayouts/slideLayout13.xml"/><Relationship Id="rId6" Type="http://schemas.microsoft.com/office/2007/relationships/hdphoto" Target="../media/hdphoto10.wdp"/><Relationship Id="rId5" Type="http://schemas.openxmlformats.org/officeDocument/2006/relationships/image" Target="../media/image31.png"/><Relationship Id="rId4" Type="http://schemas.microsoft.com/office/2007/relationships/hdphoto" Target="../media/hdphoto9.wdp"/></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0.xml"/><Relationship Id="rId1" Type="http://schemas.openxmlformats.org/officeDocument/2006/relationships/slideLayout" Target="../slideLayouts/slideLayout13.xml"/><Relationship Id="rId6" Type="http://schemas.microsoft.com/office/2007/relationships/hdphoto" Target="../media/hdphoto12.wdp"/><Relationship Id="rId5" Type="http://schemas.openxmlformats.org/officeDocument/2006/relationships/image" Target="../media/image33.png"/><Relationship Id="rId4" Type="http://schemas.microsoft.com/office/2007/relationships/hdphoto" Target="../media/hdphoto11.wdp"/></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2.xml"/><Relationship Id="rId1" Type="http://schemas.openxmlformats.org/officeDocument/2006/relationships/slideLayout" Target="../slideLayouts/slideLayout13.xml"/><Relationship Id="rId6" Type="http://schemas.microsoft.com/office/2007/relationships/hdphoto" Target="../media/hdphoto14.wdp"/><Relationship Id="rId5" Type="http://schemas.openxmlformats.org/officeDocument/2006/relationships/image" Target="../media/image35.png"/><Relationship Id="rId4" Type="http://schemas.microsoft.com/office/2007/relationships/hdphoto" Target="../media/hdphoto13.wdp"/></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10DDCDD-DF57-4F83-B06C-20CB7CA696EA}"/>
              </a:ext>
            </a:extLst>
          </p:cNvPr>
          <p:cNvSpPr>
            <a:spLocks noGrp="1"/>
          </p:cNvSpPr>
          <p:nvPr>
            <p:ph type="ctrTitle"/>
          </p:nvPr>
        </p:nvSpPr>
        <p:spPr>
          <a:xfrm>
            <a:off x="1353751" y="1651741"/>
            <a:ext cx="9144000" cy="1655762"/>
          </a:xfrm>
        </p:spPr>
        <p:txBody>
          <a:bodyPr>
            <a:normAutofit fontScale="90000"/>
          </a:bodyPr>
          <a:lstStyle/>
          <a:p>
            <a:r>
              <a:rPr lang="en-US" dirty="0"/>
              <a:t>Unit -5</a:t>
            </a:r>
            <a:br>
              <a:rPr lang="en-US" dirty="0"/>
            </a:br>
            <a:endParaRPr lang="en-IN" dirty="0"/>
          </a:p>
        </p:txBody>
      </p:sp>
      <p:sp>
        <p:nvSpPr>
          <p:cNvPr id="11" name="Subtitle 10">
            <a:extLst>
              <a:ext uri="{FF2B5EF4-FFF2-40B4-BE49-F238E27FC236}">
                <a16:creationId xmlns:a16="http://schemas.microsoft.com/office/drawing/2014/main" id="{6CED0943-E6D8-4946-A181-EBBA926FA4E0}"/>
              </a:ext>
            </a:extLst>
          </p:cNvPr>
          <p:cNvSpPr>
            <a:spLocks noGrp="1"/>
          </p:cNvSpPr>
          <p:nvPr>
            <p:ph type="subTitle" idx="1"/>
          </p:nvPr>
        </p:nvSpPr>
        <p:spPr>
          <a:xfrm>
            <a:off x="1524000" y="2866335"/>
            <a:ext cx="9144000" cy="1004870"/>
          </a:xfrm>
        </p:spPr>
        <p:txBody>
          <a:bodyPr>
            <a:noAutofit/>
          </a:bodyPr>
          <a:lstStyle/>
          <a:p>
            <a:r>
              <a:rPr lang="en-US" sz="3200" b="1" dirty="0">
                <a:solidFill>
                  <a:srgbClr val="0070C0"/>
                </a:solidFill>
                <a:latin typeface="Bookman Old Style" panose="02050604050505020204" pitchFamily="18" charset="0"/>
              </a:rPr>
              <a:t>Mechatronics </a:t>
            </a:r>
          </a:p>
          <a:p>
            <a:r>
              <a:rPr lang="en-US" sz="3200" b="1" dirty="0">
                <a:solidFill>
                  <a:srgbClr val="0070C0"/>
                </a:solidFill>
                <a:latin typeface="Bookman Old Style" panose="02050604050505020204" pitchFamily="18" charset="0"/>
              </a:rPr>
              <a:t>Robotics</a:t>
            </a:r>
            <a:endParaRPr lang="en-IN" sz="3200" b="1" dirty="0">
              <a:solidFill>
                <a:srgbClr val="0070C0"/>
              </a:solidFill>
              <a:latin typeface="Bookman Old Style" panose="02050604050505020204" pitchFamily="18" charset="0"/>
            </a:endParaRPr>
          </a:p>
        </p:txBody>
      </p:sp>
      <p:sp>
        <p:nvSpPr>
          <p:cNvPr id="3" name="Date Placeholder 2">
            <a:extLst>
              <a:ext uri="{FF2B5EF4-FFF2-40B4-BE49-F238E27FC236}">
                <a16:creationId xmlns:a16="http://schemas.microsoft.com/office/drawing/2014/main" id="{DE70B4D7-F24C-84B5-7195-75C970F86F5B}"/>
              </a:ext>
            </a:extLst>
          </p:cNvPr>
          <p:cNvSpPr>
            <a:spLocks noGrp="1"/>
          </p:cNvSpPr>
          <p:nvPr>
            <p:ph type="dt" sz="half" idx="10"/>
          </p:nvPr>
        </p:nvSpPr>
        <p:spPr/>
        <p:txBody>
          <a:bodyPr/>
          <a:lstStyle/>
          <a:p>
            <a:pPr algn="ctr"/>
            <a:fld id="{6BA3F8B8-C75C-44FF-9C37-B9B69285372F}" type="datetime2">
              <a:rPr lang="en-IN" smtClean="0"/>
              <a:t>Monday, 30 December 2024</a:t>
            </a:fld>
            <a:endParaRPr lang="en-IN" dirty="0"/>
          </a:p>
        </p:txBody>
      </p:sp>
      <p:sp>
        <p:nvSpPr>
          <p:cNvPr id="4" name="Slide Number Placeholder 3">
            <a:extLst>
              <a:ext uri="{FF2B5EF4-FFF2-40B4-BE49-F238E27FC236}">
                <a16:creationId xmlns:a16="http://schemas.microsoft.com/office/drawing/2014/main" id="{0F02D34F-DFC1-8A54-B58D-C1FEFBC1C904}"/>
              </a:ext>
            </a:extLst>
          </p:cNvPr>
          <p:cNvSpPr>
            <a:spLocks noGrp="1"/>
          </p:cNvSpPr>
          <p:nvPr>
            <p:ph type="sldNum" sz="quarter" idx="12"/>
          </p:nvPr>
        </p:nvSpPr>
        <p:spPr/>
        <p:txBody>
          <a:bodyPr/>
          <a:lstStyle/>
          <a:p>
            <a:fld id="{9BA15CD2-76D6-4EFE-91D9-7087332E3318}" type="slidenum">
              <a:rPr lang="en-IN" smtClean="0"/>
              <a:pPr/>
              <a:t>1</a:t>
            </a:fld>
            <a:endParaRPr lang="en-IN" dirty="0"/>
          </a:p>
        </p:txBody>
      </p:sp>
      <p:sp>
        <p:nvSpPr>
          <p:cNvPr id="7" name="TextBox 6">
            <a:extLst>
              <a:ext uri="{FF2B5EF4-FFF2-40B4-BE49-F238E27FC236}">
                <a16:creationId xmlns:a16="http://schemas.microsoft.com/office/drawing/2014/main" id="{1F0B047E-D594-5473-C960-EB8314137B12}"/>
              </a:ext>
            </a:extLst>
          </p:cNvPr>
          <p:cNvSpPr txBox="1"/>
          <p:nvPr/>
        </p:nvSpPr>
        <p:spPr>
          <a:xfrm>
            <a:off x="2285999" y="145891"/>
            <a:ext cx="8155859" cy="646331"/>
          </a:xfrm>
          <a:prstGeom prst="rect">
            <a:avLst/>
          </a:prstGeom>
          <a:solidFill>
            <a:schemeClr val="bg1"/>
          </a:solidFill>
        </p:spPr>
        <p:txBody>
          <a:bodyPr wrap="square" rtlCol="0">
            <a:spAutoFit/>
          </a:bodyPr>
          <a:lstStyle>
            <a:defPPr>
              <a:defRPr lang="en-US"/>
            </a:defPPr>
            <a:lvl1pPr algn="ctr">
              <a:defRPr sz="3600" b="1">
                <a:solidFill>
                  <a:srgbClr val="002060"/>
                </a:solidFill>
                <a:latin typeface="Bookman Old Style" panose="02050604050505020204" pitchFamily="18" charset="0"/>
                <a:cs typeface="Arial" panose="020B0604020202020204" pitchFamily="34" charset="0"/>
              </a:defRPr>
            </a:lvl1pPr>
          </a:lstStyle>
          <a:p>
            <a:endParaRPr lang="en-IN" dirty="0"/>
          </a:p>
        </p:txBody>
      </p:sp>
      <p:sp>
        <p:nvSpPr>
          <p:cNvPr id="9" name="Rectangle 8">
            <a:extLst>
              <a:ext uri="{FF2B5EF4-FFF2-40B4-BE49-F238E27FC236}">
                <a16:creationId xmlns:a16="http://schemas.microsoft.com/office/drawing/2014/main" id="{DA883623-3B65-4DB0-8451-F05E9D488720}"/>
              </a:ext>
            </a:extLst>
          </p:cNvPr>
          <p:cNvSpPr/>
          <p:nvPr/>
        </p:nvSpPr>
        <p:spPr>
          <a:xfrm>
            <a:off x="10441858" y="119387"/>
            <a:ext cx="1575330" cy="9686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54471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15D2F06-9D80-4C9F-BF35-2AAFABCF13A0}"/>
              </a:ext>
            </a:extLst>
          </p:cNvPr>
          <p:cNvSpPr>
            <a:spLocks noGrp="1"/>
          </p:cNvSpPr>
          <p:nvPr>
            <p:ph type="dt" sz="half" idx="10"/>
          </p:nvPr>
        </p:nvSpPr>
        <p:spPr/>
        <p:txBody>
          <a:bodyPr/>
          <a:lstStyle/>
          <a:p>
            <a:pPr algn="ctr"/>
            <a:fld id="{6BA3F8B8-C75C-44FF-9C37-B9B69285372F}" type="datetime2">
              <a:rPr lang="en-IN" smtClean="0"/>
              <a:t>Monday, 30 December 2024</a:t>
            </a:fld>
            <a:endParaRPr lang="en-IN" dirty="0"/>
          </a:p>
        </p:txBody>
      </p:sp>
      <p:sp>
        <p:nvSpPr>
          <p:cNvPr id="4" name="Slide Number Placeholder 3">
            <a:extLst>
              <a:ext uri="{FF2B5EF4-FFF2-40B4-BE49-F238E27FC236}">
                <a16:creationId xmlns:a16="http://schemas.microsoft.com/office/drawing/2014/main" id="{76223F97-7264-4464-9ABF-67079758853E}"/>
              </a:ext>
            </a:extLst>
          </p:cNvPr>
          <p:cNvSpPr>
            <a:spLocks noGrp="1"/>
          </p:cNvSpPr>
          <p:nvPr>
            <p:ph type="sldNum" sz="quarter" idx="12"/>
          </p:nvPr>
        </p:nvSpPr>
        <p:spPr/>
        <p:txBody>
          <a:bodyPr/>
          <a:lstStyle/>
          <a:p>
            <a:fld id="{9BA15CD2-76D6-4EFE-91D9-7087332E3318}" type="slidenum">
              <a:rPr lang="en-IN" smtClean="0"/>
              <a:pPr/>
              <a:t>2</a:t>
            </a:fld>
            <a:endParaRPr lang="en-IN" dirty="0"/>
          </a:p>
        </p:txBody>
      </p:sp>
      <p:sp>
        <p:nvSpPr>
          <p:cNvPr id="5" name="Rectangle 4">
            <a:extLst>
              <a:ext uri="{FF2B5EF4-FFF2-40B4-BE49-F238E27FC236}">
                <a16:creationId xmlns:a16="http://schemas.microsoft.com/office/drawing/2014/main" id="{FE5706A0-3548-47FD-B1D2-B387A3814D83}"/>
              </a:ext>
            </a:extLst>
          </p:cNvPr>
          <p:cNvSpPr/>
          <p:nvPr/>
        </p:nvSpPr>
        <p:spPr>
          <a:xfrm>
            <a:off x="10441858" y="145670"/>
            <a:ext cx="1575330" cy="9686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ookman Old Style" panose="02050604050505020204" pitchFamily="18" charset="0"/>
            </a:endParaRPr>
          </a:p>
        </p:txBody>
      </p:sp>
      <p:sp>
        <p:nvSpPr>
          <p:cNvPr id="7" name="Rectangle 6">
            <a:extLst>
              <a:ext uri="{FF2B5EF4-FFF2-40B4-BE49-F238E27FC236}">
                <a16:creationId xmlns:a16="http://schemas.microsoft.com/office/drawing/2014/main" id="{2DB26C52-37A5-48FF-8386-5D1A268B6FE3}"/>
              </a:ext>
            </a:extLst>
          </p:cNvPr>
          <p:cNvSpPr/>
          <p:nvPr/>
        </p:nvSpPr>
        <p:spPr>
          <a:xfrm>
            <a:off x="5276832" y="368386"/>
            <a:ext cx="1856598" cy="523220"/>
          </a:xfrm>
          <a:prstGeom prst="rect">
            <a:avLst/>
          </a:prstGeom>
        </p:spPr>
        <p:txBody>
          <a:bodyPr wrap="none">
            <a:spAutoFit/>
          </a:bodyPr>
          <a:lstStyle/>
          <a:p>
            <a:pPr algn="ctr"/>
            <a:r>
              <a:rPr lang="en-US" sz="2800" b="1" dirty="0">
                <a:solidFill>
                  <a:srgbClr val="0070C0"/>
                </a:solidFill>
                <a:latin typeface="Bookman Old Style" panose="02050604050505020204" pitchFamily="18" charset="0"/>
              </a:rPr>
              <a:t>Syllabus </a:t>
            </a:r>
            <a:endParaRPr lang="en-IN" sz="2800" b="1" dirty="0">
              <a:solidFill>
                <a:srgbClr val="0070C0"/>
              </a:solidFill>
              <a:latin typeface="Bookman Old Style" panose="02050604050505020204" pitchFamily="18" charset="0"/>
            </a:endParaRPr>
          </a:p>
        </p:txBody>
      </p:sp>
      <p:sp>
        <p:nvSpPr>
          <p:cNvPr id="2" name="Rectangle 1">
            <a:extLst>
              <a:ext uri="{FF2B5EF4-FFF2-40B4-BE49-F238E27FC236}">
                <a16:creationId xmlns:a16="http://schemas.microsoft.com/office/drawing/2014/main" id="{1296D6F0-24EF-45E6-B878-739BC7DFF80A}"/>
              </a:ext>
            </a:extLst>
          </p:cNvPr>
          <p:cNvSpPr/>
          <p:nvPr/>
        </p:nvSpPr>
        <p:spPr>
          <a:xfrm>
            <a:off x="767221" y="1126318"/>
            <a:ext cx="10875819" cy="3589701"/>
          </a:xfrm>
          <a:prstGeom prst="rect">
            <a:avLst/>
          </a:prstGeom>
        </p:spPr>
        <p:txBody>
          <a:bodyPr wrap="square">
            <a:spAutoFit/>
          </a:bodyPr>
          <a:lstStyle/>
          <a:p>
            <a:pPr algn="just">
              <a:lnSpc>
                <a:spcPct val="150000"/>
              </a:lnSpc>
            </a:pPr>
            <a:r>
              <a:rPr lang="en-US" sz="2200" b="1" dirty="0">
                <a:latin typeface="Bookman Old Style" panose="02050604050505020204" pitchFamily="18" charset="0"/>
              </a:rPr>
              <a:t>Mechatronics: </a:t>
            </a:r>
            <a:r>
              <a:rPr lang="en-US" sz="2200" dirty="0">
                <a:latin typeface="Bookman Old Style" panose="02050604050505020204" pitchFamily="18" charset="0"/>
              </a:rPr>
              <a:t>Introduction: Evolution of Mechatronic system, measurement &amp; control system, basic elements of control system, Applications-water level controller, washing machine, Engine management system (EMS), Antilock</a:t>
            </a:r>
          </a:p>
          <a:p>
            <a:pPr algn="just">
              <a:lnSpc>
                <a:spcPct val="150000"/>
              </a:lnSpc>
            </a:pPr>
            <a:r>
              <a:rPr lang="en-IN" sz="2200" dirty="0">
                <a:latin typeface="Bookman Old Style" panose="02050604050505020204" pitchFamily="18" charset="0"/>
              </a:rPr>
              <a:t>Braking System (ABS).</a:t>
            </a:r>
          </a:p>
          <a:p>
            <a:pPr algn="just">
              <a:lnSpc>
                <a:spcPct val="150000"/>
              </a:lnSpc>
            </a:pPr>
            <a:r>
              <a:rPr lang="en-US" sz="2200" b="1" dirty="0">
                <a:latin typeface="Bookman Old Style" panose="02050604050505020204" pitchFamily="18" charset="0"/>
              </a:rPr>
              <a:t>Robotics: </a:t>
            </a:r>
            <a:r>
              <a:rPr lang="en-US" sz="2200" dirty="0">
                <a:latin typeface="Bookman Old Style" panose="02050604050505020204" pitchFamily="18" charset="0"/>
              </a:rPr>
              <a:t>Robots- Basic Structure of Robots, Robot Anatomy, Complete Classification of Robots, Fundamentals about Robot Technology, Basic Robot Configurations and their Relative Merits and Demerits.</a:t>
            </a:r>
            <a:endParaRPr lang="en-IN" sz="2200" dirty="0">
              <a:latin typeface="Bookman Old Style" panose="02050604050505020204" pitchFamily="18" charset="0"/>
            </a:endParaRPr>
          </a:p>
        </p:txBody>
      </p:sp>
    </p:spTree>
    <p:extLst>
      <p:ext uri="{BB962C8B-B14F-4D97-AF65-F5344CB8AC3E}">
        <p14:creationId xmlns:p14="http://schemas.microsoft.com/office/powerpoint/2010/main" val="2327812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15D2F06-9D80-4C9F-BF35-2AAFABCF13A0}"/>
              </a:ext>
            </a:extLst>
          </p:cNvPr>
          <p:cNvSpPr>
            <a:spLocks noGrp="1"/>
          </p:cNvSpPr>
          <p:nvPr>
            <p:ph type="dt" sz="half" idx="10"/>
          </p:nvPr>
        </p:nvSpPr>
        <p:spPr/>
        <p:txBody>
          <a:bodyPr/>
          <a:lstStyle/>
          <a:p>
            <a:pPr algn="ctr"/>
            <a:fld id="{6BA3F8B8-C75C-44FF-9C37-B9B69285372F}" type="datetime2">
              <a:rPr lang="en-IN" smtClean="0"/>
              <a:t>Monday, 30 December 2024</a:t>
            </a:fld>
            <a:endParaRPr lang="en-IN" dirty="0"/>
          </a:p>
        </p:txBody>
      </p:sp>
      <p:sp>
        <p:nvSpPr>
          <p:cNvPr id="4" name="Slide Number Placeholder 3">
            <a:extLst>
              <a:ext uri="{FF2B5EF4-FFF2-40B4-BE49-F238E27FC236}">
                <a16:creationId xmlns:a16="http://schemas.microsoft.com/office/drawing/2014/main" id="{76223F97-7264-4464-9ABF-67079758853E}"/>
              </a:ext>
            </a:extLst>
          </p:cNvPr>
          <p:cNvSpPr>
            <a:spLocks noGrp="1"/>
          </p:cNvSpPr>
          <p:nvPr>
            <p:ph type="sldNum" sz="quarter" idx="12"/>
          </p:nvPr>
        </p:nvSpPr>
        <p:spPr/>
        <p:txBody>
          <a:bodyPr/>
          <a:lstStyle/>
          <a:p>
            <a:fld id="{9BA15CD2-76D6-4EFE-91D9-7087332E3318}" type="slidenum">
              <a:rPr lang="en-IN" smtClean="0"/>
              <a:pPr/>
              <a:t>3</a:t>
            </a:fld>
            <a:endParaRPr lang="en-IN" dirty="0"/>
          </a:p>
        </p:txBody>
      </p:sp>
      <p:sp>
        <p:nvSpPr>
          <p:cNvPr id="5" name="Rectangle 4">
            <a:extLst>
              <a:ext uri="{FF2B5EF4-FFF2-40B4-BE49-F238E27FC236}">
                <a16:creationId xmlns:a16="http://schemas.microsoft.com/office/drawing/2014/main" id="{FE5706A0-3548-47FD-B1D2-B387A3814D83}"/>
              </a:ext>
            </a:extLst>
          </p:cNvPr>
          <p:cNvSpPr/>
          <p:nvPr/>
        </p:nvSpPr>
        <p:spPr>
          <a:xfrm>
            <a:off x="10441858" y="145670"/>
            <a:ext cx="1575330" cy="9686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ookman Old Style" panose="02050604050505020204" pitchFamily="18" charset="0"/>
            </a:endParaRPr>
          </a:p>
        </p:txBody>
      </p:sp>
      <p:sp>
        <p:nvSpPr>
          <p:cNvPr id="7" name="Rectangle 6">
            <a:extLst>
              <a:ext uri="{FF2B5EF4-FFF2-40B4-BE49-F238E27FC236}">
                <a16:creationId xmlns:a16="http://schemas.microsoft.com/office/drawing/2014/main" id="{2DB26C52-37A5-48FF-8386-5D1A268B6FE3}"/>
              </a:ext>
            </a:extLst>
          </p:cNvPr>
          <p:cNvSpPr/>
          <p:nvPr/>
        </p:nvSpPr>
        <p:spPr>
          <a:xfrm>
            <a:off x="3344417" y="368386"/>
            <a:ext cx="5721438" cy="523220"/>
          </a:xfrm>
          <a:prstGeom prst="rect">
            <a:avLst/>
          </a:prstGeom>
        </p:spPr>
        <p:txBody>
          <a:bodyPr wrap="none">
            <a:spAutoFit/>
          </a:bodyPr>
          <a:lstStyle/>
          <a:p>
            <a:pPr algn="ctr"/>
            <a:r>
              <a:rPr lang="en-US" sz="2800" b="1" dirty="0">
                <a:solidFill>
                  <a:srgbClr val="0070C0"/>
                </a:solidFill>
                <a:latin typeface="Bookman Old Style" panose="02050604050505020204" pitchFamily="18" charset="0"/>
              </a:rPr>
              <a:t>Introduction to Mechatronics</a:t>
            </a:r>
            <a:endParaRPr lang="en-IN" sz="2800" b="1" dirty="0">
              <a:solidFill>
                <a:srgbClr val="0070C0"/>
              </a:solidFill>
              <a:latin typeface="Bookman Old Style" panose="02050604050505020204" pitchFamily="18" charset="0"/>
            </a:endParaRPr>
          </a:p>
        </p:txBody>
      </p:sp>
      <p:sp>
        <p:nvSpPr>
          <p:cNvPr id="6" name="Rectangle 5">
            <a:extLst>
              <a:ext uri="{FF2B5EF4-FFF2-40B4-BE49-F238E27FC236}">
                <a16:creationId xmlns:a16="http://schemas.microsoft.com/office/drawing/2014/main" id="{001FA2D2-7586-423C-8C1F-C6E13CB2137F}"/>
              </a:ext>
            </a:extLst>
          </p:cNvPr>
          <p:cNvSpPr/>
          <p:nvPr/>
        </p:nvSpPr>
        <p:spPr>
          <a:xfrm>
            <a:off x="706581" y="1103160"/>
            <a:ext cx="6483928" cy="4604787"/>
          </a:xfrm>
          <a:prstGeom prst="rect">
            <a:avLst/>
          </a:prstGeom>
        </p:spPr>
        <p:txBody>
          <a:bodyPr wrap="square">
            <a:spAutoFit/>
          </a:bodyPr>
          <a:lstStyle/>
          <a:p>
            <a:pPr algn="just">
              <a:lnSpc>
                <a:spcPct val="150000"/>
              </a:lnSpc>
              <a:buFont typeface="Arial" panose="020B0604020202020204" pitchFamily="34" charset="0"/>
              <a:buChar char="•"/>
            </a:pPr>
            <a:r>
              <a:rPr lang="en-US" altLang="en-US" sz="2200" dirty="0">
                <a:latin typeface="Bookman Old Style" panose="02050604050505020204" pitchFamily="18" charset="0"/>
              </a:rPr>
              <a:t>The term </a:t>
            </a:r>
            <a:r>
              <a:rPr lang="en-US" altLang="en-US" sz="2200" b="1" dirty="0">
                <a:solidFill>
                  <a:srgbClr val="0070C0"/>
                </a:solidFill>
                <a:latin typeface="Bookman Old Style" panose="02050604050505020204" pitchFamily="18" charset="0"/>
              </a:rPr>
              <a:t>“Mechatronics” </a:t>
            </a:r>
            <a:r>
              <a:rPr lang="en-US" altLang="en-US" sz="2200" dirty="0">
                <a:latin typeface="Bookman Old Style" panose="02050604050505020204" pitchFamily="18" charset="0"/>
              </a:rPr>
              <a:t>was coined in 1969 by a senior engineer of a Japanese Yasakawa Electric Company to refer to the </a:t>
            </a:r>
            <a:r>
              <a:rPr lang="en-US" altLang="en-US" sz="2200" dirty="0">
                <a:solidFill>
                  <a:srgbClr val="0070C0"/>
                </a:solidFill>
                <a:latin typeface="Bookman Old Style" panose="02050604050505020204" pitchFamily="18" charset="0"/>
              </a:rPr>
              <a:t>use of electronics in mechanical control</a:t>
            </a:r>
            <a:r>
              <a:rPr lang="en-US" altLang="en-US" sz="2200" dirty="0">
                <a:latin typeface="Bookman Old Style" panose="02050604050505020204" pitchFamily="18" charset="0"/>
              </a:rPr>
              <a:t>.</a:t>
            </a:r>
          </a:p>
          <a:p>
            <a:pPr algn="just">
              <a:lnSpc>
                <a:spcPct val="150000"/>
              </a:lnSpc>
              <a:buFont typeface="Arial" panose="020B0604020202020204" pitchFamily="34" charset="0"/>
              <a:buChar char="•"/>
            </a:pPr>
            <a:r>
              <a:rPr lang="en-US" altLang="en-US" sz="2200" dirty="0">
                <a:latin typeface="Bookman Old Style" panose="02050604050505020204" pitchFamily="18" charset="0"/>
              </a:rPr>
              <a:t>Mechatronics is defined as the </a:t>
            </a:r>
            <a:r>
              <a:rPr lang="en-US" altLang="en-US" sz="2200" dirty="0">
                <a:solidFill>
                  <a:srgbClr val="0070C0"/>
                </a:solidFill>
                <a:latin typeface="Bookman Old Style" panose="02050604050505020204" pitchFamily="18" charset="0"/>
              </a:rPr>
              <a:t>synergistic integration of mechanical engineering with electronics and intelligent computer control in the design and manufacturing of products and process</a:t>
            </a:r>
            <a:endParaRPr lang="en-US" altLang="en-US" sz="2200" b="1" dirty="0">
              <a:solidFill>
                <a:srgbClr val="0070C0"/>
              </a:solidFill>
              <a:latin typeface="Bookman Old Style" panose="02050604050505020204" pitchFamily="18" charset="0"/>
            </a:endParaRPr>
          </a:p>
        </p:txBody>
      </p:sp>
      <p:pic>
        <p:nvPicPr>
          <p:cNvPr id="8" name="Picture 7">
            <a:extLst>
              <a:ext uri="{FF2B5EF4-FFF2-40B4-BE49-F238E27FC236}">
                <a16:creationId xmlns:a16="http://schemas.microsoft.com/office/drawing/2014/main" id="{BCD18406-DACA-42CC-8656-772B352B0A06}"/>
              </a:ext>
            </a:extLst>
          </p:cNvPr>
          <p:cNvPicPr>
            <a:picLocks noChangeAspect="1"/>
          </p:cNvPicPr>
          <p:nvPr/>
        </p:nvPicPr>
        <p:blipFill>
          <a:blip r:embed="rId2"/>
          <a:stretch>
            <a:fillRect/>
          </a:stretch>
        </p:blipFill>
        <p:spPr>
          <a:xfrm>
            <a:off x="7458211" y="1443565"/>
            <a:ext cx="4258269" cy="4172532"/>
          </a:xfrm>
          <a:prstGeom prst="rect">
            <a:avLst/>
          </a:prstGeom>
        </p:spPr>
      </p:pic>
    </p:spTree>
    <p:extLst>
      <p:ext uri="{BB962C8B-B14F-4D97-AF65-F5344CB8AC3E}">
        <p14:creationId xmlns:p14="http://schemas.microsoft.com/office/powerpoint/2010/main" val="2361227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15D2F06-9D80-4C9F-BF35-2AAFABCF13A0}"/>
              </a:ext>
            </a:extLst>
          </p:cNvPr>
          <p:cNvSpPr>
            <a:spLocks noGrp="1"/>
          </p:cNvSpPr>
          <p:nvPr>
            <p:ph type="dt" sz="half" idx="10"/>
          </p:nvPr>
        </p:nvSpPr>
        <p:spPr/>
        <p:txBody>
          <a:bodyPr/>
          <a:lstStyle/>
          <a:p>
            <a:pPr algn="ctr"/>
            <a:fld id="{6BA3F8B8-C75C-44FF-9C37-B9B69285372F}" type="datetime2">
              <a:rPr lang="en-IN" smtClean="0"/>
              <a:t>Monday, 30 December 2024</a:t>
            </a:fld>
            <a:endParaRPr lang="en-IN" dirty="0"/>
          </a:p>
        </p:txBody>
      </p:sp>
      <p:sp>
        <p:nvSpPr>
          <p:cNvPr id="4" name="Slide Number Placeholder 3">
            <a:extLst>
              <a:ext uri="{FF2B5EF4-FFF2-40B4-BE49-F238E27FC236}">
                <a16:creationId xmlns:a16="http://schemas.microsoft.com/office/drawing/2014/main" id="{76223F97-7264-4464-9ABF-67079758853E}"/>
              </a:ext>
            </a:extLst>
          </p:cNvPr>
          <p:cNvSpPr>
            <a:spLocks noGrp="1"/>
          </p:cNvSpPr>
          <p:nvPr>
            <p:ph type="sldNum" sz="quarter" idx="12"/>
          </p:nvPr>
        </p:nvSpPr>
        <p:spPr/>
        <p:txBody>
          <a:bodyPr/>
          <a:lstStyle/>
          <a:p>
            <a:fld id="{9BA15CD2-76D6-4EFE-91D9-7087332E3318}" type="slidenum">
              <a:rPr lang="en-IN" smtClean="0"/>
              <a:pPr/>
              <a:t>4</a:t>
            </a:fld>
            <a:endParaRPr lang="en-IN" dirty="0"/>
          </a:p>
        </p:txBody>
      </p:sp>
      <p:sp>
        <p:nvSpPr>
          <p:cNvPr id="5" name="Rectangle 4">
            <a:extLst>
              <a:ext uri="{FF2B5EF4-FFF2-40B4-BE49-F238E27FC236}">
                <a16:creationId xmlns:a16="http://schemas.microsoft.com/office/drawing/2014/main" id="{FE5706A0-3548-47FD-B1D2-B387A3814D83}"/>
              </a:ext>
            </a:extLst>
          </p:cNvPr>
          <p:cNvSpPr/>
          <p:nvPr/>
        </p:nvSpPr>
        <p:spPr>
          <a:xfrm>
            <a:off x="10441858" y="145670"/>
            <a:ext cx="1575330" cy="9686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ookman Old Style" panose="02050604050505020204" pitchFamily="18" charset="0"/>
            </a:endParaRPr>
          </a:p>
        </p:txBody>
      </p:sp>
      <p:sp>
        <p:nvSpPr>
          <p:cNvPr id="7" name="Rectangle 6">
            <a:extLst>
              <a:ext uri="{FF2B5EF4-FFF2-40B4-BE49-F238E27FC236}">
                <a16:creationId xmlns:a16="http://schemas.microsoft.com/office/drawing/2014/main" id="{2DB26C52-37A5-48FF-8386-5D1A268B6FE3}"/>
              </a:ext>
            </a:extLst>
          </p:cNvPr>
          <p:cNvSpPr/>
          <p:nvPr/>
        </p:nvSpPr>
        <p:spPr>
          <a:xfrm>
            <a:off x="3007782" y="145670"/>
            <a:ext cx="6394700" cy="523220"/>
          </a:xfrm>
          <a:prstGeom prst="rect">
            <a:avLst/>
          </a:prstGeom>
        </p:spPr>
        <p:txBody>
          <a:bodyPr wrap="none">
            <a:spAutoFit/>
          </a:bodyPr>
          <a:lstStyle/>
          <a:p>
            <a:pPr algn="ctr"/>
            <a:r>
              <a:rPr lang="en-US" sz="2800" b="1" dirty="0">
                <a:solidFill>
                  <a:srgbClr val="0070C0"/>
                </a:solidFill>
                <a:latin typeface="Bookman Old Style" panose="02050604050505020204" pitchFamily="18" charset="0"/>
              </a:rPr>
              <a:t>Evolution of Mechatronic system</a:t>
            </a:r>
            <a:endParaRPr lang="en-IN" sz="2800" b="1" dirty="0">
              <a:solidFill>
                <a:srgbClr val="0070C0"/>
              </a:solidFill>
              <a:latin typeface="Bookman Old Style" panose="02050604050505020204" pitchFamily="18" charset="0"/>
            </a:endParaRPr>
          </a:p>
        </p:txBody>
      </p:sp>
      <p:sp>
        <p:nvSpPr>
          <p:cNvPr id="2" name="Rectangle 1">
            <a:extLst>
              <a:ext uri="{FF2B5EF4-FFF2-40B4-BE49-F238E27FC236}">
                <a16:creationId xmlns:a16="http://schemas.microsoft.com/office/drawing/2014/main" id="{79C846E2-F0E4-455B-A2FC-8742AFEBA144}"/>
              </a:ext>
            </a:extLst>
          </p:cNvPr>
          <p:cNvSpPr/>
          <p:nvPr/>
        </p:nvSpPr>
        <p:spPr>
          <a:xfrm>
            <a:off x="587114" y="906416"/>
            <a:ext cx="11236036" cy="5446747"/>
          </a:xfrm>
          <a:prstGeom prst="rect">
            <a:avLst/>
          </a:prstGeom>
        </p:spPr>
        <p:txBody>
          <a:bodyPr wrap="square">
            <a:spAutoFit/>
          </a:bodyPr>
          <a:lstStyle/>
          <a:p>
            <a:pPr algn="just">
              <a:lnSpc>
                <a:spcPct val="150000"/>
              </a:lnSpc>
              <a:buFont typeface="Arial" panose="020B0604020202020204" pitchFamily="34" charset="0"/>
              <a:buChar char="•"/>
            </a:pPr>
            <a:r>
              <a:rPr lang="en-US" b="1" dirty="0">
                <a:latin typeface="Bookman Old Style" panose="02050604050505020204" pitchFamily="18" charset="0"/>
              </a:rPr>
              <a:t>1960s</a:t>
            </a:r>
            <a:r>
              <a:rPr lang="en-US" dirty="0">
                <a:latin typeface="Bookman Old Style" panose="02050604050505020204" pitchFamily="18" charset="0"/>
              </a:rPr>
              <a:t>: The term "mechatronics" was </a:t>
            </a:r>
            <a:r>
              <a:rPr lang="en-US" dirty="0">
                <a:solidFill>
                  <a:srgbClr val="0070C0"/>
                </a:solidFill>
                <a:latin typeface="Bookman Old Style" panose="02050604050505020204" pitchFamily="18" charset="0"/>
              </a:rPr>
              <a:t>coined in Japan </a:t>
            </a:r>
            <a:r>
              <a:rPr lang="en-US" dirty="0">
                <a:latin typeface="Bookman Old Style" panose="02050604050505020204" pitchFamily="18" charset="0"/>
              </a:rPr>
              <a:t>by combining "mechanics" and "electronics." Early systems were </a:t>
            </a:r>
            <a:r>
              <a:rPr lang="en-US" dirty="0">
                <a:solidFill>
                  <a:srgbClr val="0070C0"/>
                </a:solidFill>
                <a:latin typeface="Bookman Old Style" panose="02050604050505020204" pitchFamily="18" charset="0"/>
              </a:rPr>
              <a:t>primarily automated machines controlled by basic electronic circuits.</a:t>
            </a:r>
            <a:r>
              <a:rPr lang="en-US" dirty="0">
                <a:latin typeface="Bookman Old Style" panose="02050604050505020204" pitchFamily="18" charset="0"/>
              </a:rPr>
              <a:t> Example applications included simple assembly line equipment and timers.</a:t>
            </a:r>
          </a:p>
          <a:p>
            <a:pPr algn="just">
              <a:lnSpc>
                <a:spcPct val="150000"/>
              </a:lnSpc>
              <a:buFont typeface="Arial" panose="020B0604020202020204" pitchFamily="34" charset="0"/>
              <a:buChar char="•"/>
            </a:pPr>
            <a:r>
              <a:rPr lang="en-US" b="1" dirty="0">
                <a:latin typeface="Bookman Old Style" panose="02050604050505020204" pitchFamily="18" charset="0"/>
              </a:rPr>
              <a:t>1970s-1980s</a:t>
            </a:r>
            <a:r>
              <a:rPr lang="en-US" dirty="0">
                <a:latin typeface="Bookman Old Style" panose="02050604050505020204" pitchFamily="18" charset="0"/>
              </a:rPr>
              <a:t>: Introduction of </a:t>
            </a:r>
            <a:r>
              <a:rPr lang="en-US" dirty="0">
                <a:solidFill>
                  <a:srgbClr val="0070C0"/>
                </a:solidFill>
                <a:latin typeface="Bookman Old Style" panose="02050604050505020204" pitchFamily="18" charset="0"/>
              </a:rPr>
              <a:t>microprocessors and microcontrollers </a:t>
            </a:r>
            <a:r>
              <a:rPr lang="en-US" dirty="0">
                <a:latin typeface="Bookman Old Style" panose="02050604050505020204" pitchFamily="18" charset="0"/>
              </a:rPr>
              <a:t>revolutionized mechatronics. Systems became more </a:t>
            </a:r>
            <a:r>
              <a:rPr lang="en-US" dirty="0">
                <a:solidFill>
                  <a:srgbClr val="0070C0"/>
                </a:solidFill>
                <a:latin typeface="Bookman Old Style" panose="02050604050505020204" pitchFamily="18" charset="0"/>
              </a:rPr>
              <a:t>compact, reliable, and capable of handling complex processes</a:t>
            </a:r>
            <a:r>
              <a:rPr lang="en-US" dirty="0">
                <a:latin typeface="Bookman Old Style" panose="02050604050505020204" pitchFamily="18" charset="0"/>
              </a:rPr>
              <a:t>. The integration </a:t>
            </a:r>
            <a:r>
              <a:rPr lang="en-US" dirty="0">
                <a:solidFill>
                  <a:srgbClr val="0070C0"/>
                </a:solidFill>
                <a:latin typeface="Bookman Old Style" panose="02050604050505020204" pitchFamily="18" charset="0"/>
              </a:rPr>
              <a:t>of sensors and actuators </a:t>
            </a:r>
            <a:r>
              <a:rPr lang="en-US" dirty="0">
                <a:latin typeface="Bookman Old Style" panose="02050604050505020204" pitchFamily="18" charset="0"/>
              </a:rPr>
              <a:t>allowed for more </a:t>
            </a:r>
            <a:r>
              <a:rPr lang="en-US" dirty="0">
                <a:solidFill>
                  <a:srgbClr val="0070C0"/>
                </a:solidFill>
                <a:latin typeface="Bookman Old Style" panose="02050604050505020204" pitchFamily="18" charset="0"/>
              </a:rPr>
              <a:t>accurate monitoring and control</a:t>
            </a:r>
            <a:r>
              <a:rPr lang="en-US" dirty="0">
                <a:latin typeface="Bookman Old Style" panose="02050604050505020204" pitchFamily="18" charset="0"/>
              </a:rPr>
              <a:t>.</a:t>
            </a:r>
          </a:p>
          <a:p>
            <a:pPr algn="just">
              <a:lnSpc>
                <a:spcPct val="150000"/>
              </a:lnSpc>
              <a:buFont typeface="Arial" panose="020B0604020202020204" pitchFamily="34" charset="0"/>
              <a:buChar char="•"/>
            </a:pPr>
            <a:r>
              <a:rPr lang="en-US" b="1" dirty="0">
                <a:latin typeface="Bookman Old Style" panose="02050604050505020204" pitchFamily="18" charset="0"/>
              </a:rPr>
              <a:t>1990s</a:t>
            </a:r>
            <a:r>
              <a:rPr lang="en-US" dirty="0">
                <a:latin typeface="Bookman Old Style" panose="02050604050505020204" pitchFamily="18" charset="0"/>
              </a:rPr>
              <a:t>: Advances in </a:t>
            </a:r>
            <a:r>
              <a:rPr lang="en-US" dirty="0">
                <a:solidFill>
                  <a:srgbClr val="0070C0"/>
                </a:solidFill>
                <a:latin typeface="Bookman Old Style" panose="02050604050505020204" pitchFamily="18" charset="0"/>
              </a:rPr>
              <a:t>computational power and software algorithms </a:t>
            </a:r>
            <a:r>
              <a:rPr lang="en-US" dirty="0">
                <a:latin typeface="Bookman Old Style" panose="02050604050505020204" pitchFamily="18" charset="0"/>
              </a:rPr>
              <a:t>led to sophisticated real-time control systems. </a:t>
            </a:r>
            <a:r>
              <a:rPr lang="en-US" dirty="0">
                <a:solidFill>
                  <a:srgbClr val="0070C0"/>
                </a:solidFill>
                <a:latin typeface="Bookman Old Style" panose="02050604050505020204" pitchFamily="18" charset="0"/>
              </a:rPr>
              <a:t>Communication protocols and data acquisition tools </a:t>
            </a:r>
            <a:r>
              <a:rPr lang="en-US" dirty="0">
                <a:latin typeface="Bookman Old Style" panose="02050604050505020204" pitchFamily="18" charset="0"/>
              </a:rPr>
              <a:t>further enhanced the integration of components.</a:t>
            </a:r>
          </a:p>
          <a:p>
            <a:pPr algn="just">
              <a:lnSpc>
                <a:spcPct val="150000"/>
              </a:lnSpc>
              <a:buFont typeface="Arial" panose="020B0604020202020204" pitchFamily="34" charset="0"/>
              <a:buChar char="•"/>
            </a:pPr>
            <a:r>
              <a:rPr lang="en-US" b="1" dirty="0">
                <a:latin typeface="Bookman Old Style" panose="02050604050505020204" pitchFamily="18" charset="0"/>
              </a:rPr>
              <a:t>2000s-Present</a:t>
            </a:r>
            <a:r>
              <a:rPr lang="en-US" dirty="0">
                <a:latin typeface="Bookman Old Style" panose="02050604050505020204" pitchFamily="18" charset="0"/>
              </a:rPr>
              <a:t>: The rise of </a:t>
            </a:r>
            <a:r>
              <a:rPr lang="en-US" dirty="0">
                <a:solidFill>
                  <a:srgbClr val="0070C0"/>
                </a:solidFill>
                <a:latin typeface="Bookman Old Style" panose="02050604050505020204" pitchFamily="18" charset="0"/>
              </a:rPr>
              <a:t>Industry 4.0, Internet of Things (IoT), Artificial Intelligence (AI), and robotics</a:t>
            </a:r>
            <a:r>
              <a:rPr lang="en-US" dirty="0">
                <a:latin typeface="Bookman Old Style" panose="02050604050505020204" pitchFamily="18" charset="0"/>
              </a:rPr>
              <a:t> has brought intelligent and interconnected systems to the forefront. Modern mechatronic systems can </a:t>
            </a:r>
            <a:r>
              <a:rPr lang="en-US" dirty="0">
                <a:solidFill>
                  <a:srgbClr val="0070C0"/>
                </a:solidFill>
                <a:latin typeface="Bookman Old Style" panose="02050604050505020204" pitchFamily="18" charset="0"/>
              </a:rPr>
              <a:t>learn, adapt, and optimize themselves for various applications</a:t>
            </a:r>
            <a:r>
              <a:rPr lang="en-US" dirty="0">
                <a:latin typeface="Bookman Old Style" panose="02050604050505020204" pitchFamily="18" charset="0"/>
              </a:rPr>
              <a:t>, ranging from </a:t>
            </a:r>
            <a:r>
              <a:rPr lang="en-US" dirty="0">
                <a:solidFill>
                  <a:srgbClr val="0070C0"/>
                </a:solidFill>
                <a:latin typeface="Bookman Old Style" panose="02050604050505020204" pitchFamily="18" charset="0"/>
              </a:rPr>
              <a:t>smart homes to autonomous vehicles.</a:t>
            </a:r>
          </a:p>
        </p:txBody>
      </p:sp>
    </p:spTree>
    <p:extLst>
      <p:ext uri="{BB962C8B-B14F-4D97-AF65-F5344CB8AC3E}">
        <p14:creationId xmlns:p14="http://schemas.microsoft.com/office/powerpoint/2010/main" val="3213859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15D2F06-9D80-4C9F-BF35-2AAFABCF13A0}"/>
              </a:ext>
            </a:extLst>
          </p:cNvPr>
          <p:cNvSpPr>
            <a:spLocks noGrp="1"/>
          </p:cNvSpPr>
          <p:nvPr>
            <p:ph type="dt" sz="half" idx="10"/>
          </p:nvPr>
        </p:nvSpPr>
        <p:spPr/>
        <p:txBody>
          <a:bodyPr/>
          <a:lstStyle/>
          <a:p>
            <a:pPr algn="ctr"/>
            <a:fld id="{6BA3F8B8-C75C-44FF-9C37-B9B69285372F}" type="datetime2">
              <a:rPr lang="en-IN" smtClean="0"/>
              <a:t>Monday, 30 December 2024</a:t>
            </a:fld>
            <a:endParaRPr lang="en-IN" dirty="0"/>
          </a:p>
        </p:txBody>
      </p:sp>
      <p:sp>
        <p:nvSpPr>
          <p:cNvPr id="4" name="Slide Number Placeholder 3">
            <a:extLst>
              <a:ext uri="{FF2B5EF4-FFF2-40B4-BE49-F238E27FC236}">
                <a16:creationId xmlns:a16="http://schemas.microsoft.com/office/drawing/2014/main" id="{76223F97-7264-4464-9ABF-67079758853E}"/>
              </a:ext>
            </a:extLst>
          </p:cNvPr>
          <p:cNvSpPr>
            <a:spLocks noGrp="1"/>
          </p:cNvSpPr>
          <p:nvPr>
            <p:ph type="sldNum" sz="quarter" idx="12"/>
          </p:nvPr>
        </p:nvSpPr>
        <p:spPr/>
        <p:txBody>
          <a:bodyPr/>
          <a:lstStyle/>
          <a:p>
            <a:fld id="{9BA15CD2-76D6-4EFE-91D9-7087332E3318}" type="slidenum">
              <a:rPr lang="en-IN" smtClean="0"/>
              <a:pPr/>
              <a:t>5</a:t>
            </a:fld>
            <a:endParaRPr lang="en-IN" dirty="0"/>
          </a:p>
        </p:txBody>
      </p:sp>
      <p:sp>
        <p:nvSpPr>
          <p:cNvPr id="5" name="Rectangle 4">
            <a:extLst>
              <a:ext uri="{FF2B5EF4-FFF2-40B4-BE49-F238E27FC236}">
                <a16:creationId xmlns:a16="http://schemas.microsoft.com/office/drawing/2014/main" id="{FE5706A0-3548-47FD-B1D2-B387A3814D83}"/>
              </a:ext>
            </a:extLst>
          </p:cNvPr>
          <p:cNvSpPr/>
          <p:nvPr/>
        </p:nvSpPr>
        <p:spPr>
          <a:xfrm>
            <a:off x="10441858" y="145670"/>
            <a:ext cx="1575330" cy="9686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ookman Old Style" panose="02050604050505020204" pitchFamily="18" charset="0"/>
            </a:endParaRPr>
          </a:p>
        </p:txBody>
      </p:sp>
      <p:sp>
        <p:nvSpPr>
          <p:cNvPr id="7" name="Rectangle 6">
            <a:extLst>
              <a:ext uri="{FF2B5EF4-FFF2-40B4-BE49-F238E27FC236}">
                <a16:creationId xmlns:a16="http://schemas.microsoft.com/office/drawing/2014/main" id="{2DB26C52-37A5-48FF-8386-5D1A268B6FE3}"/>
              </a:ext>
            </a:extLst>
          </p:cNvPr>
          <p:cNvSpPr/>
          <p:nvPr/>
        </p:nvSpPr>
        <p:spPr>
          <a:xfrm>
            <a:off x="3021637" y="368386"/>
            <a:ext cx="6394700" cy="523220"/>
          </a:xfrm>
          <a:prstGeom prst="rect">
            <a:avLst/>
          </a:prstGeom>
        </p:spPr>
        <p:txBody>
          <a:bodyPr wrap="none">
            <a:spAutoFit/>
          </a:bodyPr>
          <a:lstStyle/>
          <a:p>
            <a:pPr algn="ctr"/>
            <a:r>
              <a:rPr lang="en-US" sz="2800" b="1" dirty="0">
                <a:solidFill>
                  <a:srgbClr val="0070C0"/>
                </a:solidFill>
                <a:latin typeface="Bookman Old Style" panose="02050604050505020204" pitchFamily="18" charset="0"/>
              </a:rPr>
              <a:t>Evolution of Mechatronic system</a:t>
            </a:r>
            <a:endParaRPr lang="en-IN" sz="2800" b="1" dirty="0">
              <a:solidFill>
                <a:srgbClr val="0070C0"/>
              </a:solidFill>
              <a:latin typeface="Bookman Old Style" panose="02050604050505020204" pitchFamily="18" charset="0"/>
            </a:endParaRPr>
          </a:p>
        </p:txBody>
      </p:sp>
      <p:pic>
        <p:nvPicPr>
          <p:cNvPr id="8" name="Picture 7">
            <a:extLst>
              <a:ext uri="{FF2B5EF4-FFF2-40B4-BE49-F238E27FC236}">
                <a16:creationId xmlns:a16="http://schemas.microsoft.com/office/drawing/2014/main" id="{8EC02BD5-E84F-4F61-9B34-048C2ED8309B}"/>
              </a:ext>
            </a:extLst>
          </p:cNvPr>
          <p:cNvPicPr>
            <a:picLocks noChangeAspect="1"/>
          </p:cNvPicPr>
          <p:nvPr/>
        </p:nvPicPr>
        <p:blipFill>
          <a:blip r:embed="rId2"/>
          <a:stretch>
            <a:fillRect/>
          </a:stretch>
        </p:blipFill>
        <p:spPr>
          <a:xfrm>
            <a:off x="803564" y="1391517"/>
            <a:ext cx="10584871" cy="3803938"/>
          </a:xfrm>
          <a:prstGeom prst="rect">
            <a:avLst/>
          </a:prstGeom>
        </p:spPr>
      </p:pic>
    </p:spTree>
    <p:extLst>
      <p:ext uri="{BB962C8B-B14F-4D97-AF65-F5344CB8AC3E}">
        <p14:creationId xmlns:p14="http://schemas.microsoft.com/office/powerpoint/2010/main" val="1072972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15D2F06-9D80-4C9F-BF35-2AAFABCF13A0}"/>
              </a:ext>
            </a:extLst>
          </p:cNvPr>
          <p:cNvSpPr>
            <a:spLocks noGrp="1"/>
          </p:cNvSpPr>
          <p:nvPr>
            <p:ph type="dt" sz="half" idx="10"/>
          </p:nvPr>
        </p:nvSpPr>
        <p:spPr/>
        <p:txBody>
          <a:bodyPr/>
          <a:lstStyle/>
          <a:p>
            <a:pPr algn="ctr"/>
            <a:fld id="{6BA3F8B8-C75C-44FF-9C37-B9B69285372F}" type="datetime2">
              <a:rPr lang="en-IN" smtClean="0"/>
              <a:t>Monday, 30 December 2024</a:t>
            </a:fld>
            <a:endParaRPr lang="en-IN" dirty="0"/>
          </a:p>
        </p:txBody>
      </p:sp>
      <p:sp>
        <p:nvSpPr>
          <p:cNvPr id="4" name="Slide Number Placeholder 3">
            <a:extLst>
              <a:ext uri="{FF2B5EF4-FFF2-40B4-BE49-F238E27FC236}">
                <a16:creationId xmlns:a16="http://schemas.microsoft.com/office/drawing/2014/main" id="{76223F97-7264-4464-9ABF-67079758853E}"/>
              </a:ext>
            </a:extLst>
          </p:cNvPr>
          <p:cNvSpPr>
            <a:spLocks noGrp="1"/>
          </p:cNvSpPr>
          <p:nvPr>
            <p:ph type="sldNum" sz="quarter" idx="12"/>
          </p:nvPr>
        </p:nvSpPr>
        <p:spPr/>
        <p:txBody>
          <a:bodyPr/>
          <a:lstStyle/>
          <a:p>
            <a:fld id="{9BA15CD2-76D6-4EFE-91D9-7087332E3318}" type="slidenum">
              <a:rPr lang="en-IN" smtClean="0"/>
              <a:pPr/>
              <a:t>6</a:t>
            </a:fld>
            <a:endParaRPr lang="en-IN" dirty="0"/>
          </a:p>
        </p:txBody>
      </p:sp>
      <p:sp>
        <p:nvSpPr>
          <p:cNvPr id="5" name="Rectangle 4">
            <a:extLst>
              <a:ext uri="{FF2B5EF4-FFF2-40B4-BE49-F238E27FC236}">
                <a16:creationId xmlns:a16="http://schemas.microsoft.com/office/drawing/2014/main" id="{FE5706A0-3548-47FD-B1D2-B387A3814D83}"/>
              </a:ext>
            </a:extLst>
          </p:cNvPr>
          <p:cNvSpPr/>
          <p:nvPr/>
        </p:nvSpPr>
        <p:spPr>
          <a:xfrm>
            <a:off x="10441858" y="145670"/>
            <a:ext cx="1575330" cy="9686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ookman Old Style" panose="02050604050505020204" pitchFamily="18" charset="0"/>
            </a:endParaRPr>
          </a:p>
        </p:txBody>
      </p:sp>
      <p:sp>
        <p:nvSpPr>
          <p:cNvPr id="7" name="Rectangle 6">
            <a:extLst>
              <a:ext uri="{FF2B5EF4-FFF2-40B4-BE49-F238E27FC236}">
                <a16:creationId xmlns:a16="http://schemas.microsoft.com/office/drawing/2014/main" id="{2DB26C52-37A5-48FF-8386-5D1A268B6FE3}"/>
              </a:ext>
            </a:extLst>
          </p:cNvPr>
          <p:cNvSpPr/>
          <p:nvPr/>
        </p:nvSpPr>
        <p:spPr>
          <a:xfrm>
            <a:off x="2710433" y="368386"/>
            <a:ext cx="6989414" cy="523220"/>
          </a:xfrm>
          <a:prstGeom prst="rect">
            <a:avLst/>
          </a:prstGeom>
        </p:spPr>
        <p:txBody>
          <a:bodyPr wrap="none">
            <a:spAutoFit/>
          </a:bodyPr>
          <a:lstStyle/>
          <a:p>
            <a:pPr algn="ctr"/>
            <a:r>
              <a:rPr lang="en-US" sz="2800" b="1" dirty="0">
                <a:solidFill>
                  <a:srgbClr val="0070C0"/>
                </a:solidFill>
                <a:latin typeface="Bookman Old Style" panose="02050604050505020204" pitchFamily="18" charset="0"/>
              </a:rPr>
              <a:t>Mechatronics System Components </a:t>
            </a:r>
            <a:endParaRPr lang="en-IN" sz="2800" b="1" dirty="0">
              <a:solidFill>
                <a:srgbClr val="0070C0"/>
              </a:solidFill>
              <a:latin typeface="Bookman Old Style" panose="02050604050505020204" pitchFamily="18" charset="0"/>
            </a:endParaRPr>
          </a:p>
        </p:txBody>
      </p:sp>
      <p:pic>
        <p:nvPicPr>
          <p:cNvPr id="2" name="Picture 1">
            <a:extLst>
              <a:ext uri="{FF2B5EF4-FFF2-40B4-BE49-F238E27FC236}">
                <a16:creationId xmlns:a16="http://schemas.microsoft.com/office/drawing/2014/main" id="{72861A56-5ECD-400B-83B4-DCACB4A05C78}"/>
              </a:ext>
            </a:extLst>
          </p:cNvPr>
          <p:cNvPicPr>
            <a:picLocks noChangeAspect="1"/>
          </p:cNvPicPr>
          <p:nvPr/>
        </p:nvPicPr>
        <p:blipFill>
          <a:blip r:embed="rId2"/>
          <a:stretch>
            <a:fillRect/>
          </a:stretch>
        </p:blipFill>
        <p:spPr>
          <a:xfrm>
            <a:off x="1634835" y="952802"/>
            <a:ext cx="8659091" cy="5107668"/>
          </a:xfrm>
          <a:prstGeom prst="rect">
            <a:avLst/>
          </a:prstGeom>
        </p:spPr>
      </p:pic>
    </p:spTree>
    <p:extLst>
      <p:ext uri="{BB962C8B-B14F-4D97-AF65-F5344CB8AC3E}">
        <p14:creationId xmlns:p14="http://schemas.microsoft.com/office/powerpoint/2010/main" val="2265237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15D2F06-9D80-4C9F-BF35-2AAFABCF13A0}"/>
              </a:ext>
            </a:extLst>
          </p:cNvPr>
          <p:cNvSpPr>
            <a:spLocks noGrp="1"/>
          </p:cNvSpPr>
          <p:nvPr>
            <p:ph type="dt" sz="half" idx="10"/>
          </p:nvPr>
        </p:nvSpPr>
        <p:spPr/>
        <p:txBody>
          <a:bodyPr/>
          <a:lstStyle/>
          <a:p>
            <a:pPr algn="ctr"/>
            <a:fld id="{6BA3F8B8-C75C-44FF-9C37-B9B69285372F}" type="datetime2">
              <a:rPr lang="en-IN" smtClean="0"/>
              <a:t>Monday, 30 December 2024</a:t>
            </a:fld>
            <a:endParaRPr lang="en-IN" dirty="0"/>
          </a:p>
        </p:txBody>
      </p:sp>
      <p:sp>
        <p:nvSpPr>
          <p:cNvPr id="4" name="Slide Number Placeholder 3">
            <a:extLst>
              <a:ext uri="{FF2B5EF4-FFF2-40B4-BE49-F238E27FC236}">
                <a16:creationId xmlns:a16="http://schemas.microsoft.com/office/drawing/2014/main" id="{76223F97-7264-4464-9ABF-67079758853E}"/>
              </a:ext>
            </a:extLst>
          </p:cNvPr>
          <p:cNvSpPr>
            <a:spLocks noGrp="1"/>
          </p:cNvSpPr>
          <p:nvPr>
            <p:ph type="sldNum" sz="quarter" idx="12"/>
          </p:nvPr>
        </p:nvSpPr>
        <p:spPr/>
        <p:txBody>
          <a:bodyPr/>
          <a:lstStyle/>
          <a:p>
            <a:fld id="{9BA15CD2-76D6-4EFE-91D9-7087332E3318}" type="slidenum">
              <a:rPr lang="en-IN" smtClean="0"/>
              <a:pPr/>
              <a:t>7</a:t>
            </a:fld>
            <a:endParaRPr lang="en-IN" dirty="0"/>
          </a:p>
        </p:txBody>
      </p:sp>
      <p:sp>
        <p:nvSpPr>
          <p:cNvPr id="5" name="Rectangle 4">
            <a:extLst>
              <a:ext uri="{FF2B5EF4-FFF2-40B4-BE49-F238E27FC236}">
                <a16:creationId xmlns:a16="http://schemas.microsoft.com/office/drawing/2014/main" id="{FE5706A0-3548-47FD-B1D2-B387A3814D83}"/>
              </a:ext>
            </a:extLst>
          </p:cNvPr>
          <p:cNvSpPr/>
          <p:nvPr/>
        </p:nvSpPr>
        <p:spPr>
          <a:xfrm>
            <a:off x="10441858" y="145670"/>
            <a:ext cx="1575330" cy="9686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ookman Old Style" panose="02050604050505020204" pitchFamily="18" charset="0"/>
            </a:endParaRPr>
          </a:p>
        </p:txBody>
      </p:sp>
      <p:sp>
        <p:nvSpPr>
          <p:cNvPr id="7" name="Rectangle 6">
            <a:extLst>
              <a:ext uri="{FF2B5EF4-FFF2-40B4-BE49-F238E27FC236}">
                <a16:creationId xmlns:a16="http://schemas.microsoft.com/office/drawing/2014/main" id="{2DB26C52-37A5-48FF-8386-5D1A268B6FE3}"/>
              </a:ext>
            </a:extLst>
          </p:cNvPr>
          <p:cNvSpPr/>
          <p:nvPr/>
        </p:nvSpPr>
        <p:spPr>
          <a:xfrm>
            <a:off x="2803398" y="368386"/>
            <a:ext cx="6803466" cy="523220"/>
          </a:xfrm>
          <a:prstGeom prst="rect">
            <a:avLst/>
          </a:prstGeom>
        </p:spPr>
        <p:txBody>
          <a:bodyPr wrap="none">
            <a:spAutoFit/>
          </a:bodyPr>
          <a:lstStyle/>
          <a:p>
            <a:pPr algn="ctr"/>
            <a:r>
              <a:rPr lang="en-US" sz="2800" b="1" dirty="0">
                <a:solidFill>
                  <a:srgbClr val="0070C0"/>
                </a:solidFill>
                <a:latin typeface="Bookman Old Style" panose="02050604050505020204" pitchFamily="18" charset="0"/>
              </a:rPr>
              <a:t>Mechatronics System Components </a:t>
            </a:r>
            <a:endParaRPr lang="en-IN" sz="2800" b="1" dirty="0">
              <a:solidFill>
                <a:srgbClr val="0070C0"/>
              </a:solidFill>
              <a:latin typeface="Bookman Old Style" panose="02050604050505020204" pitchFamily="18" charset="0"/>
            </a:endParaRPr>
          </a:p>
        </p:txBody>
      </p:sp>
      <p:sp>
        <p:nvSpPr>
          <p:cNvPr id="6" name="TextBox 5">
            <a:extLst>
              <a:ext uri="{FF2B5EF4-FFF2-40B4-BE49-F238E27FC236}">
                <a16:creationId xmlns:a16="http://schemas.microsoft.com/office/drawing/2014/main" id="{2FACCB1A-85BB-4144-9251-A93932943C30}"/>
              </a:ext>
            </a:extLst>
          </p:cNvPr>
          <p:cNvSpPr txBox="1"/>
          <p:nvPr/>
        </p:nvSpPr>
        <p:spPr>
          <a:xfrm>
            <a:off x="658505" y="997527"/>
            <a:ext cx="10571018" cy="4615751"/>
          </a:xfrm>
          <a:prstGeom prst="rect">
            <a:avLst/>
          </a:prstGeom>
          <a:noFill/>
        </p:spPr>
        <p:txBody>
          <a:bodyPr wrap="square" rtlCol="0">
            <a:spAutoFit/>
          </a:bodyPr>
          <a:lstStyle/>
          <a:p>
            <a:pPr algn="just">
              <a:lnSpc>
                <a:spcPct val="150000"/>
              </a:lnSpc>
            </a:pPr>
            <a:r>
              <a:rPr lang="en-US" b="1" dirty="0">
                <a:latin typeface="Bookman Old Style" panose="02050604050505020204" pitchFamily="18" charset="0"/>
              </a:rPr>
              <a:t>Fig 1.1 </a:t>
            </a:r>
            <a:r>
              <a:rPr lang="en-US" dirty="0">
                <a:latin typeface="Bookman Old Style" panose="02050604050505020204" pitchFamily="18" charset="0"/>
              </a:rPr>
              <a:t>illustrates all the components in a typical mechatronic system. The </a:t>
            </a:r>
            <a:r>
              <a:rPr lang="en-US" b="1" dirty="0">
                <a:latin typeface="Bookman Old Style" panose="02050604050505020204" pitchFamily="18" charset="0"/>
              </a:rPr>
              <a:t>actuators</a:t>
            </a:r>
            <a:r>
              <a:rPr lang="en-US" dirty="0">
                <a:latin typeface="Bookman Old Style" panose="02050604050505020204" pitchFamily="18" charset="0"/>
              </a:rPr>
              <a:t> </a:t>
            </a:r>
            <a:r>
              <a:rPr lang="en-US" dirty="0">
                <a:solidFill>
                  <a:srgbClr val="0070C0"/>
                </a:solidFill>
                <a:latin typeface="Bookman Old Style" panose="02050604050505020204" pitchFamily="18" charset="0"/>
              </a:rPr>
              <a:t>produce motion </a:t>
            </a:r>
            <a:r>
              <a:rPr lang="en-US" dirty="0">
                <a:latin typeface="Bookman Old Style" panose="02050604050505020204" pitchFamily="18" charset="0"/>
              </a:rPr>
              <a:t>or cause some action, the </a:t>
            </a:r>
            <a:r>
              <a:rPr lang="en-US" b="1" dirty="0">
                <a:latin typeface="Bookman Old Style" panose="02050604050505020204" pitchFamily="18" charset="0"/>
              </a:rPr>
              <a:t>sensors</a:t>
            </a:r>
            <a:r>
              <a:rPr lang="en-US" dirty="0">
                <a:latin typeface="Bookman Old Style" panose="02050604050505020204" pitchFamily="18" charset="0"/>
              </a:rPr>
              <a:t> detect the </a:t>
            </a:r>
            <a:r>
              <a:rPr lang="en-US" dirty="0">
                <a:solidFill>
                  <a:srgbClr val="0070C0"/>
                </a:solidFill>
                <a:latin typeface="Bookman Old Style" panose="02050604050505020204" pitchFamily="18" charset="0"/>
              </a:rPr>
              <a:t>state of the system parameters, inputs and outputs</a:t>
            </a:r>
            <a:r>
              <a:rPr lang="en-US" dirty="0">
                <a:latin typeface="Bookman Old Style" panose="02050604050505020204" pitchFamily="18" charset="0"/>
              </a:rPr>
              <a:t> , </a:t>
            </a:r>
            <a:r>
              <a:rPr lang="en-US" b="1" dirty="0">
                <a:latin typeface="Bookman Old Style" panose="02050604050505020204" pitchFamily="18" charset="0"/>
              </a:rPr>
              <a:t>digital devices</a:t>
            </a:r>
            <a:r>
              <a:rPr lang="en-US" dirty="0">
                <a:latin typeface="Bookman Old Style" panose="02050604050505020204" pitchFamily="18" charset="0"/>
              </a:rPr>
              <a:t> control the </a:t>
            </a:r>
            <a:r>
              <a:rPr lang="en-US" dirty="0">
                <a:solidFill>
                  <a:srgbClr val="0070C0"/>
                </a:solidFill>
                <a:latin typeface="Bookman Old Style" panose="02050604050505020204" pitchFamily="18" charset="0"/>
              </a:rPr>
              <a:t>system</a:t>
            </a:r>
            <a:r>
              <a:rPr lang="en-US" dirty="0">
                <a:latin typeface="Bookman Old Style" panose="02050604050505020204" pitchFamily="18" charset="0"/>
              </a:rPr>
              <a:t>, conditioning and </a:t>
            </a:r>
            <a:r>
              <a:rPr lang="en-US" b="1" dirty="0">
                <a:latin typeface="Bookman Old Style" panose="02050604050505020204" pitchFamily="18" charset="0"/>
              </a:rPr>
              <a:t>interfacing circuits </a:t>
            </a:r>
            <a:r>
              <a:rPr lang="en-US" dirty="0">
                <a:latin typeface="Bookman Old Style" panose="02050604050505020204" pitchFamily="18" charset="0"/>
              </a:rPr>
              <a:t>provide </a:t>
            </a:r>
            <a:r>
              <a:rPr lang="en-US" dirty="0">
                <a:solidFill>
                  <a:srgbClr val="0070C0"/>
                </a:solidFill>
                <a:latin typeface="Bookman Old Style" panose="02050604050505020204" pitchFamily="18" charset="0"/>
              </a:rPr>
              <a:t>connections between the control circuits and the input/output devices </a:t>
            </a:r>
            <a:r>
              <a:rPr lang="en-US" dirty="0">
                <a:latin typeface="Bookman Old Style" panose="02050604050505020204" pitchFamily="18" charset="0"/>
              </a:rPr>
              <a:t>and </a:t>
            </a:r>
            <a:r>
              <a:rPr lang="en-US" b="1" dirty="0">
                <a:latin typeface="Bookman Old Style" panose="02050604050505020204" pitchFamily="18" charset="0"/>
              </a:rPr>
              <a:t>graphical displays </a:t>
            </a:r>
            <a:r>
              <a:rPr lang="en-US" dirty="0">
                <a:latin typeface="Bookman Old Style" panose="02050604050505020204" pitchFamily="18" charset="0"/>
              </a:rPr>
              <a:t>provide </a:t>
            </a:r>
            <a:r>
              <a:rPr lang="en-US" dirty="0">
                <a:solidFill>
                  <a:srgbClr val="0070C0"/>
                </a:solidFill>
                <a:latin typeface="Bookman Old Style" panose="02050604050505020204" pitchFamily="18" charset="0"/>
              </a:rPr>
              <a:t>visual feedback to users</a:t>
            </a:r>
            <a:r>
              <a:rPr lang="en-US" dirty="0">
                <a:latin typeface="Bookman Old Style" panose="02050604050505020204" pitchFamily="18" charset="0"/>
              </a:rPr>
              <a:t>.</a:t>
            </a:r>
          </a:p>
          <a:p>
            <a:pPr algn="just">
              <a:lnSpc>
                <a:spcPct val="150000"/>
              </a:lnSpc>
            </a:pPr>
            <a:r>
              <a:rPr lang="en-US" b="1" dirty="0">
                <a:latin typeface="Bookman Old Style" panose="02050604050505020204" pitchFamily="18" charset="0"/>
              </a:rPr>
              <a:t>Sensors and actuators </a:t>
            </a:r>
            <a:r>
              <a:rPr lang="en-US" dirty="0">
                <a:latin typeface="Bookman Old Style" panose="02050604050505020204" pitchFamily="18" charset="0"/>
              </a:rPr>
              <a:t>are key components of mechanical systems. </a:t>
            </a:r>
          </a:p>
          <a:p>
            <a:pPr algn="just">
              <a:lnSpc>
                <a:spcPct val="150000"/>
              </a:lnSpc>
            </a:pPr>
            <a:r>
              <a:rPr lang="en-US" b="1" dirty="0">
                <a:solidFill>
                  <a:srgbClr val="0070C0"/>
                </a:solidFill>
                <a:latin typeface="Bookman Old Style" panose="02050604050505020204" pitchFamily="18" charset="0"/>
              </a:rPr>
              <a:t>Actuators</a:t>
            </a:r>
            <a:r>
              <a:rPr lang="en-US" dirty="0">
                <a:solidFill>
                  <a:srgbClr val="0070C0"/>
                </a:solidFill>
                <a:latin typeface="Bookman Old Style" panose="02050604050505020204" pitchFamily="18" charset="0"/>
              </a:rPr>
              <a:t> generate motion or actions, while sensors detect system parameters, inputs, and outputs</a:t>
            </a:r>
            <a:r>
              <a:rPr lang="en-US" dirty="0">
                <a:latin typeface="Bookman Old Style" panose="02050604050505020204" pitchFamily="18" charset="0"/>
              </a:rPr>
              <a:t>. Types of actuators include </a:t>
            </a:r>
            <a:r>
              <a:rPr lang="en-US" dirty="0">
                <a:solidFill>
                  <a:srgbClr val="0070C0"/>
                </a:solidFill>
                <a:latin typeface="Bookman Old Style" panose="02050604050505020204" pitchFamily="18" charset="0"/>
              </a:rPr>
              <a:t>pneumatic, hydraulic, electro-mechanical actuators</a:t>
            </a:r>
            <a:r>
              <a:rPr lang="en-US" dirty="0">
                <a:latin typeface="Bookman Old Style" panose="02050604050505020204" pitchFamily="18" charset="0"/>
              </a:rPr>
              <a:t>, and motors such as </a:t>
            </a:r>
            <a:r>
              <a:rPr lang="en-US" dirty="0">
                <a:solidFill>
                  <a:srgbClr val="0070C0"/>
                </a:solidFill>
                <a:latin typeface="Bookman Old Style" panose="02050604050505020204" pitchFamily="18" charset="0"/>
              </a:rPr>
              <a:t>DC, AC, stepper, servomotors, and piezoelectric actuators</a:t>
            </a:r>
            <a:r>
              <a:rPr lang="en-US" dirty="0">
                <a:latin typeface="Bookman Old Style" panose="02050604050505020204" pitchFamily="18" charset="0"/>
              </a:rPr>
              <a:t>. </a:t>
            </a:r>
          </a:p>
          <a:p>
            <a:pPr algn="just">
              <a:lnSpc>
                <a:spcPct val="150000"/>
              </a:lnSpc>
            </a:pPr>
            <a:r>
              <a:rPr lang="en-US" b="1" dirty="0">
                <a:solidFill>
                  <a:srgbClr val="0070C0"/>
                </a:solidFill>
                <a:latin typeface="Bookman Old Style" panose="02050604050505020204" pitchFamily="18" charset="0"/>
              </a:rPr>
              <a:t>Sensors</a:t>
            </a:r>
            <a:r>
              <a:rPr lang="en-US" b="1" dirty="0">
                <a:latin typeface="Bookman Old Style" panose="02050604050505020204" pitchFamily="18" charset="0"/>
              </a:rPr>
              <a:t> </a:t>
            </a:r>
            <a:r>
              <a:rPr lang="en-US" dirty="0">
                <a:latin typeface="Bookman Old Style" panose="02050604050505020204" pitchFamily="18" charset="0"/>
              </a:rPr>
              <a:t>in mechatronic systems include </a:t>
            </a:r>
            <a:r>
              <a:rPr lang="en-US" dirty="0">
                <a:solidFill>
                  <a:srgbClr val="0070C0"/>
                </a:solidFill>
                <a:latin typeface="Bookman Old Style" panose="02050604050505020204" pitchFamily="18" charset="0"/>
              </a:rPr>
              <a:t>linear and rotational sensors, acceleration sensors, force, torque, pressure, flow, temperature, proximity, and light sensors.</a:t>
            </a:r>
            <a:endParaRPr lang="en-IN" dirty="0">
              <a:solidFill>
                <a:srgbClr val="0070C0"/>
              </a:solidFill>
              <a:latin typeface="Bookman Old Style" panose="02050604050505020204" pitchFamily="18" charset="0"/>
            </a:endParaRPr>
          </a:p>
        </p:txBody>
      </p:sp>
    </p:spTree>
    <p:extLst>
      <p:ext uri="{BB962C8B-B14F-4D97-AF65-F5344CB8AC3E}">
        <p14:creationId xmlns:p14="http://schemas.microsoft.com/office/powerpoint/2010/main" val="685795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15D2F06-9D80-4C9F-BF35-2AAFABCF13A0}"/>
              </a:ext>
            </a:extLst>
          </p:cNvPr>
          <p:cNvSpPr>
            <a:spLocks noGrp="1"/>
          </p:cNvSpPr>
          <p:nvPr>
            <p:ph type="dt" sz="half" idx="10"/>
          </p:nvPr>
        </p:nvSpPr>
        <p:spPr/>
        <p:txBody>
          <a:bodyPr/>
          <a:lstStyle/>
          <a:p>
            <a:pPr algn="ctr"/>
            <a:fld id="{6BA3F8B8-C75C-44FF-9C37-B9B69285372F}" type="datetime2">
              <a:rPr lang="en-IN" smtClean="0"/>
              <a:t>Monday, 30 December 2024</a:t>
            </a:fld>
            <a:endParaRPr lang="en-IN" dirty="0"/>
          </a:p>
        </p:txBody>
      </p:sp>
      <p:sp>
        <p:nvSpPr>
          <p:cNvPr id="4" name="Slide Number Placeholder 3">
            <a:extLst>
              <a:ext uri="{FF2B5EF4-FFF2-40B4-BE49-F238E27FC236}">
                <a16:creationId xmlns:a16="http://schemas.microsoft.com/office/drawing/2014/main" id="{76223F97-7264-4464-9ABF-67079758853E}"/>
              </a:ext>
            </a:extLst>
          </p:cNvPr>
          <p:cNvSpPr>
            <a:spLocks noGrp="1"/>
          </p:cNvSpPr>
          <p:nvPr>
            <p:ph type="sldNum" sz="quarter" idx="12"/>
          </p:nvPr>
        </p:nvSpPr>
        <p:spPr/>
        <p:txBody>
          <a:bodyPr/>
          <a:lstStyle/>
          <a:p>
            <a:fld id="{9BA15CD2-76D6-4EFE-91D9-7087332E3318}" type="slidenum">
              <a:rPr lang="en-IN" smtClean="0"/>
              <a:pPr/>
              <a:t>8</a:t>
            </a:fld>
            <a:endParaRPr lang="en-IN" dirty="0"/>
          </a:p>
        </p:txBody>
      </p:sp>
      <p:sp>
        <p:nvSpPr>
          <p:cNvPr id="5" name="Rectangle 4">
            <a:extLst>
              <a:ext uri="{FF2B5EF4-FFF2-40B4-BE49-F238E27FC236}">
                <a16:creationId xmlns:a16="http://schemas.microsoft.com/office/drawing/2014/main" id="{FE5706A0-3548-47FD-B1D2-B387A3814D83}"/>
              </a:ext>
            </a:extLst>
          </p:cNvPr>
          <p:cNvSpPr/>
          <p:nvPr/>
        </p:nvSpPr>
        <p:spPr>
          <a:xfrm>
            <a:off x="10441858" y="145670"/>
            <a:ext cx="1575330" cy="9686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ookman Old Style" panose="02050604050505020204" pitchFamily="18" charset="0"/>
            </a:endParaRPr>
          </a:p>
        </p:txBody>
      </p:sp>
      <p:sp>
        <p:nvSpPr>
          <p:cNvPr id="7" name="Rectangle 6">
            <a:extLst>
              <a:ext uri="{FF2B5EF4-FFF2-40B4-BE49-F238E27FC236}">
                <a16:creationId xmlns:a16="http://schemas.microsoft.com/office/drawing/2014/main" id="{2DB26C52-37A5-48FF-8386-5D1A268B6FE3}"/>
              </a:ext>
            </a:extLst>
          </p:cNvPr>
          <p:cNvSpPr/>
          <p:nvPr/>
        </p:nvSpPr>
        <p:spPr>
          <a:xfrm>
            <a:off x="2803398" y="368386"/>
            <a:ext cx="6803466" cy="523220"/>
          </a:xfrm>
          <a:prstGeom prst="rect">
            <a:avLst/>
          </a:prstGeom>
        </p:spPr>
        <p:txBody>
          <a:bodyPr wrap="none">
            <a:spAutoFit/>
          </a:bodyPr>
          <a:lstStyle/>
          <a:p>
            <a:pPr algn="ctr"/>
            <a:r>
              <a:rPr lang="en-US" sz="2800" b="1" dirty="0">
                <a:solidFill>
                  <a:srgbClr val="0070C0"/>
                </a:solidFill>
                <a:latin typeface="Bookman Old Style" panose="02050604050505020204" pitchFamily="18" charset="0"/>
              </a:rPr>
              <a:t>Mechatronics System Components </a:t>
            </a:r>
            <a:endParaRPr lang="en-IN" sz="2800" b="1" dirty="0">
              <a:solidFill>
                <a:srgbClr val="0070C0"/>
              </a:solidFill>
              <a:latin typeface="Bookman Old Style" panose="02050604050505020204" pitchFamily="18" charset="0"/>
            </a:endParaRPr>
          </a:p>
        </p:txBody>
      </p:sp>
      <p:sp>
        <p:nvSpPr>
          <p:cNvPr id="2" name="Rectangle 1">
            <a:extLst>
              <a:ext uri="{FF2B5EF4-FFF2-40B4-BE49-F238E27FC236}">
                <a16:creationId xmlns:a16="http://schemas.microsoft.com/office/drawing/2014/main" id="{C9B4FC59-C354-4CBE-86AD-D8A5710C73D8}"/>
              </a:ext>
            </a:extLst>
          </p:cNvPr>
          <p:cNvSpPr/>
          <p:nvPr/>
        </p:nvSpPr>
        <p:spPr>
          <a:xfrm>
            <a:off x="547668" y="1093240"/>
            <a:ext cx="10681855" cy="5031249"/>
          </a:xfrm>
          <a:prstGeom prst="rect">
            <a:avLst/>
          </a:prstGeom>
        </p:spPr>
        <p:txBody>
          <a:bodyPr wrap="square">
            <a:spAutoFit/>
          </a:bodyPr>
          <a:lstStyle/>
          <a:p>
            <a:pPr algn="just">
              <a:lnSpc>
                <a:spcPct val="150000"/>
              </a:lnSpc>
            </a:pPr>
            <a:r>
              <a:rPr lang="en-US" b="1" dirty="0">
                <a:latin typeface="Bookman Old Style" panose="02050604050505020204" pitchFamily="18" charset="0"/>
              </a:rPr>
              <a:t>Signals and Conditioning: </a:t>
            </a:r>
            <a:r>
              <a:rPr lang="en-US" dirty="0">
                <a:latin typeface="Bookman Old Style" panose="02050604050505020204" pitchFamily="18" charset="0"/>
              </a:rPr>
              <a:t>Mechatronic systems handle </a:t>
            </a:r>
            <a:r>
              <a:rPr lang="en-US" dirty="0">
                <a:solidFill>
                  <a:srgbClr val="0070C0"/>
                </a:solidFill>
                <a:latin typeface="Bookman Old Style" panose="02050604050505020204" pitchFamily="18" charset="0"/>
              </a:rPr>
              <a:t>input and output signals</a:t>
            </a:r>
            <a:r>
              <a:rPr lang="en-US" dirty="0">
                <a:latin typeface="Bookman Old Style" panose="02050604050505020204" pitchFamily="18" charset="0"/>
              </a:rPr>
              <a:t>. Sensors and interfacing devices </a:t>
            </a:r>
            <a:r>
              <a:rPr lang="en-US" dirty="0">
                <a:solidFill>
                  <a:srgbClr val="0070C0"/>
                </a:solidFill>
                <a:latin typeface="Bookman Old Style" panose="02050604050505020204" pitchFamily="18" charset="0"/>
              </a:rPr>
              <a:t>send input signals to control circuits via amplifiers and A/D or D/D converters. </a:t>
            </a:r>
            <a:r>
              <a:rPr lang="en-US" dirty="0">
                <a:latin typeface="Bookman Old Style" panose="02050604050505020204" pitchFamily="18" charset="0"/>
              </a:rPr>
              <a:t>Output signals are sent to displays or devices through D/A converters, decoders, amplifiers, and power transistors.</a:t>
            </a:r>
          </a:p>
          <a:p>
            <a:pPr algn="just">
              <a:lnSpc>
                <a:spcPct val="150000"/>
              </a:lnSpc>
            </a:pPr>
            <a:r>
              <a:rPr lang="en-US" b="1" dirty="0">
                <a:latin typeface="Bookman Old Style" panose="02050604050505020204" pitchFamily="18" charset="0"/>
              </a:rPr>
              <a:t>Digital logic devices </a:t>
            </a:r>
            <a:r>
              <a:rPr lang="en-US" dirty="0">
                <a:latin typeface="Bookman Old Style" panose="02050604050505020204" pitchFamily="18" charset="0"/>
              </a:rPr>
              <a:t>control </a:t>
            </a:r>
            <a:r>
              <a:rPr lang="en-US" dirty="0">
                <a:solidFill>
                  <a:srgbClr val="0070C0"/>
                </a:solidFill>
                <a:latin typeface="Bookman Old Style" panose="02050604050505020204" pitchFamily="18" charset="0"/>
              </a:rPr>
              <a:t>overall system operation</a:t>
            </a:r>
            <a:r>
              <a:rPr lang="en-US" dirty="0">
                <a:latin typeface="Bookman Old Style" panose="02050604050505020204" pitchFamily="18" charset="0"/>
              </a:rPr>
              <a:t>. The various digital logic systems used in the mechatronic system are logic circuits, microcontrollers, programmable logic controllers, sequencing and timing controls, and control algorithms.</a:t>
            </a:r>
          </a:p>
          <a:p>
            <a:pPr algn="just">
              <a:lnSpc>
                <a:spcPct val="150000"/>
              </a:lnSpc>
            </a:pPr>
            <a:r>
              <a:rPr lang="en-US" b="1" dirty="0">
                <a:latin typeface="Bookman Old Style" panose="02050604050505020204" pitchFamily="18" charset="0"/>
              </a:rPr>
              <a:t>Software and Data Acquisition: </a:t>
            </a:r>
            <a:r>
              <a:rPr lang="en-US" dirty="0">
                <a:latin typeface="Bookman Old Style" panose="02050604050505020204" pitchFamily="18" charset="0"/>
              </a:rPr>
              <a:t>Data acquisition systems collect sensor outputs (voltage, frequency, resistance) and input them into a microprocessor or computer. Software controls data acquisition through DAC boards. These systems include multiplexers, amplifiers, registers, control circuits, and DAC boards, with examples like data loggers and computers with plug-in boards.</a:t>
            </a:r>
            <a:endParaRPr lang="en-IN" dirty="0">
              <a:latin typeface="Bookman Old Style" panose="02050604050505020204" pitchFamily="18" charset="0"/>
            </a:endParaRPr>
          </a:p>
        </p:txBody>
      </p:sp>
    </p:spTree>
    <p:extLst>
      <p:ext uri="{BB962C8B-B14F-4D97-AF65-F5344CB8AC3E}">
        <p14:creationId xmlns:p14="http://schemas.microsoft.com/office/powerpoint/2010/main" val="1134079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15D2F06-9D80-4C9F-BF35-2AAFABCF13A0}"/>
              </a:ext>
            </a:extLst>
          </p:cNvPr>
          <p:cNvSpPr>
            <a:spLocks noGrp="1"/>
          </p:cNvSpPr>
          <p:nvPr>
            <p:ph type="dt" sz="half" idx="10"/>
          </p:nvPr>
        </p:nvSpPr>
        <p:spPr/>
        <p:txBody>
          <a:bodyPr/>
          <a:lstStyle/>
          <a:p>
            <a:pPr algn="ctr"/>
            <a:fld id="{6BA3F8B8-C75C-44FF-9C37-B9B69285372F}" type="datetime2">
              <a:rPr lang="en-IN" smtClean="0"/>
              <a:t>Monday, 30 December 2024</a:t>
            </a:fld>
            <a:endParaRPr lang="en-IN" dirty="0"/>
          </a:p>
        </p:txBody>
      </p:sp>
      <p:sp>
        <p:nvSpPr>
          <p:cNvPr id="4" name="Slide Number Placeholder 3">
            <a:extLst>
              <a:ext uri="{FF2B5EF4-FFF2-40B4-BE49-F238E27FC236}">
                <a16:creationId xmlns:a16="http://schemas.microsoft.com/office/drawing/2014/main" id="{76223F97-7264-4464-9ABF-67079758853E}"/>
              </a:ext>
            </a:extLst>
          </p:cNvPr>
          <p:cNvSpPr>
            <a:spLocks noGrp="1"/>
          </p:cNvSpPr>
          <p:nvPr>
            <p:ph type="sldNum" sz="quarter" idx="12"/>
          </p:nvPr>
        </p:nvSpPr>
        <p:spPr/>
        <p:txBody>
          <a:bodyPr/>
          <a:lstStyle/>
          <a:p>
            <a:fld id="{9BA15CD2-76D6-4EFE-91D9-7087332E3318}" type="slidenum">
              <a:rPr lang="en-IN" smtClean="0"/>
              <a:pPr/>
              <a:t>9</a:t>
            </a:fld>
            <a:endParaRPr lang="en-IN" dirty="0"/>
          </a:p>
        </p:txBody>
      </p:sp>
      <p:sp>
        <p:nvSpPr>
          <p:cNvPr id="5" name="Rectangle 4">
            <a:extLst>
              <a:ext uri="{FF2B5EF4-FFF2-40B4-BE49-F238E27FC236}">
                <a16:creationId xmlns:a16="http://schemas.microsoft.com/office/drawing/2014/main" id="{FE5706A0-3548-47FD-B1D2-B387A3814D83}"/>
              </a:ext>
            </a:extLst>
          </p:cNvPr>
          <p:cNvSpPr/>
          <p:nvPr/>
        </p:nvSpPr>
        <p:spPr>
          <a:xfrm>
            <a:off x="10441858" y="145670"/>
            <a:ext cx="1575330" cy="9686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ookman Old Style" panose="02050604050505020204" pitchFamily="18" charset="0"/>
            </a:endParaRPr>
          </a:p>
        </p:txBody>
      </p:sp>
      <p:sp>
        <p:nvSpPr>
          <p:cNvPr id="7" name="Rectangle 6">
            <a:extLst>
              <a:ext uri="{FF2B5EF4-FFF2-40B4-BE49-F238E27FC236}">
                <a16:creationId xmlns:a16="http://schemas.microsoft.com/office/drawing/2014/main" id="{2DB26C52-37A5-48FF-8386-5D1A268B6FE3}"/>
              </a:ext>
            </a:extLst>
          </p:cNvPr>
          <p:cNvSpPr/>
          <p:nvPr/>
        </p:nvSpPr>
        <p:spPr>
          <a:xfrm>
            <a:off x="2803398" y="368386"/>
            <a:ext cx="6803466" cy="523220"/>
          </a:xfrm>
          <a:prstGeom prst="rect">
            <a:avLst/>
          </a:prstGeom>
        </p:spPr>
        <p:txBody>
          <a:bodyPr wrap="none">
            <a:spAutoFit/>
          </a:bodyPr>
          <a:lstStyle/>
          <a:p>
            <a:pPr algn="ctr"/>
            <a:r>
              <a:rPr lang="en-US" sz="2800" b="1" dirty="0">
                <a:solidFill>
                  <a:srgbClr val="0070C0"/>
                </a:solidFill>
                <a:latin typeface="Bookman Old Style" panose="02050604050505020204" pitchFamily="18" charset="0"/>
              </a:rPr>
              <a:t>Mechatronics System Components </a:t>
            </a:r>
            <a:endParaRPr lang="en-IN" sz="2800" b="1" dirty="0">
              <a:solidFill>
                <a:srgbClr val="0070C0"/>
              </a:solidFill>
              <a:latin typeface="Bookman Old Style" panose="02050604050505020204" pitchFamily="18" charset="0"/>
            </a:endParaRPr>
          </a:p>
        </p:txBody>
      </p:sp>
      <p:sp>
        <p:nvSpPr>
          <p:cNvPr id="2" name="Rectangle 1">
            <a:extLst>
              <a:ext uri="{FF2B5EF4-FFF2-40B4-BE49-F238E27FC236}">
                <a16:creationId xmlns:a16="http://schemas.microsoft.com/office/drawing/2014/main" id="{C9B4FC59-C354-4CBE-86AD-D8A5710C73D8}"/>
              </a:ext>
            </a:extLst>
          </p:cNvPr>
          <p:cNvSpPr/>
          <p:nvPr/>
        </p:nvSpPr>
        <p:spPr>
          <a:xfrm>
            <a:off x="484909" y="977485"/>
            <a:ext cx="11222182" cy="1291764"/>
          </a:xfrm>
          <a:prstGeom prst="rect">
            <a:avLst/>
          </a:prstGeom>
        </p:spPr>
        <p:txBody>
          <a:bodyPr wrap="square">
            <a:spAutoFit/>
          </a:bodyPr>
          <a:lstStyle/>
          <a:p>
            <a:pPr algn="just">
              <a:lnSpc>
                <a:spcPct val="150000"/>
              </a:lnSpc>
            </a:pPr>
            <a:r>
              <a:rPr lang="en-US" b="1" dirty="0">
                <a:latin typeface="Bookman Old Style" panose="02050604050505020204" pitchFamily="18" charset="0"/>
              </a:rPr>
              <a:t>Computers </a:t>
            </a:r>
            <a:r>
              <a:rPr lang="en-US" dirty="0">
                <a:latin typeface="Bookman Old Style" panose="02050604050505020204" pitchFamily="18" charset="0"/>
              </a:rPr>
              <a:t>are used to store a large number of data and process further through software. Display devices are used to give visual feedback to the user. The various display devices used in the mechatronic system are LEDs, CRT, LCD, digital displays, etc.</a:t>
            </a:r>
          </a:p>
        </p:txBody>
      </p:sp>
    </p:spTree>
    <p:extLst>
      <p:ext uri="{BB962C8B-B14F-4D97-AF65-F5344CB8AC3E}">
        <p14:creationId xmlns:p14="http://schemas.microsoft.com/office/powerpoint/2010/main" val="1969304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DAC3DD39-72EB-DB75-6A4E-726D66202F6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5C40F34-8F68-66DB-5E8B-CD90A6239895}"/>
              </a:ext>
            </a:extLst>
          </p:cNvPr>
          <p:cNvSpPr txBox="1"/>
          <p:nvPr/>
        </p:nvSpPr>
        <p:spPr>
          <a:xfrm>
            <a:off x="2756444" y="154793"/>
            <a:ext cx="6651777" cy="913199"/>
          </a:xfrm>
          <a:prstGeom prst="rect">
            <a:avLst/>
          </a:prstGeom>
          <a:noFill/>
        </p:spPr>
        <p:txBody>
          <a:bodyPr wrap="square">
            <a:spAutoFit/>
          </a:bodyPr>
          <a:lstStyle/>
          <a:p>
            <a:pPr algn="ctr" defTabSz="1219170">
              <a:buClr>
                <a:srgbClr val="000000"/>
              </a:buClr>
            </a:pPr>
            <a:r>
              <a:rPr lang="en-US" altLang="en-US" sz="2667" b="1" kern="0" dirty="0">
                <a:solidFill>
                  <a:srgbClr val="0070C0"/>
                </a:solidFill>
                <a:latin typeface="Bookman Old Style" panose="02050604050505020204" pitchFamily="18" charset="0"/>
                <a:cs typeface="Arial"/>
                <a:sym typeface="Arial"/>
              </a:rPr>
              <a:t>Phase of Mechatronic system design  process</a:t>
            </a:r>
          </a:p>
        </p:txBody>
      </p:sp>
      <p:sp>
        <p:nvSpPr>
          <p:cNvPr id="24" name="TextBox 23">
            <a:extLst>
              <a:ext uri="{FF2B5EF4-FFF2-40B4-BE49-F238E27FC236}">
                <a16:creationId xmlns:a16="http://schemas.microsoft.com/office/drawing/2014/main" id="{A117D0CF-60D2-0211-4025-893997C5FD79}"/>
              </a:ext>
            </a:extLst>
          </p:cNvPr>
          <p:cNvSpPr txBox="1"/>
          <p:nvPr/>
        </p:nvSpPr>
        <p:spPr>
          <a:xfrm>
            <a:off x="8638717" y="1148009"/>
            <a:ext cx="3288879" cy="338554"/>
          </a:xfrm>
          <a:prstGeom prst="rect">
            <a:avLst/>
          </a:prstGeom>
          <a:noFill/>
        </p:spPr>
        <p:txBody>
          <a:bodyPr wrap="square">
            <a:spAutoFit/>
          </a:bodyPr>
          <a:lstStyle/>
          <a:p>
            <a:pPr algn="ctr" defTabSz="1219170">
              <a:buClr>
                <a:srgbClr val="000000"/>
              </a:buClr>
            </a:pPr>
            <a:r>
              <a:rPr lang="en-IN" sz="1600" b="1" kern="0" dirty="0">
                <a:solidFill>
                  <a:srgbClr val="0070C0"/>
                </a:solidFill>
                <a:latin typeface="Bookman Old Style" panose="02050604050505020204" pitchFamily="18" charset="0"/>
                <a:cs typeface="Arial"/>
                <a:sym typeface="Arial"/>
              </a:rPr>
              <a:t>Deployment/Life Cycle</a:t>
            </a:r>
          </a:p>
        </p:txBody>
      </p:sp>
      <p:grpSp>
        <p:nvGrpSpPr>
          <p:cNvPr id="8242" name="Group 8241">
            <a:extLst>
              <a:ext uri="{FF2B5EF4-FFF2-40B4-BE49-F238E27FC236}">
                <a16:creationId xmlns:a16="http://schemas.microsoft.com/office/drawing/2014/main" id="{F54770D5-2580-3B34-E96F-8BEE9A47772C}"/>
              </a:ext>
            </a:extLst>
          </p:cNvPr>
          <p:cNvGrpSpPr/>
          <p:nvPr/>
        </p:nvGrpSpPr>
        <p:grpSpPr>
          <a:xfrm>
            <a:off x="650989" y="1161526"/>
            <a:ext cx="11276607" cy="5367708"/>
            <a:chOff x="363583" y="880825"/>
            <a:chExt cx="8457455" cy="4025781"/>
          </a:xfrm>
        </p:grpSpPr>
        <p:sp>
          <p:nvSpPr>
            <p:cNvPr id="6" name="TextBox 5">
              <a:extLst>
                <a:ext uri="{FF2B5EF4-FFF2-40B4-BE49-F238E27FC236}">
                  <a16:creationId xmlns:a16="http://schemas.microsoft.com/office/drawing/2014/main" id="{CC297FC9-690F-DF28-5543-A20F14B2FD32}"/>
                </a:ext>
              </a:extLst>
            </p:cNvPr>
            <p:cNvSpPr txBox="1"/>
            <p:nvPr/>
          </p:nvSpPr>
          <p:spPr>
            <a:xfrm>
              <a:off x="1054911" y="880825"/>
              <a:ext cx="1872867" cy="253915"/>
            </a:xfrm>
            <a:prstGeom prst="rect">
              <a:avLst/>
            </a:prstGeom>
            <a:noFill/>
          </p:spPr>
          <p:txBody>
            <a:bodyPr wrap="square">
              <a:spAutoFit/>
            </a:bodyPr>
            <a:lstStyle/>
            <a:p>
              <a:pPr defTabSz="1219170">
                <a:buClr>
                  <a:srgbClr val="000000"/>
                </a:buClr>
              </a:pPr>
              <a:r>
                <a:rPr lang="en-IN" sz="1600" b="1" kern="0" dirty="0">
                  <a:solidFill>
                    <a:srgbClr val="0070C0"/>
                  </a:solidFill>
                  <a:latin typeface="Bookman Old Style" panose="02050604050505020204" pitchFamily="18" charset="0"/>
                  <a:cs typeface="Arial"/>
                  <a:sym typeface="Arial"/>
                </a:rPr>
                <a:t>Modeling/Simulation</a:t>
              </a:r>
            </a:p>
          </p:txBody>
        </p:sp>
        <p:sp>
          <p:nvSpPr>
            <p:cNvPr id="8" name="TextBox 7">
              <a:extLst>
                <a:ext uri="{FF2B5EF4-FFF2-40B4-BE49-F238E27FC236}">
                  <a16:creationId xmlns:a16="http://schemas.microsoft.com/office/drawing/2014/main" id="{4FA990CC-C755-F0EC-780A-D8F1C4326B1E}"/>
                </a:ext>
              </a:extLst>
            </p:cNvPr>
            <p:cNvSpPr txBox="1"/>
            <p:nvPr/>
          </p:nvSpPr>
          <p:spPr>
            <a:xfrm>
              <a:off x="1025471" y="1326709"/>
              <a:ext cx="2104222" cy="253915"/>
            </a:xfrm>
            <a:prstGeom prst="rect">
              <a:avLst/>
            </a:prstGeom>
            <a:noFill/>
            <a:ln w="38100">
              <a:solidFill>
                <a:schemeClr val="tx1"/>
              </a:solidFill>
            </a:ln>
          </p:spPr>
          <p:txBody>
            <a:bodyPr wrap="square">
              <a:spAutoFit/>
            </a:bodyPr>
            <a:lstStyle/>
            <a:p>
              <a:pPr algn="ctr" defTabSz="1219170">
                <a:buClr>
                  <a:srgbClr val="000000"/>
                </a:buClr>
              </a:pPr>
              <a:r>
                <a:rPr lang="en-IN" sz="1600" kern="0" dirty="0">
                  <a:solidFill>
                    <a:srgbClr val="000000"/>
                  </a:solidFill>
                  <a:latin typeface="Bookman Old Style" panose="02050604050505020204" pitchFamily="18" charset="0"/>
                  <a:cs typeface="Arial"/>
                  <a:sym typeface="Arial"/>
                </a:rPr>
                <a:t>Recognition of the Need</a:t>
              </a:r>
            </a:p>
          </p:txBody>
        </p:sp>
        <p:sp>
          <p:nvSpPr>
            <p:cNvPr id="10" name="TextBox 9">
              <a:extLst>
                <a:ext uri="{FF2B5EF4-FFF2-40B4-BE49-F238E27FC236}">
                  <a16:creationId xmlns:a16="http://schemas.microsoft.com/office/drawing/2014/main" id="{4A397D7C-91F1-DD5B-ED57-B68DA6C003B7}"/>
                </a:ext>
              </a:extLst>
            </p:cNvPr>
            <p:cNvSpPr txBox="1"/>
            <p:nvPr/>
          </p:nvSpPr>
          <p:spPr>
            <a:xfrm>
              <a:off x="1025470" y="4568409"/>
              <a:ext cx="2104222" cy="253915"/>
            </a:xfrm>
            <a:prstGeom prst="rect">
              <a:avLst/>
            </a:prstGeom>
            <a:noFill/>
            <a:ln w="38100">
              <a:solidFill>
                <a:schemeClr val="tx1"/>
              </a:solidFill>
            </a:ln>
          </p:spPr>
          <p:txBody>
            <a:bodyPr wrap="square">
              <a:spAutoFit/>
            </a:bodyPr>
            <a:lstStyle/>
            <a:p>
              <a:pPr algn="ctr" defTabSz="1219170">
                <a:buClr>
                  <a:srgbClr val="000000"/>
                </a:buClr>
              </a:pPr>
              <a:r>
                <a:rPr lang="en-IN" sz="1600" kern="0" dirty="0">
                  <a:solidFill>
                    <a:srgbClr val="000000"/>
                  </a:solidFill>
                  <a:latin typeface="Bookman Old Style" panose="02050604050505020204" pitchFamily="18" charset="0"/>
                  <a:cs typeface="Arial"/>
                  <a:sym typeface="Arial"/>
                </a:rPr>
                <a:t>Design Optimization</a:t>
              </a:r>
            </a:p>
          </p:txBody>
        </p:sp>
        <p:sp>
          <p:nvSpPr>
            <p:cNvPr id="11" name="TextBox 10">
              <a:extLst>
                <a:ext uri="{FF2B5EF4-FFF2-40B4-BE49-F238E27FC236}">
                  <a16:creationId xmlns:a16="http://schemas.microsoft.com/office/drawing/2014/main" id="{486A23DE-8417-F28D-FD29-718A709A42E0}"/>
                </a:ext>
              </a:extLst>
            </p:cNvPr>
            <p:cNvSpPr txBox="1"/>
            <p:nvPr/>
          </p:nvSpPr>
          <p:spPr>
            <a:xfrm>
              <a:off x="1029374" y="1761540"/>
              <a:ext cx="2104222" cy="438581"/>
            </a:xfrm>
            <a:prstGeom prst="rect">
              <a:avLst/>
            </a:prstGeom>
            <a:noFill/>
            <a:ln w="38100">
              <a:solidFill>
                <a:schemeClr val="tx1"/>
              </a:solidFill>
            </a:ln>
          </p:spPr>
          <p:txBody>
            <a:bodyPr wrap="square">
              <a:spAutoFit/>
            </a:bodyPr>
            <a:lstStyle/>
            <a:p>
              <a:pPr algn="ctr" defTabSz="1219170">
                <a:buClr>
                  <a:srgbClr val="000000"/>
                </a:buClr>
              </a:pPr>
              <a:r>
                <a:rPr lang="en-IN" sz="1600" kern="0" dirty="0">
                  <a:solidFill>
                    <a:srgbClr val="000000"/>
                  </a:solidFill>
                  <a:latin typeface="Bookman Old Style" panose="02050604050505020204" pitchFamily="18" charset="0"/>
                  <a:cs typeface="Arial"/>
                  <a:sym typeface="Arial"/>
                </a:rPr>
                <a:t>Conceptual Design and Functional Specification</a:t>
              </a:r>
            </a:p>
          </p:txBody>
        </p:sp>
        <p:sp>
          <p:nvSpPr>
            <p:cNvPr id="12" name="TextBox 11">
              <a:extLst>
                <a:ext uri="{FF2B5EF4-FFF2-40B4-BE49-F238E27FC236}">
                  <a16:creationId xmlns:a16="http://schemas.microsoft.com/office/drawing/2014/main" id="{6A6E4BE2-493E-1F0F-764D-895CB17C26D8}"/>
                </a:ext>
              </a:extLst>
            </p:cNvPr>
            <p:cNvSpPr txBox="1"/>
            <p:nvPr/>
          </p:nvSpPr>
          <p:spPr>
            <a:xfrm>
              <a:off x="1025470" y="2349974"/>
              <a:ext cx="2104222" cy="438581"/>
            </a:xfrm>
            <a:prstGeom prst="rect">
              <a:avLst/>
            </a:prstGeom>
            <a:noFill/>
            <a:ln w="38100">
              <a:solidFill>
                <a:schemeClr val="tx1"/>
              </a:solidFill>
            </a:ln>
          </p:spPr>
          <p:txBody>
            <a:bodyPr wrap="square">
              <a:spAutoFit/>
            </a:bodyPr>
            <a:lstStyle/>
            <a:p>
              <a:pPr algn="ctr" defTabSz="1219170">
                <a:buClr>
                  <a:srgbClr val="000000"/>
                </a:buClr>
              </a:pPr>
              <a:r>
                <a:rPr lang="en-IN" sz="1600" kern="0" dirty="0">
                  <a:solidFill>
                    <a:srgbClr val="000000"/>
                  </a:solidFill>
                  <a:latin typeface="Bookman Old Style" panose="02050604050505020204" pitchFamily="18" charset="0"/>
                  <a:cs typeface="Arial"/>
                  <a:sym typeface="Arial"/>
                </a:rPr>
                <a:t>First Principle Modular Mathematical Modeling</a:t>
              </a:r>
            </a:p>
          </p:txBody>
        </p:sp>
        <p:sp>
          <p:nvSpPr>
            <p:cNvPr id="13" name="TextBox 12">
              <a:extLst>
                <a:ext uri="{FF2B5EF4-FFF2-40B4-BE49-F238E27FC236}">
                  <a16:creationId xmlns:a16="http://schemas.microsoft.com/office/drawing/2014/main" id="{A2BA6B4C-4173-A769-2350-D3BACE126477}"/>
                </a:ext>
              </a:extLst>
            </p:cNvPr>
            <p:cNvSpPr txBox="1"/>
            <p:nvPr/>
          </p:nvSpPr>
          <p:spPr>
            <a:xfrm>
              <a:off x="1025470" y="2948966"/>
              <a:ext cx="2104222" cy="438581"/>
            </a:xfrm>
            <a:prstGeom prst="rect">
              <a:avLst/>
            </a:prstGeom>
            <a:noFill/>
            <a:ln w="38100">
              <a:solidFill>
                <a:schemeClr val="tx1"/>
              </a:solidFill>
            </a:ln>
          </p:spPr>
          <p:txBody>
            <a:bodyPr wrap="square">
              <a:spAutoFit/>
            </a:bodyPr>
            <a:lstStyle/>
            <a:p>
              <a:pPr algn="ctr" defTabSz="1219170">
                <a:buClr>
                  <a:srgbClr val="000000"/>
                </a:buClr>
              </a:pPr>
              <a:r>
                <a:rPr lang="en-IN" sz="1600" kern="0" dirty="0">
                  <a:solidFill>
                    <a:srgbClr val="000000"/>
                  </a:solidFill>
                  <a:latin typeface="Bookman Old Style" panose="02050604050505020204" pitchFamily="18" charset="0"/>
                  <a:cs typeface="Arial"/>
                  <a:sym typeface="Arial"/>
                </a:rPr>
                <a:t>Sensor and Actuator Selection</a:t>
              </a:r>
            </a:p>
          </p:txBody>
        </p:sp>
        <p:sp>
          <p:nvSpPr>
            <p:cNvPr id="14" name="TextBox 13">
              <a:extLst>
                <a:ext uri="{FF2B5EF4-FFF2-40B4-BE49-F238E27FC236}">
                  <a16:creationId xmlns:a16="http://schemas.microsoft.com/office/drawing/2014/main" id="{7CCA5A7B-FE6E-E7E9-3EB5-B291E0BCB6A8}"/>
                </a:ext>
              </a:extLst>
            </p:cNvPr>
            <p:cNvSpPr txBox="1"/>
            <p:nvPr/>
          </p:nvSpPr>
          <p:spPr>
            <a:xfrm>
              <a:off x="1025470" y="3563394"/>
              <a:ext cx="2104222" cy="438581"/>
            </a:xfrm>
            <a:prstGeom prst="rect">
              <a:avLst/>
            </a:prstGeom>
            <a:noFill/>
            <a:ln w="38100">
              <a:solidFill>
                <a:schemeClr val="tx1"/>
              </a:solidFill>
            </a:ln>
          </p:spPr>
          <p:txBody>
            <a:bodyPr wrap="square">
              <a:spAutoFit/>
            </a:bodyPr>
            <a:lstStyle/>
            <a:p>
              <a:pPr algn="ctr" defTabSz="1219170">
                <a:buClr>
                  <a:srgbClr val="000000"/>
                </a:buClr>
              </a:pPr>
              <a:r>
                <a:rPr lang="en-IN" sz="1600" kern="0" dirty="0">
                  <a:solidFill>
                    <a:srgbClr val="000000"/>
                  </a:solidFill>
                  <a:latin typeface="Bookman Old Style" panose="02050604050505020204" pitchFamily="18" charset="0"/>
                  <a:cs typeface="Arial"/>
                  <a:sym typeface="Arial"/>
                </a:rPr>
                <a:t>Detailed Modular Mathematical Modeling</a:t>
              </a:r>
            </a:p>
          </p:txBody>
        </p:sp>
        <p:sp>
          <p:nvSpPr>
            <p:cNvPr id="15" name="TextBox 14">
              <a:extLst>
                <a:ext uri="{FF2B5EF4-FFF2-40B4-BE49-F238E27FC236}">
                  <a16:creationId xmlns:a16="http://schemas.microsoft.com/office/drawing/2014/main" id="{479E4F64-0031-0A1D-4CAF-21320907B1E6}"/>
                </a:ext>
              </a:extLst>
            </p:cNvPr>
            <p:cNvSpPr txBox="1"/>
            <p:nvPr/>
          </p:nvSpPr>
          <p:spPr>
            <a:xfrm>
              <a:off x="1025470" y="4156756"/>
              <a:ext cx="2104222" cy="253916"/>
            </a:xfrm>
            <a:prstGeom prst="rect">
              <a:avLst/>
            </a:prstGeom>
            <a:noFill/>
            <a:ln w="38100">
              <a:solidFill>
                <a:schemeClr val="tx1"/>
              </a:solidFill>
            </a:ln>
          </p:spPr>
          <p:txBody>
            <a:bodyPr wrap="square">
              <a:spAutoFit/>
            </a:bodyPr>
            <a:lstStyle/>
            <a:p>
              <a:pPr algn="ctr" defTabSz="1219170">
                <a:buClr>
                  <a:srgbClr val="000000"/>
                </a:buClr>
              </a:pPr>
              <a:r>
                <a:rPr lang="en-IN" sz="1600" kern="0" dirty="0">
                  <a:solidFill>
                    <a:srgbClr val="000000"/>
                  </a:solidFill>
                  <a:latin typeface="Bookman Old Style" panose="02050604050505020204" pitchFamily="18" charset="0"/>
                  <a:cs typeface="Arial"/>
                  <a:sym typeface="Arial"/>
                </a:rPr>
                <a:t>Control System Design</a:t>
              </a:r>
            </a:p>
          </p:txBody>
        </p:sp>
        <p:sp>
          <p:nvSpPr>
            <p:cNvPr id="16" name="TextBox 15">
              <a:extLst>
                <a:ext uri="{FF2B5EF4-FFF2-40B4-BE49-F238E27FC236}">
                  <a16:creationId xmlns:a16="http://schemas.microsoft.com/office/drawing/2014/main" id="{4D71CA18-2D14-4BE2-3973-49FC2E750F1B}"/>
                </a:ext>
              </a:extLst>
            </p:cNvPr>
            <p:cNvSpPr txBox="1"/>
            <p:nvPr/>
          </p:nvSpPr>
          <p:spPr>
            <a:xfrm>
              <a:off x="3691726" y="1326709"/>
              <a:ext cx="2104222" cy="438581"/>
            </a:xfrm>
            <a:prstGeom prst="rect">
              <a:avLst/>
            </a:prstGeom>
            <a:noFill/>
            <a:ln w="38100">
              <a:solidFill>
                <a:schemeClr val="tx1"/>
              </a:solidFill>
            </a:ln>
          </p:spPr>
          <p:txBody>
            <a:bodyPr wrap="square">
              <a:spAutoFit/>
            </a:bodyPr>
            <a:lstStyle/>
            <a:p>
              <a:pPr algn="ctr" defTabSz="1219170">
                <a:buClr>
                  <a:srgbClr val="000000"/>
                </a:buClr>
              </a:pPr>
              <a:r>
                <a:rPr lang="en-IN" sz="1600" kern="0" dirty="0">
                  <a:solidFill>
                    <a:srgbClr val="000000"/>
                  </a:solidFill>
                  <a:latin typeface="Bookman Old Style" panose="02050604050505020204" pitchFamily="18" charset="0"/>
                  <a:cs typeface="Arial"/>
                  <a:sym typeface="Arial"/>
                </a:rPr>
                <a:t>Hardware-in-the-Loop Simulation</a:t>
              </a:r>
            </a:p>
          </p:txBody>
        </p:sp>
        <p:sp>
          <p:nvSpPr>
            <p:cNvPr id="17" name="TextBox 16">
              <a:extLst>
                <a:ext uri="{FF2B5EF4-FFF2-40B4-BE49-F238E27FC236}">
                  <a16:creationId xmlns:a16="http://schemas.microsoft.com/office/drawing/2014/main" id="{9F17FBB8-FB42-9535-181D-FB63848E0B78}"/>
                </a:ext>
              </a:extLst>
            </p:cNvPr>
            <p:cNvSpPr txBox="1"/>
            <p:nvPr/>
          </p:nvSpPr>
          <p:spPr>
            <a:xfrm>
              <a:off x="3691726" y="1962731"/>
              <a:ext cx="2104222" cy="253916"/>
            </a:xfrm>
            <a:prstGeom prst="rect">
              <a:avLst/>
            </a:prstGeom>
            <a:noFill/>
            <a:ln w="38100">
              <a:solidFill>
                <a:schemeClr val="tx1"/>
              </a:solidFill>
            </a:ln>
          </p:spPr>
          <p:txBody>
            <a:bodyPr wrap="square">
              <a:spAutoFit/>
            </a:bodyPr>
            <a:lstStyle/>
            <a:p>
              <a:pPr algn="ctr" defTabSz="1219170">
                <a:buClr>
                  <a:srgbClr val="000000"/>
                </a:buClr>
              </a:pPr>
              <a:r>
                <a:rPr lang="en-IN" sz="1600" kern="0" dirty="0">
                  <a:solidFill>
                    <a:srgbClr val="000000"/>
                  </a:solidFill>
                  <a:latin typeface="Bookman Old Style" panose="02050604050505020204" pitchFamily="18" charset="0"/>
                  <a:cs typeface="Arial"/>
                  <a:sym typeface="Arial"/>
                </a:rPr>
                <a:t>Design Optimization</a:t>
              </a:r>
            </a:p>
          </p:txBody>
        </p:sp>
        <p:sp>
          <p:nvSpPr>
            <p:cNvPr id="19" name="TextBox 18">
              <a:extLst>
                <a:ext uri="{FF2B5EF4-FFF2-40B4-BE49-F238E27FC236}">
                  <a16:creationId xmlns:a16="http://schemas.microsoft.com/office/drawing/2014/main" id="{9111F267-1CCE-4FE6-1938-C0E586B211FB}"/>
                </a:ext>
              </a:extLst>
            </p:cNvPr>
            <p:cNvSpPr txBox="1"/>
            <p:nvPr/>
          </p:nvSpPr>
          <p:spPr>
            <a:xfrm>
              <a:off x="6716816" y="1946206"/>
              <a:ext cx="2104222" cy="253916"/>
            </a:xfrm>
            <a:prstGeom prst="rect">
              <a:avLst/>
            </a:prstGeom>
            <a:noFill/>
            <a:ln w="19050">
              <a:solidFill>
                <a:schemeClr val="tx1"/>
              </a:solidFill>
            </a:ln>
          </p:spPr>
          <p:txBody>
            <a:bodyPr wrap="square">
              <a:spAutoFit/>
            </a:bodyPr>
            <a:lstStyle/>
            <a:p>
              <a:pPr algn="ctr" defTabSz="1219170">
                <a:buClr>
                  <a:srgbClr val="000000"/>
                </a:buClr>
              </a:pPr>
              <a:r>
                <a:rPr lang="en-IN" sz="1600" kern="0" dirty="0">
                  <a:solidFill>
                    <a:srgbClr val="000000"/>
                  </a:solidFill>
                  <a:latin typeface="Bookman Old Style" panose="02050604050505020204" pitchFamily="18" charset="0"/>
                  <a:cs typeface="Arial"/>
                  <a:sym typeface="Arial"/>
                </a:rPr>
                <a:t>Life Cycle Optimization</a:t>
              </a:r>
            </a:p>
          </p:txBody>
        </p:sp>
        <p:sp>
          <p:nvSpPr>
            <p:cNvPr id="20" name="TextBox 19">
              <a:extLst>
                <a:ext uri="{FF2B5EF4-FFF2-40B4-BE49-F238E27FC236}">
                  <a16:creationId xmlns:a16="http://schemas.microsoft.com/office/drawing/2014/main" id="{528E9CC2-A7B6-2DF5-A00A-DFF2C94890E9}"/>
                </a:ext>
              </a:extLst>
            </p:cNvPr>
            <p:cNvSpPr txBox="1"/>
            <p:nvPr/>
          </p:nvSpPr>
          <p:spPr>
            <a:xfrm>
              <a:off x="6716816" y="1329430"/>
              <a:ext cx="2104222" cy="438581"/>
            </a:xfrm>
            <a:prstGeom prst="rect">
              <a:avLst/>
            </a:prstGeom>
            <a:noFill/>
            <a:ln w="19050">
              <a:solidFill>
                <a:schemeClr val="tx1"/>
              </a:solidFill>
            </a:ln>
          </p:spPr>
          <p:txBody>
            <a:bodyPr wrap="square">
              <a:spAutoFit/>
            </a:bodyPr>
            <a:lstStyle/>
            <a:p>
              <a:pPr algn="ctr" defTabSz="1219170">
                <a:buClr>
                  <a:srgbClr val="000000"/>
                </a:buClr>
              </a:pPr>
              <a:r>
                <a:rPr lang="en-IN" sz="1600" kern="0" dirty="0">
                  <a:solidFill>
                    <a:srgbClr val="000000"/>
                  </a:solidFill>
                  <a:latin typeface="Bookman Old Style" panose="02050604050505020204" pitchFamily="18" charset="0"/>
                  <a:cs typeface="Arial"/>
                  <a:sym typeface="Arial"/>
                </a:rPr>
                <a:t>Deployment of Embedded Software</a:t>
              </a:r>
            </a:p>
          </p:txBody>
        </p:sp>
        <p:sp>
          <p:nvSpPr>
            <p:cNvPr id="22" name="TextBox 21">
              <a:extLst>
                <a:ext uri="{FF2B5EF4-FFF2-40B4-BE49-F238E27FC236}">
                  <a16:creationId xmlns:a16="http://schemas.microsoft.com/office/drawing/2014/main" id="{826AF40B-FB19-70B7-F6E6-2D0400998496}"/>
                </a:ext>
              </a:extLst>
            </p:cNvPr>
            <p:cNvSpPr txBox="1"/>
            <p:nvPr/>
          </p:nvSpPr>
          <p:spPr>
            <a:xfrm>
              <a:off x="3998803" y="891102"/>
              <a:ext cx="1692585" cy="253916"/>
            </a:xfrm>
            <a:prstGeom prst="rect">
              <a:avLst/>
            </a:prstGeom>
            <a:noFill/>
          </p:spPr>
          <p:txBody>
            <a:bodyPr wrap="square">
              <a:spAutoFit/>
            </a:bodyPr>
            <a:lstStyle/>
            <a:p>
              <a:pPr algn="ctr" defTabSz="1219170">
                <a:buClr>
                  <a:srgbClr val="000000"/>
                </a:buClr>
              </a:pPr>
              <a:r>
                <a:rPr lang="en-IN" sz="1600" b="1" kern="0" dirty="0">
                  <a:solidFill>
                    <a:srgbClr val="0070C0"/>
                  </a:solidFill>
                  <a:latin typeface="Bookman Old Style" panose="02050604050505020204" pitchFamily="18" charset="0"/>
                  <a:cs typeface="Arial"/>
                  <a:sym typeface="Arial"/>
                </a:rPr>
                <a:t>Prototyping</a:t>
              </a:r>
            </a:p>
          </p:txBody>
        </p:sp>
        <p:cxnSp>
          <p:nvCxnSpPr>
            <p:cNvPr id="26" name="Straight Arrow Connector 25">
              <a:extLst>
                <a:ext uri="{FF2B5EF4-FFF2-40B4-BE49-F238E27FC236}">
                  <a16:creationId xmlns:a16="http://schemas.microsoft.com/office/drawing/2014/main" id="{0EFC8B16-FD8A-5D48-117F-45BCAD9285E4}"/>
                </a:ext>
              </a:extLst>
            </p:cNvPr>
            <p:cNvCxnSpPr>
              <a:cxnSpLocks/>
            </p:cNvCxnSpPr>
            <p:nvPr/>
          </p:nvCxnSpPr>
          <p:spPr>
            <a:xfrm>
              <a:off x="2077581" y="1589812"/>
              <a:ext cx="3904" cy="203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49410C8-B575-57AA-EA90-E95696CD7920}"/>
                </a:ext>
              </a:extLst>
            </p:cNvPr>
            <p:cNvCxnSpPr>
              <a:cxnSpLocks/>
            </p:cNvCxnSpPr>
            <p:nvPr/>
          </p:nvCxnSpPr>
          <p:spPr>
            <a:xfrm>
              <a:off x="2073677" y="2208301"/>
              <a:ext cx="3904" cy="203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94E7F4E-0882-4D92-1A0D-717A1D6B4974}"/>
                </a:ext>
              </a:extLst>
            </p:cNvPr>
            <p:cNvCxnSpPr>
              <a:cxnSpLocks/>
            </p:cNvCxnSpPr>
            <p:nvPr/>
          </p:nvCxnSpPr>
          <p:spPr>
            <a:xfrm>
              <a:off x="2077581" y="2810831"/>
              <a:ext cx="3904" cy="203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7AED5E1-1515-6F44-BD1E-0FA8C3A55433}"/>
                </a:ext>
              </a:extLst>
            </p:cNvPr>
            <p:cNvCxnSpPr>
              <a:cxnSpLocks/>
            </p:cNvCxnSpPr>
            <p:nvPr/>
          </p:nvCxnSpPr>
          <p:spPr>
            <a:xfrm>
              <a:off x="2069773" y="3381162"/>
              <a:ext cx="3904" cy="203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3DEEAEF-1A3E-7BDC-801D-ADD3C178BDFD}"/>
                </a:ext>
              </a:extLst>
            </p:cNvPr>
            <p:cNvCxnSpPr>
              <a:cxnSpLocks/>
            </p:cNvCxnSpPr>
            <p:nvPr/>
          </p:nvCxnSpPr>
          <p:spPr>
            <a:xfrm>
              <a:off x="2077581" y="4000018"/>
              <a:ext cx="3904" cy="203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192" name="Straight Arrow Connector 8191">
              <a:extLst>
                <a:ext uri="{FF2B5EF4-FFF2-40B4-BE49-F238E27FC236}">
                  <a16:creationId xmlns:a16="http://schemas.microsoft.com/office/drawing/2014/main" id="{6270D0B7-7303-267B-732D-F808529946A6}"/>
                </a:ext>
              </a:extLst>
            </p:cNvPr>
            <p:cNvCxnSpPr>
              <a:cxnSpLocks/>
            </p:cNvCxnSpPr>
            <p:nvPr/>
          </p:nvCxnSpPr>
          <p:spPr>
            <a:xfrm>
              <a:off x="2077581" y="4381013"/>
              <a:ext cx="3904" cy="203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193" name="Straight Arrow Connector 8192">
              <a:extLst>
                <a:ext uri="{FF2B5EF4-FFF2-40B4-BE49-F238E27FC236}">
                  <a16:creationId xmlns:a16="http://schemas.microsoft.com/office/drawing/2014/main" id="{BD7A824C-526C-CDB1-93B7-A615893112F1}"/>
                </a:ext>
              </a:extLst>
            </p:cNvPr>
            <p:cNvCxnSpPr>
              <a:cxnSpLocks/>
            </p:cNvCxnSpPr>
            <p:nvPr/>
          </p:nvCxnSpPr>
          <p:spPr>
            <a:xfrm>
              <a:off x="4739933" y="1781342"/>
              <a:ext cx="3904" cy="203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195" name="Straight Arrow Connector 8194">
              <a:extLst>
                <a:ext uri="{FF2B5EF4-FFF2-40B4-BE49-F238E27FC236}">
                  <a16:creationId xmlns:a16="http://schemas.microsoft.com/office/drawing/2014/main" id="{E770CC75-413E-470C-553A-5A7F8640A20E}"/>
                </a:ext>
              </a:extLst>
            </p:cNvPr>
            <p:cNvCxnSpPr>
              <a:cxnSpLocks/>
            </p:cNvCxnSpPr>
            <p:nvPr/>
          </p:nvCxnSpPr>
          <p:spPr>
            <a:xfrm>
              <a:off x="7768927" y="1741904"/>
              <a:ext cx="3904" cy="203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196" name="Straight Arrow Connector 8195">
              <a:extLst>
                <a:ext uri="{FF2B5EF4-FFF2-40B4-BE49-F238E27FC236}">
                  <a16:creationId xmlns:a16="http://schemas.microsoft.com/office/drawing/2014/main" id="{94E20BBD-3CA6-2E46-990D-DA9FA1E4015C}"/>
                </a:ext>
              </a:extLst>
            </p:cNvPr>
            <p:cNvCxnSpPr>
              <a:cxnSpLocks/>
            </p:cNvCxnSpPr>
            <p:nvPr/>
          </p:nvCxnSpPr>
          <p:spPr>
            <a:xfrm>
              <a:off x="7765023" y="1149875"/>
              <a:ext cx="3904" cy="203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197" name="Straight Arrow Connector 8196">
              <a:extLst>
                <a:ext uri="{FF2B5EF4-FFF2-40B4-BE49-F238E27FC236}">
                  <a16:creationId xmlns:a16="http://schemas.microsoft.com/office/drawing/2014/main" id="{19F79AC1-3058-F3E8-8126-B9DBCFBFB066}"/>
                </a:ext>
              </a:extLst>
            </p:cNvPr>
            <p:cNvCxnSpPr>
              <a:cxnSpLocks/>
            </p:cNvCxnSpPr>
            <p:nvPr/>
          </p:nvCxnSpPr>
          <p:spPr>
            <a:xfrm>
              <a:off x="4736029" y="1136254"/>
              <a:ext cx="3904" cy="203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199" name="Connector: Elbow 8198">
              <a:extLst>
                <a:ext uri="{FF2B5EF4-FFF2-40B4-BE49-F238E27FC236}">
                  <a16:creationId xmlns:a16="http://schemas.microsoft.com/office/drawing/2014/main" id="{8E16C8C8-DC56-8F2E-6347-B93A81A2EEFE}"/>
                </a:ext>
              </a:extLst>
            </p:cNvPr>
            <p:cNvCxnSpPr>
              <a:cxnSpLocks/>
            </p:cNvCxnSpPr>
            <p:nvPr/>
          </p:nvCxnSpPr>
          <p:spPr>
            <a:xfrm flipV="1">
              <a:off x="5790079" y="1149875"/>
              <a:ext cx="1974944" cy="913527"/>
            </a:xfrm>
            <a:prstGeom prst="bentConnector3">
              <a:avLst>
                <a:gd name="adj1" fmla="val 33120"/>
              </a:avLst>
            </a:prstGeom>
            <a:ln w="38100"/>
          </p:spPr>
          <p:style>
            <a:lnRef idx="1">
              <a:schemeClr val="accent1"/>
            </a:lnRef>
            <a:fillRef idx="0">
              <a:schemeClr val="accent1"/>
            </a:fillRef>
            <a:effectRef idx="0">
              <a:schemeClr val="accent1"/>
            </a:effectRef>
            <a:fontRef idx="minor">
              <a:schemeClr val="tx1"/>
            </a:fontRef>
          </p:style>
        </p:cxnSp>
        <p:cxnSp>
          <p:nvCxnSpPr>
            <p:cNvPr id="8216" name="Straight Connector 8215">
              <a:extLst>
                <a:ext uri="{FF2B5EF4-FFF2-40B4-BE49-F238E27FC236}">
                  <a16:creationId xmlns:a16="http://schemas.microsoft.com/office/drawing/2014/main" id="{9CC78EFB-CEAD-5FC2-DB17-6559B78C3F1F}"/>
                </a:ext>
              </a:extLst>
            </p:cNvPr>
            <p:cNvCxnSpPr/>
            <p:nvPr/>
          </p:nvCxnSpPr>
          <p:spPr>
            <a:xfrm flipH="1">
              <a:off x="3463290" y="1149875"/>
              <a:ext cx="1272739" cy="110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218" name="Straight Connector 8217">
              <a:extLst>
                <a:ext uri="{FF2B5EF4-FFF2-40B4-BE49-F238E27FC236}">
                  <a16:creationId xmlns:a16="http://schemas.microsoft.com/office/drawing/2014/main" id="{6736C9E7-DC3E-2EF0-4BAD-CBA3DE635457}"/>
                </a:ext>
              </a:extLst>
            </p:cNvPr>
            <p:cNvCxnSpPr/>
            <p:nvPr/>
          </p:nvCxnSpPr>
          <p:spPr>
            <a:xfrm>
              <a:off x="3463290" y="1168675"/>
              <a:ext cx="0" cy="353784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220" name="Straight Connector 8219">
              <a:extLst>
                <a:ext uri="{FF2B5EF4-FFF2-40B4-BE49-F238E27FC236}">
                  <a16:creationId xmlns:a16="http://schemas.microsoft.com/office/drawing/2014/main" id="{D36B501B-09C6-1365-E193-C306AA0BE8E1}"/>
                </a:ext>
              </a:extLst>
            </p:cNvPr>
            <p:cNvCxnSpPr>
              <a:endCxn id="10" idx="3"/>
            </p:cNvCxnSpPr>
            <p:nvPr/>
          </p:nvCxnSpPr>
          <p:spPr>
            <a:xfrm flipH="1" flipV="1">
              <a:off x="3129692" y="4695367"/>
              <a:ext cx="333598" cy="115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222" name="Straight Connector 8221">
              <a:extLst>
                <a:ext uri="{FF2B5EF4-FFF2-40B4-BE49-F238E27FC236}">
                  <a16:creationId xmlns:a16="http://schemas.microsoft.com/office/drawing/2014/main" id="{8FDFF39F-007D-3CB8-70D7-4CF74A398AE4}"/>
                </a:ext>
              </a:extLst>
            </p:cNvPr>
            <p:cNvCxnSpPr>
              <a:cxnSpLocks/>
              <a:stCxn id="19" idx="2"/>
            </p:cNvCxnSpPr>
            <p:nvPr/>
          </p:nvCxnSpPr>
          <p:spPr>
            <a:xfrm>
              <a:off x="7768928" y="2200122"/>
              <a:ext cx="16907" cy="26452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226" name="Straight Connector 8225">
              <a:extLst>
                <a:ext uri="{FF2B5EF4-FFF2-40B4-BE49-F238E27FC236}">
                  <a16:creationId xmlns:a16="http://schemas.microsoft.com/office/drawing/2014/main" id="{4E700E5C-4F13-E1DA-2A38-C2CB21331EFF}"/>
                </a:ext>
              </a:extLst>
            </p:cNvPr>
            <p:cNvCxnSpPr/>
            <p:nvPr/>
          </p:nvCxnSpPr>
          <p:spPr>
            <a:xfrm>
              <a:off x="363583" y="2004278"/>
              <a:ext cx="0" cy="290232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228" name="Straight Connector 8227">
              <a:extLst>
                <a:ext uri="{FF2B5EF4-FFF2-40B4-BE49-F238E27FC236}">
                  <a16:creationId xmlns:a16="http://schemas.microsoft.com/office/drawing/2014/main" id="{65F921E3-07B6-E66E-34A9-D7259FAA5132}"/>
                </a:ext>
              </a:extLst>
            </p:cNvPr>
            <p:cNvCxnSpPr/>
            <p:nvPr/>
          </p:nvCxnSpPr>
          <p:spPr>
            <a:xfrm flipV="1">
              <a:off x="363583" y="4845408"/>
              <a:ext cx="7409248" cy="6119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232" name="Straight Arrow Connector 8231">
              <a:extLst>
                <a:ext uri="{FF2B5EF4-FFF2-40B4-BE49-F238E27FC236}">
                  <a16:creationId xmlns:a16="http://schemas.microsoft.com/office/drawing/2014/main" id="{F717A3C3-40B3-0DB3-0361-4ECD6D63E7EA}"/>
                </a:ext>
              </a:extLst>
            </p:cNvPr>
            <p:cNvCxnSpPr>
              <a:endCxn id="11" idx="1"/>
            </p:cNvCxnSpPr>
            <p:nvPr/>
          </p:nvCxnSpPr>
          <p:spPr>
            <a:xfrm flipV="1">
              <a:off x="363583" y="1980831"/>
              <a:ext cx="665791" cy="234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234" name="Straight Arrow Connector 8233">
              <a:extLst>
                <a:ext uri="{FF2B5EF4-FFF2-40B4-BE49-F238E27FC236}">
                  <a16:creationId xmlns:a16="http://schemas.microsoft.com/office/drawing/2014/main" id="{7906BB18-8397-5091-3801-3E7DD83E4D8D}"/>
                </a:ext>
              </a:extLst>
            </p:cNvPr>
            <p:cNvCxnSpPr>
              <a:endCxn id="12" idx="1"/>
            </p:cNvCxnSpPr>
            <p:nvPr/>
          </p:nvCxnSpPr>
          <p:spPr>
            <a:xfrm flipV="1">
              <a:off x="696478" y="2569265"/>
              <a:ext cx="328992" cy="24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236" name="Straight Connector 8235">
              <a:extLst>
                <a:ext uri="{FF2B5EF4-FFF2-40B4-BE49-F238E27FC236}">
                  <a16:creationId xmlns:a16="http://schemas.microsoft.com/office/drawing/2014/main" id="{3B109E4D-B7D6-7EA3-3449-820E33E9C6B6}"/>
                </a:ext>
              </a:extLst>
            </p:cNvPr>
            <p:cNvCxnSpPr/>
            <p:nvPr/>
          </p:nvCxnSpPr>
          <p:spPr>
            <a:xfrm>
              <a:off x="693278" y="2580806"/>
              <a:ext cx="0" cy="213942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238" name="Straight Connector 8237">
              <a:extLst>
                <a:ext uri="{FF2B5EF4-FFF2-40B4-BE49-F238E27FC236}">
                  <a16:creationId xmlns:a16="http://schemas.microsoft.com/office/drawing/2014/main" id="{96D3CFA8-5F15-A0CA-CF0C-CC24B2183212}"/>
                </a:ext>
              </a:extLst>
            </p:cNvPr>
            <p:cNvCxnSpPr>
              <a:cxnSpLocks/>
              <a:endCxn id="10" idx="1"/>
            </p:cNvCxnSpPr>
            <p:nvPr/>
          </p:nvCxnSpPr>
          <p:spPr>
            <a:xfrm flipV="1">
              <a:off x="723191" y="4695367"/>
              <a:ext cx="302279" cy="11542"/>
            </a:xfrm>
            <a:prstGeom prst="line">
              <a:avLst/>
            </a:prstGeom>
            <a:ln w="381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55061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9B5AC6B3-7128-EFF7-ED62-92F6C11FE87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1C6E797-014D-B619-6A68-1FFFC947E001}"/>
              </a:ext>
            </a:extLst>
          </p:cNvPr>
          <p:cNvSpPr txBox="1"/>
          <p:nvPr/>
        </p:nvSpPr>
        <p:spPr>
          <a:xfrm>
            <a:off x="2770111" y="100480"/>
            <a:ext cx="6651777"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Phase of Mechatronic system design  process</a:t>
            </a:r>
          </a:p>
        </p:txBody>
      </p:sp>
      <p:sp>
        <p:nvSpPr>
          <p:cNvPr id="4" name="TextBox 3">
            <a:extLst>
              <a:ext uri="{FF2B5EF4-FFF2-40B4-BE49-F238E27FC236}">
                <a16:creationId xmlns:a16="http://schemas.microsoft.com/office/drawing/2014/main" id="{3465F441-E6C2-B134-99FE-D160E8B256EE}"/>
              </a:ext>
            </a:extLst>
          </p:cNvPr>
          <p:cNvSpPr txBox="1"/>
          <p:nvPr/>
        </p:nvSpPr>
        <p:spPr>
          <a:xfrm>
            <a:off x="264402" y="1054587"/>
            <a:ext cx="11297945" cy="4976812"/>
          </a:xfrm>
          <a:prstGeom prst="rect">
            <a:avLst/>
          </a:prstGeom>
          <a:noFill/>
        </p:spPr>
        <p:txBody>
          <a:bodyPr wrap="square">
            <a:spAutoFit/>
          </a:bodyPr>
          <a:lstStyle/>
          <a:p>
            <a:pPr defTabSz="1219170">
              <a:buClr>
                <a:srgbClr val="000000"/>
              </a:buClr>
            </a:pPr>
            <a:r>
              <a:rPr lang="en-IN" sz="1867" b="1" i="1" kern="0" dirty="0">
                <a:solidFill>
                  <a:srgbClr val="000000"/>
                </a:solidFill>
                <a:latin typeface="Bookman Old Style" panose="02050604050505020204" pitchFamily="18" charset="0"/>
                <a:cs typeface="Arial"/>
                <a:sym typeface="Arial"/>
              </a:rPr>
              <a:t>MODELING / SIMULATION</a:t>
            </a:r>
          </a:p>
          <a:p>
            <a:pPr algn="just" defTabSz="1219170">
              <a:buClr>
                <a:srgbClr val="000000"/>
              </a:buClr>
            </a:pPr>
            <a:r>
              <a:rPr lang="en-US" sz="1867" b="1" kern="0" dirty="0">
                <a:solidFill>
                  <a:srgbClr val="000000"/>
                </a:solidFill>
                <a:latin typeface="Bookman Old Style" panose="02050604050505020204" pitchFamily="18" charset="0"/>
                <a:cs typeface="Arial"/>
                <a:sym typeface="Arial"/>
              </a:rPr>
              <a:t>1. Recognition of the need- </a:t>
            </a:r>
            <a:r>
              <a:rPr lang="en-US" sz="1867" kern="0" dirty="0">
                <a:solidFill>
                  <a:srgbClr val="000000"/>
                </a:solidFill>
                <a:latin typeface="Bookman Old Style" panose="02050604050505020204" pitchFamily="18" charset="0"/>
                <a:cs typeface="Arial"/>
                <a:sym typeface="Arial"/>
              </a:rPr>
              <a:t>In the context of simulation or modeling of a car, the recognition of need involves </a:t>
            </a:r>
            <a:r>
              <a:rPr lang="en-US" sz="1867" kern="0" dirty="0">
                <a:solidFill>
                  <a:srgbClr val="0070C0"/>
                </a:solidFill>
                <a:latin typeface="Bookman Old Style" panose="02050604050505020204" pitchFamily="18" charset="0"/>
                <a:cs typeface="Arial"/>
                <a:sym typeface="Arial"/>
              </a:rPr>
              <a:t>identifying the specific problem</a:t>
            </a:r>
            <a:r>
              <a:rPr lang="en-US" sz="1867" kern="0" dirty="0">
                <a:solidFill>
                  <a:srgbClr val="000000"/>
                </a:solidFill>
                <a:latin typeface="Bookman Old Style" panose="02050604050505020204" pitchFamily="18" charset="0"/>
                <a:cs typeface="Arial"/>
                <a:sym typeface="Arial"/>
              </a:rPr>
              <a:t> or scenario that the simulation of car aims to address. It's the initial step where you define what you want to simulate and why, laying the foundation for the modeling </a:t>
            </a:r>
            <a:r>
              <a:rPr lang="en-IN" sz="1867" kern="0" dirty="0">
                <a:solidFill>
                  <a:srgbClr val="000000"/>
                </a:solidFill>
                <a:latin typeface="Bookman Old Style" panose="02050604050505020204" pitchFamily="18" charset="0"/>
                <a:cs typeface="Arial"/>
                <a:sym typeface="Arial"/>
              </a:rPr>
              <a:t>process.</a:t>
            </a:r>
          </a:p>
          <a:p>
            <a:pPr algn="just" defTabSz="1219170">
              <a:buClr>
                <a:srgbClr val="000000"/>
              </a:buClr>
            </a:pPr>
            <a:r>
              <a:rPr lang="en-US" sz="1867" b="1" kern="0" dirty="0">
                <a:solidFill>
                  <a:srgbClr val="000000"/>
                </a:solidFill>
                <a:latin typeface="Bookman Old Style" panose="02050604050505020204" pitchFamily="18" charset="0"/>
                <a:cs typeface="Arial"/>
                <a:sym typeface="Arial"/>
              </a:rPr>
              <a:t>2. Conceptional design and functional specification- </a:t>
            </a:r>
            <a:r>
              <a:rPr lang="en-US" sz="1867" kern="0" dirty="0">
                <a:solidFill>
                  <a:srgbClr val="000000"/>
                </a:solidFill>
                <a:latin typeface="Bookman Old Style" panose="02050604050505020204" pitchFamily="18" charset="0"/>
                <a:cs typeface="Arial"/>
                <a:sym typeface="Arial"/>
              </a:rPr>
              <a:t>Conceptual design of a car involves </a:t>
            </a:r>
            <a:r>
              <a:rPr lang="en-US" sz="1867" kern="0" dirty="0">
                <a:solidFill>
                  <a:srgbClr val="0070C0"/>
                </a:solidFill>
                <a:latin typeface="Bookman Old Style" panose="02050604050505020204" pitchFamily="18" charset="0"/>
                <a:cs typeface="Arial"/>
                <a:sym typeface="Arial"/>
              </a:rPr>
              <a:t>outlining the high-level structure and key elements of the model</a:t>
            </a:r>
            <a:r>
              <a:rPr lang="en-US" sz="1867" kern="0" dirty="0">
                <a:solidFill>
                  <a:srgbClr val="000000"/>
                </a:solidFill>
                <a:latin typeface="Bookman Old Style" panose="02050604050505020204" pitchFamily="18" charset="0"/>
                <a:cs typeface="Arial"/>
                <a:sym typeface="Arial"/>
              </a:rPr>
              <a:t>. It's about defining the overall </a:t>
            </a:r>
            <a:r>
              <a:rPr lang="en-US" sz="1867" kern="0" dirty="0">
                <a:solidFill>
                  <a:srgbClr val="0070C0"/>
                </a:solidFill>
                <a:latin typeface="Bookman Old Style" panose="02050604050505020204" pitchFamily="18" charset="0"/>
                <a:cs typeface="Arial"/>
                <a:sym typeface="Arial"/>
              </a:rPr>
              <a:t>framework of a car before delving into specifics</a:t>
            </a:r>
            <a:r>
              <a:rPr lang="en-US" sz="1867" kern="0" dirty="0">
                <a:solidFill>
                  <a:srgbClr val="000000"/>
                </a:solidFill>
                <a:latin typeface="Bookman Old Style" panose="02050604050505020204" pitchFamily="18" charset="0"/>
                <a:cs typeface="Arial"/>
                <a:sym typeface="Arial"/>
              </a:rPr>
              <a:t>. </a:t>
            </a:r>
            <a:r>
              <a:rPr lang="en-US" sz="1867" kern="0" dirty="0">
                <a:solidFill>
                  <a:srgbClr val="0070C0"/>
                </a:solidFill>
                <a:latin typeface="Bookman Old Style" panose="02050604050505020204" pitchFamily="18" charset="0"/>
                <a:cs typeface="Arial"/>
                <a:sym typeface="Arial"/>
              </a:rPr>
              <a:t>Functional specification</a:t>
            </a:r>
            <a:r>
              <a:rPr lang="en-US" sz="1867" kern="0" dirty="0">
                <a:solidFill>
                  <a:srgbClr val="000000"/>
                </a:solidFill>
                <a:latin typeface="Bookman Old Style" panose="02050604050505020204" pitchFamily="18" charset="0"/>
                <a:cs typeface="Arial"/>
                <a:sym typeface="Arial"/>
              </a:rPr>
              <a:t>, on the other hand, details </a:t>
            </a:r>
            <a:r>
              <a:rPr lang="en-US" sz="1867" kern="0" dirty="0">
                <a:solidFill>
                  <a:srgbClr val="0070C0"/>
                </a:solidFill>
                <a:latin typeface="Bookman Old Style" panose="02050604050505020204" pitchFamily="18" charset="0"/>
                <a:cs typeface="Arial"/>
                <a:sym typeface="Arial"/>
              </a:rPr>
              <a:t>how the model of a car will operate, specifying its functions, features, and interactions</a:t>
            </a:r>
            <a:r>
              <a:rPr lang="en-US" sz="1867" kern="0" dirty="0">
                <a:solidFill>
                  <a:srgbClr val="000000"/>
                </a:solidFill>
                <a:latin typeface="Bookman Old Style" panose="02050604050505020204" pitchFamily="18" charset="0"/>
                <a:cs typeface="Arial"/>
                <a:sym typeface="Arial"/>
              </a:rPr>
              <a:t>. Together, these steps provide a roadmap for developing a detailed and effective model and simulation.</a:t>
            </a:r>
          </a:p>
          <a:p>
            <a:pPr algn="just" defTabSz="1219170">
              <a:buClr>
                <a:srgbClr val="000000"/>
              </a:buClr>
            </a:pPr>
            <a:r>
              <a:rPr lang="en-US" sz="1867" b="1" kern="0" dirty="0">
                <a:solidFill>
                  <a:srgbClr val="000000"/>
                </a:solidFill>
                <a:latin typeface="Bookman Old Style" panose="02050604050505020204" pitchFamily="18" charset="0"/>
                <a:cs typeface="Arial"/>
                <a:sym typeface="Arial"/>
              </a:rPr>
              <a:t>3. First-principle modular mathematical modeling- </a:t>
            </a:r>
            <a:r>
              <a:rPr lang="en-US" sz="1867" kern="0" dirty="0">
                <a:solidFill>
                  <a:srgbClr val="000000"/>
                </a:solidFill>
                <a:latin typeface="Bookman Old Style" panose="02050604050505020204" pitchFamily="18" charset="0"/>
                <a:cs typeface="Arial"/>
                <a:sym typeface="Arial"/>
              </a:rPr>
              <a:t>With respect to a car. it refers to a </a:t>
            </a:r>
            <a:r>
              <a:rPr lang="en-US" sz="1867" kern="0" dirty="0">
                <a:solidFill>
                  <a:srgbClr val="0070C0"/>
                </a:solidFill>
                <a:latin typeface="Bookman Old Style" panose="02050604050505020204" pitchFamily="18" charset="0"/>
                <a:cs typeface="Arial"/>
                <a:sym typeface="Arial"/>
              </a:rPr>
              <a:t>systematic approach where a complex system is broken down into fundamental principles or basic components</a:t>
            </a:r>
            <a:r>
              <a:rPr lang="en-US" sz="1867" kern="0" dirty="0">
                <a:solidFill>
                  <a:srgbClr val="000000"/>
                </a:solidFill>
                <a:latin typeface="Bookman Old Style" panose="02050604050505020204" pitchFamily="18" charset="0"/>
                <a:cs typeface="Arial"/>
                <a:sym typeface="Arial"/>
              </a:rPr>
              <a:t>. Each component is represented mathematically based on first principles, which are the </a:t>
            </a:r>
            <a:r>
              <a:rPr lang="en-US" sz="1867" kern="0" dirty="0">
                <a:solidFill>
                  <a:srgbClr val="0070C0"/>
                </a:solidFill>
                <a:latin typeface="Bookman Old Style" panose="02050604050505020204" pitchFamily="18" charset="0"/>
                <a:cs typeface="Arial"/>
                <a:sym typeface="Arial"/>
              </a:rPr>
              <a:t>fundamental laws or equations governing the system</a:t>
            </a:r>
            <a:r>
              <a:rPr lang="en-US" sz="1867" kern="0" dirty="0">
                <a:solidFill>
                  <a:srgbClr val="000000"/>
                </a:solidFill>
                <a:latin typeface="Bookman Old Style" panose="02050604050505020204" pitchFamily="18" charset="0"/>
                <a:cs typeface="Arial"/>
                <a:sym typeface="Arial"/>
              </a:rPr>
              <a:t>. The modular aspect involves </a:t>
            </a:r>
            <a:r>
              <a:rPr lang="en-US" sz="1867" kern="0" dirty="0">
                <a:solidFill>
                  <a:srgbClr val="0070C0"/>
                </a:solidFill>
                <a:latin typeface="Bookman Old Style" panose="02050604050505020204" pitchFamily="18" charset="0"/>
                <a:cs typeface="Arial"/>
                <a:sym typeface="Arial"/>
              </a:rPr>
              <a:t>organizing these mathematical representations into modules</a:t>
            </a:r>
            <a:r>
              <a:rPr lang="en-US" sz="1867" kern="0" dirty="0">
                <a:solidFill>
                  <a:srgbClr val="000000"/>
                </a:solidFill>
                <a:latin typeface="Bookman Old Style" panose="02050604050505020204" pitchFamily="18" charset="0"/>
                <a:cs typeface="Arial"/>
                <a:sym typeface="Arial"/>
              </a:rPr>
              <a:t>, making it easier to manage and understand the overall </a:t>
            </a:r>
            <a:r>
              <a:rPr lang="en-IN" sz="1867" kern="0" dirty="0">
                <a:solidFill>
                  <a:srgbClr val="000000"/>
                </a:solidFill>
                <a:latin typeface="Bookman Old Style" panose="02050604050505020204" pitchFamily="18" charset="0"/>
                <a:cs typeface="Arial"/>
                <a:sym typeface="Arial"/>
              </a:rPr>
              <a:t>system. </a:t>
            </a:r>
          </a:p>
        </p:txBody>
      </p:sp>
    </p:spTree>
    <p:extLst>
      <p:ext uri="{BB962C8B-B14F-4D97-AF65-F5344CB8AC3E}">
        <p14:creationId xmlns:p14="http://schemas.microsoft.com/office/powerpoint/2010/main" val="2016284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896F97CA-DE0C-3914-8354-1A3ECD7CEF3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E73488E-1BE1-39BA-42A9-09DD668568DC}"/>
              </a:ext>
            </a:extLst>
          </p:cNvPr>
          <p:cNvSpPr txBox="1"/>
          <p:nvPr/>
        </p:nvSpPr>
        <p:spPr>
          <a:xfrm>
            <a:off x="2576147" y="349547"/>
            <a:ext cx="6651777"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Phase of Mechatronic system design  process</a:t>
            </a:r>
          </a:p>
        </p:txBody>
      </p:sp>
      <p:sp>
        <p:nvSpPr>
          <p:cNvPr id="4" name="TextBox 3">
            <a:extLst>
              <a:ext uri="{FF2B5EF4-FFF2-40B4-BE49-F238E27FC236}">
                <a16:creationId xmlns:a16="http://schemas.microsoft.com/office/drawing/2014/main" id="{A6BF051E-445D-75B0-8DB7-C4A5BAD7CC67}"/>
              </a:ext>
            </a:extLst>
          </p:cNvPr>
          <p:cNvSpPr txBox="1"/>
          <p:nvPr/>
        </p:nvSpPr>
        <p:spPr>
          <a:xfrm>
            <a:off x="264404" y="1123180"/>
            <a:ext cx="11663191" cy="5646802"/>
          </a:xfrm>
          <a:prstGeom prst="rect">
            <a:avLst/>
          </a:prstGeom>
          <a:noFill/>
        </p:spPr>
        <p:txBody>
          <a:bodyPr wrap="square">
            <a:spAutoFit/>
          </a:bodyPr>
          <a:lstStyle/>
          <a:p>
            <a:pPr defTabSz="1219170">
              <a:lnSpc>
                <a:spcPct val="150000"/>
              </a:lnSpc>
              <a:buClr>
                <a:srgbClr val="000000"/>
              </a:buClr>
            </a:pPr>
            <a:r>
              <a:rPr lang="en-IN" sz="1867" b="1" i="1" kern="0" dirty="0">
                <a:solidFill>
                  <a:srgbClr val="000000"/>
                </a:solidFill>
                <a:latin typeface="Bookman Old Style" panose="02050604050505020204" pitchFamily="18" charset="0"/>
                <a:cs typeface="Arial"/>
                <a:sym typeface="Arial"/>
              </a:rPr>
              <a:t>MODELING / SIMULATION</a:t>
            </a:r>
          </a:p>
          <a:p>
            <a:pPr algn="just" defTabSz="1219170">
              <a:lnSpc>
                <a:spcPct val="150000"/>
              </a:lnSpc>
              <a:buClr>
                <a:srgbClr val="000000"/>
              </a:buClr>
            </a:pPr>
            <a:r>
              <a:rPr lang="en-US" sz="1867" b="1" kern="0" dirty="0">
                <a:solidFill>
                  <a:srgbClr val="000000"/>
                </a:solidFill>
                <a:latin typeface="Bookman Old Style" panose="02050604050505020204" pitchFamily="18" charset="0"/>
                <a:cs typeface="Arial"/>
                <a:sym typeface="Arial"/>
              </a:rPr>
              <a:t>4. Sensor and actuator Selection- </a:t>
            </a:r>
            <a:r>
              <a:rPr lang="en-US" sz="1867" kern="0" dirty="0">
                <a:solidFill>
                  <a:srgbClr val="000000"/>
                </a:solidFill>
                <a:latin typeface="Bookman Old Style" panose="02050604050505020204" pitchFamily="18" charset="0"/>
                <a:cs typeface="Arial"/>
                <a:sym typeface="Arial"/>
              </a:rPr>
              <a:t>A sensor is defined as a device in a car that </a:t>
            </a:r>
            <a:r>
              <a:rPr lang="en-US" sz="1867" kern="0" dirty="0">
                <a:solidFill>
                  <a:srgbClr val="0070C0"/>
                </a:solidFill>
                <a:latin typeface="Bookman Old Style" panose="02050604050505020204" pitchFamily="18" charset="0"/>
                <a:cs typeface="Arial"/>
                <a:sym typeface="Arial"/>
              </a:rPr>
              <a:t>receives a signal or stimulus and responds to it by generating an electrical signal.</a:t>
            </a:r>
            <a:r>
              <a:rPr lang="en-US" sz="1867" kern="0" dirty="0">
                <a:solidFill>
                  <a:srgbClr val="000000"/>
                </a:solidFill>
                <a:latin typeface="Bookman Old Style" panose="02050604050505020204" pitchFamily="18" charset="0"/>
                <a:cs typeface="Arial"/>
                <a:sym typeface="Arial"/>
              </a:rPr>
              <a:t> The output signals correspond to some forms of electrical signal, such as current or voltage, which can be easily measured. </a:t>
            </a:r>
          </a:p>
          <a:p>
            <a:pPr algn="just" defTabSz="1219170">
              <a:lnSpc>
                <a:spcPct val="150000"/>
              </a:lnSpc>
              <a:buClr>
                <a:srgbClr val="000000"/>
              </a:buClr>
            </a:pPr>
            <a:r>
              <a:rPr lang="en-US" sz="1867" b="1" kern="0" dirty="0">
                <a:solidFill>
                  <a:srgbClr val="000000"/>
                </a:solidFill>
                <a:latin typeface="Bookman Old Style" panose="02050604050505020204" pitchFamily="18" charset="0"/>
                <a:cs typeface="Arial"/>
                <a:sym typeface="Arial"/>
              </a:rPr>
              <a:t>5. Detailed Modular Mathematical Modeling- </a:t>
            </a:r>
            <a:r>
              <a:rPr lang="en-US" sz="1867" kern="0" dirty="0">
                <a:solidFill>
                  <a:srgbClr val="000000"/>
                </a:solidFill>
                <a:latin typeface="Bookman Old Style" panose="02050604050505020204" pitchFamily="18" charset="0"/>
                <a:cs typeface="Arial"/>
                <a:sym typeface="Arial"/>
              </a:rPr>
              <a:t>Develop </a:t>
            </a:r>
            <a:r>
              <a:rPr lang="en-US" sz="1867" kern="0" dirty="0">
                <a:solidFill>
                  <a:srgbClr val="0070C0"/>
                </a:solidFill>
                <a:latin typeface="Bookman Old Style" panose="02050604050505020204" pitchFamily="18" charset="0"/>
                <a:cs typeface="Arial"/>
                <a:sym typeface="Arial"/>
              </a:rPr>
              <a:t>mathematical equations based on physics</a:t>
            </a:r>
          </a:p>
          <a:p>
            <a:pPr algn="just" defTabSz="1219170">
              <a:lnSpc>
                <a:spcPct val="150000"/>
              </a:lnSpc>
              <a:buClr>
                <a:srgbClr val="000000"/>
              </a:buClr>
            </a:pPr>
            <a:r>
              <a:rPr lang="en-US" sz="1867" kern="0" dirty="0">
                <a:solidFill>
                  <a:srgbClr val="0070C0"/>
                </a:solidFill>
                <a:latin typeface="Bookman Old Style" panose="02050604050505020204" pitchFamily="18" charset="0"/>
                <a:cs typeface="Arial"/>
                <a:sym typeface="Arial"/>
              </a:rPr>
              <a:t>principles</a:t>
            </a:r>
            <a:r>
              <a:rPr lang="en-US" sz="1867" kern="0" dirty="0">
                <a:solidFill>
                  <a:srgbClr val="000000"/>
                </a:solidFill>
                <a:latin typeface="Bookman Old Style" panose="02050604050505020204" pitchFamily="18" charset="0"/>
                <a:cs typeface="Arial"/>
                <a:sym typeface="Arial"/>
              </a:rPr>
              <a:t>. - Examples: Forces, torques, displacements. </a:t>
            </a:r>
          </a:p>
          <a:p>
            <a:pPr algn="just" defTabSz="1219170">
              <a:lnSpc>
                <a:spcPct val="150000"/>
              </a:lnSpc>
              <a:buClr>
                <a:srgbClr val="000000"/>
              </a:buClr>
            </a:pPr>
            <a:r>
              <a:rPr lang="en-US" sz="1867" b="1" kern="0" dirty="0">
                <a:solidFill>
                  <a:srgbClr val="000000"/>
                </a:solidFill>
                <a:latin typeface="Bookman Old Style" panose="02050604050505020204" pitchFamily="18" charset="0"/>
                <a:cs typeface="Arial"/>
                <a:sym typeface="Arial"/>
              </a:rPr>
              <a:t>6. Control System Design- </a:t>
            </a:r>
            <a:r>
              <a:rPr lang="en-US" sz="1867" kern="0" dirty="0">
                <a:solidFill>
                  <a:srgbClr val="000000"/>
                </a:solidFill>
                <a:latin typeface="Bookman Old Style" panose="02050604050505020204" pitchFamily="18" charset="0"/>
                <a:cs typeface="Arial"/>
                <a:sym typeface="Arial"/>
              </a:rPr>
              <a:t>The control system design process of a car involves </a:t>
            </a:r>
            <a:r>
              <a:rPr lang="en-US" sz="1867" kern="0" dirty="0">
                <a:solidFill>
                  <a:srgbClr val="0070C0"/>
                </a:solidFill>
                <a:latin typeface="Bookman Old Style" panose="02050604050505020204" pitchFamily="18" charset="0"/>
                <a:cs typeface="Arial"/>
                <a:sym typeface="Arial"/>
              </a:rPr>
              <a:t>specifying system</a:t>
            </a:r>
          </a:p>
          <a:p>
            <a:pPr algn="just" defTabSz="1219170">
              <a:lnSpc>
                <a:spcPct val="150000"/>
              </a:lnSpc>
              <a:buClr>
                <a:srgbClr val="000000"/>
              </a:buClr>
            </a:pPr>
            <a:r>
              <a:rPr lang="en-US" sz="1867" kern="0" dirty="0">
                <a:solidFill>
                  <a:srgbClr val="0070C0"/>
                </a:solidFill>
                <a:latin typeface="Bookman Old Style" panose="02050604050505020204" pitchFamily="18" charset="0"/>
                <a:cs typeface="Arial"/>
                <a:sym typeface="Arial"/>
              </a:rPr>
              <a:t>requirements, creating a mathematical model, designing a controller to meet those specifications and analyzing system performance through simulations or experiments</a:t>
            </a:r>
            <a:r>
              <a:rPr lang="en-US" sz="1867" kern="0" dirty="0">
                <a:solidFill>
                  <a:srgbClr val="000000"/>
                </a:solidFill>
                <a:latin typeface="Bookman Old Style" panose="02050604050505020204" pitchFamily="18" charset="0"/>
                <a:cs typeface="Arial"/>
                <a:sym typeface="Arial"/>
              </a:rPr>
              <a:t>. It typically follows a cycle of design, analysis, and refinement to achieve desired control system behavior. </a:t>
            </a:r>
          </a:p>
          <a:p>
            <a:pPr algn="just" defTabSz="1219170">
              <a:lnSpc>
                <a:spcPct val="150000"/>
              </a:lnSpc>
              <a:buClr>
                <a:srgbClr val="000000"/>
              </a:buClr>
            </a:pPr>
            <a:r>
              <a:rPr lang="en-US" sz="1867" b="1" kern="0" dirty="0">
                <a:solidFill>
                  <a:srgbClr val="000000"/>
                </a:solidFill>
                <a:latin typeface="Bookman Old Style" panose="02050604050505020204" pitchFamily="18" charset="0"/>
                <a:cs typeface="Arial"/>
                <a:sym typeface="Arial"/>
              </a:rPr>
              <a:t>7. Design optimization- </a:t>
            </a:r>
            <a:r>
              <a:rPr lang="en-US" sz="1867" kern="0" dirty="0">
                <a:solidFill>
                  <a:srgbClr val="000000"/>
                </a:solidFill>
                <a:latin typeface="Bookman Old Style" panose="02050604050505020204" pitchFamily="18" charset="0"/>
                <a:cs typeface="Arial"/>
                <a:sym typeface="Arial"/>
              </a:rPr>
              <a:t>in the context of mechatronic system prototyping of a car includes: </a:t>
            </a:r>
            <a:r>
              <a:rPr lang="en-US" sz="1867" kern="0" dirty="0">
                <a:solidFill>
                  <a:srgbClr val="0070C0"/>
                </a:solidFill>
                <a:latin typeface="Bookman Old Style" panose="02050604050505020204" pitchFamily="18" charset="0"/>
                <a:cs typeface="Arial"/>
                <a:sym typeface="Arial"/>
              </a:rPr>
              <a:t>Iterative Improvements: </a:t>
            </a:r>
            <a:r>
              <a:rPr lang="en-US" sz="1867" kern="0" dirty="0">
                <a:solidFill>
                  <a:srgbClr val="000000"/>
                </a:solidFill>
                <a:latin typeface="Bookman Old Style" panose="02050604050505020204" pitchFamily="18" charset="0"/>
                <a:cs typeface="Arial"/>
                <a:sym typeface="Arial"/>
              </a:rPr>
              <a:t>Refining the system design through successive iterations to enhance performance </a:t>
            </a:r>
            <a:endParaRPr lang="en-IN" sz="1867" kern="0" dirty="0">
              <a:solidFill>
                <a:srgbClr val="000000"/>
              </a:solidFill>
              <a:latin typeface="Bookman Old Style" panose="02050604050505020204" pitchFamily="18" charset="0"/>
              <a:cs typeface="Arial"/>
              <a:sym typeface="Arial"/>
            </a:endParaRPr>
          </a:p>
        </p:txBody>
      </p:sp>
    </p:spTree>
    <p:extLst>
      <p:ext uri="{BB962C8B-B14F-4D97-AF65-F5344CB8AC3E}">
        <p14:creationId xmlns:p14="http://schemas.microsoft.com/office/powerpoint/2010/main" val="330940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45777BA6-5227-8BF0-7A8D-73F09C873E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618851E-BD70-ED36-38C8-A3A5420811B9}"/>
              </a:ext>
            </a:extLst>
          </p:cNvPr>
          <p:cNvSpPr txBox="1"/>
          <p:nvPr/>
        </p:nvSpPr>
        <p:spPr>
          <a:xfrm>
            <a:off x="2770108" y="240291"/>
            <a:ext cx="6651777" cy="1015663"/>
          </a:xfrm>
          <a:prstGeom prst="rect">
            <a:avLst/>
          </a:prstGeom>
          <a:noFill/>
        </p:spPr>
        <p:txBody>
          <a:bodyPr wrap="square">
            <a:spAutoFit/>
          </a:bodyPr>
          <a:lstStyle/>
          <a:p>
            <a:pPr algn="ctr" defTabSz="1219170">
              <a:buClr>
                <a:srgbClr val="000000"/>
              </a:buClr>
            </a:pPr>
            <a:r>
              <a:rPr lang="en-US" altLang="en-US" sz="3000" b="1" kern="0" dirty="0">
                <a:solidFill>
                  <a:srgbClr val="0070C0"/>
                </a:solidFill>
                <a:latin typeface="Bookman Old Style" panose="02050604050505020204" pitchFamily="18" charset="0"/>
                <a:cs typeface="Arial"/>
                <a:sym typeface="Arial"/>
              </a:rPr>
              <a:t>Phase of Mechatronic system design  process</a:t>
            </a:r>
          </a:p>
        </p:txBody>
      </p:sp>
      <p:sp>
        <p:nvSpPr>
          <p:cNvPr id="4" name="TextBox 3">
            <a:extLst>
              <a:ext uri="{FF2B5EF4-FFF2-40B4-BE49-F238E27FC236}">
                <a16:creationId xmlns:a16="http://schemas.microsoft.com/office/drawing/2014/main" id="{AF1267BE-5E5A-C85B-975D-7A1B85CAAFEA}"/>
              </a:ext>
            </a:extLst>
          </p:cNvPr>
          <p:cNvSpPr txBox="1"/>
          <p:nvPr/>
        </p:nvSpPr>
        <p:spPr>
          <a:xfrm>
            <a:off x="493295" y="1303654"/>
            <a:ext cx="11141242" cy="3733458"/>
          </a:xfrm>
          <a:prstGeom prst="rect">
            <a:avLst/>
          </a:prstGeom>
          <a:noFill/>
        </p:spPr>
        <p:txBody>
          <a:bodyPr wrap="square">
            <a:spAutoFit/>
          </a:bodyPr>
          <a:lstStyle/>
          <a:p>
            <a:pPr defTabSz="1219170">
              <a:lnSpc>
                <a:spcPct val="150000"/>
              </a:lnSpc>
              <a:buClr>
                <a:srgbClr val="000000"/>
              </a:buClr>
            </a:pPr>
            <a:r>
              <a:rPr lang="en-US" sz="2000" b="1" kern="0" dirty="0">
                <a:solidFill>
                  <a:srgbClr val="000000"/>
                </a:solidFill>
                <a:latin typeface="Bookman Old Style" panose="02050604050505020204" pitchFamily="18" charset="0"/>
                <a:cs typeface="Arial"/>
                <a:sym typeface="Arial"/>
              </a:rPr>
              <a:t>PROTOTYPING</a:t>
            </a:r>
          </a:p>
          <a:p>
            <a:pPr algn="just" defTabSz="1219170">
              <a:lnSpc>
                <a:spcPct val="150000"/>
              </a:lnSpc>
              <a:buClr>
                <a:srgbClr val="000000"/>
              </a:buClr>
            </a:pPr>
            <a:r>
              <a:rPr lang="en-US" sz="2000" b="1" kern="0" dirty="0">
                <a:solidFill>
                  <a:srgbClr val="000000"/>
                </a:solidFill>
                <a:latin typeface="Bookman Old Style" panose="02050604050505020204" pitchFamily="18" charset="0"/>
                <a:cs typeface="Arial"/>
                <a:sym typeface="Arial"/>
              </a:rPr>
              <a:t>8. Hardware in Loop Simulation: </a:t>
            </a:r>
            <a:r>
              <a:rPr lang="en-US" sz="2000" kern="0" dirty="0">
                <a:solidFill>
                  <a:srgbClr val="000000"/>
                </a:solidFill>
                <a:latin typeface="Bookman Old Style" panose="02050604050505020204" pitchFamily="18" charset="0"/>
                <a:cs typeface="Arial"/>
                <a:sym typeface="Arial"/>
              </a:rPr>
              <a:t>In a car, it is a crucial aspect of the prototyping phase in mechatronic system design. It involves: </a:t>
            </a:r>
            <a:r>
              <a:rPr lang="en-US" sz="2000" kern="0" dirty="0">
                <a:solidFill>
                  <a:srgbClr val="0070C0"/>
                </a:solidFill>
                <a:latin typeface="Bookman Old Style" panose="02050604050505020204" pitchFamily="18" charset="0"/>
                <a:cs typeface="Arial"/>
                <a:sym typeface="Arial"/>
              </a:rPr>
              <a:t>Integration of Real Hardware: Connecting physical components or subsystems with simulation software. </a:t>
            </a:r>
          </a:p>
          <a:p>
            <a:pPr algn="just" defTabSz="1219170">
              <a:lnSpc>
                <a:spcPct val="150000"/>
              </a:lnSpc>
              <a:buClr>
                <a:srgbClr val="000000"/>
              </a:buClr>
            </a:pPr>
            <a:r>
              <a:rPr lang="en-US" sz="2000" b="1" kern="0" dirty="0">
                <a:solidFill>
                  <a:srgbClr val="000000"/>
                </a:solidFill>
                <a:latin typeface="Bookman Old Style" panose="02050604050505020204" pitchFamily="18" charset="0"/>
                <a:cs typeface="Arial"/>
                <a:sym typeface="Arial"/>
              </a:rPr>
              <a:t>9. Design Optimization- </a:t>
            </a:r>
            <a:r>
              <a:rPr lang="en-US" sz="2000" kern="0" dirty="0">
                <a:solidFill>
                  <a:srgbClr val="000000"/>
                </a:solidFill>
                <a:latin typeface="Bookman Old Style" panose="02050604050505020204" pitchFamily="18" charset="0"/>
                <a:cs typeface="Arial"/>
                <a:sym typeface="Arial"/>
              </a:rPr>
              <a:t>Design optimization in a car involves </a:t>
            </a:r>
            <a:r>
              <a:rPr lang="en-US" sz="2000" kern="0" dirty="0">
                <a:solidFill>
                  <a:srgbClr val="0070C0"/>
                </a:solidFill>
                <a:latin typeface="Bookman Old Style" panose="02050604050505020204" pitchFamily="18" charset="0"/>
                <a:cs typeface="Arial"/>
                <a:sym typeface="Arial"/>
              </a:rPr>
              <a:t>defining design objectives and constraints, creating mathematical models to represent the design space, employing optimization algorithms</a:t>
            </a:r>
            <a:r>
              <a:rPr lang="en-US" sz="2000" kern="0" dirty="0">
                <a:solidFill>
                  <a:srgbClr val="000000"/>
                </a:solidFill>
                <a:latin typeface="Bookman Old Style" panose="02050604050505020204" pitchFamily="18" charset="0"/>
                <a:cs typeface="Arial"/>
                <a:sym typeface="Arial"/>
              </a:rPr>
              <a:t> to search for the optimal solution, and iteratively refining the design based on the obtained results. </a:t>
            </a:r>
          </a:p>
        </p:txBody>
      </p:sp>
    </p:spTree>
    <p:extLst>
      <p:ext uri="{BB962C8B-B14F-4D97-AF65-F5344CB8AC3E}">
        <p14:creationId xmlns:p14="http://schemas.microsoft.com/office/powerpoint/2010/main" val="1010117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29F836B4-D327-C7F2-52DC-2351F65F8CA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01AD2F-2E5E-7544-798D-0806AAF20907}"/>
              </a:ext>
            </a:extLst>
          </p:cNvPr>
          <p:cNvSpPr txBox="1"/>
          <p:nvPr/>
        </p:nvSpPr>
        <p:spPr>
          <a:xfrm>
            <a:off x="264405" y="6542142"/>
            <a:ext cx="11663191" cy="276999"/>
          </a:xfrm>
          <a:prstGeom prst="rect">
            <a:avLst/>
          </a:prstGeom>
          <a:noFill/>
        </p:spPr>
        <p:txBody>
          <a:bodyPr wrap="square">
            <a:spAutoFit/>
          </a:bodyPr>
          <a:lstStyle/>
          <a:p>
            <a:pPr algn="ctr" defTabSz="1219170">
              <a:defRPr/>
            </a:pPr>
            <a:r>
              <a:rPr lang="en-US" sz="1200" dirty="0">
                <a:solidFill>
                  <a:prstClr val="black"/>
                </a:solidFill>
                <a:latin typeface="Roboto regular"/>
                <a:cs typeface="Times New Roman" pitchFamily="18" charset="0"/>
                <a:sym typeface="Arial"/>
              </a:rPr>
              <a:t>Dr. Gangadhar Angadi (GT&amp;TC, BE, MTech and PhD), Assistant Professor, Dept. of Mech. </a:t>
            </a:r>
            <a:r>
              <a:rPr lang="en-US" sz="1200" dirty="0" err="1">
                <a:solidFill>
                  <a:prstClr val="black"/>
                </a:solidFill>
                <a:latin typeface="Roboto regular"/>
                <a:cs typeface="Times New Roman" pitchFamily="18" charset="0"/>
                <a:sym typeface="Arial"/>
              </a:rPr>
              <a:t>Engg</a:t>
            </a:r>
            <a:r>
              <a:rPr lang="en-US" sz="1200" dirty="0">
                <a:solidFill>
                  <a:prstClr val="black"/>
                </a:solidFill>
                <a:latin typeface="Roboto regular"/>
                <a:cs typeface="Times New Roman" pitchFamily="18" charset="0"/>
                <a:sym typeface="Arial"/>
              </a:rPr>
              <a:t>., RV College of Engineering, Bangalore-560059</a:t>
            </a:r>
          </a:p>
        </p:txBody>
      </p:sp>
      <p:sp>
        <p:nvSpPr>
          <p:cNvPr id="9" name="TextBox 8">
            <a:extLst>
              <a:ext uri="{FF2B5EF4-FFF2-40B4-BE49-F238E27FC236}">
                <a16:creationId xmlns:a16="http://schemas.microsoft.com/office/drawing/2014/main" id="{D6324676-F451-68D3-7D17-E45A6EF2914A}"/>
              </a:ext>
            </a:extLst>
          </p:cNvPr>
          <p:cNvSpPr txBox="1"/>
          <p:nvPr/>
        </p:nvSpPr>
        <p:spPr>
          <a:xfrm>
            <a:off x="2770108" y="233695"/>
            <a:ext cx="6651777" cy="1015663"/>
          </a:xfrm>
          <a:prstGeom prst="rect">
            <a:avLst/>
          </a:prstGeom>
          <a:noFill/>
        </p:spPr>
        <p:txBody>
          <a:bodyPr wrap="square">
            <a:spAutoFit/>
          </a:bodyPr>
          <a:lstStyle/>
          <a:p>
            <a:pPr algn="ctr" defTabSz="1219170">
              <a:buClr>
                <a:srgbClr val="000000"/>
              </a:buClr>
            </a:pPr>
            <a:r>
              <a:rPr lang="en-US" altLang="en-US" sz="3000" b="1" kern="0" dirty="0">
                <a:solidFill>
                  <a:srgbClr val="0070C0"/>
                </a:solidFill>
                <a:latin typeface="Bookman Old Style" panose="02050604050505020204" pitchFamily="18" charset="0"/>
                <a:cs typeface="Arial"/>
                <a:sym typeface="Arial"/>
              </a:rPr>
              <a:t>Phase of Mechatronic system design  process</a:t>
            </a:r>
          </a:p>
        </p:txBody>
      </p:sp>
      <p:sp>
        <p:nvSpPr>
          <p:cNvPr id="4" name="TextBox 3">
            <a:extLst>
              <a:ext uri="{FF2B5EF4-FFF2-40B4-BE49-F238E27FC236}">
                <a16:creationId xmlns:a16="http://schemas.microsoft.com/office/drawing/2014/main" id="{8EF8E071-8A1A-DE7D-E873-D2D56F763ED7}"/>
              </a:ext>
            </a:extLst>
          </p:cNvPr>
          <p:cNvSpPr txBox="1"/>
          <p:nvPr/>
        </p:nvSpPr>
        <p:spPr>
          <a:xfrm>
            <a:off x="264405" y="1223369"/>
            <a:ext cx="11663191" cy="4656788"/>
          </a:xfrm>
          <a:prstGeom prst="rect">
            <a:avLst/>
          </a:prstGeom>
          <a:noFill/>
        </p:spPr>
        <p:txBody>
          <a:bodyPr wrap="square">
            <a:spAutoFit/>
          </a:bodyPr>
          <a:lstStyle/>
          <a:p>
            <a:pPr algn="just" defTabSz="1219170">
              <a:lnSpc>
                <a:spcPct val="150000"/>
              </a:lnSpc>
              <a:buClr>
                <a:srgbClr val="000000"/>
              </a:buClr>
            </a:pPr>
            <a:r>
              <a:rPr lang="en-US" sz="2000" b="1" kern="0" dirty="0">
                <a:solidFill>
                  <a:srgbClr val="000000"/>
                </a:solidFill>
                <a:latin typeface="Bookman Old Style" panose="02050604050505020204" pitchFamily="18" charset="0"/>
                <a:cs typeface="Arial"/>
                <a:sym typeface="Arial"/>
              </a:rPr>
              <a:t>DEPLOYMENT/LIFE CYCLE</a:t>
            </a:r>
          </a:p>
          <a:p>
            <a:pPr algn="just" defTabSz="1219170">
              <a:lnSpc>
                <a:spcPct val="150000"/>
              </a:lnSpc>
              <a:buClr>
                <a:srgbClr val="000000"/>
              </a:buClr>
            </a:pPr>
            <a:r>
              <a:rPr lang="en-US" sz="2000" b="1" kern="0" dirty="0">
                <a:solidFill>
                  <a:srgbClr val="000000"/>
                </a:solidFill>
                <a:latin typeface="Bookman Old Style" panose="02050604050505020204" pitchFamily="18" charset="0"/>
                <a:cs typeface="Arial"/>
                <a:sym typeface="Arial"/>
              </a:rPr>
              <a:t>10. Deployment of embedded software: </a:t>
            </a:r>
            <a:r>
              <a:rPr lang="en-US" sz="2000" kern="0" dirty="0">
                <a:solidFill>
                  <a:srgbClr val="000000"/>
                </a:solidFill>
                <a:latin typeface="Bookman Old Style" panose="02050604050505020204" pitchFamily="18" charset="0"/>
                <a:cs typeface="Arial"/>
                <a:sym typeface="Arial"/>
              </a:rPr>
              <a:t>The development cycle for embedded software in a car typically involves stages like </a:t>
            </a:r>
            <a:r>
              <a:rPr lang="en-US" sz="2000" kern="0" dirty="0">
                <a:solidFill>
                  <a:srgbClr val="0070C0"/>
                </a:solidFill>
                <a:latin typeface="Bookman Old Style" panose="02050604050505020204" pitchFamily="18" charset="0"/>
                <a:cs typeface="Arial"/>
                <a:sym typeface="Arial"/>
              </a:rPr>
              <a:t>requirements analysis, design, coding, testing, and debugging.</a:t>
            </a:r>
            <a:r>
              <a:rPr lang="en-US" sz="2000" kern="0" dirty="0">
                <a:solidFill>
                  <a:srgbClr val="000000"/>
                </a:solidFill>
                <a:latin typeface="Bookman Old Style" panose="02050604050505020204" pitchFamily="18" charset="0"/>
                <a:cs typeface="Arial"/>
                <a:sym typeface="Arial"/>
              </a:rPr>
              <a:t> After thorough testing, the </a:t>
            </a:r>
            <a:r>
              <a:rPr lang="en-US" sz="2000" kern="0" dirty="0">
                <a:solidFill>
                  <a:srgbClr val="0070C0"/>
                </a:solidFill>
                <a:latin typeface="Bookman Old Style" panose="02050604050505020204" pitchFamily="18" charset="0"/>
                <a:cs typeface="Arial"/>
                <a:sym typeface="Arial"/>
              </a:rPr>
              <a:t>software is deployed onto the embedded system</a:t>
            </a:r>
            <a:r>
              <a:rPr lang="en-US" sz="2000" kern="0" dirty="0">
                <a:solidFill>
                  <a:srgbClr val="000000"/>
                </a:solidFill>
                <a:latin typeface="Bookman Old Style" panose="02050604050505020204" pitchFamily="18" charset="0"/>
                <a:cs typeface="Arial"/>
                <a:sym typeface="Arial"/>
              </a:rPr>
              <a:t>, ensuring it meets </a:t>
            </a:r>
            <a:r>
              <a:rPr lang="en-US" sz="2000" kern="0" dirty="0">
                <a:solidFill>
                  <a:srgbClr val="0070C0"/>
                </a:solidFill>
                <a:latin typeface="Bookman Old Style" panose="02050604050505020204" pitchFamily="18" charset="0"/>
                <a:cs typeface="Arial"/>
                <a:sym typeface="Arial"/>
              </a:rPr>
              <a:t>performance and reliability criteria</a:t>
            </a:r>
            <a:r>
              <a:rPr lang="en-US" sz="2000" kern="0" dirty="0">
                <a:solidFill>
                  <a:srgbClr val="000000"/>
                </a:solidFill>
                <a:latin typeface="Bookman Old Style" panose="02050604050505020204" pitchFamily="18" charset="0"/>
                <a:cs typeface="Arial"/>
                <a:sym typeface="Arial"/>
              </a:rPr>
              <a:t>. The deployment process may vary based on the specific embedded platform and project requirements. </a:t>
            </a:r>
          </a:p>
          <a:p>
            <a:pPr algn="just" defTabSz="1219170">
              <a:lnSpc>
                <a:spcPct val="150000"/>
              </a:lnSpc>
              <a:buClr>
                <a:srgbClr val="000000"/>
              </a:buClr>
            </a:pPr>
            <a:r>
              <a:rPr lang="en-US" sz="2000" b="1" kern="0" dirty="0">
                <a:solidFill>
                  <a:srgbClr val="000000"/>
                </a:solidFill>
                <a:latin typeface="Bookman Old Style" panose="02050604050505020204" pitchFamily="18" charset="0"/>
                <a:cs typeface="Arial"/>
                <a:sym typeface="Arial"/>
              </a:rPr>
              <a:t>11. Life cycle optimization:</a:t>
            </a:r>
            <a:r>
              <a:rPr lang="en-US" sz="2000" kern="0" dirty="0">
                <a:solidFill>
                  <a:srgbClr val="000000"/>
                </a:solidFill>
                <a:latin typeface="Bookman Old Style" panose="02050604050505020204" pitchFamily="18" charset="0"/>
                <a:cs typeface="Arial"/>
                <a:sym typeface="Arial"/>
              </a:rPr>
              <a:t> The development cycle optimization of a car involves </a:t>
            </a:r>
            <a:r>
              <a:rPr lang="en-US" sz="2000" kern="0" dirty="0">
                <a:solidFill>
                  <a:srgbClr val="0070C0"/>
                </a:solidFill>
                <a:latin typeface="Bookman Old Style" panose="02050604050505020204" pitchFamily="18" charset="0"/>
                <a:cs typeface="Arial"/>
                <a:sym typeface="Arial"/>
              </a:rPr>
              <a:t>refining and streamlining processes</a:t>
            </a:r>
            <a:r>
              <a:rPr lang="en-US" sz="2000" kern="0" dirty="0">
                <a:solidFill>
                  <a:srgbClr val="000000"/>
                </a:solidFill>
                <a:latin typeface="Bookman Old Style" panose="02050604050505020204" pitchFamily="18" charset="0"/>
                <a:cs typeface="Arial"/>
                <a:sym typeface="Arial"/>
              </a:rPr>
              <a:t> throughout the software development life cycle. This includes </a:t>
            </a:r>
            <a:r>
              <a:rPr lang="en-US" sz="2000" kern="0" dirty="0">
                <a:solidFill>
                  <a:srgbClr val="0070C0"/>
                </a:solidFill>
                <a:latin typeface="Bookman Old Style" panose="02050604050505020204" pitchFamily="18" charset="0"/>
                <a:cs typeface="Arial"/>
                <a:sym typeface="Arial"/>
              </a:rPr>
              <a:t>continuous improvement in areas like planning, coding, testing, and deployment </a:t>
            </a:r>
            <a:r>
              <a:rPr lang="en-US" sz="2000" kern="0" dirty="0">
                <a:solidFill>
                  <a:srgbClr val="000000"/>
                </a:solidFill>
                <a:latin typeface="Bookman Old Style" panose="02050604050505020204" pitchFamily="18" charset="0"/>
                <a:cs typeface="Arial"/>
                <a:sym typeface="Arial"/>
              </a:rPr>
              <a:t>to enhance efficiency, reduce errors, and ensure timely delivery of high-quality software. </a:t>
            </a:r>
            <a:endParaRPr lang="en-IN" sz="2000" kern="0" dirty="0">
              <a:solidFill>
                <a:srgbClr val="000000"/>
              </a:solidFill>
              <a:latin typeface="Bookman Old Style" panose="02050604050505020204" pitchFamily="18" charset="0"/>
              <a:cs typeface="Arial"/>
              <a:sym typeface="Arial"/>
            </a:endParaRPr>
          </a:p>
        </p:txBody>
      </p:sp>
    </p:spTree>
    <p:extLst>
      <p:ext uri="{BB962C8B-B14F-4D97-AF65-F5344CB8AC3E}">
        <p14:creationId xmlns:p14="http://schemas.microsoft.com/office/powerpoint/2010/main" val="3595935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1DC00973-F3C0-3179-99A6-6184A9EDA7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72123C-47C5-ED42-02B6-8A9C9EEBEFFE}"/>
              </a:ext>
            </a:extLst>
          </p:cNvPr>
          <p:cNvSpPr txBox="1"/>
          <p:nvPr/>
        </p:nvSpPr>
        <p:spPr>
          <a:xfrm>
            <a:off x="264405" y="6542142"/>
            <a:ext cx="11663191" cy="276999"/>
          </a:xfrm>
          <a:prstGeom prst="rect">
            <a:avLst/>
          </a:prstGeom>
          <a:noFill/>
        </p:spPr>
        <p:txBody>
          <a:bodyPr wrap="square">
            <a:spAutoFit/>
          </a:bodyPr>
          <a:lstStyle/>
          <a:p>
            <a:pPr algn="ctr" defTabSz="1219170">
              <a:defRPr/>
            </a:pPr>
            <a:r>
              <a:rPr lang="en-US" sz="1200" dirty="0">
                <a:solidFill>
                  <a:prstClr val="black"/>
                </a:solidFill>
                <a:latin typeface="Roboto regular"/>
                <a:cs typeface="Times New Roman" pitchFamily="18" charset="0"/>
                <a:sym typeface="Arial"/>
              </a:rPr>
              <a:t>Dr. Gangadhar Angadi (GT&amp;TC, BE, MTech and PhD), Assistant Professor, Dept. of Mech. </a:t>
            </a:r>
            <a:r>
              <a:rPr lang="en-US" sz="1200" dirty="0" err="1">
                <a:solidFill>
                  <a:prstClr val="black"/>
                </a:solidFill>
                <a:latin typeface="Roboto regular"/>
                <a:cs typeface="Times New Roman" pitchFamily="18" charset="0"/>
                <a:sym typeface="Arial"/>
              </a:rPr>
              <a:t>Engg</a:t>
            </a:r>
            <a:r>
              <a:rPr lang="en-US" sz="1200" dirty="0">
                <a:solidFill>
                  <a:prstClr val="black"/>
                </a:solidFill>
                <a:latin typeface="Roboto regular"/>
                <a:cs typeface="Times New Roman" pitchFamily="18" charset="0"/>
                <a:sym typeface="Arial"/>
              </a:rPr>
              <a:t>., RV College of Engineering, Bangalore-560059</a:t>
            </a:r>
          </a:p>
        </p:txBody>
      </p:sp>
      <p:sp>
        <p:nvSpPr>
          <p:cNvPr id="9" name="TextBox 8">
            <a:extLst>
              <a:ext uri="{FF2B5EF4-FFF2-40B4-BE49-F238E27FC236}">
                <a16:creationId xmlns:a16="http://schemas.microsoft.com/office/drawing/2014/main" id="{018F81AD-9696-06D3-EC27-FB9798F2C3B8}"/>
              </a:ext>
            </a:extLst>
          </p:cNvPr>
          <p:cNvSpPr txBox="1"/>
          <p:nvPr/>
        </p:nvSpPr>
        <p:spPr>
          <a:xfrm>
            <a:off x="2770110" y="254293"/>
            <a:ext cx="6651777" cy="1015663"/>
          </a:xfrm>
          <a:prstGeom prst="rect">
            <a:avLst/>
          </a:prstGeom>
          <a:noFill/>
        </p:spPr>
        <p:txBody>
          <a:bodyPr wrap="square">
            <a:spAutoFit/>
          </a:bodyPr>
          <a:lstStyle/>
          <a:p>
            <a:pPr algn="ctr" defTabSz="1219170">
              <a:buClr>
                <a:srgbClr val="000000"/>
              </a:buClr>
            </a:pPr>
            <a:r>
              <a:rPr lang="en-US" altLang="en-US" sz="3000" b="1" kern="0" dirty="0">
                <a:solidFill>
                  <a:srgbClr val="0070C0"/>
                </a:solidFill>
                <a:latin typeface="Bookman Old Style" panose="02050604050505020204" pitchFamily="18" charset="0"/>
                <a:cs typeface="Arial"/>
                <a:sym typeface="Arial"/>
              </a:rPr>
              <a:t>Comparison  Of  Traditional and  Mechatronic  Design</a:t>
            </a:r>
          </a:p>
        </p:txBody>
      </p:sp>
      <p:graphicFrame>
        <p:nvGraphicFramePr>
          <p:cNvPr id="3" name="Table 2">
            <a:extLst>
              <a:ext uri="{FF2B5EF4-FFF2-40B4-BE49-F238E27FC236}">
                <a16:creationId xmlns:a16="http://schemas.microsoft.com/office/drawing/2014/main" id="{C19D1D79-664C-36F2-29C2-5014E0B98F72}"/>
              </a:ext>
            </a:extLst>
          </p:cNvPr>
          <p:cNvGraphicFramePr>
            <a:graphicFrameLocks noGrp="1"/>
          </p:cNvGraphicFramePr>
          <p:nvPr>
            <p:extLst>
              <p:ext uri="{D42A27DB-BD31-4B8C-83A1-F6EECF244321}">
                <p14:modId xmlns:p14="http://schemas.microsoft.com/office/powerpoint/2010/main" val="1053375297"/>
              </p:ext>
            </p:extLst>
          </p:nvPr>
        </p:nvGraphicFramePr>
        <p:xfrm>
          <a:off x="830178" y="1362289"/>
          <a:ext cx="10407317" cy="4754880"/>
        </p:xfrm>
        <a:graphic>
          <a:graphicData uri="http://schemas.openxmlformats.org/drawingml/2006/table">
            <a:tbl>
              <a:tblPr firstRow="1" bandRow="1">
                <a:tableStyleId>{8A107856-5554-42FB-B03E-39F5DBC370BA}</a:tableStyleId>
              </a:tblPr>
              <a:tblGrid>
                <a:gridCol w="4981130">
                  <a:extLst>
                    <a:ext uri="{9D8B030D-6E8A-4147-A177-3AD203B41FA5}">
                      <a16:colId xmlns:a16="http://schemas.microsoft.com/office/drawing/2014/main" val="20000"/>
                    </a:ext>
                  </a:extLst>
                </a:gridCol>
                <a:gridCol w="5426187">
                  <a:extLst>
                    <a:ext uri="{9D8B030D-6E8A-4147-A177-3AD203B41FA5}">
                      <a16:colId xmlns:a16="http://schemas.microsoft.com/office/drawing/2014/main" val="20001"/>
                    </a:ext>
                  </a:extLst>
                </a:gridCol>
              </a:tblGrid>
              <a:tr h="487680">
                <a:tc>
                  <a:txBody>
                    <a:bodyPr/>
                    <a:lstStyle/>
                    <a:p>
                      <a:pPr algn="ctr"/>
                      <a:r>
                        <a:rPr lang="en-US" sz="2200" i="0" dirty="0">
                          <a:solidFill>
                            <a:srgbClr val="0070C0"/>
                          </a:solidFill>
                          <a:latin typeface="Bookman Old Style" panose="02050604050505020204" pitchFamily="18" charset="0"/>
                        </a:rPr>
                        <a:t>TRADITIONAL</a:t>
                      </a:r>
                    </a:p>
                  </a:txBody>
                  <a:tcPr marL="121928" marR="121928" marT="60960" marB="60960">
                    <a:noFill/>
                  </a:tcPr>
                </a:tc>
                <a:tc>
                  <a:txBody>
                    <a:bodyPr/>
                    <a:lstStyle/>
                    <a:p>
                      <a:pPr algn="ctr"/>
                      <a:r>
                        <a:rPr lang="en-US" sz="2200" i="0" dirty="0">
                          <a:solidFill>
                            <a:srgbClr val="0070C0"/>
                          </a:solidFill>
                          <a:latin typeface="Bookman Old Style" panose="02050604050505020204" pitchFamily="18" charset="0"/>
                        </a:rPr>
                        <a:t>MECHATRONICS</a:t>
                      </a:r>
                    </a:p>
                  </a:txBody>
                  <a:tcPr marL="121928" marR="121928" marT="60960" marB="60960">
                    <a:noFill/>
                  </a:tcPr>
                </a:tc>
                <a:extLst>
                  <a:ext uri="{0D108BD9-81ED-4DB2-BD59-A6C34878D82A}">
                    <a16:rowId xmlns:a16="http://schemas.microsoft.com/office/drawing/2014/main" val="10000"/>
                  </a:ext>
                </a:extLst>
              </a:tr>
              <a:tr h="487680">
                <a:tc>
                  <a:txBody>
                    <a:bodyPr/>
                    <a:lstStyle/>
                    <a:p>
                      <a:pPr algn="just"/>
                      <a:r>
                        <a:rPr lang="en-US" sz="2200" i="0" dirty="0">
                          <a:latin typeface="Bookman Old Style" panose="02050604050505020204" pitchFamily="18" charset="0"/>
                        </a:rPr>
                        <a:t>Sequential</a:t>
                      </a:r>
                      <a:r>
                        <a:rPr lang="en-US" sz="2200" i="0" baseline="0" dirty="0">
                          <a:latin typeface="Bookman Old Style" panose="02050604050505020204" pitchFamily="18" charset="0"/>
                        </a:rPr>
                        <a:t> approach</a:t>
                      </a:r>
                      <a:endParaRPr lang="en-US" sz="2200" i="0" dirty="0">
                        <a:latin typeface="Bookman Old Style" panose="02050604050505020204" pitchFamily="18" charset="0"/>
                      </a:endParaRPr>
                    </a:p>
                  </a:txBody>
                  <a:tcPr marL="121928" marR="121928" marT="60960" marB="60960">
                    <a:noFill/>
                  </a:tcPr>
                </a:tc>
                <a:tc>
                  <a:txBody>
                    <a:bodyPr/>
                    <a:lstStyle/>
                    <a:p>
                      <a:pPr algn="just"/>
                      <a:r>
                        <a:rPr lang="en-US" sz="2200" i="0" dirty="0">
                          <a:latin typeface="Bookman Old Style" panose="02050604050505020204" pitchFamily="18" charset="0"/>
                        </a:rPr>
                        <a:t>Concurrent approach</a:t>
                      </a:r>
                    </a:p>
                  </a:txBody>
                  <a:tcPr marL="121928" marR="121928" marT="60960" marB="60960">
                    <a:noFill/>
                  </a:tcPr>
                </a:tc>
                <a:extLst>
                  <a:ext uri="{0D108BD9-81ED-4DB2-BD59-A6C34878D82A}">
                    <a16:rowId xmlns:a16="http://schemas.microsoft.com/office/drawing/2014/main" val="10001"/>
                  </a:ext>
                </a:extLst>
              </a:tr>
              <a:tr h="853440">
                <a:tc>
                  <a:txBody>
                    <a:bodyPr/>
                    <a:lstStyle/>
                    <a:p>
                      <a:pPr algn="just"/>
                      <a:r>
                        <a:rPr lang="en-US" sz="2200" i="0" dirty="0">
                          <a:latin typeface="Bookman Old Style" panose="02050604050505020204" pitchFamily="18" charset="0"/>
                        </a:rPr>
                        <a:t>Process controlled by relay logic</a:t>
                      </a:r>
                    </a:p>
                  </a:txBody>
                  <a:tcPr marL="121928" marR="121928" marT="60960" marB="60960">
                    <a:noFill/>
                  </a:tcPr>
                </a:tc>
                <a:tc>
                  <a:txBody>
                    <a:bodyPr/>
                    <a:lstStyle/>
                    <a:p>
                      <a:pPr algn="just"/>
                      <a:r>
                        <a:rPr lang="en-US" sz="2200" i="0" dirty="0">
                          <a:latin typeface="Bookman Old Style" panose="02050604050505020204" pitchFamily="18" charset="0"/>
                        </a:rPr>
                        <a:t>Microprocessor</a:t>
                      </a:r>
                      <a:r>
                        <a:rPr lang="en-US" sz="2200" i="0" baseline="0" dirty="0">
                          <a:latin typeface="Bookman Old Style" panose="02050604050505020204" pitchFamily="18" charset="0"/>
                        </a:rPr>
                        <a:t> based programmable logic controller</a:t>
                      </a:r>
                      <a:endParaRPr lang="en-US" sz="2200" i="0" dirty="0">
                        <a:latin typeface="Bookman Old Style" panose="02050604050505020204" pitchFamily="18" charset="0"/>
                      </a:endParaRPr>
                    </a:p>
                  </a:txBody>
                  <a:tcPr marL="121928" marR="121928" marT="60960" marB="60960">
                    <a:noFill/>
                  </a:tcPr>
                </a:tc>
                <a:extLst>
                  <a:ext uri="{0D108BD9-81ED-4DB2-BD59-A6C34878D82A}">
                    <a16:rowId xmlns:a16="http://schemas.microsoft.com/office/drawing/2014/main" val="10002"/>
                  </a:ext>
                </a:extLst>
              </a:tr>
              <a:tr h="1219200">
                <a:tc>
                  <a:txBody>
                    <a:bodyPr/>
                    <a:lstStyle/>
                    <a:p>
                      <a:pPr algn="just"/>
                      <a:r>
                        <a:rPr lang="en-US" sz="2200" i="0" dirty="0">
                          <a:latin typeface="Bookman Old Style" panose="02050604050505020204" pitchFamily="18" charset="0"/>
                        </a:rPr>
                        <a:t>More wiring to control computer and control</a:t>
                      </a:r>
                      <a:r>
                        <a:rPr lang="en-US" sz="2200" i="0" baseline="0" dirty="0">
                          <a:latin typeface="Bookman Old Style" panose="02050604050505020204" pitchFamily="18" charset="0"/>
                        </a:rPr>
                        <a:t> room</a:t>
                      </a:r>
                      <a:endParaRPr lang="en-US" sz="2200" i="0" dirty="0">
                        <a:latin typeface="Bookman Old Style" panose="02050604050505020204" pitchFamily="18" charset="0"/>
                      </a:endParaRPr>
                    </a:p>
                  </a:txBody>
                  <a:tcPr marL="121928" marR="121928" marT="60960" marB="60960">
                    <a:noFill/>
                  </a:tcPr>
                </a:tc>
                <a:tc>
                  <a:txBody>
                    <a:bodyPr/>
                    <a:lstStyle/>
                    <a:p>
                      <a:pPr algn="just"/>
                      <a:r>
                        <a:rPr lang="en-US" sz="2200" i="0" dirty="0">
                          <a:latin typeface="Bookman Old Style" panose="02050604050505020204" pitchFamily="18" charset="0"/>
                        </a:rPr>
                        <a:t>Reduced wiring and machine cycles stored</a:t>
                      </a:r>
                      <a:r>
                        <a:rPr lang="en-US" sz="2200" i="0" baseline="0" dirty="0">
                          <a:latin typeface="Bookman Old Style" panose="02050604050505020204" pitchFamily="18" charset="0"/>
                        </a:rPr>
                        <a:t> and executed via local control loops</a:t>
                      </a:r>
                      <a:endParaRPr lang="en-US" sz="2200" i="0" dirty="0">
                        <a:latin typeface="Bookman Old Style" panose="02050604050505020204" pitchFamily="18" charset="0"/>
                      </a:endParaRPr>
                    </a:p>
                  </a:txBody>
                  <a:tcPr marL="121928" marR="121928" marT="60960" marB="60960">
                    <a:noFill/>
                  </a:tcPr>
                </a:tc>
                <a:extLst>
                  <a:ext uri="{0D108BD9-81ED-4DB2-BD59-A6C34878D82A}">
                    <a16:rowId xmlns:a16="http://schemas.microsoft.com/office/drawing/2014/main" val="10003"/>
                  </a:ext>
                </a:extLst>
              </a:tr>
              <a:tr h="853440">
                <a:tc>
                  <a:txBody>
                    <a:bodyPr/>
                    <a:lstStyle/>
                    <a:p>
                      <a:pPr algn="just"/>
                      <a:r>
                        <a:rPr lang="en-US" sz="2200" i="0" dirty="0">
                          <a:latin typeface="Bookman Old Style" panose="02050604050505020204" pitchFamily="18" charset="0"/>
                        </a:rPr>
                        <a:t>Manual handling processes</a:t>
                      </a:r>
                      <a:r>
                        <a:rPr lang="en-US" sz="2200" i="0" baseline="0" dirty="0">
                          <a:latin typeface="Bookman Old Style" panose="02050604050505020204" pitchFamily="18" charset="0"/>
                        </a:rPr>
                        <a:t> for loading and unloading</a:t>
                      </a:r>
                      <a:endParaRPr lang="en-US" sz="2200" i="0" dirty="0">
                        <a:latin typeface="Bookman Old Style" panose="02050604050505020204" pitchFamily="18" charset="0"/>
                      </a:endParaRPr>
                    </a:p>
                  </a:txBody>
                  <a:tcPr marL="121928" marR="121928" marT="60960" marB="60960">
                    <a:noFill/>
                  </a:tcPr>
                </a:tc>
                <a:tc>
                  <a:txBody>
                    <a:bodyPr/>
                    <a:lstStyle/>
                    <a:p>
                      <a:pPr algn="just"/>
                      <a:r>
                        <a:rPr lang="en-US" sz="2200" i="0" dirty="0">
                          <a:latin typeface="Bookman Old Style" panose="02050604050505020204" pitchFamily="18" charset="0"/>
                        </a:rPr>
                        <a:t>Use of general purpose</a:t>
                      </a:r>
                      <a:r>
                        <a:rPr lang="en-US" sz="2200" i="0" baseline="0" dirty="0">
                          <a:latin typeface="Bookman Old Style" panose="02050604050505020204" pitchFamily="18" charset="0"/>
                        </a:rPr>
                        <a:t> robotic for handling; automatic tool changing</a:t>
                      </a:r>
                      <a:endParaRPr lang="en-US" sz="2200" i="0" dirty="0">
                        <a:latin typeface="Bookman Old Style" panose="02050604050505020204" pitchFamily="18" charset="0"/>
                      </a:endParaRPr>
                    </a:p>
                  </a:txBody>
                  <a:tcPr marL="121928" marR="121928" marT="60960" marB="60960">
                    <a:noFill/>
                  </a:tcPr>
                </a:tc>
                <a:extLst>
                  <a:ext uri="{0D108BD9-81ED-4DB2-BD59-A6C34878D82A}">
                    <a16:rowId xmlns:a16="http://schemas.microsoft.com/office/drawing/2014/main" val="10004"/>
                  </a:ext>
                </a:extLst>
              </a:tr>
              <a:tr h="853440">
                <a:tc>
                  <a:txBody>
                    <a:bodyPr/>
                    <a:lstStyle/>
                    <a:p>
                      <a:pPr algn="just"/>
                      <a:r>
                        <a:rPr lang="en-US" sz="2200" i="0" dirty="0">
                          <a:latin typeface="Bookman Old Style" panose="02050604050505020204" pitchFamily="18" charset="0"/>
                        </a:rPr>
                        <a:t>Maintenance on a preventive</a:t>
                      </a:r>
                      <a:r>
                        <a:rPr lang="en-US" sz="2200" i="0" baseline="0" dirty="0">
                          <a:latin typeface="Bookman Old Style" panose="02050604050505020204" pitchFamily="18" charset="0"/>
                        </a:rPr>
                        <a:t> or breakdown basis</a:t>
                      </a:r>
                      <a:endParaRPr lang="en-US" sz="2200" i="0" dirty="0">
                        <a:latin typeface="Bookman Old Style" panose="02050604050505020204" pitchFamily="18" charset="0"/>
                      </a:endParaRPr>
                    </a:p>
                  </a:txBody>
                  <a:tcPr marL="121928" marR="121928" marT="60960" marB="60960">
                    <a:noFill/>
                  </a:tcPr>
                </a:tc>
                <a:tc>
                  <a:txBody>
                    <a:bodyPr/>
                    <a:lstStyle/>
                    <a:p>
                      <a:pPr algn="just"/>
                      <a:r>
                        <a:rPr lang="en-US" sz="2200" i="0" dirty="0">
                          <a:latin typeface="Bookman Old Style" panose="02050604050505020204" pitchFamily="18" charset="0"/>
                        </a:rPr>
                        <a:t>Based on in-line diagnostics and condition</a:t>
                      </a:r>
                      <a:r>
                        <a:rPr lang="en-US" sz="2200" i="0" baseline="0" dirty="0">
                          <a:latin typeface="Bookman Old Style" panose="02050604050505020204" pitchFamily="18" charset="0"/>
                        </a:rPr>
                        <a:t> monitoring</a:t>
                      </a:r>
                      <a:endParaRPr lang="en-US" sz="2200" i="0" dirty="0">
                        <a:latin typeface="Bookman Old Style" panose="02050604050505020204" pitchFamily="18" charset="0"/>
                      </a:endParaRPr>
                    </a:p>
                  </a:txBody>
                  <a:tcPr marL="121928" marR="121928" marT="60960" marB="60960">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03383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0938C251-2982-064F-57D6-02FBA449517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0B9290D-3A85-3C30-D608-7B527250FC84}"/>
              </a:ext>
            </a:extLst>
          </p:cNvPr>
          <p:cNvSpPr txBox="1"/>
          <p:nvPr/>
        </p:nvSpPr>
        <p:spPr>
          <a:xfrm>
            <a:off x="2770110" y="406694"/>
            <a:ext cx="6651777" cy="553998"/>
          </a:xfrm>
          <a:prstGeom prst="rect">
            <a:avLst/>
          </a:prstGeom>
          <a:noFill/>
        </p:spPr>
        <p:txBody>
          <a:bodyPr wrap="square">
            <a:spAutoFit/>
          </a:bodyPr>
          <a:lstStyle/>
          <a:p>
            <a:pPr algn="ctr" defTabSz="1219170">
              <a:buClr>
                <a:srgbClr val="000000"/>
              </a:buClr>
            </a:pPr>
            <a:r>
              <a:rPr lang="en-US" altLang="en-US" sz="3000" b="1" kern="0" dirty="0">
                <a:solidFill>
                  <a:srgbClr val="0070C0"/>
                </a:solidFill>
                <a:latin typeface="Bookman Old Style" panose="02050604050505020204" pitchFamily="18" charset="0"/>
                <a:cs typeface="Arial"/>
                <a:sym typeface="Arial"/>
              </a:rPr>
              <a:t>Control  System</a:t>
            </a:r>
          </a:p>
        </p:txBody>
      </p:sp>
      <p:sp>
        <p:nvSpPr>
          <p:cNvPr id="5" name="TextBox 4">
            <a:extLst>
              <a:ext uri="{FF2B5EF4-FFF2-40B4-BE49-F238E27FC236}">
                <a16:creationId xmlns:a16="http://schemas.microsoft.com/office/drawing/2014/main" id="{B0DB3392-7EC8-3315-B179-E38F5A40E751}"/>
              </a:ext>
            </a:extLst>
          </p:cNvPr>
          <p:cNvSpPr txBox="1"/>
          <p:nvPr/>
        </p:nvSpPr>
        <p:spPr>
          <a:xfrm>
            <a:off x="408781" y="1127861"/>
            <a:ext cx="11663191" cy="5323445"/>
          </a:xfrm>
          <a:prstGeom prst="rect">
            <a:avLst/>
          </a:prstGeom>
          <a:noFill/>
        </p:spPr>
        <p:txBody>
          <a:bodyPr wrap="square">
            <a:spAutoFit/>
          </a:bodyPr>
          <a:lstStyle/>
          <a:p>
            <a:pPr algn="just" defTabSz="1219170">
              <a:lnSpc>
                <a:spcPct val="150000"/>
              </a:lnSpc>
              <a:buClr>
                <a:srgbClr val="000000"/>
              </a:buClr>
              <a:defRPr/>
            </a:pPr>
            <a:r>
              <a:rPr lang="en-US" sz="2400" dirty="0">
                <a:latin typeface="Bookman Old Style" panose="02050604050505020204" pitchFamily="18" charset="0"/>
              </a:rPr>
              <a:t>A </a:t>
            </a:r>
            <a:r>
              <a:rPr lang="en-US" sz="2400" b="1" dirty="0">
                <a:latin typeface="Bookman Old Style" panose="02050604050505020204" pitchFamily="18" charset="0"/>
              </a:rPr>
              <a:t>control system</a:t>
            </a:r>
            <a:r>
              <a:rPr lang="en-US" sz="2400" dirty="0">
                <a:latin typeface="Bookman Old Style" panose="02050604050505020204" pitchFamily="18" charset="0"/>
              </a:rPr>
              <a:t> in mechatronics refers to a system that </a:t>
            </a:r>
            <a:r>
              <a:rPr lang="en-US" sz="2400" dirty="0">
                <a:solidFill>
                  <a:srgbClr val="0070C0"/>
                </a:solidFill>
                <a:latin typeface="Bookman Old Style" panose="02050604050505020204" pitchFamily="18" charset="0"/>
              </a:rPr>
              <a:t>manages, commands, directs, or regulates the behavior of devices or systems to achieve desired outputs.</a:t>
            </a:r>
            <a:r>
              <a:rPr lang="en-US" sz="2400" dirty="0">
                <a:latin typeface="Bookman Old Style" panose="02050604050505020204" pitchFamily="18" charset="0"/>
              </a:rPr>
              <a:t> It plays a central role in </a:t>
            </a:r>
            <a:r>
              <a:rPr lang="en-US" sz="2400" dirty="0">
                <a:solidFill>
                  <a:srgbClr val="0070C0"/>
                </a:solidFill>
                <a:latin typeface="Bookman Old Style" panose="02050604050505020204" pitchFamily="18" charset="0"/>
              </a:rPr>
              <a:t>integrating mechanical, electronic, and computational components in a cohesive manner.</a:t>
            </a:r>
          </a:p>
          <a:p>
            <a:pPr algn="just" defTabSz="1219170">
              <a:lnSpc>
                <a:spcPct val="150000"/>
              </a:lnSpc>
              <a:buClr>
                <a:srgbClr val="000000"/>
              </a:buClr>
              <a:defRPr/>
            </a:pPr>
            <a:r>
              <a:rPr lang="en-US" altLang="en-US" sz="2400" b="1" kern="0" dirty="0">
                <a:solidFill>
                  <a:srgbClr val="000000"/>
                </a:solidFill>
                <a:latin typeface="Bookman Old Style" panose="02050604050505020204" pitchFamily="18" charset="0"/>
                <a:cs typeface="Arial"/>
                <a:sym typeface="Arial"/>
              </a:rPr>
              <a:t>Example: </a:t>
            </a:r>
          </a:p>
          <a:p>
            <a:pPr marL="502602" marR="6773" lvl="3" indent="-502602" algn="just" defTabSz="2010411" eaLnBrk="0" fontAlgn="base" hangingPunct="0">
              <a:lnSpc>
                <a:spcPct val="150000"/>
              </a:lnSpc>
              <a:spcBef>
                <a:spcPts val="800"/>
              </a:spcBef>
              <a:buClr>
                <a:srgbClr val="000000"/>
              </a:buClr>
              <a:buBlip>
                <a:blip r:embed="rId3"/>
              </a:buBlip>
              <a:defRPr/>
            </a:pPr>
            <a:r>
              <a:rPr lang="en-US" altLang="en-US" sz="2400" kern="0" dirty="0">
                <a:solidFill>
                  <a:srgbClr val="000000"/>
                </a:solidFill>
                <a:latin typeface="Bookman Old Style" panose="02050604050505020204" pitchFamily="18" charset="0"/>
                <a:cs typeface="Andalus" pitchFamily="18" charset="-78"/>
                <a:sym typeface="Arial"/>
              </a:rPr>
              <a:t>Central heating system</a:t>
            </a:r>
          </a:p>
          <a:p>
            <a:pPr marL="502602" marR="6773" lvl="3" indent="-502602" algn="just" defTabSz="2010411" eaLnBrk="0" fontAlgn="base" hangingPunct="0">
              <a:lnSpc>
                <a:spcPct val="150000"/>
              </a:lnSpc>
              <a:spcBef>
                <a:spcPts val="800"/>
              </a:spcBef>
              <a:buClr>
                <a:srgbClr val="000000"/>
              </a:buClr>
              <a:buBlip>
                <a:blip r:embed="rId3"/>
              </a:buBlip>
              <a:defRPr/>
            </a:pPr>
            <a:r>
              <a:rPr lang="en-US" altLang="en-US" sz="2400" kern="0" dirty="0">
                <a:solidFill>
                  <a:srgbClr val="000000"/>
                </a:solidFill>
                <a:latin typeface="Bookman Old Style" panose="02050604050505020204" pitchFamily="18" charset="0"/>
                <a:cs typeface="Andalus" pitchFamily="18" charset="-78"/>
                <a:sym typeface="Arial"/>
              </a:rPr>
              <a:t>Domestic washing machine</a:t>
            </a:r>
          </a:p>
          <a:p>
            <a:pPr marL="502602" marR="6773" lvl="3" indent="-502602" algn="just" defTabSz="2010411" eaLnBrk="0" fontAlgn="base" hangingPunct="0">
              <a:lnSpc>
                <a:spcPct val="150000"/>
              </a:lnSpc>
              <a:spcBef>
                <a:spcPts val="800"/>
              </a:spcBef>
              <a:buClr>
                <a:srgbClr val="000000"/>
              </a:buClr>
              <a:buBlip>
                <a:blip r:embed="rId3"/>
              </a:buBlip>
              <a:defRPr/>
            </a:pPr>
            <a:r>
              <a:rPr lang="en-US" altLang="en-US" sz="2400" kern="0" dirty="0">
                <a:solidFill>
                  <a:srgbClr val="000000"/>
                </a:solidFill>
                <a:latin typeface="Bookman Old Style" panose="02050604050505020204" pitchFamily="18" charset="0"/>
                <a:cs typeface="Andalus" pitchFamily="18" charset="-78"/>
                <a:sym typeface="Arial"/>
              </a:rPr>
              <a:t>Safety lock system</a:t>
            </a:r>
            <a:endParaRPr lang="en-US" altLang="en-US" sz="2400" kern="0" dirty="0">
              <a:solidFill>
                <a:srgbClr val="000000"/>
              </a:solidFill>
              <a:latin typeface="Bookman Old Style" panose="02050604050505020204" pitchFamily="18" charset="0"/>
              <a:cs typeface="Arial"/>
              <a:sym typeface="Arial"/>
            </a:endParaRPr>
          </a:p>
          <a:p>
            <a:pPr algn="just" defTabSz="1219170">
              <a:lnSpc>
                <a:spcPct val="150000"/>
              </a:lnSpc>
              <a:buClr>
                <a:srgbClr val="000000"/>
              </a:buClr>
              <a:defRPr/>
            </a:pPr>
            <a:r>
              <a:rPr lang="en-US" altLang="en-US" sz="2400" kern="0" dirty="0">
                <a:solidFill>
                  <a:srgbClr val="000000"/>
                </a:solidFill>
                <a:latin typeface="Bookman Old Style" panose="02050604050505020204" pitchFamily="18" charset="0"/>
                <a:cs typeface="Arial"/>
                <a:sym typeface="Arial"/>
              </a:rPr>
              <a:t>Two basic forms of control systems are open loop and closed loop</a:t>
            </a:r>
            <a:endParaRPr lang="en-IN" sz="2400" kern="0" dirty="0">
              <a:solidFill>
                <a:srgbClr val="000000"/>
              </a:solidFill>
              <a:latin typeface="Bookman Old Style" panose="02050604050505020204" pitchFamily="18" charset="0"/>
              <a:cs typeface="Arial"/>
              <a:sym typeface="Arial"/>
            </a:endParaRPr>
          </a:p>
        </p:txBody>
      </p:sp>
    </p:spTree>
    <p:extLst>
      <p:ext uri="{BB962C8B-B14F-4D97-AF65-F5344CB8AC3E}">
        <p14:creationId xmlns:p14="http://schemas.microsoft.com/office/powerpoint/2010/main" val="169215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21CD8809-0004-3957-5113-8051008B4E8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BC9D6C-1E7C-E146-5902-DA44F863717C}"/>
              </a:ext>
            </a:extLst>
          </p:cNvPr>
          <p:cNvSpPr txBox="1"/>
          <p:nvPr/>
        </p:nvSpPr>
        <p:spPr>
          <a:xfrm>
            <a:off x="2770108" y="192886"/>
            <a:ext cx="6651777" cy="1292662"/>
          </a:xfrm>
          <a:prstGeom prst="rect">
            <a:avLst/>
          </a:prstGeom>
          <a:noFill/>
        </p:spPr>
        <p:txBody>
          <a:bodyPr wrap="square">
            <a:spAutoFit/>
          </a:bodyPr>
          <a:lstStyle/>
          <a:p>
            <a:pPr algn="ctr" defTabSz="1219170">
              <a:buClr>
                <a:srgbClr val="000000"/>
              </a:buClr>
            </a:pPr>
            <a:r>
              <a:rPr lang="en-US" altLang="en-US" sz="2400" b="1" kern="0" dirty="0">
                <a:solidFill>
                  <a:srgbClr val="0070C0"/>
                </a:solidFill>
                <a:latin typeface="Bookman Old Style" panose="02050604050505020204" pitchFamily="18" charset="0"/>
                <a:cs typeface="Arial"/>
                <a:sym typeface="Arial"/>
              </a:rPr>
              <a:t>Control  System</a:t>
            </a:r>
          </a:p>
          <a:p>
            <a:pPr algn="ctr" defTabSz="1219170">
              <a:buClr>
                <a:srgbClr val="000000"/>
              </a:buClr>
            </a:pPr>
            <a:r>
              <a:rPr lang="en-US" altLang="en-US" sz="2400" b="1" kern="0" dirty="0">
                <a:solidFill>
                  <a:srgbClr val="0070C0"/>
                </a:solidFill>
                <a:latin typeface="Bookman Old Style" panose="02050604050505020204" pitchFamily="18" charset="0"/>
                <a:cs typeface="Arial"/>
                <a:sym typeface="Arial"/>
              </a:rPr>
              <a:t>Open  Loop  Control  System</a:t>
            </a:r>
          </a:p>
          <a:p>
            <a:pPr algn="ctr" defTabSz="1219170">
              <a:buClr>
                <a:srgbClr val="000000"/>
              </a:buClr>
            </a:pPr>
            <a:endParaRPr lang="en-US" altLang="en-US" sz="3000" b="1" kern="0" dirty="0">
              <a:solidFill>
                <a:srgbClr val="0070C0"/>
              </a:solidFill>
              <a:latin typeface="Bookman Old Style" panose="02050604050505020204" pitchFamily="18" charset="0"/>
              <a:cs typeface="Arial"/>
              <a:sym typeface="Arial"/>
            </a:endParaRPr>
          </a:p>
        </p:txBody>
      </p:sp>
      <p:sp>
        <p:nvSpPr>
          <p:cNvPr id="4" name="TextBox 3">
            <a:extLst>
              <a:ext uri="{FF2B5EF4-FFF2-40B4-BE49-F238E27FC236}">
                <a16:creationId xmlns:a16="http://schemas.microsoft.com/office/drawing/2014/main" id="{BE9698A7-2C61-2B71-6BB5-EC4C85598A30}"/>
              </a:ext>
            </a:extLst>
          </p:cNvPr>
          <p:cNvSpPr txBox="1"/>
          <p:nvPr/>
        </p:nvSpPr>
        <p:spPr>
          <a:xfrm>
            <a:off x="264400" y="1115522"/>
            <a:ext cx="11663191" cy="5118452"/>
          </a:xfrm>
          <a:prstGeom prst="rect">
            <a:avLst/>
          </a:prstGeom>
          <a:noFill/>
        </p:spPr>
        <p:txBody>
          <a:bodyPr wrap="square">
            <a:spAutoFit/>
          </a:bodyPr>
          <a:lstStyle/>
          <a:p>
            <a:pPr algn="just">
              <a:lnSpc>
                <a:spcPct val="150000"/>
              </a:lnSpc>
            </a:pPr>
            <a:r>
              <a:rPr lang="en-US" sz="2000" dirty="0">
                <a:latin typeface="Bookman Old Style" panose="02050604050505020204" pitchFamily="18" charset="0"/>
              </a:rPr>
              <a:t>An open-loop control system operates based on </a:t>
            </a:r>
            <a:r>
              <a:rPr lang="en-US" sz="2000" dirty="0">
                <a:solidFill>
                  <a:srgbClr val="0070C0"/>
                </a:solidFill>
                <a:latin typeface="Bookman Old Style" panose="02050604050505020204" pitchFamily="18" charset="0"/>
              </a:rPr>
              <a:t>predefined instructions </a:t>
            </a:r>
            <a:r>
              <a:rPr lang="en-US" sz="2000" dirty="0">
                <a:latin typeface="Bookman Old Style" panose="02050604050505020204" pitchFamily="18" charset="0"/>
              </a:rPr>
              <a:t>without using feedback to adjust its performance.</a:t>
            </a:r>
          </a:p>
          <a:p>
            <a:pPr algn="just">
              <a:lnSpc>
                <a:spcPct val="150000"/>
              </a:lnSpc>
            </a:pPr>
            <a:r>
              <a:rPr lang="en-US" sz="2000" b="1" dirty="0">
                <a:latin typeface="Bookman Old Style" panose="02050604050505020204" pitchFamily="18" charset="0"/>
              </a:rPr>
              <a:t>Characteristics</a:t>
            </a:r>
            <a:r>
              <a:rPr lang="en-US" sz="2000" dirty="0">
                <a:latin typeface="Bookman Old Style" panose="02050604050505020204" pitchFamily="18" charset="0"/>
              </a:rPr>
              <a:t>:</a:t>
            </a:r>
          </a:p>
          <a:p>
            <a:pPr algn="just">
              <a:lnSpc>
                <a:spcPct val="150000"/>
              </a:lnSpc>
            </a:pPr>
            <a:r>
              <a:rPr lang="en-US" sz="2000" b="1" dirty="0">
                <a:latin typeface="Bookman Old Style" panose="02050604050505020204" pitchFamily="18" charset="0"/>
              </a:rPr>
              <a:t>No Feedback</a:t>
            </a:r>
            <a:r>
              <a:rPr lang="en-US" sz="2000" dirty="0">
                <a:latin typeface="Bookman Old Style" panose="02050604050505020204" pitchFamily="18" charset="0"/>
              </a:rPr>
              <a:t>: The system does not compare output with the desired result.</a:t>
            </a:r>
          </a:p>
          <a:p>
            <a:pPr algn="just">
              <a:lnSpc>
                <a:spcPct val="150000"/>
              </a:lnSpc>
            </a:pPr>
            <a:r>
              <a:rPr lang="en-US" sz="2000" b="1" dirty="0">
                <a:latin typeface="Bookman Old Style" panose="02050604050505020204" pitchFamily="18" charset="0"/>
              </a:rPr>
              <a:t>Simpler Design</a:t>
            </a:r>
            <a:r>
              <a:rPr lang="en-US" sz="2000" dirty="0">
                <a:latin typeface="Bookman Old Style" panose="02050604050505020204" pitchFamily="18" charset="0"/>
              </a:rPr>
              <a:t>: Easier to implement, with fewer components.</a:t>
            </a:r>
          </a:p>
          <a:p>
            <a:pPr algn="just">
              <a:lnSpc>
                <a:spcPct val="150000"/>
              </a:lnSpc>
            </a:pPr>
            <a:r>
              <a:rPr lang="en-US" sz="2000" b="1" dirty="0">
                <a:latin typeface="Bookman Old Style" panose="02050604050505020204" pitchFamily="18" charset="0"/>
              </a:rPr>
              <a:t>Non-Adaptive</a:t>
            </a:r>
            <a:r>
              <a:rPr lang="en-US" sz="2000" dirty="0">
                <a:latin typeface="Bookman Old Style" panose="02050604050505020204" pitchFamily="18" charset="0"/>
              </a:rPr>
              <a:t>: Cannot respond to changes in external conditions or disturbances.</a:t>
            </a:r>
          </a:p>
          <a:p>
            <a:pPr algn="just">
              <a:lnSpc>
                <a:spcPct val="150000"/>
              </a:lnSpc>
            </a:pPr>
            <a:r>
              <a:rPr lang="en-US" sz="2000" b="1" dirty="0">
                <a:latin typeface="Bookman Old Style" panose="02050604050505020204" pitchFamily="18" charset="0"/>
              </a:rPr>
              <a:t>Predefined Operation</a:t>
            </a:r>
            <a:r>
              <a:rPr lang="en-US" sz="2000" dirty="0">
                <a:latin typeface="Bookman Old Style" panose="02050604050505020204" pitchFamily="18" charset="0"/>
              </a:rPr>
              <a:t>: Works based on set commands or time-based inputs.</a:t>
            </a:r>
          </a:p>
          <a:p>
            <a:pPr marL="0" lvl="2" algn="just" defTabSz="1219170">
              <a:lnSpc>
                <a:spcPct val="150000"/>
              </a:lnSpc>
              <a:spcBef>
                <a:spcPct val="0"/>
              </a:spcBef>
              <a:buClr>
                <a:srgbClr val="000000"/>
              </a:buClr>
            </a:pPr>
            <a:endParaRPr lang="en-US" altLang="en-US" sz="2000" kern="0" dirty="0">
              <a:solidFill>
                <a:srgbClr val="000000"/>
              </a:solidFill>
              <a:latin typeface="Bookman Old Style" panose="02050604050505020204" pitchFamily="18" charset="0"/>
              <a:cs typeface="Arial"/>
              <a:sym typeface="Arial"/>
            </a:endParaRPr>
          </a:p>
          <a:p>
            <a:pPr marL="0" lvl="2" algn="just" defTabSz="1219170">
              <a:lnSpc>
                <a:spcPct val="150000"/>
              </a:lnSpc>
              <a:spcBef>
                <a:spcPct val="0"/>
              </a:spcBef>
              <a:buClr>
                <a:srgbClr val="000000"/>
              </a:buClr>
            </a:pPr>
            <a:endParaRPr lang="en-US" altLang="en-US" sz="2000" kern="0" dirty="0">
              <a:solidFill>
                <a:srgbClr val="000000"/>
              </a:solidFill>
              <a:latin typeface="Bookman Old Style" panose="02050604050505020204" pitchFamily="18" charset="0"/>
              <a:cs typeface="Arial"/>
              <a:sym typeface="Arial"/>
            </a:endParaRPr>
          </a:p>
          <a:p>
            <a:pPr marL="0" lvl="2" algn="just" defTabSz="1219170">
              <a:lnSpc>
                <a:spcPct val="150000"/>
              </a:lnSpc>
              <a:spcBef>
                <a:spcPct val="0"/>
              </a:spcBef>
              <a:buClr>
                <a:srgbClr val="000000"/>
              </a:buClr>
            </a:pPr>
            <a:endParaRPr lang="en-US" altLang="en-US" sz="2000" kern="0" dirty="0">
              <a:solidFill>
                <a:srgbClr val="000000"/>
              </a:solidFill>
              <a:latin typeface="Bookman Old Style" panose="02050604050505020204" pitchFamily="18" charset="0"/>
              <a:cs typeface="Arial"/>
              <a:sym typeface="Arial"/>
            </a:endParaRPr>
          </a:p>
          <a:p>
            <a:pPr marL="0" lvl="2" algn="just" defTabSz="1219170">
              <a:lnSpc>
                <a:spcPct val="150000"/>
              </a:lnSpc>
              <a:spcBef>
                <a:spcPct val="0"/>
              </a:spcBef>
              <a:buClr>
                <a:srgbClr val="000000"/>
              </a:buClr>
            </a:pPr>
            <a:endParaRPr lang="en-US" altLang="en-US" sz="2000" kern="0" dirty="0">
              <a:solidFill>
                <a:srgbClr val="000000"/>
              </a:solidFill>
              <a:latin typeface="Bookman Old Style" panose="02050604050505020204" pitchFamily="18" charset="0"/>
              <a:cs typeface="Arial"/>
              <a:sym typeface="Arial"/>
            </a:endParaRPr>
          </a:p>
        </p:txBody>
      </p:sp>
      <p:pic>
        <p:nvPicPr>
          <p:cNvPr id="1026" name="Picture 2" descr="What is Open-loop Control System? Definition, Open-loop System, Advanatges,  Disadvantages and Applications - Electronics Coach">
            <a:extLst>
              <a:ext uri="{FF2B5EF4-FFF2-40B4-BE49-F238E27FC236}">
                <a16:creationId xmlns:a16="http://schemas.microsoft.com/office/drawing/2014/main" id="{F0E2FAB4-8690-4B34-9BEE-27EE7C75E4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0108" y="4501807"/>
            <a:ext cx="6310070" cy="1935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7317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21CD8809-0004-3957-5113-8051008B4E8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BC9D6C-1E7C-E146-5902-DA44F863717C}"/>
              </a:ext>
            </a:extLst>
          </p:cNvPr>
          <p:cNvSpPr txBox="1"/>
          <p:nvPr/>
        </p:nvSpPr>
        <p:spPr>
          <a:xfrm>
            <a:off x="2502568" y="192886"/>
            <a:ext cx="7736306" cy="1384995"/>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Control  System</a:t>
            </a:r>
          </a:p>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Open  Loop  Control  System</a:t>
            </a:r>
          </a:p>
          <a:p>
            <a:pPr algn="ctr" defTabSz="1219170">
              <a:buClr>
                <a:srgbClr val="000000"/>
              </a:buClr>
            </a:pPr>
            <a:endParaRPr lang="en-US" altLang="en-US" sz="2800" b="1" kern="0" dirty="0">
              <a:solidFill>
                <a:srgbClr val="0070C0"/>
              </a:solidFill>
              <a:latin typeface="Bookman Old Style" panose="02050604050505020204" pitchFamily="18" charset="0"/>
              <a:cs typeface="Arial"/>
              <a:sym typeface="Arial"/>
            </a:endParaRPr>
          </a:p>
        </p:txBody>
      </p:sp>
      <p:sp>
        <p:nvSpPr>
          <p:cNvPr id="4" name="TextBox 3">
            <a:extLst>
              <a:ext uri="{FF2B5EF4-FFF2-40B4-BE49-F238E27FC236}">
                <a16:creationId xmlns:a16="http://schemas.microsoft.com/office/drawing/2014/main" id="{BE9698A7-2C61-2B71-6BB5-EC4C85598A30}"/>
              </a:ext>
            </a:extLst>
          </p:cNvPr>
          <p:cNvSpPr txBox="1"/>
          <p:nvPr/>
        </p:nvSpPr>
        <p:spPr>
          <a:xfrm>
            <a:off x="264400" y="1115522"/>
            <a:ext cx="11663191" cy="8350106"/>
          </a:xfrm>
          <a:prstGeom prst="rect">
            <a:avLst/>
          </a:prstGeom>
          <a:noFill/>
        </p:spPr>
        <p:txBody>
          <a:bodyPr wrap="square">
            <a:spAutoFit/>
          </a:bodyPr>
          <a:lstStyle/>
          <a:p>
            <a:pPr algn="just">
              <a:lnSpc>
                <a:spcPct val="150000"/>
              </a:lnSpc>
            </a:pPr>
            <a:r>
              <a:rPr lang="en-US" sz="2000" b="1" dirty="0">
                <a:latin typeface="Bookman Old Style" panose="02050604050505020204" pitchFamily="18" charset="0"/>
              </a:rPr>
              <a:t>Advantages</a:t>
            </a:r>
            <a:endParaRPr lang="en-US" sz="2000" dirty="0">
              <a:latin typeface="Bookman Old Style" panose="02050604050505020204" pitchFamily="18" charset="0"/>
            </a:endParaRPr>
          </a:p>
          <a:p>
            <a:pPr algn="just">
              <a:lnSpc>
                <a:spcPct val="150000"/>
              </a:lnSpc>
            </a:pPr>
            <a:r>
              <a:rPr lang="en-US" sz="2000" dirty="0">
                <a:latin typeface="Bookman Old Style" panose="02050604050505020204" pitchFamily="18" charset="0"/>
              </a:rPr>
              <a:t>Simple and cost-effective.</a:t>
            </a:r>
          </a:p>
          <a:p>
            <a:pPr algn="just">
              <a:lnSpc>
                <a:spcPct val="150000"/>
              </a:lnSpc>
            </a:pPr>
            <a:r>
              <a:rPr lang="en-US" sz="2000" dirty="0">
                <a:latin typeface="Bookman Old Style" panose="02050604050505020204" pitchFamily="18" charset="0"/>
              </a:rPr>
              <a:t>Easier to design and implement.</a:t>
            </a:r>
          </a:p>
          <a:p>
            <a:pPr algn="just">
              <a:lnSpc>
                <a:spcPct val="150000"/>
              </a:lnSpc>
            </a:pPr>
            <a:r>
              <a:rPr lang="en-US" sz="2000" dirty="0">
                <a:latin typeface="Bookman Old Style" panose="02050604050505020204" pitchFamily="18" charset="0"/>
              </a:rPr>
              <a:t>Faster response since no feedback loop is involved.</a:t>
            </a:r>
          </a:p>
          <a:p>
            <a:pPr algn="just">
              <a:lnSpc>
                <a:spcPct val="150000"/>
              </a:lnSpc>
            </a:pPr>
            <a:r>
              <a:rPr lang="en-US" sz="2000" b="1" dirty="0">
                <a:latin typeface="Bookman Old Style" panose="02050604050505020204" pitchFamily="18" charset="0"/>
              </a:rPr>
              <a:t>Disadvantages</a:t>
            </a:r>
            <a:r>
              <a:rPr lang="en-US" sz="2000" dirty="0">
                <a:latin typeface="Bookman Old Style" panose="02050604050505020204" pitchFamily="18" charset="0"/>
              </a:rPr>
              <a:t>:</a:t>
            </a:r>
          </a:p>
          <a:p>
            <a:pPr algn="just">
              <a:lnSpc>
                <a:spcPct val="150000"/>
              </a:lnSpc>
            </a:pPr>
            <a:r>
              <a:rPr lang="en-US" sz="2000" dirty="0">
                <a:latin typeface="Bookman Old Style" panose="02050604050505020204" pitchFamily="18" charset="0"/>
              </a:rPr>
              <a:t>Limited accuracy and precision.</a:t>
            </a:r>
          </a:p>
          <a:p>
            <a:pPr algn="just">
              <a:lnSpc>
                <a:spcPct val="150000"/>
              </a:lnSpc>
            </a:pPr>
            <a:r>
              <a:rPr lang="en-US" sz="2000" dirty="0">
                <a:latin typeface="Bookman Old Style" panose="02050604050505020204" pitchFamily="18" charset="0"/>
              </a:rPr>
              <a:t>Unable to correct errors or adapt to disturbances.</a:t>
            </a:r>
          </a:p>
          <a:p>
            <a:pPr algn="just">
              <a:lnSpc>
                <a:spcPct val="150000"/>
              </a:lnSpc>
            </a:pPr>
            <a:r>
              <a:rPr lang="en-US" sz="2000" dirty="0">
                <a:latin typeface="Bookman Old Style" panose="02050604050505020204" pitchFamily="18" charset="0"/>
              </a:rPr>
              <a:t>Less reliable in complex or variable environments.</a:t>
            </a:r>
          </a:p>
          <a:p>
            <a:pPr algn="just">
              <a:lnSpc>
                <a:spcPct val="150000"/>
              </a:lnSpc>
            </a:pPr>
            <a:r>
              <a:rPr lang="en-US" sz="2000" b="1" dirty="0">
                <a:latin typeface="Bookman Old Style" panose="02050604050505020204" pitchFamily="18" charset="0"/>
              </a:rPr>
              <a:t>Examples</a:t>
            </a:r>
            <a:r>
              <a:rPr lang="en-US" sz="2000" dirty="0">
                <a:latin typeface="Bookman Old Style" panose="02050604050505020204" pitchFamily="18" charset="0"/>
              </a:rPr>
              <a:t>:</a:t>
            </a:r>
          </a:p>
          <a:p>
            <a:pPr algn="just">
              <a:lnSpc>
                <a:spcPct val="150000"/>
              </a:lnSpc>
            </a:pPr>
            <a:r>
              <a:rPr lang="en-US" sz="2000" dirty="0">
                <a:latin typeface="Bookman Old Style" panose="02050604050505020204" pitchFamily="18" charset="0"/>
              </a:rPr>
              <a:t>Washing machines (with fixed cycles).</a:t>
            </a:r>
          </a:p>
          <a:p>
            <a:pPr algn="just">
              <a:lnSpc>
                <a:spcPct val="150000"/>
              </a:lnSpc>
            </a:pPr>
            <a:r>
              <a:rPr lang="en-US" sz="2000" dirty="0">
                <a:latin typeface="Bookman Old Style" panose="02050604050505020204" pitchFamily="18" charset="0"/>
              </a:rPr>
              <a:t>Electric ovens (set to a specific time and temperature).</a:t>
            </a:r>
          </a:p>
          <a:p>
            <a:pPr algn="just">
              <a:lnSpc>
                <a:spcPct val="150000"/>
              </a:lnSpc>
            </a:pPr>
            <a:r>
              <a:rPr lang="en-US" sz="2000" dirty="0">
                <a:latin typeface="Bookman Old Style" panose="02050604050505020204" pitchFamily="18" charset="0"/>
              </a:rPr>
              <a:t>Traffic lights (on a timed sequence).</a:t>
            </a:r>
          </a:p>
          <a:p>
            <a:pPr marL="0" lvl="2" algn="just" defTabSz="1219170">
              <a:lnSpc>
                <a:spcPct val="150000"/>
              </a:lnSpc>
              <a:spcBef>
                <a:spcPct val="0"/>
              </a:spcBef>
              <a:buClr>
                <a:srgbClr val="000000"/>
              </a:buClr>
            </a:pPr>
            <a:endParaRPr lang="en-US" altLang="en-US" sz="2000" b="1" kern="0" dirty="0">
              <a:solidFill>
                <a:srgbClr val="000000"/>
              </a:solidFill>
              <a:latin typeface="Bookman Old Style" panose="02050604050505020204" pitchFamily="18" charset="0"/>
              <a:cs typeface="Arial"/>
              <a:sym typeface="Arial"/>
            </a:endParaRPr>
          </a:p>
          <a:p>
            <a:pPr marL="0" lvl="2" algn="just" defTabSz="1219170">
              <a:lnSpc>
                <a:spcPct val="150000"/>
              </a:lnSpc>
              <a:spcBef>
                <a:spcPct val="0"/>
              </a:spcBef>
              <a:buClr>
                <a:srgbClr val="000000"/>
              </a:buClr>
            </a:pPr>
            <a:endParaRPr lang="en-US" altLang="en-US" sz="2000" kern="0" dirty="0">
              <a:solidFill>
                <a:srgbClr val="000000"/>
              </a:solidFill>
              <a:latin typeface="Bookman Old Style" panose="02050604050505020204" pitchFamily="18" charset="0"/>
              <a:cs typeface="Arial"/>
              <a:sym typeface="Arial"/>
            </a:endParaRPr>
          </a:p>
          <a:p>
            <a:pPr marL="0" lvl="2" algn="just" defTabSz="1219170">
              <a:lnSpc>
                <a:spcPct val="150000"/>
              </a:lnSpc>
              <a:spcBef>
                <a:spcPct val="0"/>
              </a:spcBef>
              <a:buClr>
                <a:srgbClr val="000000"/>
              </a:buClr>
            </a:pPr>
            <a:endParaRPr lang="en-US" altLang="en-US" sz="2000" kern="0" dirty="0">
              <a:solidFill>
                <a:srgbClr val="000000"/>
              </a:solidFill>
              <a:latin typeface="Bookman Old Style" panose="02050604050505020204" pitchFamily="18" charset="0"/>
              <a:cs typeface="Arial"/>
              <a:sym typeface="Arial"/>
            </a:endParaRPr>
          </a:p>
          <a:p>
            <a:pPr marL="0" lvl="2" algn="just" defTabSz="1219170">
              <a:lnSpc>
                <a:spcPct val="150000"/>
              </a:lnSpc>
              <a:spcBef>
                <a:spcPct val="0"/>
              </a:spcBef>
              <a:buClr>
                <a:srgbClr val="000000"/>
              </a:buClr>
            </a:pPr>
            <a:endParaRPr lang="en-US" altLang="en-US" sz="2000" kern="0" dirty="0">
              <a:solidFill>
                <a:srgbClr val="000000"/>
              </a:solidFill>
              <a:latin typeface="Bookman Old Style" panose="02050604050505020204" pitchFamily="18" charset="0"/>
              <a:cs typeface="Arial"/>
              <a:sym typeface="Arial"/>
            </a:endParaRPr>
          </a:p>
          <a:p>
            <a:pPr marL="0" lvl="2" algn="just" defTabSz="1219170">
              <a:lnSpc>
                <a:spcPct val="150000"/>
              </a:lnSpc>
              <a:spcBef>
                <a:spcPct val="0"/>
              </a:spcBef>
              <a:buClr>
                <a:srgbClr val="000000"/>
              </a:buClr>
            </a:pPr>
            <a:endParaRPr lang="en-US" altLang="en-US" sz="2000" kern="0" dirty="0">
              <a:solidFill>
                <a:srgbClr val="000000"/>
              </a:solidFill>
              <a:latin typeface="Bookman Old Style" panose="02050604050505020204" pitchFamily="18" charset="0"/>
              <a:cs typeface="Arial"/>
              <a:sym typeface="Arial"/>
            </a:endParaRPr>
          </a:p>
          <a:p>
            <a:pPr marL="0" lvl="2" algn="just" defTabSz="1219170">
              <a:lnSpc>
                <a:spcPct val="150000"/>
              </a:lnSpc>
              <a:spcBef>
                <a:spcPct val="0"/>
              </a:spcBef>
              <a:buClr>
                <a:srgbClr val="000000"/>
              </a:buClr>
            </a:pPr>
            <a:endParaRPr lang="en-US" altLang="en-US" sz="2000" kern="0" dirty="0">
              <a:solidFill>
                <a:srgbClr val="000000"/>
              </a:solidFill>
              <a:latin typeface="Bookman Old Style" panose="02050604050505020204" pitchFamily="18" charset="0"/>
              <a:cs typeface="Arial"/>
              <a:sym typeface="Arial"/>
            </a:endParaRPr>
          </a:p>
        </p:txBody>
      </p:sp>
    </p:spTree>
    <p:extLst>
      <p:ext uri="{BB962C8B-B14F-4D97-AF65-F5344CB8AC3E}">
        <p14:creationId xmlns:p14="http://schemas.microsoft.com/office/powerpoint/2010/main" val="3450111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79219CF4-CD52-7AD9-BBCA-913C8CA8865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F4F0964-E2A8-F8D5-D7DF-35EF41B63298}"/>
              </a:ext>
            </a:extLst>
          </p:cNvPr>
          <p:cNvSpPr txBox="1"/>
          <p:nvPr/>
        </p:nvSpPr>
        <p:spPr>
          <a:xfrm>
            <a:off x="2770108" y="192885"/>
            <a:ext cx="6651777"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Control  System</a:t>
            </a:r>
          </a:p>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Closed Loop Control System</a:t>
            </a:r>
          </a:p>
        </p:txBody>
      </p:sp>
      <p:sp>
        <p:nvSpPr>
          <p:cNvPr id="4" name="TextBox 3">
            <a:extLst>
              <a:ext uri="{FF2B5EF4-FFF2-40B4-BE49-F238E27FC236}">
                <a16:creationId xmlns:a16="http://schemas.microsoft.com/office/drawing/2014/main" id="{862657F2-949B-0C9B-C2B5-AA4E48E5C158}"/>
              </a:ext>
            </a:extLst>
          </p:cNvPr>
          <p:cNvSpPr txBox="1"/>
          <p:nvPr/>
        </p:nvSpPr>
        <p:spPr>
          <a:xfrm>
            <a:off x="457201" y="1146992"/>
            <a:ext cx="11141242" cy="5118452"/>
          </a:xfrm>
          <a:prstGeom prst="rect">
            <a:avLst/>
          </a:prstGeom>
          <a:noFill/>
        </p:spPr>
        <p:txBody>
          <a:bodyPr wrap="square">
            <a:spAutoFit/>
          </a:bodyPr>
          <a:lstStyle/>
          <a:p>
            <a:pPr algn="just">
              <a:lnSpc>
                <a:spcPct val="150000"/>
              </a:lnSpc>
            </a:pPr>
            <a:r>
              <a:rPr lang="en-US" sz="2000" dirty="0">
                <a:latin typeface="Bookman Old Style" panose="02050604050505020204" pitchFamily="18" charset="0"/>
              </a:rPr>
              <a:t>A closed-loop control system uses </a:t>
            </a:r>
            <a:r>
              <a:rPr lang="en-US" sz="2000" dirty="0">
                <a:solidFill>
                  <a:srgbClr val="0070C0"/>
                </a:solidFill>
                <a:latin typeface="Bookman Old Style" panose="02050604050505020204" pitchFamily="18" charset="0"/>
              </a:rPr>
              <a:t>feedback to compare the actual output with the desired output and makes adjustments to minimize the error.</a:t>
            </a:r>
          </a:p>
          <a:p>
            <a:pPr algn="just">
              <a:lnSpc>
                <a:spcPct val="150000"/>
              </a:lnSpc>
            </a:pPr>
            <a:r>
              <a:rPr lang="en-US" sz="2000" b="1" dirty="0">
                <a:latin typeface="Bookman Old Style" panose="02050604050505020204" pitchFamily="18" charset="0"/>
              </a:rPr>
              <a:t>Characteristics</a:t>
            </a:r>
            <a:r>
              <a:rPr lang="en-US" sz="2000" dirty="0">
                <a:latin typeface="Bookman Old Style" panose="02050604050505020204" pitchFamily="18" charset="0"/>
              </a:rPr>
              <a:t>:</a:t>
            </a:r>
          </a:p>
          <a:p>
            <a:pPr algn="just">
              <a:lnSpc>
                <a:spcPct val="150000"/>
              </a:lnSpc>
              <a:buFont typeface="Arial" panose="020B0604020202020204" pitchFamily="34" charset="0"/>
              <a:buChar char="•"/>
            </a:pPr>
            <a:r>
              <a:rPr lang="en-US" sz="2000" b="1" dirty="0">
                <a:latin typeface="Bookman Old Style" panose="02050604050505020204" pitchFamily="18" charset="0"/>
              </a:rPr>
              <a:t>Feedback Mechanism</a:t>
            </a:r>
            <a:r>
              <a:rPr lang="en-US" sz="2000" dirty="0">
                <a:latin typeface="Bookman Old Style" panose="02050604050505020204" pitchFamily="18" charset="0"/>
              </a:rPr>
              <a:t>: Continuously monitors output and adjusts input accordingly.</a:t>
            </a:r>
          </a:p>
          <a:p>
            <a:pPr algn="just">
              <a:lnSpc>
                <a:spcPct val="150000"/>
              </a:lnSpc>
              <a:buFont typeface="Arial" panose="020B0604020202020204" pitchFamily="34" charset="0"/>
              <a:buChar char="•"/>
            </a:pPr>
            <a:r>
              <a:rPr lang="en-US" sz="2000" b="1" dirty="0">
                <a:latin typeface="Bookman Old Style" panose="02050604050505020204" pitchFamily="18" charset="0"/>
              </a:rPr>
              <a:t>Higher Complexity</a:t>
            </a:r>
            <a:r>
              <a:rPr lang="en-US" sz="2000" dirty="0">
                <a:latin typeface="Bookman Old Style" panose="02050604050505020204" pitchFamily="18" charset="0"/>
              </a:rPr>
              <a:t>: Includes additional components like sensors and feedback loops.</a:t>
            </a:r>
          </a:p>
          <a:p>
            <a:pPr algn="just">
              <a:lnSpc>
                <a:spcPct val="150000"/>
              </a:lnSpc>
              <a:buFont typeface="Arial" panose="020B0604020202020204" pitchFamily="34" charset="0"/>
              <a:buChar char="•"/>
            </a:pPr>
            <a:r>
              <a:rPr lang="en-US" sz="2000" b="1" dirty="0">
                <a:latin typeface="Bookman Old Style" panose="02050604050505020204" pitchFamily="18" charset="0"/>
              </a:rPr>
              <a:t>Adaptive</a:t>
            </a:r>
            <a:r>
              <a:rPr lang="en-US" sz="2000" dirty="0">
                <a:latin typeface="Bookman Old Style" panose="02050604050505020204" pitchFamily="18" charset="0"/>
              </a:rPr>
              <a:t>: Can respond to external changes and disturbances.</a:t>
            </a:r>
          </a:p>
          <a:p>
            <a:pPr algn="just">
              <a:lnSpc>
                <a:spcPct val="150000"/>
              </a:lnSpc>
              <a:buFont typeface="Arial" panose="020B0604020202020204" pitchFamily="34" charset="0"/>
              <a:buChar char="•"/>
            </a:pPr>
            <a:r>
              <a:rPr lang="en-US" sz="2000" b="1" dirty="0">
                <a:latin typeface="Bookman Old Style" panose="02050604050505020204" pitchFamily="18" charset="0"/>
              </a:rPr>
              <a:t>Error Minimization</a:t>
            </a:r>
            <a:r>
              <a:rPr lang="en-US" sz="2000" dirty="0">
                <a:latin typeface="Bookman Old Style" panose="02050604050505020204" pitchFamily="18" charset="0"/>
              </a:rPr>
              <a:t>: Works to reduce the difference between actual and desired outputs.</a:t>
            </a:r>
          </a:p>
          <a:p>
            <a:pPr marL="0" lvl="2" algn="just" defTabSz="1219170">
              <a:lnSpc>
                <a:spcPct val="150000"/>
              </a:lnSpc>
              <a:buClr>
                <a:srgbClr val="000000"/>
              </a:buClr>
              <a:buFont typeface="Arial" panose="020B0604020202020204" pitchFamily="34" charset="0"/>
              <a:buChar char="•"/>
            </a:pPr>
            <a:endParaRPr lang="en-US" altLang="en-US" sz="2000" kern="0" dirty="0">
              <a:solidFill>
                <a:srgbClr val="000000"/>
              </a:solidFill>
              <a:latin typeface="Bookman Old Style" panose="02050604050505020204" pitchFamily="18" charset="0"/>
              <a:cs typeface="Arial"/>
              <a:sym typeface="Arial"/>
            </a:endParaRPr>
          </a:p>
          <a:p>
            <a:pPr marL="0" lvl="2" algn="just" defTabSz="1219170">
              <a:lnSpc>
                <a:spcPct val="150000"/>
              </a:lnSpc>
              <a:buClr>
                <a:srgbClr val="000000"/>
              </a:buClr>
              <a:buFont typeface="Arial" panose="020B0604020202020204" pitchFamily="34" charset="0"/>
              <a:buChar char="•"/>
            </a:pPr>
            <a:endParaRPr lang="en-US" altLang="en-US" sz="2000" kern="0" dirty="0">
              <a:solidFill>
                <a:srgbClr val="000000"/>
              </a:solidFill>
              <a:latin typeface="Bookman Old Style" panose="02050604050505020204" pitchFamily="18" charset="0"/>
              <a:cs typeface="Arial"/>
              <a:sym typeface="Arial"/>
            </a:endParaRPr>
          </a:p>
          <a:p>
            <a:pPr marL="0" lvl="2" algn="just" defTabSz="1219170">
              <a:lnSpc>
                <a:spcPct val="150000"/>
              </a:lnSpc>
              <a:buClr>
                <a:srgbClr val="000000"/>
              </a:buClr>
            </a:pPr>
            <a:endParaRPr lang="en-US" altLang="en-US" sz="2000" kern="0" dirty="0">
              <a:solidFill>
                <a:srgbClr val="000000"/>
              </a:solidFill>
              <a:latin typeface="Bookman Old Style" panose="02050604050505020204" pitchFamily="18" charset="0"/>
              <a:cs typeface="Arial"/>
              <a:sym typeface="Arial"/>
            </a:endParaRPr>
          </a:p>
        </p:txBody>
      </p:sp>
      <p:pic>
        <p:nvPicPr>
          <p:cNvPr id="2" name="Picture 1">
            <a:extLst>
              <a:ext uri="{FF2B5EF4-FFF2-40B4-BE49-F238E27FC236}">
                <a16:creationId xmlns:a16="http://schemas.microsoft.com/office/drawing/2014/main" id="{3C0D7B3E-168E-466D-9FC2-766A5F13ADE0}"/>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50000"/>
                    </a14:imgEffect>
                    <a14:imgEffect>
                      <a14:brightnessContrast bright="20000" contrast="-40000"/>
                    </a14:imgEffect>
                  </a14:imgLayer>
                </a14:imgProps>
              </a:ext>
            </a:extLst>
          </a:blip>
          <a:srcRect l="10772" t="34088" r="10280" b="17197"/>
          <a:stretch/>
        </p:blipFill>
        <p:spPr>
          <a:xfrm>
            <a:off x="2043845" y="4471203"/>
            <a:ext cx="8104309" cy="2150345"/>
          </a:xfrm>
          <a:prstGeom prst="rect">
            <a:avLst/>
          </a:prstGeom>
        </p:spPr>
      </p:pic>
    </p:spTree>
    <p:extLst>
      <p:ext uri="{BB962C8B-B14F-4D97-AF65-F5344CB8AC3E}">
        <p14:creationId xmlns:p14="http://schemas.microsoft.com/office/powerpoint/2010/main" val="26341437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79219CF4-CD52-7AD9-BBCA-913C8CA8865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F4F0964-E2A8-F8D5-D7DF-35EF41B63298}"/>
              </a:ext>
            </a:extLst>
          </p:cNvPr>
          <p:cNvSpPr txBox="1"/>
          <p:nvPr/>
        </p:nvSpPr>
        <p:spPr>
          <a:xfrm>
            <a:off x="2454442" y="192885"/>
            <a:ext cx="6967443"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Control  System</a:t>
            </a:r>
          </a:p>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Closed Loop Control System</a:t>
            </a:r>
          </a:p>
        </p:txBody>
      </p:sp>
      <p:sp>
        <p:nvSpPr>
          <p:cNvPr id="4" name="TextBox 3">
            <a:extLst>
              <a:ext uri="{FF2B5EF4-FFF2-40B4-BE49-F238E27FC236}">
                <a16:creationId xmlns:a16="http://schemas.microsoft.com/office/drawing/2014/main" id="{862657F2-949B-0C9B-C2B5-AA4E48E5C158}"/>
              </a:ext>
            </a:extLst>
          </p:cNvPr>
          <p:cNvSpPr txBox="1"/>
          <p:nvPr/>
        </p:nvSpPr>
        <p:spPr>
          <a:xfrm>
            <a:off x="264400" y="1048219"/>
            <a:ext cx="11663191" cy="6555641"/>
          </a:xfrm>
          <a:prstGeom prst="rect">
            <a:avLst/>
          </a:prstGeom>
          <a:noFill/>
        </p:spPr>
        <p:txBody>
          <a:bodyPr wrap="square">
            <a:spAutoFit/>
          </a:bodyPr>
          <a:lstStyle/>
          <a:p>
            <a:pPr algn="just">
              <a:lnSpc>
                <a:spcPct val="150000"/>
              </a:lnSpc>
            </a:pPr>
            <a:r>
              <a:rPr lang="en-US" b="1" dirty="0">
                <a:latin typeface="Bookman Old Style" panose="02050604050505020204" pitchFamily="18" charset="0"/>
              </a:rPr>
              <a:t>Advantages</a:t>
            </a:r>
            <a:r>
              <a:rPr lang="en-US" dirty="0">
                <a:latin typeface="Bookman Old Style" panose="02050604050505020204" pitchFamily="18" charset="0"/>
              </a:rPr>
              <a:t>:</a:t>
            </a:r>
          </a:p>
          <a:p>
            <a:pPr algn="just">
              <a:lnSpc>
                <a:spcPct val="150000"/>
              </a:lnSpc>
              <a:buFont typeface="Arial" panose="020B0604020202020204" pitchFamily="34" charset="0"/>
              <a:buChar char="•"/>
            </a:pPr>
            <a:r>
              <a:rPr lang="en-US" dirty="0">
                <a:latin typeface="Bookman Old Style" panose="02050604050505020204" pitchFamily="18" charset="0"/>
              </a:rPr>
              <a:t>High accuracy and precision.</a:t>
            </a:r>
          </a:p>
          <a:p>
            <a:pPr algn="just">
              <a:lnSpc>
                <a:spcPct val="150000"/>
              </a:lnSpc>
              <a:buFont typeface="Arial" panose="020B0604020202020204" pitchFamily="34" charset="0"/>
              <a:buChar char="•"/>
            </a:pPr>
            <a:r>
              <a:rPr lang="en-US" dirty="0">
                <a:latin typeface="Bookman Old Style" panose="02050604050505020204" pitchFamily="18" charset="0"/>
              </a:rPr>
              <a:t>Can correct errors dynamically.</a:t>
            </a:r>
          </a:p>
          <a:p>
            <a:pPr algn="just">
              <a:lnSpc>
                <a:spcPct val="150000"/>
              </a:lnSpc>
              <a:buFont typeface="Arial" panose="020B0604020202020204" pitchFamily="34" charset="0"/>
              <a:buChar char="•"/>
            </a:pPr>
            <a:r>
              <a:rPr lang="en-US" dirty="0">
                <a:latin typeface="Bookman Old Style" panose="02050604050505020204" pitchFamily="18" charset="0"/>
              </a:rPr>
              <a:t>Reliable in varying conditions or environments.</a:t>
            </a:r>
          </a:p>
          <a:p>
            <a:pPr algn="just">
              <a:lnSpc>
                <a:spcPct val="150000"/>
              </a:lnSpc>
            </a:pPr>
            <a:r>
              <a:rPr lang="en-US" b="1" dirty="0">
                <a:latin typeface="Bookman Old Style" panose="02050604050505020204" pitchFamily="18" charset="0"/>
              </a:rPr>
              <a:t>Disadvantages</a:t>
            </a:r>
            <a:r>
              <a:rPr lang="en-US" dirty="0">
                <a:latin typeface="Bookman Old Style" panose="02050604050505020204" pitchFamily="18" charset="0"/>
              </a:rPr>
              <a:t>:</a:t>
            </a:r>
          </a:p>
          <a:p>
            <a:pPr algn="just">
              <a:lnSpc>
                <a:spcPct val="150000"/>
              </a:lnSpc>
              <a:buFont typeface="Arial" panose="020B0604020202020204" pitchFamily="34" charset="0"/>
              <a:buChar char="•"/>
            </a:pPr>
            <a:r>
              <a:rPr lang="en-US" dirty="0">
                <a:latin typeface="Bookman Old Style" panose="02050604050505020204" pitchFamily="18" charset="0"/>
              </a:rPr>
              <a:t>More complex design and implementation.</a:t>
            </a:r>
          </a:p>
          <a:p>
            <a:pPr algn="just">
              <a:lnSpc>
                <a:spcPct val="150000"/>
              </a:lnSpc>
              <a:buFont typeface="Arial" panose="020B0604020202020204" pitchFamily="34" charset="0"/>
              <a:buChar char="•"/>
            </a:pPr>
            <a:r>
              <a:rPr lang="en-US" dirty="0">
                <a:latin typeface="Bookman Old Style" panose="02050604050505020204" pitchFamily="18" charset="0"/>
              </a:rPr>
              <a:t>Higher cost due to additional components (sensors, controllers).</a:t>
            </a:r>
          </a:p>
          <a:p>
            <a:pPr algn="just">
              <a:lnSpc>
                <a:spcPct val="150000"/>
              </a:lnSpc>
              <a:buFont typeface="Arial" panose="020B0604020202020204" pitchFamily="34" charset="0"/>
              <a:buChar char="•"/>
            </a:pPr>
            <a:r>
              <a:rPr lang="en-US" dirty="0">
                <a:latin typeface="Bookman Old Style" panose="02050604050505020204" pitchFamily="18" charset="0"/>
              </a:rPr>
              <a:t>Slower response time in some cases due to feedback processing.</a:t>
            </a:r>
          </a:p>
          <a:p>
            <a:pPr algn="just">
              <a:lnSpc>
                <a:spcPct val="150000"/>
              </a:lnSpc>
            </a:pPr>
            <a:r>
              <a:rPr lang="en-US" b="1" dirty="0">
                <a:latin typeface="Bookman Old Style" panose="02050604050505020204" pitchFamily="18" charset="0"/>
              </a:rPr>
              <a:t>Examples</a:t>
            </a:r>
            <a:r>
              <a:rPr lang="en-US" dirty="0">
                <a:latin typeface="Bookman Old Style" panose="02050604050505020204" pitchFamily="18" charset="0"/>
              </a:rPr>
              <a:t>:</a:t>
            </a:r>
          </a:p>
          <a:p>
            <a:pPr algn="just">
              <a:lnSpc>
                <a:spcPct val="150000"/>
              </a:lnSpc>
              <a:buFont typeface="Arial" panose="020B0604020202020204" pitchFamily="34" charset="0"/>
              <a:buChar char="•"/>
            </a:pPr>
            <a:r>
              <a:rPr lang="en-US" dirty="0">
                <a:latin typeface="Bookman Old Style" panose="02050604050505020204" pitchFamily="18" charset="0"/>
              </a:rPr>
              <a:t>Air conditioning systems (maintain a set temperature).</a:t>
            </a:r>
          </a:p>
          <a:p>
            <a:pPr algn="just">
              <a:lnSpc>
                <a:spcPct val="150000"/>
              </a:lnSpc>
              <a:buFont typeface="Arial" panose="020B0604020202020204" pitchFamily="34" charset="0"/>
              <a:buChar char="•"/>
            </a:pPr>
            <a:r>
              <a:rPr lang="en-US" dirty="0">
                <a:latin typeface="Bookman Old Style" panose="02050604050505020204" pitchFamily="18" charset="0"/>
              </a:rPr>
              <a:t>Autonomous vehicles (adjust steering and speed based on environment).</a:t>
            </a:r>
          </a:p>
          <a:p>
            <a:pPr algn="just">
              <a:lnSpc>
                <a:spcPct val="150000"/>
              </a:lnSpc>
              <a:buFont typeface="Arial" panose="020B0604020202020204" pitchFamily="34" charset="0"/>
              <a:buChar char="•"/>
            </a:pPr>
            <a:r>
              <a:rPr lang="en-US" dirty="0">
                <a:latin typeface="Bookman Old Style" panose="02050604050505020204" pitchFamily="18" charset="0"/>
              </a:rPr>
              <a:t>Servo motors in robotic arms (precise positioning and movement).</a:t>
            </a:r>
          </a:p>
          <a:p>
            <a:pPr marL="0" lvl="2" algn="just" defTabSz="1219170">
              <a:buClr>
                <a:srgbClr val="000000"/>
              </a:buClr>
              <a:buFont typeface="Arial" panose="020B0604020202020204" pitchFamily="34" charset="0"/>
              <a:buChar char="•"/>
            </a:pPr>
            <a:endParaRPr lang="en-US" altLang="en-US" sz="2400" kern="0" dirty="0">
              <a:solidFill>
                <a:srgbClr val="000000"/>
              </a:solidFill>
              <a:latin typeface="Bookman Old Style" panose="02050604050505020204" pitchFamily="18" charset="0"/>
              <a:cs typeface="Arial"/>
              <a:sym typeface="Arial"/>
            </a:endParaRPr>
          </a:p>
          <a:p>
            <a:pPr marL="0" lvl="2" algn="just" defTabSz="1219170">
              <a:buClr>
                <a:srgbClr val="000000"/>
              </a:buClr>
              <a:buFont typeface="Arial" panose="020B0604020202020204" pitchFamily="34" charset="0"/>
              <a:buChar char="•"/>
            </a:pPr>
            <a:endParaRPr lang="en-US" altLang="en-US" sz="2400" kern="0" dirty="0">
              <a:solidFill>
                <a:srgbClr val="000000"/>
              </a:solidFill>
              <a:latin typeface="Bookman Old Style" panose="02050604050505020204" pitchFamily="18" charset="0"/>
              <a:cs typeface="Arial"/>
              <a:sym typeface="Arial"/>
            </a:endParaRPr>
          </a:p>
          <a:p>
            <a:pPr marL="0" lvl="2" algn="just" defTabSz="1219170">
              <a:buClr>
                <a:srgbClr val="000000"/>
              </a:buClr>
              <a:buFont typeface="Arial" panose="020B0604020202020204" pitchFamily="34" charset="0"/>
              <a:buChar char="•"/>
            </a:pPr>
            <a:endParaRPr lang="en-US" altLang="en-US" sz="2400" kern="0" dirty="0">
              <a:solidFill>
                <a:srgbClr val="000000"/>
              </a:solidFill>
              <a:latin typeface="Bookman Old Style" panose="02050604050505020204" pitchFamily="18" charset="0"/>
              <a:cs typeface="Arial"/>
              <a:sym typeface="Arial"/>
            </a:endParaRPr>
          </a:p>
          <a:p>
            <a:pPr marL="0" lvl="2" algn="just" defTabSz="1219170">
              <a:buClr>
                <a:srgbClr val="000000"/>
              </a:buClr>
            </a:pPr>
            <a:endParaRPr lang="en-US" altLang="en-US" sz="2400" kern="0" dirty="0">
              <a:solidFill>
                <a:srgbClr val="000000"/>
              </a:solidFill>
              <a:latin typeface="Bookman Old Style" panose="02050604050505020204" pitchFamily="18" charset="0"/>
              <a:cs typeface="Arial"/>
              <a:sym typeface="Arial"/>
            </a:endParaRPr>
          </a:p>
        </p:txBody>
      </p:sp>
    </p:spTree>
    <p:extLst>
      <p:ext uri="{BB962C8B-B14F-4D97-AF65-F5344CB8AC3E}">
        <p14:creationId xmlns:p14="http://schemas.microsoft.com/office/powerpoint/2010/main" val="1635808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7658E98D-6DA6-E5F6-95AE-47165B58F57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DCCA5F9-233A-2DB1-259F-6EE05EFB3393}"/>
              </a:ext>
            </a:extLst>
          </p:cNvPr>
          <p:cNvSpPr txBox="1"/>
          <p:nvPr/>
        </p:nvSpPr>
        <p:spPr>
          <a:xfrm>
            <a:off x="2394859" y="192885"/>
            <a:ext cx="7243835" cy="1384995"/>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Control  System  of  a Mechatronic  System</a:t>
            </a:r>
          </a:p>
          <a:p>
            <a:pPr algn="ctr" defTabSz="1219170">
              <a:buClr>
                <a:srgbClr val="000000"/>
              </a:buClr>
            </a:pPr>
            <a:endParaRPr lang="en-US" altLang="en-US" sz="2800" b="1" kern="0" dirty="0">
              <a:solidFill>
                <a:srgbClr val="0070C0"/>
              </a:solidFill>
              <a:latin typeface="Bookman Old Style" panose="02050604050505020204" pitchFamily="18" charset="0"/>
              <a:cs typeface="Arial"/>
              <a:sym typeface="Arial"/>
            </a:endParaRPr>
          </a:p>
        </p:txBody>
      </p:sp>
      <p:sp>
        <p:nvSpPr>
          <p:cNvPr id="4" name="TextBox 3">
            <a:extLst>
              <a:ext uri="{FF2B5EF4-FFF2-40B4-BE49-F238E27FC236}">
                <a16:creationId xmlns:a16="http://schemas.microsoft.com/office/drawing/2014/main" id="{6784C733-3D9B-01EC-4EAC-591F1CDA7185}"/>
              </a:ext>
            </a:extLst>
          </p:cNvPr>
          <p:cNvSpPr txBox="1"/>
          <p:nvPr/>
        </p:nvSpPr>
        <p:spPr>
          <a:xfrm>
            <a:off x="493294" y="1300882"/>
            <a:ext cx="10912643" cy="3785652"/>
          </a:xfrm>
          <a:prstGeom prst="rect">
            <a:avLst/>
          </a:prstGeom>
          <a:noFill/>
        </p:spPr>
        <p:txBody>
          <a:bodyPr wrap="square">
            <a:spAutoFit/>
          </a:bodyPr>
          <a:lstStyle/>
          <a:p>
            <a:pPr marL="0" lvl="1" algn="just" defTabSz="1219170">
              <a:buClr>
                <a:srgbClr val="000000"/>
              </a:buClr>
              <a:buFont typeface="Arial" panose="020B0604020202020204" pitchFamily="34" charset="0"/>
              <a:buChar char="•"/>
            </a:pPr>
            <a:r>
              <a:rPr lang="en-US" altLang="en-US" sz="2400" kern="0" dirty="0">
                <a:solidFill>
                  <a:srgbClr val="000000"/>
                </a:solidFill>
                <a:latin typeface="Bookman Old Style" panose="02050604050505020204" pitchFamily="18" charset="0"/>
                <a:cs typeface="Arial"/>
                <a:sym typeface="Arial"/>
              </a:rPr>
              <a:t>The control system for a mechatronic system can be classified as either a discrete event control system or a feedback control system.</a:t>
            </a:r>
          </a:p>
          <a:p>
            <a:pPr marL="0" lvl="1" algn="just" defTabSz="1219170">
              <a:buClr>
                <a:srgbClr val="000000"/>
              </a:buClr>
              <a:buFont typeface="Arial" panose="020B0604020202020204" pitchFamily="34" charset="0"/>
              <a:buChar char="•"/>
            </a:pPr>
            <a:endParaRPr lang="en-US" altLang="en-US" sz="2400" kern="0" dirty="0">
              <a:solidFill>
                <a:srgbClr val="000000"/>
              </a:solidFill>
              <a:latin typeface="Bookman Old Style" panose="02050604050505020204" pitchFamily="18" charset="0"/>
              <a:cs typeface="Arial"/>
              <a:sym typeface="Arial"/>
            </a:endParaRPr>
          </a:p>
          <a:p>
            <a:pPr marL="0" lvl="1" algn="just" defTabSz="1219170">
              <a:buClr>
                <a:srgbClr val="000000"/>
              </a:buClr>
              <a:buFont typeface="Arial" panose="020B0604020202020204" pitchFamily="34" charset="0"/>
              <a:buChar char="•"/>
            </a:pPr>
            <a:r>
              <a:rPr lang="en-US" altLang="en-US" sz="2400" kern="0" dirty="0">
                <a:solidFill>
                  <a:srgbClr val="000000"/>
                </a:solidFill>
                <a:latin typeface="Bookman Old Style" panose="02050604050505020204" pitchFamily="18" charset="0"/>
                <a:cs typeface="Arial"/>
                <a:sym typeface="Arial"/>
              </a:rPr>
              <a:t>In </a:t>
            </a:r>
            <a:r>
              <a:rPr lang="en-US" altLang="en-US" sz="2400" b="1" kern="0" dirty="0">
                <a:solidFill>
                  <a:srgbClr val="000000"/>
                </a:solidFill>
                <a:latin typeface="Bookman Old Style" panose="02050604050505020204" pitchFamily="18" charset="0"/>
                <a:cs typeface="Arial"/>
                <a:sym typeface="Arial"/>
              </a:rPr>
              <a:t>discrete event system</a:t>
            </a:r>
            <a:r>
              <a:rPr lang="en-US" altLang="en-US" sz="2400" kern="0" dirty="0">
                <a:solidFill>
                  <a:srgbClr val="000000"/>
                </a:solidFill>
                <a:latin typeface="Bookman Old Style" panose="02050604050505020204" pitchFamily="18" charset="0"/>
                <a:cs typeface="Arial"/>
                <a:sym typeface="Arial"/>
              </a:rPr>
              <a:t>, the controller </a:t>
            </a:r>
            <a:r>
              <a:rPr lang="en-US" altLang="en-US" sz="2400" kern="0" dirty="0">
                <a:solidFill>
                  <a:srgbClr val="0070C0"/>
                </a:solidFill>
                <a:latin typeface="Bookman Old Style" panose="02050604050505020204" pitchFamily="18" charset="0"/>
                <a:cs typeface="Arial"/>
                <a:sym typeface="Arial"/>
              </a:rPr>
              <a:t>controls the execution of a sequence of events.</a:t>
            </a:r>
          </a:p>
          <a:p>
            <a:pPr marL="0" lvl="1" algn="just" defTabSz="1219170">
              <a:buClr>
                <a:srgbClr val="000000"/>
              </a:buClr>
              <a:buFont typeface="Arial" panose="020B0604020202020204" pitchFamily="34" charset="0"/>
              <a:buChar char="•"/>
            </a:pPr>
            <a:endParaRPr lang="en-US" altLang="en-US" sz="2400" kern="0" dirty="0">
              <a:solidFill>
                <a:srgbClr val="000000"/>
              </a:solidFill>
              <a:latin typeface="Bookman Old Style" panose="02050604050505020204" pitchFamily="18" charset="0"/>
              <a:cs typeface="Arial"/>
              <a:sym typeface="Arial"/>
            </a:endParaRPr>
          </a:p>
          <a:p>
            <a:pPr marL="0" lvl="1" algn="just" defTabSz="1219170">
              <a:buClr>
                <a:srgbClr val="000000"/>
              </a:buClr>
              <a:buFont typeface="Arial" panose="020B0604020202020204" pitchFamily="34" charset="0"/>
              <a:buChar char="•"/>
            </a:pPr>
            <a:r>
              <a:rPr lang="en-US" altLang="en-US" sz="2400" kern="0" dirty="0">
                <a:solidFill>
                  <a:srgbClr val="000000"/>
                </a:solidFill>
                <a:latin typeface="Bookman Old Style" panose="02050604050505020204" pitchFamily="18" charset="0"/>
                <a:cs typeface="Arial"/>
                <a:sym typeface="Arial"/>
              </a:rPr>
              <a:t>In a </a:t>
            </a:r>
            <a:r>
              <a:rPr lang="en-US" altLang="en-US" sz="2400" b="1" kern="0" dirty="0">
                <a:solidFill>
                  <a:srgbClr val="000000"/>
                </a:solidFill>
                <a:latin typeface="Bookman Old Style" panose="02050604050505020204" pitchFamily="18" charset="0"/>
                <a:cs typeface="Arial"/>
                <a:sym typeface="Arial"/>
              </a:rPr>
              <a:t>feedback control system</a:t>
            </a:r>
            <a:r>
              <a:rPr lang="en-US" altLang="en-US" sz="2400" kern="0" dirty="0">
                <a:solidFill>
                  <a:srgbClr val="000000"/>
                </a:solidFill>
                <a:latin typeface="Bookman Old Style" panose="02050604050505020204" pitchFamily="18" charset="0"/>
                <a:cs typeface="Arial"/>
                <a:sym typeface="Arial"/>
              </a:rPr>
              <a:t>, the controller controls </a:t>
            </a:r>
            <a:r>
              <a:rPr lang="en-US" altLang="en-US" sz="2400" kern="0" dirty="0">
                <a:solidFill>
                  <a:srgbClr val="0070C0"/>
                </a:solidFill>
                <a:latin typeface="Bookman Old Style" panose="02050604050505020204" pitchFamily="18" charset="0"/>
                <a:cs typeface="Arial"/>
                <a:sym typeface="Arial"/>
              </a:rPr>
              <a:t>one or more variables using feedback sensors and feedback control laws.</a:t>
            </a:r>
          </a:p>
          <a:p>
            <a:pPr marL="0" lvl="1" algn="just" defTabSz="1219170">
              <a:buClr>
                <a:srgbClr val="000000"/>
              </a:buClr>
              <a:buFont typeface="Arial" panose="020B0604020202020204" pitchFamily="34" charset="0"/>
              <a:buChar char="•"/>
            </a:pPr>
            <a:endParaRPr lang="en-US" altLang="en-US" sz="2400" kern="0" dirty="0">
              <a:solidFill>
                <a:srgbClr val="000000"/>
              </a:solidFill>
              <a:latin typeface="Bookman Old Style" panose="02050604050505020204" pitchFamily="18" charset="0"/>
              <a:cs typeface="Arial"/>
              <a:sym typeface="Arial"/>
            </a:endParaRPr>
          </a:p>
          <a:p>
            <a:pPr marL="0" lvl="1" algn="just" defTabSz="1219170">
              <a:buClr>
                <a:srgbClr val="000000"/>
              </a:buClr>
              <a:buFont typeface="Arial" panose="020B0604020202020204" pitchFamily="34" charset="0"/>
              <a:buChar char="•"/>
            </a:pPr>
            <a:r>
              <a:rPr lang="en-US" altLang="en-US" sz="2400" kern="0" dirty="0">
                <a:solidFill>
                  <a:srgbClr val="000000"/>
                </a:solidFill>
                <a:latin typeface="Bookman Old Style" panose="02050604050505020204" pitchFamily="18" charset="0"/>
                <a:cs typeface="Arial"/>
                <a:sym typeface="Arial"/>
              </a:rPr>
              <a:t>Example: Automatic washing machine, Automatic camera.</a:t>
            </a:r>
          </a:p>
        </p:txBody>
      </p:sp>
    </p:spTree>
    <p:extLst>
      <p:ext uri="{BB962C8B-B14F-4D97-AF65-F5344CB8AC3E}">
        <p14:creationId xmlns:p14="http://schemas.microsoft.com/office/powerpoint/2010/main" val="162361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5D99E05F-128C-77BA-DD80-92287C219B7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887E434-254E-FC79-38D7-F2A57D127F05}"/>
              </a:ext>
            </a:extLst>
          </p:cNvPr>
          <p:cNvSpPr txBox="1"/>
          <p:nvPr/>
        </p:nvSpPr>
        <p:spPr>
          <a:xfrm>
            <a:off x="2474081" y="156067"/>
            <a:ext cx="784755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Water level </a:t>
            </a:r>
          </a:p>
        </p:txBody>
      </p:sp>
      <p:pic>
        <p:nvPicPr>
          <p:cNvPr id="5" name="Picture 4">
            <a:extLst>
              <a:ext uri="{FF2B5EF4-FFF2-40B4-BE49-F238E27FC236}">
                <a16:creationId xmlns:a16="http://schemas.microsoft.com/office/drawing/2014/main" id="{4CECFD2E-4753-3CEA-BC95-DBD123C7920A}"/>
              </a:ext>
            </a:extLst>
          </p:cNvPr>
          <p:cNvPicPr>
            <a:picLocks noChangeAspect="1"/>
          </p:cNvPicPr>
          <p:nvPr/>
        </p:nvPicPr>
        <p:blipFill>
          <a:blip r:embed="rId3"/>
          <a:stretch>
            <a:fillRect/>
          </a:stretch>
        </p:blipFill>
        <p:spPr>
          <a:xfrm>
            <a:off x="2474082" y="1463413"/>
            <a:ext cx="7576284" cy="4879376"/>
          </a:xfrm>
          <a:prstGeom prst="rect">
            <a:avLst/>
          </a:prstGeom>
        </p:spPr>
      </p:pic>
    </p:spTree>
    <p:extLst>
      <p:ext uri="{BB962C8B-B14F-4D97-AF65-F5344CB8AC3E}">
        <p14:creationId xmlns:p14="http://schemas.microsoft.com/office/powerpoint/2010/main" val="2622139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5D99E05F-128C-77BA-DD80-92287C219B7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887E434-254E-FC79-38D7-F2A57D127F05}"/>
              </a:ext>
            </a:extLst>
          </p:cNvPr>
          <p:cNvSpPr txBox="1"/>
          <p:nvPr/>
        </p:nvSpPr>
        <p:spPr>
          <a:xfrm>
            <a:off x="2474081" y="156067"/>
            <a:ext cx="784755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Water level </a:t>
            </a:r>
          </a:p>
        </p:txBody>
      </p:sp>
      <p:sp>
        <p:nvSpPr>
          <p:cNvPr id="2" name="Rectangle 1">
            <a:extLst>
              <a:ext uri="{FF2B5EF4-FFF2-40B4-BE49-F238E27FC236}">
                <a16:creationId xmlns:a16="http://schemas.microsoft.com/office/drawing/2014/main" id="{D16FE585-E4E9-4A15-A855-CC52501F3093}"/>
              </a:ext>
            </a:extLst>
          </p:cNvPr>
          <p:cNvSpPr/>
          <p:nvPr/>
        </p:nvSpPr>
        <p:spPr>
          <a:xfrm>
            <a:off x="798095" y="1088377"/>
            <a:ext cx="8057147" cy="923330"/>
          </a:xfrm>
          <a:prstGeom prst="rect">
            <a:avLst/>
          </a:prstGeom>
        </p:spPr>
        <p:txBody>
          <a:bodyPr wrap="square">
            <a:spAutoFit/>
          </a:bodyPr>
          <a:lstStyle/>
          <a:p>
            <a:pPr algn="just"/>
            <a:r>
              <a:rPr lang="en-US" dirty="0">
                <a:latin typeface="Bookman Old Style" panose="02050604050505020204" pitchFamily="18" charset="0"/>
              </a:rPr>
              <a:t>The water level controller operates based on feedback from sensors and decisions made by a microcontroller or programmable logic controller</a:t>
            </a:r>
            <a:endParaRPr lang="en-IN" dirty="0">
              <a:latin typeface="Bookman Old Style" panose="02050604050505020204" pitchFamily="18" charset="0"/>
            </a:endParaRPr>
          </a:p>
        </p:txBody>
      </p:sp>
      <p:sp>
        <p:nvSpPr>
          <p:cNvPr id="3" name="Rectangle 2">
            <a:extLst>
              <a:ext uri="{FF2B5EF4-FFF2-40B4-BE49-F238E27FC236}">
                <a16:creationId xmlns:a16="http://schemas.microsoft.com/office/drawing/2014/main" id="{59D559C7-9583-44C9-8909-709A846E55FA}"/>
              </a:ext>
            </a:extLst>
          </p:cNvPr>
          <p:cNvSpPr/>
          <p:nvPr/>
        </p:nvSpPr>
        <p:spPr>
          <a:xfrm>
            <a:off x="389022" y="2011707"/>
            <a:ext cx="7503695" cy="4247317"/>
          </a:xfrm>
          <a:prstGeom prst="rect">
            <a:avLst/>
          </a:prstGeom>
        </p:spPr>
        <p:txBody>
          <a:bodyPr wrap="square">
            <a:spAutoFit/>
          </a:bodyPr>
          <a:lstStyle/>
          <a:p>
            <a:pPr algn="just"/>
            <a:r>
              <a:rPr lang="en-US" b="1" dirty="0">
                <a:latin typeface="Bookman Old Style" panose="02050604050505020204" pitchFamily="18" charset="0"/>
              </a:rPr>
              <a:t>1. Monitoring the Water Level</a:t>
            </a:r>
          </a:p>
          <a:p>
            <a:pPr algn="just">
              <a:buFont typeface="Arial" panose="020B0604020202020204" pitchFamily="34" charset="0"/>
              <a:buChar char="•"/>
            </a:pPr>
            <a:r>
              <a:rPr lang="en-US" b="1" dirty="0">
                <a:latin typeface="Bookman Old Style" panose="02050604050505020204" pitchFamily="18" charset="0"/>
              </a:rPr>
              <a:t>Sensor Activation</a:t>
            </a:r>
            <a:r>
              <a:rPr lang="en-US" dirty="0">
                <a:latin typeface="Bookman Old Style" panose="02050604050505020204" pitchFamily="18" charset="0"/>
              </a:rPr>
              <a:t>:</a:t>
            </a:r>
          </a:p>
          <a:p>
            <a:pPr algn="just">
              <a:buFont typeface="Arial" panose="020B0604020202020204" pitchFamily="34" charset="0"/>
              <a:buChar char="•"/>
            </a:pPr>
            <a:r>
              <a:rPr lang="en-US" dirty="0">
                <a:latin typeface="Bookman Old Style" panose="02050604050505020204" pitchFamily="18" charset="0"/>
              </a:rPr>
              <a:t>Sensors (e.g., float, ultrasonic, capacitive, or pressure sensors) continuously monitor the water level in the tank or reservoir.</a:t>
            </a:r>
          </a:p>
          <a:p>
            <a:pPr algn="just">
              <a:buFont typeface="Arial" panose="020B0604020202020204" pitchFamily="34" charset="0"/>
              <a:buChar char="•"/>
            </a:pPr>
            <a:r>
              <a:rPr lang="en-US" dirty="0">
                <a:latin typeface="Bookman Old Style" panose="02050604050505020204" pitchFamily="18" charset="0"/>
              </a:rPr>
              <a:t>The sensor generates a </a:t>
            </a:r>
            <a:r>
              <a:rPr lang="en-US" dirty="0">
                <a:solidFill>
                  <a:srgbClr val="0070C0"/>
                </a:solidFill>
                <a:latin typeface="Bookman Old Style" panose="02050604050505020204" pitchFamily="18" charset="0"/>
              </a:rPr>
              <a:t>signal proportional </a:t>
            </a:r>
            <a:r>
              <a:rPr lang="en-US" dirty="0">
                <a:latin typeface="Bookman Old Style" panose="02050604050505020204" pitchFamily="18" charset="0"/>
              </a:rPr>
              <a:t>to the water level. For example:</a:t>
            </a:r>
          </a:p>
          <a:p>
            <a:pPr algn="just">
              <a:buFont typeface="Arial" panose="020B0604020202020204" pitchFamily="34" charset="0"/>
              <a:buChar char="•"/>
            </a:pPr>
            <a:r>
              <a:rPr lang="en-US" dirty="0">
                <a:latin typeface="Bookman Old Style" panose="02050604050505020204" pitchFamily="18" charset="0"/>
              </a:rPr>
              <a:t>A </a:t>
            </a:r>
            <a:r>
              <a:rPr lang="en-US" dirty="0">
                <a:solidFill>
                  <a:srgbClr val="0070C0"/>
                </a:solidFill>
                <a:latin typeface="Bookman Old Style" panose="02050604050505020204" pitchFamily="18" charset="0"/>
              </a:rPr>
              <a:t>float sensor </a:t>
            </a:r>
            <a:r>
              <a:rPr lang="en-US" dirty="0">
                <a:latin typeface="Bookman Old Style" panose="02050604050505020204" pitchFamily="18" charset="0"/>
              </a:rPr>
              <a:t>sends ON/OFF signals based on its position.</a:t>
            </a:r>
          </a:p>
          <a:p>
            <a:pPr algn="just">
              <a:buFont typeface="Arial" panose="020B0604020202020204" pitchFamily="34" charset="0"/>
              <a:buChar char="•"/>
            </a:pPr>
            <a:r>
              <a:rPr lang="en-US" dirty="0">
                <a:latin typeface="Bookman Old Style" panose="02050604050505020204" pitchFamily="18" charset="0"/>
              </a:rPr>
              <a:t>An </a:t>
            </a:r>
            <a:r>
              <a:rPr lang="en-US" dirty="0">
                <a:solidFill>
                  <a:srgbClr val="0070C0"/>
                </a:solidFill>
                <a:latin typeface="Bookman Old Style" panose="02050604050505020204" pitchFamily="18" charset="0"/>
              </a:rPr>
              <a:t>ultrasonic sensor </a:t>
            </a:r>
            <a:r>
              <a:rPr lang="en-US" dirty="0">
                <a:latin typeface="Bookman Old Style" panose="02050604050505020204" pitchFamily="18" charset="0"/>
              </a:rPr>
              <a:t>emits sound waves and </a:t>
            </a:r>
            <a:r>
              <a:rPr lang="en-US" dirty="0">
                <a:solidFill>
                  <a:srgbClr val="0070C0"/>
                </a:solidFill>
                <a:latin typeface="Bookman Old Style" panose="02050604050505020204" pitchFamily="18" charset="0"/>
              </a:rPr>
              <a:t>calculates the distance to the water surface </a:t>
            </a:r>
            <a:r>
              <a:rPr lang="en-US" dirty="0">
                <a:latin typeface="Bookman Old Style" panose="02050604050505020204" pitchFamily="18" charset="0"/>
              </a:rPr>
              <a:t>based on the time taken for the echo to return.</a:t>
            </a:r>
          </a:p>
          <a:p>
            <a:pPr algn="just">
              <a:buFont typeface="Arial" panose="020B0604020202020204" pitchFamily="34" charset="0"/>
              <a:buChar char="•"/>
            </a:pPr>
            <a:r>
              <a:rPr lang="en-US" b="1" dirty="0">
                <a:latin typeface="Bookman Old Style" panose="02050604050505020204" pitchFamily="18" charset="0"/>
              </a:rPr>
              <a:t>Data Transmission</a:t>
            </a:r>
            <a:r>
              <a:rPr lang="en-US" dirty="0">
                <a:latin typeface="Bookman Old Style" panose="02050604050505020204" pitchFamily="18" charset="0"/>
              </a:rPr>
              <a:t>:</a:t>
            </a:r>
          </a:p>
          <a:p>
            <a:pPr algn="just">
              <a:buFont typeface="Arial" panose="020B0604020202020204" pitchFamily="34" charset="0"/>
              <a:buChar char="•"/>
            </a:pPr>
            <a:r>
              <a:rPr lang="en-US" dirty="0">
                <a:latin typeface="Bookman Old Style" panose="02050604050505020204" pitchFamily="18" charset="0"/>
              </a:rPr>
              <a:t>The sensor output is sent to the </a:t>
            </a:r>
            <a:r>
              <a:rPr lang="en-US" dirty="0">
                <a:solidFill>
                  <a:srgbClr val="0070C0"/>
                </a:solidFill>
                <a:latin typeface="Bookman Old Style" panose="02050604050505020204" pitchFamily="18" charset="0"/>
              </a:rPr>
              <a:t>microcontroller or PLC </a:t>
            </a:r>
            <a:r>
              <a:rPr lang="en-US" dirty="0">
                <a:latin typeface="Bookman Old Style" panose="02050604050505020204" pitchFamily="18" charset="0"/>
              </a:rPr>
              <a:t>for processing. This may be an analog signal (e.g., from an ultrasonic or pressure sensor) or a digital signal (e.g., from a float switch).</a:t>
            </a:r>
          </a:p>
        </p:txBody>
      </p:sp>
      <p:pic>
        <p:nvPicPr>
          <p:cNvPr id="4" name="Picture 3">
            <a:extLst>
              <a:ext uri="{FF2B5EF4-FFF2-40B4-BE49-F238E27FC236}">
                <a16:creationId xmlns:a16="http://schemas.microsoft.com/office/drawing/2014/main" id="{959F96C5-ECCA-4E9B-807C-3F68904503C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40000"/>
                    </a14:imgEffect>
                  </a14:imgLayer>
                </a14:imgProps>
              </a:ext>
            </a:extLst>
          </a:blip>
          <a:stretch>
            <a:fillRect/>
          </a:stretch>
        </p:blipFill>
        <p:spPr>
          <a:xfrm>
            <a:off x="7892717" y="2011707"/>
            <a:ext cx="4247316" cy="4247316"/>
          </a:xfrm>
          <a:prstGeom prst="rect">
            <a:avLst/>
          </a:prstGeom>
        </p:spPr>
      </p:pic>
    </p:spTree>
    <p:extLst>
      <p:ext uri="{BB962C8B-B14F-4D97-AF65-F5344CB8AC3E}">
        <p14:creationId xmlns:p14="http://schemas.microsoft.com/office/powerpoint/2010/main" val="1746119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5D99E05F-128C-77BA-DD80-92287C219B7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887E434-254E-FC79-38D7-F2A57D127F05}"/>
              </a:ext>
            </a:extLst>
          </p:cNvPr>
          <p:cNvSpPr txBox="1"/>
          <p:nvPr/>
        </p:nvSpPr>
        <p:spPr>
          <a:xfrm>
            <a:off x="2474081" y="156067"/>
            <a:ext cx="784755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Water level </a:t>
            </a:r>
          </a:p>
        </p:txBody>
      </p:sp>
      <p:sp>
        <p:nvSpPr>
          <p:cNvPr id="2" name="Rectangle 1">
            <a:extLst>
              <a:ext uri="{FF2B5EF4-FFF2-40B4-BE49-F238E27FC236}">
                <a16:creationId xmlns:a16="http://schemas.microsoft.com/office/drawing/2014/main" id="{EBD3E87A-DA62-49A8-BF41-1D44707772D4}"/>
              </a:ext>
            </a:extLst>
          </p:cNvPr>
          <p:cNvSpPr/>
          <p:nvPr/>
        </p:nvSpPr>
        <p:spPr>
          <a:xfrm>
            <a:off x="231545" y="796969"/>
            <a:ext cx="11596566" cy="3369256"/>
          </a:xfrm>
          <a:prstGeom prst="rect">
            <a:avLst/>
          </a:prstGeom>
        </p:spPr>
        <p:txBody>
          <a:bodyPr wrap="square">
            <a:spAutoFit/>
          </a:bodyPr>
          <a:lstStyle/>
          <a:p>
            <a:pPr algn="just">
              <a:lnSpc>
                <a:spcPct val="150000"/>
              </a:lnSpc>
            </a:pPr>
            <a:r>
              <a:rPr lang="en-US" b="1" dirty="0">
                <a:latin typeface="Bookman Old Style" panose="02050604050505020204" pitchFamily="18" charset="0"/>
              </a:rPr>
              <a:t>2. Data Processing</a:t>
            </a:r>
          </a:p>
          <a:p>
            <a:pPr algn="just">
              <a:lnSpc>
                <a:spcPct val="150000"/>
              </a:lnSpc>
              <a:buFont typeface="Arial" panose="020B0604020202020204" pitchFamily="34" charset="0"/>
              <a:buChar char="•"/>
            </a:pPr>
            <a:r>
              <a:rPr lang="en-US" b="1" dirty="0">
                <a:latin typeface="Bookman Old Style" panose="02050604050505020204" pitchFamily="18" charset="0"/>
              </a:rPr>
              <a:t>Microcontroller/PLC Function</a:t>
            </a:r>
            <a:r>
              <a:rPr lang="en-US" dirty="0">
                <a:latin typeface="Bookman Old Style" panose="02050604050505020204" pitchFamily="18" charset="0"/>
              </a:rPr>
              <a:t>:</a:t>
            </a:r>
          </a:p>
          <a:p>
            <a:pPr marL="742950" lvl="1" indent="-285750" algn="just">
              <a:lnSpc>
                <a:spcPct val="150000"/>
              </a:lnSpc>
              <a:buFont typeface="Arial" panose="020B0604020202020204" pitchFamily="34" charset="0"/>
              <a:buChar char="•"/>
            </a:pPr>
            <a:r>
              <a:rPr lang="en-US" dirty="0">
                <a:latin typeface="Bookman Old Style" panose="02050604050505020204" pitchFamily="18" charset="0"/>
              </a:rPr>
              <a:t>The controller </a:t>
            </a:r>
            <a:r>
              <a:rPr lang="en-US" dirty="0">
                <a:solidFill>
                  <a:srgbClr val="0070C0"/>
                </a:solidFill>
                <a:latin typeface="Bookman Old Style" panose="02050604050505020204" pitchFamily="18" charset="0"/>
              </a:rPr>
              <a:t>reads the sensor input and compares it against predefined thresholds</a:t>
            </a:r>
            <a:r>
              <a:rPr lang="en-US" dirty="0">
                <a:latin typeface="Bookman Old Style" panose="02050604050505020204" pitchFamily="18" charset="0"/>
              </a:rPr>
              <a:t>:</a:t>
            </a:r>
          </a:p>
          <a:p>
            <a:pPr marL="1143000" lvl="2" indent="-228600" algn="just">
              <a:lnSpc>
                <a:spcPct val="150000"/>
              </a:lnSpc>
              <a:buFont typeface="Arial" panose="020B0604020202020204" pitchFamily="34" charset="0"/>
              <a:buChar char="•"/>
            </a:pPr>
            <a:r>
              <a:rPr lang="en-US" b="1" dirty="0">
                <a:latin typeface="Bookman Old Style" panose="02050604050505020204" pitchFamily="18" charset="0"/>
              </a:rPr>
              <a:t>Low Level</a:t>
            </a:r>
            <a:r>
              <a:rPr lang="en-US" dirty="0">
                <a:latin typeface="Bookman Old Style" panose="02050604050505020204" pitchFamily="18" charset="0"/>
              </a:rPr>
              <a:t>: If the water level falls below a </a:t>
            </a:r>
            <a:r>
              <a:rPr lang="en-US" dirty="0">
                <a:solidFill>
                  <a:srgbClr val="0070C0"/>
                </a:solidFill>
                <a:latin typeface="Bookman Old Style" panose="02050604050505020204" pitchFamily="18" charset="0"/>
              </a:rPr>
              <a:t>minimum threshold.</a:t>
            </a:r>
          </a:p>
          <a:p>
            <a:pPr marL="1143000" lvl="2" indent="-228600" algn="just">
              <a:lnSpc>
                <a:spcPct val="150000"/>
              </a:lnSpc>
              <a:buFont typeface="Arial" panose="020B0604020202020204" pitchFamily="34" charset="0"/>
              <a:buChar char="•"/>
            </a:pPr>
            <a:r>
              <a:rPr lang="en-US" b="1" dirty="0">
                <a:latin typeface="Bookman Old Style" panose="02050604050505020204" pitchFamily="18" charset="0"/>
              </a:rPr>
              <a:t>High Level</a:t>
            </a:r>
            <a:r>
              <a:rPr lang="en-US" dirty="0">
                <a:latin typeface="Bookman Old Style" panose="02050604050505020204" pitchFamily="18" charset="0"/>
              </a:rPr>
              <a:t>: If the water level reaches or exceeds the </a:t>
            </a:r>
            <a:r>
              <a:rPr lang="en-US" dirty="0">
                <a:solidFill>
                  <a:srgbClr val="0070C0"/>
                </a:solidFill>
                <a:latin typeface="Bookman Old Style" panose="02050604050505020204" pitchFamily="18" charset="0"/>
              </a:rPr>
              <a:t>maximum threshold.</a:t>
            </a:r>
          </a:p>
          <a:p>
            <a:pPr marL="742950" lvl="1" indent="-285750" algn="just">
              <a:lnSpc>
                <a:spcPct val="150000"/>
              </a:lnSpc>
              <a:buFont typeface="Arial" panose="020B0604020202020204" pitchFamily="34" charset="0"/>
              <a:buChar char="•"/>
            </a:pPr>
            <a:r>
              <a:rPr lang="en-US" dirty="0">
                <a:solidFill>
                  <a:srgbClr val="0070C0"/>
                </a:solidFill>
                <a:latin typeface="Bookman Old Style" panose="02050604050505020204" pitchFamily="18" charset="0"/>
              </a:rPr>
              <a:t>Decision-making algorithms </a:t>
            </a:r>
            <a:r>
              <a:rPr lang="en-US" dirty="0">
                <a:latin typeface="Bookman Old Style" panose="02050604050505020204" pitchFamily="18" charset="0"/>
              </a:rPr>
              <a:t>within the controller determine the </a:t>
            </a:r>
            <a:r>
              <a:rPr lang="en-US" dirty="0">
                <a:solidFill>
                  <a:srgbClr val="0070C0"/>
                </a:solidFill>
                <a:latin typeface="Bookman Old Style" panose="02050604050505020204" pitchFamily="18" charset="0"/>
              </a:rPr>
              <a:t>next course of action </a:t>
            </a:r>
            <a:r>
              <a:rPr lang="en-US" dirty="0">
                <a:latin typeface="Bookman Old Style" panose="02050604050505020204" pitchFamily="18" charset="0"/>
              </a:rPr>
              <a:t>based on the water level.</a:t>
            </a:r>
          </a:p>
          <a:p>
            <a:pPr marL="742950" lvl="1" indent="-285750" algn="just">
              <a:lnSpc>
                <a:spcPct val="150000"/>
              </a:lnSpc>
              <a:buFont typeface="Arial" panose="020B0604020202020204" pitchFamily="34" charset="0"/>
              <a:buChar char="•"/>
            </a:pPr>
            <a:endParaRPr lang="en-US" dirty="0">
              <a:latin typeface="Bookman Old Style" panose="02050604050505020204" pitchFamily="18" charset="0"/>
            </a:endParaRPr>
          </a:p>
        </p:txBody>
      </p:sp>
      <p:sp>
        <p:nvSpPr>
          <p:cNvPr id="3" name="Rectangle 2">
            <a:extLst>
              <a:ext uri="{FF2B5EF4-FFF2-40B4-BE49-F238E27FC236}">
                <a16:creationId xmlns:a16="http://schemas.microsoft.com/office/drawing/2014/main" id="{A6A13DC7-CA08-4717-88A4-3C69A7D42ED5}"/>
              </a:ext>
            </a:extLst>
          </p:cNvPr>
          <p:cNvSpPr/>
          <p:nvPr/>
        </p:nvSpPr>
        <p:spPr>
          <a:xfrm>
            <a:off x="231545" y="3526190"/>
            <a:ext cx="11728911" cy="3369256"/>
          </a:xfrm>
          <a:prstGeom prst="rect">
            <a:avLst/>
          </a:prstGeom>
        </p:spPr>
        <p:txBody>
          <a:bodyPr wrap="square">
            <a:spAutoFit/>
          </a:bodyPr>
          <a:lstStyle/>
          <a:p>
            <a:pPr algn="just">
              <a:lnSpc>
                <a:spcPct val="150000"/>
              </a:lnSpc>
            </a:pPr>
            <a:r>
              <a:rPr lang="en-US" b="1" dirty="0">
                <a:latin typeface="Bookman Old Style" panose="02050604050505020204" pitchFamily="18" charset="0"/>
              </a:rPr>
              <a:t>3. Controlling the Actuator</a:t>
            </a:r>
          </a:p>
          <a:p>
            <a:pPr algn="just">
              <a:lnSpc>
                <a:spcPct val="150000"/>
              </a:lnSpc>
              <a:buFont typeface="Arial" panose="020B0604020202020204" pitchFamily="34" charset="0"/>
              <a:buChar char="•"/>
            </a:pPr>
            <a:r>
              <a:rPr lang="en-US" b="1" dirty="0">
                <a:latin typeface="Bookman Old Style" panose="02050604050505020204" pitchFamily="18" charset="0"/>
              </a:rPr>
              <a:t>Pump Activation</a:t>
            </a:r>
            <a:r>
              <a:rPr lang="en-US" dirty="0">
                <a:latin typeface="Bookman Old Style" panose="02050604050505020204" pitchFamily="18" charset="0"/>
              </a:rPr>
              <a:t>:</a:t>
            </a:r>
          </a:p>
          <a:p>
            <a:pPr marL="742950" lvl="1" indent="-285750" algn="just">
              <a:lnSpc>
                <a:spcPct val="150000"/>
              </a:lnSpc>
              <a:buFont typeface="Arial" panose="020B0604020202020204" pitchFamily="34" charset="0"/>
              <a:buChar char="•"/>
            </a:pPr>
            <a:r>
              <a:rPr lang="en-US" dirty="0">
                <a:latin typeface="Bookman Old Style" panose="02050604050505020204" pitchFamily="18" charset="0"/>
              </a:rPr>
              <a:t>If the water level is </a:t>
            </a:r>
            <a:r>
              <a:rPr lang="en-US" dirty="0">
                <a:solidFill>
                  <a:srgbClr val="0070C0"/>
                </a:solidFill>
                <a:latin typeface="Bookman Old Style" panose="02050604050505020204" pitchFamily="18" charset="0"/>
              </a:rPr>
              <a:t>below the minimum threshold</a:t>
            </a:r>
            <a:r>
              <a:rPr lang="en-US" dirty="0">
                <a:latin typeface="Bookman Old Style" panose="02050604050505020204" pitchFamily="18" charset="0"/>
              </a:rPr>
              <a:t>, the controller </a:t>
            </a:r>
            <a:r>
              <a:rPr lang="en-US" dirty="0">
                <a:solidFill>
                  <a:srgbClr val="0070C0"/>
                </a:solidFill>
                <a:latin typeface="Bookman Old Style" panose="02050604050505020204" pitchFamily="18" charset="0"/>
              </a:rPr>
              <a:t>activates the water pump </a:t>
            </a:r>
            <a:r>
              <a:rPr lang="en-US" dirty="0">
                <a:latin typeface="Bookman Old Style" panose="02050604050505020204" pitchFamily="18" charset="0"/>
              </a:rPr>
              <a:t>via a relay or a motor driver circuit.</a:t>
            </a:r>
          </a:p>
          <a:p>
            <a:pPr marL="742950" lvl="1" indent="-285750" algn="just">
              <a:lnSpc>
                <a:spcPct val="150000"/>
              </a:lnSpc>
              <a:buFont typeface="Arial" panose="020B0604020202020204" pitchFamily="34" charset="0"/>
              <a:buChar char="•"/>
            </a:pPr>
            <a:r>
              <a:rPr lang="en-US" dirty="0">
                <a:latin typeface="Bookman Old Style" panose="02050604050505020204" pitchFamily="18" charset="0"/>
              </a:rPr>
              <a:t>The pump </a:t>
            </a:r>
            <a:r>
              <a:rPr lang="en-US" dirty="0">
                <a:solidFill>
                  <a:srgbClr val="0070C0"/>
                </a:solidFill>
                <a:latin typeface="Bookman Old Style" panose="02050604050505020204" pitchFamily="18" charset="0"/>
              </a:rPr>
              <a:t>draws water </a:t>
            </a:r>
            <a:r>
              <a:rPr lang="en-US" dirty="0">
                <a:latin typeface="Bookman Old Style" panose="02050604050505020204" pitchFamily="18" charset="0"/>
              </a:rPr>
              <a:t>from a source (e.g., a well or pipeline) and fills the tank.</a:t>
            </a:r>
          </a:p>
          <a:p>
            <a:pPr algn="just">
              <a:lnSpc>
                <a:spcPct val="150000"/>
              </a:lnSpc>
              <a:buFont typeface="Arial" panose="020B0604020202020204" pitchFamily="34" charset="0"/>
              <a:buChar char="•"/>
            </a:pPr>
            <a:r>
              <a:rPr lang="en-US" b="1" dirty="0">
                <a:latin typeface="Bookman Old Style" panose="02050604050505020204" pitchFamily="18" charset="0"/>
              </a:rPr>
              <a:t>Pump Deactivation</a:t>
            </a:r>
            <a:r>
              <a:rPr lang="en-US" dirty="0">
                <a:latin typeface="Bookman Old Style" panose="02050604050505020204" pitchFamily="18" charset="0"/>
              </a:rPr>
              <a:t>:</a:t>
            </a:r>
          </a:p>
          <a:p>
            <a:pPr marL="742950" lvl="1" indent="-285750" algn="just">
              <a:lnSpc>
                <a:spcPct val="150000"/>
              </a:lnSpc>
              <a:buFont typeface="Arial" panose="020B0604020202020204" pitchFamily="34" charset="0"/>
              <a:buChar char="•"/>
            </a:pPr>
            <a:r>
              <a:rPr lang="en-US" dirty="0">
                <a:latin typeface="Bookman Old Style" panose="02050604050505020204" pitchFamily="18" charset="0"/>
              </a:rPr>
              <a:t>When the water level reaches the </a:t>
            </a:r>
            <a:r>
              <a:rPr lang="en-US" dirty="0">
                <a:solidFill>
                  <a:srgbClr val="0070C0"/>
                </a:solidFill>
                <a:latin typeface="Bookman Old Style" panose="02050604050505020204" pitchFamily="18" charset="0"/>
              </a:rPr>
              <a:t>maximum threshold</a:t>
            </a:r>
            <a:r>
              <a:rPr lang="en-US" dirty="0">
                <a:latin typeface="Bookman Old Style" panose="02050604050505020204" pitchFamily="18" charset="0"/>
              </a:rPr>
              <a:t>, the controller sends a signal to </a:t>
            </a:r>
            <a:r>
              <a:rPr lang="en-US" dirty="0">
                <a:solidFill>
                  <a:srgbClr val="0070C0"/>
                </a:solidFill>
                <a:latin typeface="Bookman Old Style" panose="02050604050505020204" pitchFamily="18" charset="0"/>
              </a:rPr>
              <a:t>deactivate the pump</a:t>
            </a:r>
            <a:r>
              <a:rPr lang="en-US" dirty="0">
                <a:latin typeface="Bookman Old Style" panose="02050604050505020204" pitchFamily="18" charset="0"/>
              </a:rPr>
              <a:t>, stopping the water inflow..</a:t>
            </a:r>
          </a:p>
        </p:txBody>
      </p:sp>
    </p:spTree>
    <p:extLst>
      <p:ext uri="{BB962C8B-B14F-4D97-AF65-F5344CB8AC3E}">
        <p14:creationId xmlns:p14="http://schemas.microsoft.com/office/powerpoint/2010/main" val="14115160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5D99E05F-128C-77BA-DD80-92287C219B7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887E434-254E-FC79-38D7-F2A57D127F05}"/>
              </a:ext>
            </a:extLst>
          </p:cNvPr>
          <p:cNvSpPr txBox="1"/>
          <p:nvPr/>
        </p:nvSpPr>
        <p:spPr>
          <a:xfrm>
            <a:off x="2474081" y="156067"/>
            <a:ext cx="784755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Water level </a:t>
            </a:r>
          </a:p>
        </p:txBody>
      </p:sp>
      <p:sp>
        <p:nvSpPr>
          <p:cNvPr id="2" name="Rectangle 1">
            <a:extLst>
              <a:ext uri="{FF2B5EF4-FFF2-40B4-BE49-F238E27FC236}">
                <a16:creationId xmlns:a16="http://schemas.microsoft.com/office/drawing/2014/main" id="{41A32102-2F0A-4BD9-9ECE-EB9F417A0DC3}"/>
              </a:ext>
            </a:extLst>
          </p:cNvPr>
          <p:cNvSpPr/>
          <p:nvPr/>
        </p:nvSpPr>
        <p:spPr>
          <a:xfrm>
            <a:off x="587752" y="1269793"/>
            <a:ext cx="11143036" cy="2308324"/>
          </a:xfrm>
          <a:prstGeom prst="rect">
            <a:avLst/>
          </a:prstGeom>
        </p:spPr>
        <p:txBody>
          <a:bodyPr wrap="square">
            <a:spAutoFit/>
          </a:bodyPr>
          <a:lstStyle/>
          <a:p>
            <a:pPr algn="just"/>
            <a:r>
              <a:rPr lang="en-US" b="1" dirty="0">
                <a:latin typeface="Bookman Old Style" panose="02050604050505020204" pitchFamily="18" charset="0"/>
              </a:rPr>
              <a:t>4. Safety Mechanisms</a:t>
            </a:r>
          </a:p>
          <a:p>
            <a:pPr algn="just">
              <a:buFont typeface="Arial" panose="020B0604020202020204" pitchFamily="34" charset="0"/>
              <a:buChar char="•"/>
            </a:pPr>
            <a:r>
              <a:rPr lang="en-US" b="1" dirty="0">
                <a:latin typeface="Bookman Old Style" panose="02050604050505020204" pitchFamily="18" charset="0"/>
              </a:rPr>
              <a:t>Dry Run Protection</a:t>
            </a:r>
            <a:r>
              <a:rPr lang="en-US" dirty="0">
                <a:latin typeface="Bookman Old Style" panose="02050604050505020204" pitchFamily="18" charset="0"/>
              </a:rPr>
              <a:t>:</a:t>
            </a:r>
          </a:p>
          <a:p>
            <a:pPr marL="742950" lvl="1" indent="-285750" algn="just">
              <a:buFont typeface="Arial" panose="020B0604020202020204" pitchFamily="34" charset="0"/>
              <a:buChar char="•"/>
            </a:pPr>
            <a:r>
              <a:rPr lang="en-US" dirty="0">
                <a:latin typeface="Bookman Old Style" panose="02050604050505020204" pitchFamily="18" charset="0"/>
              </a:rPr>
              <a:t>If the pump is running but no water is being drawn (e.g., the source is empty), the </a:t>
            </a:r>
            <a:r>
              <a:rPr lang="en-US" dirty="0">
                <a:solidFill>
                  <a:srgbClr val="0070C0"/>
                </a:solidFill>
                <a:latin typeface="Bookman Old Style" panose="02050604050505020204" pitchFamily="18" charset="0"/>
              </a:rPr>
              <a:t>controller detects this condition using sensors or feedback from the pump and shuts it down to prevent damage</a:t>
            </a:r>
            <a:r>
              <a:rPr lang="en-US" dirty="0">
                <a:latin typeface="Bookman Old Style" panose="02050604050505020204" pitchFamily="18" charset="0"/>
              </a:rPr>
              <a:t>.</a:t>
            </a:r>
          </a:p>
          <a:p>
            <a:pPr algn="just">
              <a:buFont typeface="Arial" panose="020B0604020202020204" pitchFamily="34" charset="0"/>
              <a:buChar char="•"/>
            </a:pPr>
            <a:r>
              <a:rPr lang="en-US" b="1" dirty="0">
                <a:latin typeface="Bookman Old Style" panose="02050604050505020204" pitchFamily="18" charset="0"/>
              </a:rPr>
              <a:t>Overflow Prevention</a:t>
            </a:r>
            <a:r>
              <a:rPr lang="en-US" dirty="0">
                <a:latin typeface="Bookman Old Style" panose="02050604050505020204" pitchFamily="18" charset="0"/>
              </a:rPr>
              <a:t>:</a:t>
            </a:r>
          </a:p>
          <a:p>
            <a:pPr marL="742950" lvl="1" indent="-285750" algn="just">
              <a:buFont typeface="Arial" panose="020B0604020202020204" pitchFamily="34" charset="0"/>
              <a:buChar char="•"/>
            </a:pPr>
            <a:r>
              <a:rPr lang="en-US" dirty="0">
                <a:latin typeface="Bookman Old Style" panose="02050604050505020204" pitchFamily="18" charset="0"/>
              </a:rPr>
              <a:t>If the sensor detects water beyond the maximum level (indicating a potential malfunction), the </a:t>
            </a:r>
            <a:r>
              <a:rPr lang="en-US" dirty="0">
                <a:solidFill>
                  <a:srgbClr val="0070C0"/>
                </a:solidFill>
                <a:latin typeface="Bookman Old Style" panose="02050604050505020204" pitchFamily="18" charset="0"/>
              </a:rPr>
              <a:t>system triggers an alarm and shuts off the pump </a:t>
            </a:r>
            <a:r>
              <a:rPr lang="en-US" dirty="0">
                <a:latin typeface="Bookman Old Style" panose="02050604050505020204" pitchFamily="18" charset="0"/>
              </a:rPr>
              <a:t>immediately.</a:t>
            </a:r>
          </a:p>
        </p:txBody>
      </p:sp>
      <p:sp>
        <p:nvSpPr>
          <p:cNvPr id="3" name="Rectangle 2">
            <a:extLst>
              <a:ext uri="{FF2B5EF4-FFF2-40B4-BE49-F238E27FC236}">
                <a16:creationId xmlns:a16="http://schemas.microsoft.com/office/drawing/2014/main" id="{79D37F22-B9EB-4106-A016-2C1861A6F5F4}"/>
              </a:ext>
            </a:extLst>
          </p:cNvPr>
          <p:cNvSpPr/>
          <p:nvPr/>
        </p:nvSpPr>
        <p:spPr>
          <a:xfrm>
            <a:off x="587752" y="3737736"/>
            <a:ext cx="10924673" cy="2031325"/>
          </a:xfrm>
          <a:prstGeom prst="rect">
            <a:avLst/>
          </a:prstGeom>
        </p:spPr>
        <p:txBody>
          <a:bodyPr wrap="square">
            <a:spAutoFit/>
          </a:bodyPr>
          <a:lstStyle/>
          <a:p>
            <a:pPr algn="just"/>
            <a:r>
              <a:rPr lang="en-US" b="1" dirty="0">
                <a:latin typeface="Bookman Old Style" panose="02050604050505020204" pitchFamily="18" charset="0"/>
              </a:rPr>
              <a:t>5. User Interface</a:t>
            </a:r>
          </a:p>
          <a:p>
            <a:pPr algn="just">
              <a:buFont typeface="Arial" panose="020B0604020202020204" pitchFamily="34" charset="0"/>
              <a:buChar char="•"/>
            </a:pPr>
            <a:r>
              <a:rPr lang="en-US" b="1" dirty="0">
                <a:latin typeface="Bookman Old Style" panose="02050604050505020204" pitchFamily="18" charset="0"/>
              </a:rPr>
              <a:t>Display</a:t>
            </a:r>
            <a:r>
              <a:rPr lang="en-US" dirty="0">
                <a:latin typeface="Bookman Old Style" panose="02050604050505020204" pitchFamily="18" charset="0"/>
              </a:rPr>
              <a:t>:</a:t>
            </a:r>
          </a:p>
          <a:p>
            <a:pPr marL="742950" lvl="1" indent="-285750" algn="just">
              <a:buFont typeface="Arial" panose="020B0604020202020204" pitchFamily="34" charset="0"/>
              <a:buChar char="•"/>
            </a:pPr>
            <a:r>
              <a:rPr lang="en-US" dirty="0">
                <a:latin typeface="Bookman Old Style" panose="02050604050505020204" pitchFamily="18" charset="0"/>
              </a:rPr>
              <a:t>The controller may be connected to an </a:t>
            </a:r>
            <a:r>
              <a:rPr lang="en-US" dirty="0">
                <a:solidFill>
                  <a:srgbClr val="0070C0"/>
                </a:solidFill>
                <a:latin typeface="Bookman Old Style" panose="02050604050505020204" pitchFamily="18" charset="0"/>
              </a:rPr>
              <a:t>LCD, LED, or graphical display </a:t>
            </a:r>
            <a:r>
              <a:rPr lang="en-US" dirty="0">
                <a:latin typeface="Bookman Old Style" panose="02050604050505020204" pitchFamily="18" charset="0"/>
              </a:rPr>
              <a:t>to show the current water level and system status.</a:t>
            </a:r>
          </a:p>
          <a:p>
            <a:pPr algn="just">
              <a:buFont typeface="Arial" panose="020B0604020202020204" pitchFamily="34" charset="0"/>
              <a:buChar char="•"/>
            </a:pPr>
            <a:r>
              <a:rPr lang="en-US" b="1" dirty="0">
                <a:latin typeface="Bookman Old Style" panose="02050604050505020204" pitchFamily="18" charset="0"/>
              </a:rPr>
              <a:t>Alarms</a:t>
            </a:r>
            <a:r>
              <a:rPr lang="en-US" dirty="0">
                <a:latin typeface="Bookman Old Style" panose="02050604050505020204" pitchFamily="18" charset="0"/>
              </a:rPr>
              <a:t>:</a:t>
            </a:r>
          </a:p>
          <a:p>
            <a:pPr marL="742950" lvl="1" indent="-285750" algn="just">
              <a:buFont typeface="Arial" panose="020B0604020202020204" pitchFamily="34" charset="0"/>
              <a:buChar char="•"/>
            </a:pPr>
            <a:r>
              <a:rPr lang="en-US" dirty="0">
                <a:solidFill>
                  <a:srgbClr val="0070C0"/>
                </a:solidFill>
                <a:latin typeface="Bookman Old Style" panose="02050604050505020204" pitchFamily="18" charset="0"/>
              </a:rPr>
              <a:t>Audible or visual alarms </a:t>
            </a:r>
            <a:r>
              <a:rPr lang="en-US" dirty="0">
                <a:latin typeface="Bookman Old Style" panose="02050604050505020204" pitchFamily="18" charset="0"/>
              </a:rPr>
              <a:t>may alert the user in case of anomalies, such as low water levels, pump malfunctions, or overflows.</a:t>
            </a:r>
          </a:p>
        </p:txBody>
      </p:sp>
    </p:spTree>
    <p:extLst>
      <p:ext uri="{BB962C8B-B14F-4D97-AF65-F5344CB8AC3E}">
        <p14:creationId xmlns:p14="http://schemas.microsoft.com/office/powerpoint/2010/main" val="1152015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5D99E05F-128C-77BA-DD80-92287C219B7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887E434-254E-FC79-38D7-F2A57D127F05}"/>
              </a:ext>
            </a:extLst>
          </p:cNvPr>
          <p:cNvSpPr txBox="1"/>
          <p:nvPr/>
        </p:nvSpPr>
        <p:spPr>
          <a:xfrm>
            <a:off x="2474081" y="156067"/>
            <a:ext cx="784755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Water level </a:t>
            </a:r>
          </a:p>
        </p:txBody>
      </p:sp>
      <p:sp>
        <p:nvSpPr>
          <p:cNvPr id="2" name="Rectangle 1">
            <a:extLst>
              <a:ext uri="{FF2B5EF4-FFF2-40B4-BE49-F238E27FC236}">
                <a16:creationId xmlns:a16="http://schemas.microsoft.com/office/drawing/2014/main" id="{2A15B802-6F24-4674-9AC6-D3E8787901A1}"/>
              </a:ext>
            </a:extLst>
          </p:cNvPr>
          <p:cNvSpPr/>
          <p:nvPr/>
        </p:nvSpPr>
        <p:spPr>
          <a:xfrm>
            <a:off x="617620" y="1330496"/>
            <a:ext cx="11125201" cy="2122761"/>
          </a:xfrm>
          <a:prstGeom prst="rect">
            <a:avLst/>
          </a:prstGeom>
        </p:spPr>
        <p:txBody>
          <a:bodyPr wrap="square">
            <a:spAutoFit/>
          </a:bodyPr>
          <a:lstStyle/>
          <a:p>
            <a:pPr algn="just">
              <a:lnSpc>
                <a:spcPct val="150000"/>
              </a:lnSpc>
            </a:pPr>
            <a:r>
              <a:rPr lang="en-US" b="1" dirty="0">
                <a:latin typeface="Bookman Old Style" panose="02050604050505020204" pitchFamily="18" charset="0"/>
              </a:rPr>
              <a:t>6. Continuous Monitoring and Feedback Loop</a:t>
            </a:r>
          </a:p>
          <a:p>
            <a:pPr algn="just">
              <a:lnSpc>
                <a:spcPct val="150000"/>
              </a:lnSpc>
              <a:buFont typeface="Arial" panose="020B0604020202020204" pitchFamily="34" charset="0"/>
              <a:buChar char="•"/>
            </a:pPr>
            <a:r>
              <a:rPr lang="en-US" dirty="0">
                <a:latin typeface="Bookman Old Style" panose="02050604050505020204" pitchFamily="18" charset="0"/>
              </a:rPr>
              <a:t>The system continuously </a:t>
            </a:r>
            <a:r>
              <a:rPr lang="en-US" dirty="0">
                <a:solidFill>
                  <a:srgbClr val="0070C0"/>
                </a:solidFill>
                <a:latin typeface="Bookman Old Style" panose="02050604050505020204" pitchFamily="18" charset="0"/>
              </a:rPr>
              <a:t>monitors the water level and adapts in real-time, maintaining an optimal water level in the tank.</a:t>
            </a:r>
          </a:p>
          <a:p>
            <a:pPr algn="just">
              <a:lnSpc>
                <a:spcPct val="150000"/>
              </a:lnSpc>
              <a:buFont typeface="Arial" panose="020B0604020202020204" pitchFamily="34" charset="0"/>
              <a:buChar char="•"/>
            </a:pPr>
            <a:r>
              <a:rPr lang="en-US" dirty="0">
                <a:latin typeface="Bookman Old Style" panose="02050604050505020204" pitchFamily="18" charset="0"/>
              </a:rPr>
              <a:t>Feedback loops ensure the system is </a:t>
            </a:r>
            <a:r>
              <a:rPr lang="en-US" dirty="0">
                <a:solidFill>
                  <a:srgbClr val="0070C0"/>
                </a:solidFill>
                <a:latin typeface="Bookman Old Style" panose="02050604050505020204" pitchFamily="18" charset="0"/>
              </a:rPr>
              <a:t>responsive to changing conditions</a:t>
            </a:r>
            <a:r>
              <a:rPr lang="en-US" dirty="0">
                <a:latin typeface="Bookman Old Style" panose="02050604050505020204" pitchFamily="18" charset="0"/>
              </a:rPr>
              <a:t>, such as fluctuations in water demand or supply.</a:t>
            </a:r>
          </a:p>
        </p:txBody>
      </p:sp>
    </p:spTree>
    <p:extLst>
      <p:ext uri="{BB962C8B-B14F-4D97-AF65-F5344CB8AC3E}">
        <p14:creationId xmlns:p14="http://schemas.microsoft.com/office/powerpoint/2010/main" val="5355571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68C176D0-604C-BBF4-593E-08B2371F77F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813E690-6285-04B5-EE19-F53E48F782CB}"/>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Automatic  Washing Machine</a:t>
            </a:r>
          </a:p>
        </p:txBody>
      </p:sp>
      <p:pic>
        <p:nvPicPr>
          <p:cNvPr id="4" name="Picture 2">
            <a:extLst>
              <a:ext uri="{FF2B5EF4-FFF2-40B4-BE49-F238E27FC236}">
                <a16:creationId xmlns:a16="http://schemas.microsoft.com/office/drawing/2014/main" id="{7AFA75A2-BEB7-FCB7-57C1-DB5D0A1365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4814" y="1264063"/>
            <a:ext cx="8433103" cy="523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40470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EC01750B-17E8-BD5F-C1DD-6F8D6B6D88B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7BA28B6-475F-4F30-2780-4BDE316ED29F}"/>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Automatic  Washing Machine</a:t>
            </a:r>
          </a:p>
        </p:txBody>
      </p:sp>
      <p:sp>
        <p:nvSpPr>
          <p:cNvPr id="5" name="TextBox 4">
            <a:extLst>
              <a:ext uri="{FF2B5EF4-FFF2-40B4-BE49-F238E27FC236}">
                <a16:creationId xmlns:a16="http://schemas.microsoft.com/office/drawing/2014/main" id="{6B10AF75-D117-3F4D-E378-D1290421DDA4}"/>
              </a:ext>
            </a:extLst>
          </p:cNvPr>
          <p:cNvSpPr txBox="1"/>
          <p:nvPr/>
        </p:nvSpPr>
        <p:spPr>
          <a:xfrm>
            <a:off x="651164" y="1264063"/>
            <a:ext cx="10695709" cy="3733458"/>
          </a:xfrm>
          <a:prstGeom prst="rect">
            <a:avLst/>
          </a:prstGeom>
          <a:noFill/>
        </p:spPr>
        <p:txBody>
          <a:bodyPr wrap="square">
            <a:spAutoFit/>
          </a:bodyPr>
          <a:lstStyle/>
          <a:p>
            <a:pPr algn="just" defTabSz="1219170">
              <a:lnSpc>
                <a:spcPct val="150000"/>
              </a:lnSpc>
              <a:buClr>
                <a:srgbClr val="000000"/>
              </a:buClr>
            </a:pPr>
            <a:r>
              <a:rPr lang="en-IN" sz="2000" b="1" kern="0" dirty="0">
                <a:solidFill>
                  <a:srgbClr val="000000"/>
                </a:solidFill>
                <a:latin typeface="Bookman Old Style" panose="02050604050505020204" pitchFamily="18" charset="0"/>
                <a:cs typeface="Arial"/>
                <a:sym typeface="Arial"/>
              </a:rPr>
              <a:t>Inputs:</a:t>
            </a:r>
          </a:p>
          <a:p>
            <a:pPr marL="457200" indent="-457200" algn="just" defTabSz="1219170">
              <a:lnSpc>
                <a:spcPct val="150000"/>
              </a:lnSpc>
              <a:buClr>
                <a:srgbClr val="000000"/>
              </a:buClr>
              <a:buAutoNum type="arabicPeriod"/>
            </a:pPr>
            <a:r>
              <a:rPr lang="en-US" sz="2000" kern="0" dirty="0">
                <a:solidFill>
                  <a:srgbClr val="000000"/>
                </a:solidFill>
                <a:latin typeface="Bookman Old Style" panose="02050604050505020204" pitchFamily="18" charset="0"/>
                <a:cs typeface="Arial"/>
                <a:sym typeface="Arial"/>
              </a:rPr>
              <a:t>The program in a washing machine represents the specific </a:t>
            </a:r>
            <a:r>
              <a:rPr lang="en-US" sz="2000" kern="0" dirty="0">
                <a:solidFill>
                  <a:srgbClr val="0070C0"/>
                </a:solidFill>
                <a:latin typeface="Bookman Old Style" panose="02050604050505020204" pitchFamily="18" charset="0"/>
                <a:cs typeface="Arial"/>
                <a:sym typeface="Arial"/>
              </a:rPr>
              <a:t>set of instructions or a pre-defined sequence of actions</a:t>
            </a:r>
            <a:r>
              <a:rPr lang="en-US" sz="2000" kern="0" dirty="0">
                <a:solidFill>
                  <a:srgbClr val="00B0F0"/>
                </a:solidFill>
                <a:latin typeface="Bookman Old Style" panose="02050604050505020204" pitchFamily="18" charset="0"/>
                <a:cs typeface="Arial"/>
                <a:sym typeface="Arial"/>
              </a:rPr>
              <a:t> </a:t>
            </a:r>
            <a:r>
              <a:rPr lang="en-US" sz="2000" kern="0" dirty="0">
                <a:solidFill>
                  <a:srgbClr val="000000"/>
                </a:solidFill>
                <a:latin typeface="Bookman Old Style" panose="02050604050505020204" pitchFamily="18" charset="0"/>
                <a:cs typeface="Arial"/>
                <a:sym typeface="Arial"/>
              </a:rPr>
              <a:t>that the machine follows during a wash cycle. </a:t>
            </a:r>
          </a:p>
          <a:p>
            <a:pPr marL="457200" indent="-457200" algn="just" defTabSz="1219170">
              <a:lnSpc>
                <a:spcPct val="150000"/>
              </a:lnSpc>
              <a:buClr>
                <a:srgbClr val="000000"/>
              </a:buClr>
              <a:buAutoNum type="arabicPeriod"/>
            </a:pPr>
            <a:r>
              <a:rPr lang="en-US" sz="2000" kern="0" dirty="0">
                <a:solidFill>
                  <a:srgbClr val="000000"/>
                </a:solidFill>
                <a:latin typeface="Bookman Old Style" panose="02050604050505020204" pitchFamily="18" charset="0"/>
                <a:cs typeface="Arial"/>
                <a:sym typeface="Arial"/>
              </a:rPr>
              <a:t>These instructions dictate the </a:t>
            </a:r>
            <a:r>
              <a:rPr lang="en-US" sz="2000" kern="0" dirty="0">
                <a:solidFill>
                  <a:srgbClr val="0070C0"/>
                </a:solidFill>
                <a:latin typeface="Bookman Old Style" panose="02050604050505020204" pitchFamily="18" charset="0"/>
                <a:cs typeface="Arial"/>
                <a:sym typeface="Arial"/>
              </a:rPr>
              <a:t>duration, water temperature, agitation pattern, spin speed, and other parameters of the </a:t>
            </a:r>
            <a:r>
              <a:rPr lang="en-IN" sz="2000" kern="0" dirty="0">
                <a:solidFill>
                  <a:srgbClr val="0070C0"/>
                </a:solidFill>
                <a:latin typeface="Bookman Old Style" panose="02050604050505020204" pitchFamily="18" charset="0"/>
                <a:cs typeface="Arial"/>
                <a:sym typeface="Arial"/>
              </a:rPr>
              <a:t>washing process.</a:t>
            </a:r>
          </a:p>
          <a:p>
            <a:pPr marL="457200" indent="-457200" algn="just" defTabSz="1219170">
              <a:lnSpc>
                <a:spcPct val="150000"/>
              </a:lnSpc>
              <a:buClr>
                <a:srgbClr val="000000"/>
              </a:buClr>
              <a:buAutoNum type="arabicPeriod"/>
            </a:pPr>
            <a:r>
              <a:rPr lang="en-US" sz="2000" kern="0" dirty="0">
                <a:solidFill>
                  <a:srgbClr val="000000"/>
                </a:solidFill>
                <a:latin typeface="Bookman Old Style" panose="02050604050505020204" pitchFamily="18" charset="0"/>
                <a:cs typeface="Arial"/>
                <a:sym typeface="Arial"/>
              </a:rPr>
              <a:t>The clock in this context refers to the </a:t>
            </a:r>
            <a:r>
              <a:rPr lang="en-US" sz="2000" kern="0" dirty="0">
                <a:solidFill>
                  <a:srgbClr val="0070C0"/>
                </a:solidFill>
                <a:latin typeface="Bookman Old Style" panose="02050604050505020204" pitchFamily="18" charset="0"/>
                <a:cs typeface="Arial"/>
                <a:sym typeface="Arial"/>
              </a:rPr>
              <a:t>timer or timing mechanism </a:t>
            </a:r>
            <a:r>
              <a:rPr lang="en-US" sz="2000" kern="0" dirty="0">
                <a:solidFill>
                  <a:srgbClr val="000000"/>
                </a:solidFill>
                <a:latin typeface="Bookman Old Style" panose="02050604050505020204" pitchFamily="18" charset="0"/>
                <a:cs typeface="Arial"/>
                <a:sym typeface="Arial"/>
              </a:rPr>
              <a:t>within the washing machine. It manages the </a:t>
            </a:r>
            <a:r>
              <a:rPr lang="en-US" sz="2000" kern="0" dirty="0">
                <a:solidFill>
                  <a:srgbClr val="0070C0"/>
                </a:solidFill>
                <a:latin typeface="Bookman Old Style" panose="02050604050505020204" pitchFamily="18" charset="0"/>
                <a:cs typeface="Arial"/>
                <a:sym typeface="Arial"/>
              </a:rPr>
              <a:t>duration of each phase of the washing cycle</a:t>
            </a:r>
            <a:r>
              <a:rPr lang="en-US" sz="2000" kern="0" dirty="0">
                <a:solidFill>
                  <a:srgbClr val="000000"/>
                </a:solidFill>
                <a:latin typeface="Bookman Old Style" panose="02050604050505020204" pitchFamily="18" charset="0"/>
                <a:cs typeface="Arial"/>
                <a:sym typeface="Arial"/>
              </a:rPr>
              <a:t>.</a:t>
            </a:r>
          </a:p>
          <a:p>
            <a:pPr algn="just" defTabSz="1219170">
              <a:lnSpc>
                <a:spcPct val="150000"/>
              </a:lnSpc>
              <a:buClr>
                <a:srgbClr val="000000"/>
              </a:buClr>
            </a:pPr>
            <a:r>
              <a:rPr lang="en-US" sz="2000" kern="0" dirty="0">
                <a:solidFill>
                  <a:srgbClr val="000000"/>
                </a:solidFill>
                <a:latin typeface="Bookman Old Style" panose="02050604050505020204" pitchFamily="18" charset="0"/>
                <a:cs typeface="Arial"/>
                <a:sym typeface="Arial"/>
              </a:rPr>
              <a:t>.</a:t>
            </a:r>
            <a:endParaRPr lang="en-IN" sz="2000" kern="0" dirty="0">
              <a:solidFill>
                <a:srgbClr val="000000"/>
              </a:solidFill>
              <a:latin typeface="Bookman Old Style" panose="02050604050505020204" pitchFamily="18" charset="0"/>
              <a:cs typeface="Arial"/>
              <a:sym typeface="Arial"/>
            </a:endParaRPr>
          </a:p>
        </p:txBody>
      </p:sp>
    </p:spTree>
    <p:extLst>
      <p:ext uri="{BB962C8B-B14F-4D97-AF65-F5344CB8AC3E}">
        <p14:creationId xmlns:p14="http://schemas.microsoft.com/office/powerpoint/2010/main" val="1498098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EC01750B-17E8-BD5F-C1DD-6F8D6B6D88B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7BA28B6-475F-4F30-2780-4BDE316ED29F}"/>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Automatic  Washing Machine</a:t>
            </a:r>
          </a:p>
        </p:txBody>
      </p:sp>
      <p:sp>
        <p:nvSpPr>
          <p:cNvPr id="5" name="TextBox 4">
            <a:extLst>
              <a:ext uri="{FF2B5EF4-FFF2-40B4-BE49-F238E27FC236}">
                <a16:creationId xmlns:a16="http://schemas.microsoft.com/office/drawing/2014/main" id="{6B10AF75-D117-3F4D-E378-D1290421DDA4}"/>
              </a:ext>
            </a:extLst>
          </p:cNvPr>
          <p:cNvSpPr txBox="1"/>
          <p:nvPr/>
        </p:nvSpPr>
        <p:spPr>
          <a:xfrm>
            <a:off x="651164" y="1110174"/>
            <a:ext cx="10529454" cy="5221942"/>
          </a:xfrm>
          <a:prstGeom prst="rect">
            <a:avLst/>
          </a:prstGeom>
          <a:noFill/>
        </p:spPr>
        <p:txBody>
          <a:bodyPr wrap="square">
            <a:spAutoFit/>
          </a:bodyPr>
          <a:lstStyle/>
          <a:p>
            <a:pPr algn="just" defTabSz="1219170">
              <a:buClr>
                <a:srgbClr val="000000"/>
              </a:buClr>
            </a:pPr>
            <a:r>
              <a:rPr lang="en-IN" sz="2000" b="1" kern="0" dirty="0">
                <a:solidFill>
                  <a:srgbClr val="000000"/>
                </a:solidFill>
                <a:latin typeface="Bookman Old Style" panose="02050604050505020204" pitchFamily="18" charset="0"/>
                <a:cs typeface="Arial"/>
                <a:sym typeface="Arial"/>
              </a:rPr>
              <a:t>Correction elements:</a:t>
            </a:r>
          </a:p>
          <a:p>
            <a:pPr algn="just" defTabSz="1219170">
              <a:buClr>
                <a:srgbClr val="000000"/>
              </a:buClr>
            </a:pPr>
            <a:r>
              <a:rPr lang="en-US" sz="2000" b="1" kern="0" dirty="0">
                <a:solidFill>
                  <a:srgbClr val="000000"/>
                </a:solidFill>
                <a:latin typeface="Bookman Old Style" panose="02050604050505020204" pitchFamily="18" charset="0"/>
                <a:cs typeface="Arial"/>
                <a:sym typeface="Arial"/>
              </a:rPr>
              <a:t>1. Drum: </a:t>
            </a:r>
            <a:r>
              <a:rPr lang="en-US" sz="2000" kern="0" dirty="0">
                <a:solidFill>
                  <a:srgbClr val="000000"/>
                </a:solidFill>
                <a:latin typeface="Bookman Old Style" panose="02050604050505020204" pitchFamily="18" charset="0"/>
                <a:cs typeface="Arial"/>
                <a:sym typeface="Arial"/>
              </a:rPr>
              <a:t>It is the part of the machine where clothes are placed for cleaning. The  design and function contributes to the effectiveness of washing</a:t>
            </a:r>
          </a:p>
          <a:p>
            <a:pPr algn="just" defTabSz="1219170">
              <a:buClr>
                <a:srgbClr val="000000"/>
              </a:buClr>
            </a:pPr>
            <a:r>
              <a:rPr lang="en-US" sz="2000" b="1" kern="0" dirty="0">
                <a:solidFill>
                  <a:srgbClr val="000000"/>
                </a:solidFill>
                <a:latin typeface="Bookman Old Style" panose="02050604050505020204" pitchFamily="18" charset="0"/>
                <a:cs typeface="Arial"/>
                <a:sym typeface="Arial"/>
              </a:rPr>
              <a:t>2. Valves:</a:t>
            </a:r>
            <a:r>
              <a:rPr lang="en-US" sz="2000" kern="0" dirty="0">
                <a:solidFill>
                  <a:srgbClr val="000000"/>
                </a:solidFill>
                <a:latin typeface="Bookman Old Style" panose="02050604050505020204" pitchFamily="18" charset="0"/>
                <a:cs typeface="Arial"/>
                <a:sym typeface="Arial"/>
              </a:rPr>
              <a:t> play a crucial role in controlling the </a:t>
            </a:r>
            <a:r>
              <a:rPr lang="en-US" sz="2000" kern="0" dirty="0">
                <a:solidFill>
                  <a:srgbClr val="0070C0"/>
                </a:solidFill>
                <a:latin typeface="Bookman Old Style" panose="02050604050505020204" pitchFamily="18" charset="0"/>
                <a:cs typeface="Arial"/>
                <a:sym typeface="Arial"/>
              </a:rPr>
              <a:t>flow of water </a:t>
            </a:r>
            <a:r>
              <a:rPr lang="en-US" sz="2000" kern="0" dirty="0">
                <a:solidFill>
                  <a:srgbClr val="000000"/>
                </a:solidFill>
                <a:latin typeface="Bookman Old Style" panose="02050604050505020204" pitchFamily="18" charset="0"/>
                <a:cs typeface="Arial"/>
                <a:sym typeface="Arial"/>
              </a:rPr>
              <a:t>into and out of the machine. There are generally two types of valves involved: the water inlet valve and the drain valve.</a:t>
            </a:r>
          </a:p>
          <a:p>
            <a:pPr marL="502602" marR="6773" lvl="3" indent="-502602" algn="just" defTabSz="2010411" eaLnBrk="0" fontAlgn="base" hangingPunct="0">
              <a:spcBef>
                <a:spcPts val="800"/>
              </a:spcBef>
              <a:buClr>
                <a:srgbClr val="000000"/>
              </a:buClr>
              <a:buBlip>
                <a:blip r:embed="rId3"/>
              </a:buBlip>
              <a:defRPr/>
            </a:pPr>
            <a:r>
              <a:rPr lang="en-US" sz="2000" kern="0" dirty="0">
                <a:solidFill>
                  <a:srgbClr val="0070C0"/>
                </a:solidFill>
                <a:latin typeface="Bookman Old Style" panose="02050604050505020204" pitchFamily="18" charset="0"/>
                <a:cs typeface="Andalus" pitchFamily="18" charset="-78"/>
                <a:sym typeface="Arial"/>
              </a:rPr>
              <a:t>Water valve</a:t>
            </a:r>
            <a:r>
              <a:rPr lang="en-US" sz="2000" kern="0" dirty="0">
                <a:solidFill>
                  <a:srgbClr val="000000"/>
                </a:solidFill>
                <a:latin typeface="Bookman Old Style" panose="02050604050505020204" pitchFamily="18" charset="0"/>
                <a:cs typeface="Andalus" pitchFamily="18" charset="-78"/>
                <a:sym typeface="Arial"/>
              </a:rPr>
              <a:t>:- The water inlet valve is responsible for controlling the flow of water into the washing machine. </a:t>
            </a:r>
          </a:p>
          <a:p>
            <a:pPr marL="502602" marR="6773" lvl="3" indent="-502602" algn="just" defTabSz="2010411" eaLnBrk="0" fontAlgn="base" hangingPunct="0">
              <a:spcBef>
                <a:spcPts val="800"/>
              </a:spcBef>
              <a:buClr>
                <a:srgbClr val="000000"/>
              </a:buClr>
              <a:buBlip>
                <a:blip r:embed="rId3"/>
              </a:buBlip>
              <a:defRPr/>
            </a:pPr>
            <a:r>
              <a:rPr lang="en-US" sz="2000" kern="0" dirty="0">
                <a:solidFill>
                  <a:srgbClr val="0070C0"/>
                </a:solidFill>
                <a:latin typeface="Bookman Old Style" panose="02050604050505020204" pitchFamily="18" charset="0"/>
                <a:cs typeface="Andalus" pitchFamily="18" charset="-78"/>
                <a:sym typeface="Arial"/>
              </a:rPr>
              <a:t>Drain valve</a:t>
            </a:r>
            <a:r>
              <a:rPr lang="en-US" sz="2000" kern="0" dirty="0">
                <a:solidFill>
                  <a:srgbClr val="000000"/>
                </a:solidFill>
                <a:latin typeface="Bookman Old Style" panose="02050604050505020204" pitchFamily="18" charset="0"/>
                <a:cs typeface="Andalus" pitchFamily="18" charset="-78"/>
                <a:sym typeface="Arial"/>
              </a:rPr>
              <a:t>:- The drain valve is responsible for removing used water from the washing machine after the washing and rinsing cycles.</a:t>
            </a:r>
          </a:p>
          <a:p>
            <a:pPr algn="just" defTabSz="1219170">
              <a:buClr>
                <a:srgbClr val="000000"/>
              </a:buClr>
            </a:pPr>
            <a:r>
              <a:rPr lang="en-US" sz="2000" b="1" kern="0" dirty="0">
                <a:solidFill>
                  <a:srgbClr val="000000"/>
                </a:solidFill>
                <a:latin typeface="Bookman Old Style" panose="02050604050505020204" pitchFamily="18" charset="0"/>
                <a:cs typeface="Arial"/>
                <a:sym typeface="Arial"/>
              </a:rPr>
              <a:t>3. Heater: </a:t>
            </a:r>
            <a:r>
              <a:rPr lang="en-US" sz="2000" kern="0" dirty="0">
                <a:solidFill>
                  <a:srgbClr val="000000"/>
                </a:solidFill>
                <a:latin typeface="Bookman Old Style" panose="02050604050505020204" pitchFamily="18" charset="0"/>
                <a:cs typeface="Arial"/>
                <a:sym typeface="Arial"/>
              </a:rPr>
              <a:t>the heater in an automatic washing machine contributes significantly to the </a:t>
            </a:r>
            <a:r>
              <a:rPr lang="en-US" sz="2000" kern="0" dirty="0">
                <a:solidFill>
                  <a:srgbClr val="0070C0"/>
                </a:solidFill>
                <a:latin typeface="Bookman Old Style" panose="02050604050505020204" pitchFamily="18" charset="0"/>
                <a:cs typeface="Arial"/>
                <a:sym typeface="Arial"/>
              </a:rPr>
              <a:t>cleaning efficiency</a:t>
            </a:r>
            <a:r>
              <a:rPr lang="en-US" sz="2000" kern="0" dirty="0">
                <a:solidFill>
                  <a:srgbClr val="000000"/>
                </a:solidFill>
                <a:latin typeface="Bookman Old Style" panose="02050604050505020204" pitchFamily="18" charset="0"/>
                <a:cs typeface="Arial"/>
                <a:sym typeface="Arial"/>
              </a:rPr>
              <a:t> and versatility of the appliance. It allows users to customize their washing experience by selecting the </a:t>
            </a:r>
            <a:r>
              <a:rPr lang="en-US" sz="2000" kern="0" dirty="0">
                <a:solidFill>
                  <a:srgbClr val="0070C0"/>
                </a:solidFill>
                <a:latin typeface="Bookman Old Style" panose="02050604050505020204" pitchFamily="18" charset="0"/>
                <a:cs typeface="Arial"/>
                <a:sym typeface="Arial"/>
              </a:rPr>
              <a:t>appropriate water temperature for different types of clothes</a:t>
            </a:r>
            <a:r>
              <a:rPr lang="en-US" sz="2000" kern="0" dirty="0">
                <a:solidFill>
                  <a:srgbClr val="000000"/>
                </a:solidFill>
                <a:latin typeface="Bookman Old Style" panose="02050604050505020204" pitchFamily="18" charset="0"/>
                <a:cs typeface="Arial"/>
                <a:sym typeface="Arial"/>
              </a:rPr>
              <a:t> and laundry requirements.</a:t>
            </a:r>
          </a:p>
          <a:p>
            <a:pPr algn="just" defTabSz="1219170">
              <a:buClr>
                <a:srgbClr val="000000"/>
              </a:buClr>
            </a:pPr>
            <a:r>
              <a:rPr lang="en-US" sz="2000" b="1" kern="0" dirty="0">
                <a:solidFill>
                  <a:srgbClr val="000000"/>
                </a:solidFill>
                <a:latin typeface="Bookman Old Style" panose="02050604050505020204" pitchFamily="18" charset="0"/>
                <a:cs typeface="Arial"/>
                <a:sym typeface="Arial"/>
              </a:rPr>
              <a:t>4. Motor: </a:t>
            </a:r>
            <a:r>
              <a:rPr lang="en-US" sz="2000" kern="0" dirty="0">
                <a:solidFill>
                  <a:srgbClr val="000000"/>
                </a:solidFill>
                <a:latin typeface="Bookman Old Style" panose="02050604050505020204" pitchFamily="18" charset="0"/>
                <a:cs typeface="Arial"/>
                <a:sym typeface="Arial"/>
              </a:rPr>
              <a:t>Its primary role is to provide the </a:t>
            </a:r>
            <a:r>
              <a:rPr lang="en-US" sz="2000" kern="0" dirty="0">
                <a:solidFill>
                  <a:srgbClr val="0070C0"/>
                </a:solidFill>
                <a:latin typeface="Bookman Old Style" panose="02050604050505020204" pitchFamily="18" charset="0"/>
                <a:cs typeface="Arial"/>
                <a:sym typeface="Arial"/>
              </a:rPr>
              <a:t>necessary power to move and control the motion of different parts </a:t>
            </a:r>
            <a:r>
              <a:rPr lang="en-US" sz="2000" kern="0" dirty="0">
                <a:solidFill>
                  <a:srgbClr val="000000"/>
                </a:solidFill>
                <a:latin typeface="Bookman Old Style" panose="02050604050505020204" pitchFamily="18" charset="0"/>
                <a:cs typeface="Arial"/>
                <a:sym typeface="Arial"/>
              </a:rPr>
              <a:t>of the washing machine.</a:t>
            </a:r>
            <a:endParaRPr lang="en-IN" sz="2000" kern="0" dirty="0">
              <a:solidFill>
                <a:srgbClr val="000000"/>
              </a:solidFill>
              <a:latin typeface="Bookman Old Style" panose="02050604050505020204" pitchFamily="18" charset="0"/>
              <a:cs typeface="Arial"/>
              <a:sym typeface="Arial"/>
            </a:endParaRPr>
          </a:p>
        </p:txBody>
      </p:sp>
    </p:spTree>
    <p:extLst>
      <p:ext uri="{BB962C8B-B14F-4D97-AF65-F5344CB8AC3E}">
        <p14:creationId xmlns:p14="http://schemas.microsoft.com/office/powerpoint/2010/main" val="365870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34C5673E-40CE-F21F-6A22-B59D90CDC47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74276F4-6DD3-BF07-F470-9F28A2818E67}"/>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Automatic  Washing Machine</a:t>
            </a:r>
          </a:p>
        </p:txBody>
      </p:sp>
      <p:sp>
        <p:nvSpPr>
          <p:cNvPr id="5" name="TextBox 4">
            <a:extLst>
              <a:ext uri="{FF2B5EF4-FFF2-40B4-BE49-F238E27FC236}">
                <a16:creationId xmlns:a16="http://schemas.microsoft.com/office/drawing/2014/main" id="{AC70D4E9-3F56-D698-9761-502F8ADF53C6}"/>
              </a:ext>
            </a:extLst>
          </p:cNvPr>
          <p:cNvSpPr txBox="1"/>
          <p:nvPr/>
        </p:nvSpPr>
        <p:spPr>
          <a:xfrm>
            <a:off x="264404" y="2010934"/>
            <a:ext cx="3151896" cy="3252878"/>
          </a:xfrm>
          <a:prstGeom prst="rect">
            <a:avLst/>
          </a:prstGeom>
          <a:noFill/>
        </p:spPr>
        <p:txBody>
          <a:bodyPr wrap="square">
            <a:spAutoFit/>
          </a:bodyPr>
          <a:lstStyle/>
          <a:p>
            <a:pPr algn="just" defTabSz="1219170">
              <a:buClr>
                <a:srgbClr val="000000"/>
              </a:buClr>
            </a:pPr>
            <a:r>
              <a:rPr lang="en-US" sz="1867" b="1" kern="0" dirty="0">
                <a:solidFill>
                  <a:srgbClr val="000000"/>
                </a:solidFill>
                <a:latin typeface="Bookman Old Style" panose="02050604050505020204" pitchFamily="18" charset="0"/>
                <a:cs typeface="Arial"/>
                <a:sym typeface="Arial"/>
              </a:rPr>
              <a:t>Process:</a:t>
            </a:r>
          </a:p>
          <a:p>
            <a:pPr algn="just" defTabSz="1219170">
              <a:buClr>
                <a:srgbClr val="000000"/>
              </a:buClr>
            </a:pPr>
            <a:r>
              <a:rPr lang="en-US" sz="1867" kern="0" dirty="0">
                <a:solidFill>
                  <a:srgbClr val="000000"/>
                </a:solidFill>
                <a:latin typeface="Bookman Old Style" panose="02050604050505020204" pitchFamily="18" charset="0"/>
                <a:cs typeface="Arial"/>
                <a:sym typeface="Arial"/>
              </a:rPr>
              <a:t>1. Loading</a:t>
            </a:r>
          </a:p>
          <a:p>
            <a:pPr algn="just" defTabSz="1219170">
              <a:buClr>
                <a:srgbClr val="000000"/>
              </a:buClr>
            </a:pPr>
            <a:r>
              <a:rPr lang="en-US" sz="1867" kern="0" dirty="0">
                <a:solidFill>
                  <a:srgbClr val="000000"/>
                </a:solidFill>
                <a:latin typeface="Bookman Old Style" panose="02050604050505020204" pitchFamily="18" charset="0"/>
                <a:cs typeface="Arial"/>
                <a:sym typeface="Arial"/>
              </a:rPr>
              <a:t>2. Detergent Dispensing</a:t>
            </a:r>
          </a:p>
          <a:p>
            <a:pPr algn="just" defTabSz="1219170">
              <a:buClr>
                <a:srgbClr val="000000"/>
              </a:buClr>
            </a:pPr>
            <a:r>
              <a:rPr lang="en-US" sz="1867" kern="0" dirty="0">
                <a:solidFill>
                  <a:srgbClr val="000000"/>
                </a:solidFill>
                <a:latin typeface="Bookman Old Style" panose="02050604050505020204" pitchFamily="18" charset="0"/>
                <a:cs typeface="Arial"/>
                <a:sym typeface="Arial"/>
              </a:rPr>
              <a:t>3. Water Inlet</a:t>
            </a:r>
          </a:p>
          <a:p>
            <a:pPr algn="just" defTabSz="1219170">
              <a:buClr>
                <a:srgbClr val="000000"/>
              </a:buClr>
            </a:pPr>
            <a:r>
              <a:rPr lang="en-IN" sz="1867" kern="0" dirty="0">
                <a:solidFill>
                  <a:srgbClr val="000000"/>
                </a:solidFill>
                <a:latin typeface="Bookman Old Style" panose="02050604050505020204" pitchFamily="18" charset="0"/>
                <a:cs typeface="Arial"/>
                <a:sym typeface="Arial"/>
              </a:rPr>
              <a:t>4. Agitation</a:t>
            </a:r>
          </a:p>
          <a:p>
            <a:pPr algn="just" defTabSz="1219170">
              <a:buClr>
                <a:srgbClr val="000000"/>
              </a:buClr>
            </a:pPr>
            <a:r>
              <a:rPr lang="en-IN" sz="1867" kern="0" dirty="0">
                <a:solidFill>
                  <a:srgbClr val="000000"/>
                </a:solidFill>
                <a:latin typeface="Bookman Old Style" panose="02050604050505020204" pitchFamily="18" charset="0"/>
                <a:cs typeface="Arial"/>
                <a:sym typeface="Arial"/>
              </a:rPr>
              <a:t>5. Soaking</a:t>
            </a:r>
          </a:p>
          <a:p>
            <a:pPr algn="just" defTabSz="1219170">
              <a:buClr>
                <a:srgbClr val="000000"/>
              </a:buClr>
            </a:pPr>
            <a:r>
              <a:rPr lang="en-IN" sz="1867" kern="0" dirty="0">
                <a:solidFill>
                  <a:srgbClr val="000000"/>
                </a:solidFill>
                <a:latin typeface="Bookman Old Style" panose="02050604050505020204" pitchFamily="18" charset="0"/>
                <a:cs typeface="Arial"/>
                <a:sym typeface="Arial"/>
              </a:rPr>
              <a:t>6. Drainage</a:t>
            </a:r>
          </a:p>
          <a:p>
            <a:pPr algn="just" defTabSz="1219170">
              <a:buClr>
                <a:srgbClr val="000000"/>
              </a:buClr>
            </a:pPr>
            <a:r>
              <a:rPr lang="en-IN" sz="1867" kern="0" dirty="0">
                <a:solidFill>
                  <a:srgbClr val="000000"/>
                </a:solidFill>
                <a:latin typeface="Bookman Old Style" panose="02050604050505020204" pitchFamily="18" charset="0"/>
                <a:cs typeface="Arial"/>
                <a:sym typeface="Arial"/>
              </a:rPr>
              <a:t>7. Rinse Cycle</a:t>
            </a:r>
          </a:p>
          <a:p>
            <a:pPr algn="just" defTabSz="1219170">
              <a:buClr>
                <a:srgbClr val="000000"/>
              </a:buClr>
            </a:pPr>
            <a:r>
              <a:rPr lang="en-IN" sz="1867" kern="0" dirty="0">
                <a:solidFill>
                  <a:srgbClr val="000000"/>
                </a:solidFill>
                <a:latin typeface="Bookman Old Style" panose="02050604050505020204" pitchFamily="18" charset="0"/>
                <a:cs typeface="Arial"/>
                <a:sym typeface="Arial"/>
              </a:rPr>
              <a:t>8. Drainage (Again)</a:t>
            </a:r>
          </a:p>
          <a:p>
            <a:pPr algn="just" defTabSz="1219170">
              <a:buClr>
                <a:srgbClr val="000000"/>
              </a:buClr>
            </a:pPr>
            <a:r>
              <a:rPr lang="en-IN" sz="1867" kern="0" dirty="0">
                <a:solidFill>
                  <a:srgbClr val="000000"/>
                </a:solidFill>
                <a:latin typeface="Bookman Old Style" panose="02050604050505020204" pitchFamily="18" charset="0"/>
                <a:cs typeface="Arial"/>
                <a:sym typeface="Arial"/>
              </a:rPr>
              <a:t>9. Spin Cycle</a:t>
            </a:r>
          </a:p>
          <a:p>
            <a:pPr algn="just" defTabSz="1219170">
              <a:buClr>
                <a:srgbClr val="000000"/>
              </a:buClr>
            </a:pPr>
            <a:r>
              <a:rPr lang="en-IN" sz="1867" kern="0" dirty="0">
                <a:solidFill>
                  <a:srgbClr val="000000"/>
                </a:solidFill>
                <a:latin typeface="Bookman Old Style" panose="02050604050505020204" pitchFamily="18" charset="0"/>
                <a:cs typeface="Arial"/>
                <a:sym typeface="Arial"/>
              </a:rPr>
              <a:t>10. End of cycle</a:t>
            </a:r>
          </a:p>
        </p:txBody>
      </p:sp>
      <p:sp>
        <p:nvSpPr>
          <p:cNvPr id="4" name="TextBox 3">
            <a:extLst>
              <a:ext uri="{FF2B5EF4-FFF2-40B4-BE49-F238E27FC236}">
                <a16:creationId xmlns:a16="http://schemas.microsoft.com/office/drawing/2014/main" id="{EF83CA03-E758-3D65-47B8-4B154264FE0D}"/>
              </a:ext>
            </a:extLst>
          </p:cNvPr>
          <p:cNvSpPr txBox="1"/>
          <p:nvPr/>
        </p:nvSpPr>
        <p:spPr>
          <a:xfrm>
            <a:off x="3225161" y="1337752"/>
            <a:ext cx="8231896" cy="4976812"/>
          </a:xfrm>
          <a:prstGeom prst="rect">
            <a:avLst/>
          </a:prstGeom>
          <a:noFill/>
        </p:spPr>
        <p:txBody>
          <a:bodyPr wrap="square">
            <a:spAutoFit/>
          </a:bodyPr>
          <a:lstStyle/>
          <a:p>
            <a:pPr algn="just" defTabSz="1219170">
              <a:buClr>
                <a:srgbClr val="000000"/>
              </a:buClr>
            </a:pPr>
            <a:r>
              <a:rPr lang="en-IN" sz="1867" b="1" kern="0" dirty="0">
                <a:solidFill>
                  <a:srgbClr val="000000"/>
                </a:solidFill>
                <a:latin typeface="Bookman Old Style" panose="02050604050505020204" pitchFamily="18" charset="0"/>
                <a:cs typeface="Arial"/>
                <a:sym typeface="Arial"/>
              </a:rPr>
              <a:t>Outputs:</a:t>
            </a:r>
          </a:p>
          <a:p>
            <a:pPr algn="just" defTabSz="1219170">
              <a:buClr>
                <a:srgbClr val="000000"/>
              </a:buClr>
            </a:pPr>
            <a:r>
              <a:rPr lang="en-US" sz="1867" kern="0" dirty="0">
                <a:solidFill>
                  <a:srgbClr val="000000"/>
                </a:solidFill>
                <a:latin typeface="Bookman Old Style" panose="02050604050505020204" pitchFamily="18" charset="0"/>
                <a:cs typeface="Arial"/>
                <a:sym typeface="Arial"/>
              </a:rPr>
              <a:t>1. </a:t>
            </a:r>
            <a:r>
              <a:rPr lang="en-US" sz="1867" b="1" kern="0" dirty="0">
                <a:solidFill>
                  <a:srgbClr val="000000"/>
                </a:solidFill>
                <a:latin typeface="Bookman Old Style" panose="02050604050505020204" pitchFamily="18" charset="0"/>
                <a:cs typeface="Arial"/>
                <a:sym typeface="Arial"/>
              </a:rPr>
              <a:t>Door closed</a:t>
            </a:r>
            <a:r>
              <a:rPr lang="en-US" sz="1867" kern="0" dirty="0">
                <a:solidFill>
                  <a:srgbClr val="000000"/>
                </a:solidFill>
                <a:latin typeface="Bookman Old Style" panose="02050604050505020204" pitchFamily="18" charset="0"/>
                <a:cs typeface="Arial"/>
                <a:sym typeface="Arial"/>
              </a:rPr>
              <a:t>:- the door of the washing machine must be closed because it helps in </a:t>
            </a:r>
            <a:r>
              <a:rPr lang="en-US" sz="1867" kern="0" dirty="0">
                <a:solidFill>
                  <a:srgbClr val="0070C0"/>
                </a:solidFill>
                <a:latin typeface="Bookman Old Style" panose="02050604050505020204" pitchFamily="18" charset="0"/>
                <a:cs typeface="Arial"/>
                <a:sym typeface="Arial"/>
              </a:rPr>
              <a:t>water containment, user safety ,temperature safety and operational safety.</a:t>
            </a:r>
          </a:p>
          <a:p>
            <a:pPr algn="just" defTabSz="1219170">
              <a:buClr>
                <a:srgbClr val="000000"/>
              </a:buClr>
            </a:pPr>
            <a:r>
              <a:rPr lang="en-US" sz="1867" kern="0" dirty="0">
                <a:solidFill>
                  <a:srgbClr val="000000"/>
                </a:solidFill>
                <a:latin typeface="Bookman Old Style" panose="02050604050505020204" pitchFamily="18" charset="0"/>
                <a:cs typeface="Arial"/>
                <a:sym typeface="Arial"/>
              </a:rPr>
              <a:t>2. </a:t>
            </a:r>
            <a:r>
              <a:rPr lang="en-US" sz="1867" b="1" kern="0" dirty="0">
                <a:solidFill>
                  <a:srgbClr val="000000"/>
                </a:solidFill>
                <a:latin typeface="Bookman Old Style" panose="02050604050505020204" pitchFamily="18" charset="0"/>
                <a:cs typeface="Arial"/>
                <a:sym typeface="Arial"/>
              </a:rPr>
              <a:t>Drum speed</a:t>
            </a:r>
            <a:r>
              <a:rPr lang="en-US" sz="1867" kern="0" dirty="0">
                <a:solidFill>
                  <a:srgbClr val="000000"/>
                </a:solidFill>
                <a:latin typeface="Bookman Old Style" panose="02050604050505020204" pitchFamily="18" charset="0"/>
                <a:cs typeface="Arial"/>
                <a:sym typeface="Arial"/>
              </a:rPr>
              <a:t>:- . The speed of the drum is controlled by the washing machine's </a:t>
            </a:r>
            <a:r>
              <a:rPr lang="en-US" sz="1867" kern="0" dirty="0">
                <a:solidFill>
                  <a:srgbClr val="0070C0"/>
                </a:solidFill>
                <a:latin typeface="Bookman Old Style" panose="02050604050505020204" pitchFamily="18" charset="0"/>
                <a:cs typeface="Arial"/>
                <a:sym typeface="Arial"/>
              </a:rPr>
              <a:t>motor</a:t>
            </a:r>
            <a:r>
              <a:rPr lang="en-US" sz="1867" kern="0" dirty="0">
                <a:solidFill>
                  <a:srgbClr val="000000"/>
                </a:solidFill>
                <a:latin typeface="Bookman Old Style" panose="02050604050505020204" pitchFamily="18" charset="0"/>
                <a:cs typeface="Arial"/>
                <a:sym typeface="Arial"/>
              </a:rPr>
              <a:t>, and it can vary during different phases of the washing cycle and also the drum speed may be changed </a:t>
            </a:r>
            <a:r>
              <a:rPr lang="en-US" sz="1867" kern="0" dirty="0">
                <a:solidFill>
                  <a:srgbClr val="0070C0"/>
                </a:solidFill>
                <a:latin typeface="Bookman Old Style" panose="02050604050505020204" pitchFamily="18" charset="0"/>
                <a:cs typeface="Arial"/>
                <a:sym typeface="Arial"/>
              </a:rPr>
              <a:t>depending upon the fabrics </a:t>
            </a:r>
            <a:r>
              <a:rPr lang="en-US" sz="1867" kern="0" dirty="0">
                <a:solidFill>
                  <a:srgbClr val="000000"/>
                </a:solidFill>
                <a:latin typeface="Bookman Old Style" panose="02050604050505020204" pitchFamily="18" charset="0"/>
                <a:cs typeface="Arial"/>
                <a:sym typeface="Arial"/>
              </a:rPr>
              <a:t>that are being </a:t>
            </a:r>
            <a:r>
              <a:rPr lang="en-IN" sz="1867" kern="0" dirty="0">
                <a:solidFill>
                  <a:srgbClr val="000000"/>
                </a:solidFill>
                <a:latin typeface="Bookman Old Style" panose="02050604050505020204" pitchFamily="18" charset="0"/>
                <a:cs typeface="Arial"/>
                <a:sym typeface="Arial"/>
              </a:rPr>
              <a:t>washed.</a:t>
            </a:r>
          </a:p>
          <a:p>
            <a:pPr algn="just" defTabSz="1219170">
              <a:buClr>
                <a:srgbClr val="000000"/>
              </a:buClr>
            </a:pPr>
            <a:r>
              <a:rPr lang="en-US" sz="1867" kern="0" dirty="0">
                <a:solidFill>
                  <a:srgbClr val="000000"/>
                </a:solidFill>
                <a:latin typeface="Bookman Old Style" panose="02050604050505020204" pitchFamily="18" charset="0"/>
                <a:cs typeface="Arial"/>
                <a:sym typeface="Arial"/>
              </a:rPr>
              <a:t>3. </a:t>
            </a:r>
            <a:r>
              <a:rPr lang="en-US" sz="1867" b="1" kern="0" dirty="0">
                <a:solidFill>
                  <a:srgbClr val="000000"/>
                </a:solidFill>
                <a:latin typeface="Bookman Old Style" panose="02050604050505020204" pitchFamily="18" charset="0"/>
                <a:cs typeface="Arial"/>
                <a:sym typeface="Arial"/>
              </a:rPr>
              <a:t>Water temperature</a:t>
            </a:r>
            <a:r>
              <a:rPr lang="en-US" sz="1867" kern="0" dirty="0">
                <a:solidFill>
                  <a:srgbClr val="000000"/>
                </a:solidFill>
                <a:latin typeface="Bookman Old Style" panose="02050604050505020204" pitchFamily="18" charset="0"/>
                <a:cs typeface="Arial"/>
                <a:sym typeface="Arial"/>
              </a:rPr>
              <a:t>:- the water temperature in an automatic washing machine is a versatile tool that users can leverage to </a:t>
            </a:r>
            <a:r>
              <a:rPr lang="en-US" sz="1867" kern="0" dirty="0">
                <a:solidFill>
                  <a:srgbClr val="0070C0"/>
                </a:solidFill>
                <a:latin typeface="Bookman Old Style" panose="02050604050505020204" pitchFamily="18" charset="0"/>
                <a:cs typeface="Arial"/>
                <a:sym typeface="Arial"/>
              </a:rPr>
              <a:t>achieve the desired cleaning results </a:t>
            </a:r>
            <a:r>
              <a:rPr lang="en-US" sz="1867" kern="0" dirty="0">
                <a:solidFill>
                  <a:srgbClr val="000000"/>
                </a:solidFill>
                <a:latin typeface="Bookman Old Style" panose="02050604050505020204" pitchFamily="18" charset="0"/>
                <a:cs typeface="Arial"/>
                <a:sym typeface="Arial"/>
              </a:rPr>
              <a:t>while considering factors such as </a:t>
            </a:r>
            <a:r>
              <a:rPr lang="en-US" sz="1867" kern="0" dirty="0">
                <a:solidFill>
                  <a:srgbClr val="0070C0"/>
                </a:solidFill>
                <a:latin typeface="Bookman Old Style" panose="02050604050505020204" pitchFamily="18" charset="0"/>
                <a:cs typeface="Arial"/>
                <a:sym typeface="Arial"/>
              </a:rPr>
              <a:t>stain removal, fabric care, energy efficiency</a:t>
            </a:r>
            <a:r>
              <a:rPr lang="en-US" sz="1867" kern="0" dirty="0">
                <a:solidFill>
                  <a:srgbClr val="000000"/>
                </a:solidFill>
                <a:latin typeface="Bookman Old Style" panose="02050604050505020204" pitchFamily="18" charset="0"/>
                <a:cs typeface="Arial"/>
                <a:sym typeface="Arial"/>
              </a:rPr>
              <a:t>, and the specific needs of different types </a:t>
            </a:r>
            <a:r>
              <a:rPr lang="en-IN" sz="1867" kern="0" dirty="0">
                <a:solidFill>
                  <a:srgbClr val="000000"/>
                </a:solidFill>
                <a:latin typeface="Bookman Old Style" panose="02050604050505020204" pitchFamily="18" charset="0"/>
                <a:cs typeface="Arial"/>
                <a:sym typeface="Arial"/>
              </a:rPr>
              <a:t>of laundry loads.</a:t>
            </a:r>
          </a:p>
          <a:p>
            <a:pPr algn="just" defTabSz="1219170">
              <a:buClr>
                <a:srgbClr val="000000"/>
              </a:buClr>
            </a:pPr>
            <a:r>
              <a:rPr lang="en-US" sz="1867" kern="0" dirty="0">
                <a:solidFill>
                  <a:srgbClr val="000000"/>
                </a:solidFill>
                <a:latin typeface="Bookman Old Style" panose="02050604050505020204" pitchFamily="18" charset="0"/>
                <a:cs typeface="Arial"/>
                <a:sym typeface="Arial"/>
              </a:rPr>
              <a:t>4. </a:t>
            </a:r>
            <a:r>
              <a:rPr lang="en-US" sz="1867" b="1" kern="0" dirty="0">
                <a:solidFill>
                  <a:srgbClr val="000000"/>
                </a:solidFill>
                <a:latin typeface="Bookman Old Style" panose="02050604050505020204" pitchFamily="18" charset="0"/>
                <a:cs typeface="Arial"/>
                <a:sym typeface="Arial"/>
              </a:rPr>
              <a:t>Water level</a:t>
            </a:r>
            <a:r>
              <a:rPr lang="en-US" sz="1867" kern="0" dirty="0">
                <a:solidFill>
                  <a:srgbClr val="000000"/>
                </a:solidFill>
                <a:latin typeface="Bookman Old Style" panose="02050604050505020204" pitchFamily="18" charset="0"/>
                <a:cs typeface="Arial"/>
                <a:sym typeface="Arial"/>
              </a:rPr>
              <a:t>:- the water level in an automatic washing machine is a key parameter that users can adjust to </a:t>
            </a:r>
            <a:r>
              <a:rPr lang="en-US" sz="1867" kern="0" dirty="0">
                <a:solidFill>
                  <a:srgbClr val="0070C0"/>
                </a:solidFill>
                <a:latin typeface="Bookman Old Style" panose="02050604050505020204" pitchFamily="18" charset="0"/>
                <a:cs typeface="Arial"/>
                <a:sym typeface="Arial"/>
              </a:rPr>
              <a:t>optimize cleaning performance, water efficiency, and energy efficiency</a:t>
            </a:r>
            <a:r>
              <a:rPr lang="en-US" sz="1867" kern="0" dirty="0">
                <a:solidFill>
                  <a:srgbClr val="000000"/>
                </a:solidFill>
                <a:latin typeface="Bookman Old Style" panose="02050604050505020204" pitchFamily="18" charset="0"/>
                <a:cs typeface="Arial"/>
                <a:sym typeface="Arial"/>
              </a:rPr>
              <a:t>. Maintaining correct water level prevents water leakage and overloading.</a:t>
            </a:r>
            <a:endParaRPr lang="en-IN" sz="1867" kern="0" dirty="0">
              <a:solidFill>
                <a:srgbClr val="000000"/>
              </a:solidFill>
              <a:latin typeface="Bookman Old Style" panose="02050604050505020204" pitchFamily="18" charset="0"/>
              <a:cs typeface="Arial"/>
              <a:sym typeface="Arial"/>
            </a:endParaRPr>
          </a:p>
        </p:txBody>
      </p:sp>
    </p:spTree>
    <p:extLst>
      <p:ext uri="{BB962C8B-B14F-4D97-AF65-F5344CB8AC3E}">
        <p14:creationId xmlns:p14="http://schemas.microsoft.com/office/powerpoint/2010/main" val="37973624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34C5673E-40CE-F21F-6A22-B59D90CDC47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74276F4-6DD3-BF07-F470-9F28A2818E67}"/>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Automatic  Washing Machine</a:t>
            </a:r>
          </a:p>
        </p:txBody>
      </p:sp>
      <p:sp>
        <p:nvSpPr>
          <p:cNvPr id="2" name="Rectangle 1">
            <a:extLst>
              <a:ext uri="{FF2B5EF4-FFF2-40B4-BE49-F238E27FC236}">
                <a16:creationId xmlns:a16="http://schemas.microsoft.com/office/drawing/2014/main" id="{5780DD8C-030B-4EF3-A9AB-BBAA746821AD}"/>
              </a:ext>
            </a:extLst>
          </p:cNvPr>
          <p:cNvSpPr/>
          <p:nvPr/>
        </p:nvSpPr>
        <p:spPr>
          <a:xfrm>
            <a:off x="623455" y="1291534"/>
            <a:ext cx="10972800" cy="4195123"/>
          </a:xfrm>
          <a:prstGeom prst="rect">
            <a:avLst/>
          </a:prstGeom>
        </p:spPr>
        <p:txBody>
          <a:bodyPr wrap="square">
            <a:spAutoFit/>
          </a:bodyPr>
          <a:lstStyle/>
          <a:p>
            <a:pPr algn="just">
              <a:lnSpc>
                <a:spcPct val="150000"/>
              </a:lnSpc>
            </a:pPr>
            <a:r>
              <a:rPr lang="en-IN" sz="2000" b="1" dirty="0">
                <a:latin typeface="Bookman Old Style" panose="02050604050505020204" pitchFamily="18" charset="0"/>
              </a:rPr>
              <a:t>Pre wash cycle  </a:t>
            </a:r>
            <a:r>
              <a:rPr lang="en-IN" sz="2000" dirty="0">
                <a:latin typeface="Bookman Old Style" panose="02050604050505020204" pitchFamily="18" charset="0"/>
              </a:rPr>
              <a:t>involves the following sequence of operations </a:t>
            </a:r>
          </a:p>
          <a:p>
            <a:pPr marL="342900" indent="-342900" algn="just">
              <a:lnSpc>
                <a:spcPct val="150000"/>
              </a:lnSpc>
              <a:buFont typeface="Arial" panose="020B0604020202020204" pitchFamily="34" charset="0"/>
              <a:buChar char="•"/>
            </a:pPr>
            <a:r>
              <a:rPr lang="en-IN" sz="2000" dirty="0">
                <a:latin typeface="Bookman Old Style" panose="02050604050505020204" pitchFamily="18" charset="0"/>
              </a:rPr>
              <a:t>Opening  the </a:t>
            </a:r>
            <a:r>
              <a:rPr lang="en-IN" sz="2000" dirty="0">
                <a:solidFill>
                  <a:srgbClr val="0070C0"/>
                </a:solidFill>
                <a:latin typeface="Bookman Old Style" panose="02050604050505020204" pitchFamily="18" charset="0"/>
              </a:rPr>
              <a:t>valve to fill the drum </a:t>
            </a:r>
            <a:r>
              <a:rPr lang="en-IN" sz="2000" dirty="0">
                <a:latin typeface="Bookman Old Style" panose="02050604050505020204" pitchFamily="18" charset="0"/>
              </a:rPr>
              <a:t>when a current is supplied </a:t>
            </a:r>
          </a:p>
          <a:p>
            <a:pPr marL="342900" indent="-342900" algn="just">
              <a:lnSpc>
                <a:spcPct val="150000"/>
              </a:lnSpc>
              <a:buFont typeface="Arial" panose="020B0604020202020204" pitchFamily="34" charset="0"/>
              <a:buChar char="•"/>
            </a:pPr>
            <a:r>
              <a:rPr lang="en-IN" sz="2000" dirty="0">
                <a:solidFill>
                  <a:srgbClr val="0070C0"/>
                </a:solidFill>
                <a:latin typeface="Bookman Old Style" panose="02050604050505020204" pitchFamily="18" charset="0"/>
              </a:rPr>
              <a:t>Microprocessor</a:t>
            </a:r>
            <a:r>
              <a:rPr lang="en-IN" sz="2000" dirty="0">
                <a:latin typeface="Bookman Old Style" panose="02050604050505020204" pitchFamily="18" charset="0"/>
              </a:rPr>
              <a:t> is used to </a:t>
            </a:r>
            <a:r>
              <a:rPr lang="en-IN" sz="2000" dirty="0">
                <a:solidFill>
                  <a:srgbClr val="0070C0"/>
                </a:solidFill>
                <a:latin typeface="Bookman Old Style" panose="02050604050505020204" pitchFamily="18" charset="0"/>
              </a:rPr>
              <a:t>operate the switch for opening and closing the valve </a:t>
            </a:r>
          </a:p>
          <a:p>
            <a:pPr marL="342900" indent="-342900" algn="just">
              <a:lnSpc>
                <a:spcPct val="150000"/>
              </a:lnSpc>
              <a:buFont typeface="Arial" panose="020B0604020202020204" pitchFamily="34" charset="0"/>
              <a:buChar char="•"/>
            </a:pPr>
            <a:r>
              <a:rPr lang="en-IN" sz="2000" dirty="0">
                <a:solidFill>
                  <a:srgbClr val="0070C0"/>
                </a:solidFill>
                <a:latin typeface="Bookman Old Style" panose="02050604050505020204" pitchFamily="18" charset="0"/>
              </a:rPr>
              <a:t>Closing the valve </a:t>
            </a:r>
            <a:r>
              <a:rPr lang="en-IN" sz="2000" dirty="0">
                <a:latin typeface="Bookman Old Style" panose="02050604050505020204" pitchFamily="18" charset="0"/>
              </a:rPr>
              <a:t>after receiving the signal from a </a:t>
            </a:r>
            <a:r>
              <a:rPr lang="en-IN" sz="2000" dirty="0">
                <a:solidFill>
                  <a:srgbClr val="0070C0"/>
                </a:solidFill>
                <a:latin typeface="Bookman Old Style" panose="02050604050505020204" pitchFamily="18" charset="0"/>
              </a:rPr>
              <a:t>sensor</a:t>
            </a:r>
            <a:r>
              <a:rPr lang="en-IN" sz="2000" dirty="0">
                <a:latin typeface="Bookman Old Style" panose="02050604050505020204" pitchFamily="18" charset="0"/>
              </a:rPr>
              <a:t> when the required level of water is filled in the washing drum </a:t>
            </a:r>
          </a:p>
          <a:p>
            <a:pPr marL="342900" indent="-342900" algn="just">
              <a:lnSpc>
                <a:spcPct val="150000"/>
              </a:lnSpc>
              <a:buFont typeface="Arial" panose="020B0604020202020204" pitchFamily="34" charset="0"/>
              <a:buChar char="•"/>
            </a:pPr>
            <a:r>
              <a:rPr lang="en-IN" sz="2000" dirty="0">
                <a:solidFill>
                  <a:srgbClr val="0070C0"/>
                </a:solidFill>
                <a:latin typeface="Bookman Old Style" panose="02050604050505020204" pitchFamily="18" charset="0"/>
              </a:rPr>
              <a:t>Stopping the flow of water </a:t>
            </a:r>
            <a:r>
              <a:rPr lang="en-IN" sz="2000" dirty="0">
                <a:latin typeface="Bookman Old Style" panose="02050604050505020204" pitchFamily="18" charset="0"/>
              </a:rPr>
              <a:t>after the current is switched off by </a:t>
            </a:r>
            <a:r>
              <a:rPr lang="en-IN" sz="2000" dirty="0">
                <a:solidFill>
                  <a:srgbClr val="0070C0"/>
                </a:solidFill>
                <a:latin typeface="Bookman Old Style" panose="02050604050505020204" pitchFamily="18" charset="0"/>
              </a:rPr>
              <a:t>the microprocessor </a:t>
            </a:r>
          </a:p>
          <a:p>
            <a:pPr marL="342900" indent="-342900" algn="just">
              <a:lnSpc>
                <a:spcPct val="150000"/>
              </a:lnSpc>
              <a:buFont typeface="Arial" panose="020B0604020202020204" pitchFamily="34" charset="0"/>
              <a:buChar char="•"/>
            </a:pPr>
            <a:r>
              <a:rPr lang="en-IN" sz="2000" dirty="0">
                <a:latin typeface="Bookman Old Style" panose="02050604050505020204" pitchFamily="18" charset="0"/>
              </a:rPr>
              <a:t>Switch on the </a:t>
            </a:r>
            <a:r>
              <a:rPr lang="en-IN" sz="2000" dirty="0">
                <a:solidFill>
                  <a:srgbClr val="0070C0"/>
                </a:solidFill>
                <a:latin typeface="Bookman Old Style" panose="02050604050505020204" pitchFamily="18" charset="0"/>
              </a:rPr>
              <a:t>motor </a:t>
            </a:r>
            <a:r>
              <a:rPr lang="en-IN" sz="2000" dirty="0">
                <a:latin typeface="Bookman Old Style" panose="02050604050505020204" pitchFamily="18" charset="0"/>
              </a:rPr>
              <a:t>to rotate </a:t>
            </a:r>
          </a:p>
          <a:p>
            <a:pPr marL="342900" indent="-342900" algn="just">
              <a:lnSpc>
                <a:spcPct val="150000"/>
              </a:lnSpc>
              <a:buFont typeface="Arial" panose="020B0604020202020204" pitchFamily="34" charset="0"/>
              <a:buChar char="•"/>
            </a:pPr>
            <a:r>
              <a:rPr lang="en-IN" sz="2000" dirty="0">
                <a:latin typeface="Bookman Old Style" panose="02050604050505020204" pitchFamily="18" charset="0"/>
              </a:rPr>
              <a:t>Initiate the </a:t>
            </a:r>
            <a:r>
              <a:rPr lang="en-IN" sz="2000" dirty="0">
                <a:solidFill>
                  <a:srgbClr val="0070C0"/>
                </a:solidFill>
                <a:latin typeface="Bookman Old Style" panose="02050604050505020204" pitchFamily="18" charset="0"/>
              </a:rPr>
              <a:t>operation of pump </a:t>
            </a:r>
            <a:r>
              <a:rPr lang="en-IN" sz="2000" dirty="0">
                <a:latin typeface="Bookman Old Style" panose="02050604050505020204" pitchFamily="18" charset="0"/>
              </a:rPr>
              <a:t>to empty the water from the drum </a:t>
            </a:r>
          </a:p>
          <a:p>
            <a:pPr marL="342900" indent="-342900" algn="just">
              <a:lnSpc>
                <a:spcPct val="150000"/>
              </a:lnSpc>
              <a:buFont typeface="Arial" panose="020B0604020202020204" pitchFamily="34" charset="0"/>
              <a:buChar char="•"/>
            </a:pPr>
            <a:r>
              <a:rPr lang="en-IN" sz="2000" dirty="0">
                <a:latin typeface="Bookman Old Style" panose="02050604050505020204" pitchFamily="18" charset="0"/>
              </a:rPr>
              <a:t>Pre wash cycle involves </a:t>
            </a:r>
            <a:r>
              <a:rPr lang="en-IN" sz="2000" dirty="0">
                <a:solidFill>
                  <a:srgbClr val="0070C0"/>
                </a:solidFill>
                <a:latin typeface="Bookman Old Style" panose="02050604050505020204" pitchFamily="18" charset="0"/>
              </a:rPr>
              <a:t>washing the clothes in the drum by cold water </a:t>
            </a:r>
          </a:p>
        </p:txBody>
      </p:sp>
    </p:spTree>
    <p:extLst>
      <p:ext uri="{BB962C8B-B14F-4D97-AF65-F5344CB8AC3E}">
        <p14:creationId xmlns:p14="http://schemas.microsoft.com/office/powerpoint/2010/main" val="26399327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34C5673E-40CE-F21F-6A22-B59D90CDC47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74276F4-6DD3-BF07-F470-9F28A2818E67}"/>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Automatic  Washing Machine</a:t>
            </a:r>
          </a:p>
        </p:txBody>
      </p:sp>
      <p:sp>
        <p:nvSpPr>
          <p:cNvPr id="2" name="Rectangle 1">
            <a:extLst>
              <a:ext uri="{FF2B5EF4-FFF2-40B4-BE49-F238E27FC236}">
                <a16:creationId xmlns:a16="http://schemas.microsoft.com/office/drawing/2014/main" id="{A25FC0D9-B843-4C11-927E-07FE9E745CDF}"/>
              </a:ext>
            </a:extLst>
          </p:cNvPr>
          <p:cNvSpPr/>
          <p:nvPr/>
        </p:nvSpPr>
        <p:spPr>
          <a:xfrm>
            <a:off x="775854" y="1249832"/>
            <a:ext cx="11139055" cy="3733458"/>
          </a:xfrm>
          <a:prstGeom prst="rect">
            <a:avLst/>
          </a:prstGeom>
        </p:spPr>
        <p:txBody>
          <a:bodyPr wrap="square">
            <a:spAutoFit/>
          </a:bodyPr>
          <a:lstStyle/>
          <a:p>
            <a:pPr algn="just">
              <a:lnSpc>
                <a:spcPct val="150000"/>
              </a:lnSpc>
            </a:pPr>
            <a:r>
              <a:rPr lang="en-IN" sz="2000" b="1" dirty="0">
                <a:latin typeface="Bookman Old Style" panose="02050604050505020204" pitchFamily="18" charset="0"/>
              </a:rPr>
              <a:t>Main wash cycle </a:t>
            </a:r>
            <a:r>
              <a:rPr lang="en-IN" sz="2000" dirty="0">
                <a:latin typeface="Bookman Old Style" panose="02050604050505020204" pitchFamily="18" charset="0"/>
              </a:rPr>
              <a:t>involves washing the clothes in the drum by </a:t>
            </a:r>
            <a:r>
              <a:rPr lang="en-IN" sz="2000" dirty="0">
                <a:solidFill>
                  <a:srgbClr val="0070C0"/>
                </a:solidFill>
                <a:latin typeface="Bookman Old Style" panose="02050604050505020204" pitchFamily="18" charset="0"/>
              </a:rPr>
              <a:t>hot water </a:t>
            </a:r>
            <a:r>
              <a:rPr lang="en-IN" sz="2000" dirty="0">
                <a:latin typeface="Bookman Old Style" panose="02050604050505020204" pitchFamily="18" charset="0"/>
              </a:rPr>
              <a:t>and the sequence of operations in main wash are follows </a:t>
            </a:r>
          </a:p>
          <a:p>
            <a:pPr marL="342900" indent="-342900" algn="just">
              <a:lnSpc>
                <a:spcPct val="150000"/>
              </a:lnSpc>
              <a:buFont typeface="Arial" panose="020B0604020202020204" pitchFamily="34" charset="0"/>
              <a:buChar char="•"/>
            </a:pPr>
            <a:r>
              <a:rPr lang="en-IN" sz="2000" dirty="0">
                <a:solidFill>
                  <a:srgbClr val="0070C0"/>
                </a:solidFill>
                <a:latin typeface="Bookman Old Style" panose="02050604050505020204" pitchFamily="18" charset="0"/>
              </a:rPr>
              <a:t>Cold water </a:t>
            </a:r>
            <a:r>
              <a:rPr lang="en-IN" sz="2000" dirty="0">
                <a:latin typeface="Bookman Old Style" panose="02050604050505020204" pitchFamily="18" charset="0"/>
              </a:rPr>
              <a:t>is applied after the pre wash cycle is completed </a:t>
            </a:r>
          </a:p>
          <a:p>
            <a:pPr marL="342900" indent="-342900" algn="just">
              <a:lnSpc>
                <a:spcPct val="150000"/>
              </a:lnSpc>
              <a:buFont typeface="Arial" panose="020B0604020202020204" pitchFamily="34" charset="0"/>
              <a:buChar char="•"/>
            </a:pPr>
            <a:r>
              <a:rPr lang="en-IN" sz="2000" dirty="0">
                <a:latin typeface="Bookman Old Style" panose="02050604050505020204" pitchFamily="18" charset="0"/>
              </a:rPr>
              <a:t>Current is supplied to switch on the </a:t>
            </a:r>
            <a:r>
              <a:rPr lang="en-IN" sz="2000" dirty="0">
                <a:solidFill>
                  <a:srgbClr val="0070C0"/>
                </a:solidFill>
                <a:latin typeface="Bookman Old Style" panose="02050604050505020204" pitchFamily="18" charset="0"/>
              </a:rPr>
              <a:t>heater</a:t>
            </a:r>
            <a:r>
              <a:rPr lang="en-IN" sz="2000" dirty="0">
                <a:latin typeface="Bookman Old Style" panose="02050604050505020204" pitchFamily="18" charset="0"/>
              </a:rPr>
              <a:t> for heating the cold water </a:t>
            </a:r>
          </a:p>
          <a:p>
            <a:pPr marL="342900" indent="-342900" algn="just">
              <a:lnSpc>
                <a:spcPct val="150000"/>
              </a:lnSpc>
              <a:buFont typeface="Arial" panose="020B0604020202020204" pitchFamily="34" charset="0"/>
              <a:buChar char="•"/>
            </a:pPr>
            <a:r>
              <a:rPr lang="en-IN" sz="2000" dirty="0">
                <a:solidFill>
                  <a:srgbClr val="0070C0"/>
                </a:solidFill>
                <a:latin typeface="Bookman Old Style" panose="02050604050505020204" pitchFamily="18" charset="0"/>
              </a:rPr>
              <a:t>Temperature sensors </a:t>
            </a:r>
            <a:r>
              <a:rPr lang="en-IN" sz="2000" dirty="0">
                <a:latin typeface="Bookman Old Style" panose="02050604050505020204" pitchFamily="18" charset="0"/>
              </a:rPr>
              <a:t>switch off the current after the water is heated to required temperature </a:t>
            </a:r>
          </a:p>
          <a:p>
            <a:pPr marL="342900" indent="-342900" algn="just">
              <a:lnSpc>
                <a:spcPct val="150000"/>
              </a:lnSpc>
              <a:buFont typeface="Arial" panose="020B0604020202020204" pitchFamily="34" charset="0"/>
              <a:buChar char="•"/>
            </a:pPr>
            <a:r>
              <a:rPr lang="en-IN" sz="2000" dirty="0">
                <a:latin typeface="Bookman Old Style" panose="02050604050505020204" pitchFamily="18" charset="0"/>
              </a:rPr>
              <a:t>Microprocessor or cam switch on the </a:t>
            </a:r>
            <a:r>
              <a:rPr lang="en-IN" sz="2000" dirty="0">
                <a:solidFill>
                  <a:srgbClr val="0070C0"/>
                </a:solidFill>
                <a:latin typeface="Bookman Old Style" panose="02050604050505020204" pitchFamily="18" charset="0"/>
              </a:rPr>
              <a:t>motor </a:t>
            </a:r>
            <a:r>
              <a:rPr lang="en-IN" sz="2000" dirty="0">
                <a:latin typeface="Bookman Old Style" panose="02050604050505020204" pitchFamily="18" charset="0"/>
              </a:rPr>
              <a:t>is used to rotate the drum </a:t>
            </a:r>
          </a:p>
          <a:p>
            <a:pPr marL="342900" indent="-342900" algn="just">
              <a:lnSpc>
                <a:spcPct val="150000"/>
              </a:lnSpc>
              <a:buFont typeface="Arial" panose="020B0604020202020204" pitchFamily="34" charset="0"/>
              <a:buChar char="•"/>
            </a:pPr>
            <a:r>
              <a:rPr lang="en-IN" sz="2000" dirty="0">
                <a:latin typeface="Bookman Old Style" panose="02050604050505020204" pitchFamily="18" charset="0"/>
              </a:rPr>
              <a:t>Microprocessor or cam switches on the </a:t>
            </a:r>
            <a:r>
              <a:rPr lang="en-IN" sz="2000" dirty="0">
                <a:solidFill>
                  <a:srgbClr val="0070C0"/>
                </a:solidFill>
                <a:latin typeface="Bookman Old Style" panose="02050604050505020204" pitchFamily="18" charset="0"/>
              </a:rPr>
              <a:t>current</a:t>
            </a:r>
            <a:r>
              <a:rPr lang="en-IN" sz="2000" dirty="0">
                <a:latin typeface="Bookman Old Style" panose="02050604050505020204" pitchFamily="18" charset="0"/>
              </a:rPr>
              <a:t> to a discharge pump empty the drum </a:t>
            </a:r>
          </a:p>
        </p:txBody>
      </p:sp>
    </p:spTree>
    <p:extLst>
      <p:ext uri="{BB962C8B-B14F-4D97-AF65-F5344CB8AC3E}">
        <p14:creationId xmlns:p14="http://schemas.microsoft.com/office/powerpoint/2010/main" val="2559692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34C5673E-40CE-F21F-6A22-B59D90CDC47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74276F4-6DD3-BF07-F470-9F28A2818E67}"/>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Automatic  Washing Machine</a:t>
            </a:r>
          </a:p>
        </p:txBody>
      </p:sp>
      <p:sp>
        <p:nvSpPr>
          <p:cNvPr id="2" name="Rectangle 1">
            <a:extLst>
              <a:ext uri="{FF2B5EF4-FFF2-40B4-BE49-F238E27FC236}">
                <a16:creationId xmlns:a16="http://schemas.microsoft.com/office/drawing/2014/main" id="{3708FED1-62D2-45CC-869C-B769864EC3A4}"/>
              </a:ext>
            </a:extLst>
          </p:cNvPr>
          <p:cNvSpPr/>
          <p:nvPr/>
        </p:nvSpPr>
        <p:spPr>
          <a:xfrm>
            <a:off x="706581" y="1457788"/>
            <a:ext cx="10875819" cy="4656788"/>
          </a:xfrm>
          <a:prstGeom prst="rect">
            <a:avLst/>
          </a:prstGeom>
        </p:spPr>
        <p:txBody>
          <a:bodyPr wrap="square">
            <a:spAutoFit/>
          </a:bodyPr>
          <a:lstStyle/>
          <a:p>
            <a:pPr algn="just">
              <a:lnSpc>
                <a:spcPct val="150000"/>
              </a:lnSpc>
            </a:pPr>
            <a:r>
              <a:rPr lang="en-IN" sz="2000" b="1" dirty="0">
                <a:latin typeface="Bookman Old Style" panose="02050604050505020204" pitchFamily="18" charset="0"/>
              </a:rPr>
              <a:t>Rinse cycle </a:t>
            </a:r>
            <a:r>
              <a:rPr lang="en-IN" sz="2000" dirty="0">
                <a:latin typeface="Bookman Old Style" panose="02050604050505020204" pitchFamily="18" charset="0"/>
              </a:rPr>
              <a:t>involves </a:t>
            </a:r>
            <a:r>
              <a:rPr lang="en-IN" sz="2000" dirty="0">
                <a:solidFill>
                  <a:srgbClr val="0070C0"/>
                </a:solidFill>
                <a:latin typeface="Bookman Old Style" panose="02050604050505020204" pitchFamily="18" charset="0"/>
              </a:rPr>
              <a:t>washing out the clothes with cold water and number of times </a:t>
            </a:r>
            <a:r>
              <a:rPr lang="en-IN" sz="2000" dirty="0">
                <a:latin typeface="Bookman Old Style" panose="02050604050505020204" pitchFamily="18" charset="0"/>
              </a:rPr>
              <a:t>and the sequence of operations as follows </a:t>
            </a:r>
          </a:p>
          <a:p>
            <a:pPr algn="just">
              <a:lnSpc>
                <a:spcPct val="150000"/>
              </a:lnSpc>
            </a:pPr>
            <a:r>
              <a:rPr lang="en-IN" sz="2000" dirty="0">
                <a:solidFill>
                  <a:srgbClr val="0070C0"/>
                </a:solidFill>
                <a:latin typeface="Bookman Old Style" panose="02050604050505020204" pitchFamily="18" charset="0"/>
              </a:rPr>
              <a:t>Opening of valve </a:t>
            </a:r>
            <a:r>
              <a:rPr lang="en-IN" sz="2000" dirty="0">
                <a:latin typeface="Bookman Old Style" panose="02050604050505020204" pitchFamily="18" charset="0"/>
              </a:rPr>
              <a:t>to allow cold water into the drum when the </a:t>
            </a:r>
            <a:r>
              <a:rPr lang="en-IN" sz="2000" dirty="0">
                <a:solidFill>
                  <a:srgbClr val="0070C0"/>
                </a:solidFill>
                <a:latin typeface="Bookman Old Style" panose="02050604050505020204" pitchFamily="18" charset="0"/>
              </a:rPr>
              <a:t>microprocessor gives signals to supply current </a:t>
            </a:r>
            <a:r>
              <a:rPr lang="en-IN" sz="2000" dirty="0">
                <a:latin typeface="Bookman Old Style" panose="02050604050505020204" pitchFamily="18" charset="0"/>
              </a:rPr>
              <a:t>after the main wash cycle is completed </a:t>
            </a:r>
          </a:p>
          <a:p>
            <a:pPr algn="just">
              <a:lnSpc>
                <a:spcPct val="150000"/>
              </a:lnSpc>
            </a:pPr>
            <a:r>
              <a:rPr lang="en-IN" sz="2000" dirty="0">
                <a:solidFill>
                  <a:srgbClr val="0070C0"/>
                </a:solidFill>
                <a:latin typeface="Bookman Old Style" panose="02050604050505020204" pitchFamily="18" charset="0"/>
              </a:rPr>
              <a:t>Switches off </a:t>
            </a:r>
            <a:r>
              <a:rPr lang="en-IN" sz="2000" dirty="0">
                <a:latin typeface="Bookman Old Style" panose="02050604050505020204" pitchFamily="18" charset="0"/>
              </a:rPr>
              <a:t>the supply current by signals from microprocessor </a:t>
            </a:r>
          </a:p>
          <a:p>
            <a:pPr algn="just">
              <a:lnSpc>
                <a:spcPct val="150000"/>
              </a:lnSpc>
            </a:pPr>
            <a:r>
              <a:rPr lang="en-IN" sz="2000" dirty="0">
                <a:latin typeface="Bookman Old Style" panose="02050604050505020204" pitchFamily="18" charset="0"/>
              </a:rPr>
              <a:t>Operation of </a:t>
            </a:r>
            <a:r>
              <a:rPr lang="en-IN" sz="2000" dirty="0">
                <a:solidFill>
                  <a:srgbClr val="0070C0"/>
                </a:solidFill>
                <a:latin typeface="Bookman Old Style" panose="02050604050505020204" pitchFamily="18" charset="0"/>
              </a:rPr>
              <a:t>motor</a:t>
            </a:r>
            <a:r>
              <a:rPr lang="en-IN" sz="2000" dirty="0">
                <a:latin typeface="Bookman Old Style" panose="02050604050505020204" pitchFamily="18" charset="0"/>
              </a:rPr>
              <a:t> to rotate the drum </a:t>
            </a:r>
          </a:p>
          <a:p>
            <a:pPr algn="just">
              <a:lnSpc>
                <a:spcPct val="150000"/>
              </a:lnSpc>
            </a:pPr>
            <a:r>
              <a:rPr lang="en-IN" sz="2000" dirty="0">
                <a:latin typeface="Bookman Old Style" panose="02050604050505020204" pitchFamily="18" charset="0"/>
              </a:rPr>
              <a:t>Operation of </a:t>
            </a:r>
            <a:r>
              <a:rPr lang="en-IN" sz="2000" dirty="0">
                <a:solidFill>
                  <a:srgbClr val="0070C0"/>
                </a:solidFill>
                <a:latin typeface="Bookman Old Style" panose="02050604050505020204" pitchFamily="18" charset="0"/>
              </a:rPr>
              <a:t>pump</a:t>
            </a:r>
            <a:r>
              <a:rPr lang="en-IN" sz="2000" dirty="0">
                <a:latin typeface="Bookman Old Style" panose="02050604050505020204" pitchFamily="18" charset="0"/>
              </a:rPr>
              <a:t> to </a:t>
            </a:r>
            <a:r>
              <a:rPr lang="en-IN" sz="2000" dirty="0">
                <a:solidFill>
                  <a:srgbClr val="0070C0"/>
                </a:solidFill>
                <a:latin typeface="Bookman Old Style" panose="02050604050505020204" pitchFamily="18" charset="0"/>
              </a:rPr>
              <a:t>empty the drum </a:t>
            </a:r>
            <a:r>
              <a:rPr lang="en-IN" sz="2000" dirty="0">
                <a:latin typeface="Bookman Old Style" panose="02050604050505020204" pitchFamily="18" charset="0"/>
              </a:rPr>
              <a:t>and repeat the sequence a number of times </a:t>
            </a:r>
          </a:p>
          <a:p>
            <a:pPr algn="just">
              <a:lnSpc>
                <a:spcPct val="150000"/>
              </a:lnSpc>
            </a:pPr>
            <a:r>
              <a:rPr lang="en-IN" sz="2000" b="1" dirty="0">
                <a:latin typeface="Bookman Old Style" panose="02050604050505020204" pitchFamily="18" charset="0"/>
              </a:rPr>
              <a:t>Spinning cycle </a:t>
            </a:r>
            <a:r>
              <a:rPr lang="en-IN" sz="2000" dirty="0">
                <a:latin typeface="Bookman Old Style" panose="02050604050505020204" pitchFamily="18" charset="0"/>
              </a:rPr>
              <a:t>involves </a:t>
            </a:r>
            <a:r>
              <a:rPr lang="en-IN" sz="2000" dirty="0">
                <a:solidFill>
                  <a:srgbClr val="0070C0"/>
                </a:solidFill>
                <a:latin typeface="Bookman Old Style" panose="02050604050505020204" pitchFamily="18" charset="0"/>
              </a:rPr>
              <a:t>removing of water from the clothes </a:t>
            </a:r>
            <a:r>
              <a:rPr lang="en-IN" sz="2000" dirty="0">
                <a:latin typeface="Bookman Old Style" panose="02050604050505020204" pitchFamily="18" charset="0"/>
              </a:rPr>
              <a:t>and the sequence of operations is carried out </a:t>
            </a:r>
            <a:r>
              <a:rPr lang="en-IN" sz="2000" dirty="0">
                <a:solidFill>
                  <a:srgbClr val="0070C0"/>
                </a:solidFill>
                <a:latin typeface="Bookman Old Style" panose="02050604050505020204" pitchFamily="18" charset="0"/>
              </a:rPr>
              <a:t>switching on the drum motor </a:t>
            </a:r>
            <a:r>
              <a:rPr lang="en-IN" sz="2000" dirty="0">
                <a:latin typeface="Bookman Old Style" panose="02050604050505020204" pitchFamily="18" charset="0"/>
              </a:rPr>
              <a:t>to rotate it to a higher speed than the rinsing cycle </a:t>
            </a:r>
          </a:p>
        </p:txBody>
      </p:sp>
    </p:spTree>
    <p:extLst>
      <p:ext uri="{BB962C8B-B14F-4D97-AF65-F5344CB8AC3E}">
        <p14:creationId xmlns:p14="http://schemas.microsoft.com/office/powerpoint/2010/main" val="36796357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F552DB39-B336-53D0-B720-9D4C4ED46F1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13B167E-5F2A-9F84-E585-039C0A5837D7}"/>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Engine  Management System</a:t>
            </a:r>
          </a:p>
        </p:txBody>
      </p:sp>
      <p:pic>
        <p:nvPicPr>
          <p:cNvPr id="3" name="Picture 2" descr="C:\Users\Admin\Desktop\EMS.jpg">
            <a:extLst>
              <a:ext uri="{FF2B5EF4-FFF2-40B4-BE49-F238E27FC236}">
                <a16:creationId xmlns:a16="http://schemas.microsoft.com/office/drawing/2014/main" id="{E0D33A67-2AC5-796F-CE97-AFBCB5B47774}"/>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2165623" y="1365163"/>
            <a:ext cx="6687431" cy="468794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6914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61AB8349-C366-A86F-42C5-95C8C2D35C6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FFF5BC0-13E7-D0EC-E771-C2DB3D41596B}"/>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Engine  Management System</a:t>
            </a:r>
          </a:p>
        </p:txBody>
      </p:sp>
      <p:pic>
        <p:nvPicPr>
          <p:cNvPr id="4" name="Picture 2" descr="C:\Users\Admin\Desktop\EMS2.jpg">
            <a:extLst>
              <a:ext uri="{FF2B5EF4-FFF2-40B4-BE49-F238E27FC236}">
                <a16:creationId xmlns:a16="http://schemas.microsoft.com/office/drawing/2014/main" id="{32A4F34B-2239-D6C2-5778-EC4AE7637B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4412" y="1428502"/>
            <a:ext cx="8053505" cy="4949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46904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61AB8349-C366-A86F-42C5-95C8C2D35C6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FFF5BC0-13E7-D0EC-E771-C2DB3D41596B}"/>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Engine  Management System</a:t>
            </a:r>
          </a:p>
        </p:txBody>
      </p:sp>
      <p:sp>
        <p:nvSpPr>
          <p:cNvPr id="2" name="Rectangle 1">
            <a:extLst>
              <a:ext uri="{FF2B5EF4-FFF2-40B4-BE49-F238E27FC236}">
                <a16:creationId xmlns:a16="http://schemas.microsoft.com/office/drawing/2014/main" id="{90D63041-1B62-46E5-BF38-AF6628C6FF49}"/>
              </a:ext>
            </a:extLst>
          </p:cNvPr>
          <p:cNvSpPr/>
          <p:nvPr/>
        </p:nvSpPr>
        <p:spPr>
          <a:xfrm>
            <a:off x="582269" y="1110174"/>
            <a:ext cx="11334427" cy="501804"/>
          </a:xfrm>
          <a:prstGeom prst="rect">
            <a:avLst/>
          </a:prstGeom>
        </p:spPr>
        <p:txBody>
          <a:bodyPr wrap="square">
            <a:spAutoFit/>
          </a:bodyPr>
          <a:lstStyle/>
          <a:p>
            <a:pPr algn="just">
              <a:lnSpc>
                <a:spcPct val="150000"/>
              </a:lnSpc>
            </a:pPr>
            <a:r>
              <a:rPr lang="en-US" sz="2000" dirty="0">
                <a:latin typeface="Bookman Old Style" panose="02050604050505020204" pitchFamily="18" charset="0"/>
              </a:rPr>
              <a:t>In a modern car operations are carried out through a microprocessor. </a:t>
            </a:r>
            <a:endParaRPr lang="en-IN" sz="2000" dirty="0">
              <a:latin typeface="Bookman Old Style" panose="02050604050505020204" pitchFamily="18" charset="0"/>
            </a:endParaRPr>
          </a:p>
        </p:txBody>
      </p:sp>
      <p:pic>
        <p:nvPicPr>
          <p:cNvPr id="6" name="Picture 5">
            <a:extLst>
              <a:ext uri="{FF2B5EF4-FFF2-40B4-BE49-F238E27FC236}">
                <a16:creationId xmlns:a16="http://schemas.microsoft.com/office/drawing/2014/main" id="{C8DFA65C-0A66-4F7F-973E-702F848FCC69}"/>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2051742" y="2073643"/>
            <a:ext cx="8395480" cy="4223813"/>
          </a:xfrm>
          <a:prstGeom prst="rect">
            <a:avLst/>
          </a:prstGeom>
        </p:spPr>
      </p:pic>
    </p:spTree>
    <p:extLst>
      <p:ext uri="{BB962C8B-B14F-4D97-AF65-F5344CB8AC3E}">
        <p14:creationId xmlns:p14="http://schemas.microsoft.com/office/powerpoint/2010/main" val="39244706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61AB8349-C366-A86F-42C5-95C8C2D35C6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FFF5BC0-13E7-D0EC-E771-C2DB3D41596B}"/>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Engine  Management System</a:t>
            </a:r>
          </a:p>
        </p:txBody>
      </p:sp>
      <p:pic>
        <p:nvPicPr>
          <p:cNvPr id="2" name="Engine Management System">
            <a:hlinkClick r:id="" action="ppaction://media"/>
            <a:extLst>
              <a:ext uri="{FF2B5EF4-FFF2-40B4-BE49-F238E27FC236}">
                <a16:creationId xmlns:a16="http://schemas.microsoft.com/office/drawing/2014/main" id="{D38008AD-FEA4-4F77-B954-C03544FDBF7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766002" y="2142548"/>
            <a:ext cx="6096000" cy="3429000"/>
          </a:xfrm>
          <a:prstGeom prst="rect">
            <a:avLst/>
          </a:prstGeom>
        </p:spPr>
      </p:pic>
    </p:spTree>
    <p:extLst>
      <p:ext uri="{BB962C8B-B14F-4D97-AF65-F5344CB8AC3E}">
        <p14:creationId xmlns:p14="http://schemas.microsoft.com/office/powerpoint/2010/main" val="2462368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62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61AB8349-C366-A86F-42C5-95C8C2D35C6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FFF5BC0-13E7-D0EC-E771-C2DB3D41596B}"/>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Engine  Management System</a:t>
            </a:r>
          </a:p>
        </p:txBody>
      </p:sp>
      <p:sp>
        <p:nvSpPr>
          <p:cNvPr id="4" name="Rectangle 3">
            <a:extLst>
              <a:ext uri="{FF2B5EF4-FFF2-40B4-BE49-F238E27FC236}">
                <a16:creationId xmlns:a16="http://schemas.microsoft.com/office/drawing/2014/main" id="{BA792514-CE05-4044-B4D0-893424EFF18D}"/>
              </a:ext>
            </a:extLst>
          </p:cNvPr>
          <p:cNvSpPr/>
          <p:nvPr/>
        </p:nvSpPr>
        <p:spPr>
          <a:xfrm>
            <a:off x="879762" y="1110174"/>
            <a:ext cx="10702638" cy="4656788"/>
          </a:xfrm>
          <a:prstGeom prst="rect">
            <a:avLst/>
          </a:prstGeom>
        </p:spPr>
        <p:txBody>
          <a:bodyPr wrap="square">
            <a:spAutoFit/>
          </a:bodyPr>
          <a:lstStyle/>
          <a:p>
            <a:pPr algn="just">
              <a:lnSpc>
                <a:spcPct val="150000"/>
              </a:lnSpc>
            </a:pPr>
            <a:r>
              <a:rPr lang="en-US" sz="2000" dirty="0">
                <a:solidFill>
                  <a:srgbClr val="0070C0"/>
                </a:solidFill>
                <a:latin typeface="Bookman Old Style" panose="02050604050505020204" pitchFamily="18" charset="0"/>
              </a:rPr>
              <a:t>Electronic Control Unit: </a:t>
            </a:r>
            <a:r>
              <a:rPr lang="en-US" sz="2000" dirty="0">
                <a:latin typeface="Bookman Old Style" panose="02050604050505020204" pitchFamily="18" charset="0"/>
              </a:rPr>
              <a:t>It controls more than one electric systems and subsystems in a motor vehicle. It </a:t>
            </a:r>
            <a:r>
              <a:rPr lang="en-US" sz="2000" dirty="0">
                <a:solidFill>
                  <a:srgbClr val="0070C0"/>
                </a:solidFill>
                <a:latin typeface="Bookman Old Style" panose="02050604050505020204" pitchFamily="18" charset="0"/>
              </a:rPr>
              <a:t>helps in regulating and maintaining the amount of fuel</a:t>
            </a:r>
          </a:p>
          <a:p>
            <a:pPr algn="just">
              <a:lnSpc>
                <a:spcPct val="150000"/>
              </a:lnSpc>
            </a:pPr>
            <a:r>
              <a:rPr lang="en-US" sz="2000" dirty="0">
                <a:latin typeface="Bookman Old Style" panose="02050604050505020204" pitchFamily="18" charset="0"/>
              </a:rPr>
              <a:t>and air the engine need to increase horsepower.</a:t>
            </a:r>
          </a:p>
          <a:p>
            <a:pPr marL="342900" indent="-342900" algn="just">
              <a:lnSpc>
                <a:spcPct val="150000"/>
              </a:lnSpc>
              <a:buFont typeface="Arial" panose="020B0604020202020204" pitchFamily="34" charset="0"/>
              <a:buChar char="•"/>
            </a:pPr>
            <a:r>
              <a:rPr lang="en-US" sz="2000" b="1" dirty="0">
                <a:latin typeface="Bookman Old Style" panose="02050604050505020204" pitchFamily="18" charset="0"/>
              </a:rPr>
              <a:t>Fuel Injector Sequential: </a:t>
            </a:r>
            <a:r>
              <a:rPr lang="en-US" sz="2000" dirty="0">
                <a:latin typeface="Bookman Old Style" panose="02050604050505020204" pitchFamily="18" charset="0"/>
              </a:rPr>
              <a:t>a type of </a:t>
            </a:r>
            <a:r>
              <a:rPr lang="en-US" sz="2000" dirty="0">
                <a:solidFill>
                  <a:srgbClr val="0070C0"/>
                </a:solidFill>
                <a:latin typeface="Bookman Old Style" panose="02050604050505020204" pitchFamily="18" charset="0"/>
              </a:rPr>
              <a:t>multi-port injection system </a:t>
            </a:r>
            <a:r>
              <a:rPr lang="en-US" sz="2000" dirty="0">
                <a:latin typeface="Bookman Old Style" panose="02050604050505020204" pitchFamily="18" charset="0"/>
              </a:rPr>
              <a:t>in which </a:t>
            </a:r>
            <a:r>
              <a:rPr lang="en-US" sz="2000" dirty="0">
                <a:solidFill>
                  <a:srgbClr val="0070C0"/>
                </a:solidFill>
                <a:latin typeface="Bookman Old Style" panose="02050604050505020204" pitchFamily="18" charset="0"/>
              </a:rPr>
              <a:t>injection valve will open just before the cylinder intake valve opens. </a:t>
            </a:r>
            <a:r>
              <a:rPr lang="en-US" sz="2000" dirty="0">
                <a:latin typeface="Bookman Old Style" panose="02050604050505020204" pitchFamily="18" charset="0"/>
              </a:rPr>
              <a:t>It has the fast response time when the driver makes a quick change.</a:t>
            </a:r>
          </a:p>
          <a:p>
            <a:pPr marL="342900" indent="-342900" algn="just">
              <a:lnSpc>
                <a:spcPct val="150000"/>
              </a:lnSpc>
              <a:buFont typeface="Arial" panose="020B0604020202020204" pitchFamily="34" charset="0"/>
              <a:buChar char="•"/>
            </a:pPr>
            <a:r>
              <a:rPr lang="en-US" sz="2000" b="1" dirty="0">
                <a:latin typeface="Bookman Old Style" panose="02050604050505020204" pitchFamily="18" charset="0"/>
              </a:rPr>
              <a:t>Air Flow Sensor: </a:t>
            </a:r>
            <a:r>
              <a:rPr lang="en-US" sz="2000" dirty="0">
                <a:latin typeface="Bookman Old Style" panose="02050604050505020204" pitchFamily="18" charset="0"/>
              </a:rPr>
              <a:t>An air flow meter is a device that </a:t>
            </a:r>
            <a:r>
              <a:rPr lang="en-US" sz="2000" dirty="0">
                <a:solidFill>
                  <a:srgbClr val="0070C0"/>
                </a:solidFill>
                <a:latin typeface="Bookman Old Style" panose="02050604050505020204" pitchFamily="18" charset="0"/>
              </a:rPr>
              <a:t>measures the actual speed of the air flowing through the engine </a:t>
            </a:r>
            <a:r>
              <a:rPr lang="en-US" sz="2000" dirty="0">
                <a:latin typeface="Bookman Old Style" panose="02050604050505020204" pitchFamily="18" charset="0"/>
              </a:rPr>
              <a:t>in different segments.</a:t>
            </a:r>
          </a:p>
          <a:p>
            <a:pPr marL="342900" indent="-342900" algn="just">
              <a:lnSpc>
                <a:spcPct val="150000"/>
              </a:lnSpc>
              <a:buFont typeface="Arial" panose="020B0604020202020204" pitchFamily="34" charset="0"/>
              <a:buChar char="•"/>
            </a:pPr>
            <a:r>
              <a:rPr lang="en-US" sz="2000" b="1" dirty="0">
                <a:latin typeface="Bookman Old Style" panose="02050604050505020204" pitchFamily="18" charset="0"/>
              </a:rPr>
              <a:t>Air Temperature Sensor: </a:t>
            </a:r>
            <a:r>
              <a:rPr lang="en-US" sz="2000" dirty="0">
                <a:latin typeface="Bookman Old Style" panose="02050604050505020204" pitchFamily="18" charset="0"/>
              </a:rPr>
              <a:t>It helps to measure the </a:t>
            </a:r>
            <a:r>
              <a:rPr lang="en-US" sz="2000" dirty="0">
                <a:solidFill>
                  <a:srgbClr val="0070C0"/>
                </a:solidFill>
                <a:latin typeface="Bookman Old Style" panose="02050604050505020204" pitchFamily="18" charset="0"/>
              </a:rPr>
              <a:t>air density for fuel mixture control</a:t>
            </a:r>
            <a:r>
              <a:rPr lang="en-US" sz="2000" dirty="0">
                <a:latin typeface="Bookman Old Style" panose="02050604050505020204" pitchFamily="18" charset="0"/>
              </a:rPr>
              <a:t> and to trim the air flow ratio according to the airflow density.</a:t>
            </a:r>
          </a:p>
        </p:txBody>
      </p:sp>
    </p:spTree>
    <p:extLst>
      <p:ext uri="{BB962C8B-B14F-4D97-AF65-F5344CB8AC3E}">
        <p14:creationId xmlns:p14="http://schemas.microsoft.com/office/powerpoint/2010/main" val="3014109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61AB8349-C366-A86F-42C5-95C8C2D35C6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FFF5BC0-13E7-D0EC-E771-C2DB3D41596B}"/>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Engine  Management System</a:t>
            </a:r>
          </a:p>
        </p:txBody>
      </p:sp>
      <p:sp>
        <p:nvSpPr>
          <p:cNvPr id="2" name="Rectangle 1">
            <a:extLst>
              <a:ext uri="{FF2B5EF4-FFF2-40B4-BE49-F238E27FC236}">
                <a16:creationId xmlns:a16="http://schemas.microsoft.com/office/drawing/2014/main" id="{B2E68FEC-952A-4D95-95AF-D4EC2AA07795}"/>
              </a:ext>
            </a:extLst>
          </p:cNvPr>
          <p:cNvSpPr/>
          <p:nvPr/>
        </p:nvSpPr>
        <p:spPr>
          <a:xfrm>
            <a:off x="720437" y="1110174"/>
            <a:ext cx="10432472" cy="544674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b="1" dirty="0">
                <a:latin typeface="Bookman Old Style" panose="02050604050505020204" pitchFamily="18" charset="0"/>
              </a:rPr>
              <a:t>Throttle Position Sensor: </a:t>
            </a:r>
            <a:r>
              <a:rPr lang="en-US" dirty="0">
                <a:latin typeface="Bookman Old Style" panose="02050604050505020204" pitchFamily="18" charset="0"/>
              </a:rPr>
              <a:t>This sensor is used to monitor the throttle position of a car. This sensor moves with the </a:t>
            </a:r>
            <a:r>
              <a:rPr lang="en-US" dirty="0">
                <a:solidFill>
                  <a:srgbClr val="0070C0"/>
                </a:solidFill>
                <a:latin typeface="Bookman Old Style" panose="02050604050505020204" pitchFamily="18" charset="0"/>
              </a:rPr>
              <a:t>throttle and sends a voltage signal to the computer</a:t>
            </a:r>
            <a:r>
              <a:rPr lang="en-US" dirty="0">
                <a:latin typeface="Bookman Old Style" panose="02050604050505020204" pitchFamily="18" charset="0"/>
              </a:rPr>
              <a:t>. Thus indicating </a:t>
            </a:r>
            <a:r>
              <a:rPr lang="en-US" dirty="0">
                <a:solidFill>
                  <a:srgbClr val="0070C0"/>
                </a:solidFill>
                <a:latin typeface="Bookman Old Style" panose="02050604050505020204" pitchFamily="18" charset="0"/>
              </a:rPr>
              <a:t>throttle angle and speed of movement. </a:t>
            </a:r>
            <a:r>
              <a:rPr lang="en-US" dirty="0">
                <a:latin typeface="Bookman Old Style" panose="02050604050505020204" pitchFamily="18" charset="0"/>
              </a:rPr>
              <a:t>The computer uses this data to measure engine load, adjust timing, fuel delivery </a:t>
            </a:r>
            <a:r>
              <a:rPr lang="en-US" dirty="0" err="1">
                <a:latin typeface="Bookman Old Style" panose="02050604050505020204" pitchFamily="18" charset="0"/>
              </a:rPr>
              <a:t>etc</a:t>
            </a:r>
            <a:endParaRPr lang="en-US" dirty="0">
              <a:latin typeface="Bookman Old Style" panose="02050604050505020204" pitchFamily="18" charset="0"/>
            </a:endParaRPr>
          </a:p>
          <a:p>
            <a:pPr marL="342900" indent="-342900" algn="just">
              <a:lnSpc>
                <a:spcPct val="150000"/>
              </a:lnSpc>
              <a:buFont typeface="Arial" panose="020B0604020202020204" pitchFamily="34" charset="0"/>
              <a:buChar char="•"/>
            </a:pPr>
            <a:r>
              <a:rPr lang="en-US" b="1" dirty="0">
                <a:latin typeface="Bookman Old Style" panose="02050604050505020204" pitchFamily="18" charset="0"/>
              </a:rPr>
              <a:t>Temperature Sensor</a:t>
            </a:r>
            <a:r>
              <a:rPr lang="en-US" dirty="0">
                <a:latin typeface="Bookman Old Style" panose="02050604050505020204" pitchFamily="18" charset="0"/>
              </a:rPr>
              <a:t>: Temperature sensors include </a:t>
            </a:r>
            <a:r>
              <a:rPr lang="en-US" dirty="0">
                <a:solidFill>
                  <a:srgbClr val="0070C0"/>
                </a:solidFill>
                <a:latin typeface="Bookman Old Style" panose="02050604050505020204" pitchFamily="18" charset="0"/>
              </a:rPr>
              <a:t>analog and digital sensor </a:t>
            </a:r>
            <a:r>
              <a:rPr lang="en-US" dirty="0">
                <a:latin typeface="Bookman Old Style" panose="02050604050505020204" pitchFamily="18" charset="0"/>
              </a:rPr>
              <a:t>ICs designed for </a:t>
            </a:r>
            <a:r>
              <a:rPr lang="en-US" dirty="0">
                <a:solidFill>
                  <a:srgbClr val="0070C0"/>
                </a:solidFill>
                <a:latin typeface="Bookman Old Style" panose="02050604050505020204" pitchFamily="18" charset="0"/>
              </a:rPr>
              <a:t>temperature monitoring </a:t>
            </a:r>
            <a:r>
              <a:rPr lang="en-US" dirty="0">
                <a:latin typeface="Bookman Old Style" panose="02050604050505020204" pitchFamily="18" charset="0"/>
              </a:rPr>
              <a:t>of a system. </a:t>
            </a:r>
          </a:p>
          <a:p>
            <a:pPr marL="342900" indent="-342900" algn="just">
              <a:lnSpc>
                <a:spcPct val="150000"/>
              </a:lnSpc>
              <a:buFont typeface="Arial" panose="020B0604020202020204" pitchFamily="34" charset="0"/>
              <a:buChar char="•"/>
            </a:pPr>
            <a:r>
              <a:rPr lang="en-US" b="1" dirty="0">
                <a:latin typeface="Bookman Old Style" panose="02050604050505020204" pitchFamily="18" charset="0"/>
              </a:rPr>
              <a:t>Oxygen Sensor</a:t>
            </a:r>
            <a:r>
              <a:rPr lang="en-US" dirty="0">
                <a:latin typeface="Bookman Old Style" panose="02050604050505020204" pitchFamily="18" charset="0"/>
              </a:rPr>
              <a:t>: It measures the </a:t>
            </a:r>
            <a:r>
              <a:rPr lang="en-US" dirty="0">
                <a:solidFill>
                  <a:srgbClr val="0070C0"/>
                </a:solidFill>
                <a:latin typeface="Bookman Old Style" panose="02050604050505020204" pitchFamily="18" charset="0"/>
              </a:rPr>
              <a:t>proportion of oxygen to fuel </a:t>
            </a:r>
            <a:r>
              <a:rPr lang="en-US" dirty="0">
                <a:latin typeface="Bookman Old Style" panose="02050604050505020204" pitchFamily="18" charset="0"/>
              </a:rPr>
              <a:t>in the engine. </a:t>
            </a:r>
          </a:p>
          <a:p>
            <a:pPr marL="342900" indent="-342900" algn="just">
              <a:lnSpc>
                <a:spcPct val="150000"/>
              </a:lnSpc>
              <a:buFont typeface="Arial" panose="020B0604020202020204" pitchFamily="34" charset="0"/>
              <a:buChar char="•"/>
            </a:pPr>
            <a:r>
              <a:rPr lang="en-US" b="1" dirty="0">
                <a:latin typeface="Bookman Old Style" panose="02050604050505020204" pitchFamily="18" charset="0"/>
              </a:rPr>
              <a:t>Idle Air Control Valve: </a:t>
            </a:r>
            <a:r>
              <a:rPr lang="en-US" dirty="0">
                <a:latin typeface="Bookman Old Style" panose="02050604050505020204" pitchFamily="18" charset="0"/>
              </a:rPr>
              <a:t>The idle air control valve is also known as idle speed control valve; </a:t>
            </a:r>
            <a:r>
              <a:rPr lang="en-US" dirty="0">
                <a:solidFill>
                  <a:srgbClr val="0070C0"/>
                </a:solidFill>
                <a:latin typeface="Bookman Old Style" panose="02050604050505020204" pitchFamily="18" charset="0"/>
              </a:rPr>
              <a:t>regulates the idle speed of the engine</a:t>
            </a:r>
            <a:r>
              <a:rPr lang="en-US" dirty="0">
                <a:latin typeface="Bookman Old Style" panose="02050604050505020204" pitchFamily="18" charset="0"/>
              </a:rPr>
              <a:t>. </a:t>
            </a:r>
          </a:p>
          <a:p>
            <a:pPr marL="342900" indent="-342900" algn="just">
              <a:lnSpc>
                <a:spcPct val="150000"/>
              </a:lnSpc>
              <a:buFont typeface="Arial" panose="020B0604020202020204" pitchFamily="34" charset="0"/>
              <a:buChar char="•"/>
            </a:pPr>
            <a:r>
              <a:rPr lang="en-US" b="1" dirty="0">
                <a:latin typeface="Bookman Old Style" panose="02050604050505020204" pitchFamily="18" charset="0"/>
              </a:rPr>
              <a:t>MAP Sensor: </a:t>
            </a:r>
            <a:r>
              <a:rPr lang="en-US" dirty="0">
                <a:latin typeface="Bookman Old Style" panose="02050604050505020204" pitchFamily="18" charset="0"/>
              </a:rPr>
              <a:t>This sensor measures </a:t>
            </a:r>
            <a:r>
              <a:rPr lang="en-US" dirty="0">
                <a:solidFill>
                  <a:srgbClr val="0070C0"/>
                </a:solidFill>
                <a:latin typeface="Bookman Old Style" panose="02050604050505020204" pitchFamily="18" charset="0"/>
              </a:rPr>
              <a:t>air pressure </a:t>
            </a:r>
            <a:r>
              <a:rPr lang="en-US" dirty="0">
                <a:latin typeface="Bookman Old Style" panose="02050604050505020204" pitchFamily="18" charset="0"/>
              </a:rPr>
              <a:t>which tells engine the </a:t>
            </a:r>
            <a:r>
              <a:rPr lang="en-US" dirty="0">
                <a:solidFill>
                  <a:srgbClr val="0070C0"/>
                </a:solidFill>
                <a:latin typeface="Bookman Old Style" panose="02050604050505020204" pitchFamily="18" charset="0"/>
              </a:rPr>
              <a:t>current altitude of a vehicle. </a:t>
            </a:r>
          </a:p>
          <a:p>
            <a:pPr marL="342900" indent="-342900" algn="just">
              <a:lnSpc>
                <a:spcPct val="150000"/>
              </a:lnSpc>
              <a:buFont typeface="Arial" panose="020B0604020202020204" pitchFamily="34" charset="0"/>
              <a:buChar char="•"/>
            </a:pPr>
            <a:r>
              <a:rPr lang="en-US" b="1" dirty="0">
                <a:latin typeface="Bookman Old Style" panose="02050604050505020204" pitchFamily="18" charset="0"/>
              </a:rPr>
              <a:t>Knock Sensor: </a:t>
            </a:r>
            <a:r>
              <a:rPr lang="en-US" dirty="0">
                <a:latin typeface="Bookman Old Style" panose="02050604050505020204" pitchFamily="18" charset="0"/>
              </a:rPr>
              <a:t>The Knock Sensor </a:t>
            </a:r>
            <a:r>
              <a:rPr lang="en-US" dirty="0">
                <a:solidFill>
                  <a:srgbClr val="0070C0"/>
                </a:solidFill>
                <a:latin typeface="Bookman Old Style" panose="02050604050505020204" pitchFamily="18" charset="0"/>
              </a:rPr>
              <a:t>detects engine knock and sends a voltage signal to the engine</a:t>
            </a:r>
            <a:r>
              <a:rPr lang="en-US" dirty="0">
                <a:latin typeface="Bookman Old Style" panose="02050604050505020204" pitchFamily="18" charset="0"/>
              </a:rPr>
              <a:t> and the engine uses that signal to control the timing</a:t>
            </a:r>
            <a:endParaRPr lang="en-IN" dirty="0">
              <a:latin typeface="Bookman Old Style" panose="02050604050505020204" pitchFamily="18" charset="0"/>
            </a:endParaRPr>
          </a:p>
        </p:txBody>
      </p:sp>
    </p:spTree>
    <p:extLst>
      <p:ext uri="{BB962C8B-B14F-4D97-AF65-F5344CB8AC3E}">
        <p14:creationId xmlns:p14="http://schemas.microsoft.com/office/powerpoint/2010/main" val="16773017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61AB8349-C366-A86F-42C5-95C8C2D35C6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FFF5BC0-13E7-D0EC-E771-C2DB3D41596B}"/>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Engine  Management System</a:t>
            </a:r>
          </a:p>
        </p:txBody>
      </p:sp>
      <p:sp>
        <p:nvSpPr>
          <p:cNvPr id="2" name="Rectangle 1">
            <a:extLst>
              <a:ext uri="{FF2B5EF4-FFF2-40B4-BE49-F238E27FC236}">
                <a16:creationId xmlns:a16="http://schemas.microsoft.com/office/drawing/2014/main" id="{AE5B0CEE-8638-45A6-8256-9B161D3F08BB}"/>
              </a:ext>
            </a:extLst>
          </p:cNvPr>
          <p:cNvSpPr/>
          <p:nvPr/>
        </p:nvSpPr>
        <p:spPr>
          <a:xfrm>
            <a:off x="346363" y="1110174"/>
            <a:ext cx="11166764" cy="5118452"/>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b="1" dirty="0">
                <a:latin typeface="Bookman Old Style" panose="02050604050505020204" pitchFamily="18" charset="0"/>
              </a:rPr>
              <a:t>Engine Speed Sensor</a:t>
            </a:r>
            <a:r>
              <a:rPr lang="en-US" sz="2000" dirty="0">
                <a:latin typeface="Bookman Old Style" panose="02050604050505020204" pitchFamily="18" charset="0"/>
              </a:rPr>
              <a:t>: An engine speed sensor is attached to crankshaft of car's engine and it indicate the </a:t>
            </a:r>
            <a:r>
              <a:rPr lang="en-US" sz="2000" dirty="0">
                <a:solidFill>
                  <a:srgbClr val="0070C0"/>
                </a:solidFill>
                <a:latin typeface="Bookman Old Style" panose="02050604050505020204" pitchFamily="18" charset="0"/>
              </a:rPr>
              <a:t>speed that crankshaft is spinning</a:t>
            </a:r>
            <a:r>
              <a:rPr lang="en-US" sz="2000" dirty="0">
                <a:latin typeface="Bookman Old Style" panose="02050604050505020204" pitchFamily="18" charset="0"/>
              </a:rPr>
              <a:t>. This information is beneficial to control both the ignition timing and EMS. </a:t>
            </a:r>
          </a:p>
          <a:p>
            <a:pPr marL="342900" indent="-342900" algn="just">
              <a:lnSpc>
                <a:spcPct val="150000"/>
              </a:lnSpc>
              <a:buFont typeface="Arial" panose="020B0604020202020204" pitchFamily="34" charset="0"/>
              <a:buChar char="•"/>
            </a:pPr>
            <a:r>
              <a:rPr lang="en-US" sz="2000" b="1" dirty="0">
                <a:latin typeface="Bookman Old Style" panose="02050604050505020204" pitchFamily="18" charset="0"/>
              </a:rPr>
              <a:t>Engine Oil Sensor: </a:t>
            </a:r>
            <a:r>
              <a:rPr lang="en-US" sz="2000" dirty="0">
                <a:latin typeface="Bookman Old Style" panose="02050604050505020204" pitchFamily="18" charset="0"/>
              </a:rPr>
              <a:t>It measures the </a:t>
            </a:r>
            <a:r>
              <a:rPr lang="en-US" sz="2000" dirty="0">
                <a:solidFill>
                  <a:srgbClr val="0070C0"/>
                </a:solidFill>
                <a:latin typeface="Bookman Old Style" panose="02050604050505020204" pitchFamily="18" charset="0"/>
              </a:rPr>
              <a:t>oil pressure inside the engine </a:t>
            </a:r>
            <a:r>
              <a:rPr lang="en-US" sz="2000" dirty="0">
                <a:latin typeface="Bookman Old Style" panose="02050604050505020204" pitchFamily="18" charset="0"/>
              </a:rPr>
              <a:t>and gives an alert in case of any problem with oil pressure. </a:t>
            </a:r>
          </a:p>
          <a:p>
            <a:pPr marL="342900" indent="-342900" algn="just">
              <a:lnSpc>
                <a:spcPct val="150000"/>
              </a:lnSpc>
              <a:buFont typeface="Arial" panose="020B0604020202020204" pitchFamily="34" charset="0"/>
              <a:buChar char="•"/>
            </a:pPr>
            <a:r>
              <a:rPr lang="en-US" sz="2000" b="1" dirty="0">
                <a:latin typeface="Bookman Old Style" panose="02050604050505020204" pitchFamily="18" charset="0"/>
              </a:rPr>
              <a:t>Crankshaft Sensor: </a:t>
            </a:r>
            <a:r>
              <a:rPr lang="en-US" sz="2000" dirty="0">
                <a:latin typeface="Bookman Old Style" panose="02050604050505020204" pitchFamily="18" charset="0"/>
              </a:rPr>
              <a:t>It is used to </a:t>
            </a:r>
            <a:r>
              <a:rPr lang="en-US" sz="2000" dirty="0">
                <a:solidFill>
                  <a:srgbClr val="0070C0"/>
                </a:solidFill>
                <a:latin typeface="Bookman Old Style" panose="02050604050505020204" pitchFamily="18" charset="0"/>
              </a:rPr>
              <a:t>monitor the position and rotational speed of crankshaft </a:t>
            </a:r>
            <a:r>
              <a:rPr lang="en-US" sz="2000" dirty="0">
                <a:latin typeface="Bookman Old Style" panose="02050604050505020204" pitchFamily="18" charset="0"/>
              </a:rPr>
              <a:t>and this information will be used by the EMS to control the ignition system timing and other engine parameters. </a:t>
            </a:r>
          </a:p>
          <a:p>
            <a:pPr marL="342900" indent="-342900" algn="just">
              <a:lnSpc>
                <a:spcPct val="150000"/>
              </a:lnSpc>
              <a:buFont typeface="Arial" panose="020B0604020202020204" pitchFamily="34" charset="0"/>
              <a:buChar char="•"/>
            </a:pPr>
            <a:r>
              <a:rPr lang="en-US" sz="2000" b="1" dirty="0">
                <a:latin typeface="Bookman Old Style" panose="02050604050505020204" pitchFamily="18" charset="0"/>
              </a:rPr>
              <a:t>Camshaft Sensor: </a:t>
            </a:r>
            <a:r>
              <a:rPr lang="en-US" sz="2000" dirty="0">
                <a:latin typeface="Bookman Old Style" panose="02050604050505020204" pitchFamily="18" charset="0"/>
              </a:rPr>
              <a:t>The Camshaft sensor </a:t>
            </a:r>
            <a:r>
              <a:rPr lang="en-US" sz="2000" dirty="0">
                <a:solidFill>
                  <a:srgbClr val="0070C0"/>
                </a:solidFill>
                <a:latin typeface="Bookman Old Style" panose="02050604050505020204" pitchFamily="18" charset="0"/>
              </a:rPr>
              <a:t>determines which cylinder is firing to establish injector synchronization</a:t>
            </a:r>
            <a:r>
              <a:rPr lang="en-US" sz="2000" dirty="0">
                <a:latin typeface="Bookman Old Style" panose="02050604050505020204" pitchFamily="18" charset="0"/>
              </a:rPr>
              <a:t> and coil firing sequence in DIS systems then only crankshaft sensor set ignition timing, supply the signal and measure the speed</a:t>
            </a:r>
            <a:endParaRPr lang="en-IN" sz="2000" dirty="0">
              <a:latin typeface="Bookman Old Style" panose="02050604050505020204" pitchFamily="18" charset="0"/>
            </a:endParaRPr>
          </a:p>
        </p:txBody>
      </p:sp>
    </p:spTree>
    <p:extLst>
      <p:ext uri="{BB962C8B-B14F-4D97-AF65-F5344CB8AC3E}">
        <p14:creationId xmlns:p14="http://schemas.microsoft.com/office/powerpoint/2010/main" val="29052191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61AB8349-C366-A86F-42C5-95C8C2D35C6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FFF5BC0-13E7-D0EC-E771-C2DB3D41596B}"/>
              </a:ext>
            </a:extLst>
          </p:cNvPr>
          <p:cNvSpPr txBox="1"/>
          <p:nvPr/>
        </p:nvSpPr>
        <p:spPr>
          <a:xfrm>
            <a:off x="2474082" y="235974"/>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Antilock Braking System</a:t>
            </a:r>
          </a:p>
        </p:txBody>
      </p:sp>
      <p:pic>
        <p:nvPicPr>
          <p:cNvPr id="1026" name="Picture 2" descr="anti-lock-braking-system">
            <a:extLst>
              <a:ext uri="{FF2B5EF4-FFF2-40B4-BE49-F238E27FC236}">
                <a16:creationId xmlns:a16="http://schemas.microsoft.com/office/drawing/2014/main" id="{41393DA0-76BB-41F9-8CB1-DBBE9864300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l="1263" t="12386" r="1248" b="3086"/>
          <a:stretch/>
        </p:blipFill>
        <p:spPr bwMode="auto">
          <a:xfrm>
            <a:off x="1460088" y="1526203"/>
            <a:ext cx="8856751" cy="3821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9565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61AB8349-C366-A86F-42C5-95C8C2D35C6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FFF5BC0-13E7-D0EC-E771-C2DB3D41596B}"/>
              </a:ext>
            </a:extLst>
          </p:cNvPr>
          <p:cNvSpPr txBox="1"/>
          <p:nvPr/>
        </p:nvSpPr>
        <p:spPr>
          <a:xfrm>
            <a:off x="2474082" y="235974"/>
            <a:ext cx="7243835" cy="954107"/>
          </a:xfrm>
          <a:prstGeom prst="rect">
            <a:avLst/>
          </a:prstGeom>
          <a:noFill/>
        </p:spPr>
        <p:txBody>
          <a:bodyPr wrap="square">
            <a:spAutoFit/>
          </a:bodyPr>
          <a:lstStyle/>
          <a:p>
            <a:pPr algn="ctr" defTabSz="1219170">
              <a:buClr>
                <a:srgbClr val="000000"/>
              </a:buClr>
            </a:pPr>
            <a:r>
              <a:rPr lang="en-US" altLang="en-US" sz="2800" b="1" kern="0" dirty="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dirty="0">
                <a:solidFill>
                  <a:srgbClr val="0070C0"/>
                </a:solidFill>
                <a:latin typeface="Bookman Old Style" panose="02050604050505020204" pitchFamily="18" charset="0"/>
                <a:cs typeface="Arial"/>
                <a:sym typeface="Arial"/>
              </a:rPr>
              <a:t>Antilock Braking System</a:t>
            </a:r>
          </a:p>
        </p:txBody>
      </p:sp>
      <p:pic>
        <p:nvPicPr>
          <p:cNvPr id="2" name="How Anti-Lock Brake System (ABS) Works _">
            <a:hlinkClick r:id="" action="ppaction://media"/>
            <a:extLst>
              <a:ext uri="{FF2B5EF4-FFF2-40B4-BE49-F238E27FC236}">
                <a16:creationId xmlns:a16="http://schemas.microsoft.com/office/drawing/2014/main" id="{959A70EB-8488-43B0-A79F-FC85B2B655A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048000" y="1714500"/>
            <a:ext cx="6096000" cy="3429000"/>
          </a:xfrm>
          <a:prstGeom prst="rect">
            <a:avLst/>
          </a:prstGeom>
        </p:spPr>
      </p:pic>
    </p:spTree>
    <p:extLst>
      <p:ext uri="{BB962C8B-B14F-4D97-AF65-F5344CB8AC3E}">
        <p14:creationId xmlns:p14="http://schemas.microsoft.com/office/powerpoint/2010/main" val="58099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017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61AB8349-C366-A86F-42C5-95C8C2D35C6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FFF5BC0-13E7-D0EC-E771-C2DB3D41596B}"/>
              </a:ext>
            </a:extLst>
          </p:cNvPr>
          <p:cNvSpPr txBox="1"/>
          <p:nvPr/>
        </p:nvSpPr>
        <p:spPr>
          <a:xfrm>
            <a:off x="2474081" y="156067"/>
            <a:ext cx="7243835" cy="954107"/>
          </a:xfrm>
          <a:prstGeom prst="rect">
            <a:avLst/>
          </a:prstGeom>
          <a:noFill/>
        </p:spPr>
        <p:txBody>
          <a:bodyPr wrap="square">
            <a:spAutoFit/>
          </a:bodyPr>
          <a:lstStyle/>
          <a:p>
            <a:pPr algn="ctr" defTabSz="1219170">
              <a:buClr>
                <a:srgbClr val="000000"/>
              </a:buClr>
            </a:pPr>
            <a:r>
              <a:rPr lang="en-US" altLang="en-US" sz="2800" b="1" kern="0">
                <a:solidFill>
                  <a:srgbClr val="0070C0"/>
                </a:solidFill>
                <a:latin typeface="Bookman Old Style" panose="02050604050505020204" pitchFamily="18" charset="0"/>
                <a:cs typeface="Arial"/>
                <a:sym typeface="Arial"/>
              </a:rPr>
              <a:t>Mechatronic  System</a:t>
            </a:r>
          </a:p>
          <a:p>
            <a:pPr algn="ctr" defTabSz="1219170">
              <a:buClr>
                <a:srgbClr val="000000"/>
              </a:buClr>
            </a:pPr>
            <a:r>
              <a:rPr lang="en-US" altLang="en-US" sz="2800" kern="0">
                <a:solidFill>
                  <a:srgbClr val="0070C0"/>
                </a:solidFill>
                <a:latin typeface="Bookman Old Style" panose="02050604050505020204" pitchFamily="18" charset="0"/>
                <a:cs typeface="Arial"/>
                <a:sym typeface="Arial"/>
              </a:rPr>
              <a:t>Antilock Braking System</a:t>
            </a:r>
            <a:endParaRPr lang="en-US" altLang="en-US" sz="2800" kern="0" dirty="0">
              <a:solidFill>
                <a:srgbClr val="0070C0"/>
              </a:solidFill>
              <a:latin typeface="Bookman Old Style" panose="02050604050505020204" pitchFamily="18" charset="0"/>
              <a:cs typeface="Arial"/>
              <a:sym typeface="Arial"/>
            </a:endParaRPr>
          </a:p>
        </p:txBody>
      </p:sp>
      <p:sp>
        <p:nvSpPr>
          <p:cNvPr id="2" name="Rectangle 1">
            <a:extLst>
              <a:ext uri="{FF2B5EF4-FFF2-40B4-BE49-F238E27FC236}">
                <a16:creationId xmlns:a16="http://schemas.microsoft.com/office/drawing/2014/main" id="{59DB5F40-576B-4FD1-8051-59A40C4F39C6}"/>
              </a:ext>
            </a:extLst>
          </p:cNvPr>
          <p:cNvSpPr/>
          <p:nvPr/>
        </p:nvSpPr>
        <p:spPr>
          <a:xfrm>
            <a:off x="589936" y="936632"/>
            <a:ext cx="11223522" cy="5580117"/>
          </a:xfrm>
          <a:prstGeom prst="rect">
            <a:avLst/>
          </a:prstGeom>
        </p:spPr>
        <p:txBody>
          <a:bodyPr wrap="square">
            <a:spAutoFit/>
          </a:bodyPr>
          <a:lstStyle/>
          <a:p>
            <a:pPr algn="just">
              <a:lnSpc>
                <a:spcPct val="150000"/>
              </a:lnSpc>
              <a:buFont typeface="Arial" panose="020B0604020202020204" pitchFamily="34" charset="0"/>
              <a:buChar char="•"/>
            </a:pPr>
            <a:r>
              <a:rPr lang="en-US" sz="2000" dirty="0">
                <a:latin typeface="Bookman Old Style" panose="02050604050505020204" pitchFamily="18" charset="0"/>
              </a:rPr>
              <a:t>The Electronic Control Unit (ECU) of the ABS reads signals from each wheel's speed sensors. </a:t>
            </a:r>
          </a:p>
          <a:p>
            <a:pPr algn="just">
              <a:lnSpc>
                <a:spcPct val="150000"/>
              </a:lnSpc>
              <a:buFont typeface="Arial" panose="020B0604020202020204" pitchFamily="34" charset="0"/>
              <a:buChar char="•"/>
            </a:pPr>
            <a:r>
              <a:rPr lang="en-US" sz="2000" dirty="0">
                <a:latin typeface="Bookman Old Style" panose="02050604050505020204" pitchFamily="18" charset="0"/>
              </a:rPr>
              <a:t>When the driver applies the brakes abruptly, the wheel decelerates rapidly, increasing the risk of wheel locking. </a:t>
            </a:r>
          </a:p>
          <a:p>
            <a:pPr algn="just">
              <a:lnSpc>
                <a:spcPct val="150000"/>
              </a:lnSpc>
              <a:buFont typeface="Arial" panose="020B0604020202020204" pitchFamily="34" charset="0"/>
              <a:buChar char="•"/>
            </a:pPr>
            <a:r>
              <a:rPr lang="en-US" sz="2000" dirty="0">
                <a:latin typeface="Bookman Old Style" panose="02050604050505020204" pitchFamily="18" charset="0"/>
              </a:rPr>
              <a:t>To counter this, the ECU detects the sudden speed decrease and signals the valve to close, reducing pressure on the brake pad and preventing wheel lock. </a:t>
            </a:r>
          </a:p>
          <a:p>
            <a:pPr algn="just">
              <a:lnSpc>
                <a:spcPct val="150000"/>
              </a:lnSpc>
              <a:buFont typeface="Arial" panose="020B0604020202020204" pitchFamily="34" charset="0"/>
              <a:buChar char="•"/>
            </a:pPr>
            <a:r>
              <a:rPr lang="en-US" sz="2000" dirty="0">
                <a:latin typeface="Bookman Old Style" panose="02050604050505020204" pitchFamily="18" charset="0"/>
              </a:rPr>
              <a:t>As the wheel starts to accelerate again, another signal prompts the ECU to open the valve, increasing brake pad pressure and slowing down the wheel. </a:t>
            </a:r>
          </a:p>
          <a:p>
            <a:pPr algn="just">
              <a:lnSpc>
                <a:spcPct val="150000"/>
              </a:lnSpc>
              <a:buFont typeface="Arial" panose="020B0604020202020204" pitchFamily="34" charset="0"/>
              <a:buChar char="•"/>
            </a:pPr>
            <a:r>
              <a:rPr lang="en-US" sz="2000" dirty="0">
                <a:latin typeface="Bookman Old Style" panose="02050604050505020204" pitchFamily="18" charset="0"/>
              </a:rPr>
              <a:t>This cycle of brake application and release occurs about 15 times per second during hard braking, effectively preventing wheel lock and eliminating vehicle skidding. </a:t>
            </a:r>
          </a:p>
          <a:p>
            <a:pPr algn="just">
              <a:lnSpc>
                <a:spcPct val="150000"/>
              </a:lnSpc>
              <a:buFont typeface="Arial" panose="020B0604020202020204" pitchFamily="34" charset="0"/>
              <a:buChar char="•"/>
            </a:pPr>
            <a:r>
              <a:rPr lang="en-US" sz="2000" dirty="0">
                <a:latin typeface="Bookman Old Style" panose="02050604050505020204" pitchFamily="18" charset="0"/>
              </a:rPr>
              <a:t>With ABS, drivers can steer the vehicle while braking, significantly reducing the risk of collisions.</a:t>
            </a:r>
            <a:endParaRPr lang="en-US" sz="2000" b="0" i="0" dirty="0">
              <a:latin typeface="Bookman Old Style" panose="02050604050505020204" pitchFamily="18" charset="0"/>
            </a:endParaRPr>
          </a:p>
        </p:txBody>
      </p:sp>
    </p:spTree>
    <p:extLst>
      <p:ext uri="{BB962C8B-B14F-4D97-AF65-F5344CB8AC3E}">
        <p14:creationId xmlns:p14="http://schemas.microsoft.com/office/powerpoint/2010/main" val="6581941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61AB8349-C366-A86F-42C5-95C8C2D35C6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FFF5BC0-13E7-D0EC-E771-C2DB3D41596B}"/>
              </a:ext>
            </a:extLst>
          </p:cNvPr>
          <p:cNvSpPr txBox="1"/>
          <p:nvPr/>
        </p:nvSpPr>
        <p:spPr>
          <a:xfrm>
            <a:off x="2377099" y="2951946"/>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Robotics</a:t>
            </a:r>
          </a:p>
        </p:txBody>
      </p:sp>
    </p:spTree>
    <p:extLst>
      <p:ext uri="{BB962C8B-B14F-4D97-AF65-F5344CB8AC3E}">
        <p14:creationId xmlns:p14="http://schemas.microsoft.com/office/powerpoint/2010/main" val="34787851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DDB015A6-100E-845D-9897-00091204EDB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5C582A5-0811-DE85-8F50-2D8CFE344D9A}"/>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sp>
        <p:nvSpPr>
          <p:cNvPr id="5" name="TextBox 4">
            <a:extLst>
              <a:ext uri="{FF2B5EF4-FFF2-40B4-BE49-F238E27FC236}">
                <a16:creationId xmlns:a16="http://schemas.microsoft.com/office/drawing/2014/main" id="{BBC0380A-D146-86D4-0992-DA4449D8899E}"/>
              </a:ext>
            </a:extLst>
          </p:cNvPr>
          <p:cNvSpPr txBox="1"/>
          <p:nvPr/>
        </p:nvSpPr>
        <p:spPr>
          <a:xfrm>
            <a:off x="678872" y="1373356"/>
            <a:ext cx="10668001" cy="3353675"/>
          </a:xfrm>
          <a:prstGeom prst="rect">
            <a:avLst/>
          </a:prstGeom>
          <a:noFill/>
        </p:spPr>
        <p:txBody>
          <a:bodyPr wrap="square">
            <a:spAutoFit/>
          </a:bodyPr>
          <a:lstStyle/>
          <a:p>
            <a:pPr algn="just" defTabSz="1219170">
              <a:lnSpc>
                <a:spcPct val="150000"/>
              </a:lnSpc>
              <a:buClr>
                <a:srgbClr val="000000"/>
              </a:buClr>
            </a:pPr>
            <a:r>
              <a:rPr lang="en-US" altLang="en-US" sz="2400" kern="0" dirty="0">
                <a:solidFill>
                  <a:srgbClr val="000000"/>
                </a:solidFill>
                <a:latin typeface="Bookman Old Style" panose="02050604050505020204" pitchFamily="18" charset="0"/>
                <a:cs typeface="Times New Roman" panose="02020603050405020304" pitchFamily="18" charset="0"/>
                <a:sym typeface="Arial"/>
              </a:rPr>
              <a:t>The word robot was first coined by Czech novelist KAREL CAPEK in 1920’s. The word robot means a servant or a worker. However, this was just a word coined but the actual technological development in the field of robot was first noted in the year 1957 by English inventor CYRIL WALTER KENWARD developed a manipulator that could move in x-y-z axes system.</a:t>
            </a:r>
          </a:p>
        </p:txBody>
      </p:sp>
    </p:spTree>
    <p:extLst>
      <p:ext uri="{BB962C8B-B14F-4D97-AF65-F5344CB8AC3E}">
        <p14:creationId xmlns:p14="http://schemas.microsoft.com/office/powerpoint/2010/main" val="39691359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F8465BB7-B9A0-2DC2-D697-A9B3DD82B81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E9DE751-C7E2-BBD4-6BAE-2B968005B389}"/>
              </a:ext>
            </a:extLst>
          </p:cNvPr>
          <p:cNvSpPr txBox="1"/>
          <p:nvPr/>
        </p:nvSpPr>
        <p:spPr>
          <a:xfrm>
            <a:off x="346364" y="1341493"/>
            <a:ext cx="11581232" cy="5425844"/>
          </a:xfrm>
          <a:prstGeom prst="rect">
            <a:avLst/>
          </a:prstGeom>
          <a:noFill/>
        </p:spPr>
        <p:txBody>
          <a:bodyPr wrap="square">
            <a:spAutoFit/>
          </a:bodyPr>
          <a:lstStyle/>
          <a:p>
            <a:pPr algn="just" defTabSz="1219170">
              <a:buClr>
                <a:srgbClr val="000000"/>
              </a:buClr>
            </a:pPr>
            <a:r>
              <a:rPr lang="en-US" altLang="en-US" sz="1733" kern="0" dirty="0">
                <a:solidFill>
                  <a:srgbClr val="000000"/>
                </a:solidFill>
                <a:latin typeface="Bookman Old Style" panose="02050604050505020204" pitchFamily="18" charset="0"/>
                <a:cs typeface="Times New Roman" panose="02020603050405020304" pitchFamily="18" charset="0"/>
                <a:sym typeface="Arial"/>
              </a:rPr>
              <a:t>The basic elements of industrial robots are manipulator, controller, end effector, sensors and energy source:-</a:t>
            </a:r>
          </a:p>
          <a:p>
            <a:pPr algn="just" defTabSz="1219170">
              <a:buClr>
                <a:srgbClr val="000000"/>
              </a:buClr>
            </a:pPr>
            <a:r>
              <a:rPr lang="en-US" altLang="en-US" sz="1733" b="1" kern="0" dirty="0">
                <a:solidFill>
                  <a:srgbClr val="000000"/>
                </a:solidFill>
                <a:latin typeface="Bookman Old Style" panose="02050604050505020204" pitchFamily="18" charset="0"/>
                <a:cs typeface="Times New Roman" panose="02020603050405020304" pitchFamily="18" charset="0"/>
                <a:sym typeface="Arial"/>
              </a:rPr>
              <a:t>1. Manipulators: </a:t>
            </a:r>
            <a:r>
              <a:rPr lang="en-US" altLang="en-US" sz="1733" kern="0" dirty="0">
                <a:solidFill>
                  <a:srgbClr val="000000"/>
                </a:solidFill>
                <a:latin typeface="Bookman Old Style" panose="02050604050505020204" pitchFamily="18" charset="0"/>
                <a:cs typeface="Times New Roman" panose="02020603050405020304" pitchFamily="18" charset="0"/>
                <a:sym typeface="Arial"/>
              </a:rPr>
              <a:t>It comprises of base, arm, wrist are the most obvious parts of a robot. The robot movements are executed by the mechanical parts like links, power joints and transmission system along with internal sensors housed within the manipulator.</a:t>
            </a:r>
          </a:p>
          <a:p>
            <a:pPr algn="just" defTabSz="1219170">
              <a:buClr>
                <a:srgbClr val="000000"/>
              </a:buClr>
            </a:pPr>
            <a:r>
              <a:rPr lang="en-US" altLang="en-US" sz="1733" b="1" kern="0" dirty="0">
                <a:solidFill>
                  <a:srgbClr val="000000"/>
                </a:solidFill>
                <a:latin typeface="Bookman Old Style" panose="02050604050505020204" pitchFamily="18" charset="0"/>
                <a:cs typeface="Times New Roman" panose="02020603050405020304" pitchFamily="18" charset="0"/>
                <a:sym typeface="Arial"/>
              </a:rPr>
              <a:t>2. Controller: </a:t>
            </a:r>
            <a:r>
              <a:rPr lang="en-US" altLang="en-US" sz="1733" kern="0" dirty="0">
                <a:solidFill>
                  <a:srgbClr val="000000"/>
                </a:solidFill>
                <a:latin typeface="Bookman Old Style" panose="02050604050505020204" pitchFamily="18" charset="0"/>
                <a:cs typeface="Times New Roman" panose="02020603050405020304" pitchFamily="18" charset="0"/>
                <a:sym typeface="Arial"/>
              </a:rPr>
              <a:t>The controller acts like a brain of robot. It performs the functions of storing and sequencing data in memory, initiating and stopping the motions of manipulators and interacting with environment.</a:t>
            </a:r>
          </a:p>
          <a:p>
            <a:pPr algn="just" defTabSz="1219170">
              <a:buClr>
                <a:srgbClr val="000000"/>
              </a:buClr>
            </a:pPr>
            <a:r>
              <a:rPr lang="en-US" altLang="en-US" sz="1733" b="1" kern="0" dirty="0">
                <a:solidFill>
                  <a:srgbClr val="000000"/>
                </a:solidFill>
                <a:latin typeface="Bookman Old Style" panose="02050604050505020204" pitchFamily="18" charset="0"/>
                <a:cs typeface="Times New Roman" panose="02020603050405020304" pitchFamily="18" charset="0"/>
                <a:sym typeface="Arial"/>
              </a:rPr>
              <a:t>3. End effectors: </a:t>
            </a:r>
            <a:r>
              <a:rPr lang="en-US" altLang="en-US" sz="1733" kern="0" dirty="0">
                <a:solidFill>
                  <a:srgbClr val="000000"/>
                </a:solidFill>
                <a:latin typeface="Bookman Old Style" panose="02050604050505020204" pitchFamily="18" charset="0"/>
                <a:cs typeface="Times New Roman" panose="02020603050405020304" pitchFamily="18" charset="0"/>
                <a:sym typeface="Arial"/>
              </a:rPr>
              <a:t>End effector is the tool, a sort of gripper which directly interacts with the job. Grippers are being designed to handle a wide range of part configurations. The gripper is similar to human hand. Just the hand grasps the tool to perform the work; the gripper secures the robot’s work piece while the operation is being performed. The shape of the gripper is determined by the task it has to perform. These include tools designed to weld, paint or perform machining operations such as milling and grinding.</a:t>
            </a:r>
          </a:p>
          <a:p>
            <a:pPr algn="just" defTabSz="1219170">
              <a:buClr>
                <a:srgbClr val="000000"/>
              </a:buClr>
            </a:pPr>
            <a:r>
              <a:rPr lang="en-US" altLang="en-US" sz="1733" b="1" kern="0" dirty="0">
                <a:solidFill>
                  <a:srgbClr val="000000"/>
                </a:solidFill>
                <a:latin typeface="Bookman Old Style" panose="02050604050505020204" pitchFamily="18" charset="0"/>
                <a:cs typeface="Times New Roman" panose="02020603050405020304" pitchFamily="18" charset="0"/>
                <a:sym typeface="Arial"/>
              </a:rPr>
              <a:t>4. Actuators: </a:t>
            </a:r>
            <a:r>
              <a:rPr lang="en-US" altLang="en-US" sz="1733" kern="0" dirty="0">
                <a:solidFill>
                  <a:srgbClr val="000000"/>
                </a:solidFill>
                <a:latin typeface="Bookman Old Style" panose="02050604050505020204" pitchFamily="18" charset="0"/>
                <a:cs typeface="Times New Roman" panose="02020603050405020304" pitchFamily="18" charset="0"/>
                <a:sym typeface="Arial"/>
              </a:rPr>
              <a:t>Just as the human body requires muscles the robot arm requires actuators to move the manipulators. The actuators are devices that exert force to drive the manipulator into a predetermined position or series of positions and hold the joint rigidly once the position is reached. There are two types of actuators. Angular and linear. Angular actuators rotate their loads. Linear actuators extend their loads. The classification of actuators is related to the type of power they use. Electrical actuators use electrical power, hydraulic actuators use hydraulic power and pneumatic actuators use pneumatic power.</a:t>
            </a:r>
          </a:p>
        </p:txBody>
      </p:sp>
      <p:sp>
        <p:nvSpPr>
          <p:cNvPr id="3" name="TextBox 2">
            <a:extLst>
              <a:ext uri="{FF2B5EF4-FFF2-40B4-BE49-F238E27FC236}">
                <a16:creationId xmlns:a16="http://schemas.microsoft.com/office/drawing/2014/main" id="{8C197641-9BA0-BDE2-BB33-2B3F74B5BCC8}"/>
              </a:ext>
            </a:extLst>
          </p:cNvPr>
          <p:cNvSpPr txBox="1"/>
          <p:nvPr/>
        </p:nvSpPr>
        <p:spPr>
          <a:xfrm>
            <a:off x="2474081" y="37349"/>
            <a:ext cx="7243835" cy="830997"/>
          </a:xfrm>
          <a:prstGeom prst="rect">
            <a:avLst/>
          </a:prstGeom>
          <a:noFill/>
        </p:spPr>
        <p:txBody>
          <a:bodyPr wrap="square">
            <a:spAutoFit/>
          </a:bodyPr>
          <a:lstStyle/>
          <a:p>
            <a:pPr algn="ctr" defTabSz="1219170">
              <a:buClr>
                <a:srgbClr val="000000"/>
              </a:buClr>
            </a:pPr>
            <a:r>
              <a:rPr lang="en-US" altLang="en-US" sz="2400" b="1" kern="0" dirty="0">
                <a:solidFill>
                  <a:srgbClr val="0070C0"/>
                </a:solidFill>
                <a:latin typeface="Bookman Old Style" panose="02050604050505020204" pitchFamily="18" charset="0"/>
                <a:cs typeface="Arial"/>
                <a:sym typeface="Arial"/>
              </a:rPr>
              <a:t>BASIC ELEMENTS OF ROBOT </a:t>
            </a:r>
          </a:p>
          <a:p>
            <a:pPr algn="ctr" defTabSz="1219170">
              <a:buClr>
                <a:srgbClr val="000000"/>
              </a:buClr>
            </a:pPr>
            <a:r>
              <a:rPr lang="en-US" altLang="en-US" sz="2400" b="1" kern="0" dirty="0">
                <a:solidFill>
                  <a:srgbClr val="0070C0"/>
                </a:solidFill>
                <a:latin typeface="Bookman Old Style" panose="02050604050505020204" pitchFamily="18" charset="0"/>
                <a:cs typeface="Arial"/>
                <a:sym typeface="Arial"/>
              </a:rPr>
              <a:t>or  ROBOT ANATOMY</a:t>
            </a:r>
          </a:p>
        </p:txBody>
      </p:sp>
    </p:spTree>
    <p:extLst>
      <p:ext uri="{BB962C8B-B14F-4D97-AF65-F5344CB8AC3E}">
        <p14:creationId xmlns:p14="http://schemas.microsoft.com/office/powerpoint/2010/main" val="26731826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2B2826E9-C257-B0F4-04C0-6AC6DD41910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D1487A3-E1AD-ECC9-5BD3-7C153864AFEA}"/>
              </a:ext>
            </a:extLst>
          </p:cNvPr>
          <p:cNvSpPr txBox="1"/>
          <p:nvPr/>
        </p:nvSpPr>
        <p:spPr>
          <a:xfrm>
            <a:off x="2474081" y="37349"/>
            <a:ext cx="7243835" cy="1200329"/>
          </a:xfrm>
          <a:prstGeom prst="rect">
            <a:avLst/>
          </a:prstGeom>
          <a:noFill/>
        </p:spPr>
        <p:txBody>
          <a:bodyPr wrap="square">
            <a:spAutoFit/>
          </a:bodyPr>
          <a:lstStyle/>
          <a:p>
            <a:pPr algn="ctr" defTabSz="1219170">
              <a:buClr>
                <a:srgbClr val="000000"/>
              </a:buClr>
            </a:pPr>
            <a:r>
              <a:rPr lang="en-US" altLang="en-US" sz="2400" b="1" kern="0" dirty="0">
                <a:solidFill>
                  <a:srgbClr val="0070C0"/>
                </a:solidFill>
                <a:latin typeface="Bookman Old Style" panose="02050604050505020204" pitchFamily="18" charset="0"/>
                <a:cs typeface="Arial"/>
                <a:sym typeface="Arial"/>
              </a:rPr>
              <a:t>BASIC ELEMENTS OF ROBOT </a:t>
            </a:r>
          </a:p>
          <a:p>
            <a:pPr algn="ctr" defTabSz="1219170">
              <a:buClr>
                <a:srgbClr val="000000"/>
              </a:buClr>
            </a:pPr>
            <a:r>
              <a:rPr lang="en-US" altLang="en-US" sz="2400" b="1" kern="0" dirty="0">
                <a:solidFill>
                  <a:srgbClr val="0070C0"/>
                </a:solidFill>
                <a:latin typeface="Bookman Old Style" panose="02050604050505020204" pitchFamily="18" charset="0"/>
                <a:cs typeface="Arial"/>
                <a:sym typeface="Arial"/>
              </a:rPr>
              <a:t>or  </a:t>
            </a:r>
          </a:p>
          <a:p>
            <a:pPr algn="ctr" defTabSz="1219170">
              <a:buClr>
                <a:srgbClr val="000000"/>
              </a:buClr>
            </a:pPr>
            <a:r>
              <a:rPr lang="en-US" altLang="en-US" sz="2400" b="1" kern="0" dirty="0">
                <a:solidFill>
                  <a:srgbClr val="0070C0"/>
                </a:solidFill>
                <a:latin typeface="Bookman Old Style" panose="02050604050505020204" pitchFamily="18" charset="0"/>
                <a:cs typeface="Arial"/>
                <a:sym typeface="Arial"/>
              </a:rPr>
              <a:t>ROBOT ANATOMY</a:t>
            </a:r>
          </a:p>
        </p:txBody>
      </p:sp>
      <p:pic>
        <p:nvPicPr>
          <p:cNvPr id="7" name="Picture 6">
            <a:extLst>
              <a:ext uri="{FF2B5EF4-FFF2-40B4-BE49-F238E27FC236}">
                <a16:creationId xmlns:a16="http://schemas.microsoft.com/office/drawing/2014/main" id="{F4F0509A-7F0F-4A7E-AAEC-E477A448A013}"/>
              </a:ext>
            </a:extLst>
          </p:cNvPr>
          <p:cNvPicPr>
            <a:picLocks noChangeAspect="1"/>
          </p:cNvPicPr>
          <p:nvPr/>
        </p:nvPicPr>
        <p:blipFill>
          <a:blip r:embed="rId3"/>
          <a:stretch>
            <a:fillRect/>
          </a:stretch>
        </p:blipFill>
        <p:spPr>
          <a:xfrm>
            <a:off x="5792639" y="2782416"/>
            <a:ext cx="6134956" cy="3759725"/>
          </a:xfrm>
          <a:prstGeom prst="rect">
            <a:avLst/>
          </a:prstGeom>
        </p:spPr>
      </p:pic>
      <p:pic>
        <p:nvPicPr>
          <p:cNvPr id="4" name="Picture 3">
            <a:extLst>
              <a:ext uri="{FF2B5EF4-FFF2-40B4-BE49-F238E27FC236}">
                <a16:creationId xmlns:a16="http://schemas.microsoft.com/office/drawing/2014/main" id="{8F76B6B3-6EE6-0C71-0F04-6C46BEEE0C8A}"/>
              </a:ext>
            </a:extLst>
          </p:cNvPr>
          <p:cNvPicPr>
            <a:picLocks noChangeAspect="1"/>
          </p:cNvPicPr>
          <p:nvPr/>
        </p:nvPicPr>
        <p:blipFill>
          <a:blip r:embed="rId4"/>
          <a:stretch>
            <a:fillRect/>
          </a:stretch>
        </p:blipFill>
        <p:spPr>
          <a:xfrm>
            <a:off x="108487" y="1356591"/>
            <a:ext cx="5840069" cy="2814237"/>
          </a:xfrm>
          <a:prstGeom prst="rect">
            <a:avLst/>
          </a:prstGeom>
        </p:spPr>
      </p:pic>
    </p:spTree>
    <p:extLst>
      <p:ext uri="{BB962C8B-B14F-4D97-AF65-F5344CB8AC3E}">
        <p14:creationId xmlns:p14="http://schemas.microsoft.com/office/powerpoint/2010/main" val="34387666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C8ECDCA8-077F-6B0C-69DB-DF3C03CEE23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7D4890A-E72B-92C6-67EB-93B4BA414F36}"/>
              </a:ext>
            </a:extLst>
          </p:cNvPr>
          <p:cNvSpPr txBox="1"/>
          <p:nvPr/>
        </p:nvSpPr>
        <p:spPr>
          <a:xfrm>
            <a:off x="443346" y="1211774"/>
            <a:ext cx="11125200" cy="4625818"/>
          </a:xfrm>
          <a:prstGeom prst="rect">
            <a:avLst/>
          </a:prstGeom>
          <a:noFill/>
        </p:spPr>
        <p:txBody>
          <a:bodyPr wrap="square">
            <a:spAutoFit/>
          </a:bodyPr>
          <a:lstStyle/>
          <a:p>
            <a:pPr algn="just" defTabSz="1219170">
              <a:buClr>
                <a:srgbClr val="000000"/>
              </a:buClr>
            </a:pPr>
            <a:r>
              <a:rPr lang="en-US" altLang="en-US" sz="1733" b="1" kern="0" dirty="0">
                <a:solidFill>
                  <a:srgbClr val="000000"/>
                </a:solidFill>
                <a:latin typeface="Bookman Old Style" panose="02050604050505020204" pitchFamily="18" charset="0"/>
                <a:cs typeface="Times New Roman" panose="02020603050405020304" pitchFamily="18" charset="0"/>
                <a:sym typeface="Arial"/>
              </a:rPr>
              <a:t>5. Axes/Joints/ Degree of freedom: </a:t>
            </a:r>
            <a:r>
              <a:rPr lang="en-US" altLang="en-US" sz="1733" kern="0" dirty="0">
                <a:solidFill>
                  <a:srgbClr val="000000"/>
                </a:solidFill>
                <a:latin typeface="Bookman Old Style" panose="02050604050505020204" pitchFamily="18" charset="0"/>
                <a:cs typeface="Times New Roman" panose="02020603050405020304" pitchFamily="18" charset="0"/>
                <a:sym typeface="Arial"/>
              </a:rPr>
              <a:t>While the manipulator provides the support needed there must be flexible joints in the system to follow for movement in different directions. The axes are flexible joints in the system to allow for movement in different direction. The axes are flexible pivots in the mechanical skeleton that allow the bending of structure at that point.</a:t>
            </a:r>
          </a:p>
          <a:p>
            <a:pPr algn="just" defTabSz="1219170">
              <a:buClr>
                <a:srgbClr val="000000"/>
              </a:buClr>
            </a:pPr>
            <a:r>
              <a:rPr lang="en-US" altLang="en-US" sz="1733" b="1" kern="0" dirty="0">
                <a:solidFill>
                  <a:srgbClr val="000000"/>
                </a:solidFill>
                <a:latin typeface="Bookman Old Style" panose="02050604050505020204" pitchFamily="18" charset="0"/>
                <a:cs typeface="Times New Roman" panose="02020603050405020304" pitchFamily="18" charset="0"/>
                <a:sym typeface="Arial"/>
              </a:rPr>
              <a:t>6. Power supplies: </a:t>
            </a:r>
            <a:r>
              <a:rPr lang="en-US" altLang="en-US" sz="1733" kern="0" dirty="0">
                <a:solidFill>
                  <a:srgbClr val="000000"/>
                </a:solidFill>
                <a:latin typeface="Bookman Old Style" panose="02050604050505020204" pitchFamily="18" charset="0"/>
                <a:cs typeface="Times New Roman" panose="02020603050405020304" pitchFamily="18" charset="0"/>
                <a:sym typeface="Arial"/>
              </a:rPr>
              <a:t>Just as human digestive system converts food into usable energy the robot power supply provides the actuators and control unit with the energy that they need to function. The energy must be in the form that a robot system can use. If the actuators are hydraulic and the workplace only has electrical power available, then the power supply must convert this electrical energy into hydraulic energy. </a:t>
            </a:r>
          </a:p>
          <a:p>
            <a:pPr algn="just" defTabSz="1219170">
              <a:buClr>
                <a:srgbClr val="000000"/>
              </a:buClr>
            </a:pPr>
            <a:r>
              <a:rPr lang="en-US" altLang="en-US" sz="1733" b="1" kern="0" dirty="0">
                <a:solidFill>
                  <a:srgbClr val="000000"/>
                </a:solidFill>
                <a:latin typeface="Bookman Old Style" panose="02050604050505020204" pitchFamily="18" charset="0"/>
                <a:cs typeface="Times New Roman" panose="02020603050405020304" pitchFamily="18" charset="0"/>
                <a:sym typeface="Arial"/>
              </a:rPr>
              <a:t>7. Data distribution system: </a:t>
            </a:r>
            <a:r>
              <a:rPr lang="en-US" altLang="en-US" sz="1733" kern="0" dirty="0">
                <a:solidFill>
                  <a:srgbClr val="000000"/>
                </a:solidFill>
                <a:latin typeface="Bookman Old Style" panose="02050604050505020204" pitchFamily="18" charset="0"/>
                <a:cs typeface="Times New Roman" panose="02020603050405020304" pitchFamily="18" charset="0"/>
                <a:sym typeface="Arial"/>
              </a:rPr>
              <a:t>In the human body neurons receive messages from the brain and passage those messages to the muscles. In the same way the data distribution system receive messages from control unit and passes them on to the actuators.</a:t>
            </a:r>
          </a:p>
          <a:p>
            <a:pPr algn="just" defTabSz="1219170">
              <a:buClr>
                <a:srgbClr val="000000"/>
              </a:buClr>
            </a:pPr>
            <a:r>
              <a:rPr lang="en-US" altLang="en-US" sz="1733" b="1" kern="0" dirty="0">
                <a:solidFill>
                  <a:srgbClr val="000000"/>
                </a:solidFill>
                <a:latin typeface="Bookman Old Style" panose="02050604050505020204" pitchFamily="18" charset="0"/>
                <a:cs typeface="Times New Roman" panose="02020603050405020304" pitchFamily="18" charset="0"/>
                <a:sym typeface="Arial"/>
              </a:rPr>
              <a:t>8. Data acquisition system: </a:t>
            </a:r>
            <a:r>
              <a:rPr lang="en-US" altLang="en-US" sz="1733" kern="0" dirty="0">
                <a:solidFill>
                  <a:srgbClr val="000000"/>
                </a:solidFill>
                <a:latin typeface="Bookman Old Style" panose="02050604050505020204" pitchFamily="18" charset="0"/>
                <a:cs typeface="Times New Roman" panose="02020603050405020304" pitchFamily="18" charset="0"/>
                <a:sym typeface="Arial"/>
              </a:rPr>
              <a:t>Sensory neurons in the human body receive messages from the environment and pass those messages to the brain. Human sensory neurons respond to touch stimuli such as contact with objects or change in temperature. After receiving these messages, the brain can make judgements about the environment. In similar fashion, the robotic data acquisition system receives messages from environment and passes those messages into control unit.</a:t>
            </a:r>
          </a:p>
        </p:txBody>
      </p:sp>
      <p:sp>
        <p:nvSpPr>
          <p:cNvPr id="3" name="TextBox 2">
            <a:extLst>
              <a:ext uri="{FF2B5EF4-FFF2-40B4-BE49-F238E27FC236}">
                <a16:creationId xmlns:a16="http://schemas.microsoft.com/office/drawing/2014/main" id="{55CC34CB-3E66-437B-7B67-68F2741D2DE7}"/>
              </a:ext>
            </a:extLst>
          </p:cNvPr>
          <p:cNvSpPr txBox="1"/>
          <p:nvPr/>
        </p:nvSpPr>
        <p:spPr>
          <a:xfrm>
            <a:off x="2474081" y="37349"/>
            <a:ext cx="7243835" cy="1200329"/>
          </a:xfrm>
          <a:prstGeom prst="rect">
            <a:avLst/>
          </a:prstGeom>
          <a:noFill/>
        </p:spPr>
        <p:txBody>
          <a:bodyPr wrap="square">
            <a:spAutoFit/>
          </a:bodyPr>
          <a:lstStyle/>
          <a:p>
            <a:pPr algn="ctr" defTabSz="1219170">
              <a:buClr>
                <a:srgbClr val="000000"/>
              </a:buClr>
            </a:pPr>
            <a:r>
              <a:rPr lang="en-US" altLang="en-US" sz="2400" b="1" kern="0" dirty="0">
                <a:solidFill>
                  <a:srgbClr val="0070C0"/>
                </a:solidFill>
                <a:latin typeface="Bookman Old Style" panose="02050604050505020204" pitchFamily="18" charset="0"/>
                <a:cs typeface="Arial"/>
                <a:sym typeface="Arial"/>
              </a:rPr>
              <a:t>BASIC ELEMENTS OF ROBOT </a:t>
            </a:r>
          </a:p>
          <a:p>
            <a:pPr algn="ctr" defTabSz="1219170">
              <a:buClr>
                <a:srgbClr val="000000"/>
              </a:buClr>
            </a:pPr>
            <a:r>
              <a:rPr lang="en-US" altLang="en-US" sz="2400" b="1" kern="0" dirty="0">
                <a:solidFill>
                  <a:srgbClr val="0070C0"/>
                </a:solidFill>
                <a:latin typeface="Bookman Old Style" panose="02050604050505020204" pitchFamily="18" charset="0"/>
                <a:cs typeface="Arial"/>
                <a:sym typeface="Arial"/>
              </a:rPr>
              <a:t>or  </a:t>
            </a:r>
          </a:p>
          <a:p>
            <a:pPr algn="ctr" defTabSz="1219170">
              <a:buClr>
                <a:srgbClr val="000000"/>
              </a:buClr>
            </a:pPr>
            <a:r>
              <a:rPr lang="en-US" altLang="en-US" sz="2400" b="1" kern="0" dirty="0">
                <a:solidFill>
                  <a:srgbClr val="0070C0"/>
                </a:solidFill>
                <a:latin typeface="Bookman Old Style" panose="02050604050505020204" pitchFamily="18" charset="0"/>
                <a:cs typeface="Arial"/>
                <a:sym typeface="Arial"/>
              </a:rPr>
              <a:t>ROBOT ANATOMY</a:t>
            </a:r>
          </a:p>
        </p:txBody>
      </p:sp>
    </p:spTree>
    <p:extLst>
      <p:ext uri="{BB962C8B-B14F-4D97-AF65-F5344CB8AC3E}">
        <p14:creationId xmlns:p14="http://schemas.microsoft.com/office/powerpoint/2010/main" val="29256459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B433856C-DEA2-ACDB-FA62-124F3C38D5E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62D62AC-DC20-2F6D-1C3C-EC8DF4E0704E}"/>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sp>
        <p:nvSpPr>
          <p:cNvPr id="5" name="TextBox 4">
            <a:extLst>
              <a:ext uri="{FF2B5EF4-FFF2-40B4-BE49-F238E27FC236}">
                <a16:creationId xmlns:a16="http://schemas.microsoft.com/office/drawing/2014/main" id="{D24B3572-D04B-B81D-440B-B4CED1F9337F}"/>
              </a:ext>
            </a:extLst>
          </p:cNvPr>
          <p:cNvSpPr txBox="1"/>
          <p:nvPr/>
        </p:nvSpPr>
        <p:spPr>
          <a:xfrm>
            <a:off x="264405" y="1353649"/>
            <a:ext cx="11663191" cy="4031104"/>
          </a:xfrm>
          <a:prstGeom prst="rect">
            <a:avLst/>
          </a:prstGeom>
          <a:noFill/>
        </p:spPr>
        <p:txBody>
          <a:bodyPr wrap="square">
            <a:spAutoFit/>
          </a:bodyPr>
          <a:lstStyle/>
          <a:p>
            <a:pPr algn="just" defTabSz="1219170">
              <a:buClr>
                <a:srgbClr val="000000"/>
              </a:buClr>
            </a:pPr>
            <a:r>
              <a:rPr lang="en-IN" sz="2133" b="1" kern="0" dirty="0">
                <a:solidFill>
                  <a:srgbClr val="000000"/>
                </a:solidFill>
                <a:latin typeface="Bookman Old Style" panose="02050604050505020204" pitchFamily="18" charset="0"/>
                <a:cs typeface="Arial"/>
                <a:sym typeface="Arial"/>
              </a:rPr>
              <a:t>Robot definition: </a:t>
            </a:r>
            <a:r>
              <a:rPr lang="en-IN" sz="2133" kern="0" dirty="0">
                <a:solidFill>
                  <a:srgbClr val="000000"/>
                </a:solidFill>
                <a:latin typeface="Bookman Old Style" panose="02050604050505020204" pitchFamily="18" charset="0"/>
                <a:cs typeface="Arial"/>
                <a:sym typeface="Arial"/>
              </a:rPr>
              <a:t>The Robot Institute of America in 1979 defined a Robot as follows:</a:t>
            </a:r>
          </a:p>
          <a:p>
            <a:pPr algn="just" defTabSz="1219170">
              <a:buClr>
                <a:srgbClr val="000000"/>
              </a:buClr>
            </a:pPr>
            <a:endParaRPr lang="en-IN" sz="2133" kern="0" dirty="0">
              <a:solidFill>
                <a:srgbClr val="000000"/>
              </a:solidFill>
              <a:latin typeface="Bookman Old Style" panose="02050604050505020204" pitchFamily="18" charset="0"/>
              <a:cs typeface="Arial"/>
              <a:sym typeface="Arial"/>
            </a:endParaRPr>
          </a:p>
          <a:p>
            <a:pPr algn="just" defTabSz="1219170">
              <a:buClr>
                <a:srgbClr val="000000"/>
              </a:buClr>
            </a:pPr>
            <a:r>
              <a:rPr lang="en-IN" sz="2133" i="1" kern="0" dirty="0">
                <a:solidFill>
                  <a:srgbClr val="000000"/>
                </a:solidFill>
                <a:latin typeface="Bookman Old Style" panose="02050604050505020204" pitchFamily="18" charset="0"/>
                <a:cs typeface="Arial"/>
                <a:sym typeface="Arial"/>
              </a:rPr>
              <a:t>A Robot is a reprogrammable, multifunctional manipulator designed to move material, parts, tools or specialized devices through variable programmed motions of performance of a variety of tasks.</a:t>
            </a:r>
          </a:p>
          <a:p>
            <a:pPr algn="just" defTabSz="1219170">
              <a:buClr>
                <a:srgbClr val="000000"/>
              </a:buClr>
            </a:pPr>
            <a:endParaRPr lang="en-IN" sz="2133" kern="0" dirty="0">
              <a:solidFill>
                <a:srgbClr val="000000"/>
              </a:solidFill>
              <a:latin typeface="Bookman Old Style" panose="02050604050505020204" pitchFamily="18" charset="0"/>
              <a:cs typeface="Arial"/>
              <a:sym typeface="Arial"/>
            </a:endParaRPr>
          </a:p>
          <a:p>
            <a:pPr algn="just" defTabSz="1219170">
              <a:buClr>
                <a:srgbClr val="000000"/>
              </a:buClr>
            </a:pPr>
            <a:r>
              <a:rPr lang="en-IN" sz="2133" kern="0" dirty="0">
                <a:solidFill>
                  <a:srgbClr val="000000"/>
                </a:solidFill>
                <a:latin typeface="Bookman Old Style" panose="02050604050505020204" pitchFamily="18" charset="0"/>
                <a:cs typeface="Arial"/>
                <a:sym typeface="Arial"/>
              </a:rPr>
              <a:t>A robot that is used to perform tasks in industries is called as an "industrial robot". An industrial robot can perform wide range of industrial tasks like loading, unloading, welding, painting, inspection, assembly, material transfer, etc.</a:t>
            </a:r>
          </a:p>
          <a:p>
            <a:pPr algn="just" defTabSz="1219170">
              <a:buClr>
                <a:srgbClr val="000000"/>
              </a:buClr>
            </a:pPr>
            <a:endParaRPr lang="en-IN" sz="2133" kern="0" dirty="0">
              <a:solidFill>
                <a:srgbClr val="000000"/>
              </a:solidFill>
              <a:latin typeface="Bookman Old Style" panose="02050604050505020204" pitchFamily="18" charset="0"/>
              <a:cs typeface="Arial"/>
              <a:sym typeface="Arial"/>
            </a:endParaRPr>
          </a:p>
          <a:p>
            <a:pPr algn="just" defTabSz="1219170">
              <a:buClr>
                <a:srgbClr val="000000"/>
              </a:buClr>
            </a:pPr>
            <a:r>
              <a:rPr lang="en-IN" sz="2133" b="1" kern="0" dirty="0">
                <a:solidFill>
                  <a:srgbClr val="000000"/>
                </a:solidFill>
                <a:latin typeface="Bookman Old Style" panose="02050604050505020204" pitchFamily="18" charset="0"/>
                <a:cs typeface="Arial"/>
                <a:sym typeface="Arial"/>
              </a:rPr>
              <a:t>Robotics definition: </a:t>
            </a:r>
            <a:r>
              <a:rPr lang="en-IN" sz="2133" kern="0" dirty="0">
                <a:solidFill>
                  <a:srgbClr val="000000"/>
                </a:solidFill>
                <a:latin typeface="Bookman Old Style" panose="02050604050505020204" pitchFamily="18" charset="0"/>
                <a:cs typeface="Arial"/>
                <a:sym typeface="Arial"/>
              </a:rPr>
              <a:t>Robotics can be defined "as a field of technology that deals with the conception, design, construction, operation and application of robots".</a:t>
            </a:r>
          </a:p>
        </p:txBody>
      </p:sp>
    </p:spTree>
    <p:extLst>
      <p:ext uri="{BB962C8B-B14F-4D97-AF65-F5344CB8AC3E}">
        <p14:creationId xmlns:p14="http://schemas.microsoft.com/office/powerpoint/2010/main" val="719644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EE098BF6-D71B-45C6-6978-1D6F7D93EB1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2F703FD-F7D9-F846-D63F-F2DC5C76889A}"/>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sp>
        <p:nvSpPr>
          <p:cNvPr id="4" name="TextBox 3">
            <a:extLst>
              <a:ext uri="{FF2B5EF4-FFF2-40B4-BE49-F238E27FC236}">
                <a16:creationId xmlns:a16="http://schemas.microsoft.com/office/drawing/2014/main" id="{5671FCC5-42E0-7A51-E41B-7A038EC8DC8D}"/>
              </a:ext>
            </a:extLst>
          </p:cNvPr>
          <p:cNvSpPr txBox="1"/>
          <p:nvPr/>
        </p:nvSpPr>
        <p:spPr>
          <a:xfrm>
            <a:off x="264402" y="1266964"/>
            <a:ext cx="11663188" cy="5057025"/>
          </a:xfrm>
          <a:prstGeom prst="rect">
            <a:avLst/>
          </a:prstGeom>
          <a:noFill/>
        </p:spPr>
        <p:txBody>
          <a:bodyPr wrap="square">
            <a:spAutoFit/>
          </a:bodyPr>
          <a:lstStyle/>
          <a:p>
            <a:pPr defTabSz="1219170">
              <a:buClr>
                <a:srgbClr val="000000"/>
              </a:buClr>
            </a:pPr>
            <a:r>
              <a:rPr lang="en-IN" sz="2133" kern="0" dirty="0">
                <a:solidFill>
                  <a:srgbClr val="000000"/>
                </a:solidFill>
                <a:latin typeface="Bookman Old Style" panose="02050604050505020204" pitchFamily="18" charset="0"/>
                <a:cs typeface="Arial"/>
                <a:sym typeface="Arial"/>
              </a:rPr>
              <a:t>But why a robot is required when a human can perform the tasks? That is because of the following qualities:</a:t>
            </a:r>
          </a:p>
          <a:p>
            <a:pPr marL="380990" indent="-380990" defTabSz="1219170">
              <a:spcBef>
                <a:spcPts val="1600"/>
              </a:spcBef>
              <a:buClr>
                <a:srgbClr val="000000"/>
              </a:buClr>
              <a:buFont typeface="Wingdings" panose="05000000000000000000" pitchFamily="2" charset="2"/>
              <a:buChar char="Ø"/>
            </a:pPr>
            <a:r>
              <a:rPr lang="en-IN" sz="2133" kern="0" dirty="0">
                <a:solidFill>
                  <a:srgbClr val="000000"/>
                </a:solidFill>
                <a:latin typeface="Bookman Old Style" panose="02050604050505020204" pitchFamily="18" charset="0"/>
                <a:cs typeface="Arial"/>
                <a:sym typeface="Arial"/>
              </a:rPr>
              <a:t>Robots can work in hazardous or dangerous environments such as a nuclear reactor, behind enemy lines, outside earth's atmosphere, etc. They can substitute humans in such environment.</a:t>
            </a:r>
          </a:p>
          <a:p>
            <a:pPr marL="380990" indent="-380990" defTabSz="1219170">
              <a:spcBef>
                <a:spcPts val="1600"/>
              </a:spcBef>
              <a:buClr>
                <a:srgbClr val="000000"/>
              </a:buClr>
              <a:buFont typeface="Wingdings" panose="05000000000000000000" pitchFamily="2" charset="2"/>
              <a:buChar char="Ø"/>
            </a:pPr>
            <a:r>
              <a:rPr lang="en-IN" sz="2133" kern="0" dirty="0">
                <a:solidFill>
                  <a:srgbClr val="000000"/>
                </a:solidFill>
                <a:latin typeface="Bookman Old Style" panose="02050604050505020204" pitchFamily="18" charset="0"/>
                <a:cs typeface="Arial"/>
                <a:sym typeface="Arial"/>
              </a:rPr>
              <a:t>Robots can consistently work as per the program with great repeatability and accuracy that is unmatched by the humans.</a:t>
            </a:r>
          </a:p>
          <a:p>
            <a:pPr marL="380990" indent="-380990" defTabSz="1219170">
              <a:spcBef>
                <a:spcPts val="1600"/>
              </a:spcBef>
              <a:buClr>
                <a:srgbClr val="000000"/>
              </a:buClr>
              <a:buFont typeface="Wingdings" panose="05000000000000000000" pitchFamily="2" charset="2"/>
              <a:buChar char="Ø"/>
            </a:pPr>
            <a:r>
              <a:rPr lang="en-IN" sz="2133" kern="0" dirty="0">
                <a:solidFill>
                  <a:srgbClr val="000000"/>
                </a:solidFill>
                <a:latin typeface="Bookman Old Style" panose="02050604050505020204" pitchFamily="18" charset="0"/>
                <a:cs typeface="Arial"/>
                <a:sym typeface="Arial"/>
              </a:rPr>
              <a:t>At the end of a task, robots can be reprogrammed to take up different task altogether.</a:t>
            </a:r>
          </a:p>
          <a:p>
            <a:pPr marL="380990" indent="-380990" defTabSz="1219170">
              <a:spcBef>
                <a:spcPts val="1600"/>
              </a:spcBef>
              <a:buClr>
                <a:srgbClr val="000000"/>
              </a:buClr>
              <a:buFont typeface="Wingdings" panose="05000000000000000000" pitchFamily="2" charset="2"/>
              <a:buChar char="Ø"/>
            </a:pPr>
            <a:r>
              <a:rPr lang="en-IN" sz="2133" kern="0" dirty="0">
                <a:solidFill>
                  <a:srgbClr val="000000"/>
                </a:solidFill>
                <a:latin typeface="Bookman Old Style" panose="02050604050505020204" pitchFamily="18" charset="0"/>
                <a:cs typeface="Arial"/>
                <a:sym typeface="Arial"/>
              </a:rPr>
              <a:t>Robot parts can be replaced when damaged.</a:t>
            </a:r>
          </a:p>
          <a:p>
            <a:pPr marL="380990" indent="-380990" defTabSz="1219170">
              <a:spcBef>
                <a:spcPts val="1600"/>
              </a:spcBef>
              <a:buClr>
                <a:srgbClr val="000000"/>
              </a:buClr>
              <a:buFont typeface="Wingdings" panose="05000000000000000000" pitchFamily="2" charset="2"/>
              <a:buChar char="Ø"/>
            </a:pPr>
            <a:r>
              <a:rPr lang="en-IN" sz="2133" kern="0" dirty="0">
                <a:solidFill>
                  <a:srgbClr val="000000"/>
                </a:solidFill>
                <a:latin typeface="Bookman Old Style" panose="02050604050505020204" pitchFamily="18" charset="0"/>
                <a:cs typeface="Arial"/>
                <a:sym typeface="Arial"/>
              </a:rPr>
              <a:t>In industries, Computer Integrated Manufacturing can be realized by connecting robots to computer system and carrying out the different tasks.</a:t>
            </a:r>
          </a:p>
        </p:txBody>
      </p:sp>
    </p:spTree>
    <p:extLst>
      <p:ext uri="{BB962C8B-B14F-4D97-AF65-F5344CB8AC3E}">
        <p14:creationId xmlns:p14="http://schemas.microsoft.com/office/powerpoint/2010/main" val="18287598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709519A4-639F-768D-8EB4-DDAD25EDC70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AB04448-69C8-5C3A-4ADD-4475032DEEC8}"/>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sp>
        <p:nvSpPr>
          <p:cNvPr id="5" name="TextBox 4">
            <a:extLst>
              <a:ext uri="{FF2B5EF4-FFF2-40B4-BE49-F238E27FC236}">
                <a16:creationId xmlns:a16="http://schemas.microsoft.com/office/drawing/2014/main" id="{2B1C700F-1BDB-1BD7-4379-BC729AEB0345}"/>
              </a:ext>
            </a:extLst>
          </p:cNvPr>
          <p:cNvSpPr txBox="1"/>
          <p:nvPr/>
        </p:nvSpPr>
        <p:spPr>
          <a:xfrm>
            <a:off x="264405" y="1165679"/>
            <a:ext cx="11663191" cy="5015797"/>
          </a:xfrm>
          <a:prstGeom prst="rect">
            <a:avLst/>
          </a:prstGeom>
          <a:noFill/>
        </p:spPr>
        <p:txBody>
          <a:bodyPr wrap="square">
            <a:spAutoFit/>
          </a:bodyPr>
          <a:lstStyle/>
          <a:p>
            <a:pPr algn="just" defTabSz="1219170">
              <a:buClr>
                <a:srgbClr val="000000"/>
              </a:buClr>
            </a:pPr>
            <a:r>
              <a:rPr lang="en-IN" sz="2133" b="1" kern="0" dirty="0">
                <a:solidFill>
                  <a:srgbClr val="000000"/>
                </a:solidFill>
                <a:latin typeface="Bookman Old Style" panose="02050604050505020204" pitchFamily="18" charset="0"/>
                <a:cs typeface="Arial"/>
                <a:sym typeface="Arial"/>
              </a:rPr>
              <a:t>Basic terms related to Industrial Robots</a:t>
            </a:r>
          </a:p>
          <a:p>
            <a:pPr algn="just" defTabSz="1219170">
              <a:buClr>
                <a:srgbClr val="000000"/>
              </a:buClr>
            </a:pPr>
            <a:r>
              <a:rPr lang="en-IN" sz="2133" kern="0" dirty="0">
                <a:solidFill>
                  <a:srgbClr val="000000"/>
                </a:solidFill>
                <a:latin typeface="Bookman Old Style" panose="02050604050505020204" pitchFamily="18" charset="0"/>
                <a:cs typeface="Arial"/>
                <a:sym typeface="Arial"/>
              </a:rPr>
              <a:t>In the study of Robotics, few basic terms are used quote often and their meanings are quite important. The terms used in relation to Industrial Robots are as below:</a:t>
            </a:r>
          </a:p>
          <a:p>
            <a:pPr algn="just" defTabSz="1219170">
              <a:buClr>
                <a:srgbClr val="000000"/>
              </a:buClr>
            </a:pPr>
            <a:r>
              <a:rPr lang="en-IN" sz="2133" b="1" kern="0" dirty="0">
                <a:solidFill>
                  <a:srgbClr val="000000"/>
                </a:solidFill>
                <a:latin typeface="Bookman Old Style" panose="02050604050505020204" pitchFamily="18" charset="0"/>
                <a:cs typeface="Arial"/>
                <a:sym typeface="Arial"/>
              </a:rPr>
              <a:t>Manipulator: </a:t>
            </a:r>
            <a:r>
              <a:rPr lang="en-IN" sz="2133" kern="0" dirty="0">
                <a:solidFill>
                  <a:srgbClr val="000000"/>
                </a:solidFill>
                <a:latin typeface="Bookman Old Style" panose="02050604050505020204" pitchFamily="18" charset="0"/>
                <a:cs typeface="Arial"/>
                <a:sym typeface="Arial"/>
              </a:rPr>
              <a:t>manipulator is an arm-like mechanism which is designed to manipulate or move materials, parts or tools without direct human contact.</a:t>
            </a:r>
          </a:p>
          <a:p>
            <a:pPr algn="just" defTabSz="1219170">
              <a:buClr>
                <a:srgbClr val="000000"/>
              </a:buClr>
            </a:pPr>
            <a:r>
              <a:rPr lang="en-IN" sz="2133" b="1" kern="0" dirty="0">
                <a:solidFill>
                  <a:srgbClr val="000000"/>
                </a:solidFill>
                <a:latin typeface="Bookman Old Style" panose="02050604050505020204" pitchFamily="18" charset="0"/>
                <a:cs typeface="Arial"/>
                <a:sym typeface="Arial"/>
              </a:rPr>
              <a:t>Joint: </a:t>
            </a:r>
            <a:r>
              <a:rPr lang="en-IN" sz="2133" kern="0" dirty="0">
                <a:solidFill>
                  <a:srgbClr val="000000"/>
                </a:solidFill>
                <a:latin typeface="Bookman Old Style" panose="02050604050505020204" pitchFamily="18" charset="0"/>
                <a:cs typeface="Arial"/>
                <a:sym typeface="Arial"/>
              </a:rPr>
              <a:t>A joint is the one that integrates two or more links to provide controlled relative movement between input link and the output link.</a:t>
            </a:r>
          </a:p>
          <a:p>
            <a:pPr algn="just" defTabSz="1219170">
              <a:buClr>
                <a:srgbClr val="000000"/>
              </a:buClr>
            </a:pPr>
            <a:r>
              <a:rPr lang="en-IN" sz="2133" b="1" kern="0" dirty="0">
                <a:solidFill>
                  <a:srgbClr val="000000"/>
                </a:solidFill>
                <a:latin typeface="Bookman Old Style" panose="02050604050505020204" pitchFamily="18" charset="0"/>
                <a:cs typeface="Arial"/>
                <a:sym typeface="Arial"/>
              </a:rPr>
              <a:t>Link: </a:t>
            </a:r>
            <a:r>
              <a:rPr lang="en-IN" sz="2133" kern="0" dirty="0">
                <a:solidFill>
                  <a:srgbClr val="000000"/>
                </a:solidFill>
                <a:latin typeface="Bookman Old Style" panose="02050604050505020204" pitchFamily="18" charset="0"/>
                <a:cs typeface="Arial"/>
                <a:sym typeface="Arial"/>
              </a:rPr>
              <a:t>The link is a rigid member that connects the joints. Link can be an input link and an output link. The movement of the input link causes various motions of the output link.</a:t>
            </a:r>
          </a:p>
          <a:p>
            <a:pPr algn="just" defTabSz="1219170">
              <a:buClr>
                <a:srgbClr val="000000"/>
              </a:buClr>
            </a:pPr>
            <a:r>
              <a:rPr lang="en-IN" sz="2133" b="1" kern="0" dirty="0">
                <a:solidFill>
                  <a:srgbClr val="000000"/>
                </a:solidFill>
                <a:latin typeface="Bookman Old Style" panose="02050604050505020204" pitchFamily="18" charset="0"/>
                <a:cs typeface="Arial"/>
                <a:sym typeface="Arial"/>
              </a:rPr>
              <a:t>Degrees of freedom (</a:t>
            </a:r>
            <a:r>
              <a:rPr lang="en-IN" sz="2133" b="1" kern="0" dirty="0" err="1">
                <a:solidFill>
                  <a:srgbClr val="000000"/>
                </a:solidFill>
                <a:latin typeface="Bookman Old Style" panose="02050604050505020204" pitchFamily="18" charset="0"/>
                <a:cs typeface="Arial"/>
                <a:sym typeface="Arial"/>
              </a:rPr>
              <a:t>d.o.f</a:t>
            </a:r>
            <a:r>
              <a:rPr lang="en-IN" sz="2133" b="1" kern="0" dirty="0">
                <a:solidFill>
                  <a:srgbClr val="000000"/>
                </a:solidFill>
                <a:latin typeface="Bookman Old Style" panose="02050604050505020204" pitchFamily="18" charset="0"/>
                <a:cs typeface="Arial"/>
                <a:sym typeface="Arial"/>
              </a:rPr>
              <a:t>): </a:t>
            </a:r>
            <a:r>
              <a:rPr lang="en-IN" sz="2133" kern="0" dirty="0">
                <a:solidFill>
                  <a:srgbClr val="000000"/>
                </a:solidFill>
                <a:latin typeface="Bookman Old Style" panose="02050604050505020204" pitchFamily="18" charset="0"/>
                <a:cs typeface="Arial"/>
                <a:sym typeface="Arial"/>
              </a:rPr>
              <a:t>The degrees of freedom describes a robot's freedom of motion in the three-dimensional space.</a:t>
            </a:r>
          </a:p>
          <a:p>
            <a:pPr algn="just" defTabSz="1219170">
              <a:buClr>
                <a:srgbClr val="000000"/>
              </a:buClr>
            </a:pPr>
            <a:r>
              <a:rPr lang="en-IN" sz="2133" b="1" kern="0" dirty="0">
                <a:solidFill>
                  <a:srgbClr val="000000"/>
                </a:solidFill>
                <a:latin typeface="Bookman Old Style" panose="02050604050505020204" pitchFamily="18" charset="0"/>
                <a:cs typeface="Arial"/>
                <a:sym typeface="Arial"/>
              </a:rPr>
              <a:t>End effector: </a:t>
            </a:r>
            <a:r>
              <a:rPr lang="en-IN" sz="2133" kern="0" dirty="0">
                <a:solidFill>
                  <a:srgbClr val="000000"/>
                </a:solidFill>
                <a:latin typeface="Bookman Old Style" panose="02050604050505020204" pitchFamily="18" charset="0"/>
                <a:cs typeface="Arial"/>
                <a:sym typeface="Arial"/>
              </a:rPr>
              <a:t>End effector or end-of-arm tool is the device at the end of the robotic arm which is shaped like a hand or as a special tool depending upon the application.</a:t>
            </a:r>
          </a:p>
          <a:p>
            <a:pPr algn="just" defTabSz="1219170">
              <a:buClr>
                <a:srgbClr val="000000"/>
              </a:buClr>
            </a:pPr>
            <a:r>
              <a:rPr lang="en-IN" sz="2133" kern="0" dirty="0">
                <a:solidFill>
                  <a:srgbClr val="000000"/>
                </a:solidFill>
                <a:latin typeface="Bookman Old Style" panose="02050604050505020204" pitchFamily="18" charset="0"/>
                <a:cs typeface="Arial"/>
                <a:sym typeface="Arial"/>
              </a:rPr>
              <a:t>Base: The support for the robot arm is called as the base.</a:t>
            </a:r>
          </a:p>
        </p:txBody>
      </p:sp>
    </p:spTree>
    <p:extLst>
      <p:ext uri="{BB962C8B-B14F-4D97-AF65-F5344CB8AC3E}">
        <p14:creationId xmlns:p14="http://schemas.microsoft.com/office/powerpoint/2010/main" val="30141255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1AD8B732-525E-0694-E44A-96958495F95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49F5D98-9000-36AE-4EC1-E596A9E3A3A3}"/>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pic>
        <p:nvPicPr>
          <p:cNvPr id="4" name="Picture 3">
            <a:extLst>
              <a:ext uri="{FF2B5EF4-FFF2-40B4-BE49-F238E27FC236}">
                <a16:creationId xmlns:a16="http://schemas.microsoft.com/office/drawing/2014/main" id="{48B0D27E-BADA-2065-1170-524E977F2EC8}"/>
              </a:ext>
            </a:extLst>
          </p:cNvPr>
          <p:cNvPicPr>
            <a:picLocks noChangeAspect="1"/>
          </p:cNvPicPr>
          <p:nvPr/>
        </p:nvPicPr>
        <p:blipFill>
          <a:blip r:embed="rId3"/>
          <a:stretch>
            <a:fillRect/>
          </a:stretch>
        </p:blipFill>
        <p:spPr>
          <a:xfrm>
            <a:off x="1944867" y="1442469"/>
            <a:ext cx="7067971" cy="4704127"/>
          </a:xfrm>
          <a:prstGeom prst="rect">
            <a:avLst/>
          </a:prstGeom>
        </p:spPr>
      </p:pic>
    </p:spTree>
    <p:extLst>
      <p:ext uri="{BB962C8B-B14F-4D97-AF65-F5344CB8AC3E}">
        <p14:creationId xmlns:p14="http://schemas.microsoft.com/office/powerpoint/2010/main" val="12430507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9A0008A6-386C-2776-A25B-5C2EACDC8A4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2811182-7523-FD9C-394F-3332B1DBB915}"/>
              </a:ext>
            </a:extLst>
          </p:cNvPr>
          <p:cNvSpPr txBox="1"/>
          <p:nvPr/>
        </p:nvSpPr>
        <p:spPr>
          <a:xfrm>
            <a:off x="2474081" y="448165"/>
            <a:ext cx="7243835" cy="502766"/>
          </a:xfrm>
          <a:prstGeom prst="rect">
            <a:avLst/>
          </a:prstGeom>
          <a:noFill/>
        </p:spPr>
        <p:txBody>
          <a:bodyPr wrap="square">
            <a:spAutoFit/>
          </a:bodyPr>
          <a:lstStyle/>
          <a:p>
            <a:pPr algn="ctr" defTabSz="1219170">
              <a:buClr>
                <a:srgbClr val="000000"/>
              </a:buClr>
            </a:pPr>
            <a:r>
              <a:rPr lang="en-US" altLang="en-US" sz="2667" b="1" kern="0" dirty="0">
                <a:solidFill>
                  <a:srgbClr val="0070C0"/>
                </a:solidFill>
                <a:latin typeface="Bookman Old Style" panose="02050604050505020204" pitchFamily="18" charset="0"/>
                <a:cs typeface="Arial"/>
                <a:sym typeface="Arial"/>
              </a:rPr>
              <a:t>Elements of a Robotic System</a:t>
            </a:r>
          </a:p>
        </p:txBody>
      </p:sp>
      <p:sp>
        <p:nvSpPr>
          <p:cNvPr id="5" name="TextBox 4">
            <a:extLst>
              <a:ext uri="{FF2B5EF4-FFF2-40B4-BE49-F238E27FC236}">
                <a16:creationId xmlns:a16="http://schemas.microsoft.com/office/drawing/2014/main" id="{718A1C44-2797-1EB4-01A3-A7594E798865}"/>
              </a:ext>
            </a:extLst>
          </p:cNvPr>
          <p:cNvSpPr txBox="1"/>
          <p:nvPr/>
        </p:nvSpPr>
        <p:spPr>
          <a:xfrm>
            <a:off x="264405" y="1118433"/>
            <a:ext cx="11493988" cy="5425844"/>
          </a:xfrm>
          <a:prstGeom prst="rect">
            <a:avLst/>
          </a:prstGeom>
          <a:noFill/>
        </p:spPr>
        <p:txBody>
          <a:bodyPr wrap="square">
            <a:spAutoFit/>
          </a:bodyPr>
          <a:lstStyle/>
          <a:p>
            <a:pPr algn="just" defTabSz="1219170">
              <a:buClr>
                <a:srgbClr val="000000"/>
              </a:buClr>
            </a:pPr>
            <a:r>
              <a:rPr lang="en-IN" sz="1733" kern="0" dirty="0">
                <a:solidFill>
                  <a:srgbClr val="000000"/>
                </a:solidFill>
                <a:latin typeface="Bookman Old Style" panose="02050604050505020204" pitchFamily="18" charset="0"/>
                <a:cs typeface="Arial"/>
                <a:sym typeface="Arial"/>
              </a:rPr>
              <a:t>A Robotic system has the following basic elements:</a:t>
            </a:r>
          </a:p>
          <a:p>
            <a:pPr algn="just" defTabSz="1219170">
              <a:buClr>
                <a:srgbClr val="000000"/>
              </a:buClr>
            </a:pPr>
            <a:r>
              <a:rPr lang="en-IN" sz="1733" b="1" kern="0" dirty="0">
                <a:solidFill>
                  <a:srgbClr val="000000"/>
                </a:solidFill>
                <a:latin typeface="Bookman Old Style" panose="02050604050505020204" pitchFamily="18" charset="0"/>
                <a:cs typeface="Arial"/>
                <a:sym typeface="Arial"/>
              </a:rPr>
              <a:t>1. The Robot: </a:t>
            </a:r>
            <a:r>
              <a:rPr lang="en-IN" sz="1733" kern="0" dirty="0">
                <a:solidFill>
                  <a:srgbClr val="000000"/>
                </a:solidFill>
                <a:latin typeface="Bookman Old Style" panose="02050604050505020204" pitchFamily="18" charset="0"/>
                <a:cs typeface="Arial"/>
                <a:sym typeface="Arial"/>
              </a:rPr>
              <a:t>This consists of</a:t>
            </a:r>
          </a:p>
          <a:p>
            <a:pPr marL="380990" indent="-380990" algn="just" defTabSz="1219170">
              <a:buClr>
                <a:srgbClr val="000000"/>
              </a:buClr>
              <a:buFont typeface="Wingdings" panose="05000000000000000000" pitchFamily="2" charset="2"/>
              <a:buChar char="Ø"/>
            </a:pPr>
            <a:r>
              <a:rPr lang="en-IN" sz="1733" kern="0" dirty="0">
                <a:solidFill>
                  <a:srgbClr val="000000"/>
                </a:solidFill>
                <a:latin typeface="Bookman Old Style" panose="02050604050505020204" pitchFamily="18" charset="0"/>
                <a:cs typeface="Arial"/>
                <a:sym typeface="Arial"/>
              </a:rPr>
              <a:t>The Manipulator which includes the base and the arm assembly.</a:t>
            </a:r>
          </a:p>
          <a:p>
            <a:pPr marL="380990" indent="-380990" algn="just" defTabSz="1219170">
              <a:buClr>
                <a:srgbClr val="000000"/>
              </a:buClr>
              <a:buFont typeface="Wingdings" panose="05000000000000000000" pitchFamily="2" charset="2"/>
              <a:buChar char="Ø"/>
            </a:pPr>
            <a:r>
              <a:rPr lang="en-IN" sz="1733" kern="0" dirty="0">
                <a:solidFill>
                  <a:srgbClr val="000000"/>
                </a:solidFill>
                <a:latin typeface="Bookman Old Style" panose="02050604050505020204" pitchFamily="18" charset="0"/>
                <a:cs typeface="Arial"/>
                <a:sym typeface="Arial"/>
              </a:rPr>
              <a:t>End-of-the-arm tooling which is the end-effector.</a:t>
            </a:r>
          </a:p>
          <a:p>
            <a:pPr marL="380990" indent="-380990" algn="just" defTabSz="1219170">
              <a:buClr>
                <a:srgbClr val="000000"/>
              </a:buClr>
              <a:buFont typeface="Wingdings" panose="05000000000000000000" pitchFamily="2" charset="2"/>
              <a:buChar char="Ø"/>
            </a:pPr>
            <a:r>
              <a:rPr lang="en-IN" sz="1733" kern="0" dirty="0">
                <a:solidFill>
                  <a:srgbClr val="000000"/>
                </a:solidFill>
                <a:latin typeface="Bookman Old Style" panose="02050604050505020204" pitchFamily="18" charset="0"/>
                <a:cs typeface="Arial"/>
                <a:sym typeface="Arial"/>
              </a:rPr>
              <a:t>Actuators which convert stored energy into movement. Common actuators include electric motors and linear actuators.</a:t>
            </a:r>
          </a:p>
          <a:p>
            <a:pPr marL="380990" indent="-380990" algn="just" defTabSz="1219170">
              <a:buClr>
                <a:srgbClr val="000000"/>
              </a:buClr>
              <a:buFont typeface="Wingdings" panose="05000000000000000000" pitchFamily="2" charset="2"/>
              <a:buChar char="Ø"/>
            </a:pPr>
            <a:r>
              <a:rPr lang="en-IN" sz="1733" kern="0" dirty="0">
                <a:solidFill>
                  <a:srgbClr val="000000"/>
                </a:solidFill>
                <a:latin typeface="Bookman Old Style" panose="02050604050505020204" pitchFamily="18" charset="0"/>
                <a:cs typeface="Arial"/>
                <a:sym typeface="Arial"/>
              </a:rPr>
              <a:t>Transmission elements such as ball screws, pulleys, belts, gears, etc.</a:t>
            </a:r>
          </a:p>
          <a:p>
            <a:pPr algn="just" defTabSz="1219170">
              <a:buClr>
                <a:srgbClr val="000000"/>
              </a:buClr>
            </a:pPr>
            <a:r>
              <a:rPr lang="en-IN" sz="1733" b="1" kern="0" dirty="0">
                <a:solidFill>
                  <a:srgbClr val="000000"/>
                </a:solidFill>
                <a:latin typeface="Bookman Old Style" panose="02050604050505020204" pitchFamily="18" charset="0"/>
                <a:cs typeface="Arial"/>
                <a:sym typeface="Arial"/>
              </a:rPr>
              <a:t>2. Control System: </a:t>
            </a:r>
            <a:r>
              <a:rPr lang="en-IN" sz="1733" kern="0" dirty="0">
                <a:solidFill>
                  <a:srgbClr val="000000"/>
                </a:solidFill>
                <a:latin typeface="Bookman Old Style" panose="02050604050505020204" pitchFamily="18" charset="0"/>
                <a:cs typeface="Arial"/>
                <a:sym typeface="Arial"/>
              </a:rPr>
              <a:t>The control system generates the required signals to co-ordinate and execute the robot movements. The Control System comprises of:</a:t>
            </a:r>
          </a:p>
          <a:p>
            <a:pPr marL="380990" indent="-380990" algn="just" defTabSz="1219170">
              <a:buClr>
                <a:srgbClr val="000000"/>
              </a:buClr>
              <a:buFont typeface="Wingdings" panose="05000000000000000000" pitchFamily="2" charset="2"/>
              <a:buChar char="Ø"/>
            </a:pPr>
            <a:r>
              <a:rPr lang="en-IN" sz="1733" kern="0" dirty="0">
                <a:solidFill>
                  <a:srgbClr val="000000"/>
                </a:solidFill>
                <a:latin typeface="Bookman Old Style" panose="02050604050505020204" pitchFamily="18" charset="0"/>
                <a:cs typeface="Arial"/>
                <a:sym typeface="Arial"/>
              </a:rPr>
              <a:t>Controls such as Mechanical control, hydraulic control, pneumatic control, electrical or electronic control. The control techniques can be an open-loop (non-servo) control, feedback control, feed forward control and adaptive control.</a:t>
            </a:r>
          </a:p>
          <a:p>
            <a:pPr marL="380990" indent="-380990" algn="just" defTabSz="1219170">
              <a:buClr>
                <a:srgbClr val="000000"/>
              </a:buClr>
              <a:buFont typeface="Wingdings" panose="05000000000000000000" pitchFamily="2" charset="2"/>
              <a:buChar char="Ø"/>
            </a:pPr>
            <a:r>
              <a:rPr lang="en-US" sz="1733" kern="0" dirty="0">
                <a:solidFill>
                  <a:srgbClr val="000000"/>
                </a:solidFill>
                <a:latin typeface="Bookman Old Style" panose="02050604050505020204" pitchFamily="18" charset="0"/>
                <a:cs typeface="Arial"/>
                <a:sym typeface="Arial"/>
              </a:rPr>
              <a:t>Sensors that allows robots to collect information about a certain measurement of the environment or internal components. The sensors can be touch sensors or vision sensors.</a:t>
            </a:r>
          </a:p>
          <a:p>
            <a:pPr marL="380990" indent="-380990" algn="just" defTabSz="1219170">
              <a:buClr>
                <a:srgbClr val="000000"/>
              </a:buClr>
              <a:buFont typeface="Wingdings" panose="05000000000000000000" pitchFamily="2" charset="2"/>
              <a:buChar char="Ø"/>
            </a:pPr>
            <a:r>
              <a:rPr lang="en-US" sz="1733" kern="0" dirty="0">
                <a:solidFill>
                  <a:srgbClr val="000000"/>
                </a:solidFill>
                <a:latin typeface="Bookman Old Style" panose="02050604050505020204" pitchFamily="18" charset="0"/>
                <a:cs typeface="Arial"/>
                <a:sym typeface="Arial"/>
              </a:rPr>
              <a:t>Equipment Interfaces</a:t>
            </a:r>
          </a:p>
          <a:p>
            <a:pPr algn="just" defTabSz="1219170">
              <a:buClr>
                <a:srgbClr val="000000"/>
              </a:buClr>
            </a:pPr>
            <a:r>
              <a:rPr lang="en-US" sz="1733" b="1" kern="0" dirty="0">
                <a:solidFill>
                  <a:srgbClr val="000000"/>
                </a:solidFill>
                <a:latin typeface="Bookman Old Style" panose="02050604050505020204" pitchFamily="18" charset="0"/>
                <a:cs typeface="Arial"/>
                <a:sym typeface="Arial"/>
              </a:rPr>
              <a:t>3. Computer System: </a:t>
            </a:r>
            <a:r>
              <a:rPr lang="en-US" sz="1733" kern="0" dirty="0">
                <a:solidFill>
                  <a:srgbClr val="000000"/>
                </a:solidFill>
                <a:latin typeface="Bookman Old Style" panose="02050604050505020204" pitchFamily="18" charset="0"/>
                <a:cs typeface="Arial"/>
                <a:sym typeface="Arial"/>
              </a:rPr>
              <a:t>The Computer system is used to program the robots according to the tasks required to be performed. The necessary software must be installed in the computer to develop robot programs.</a:t>
            </a:r>
          </a:p>
          <a:p>
            <a:pPr algn="just" defTabSz="1219170">
              <a:buClr>
                <a:srgbClr val="000000"/>
              </a:buClr>
            </a:pPr>
            <a:r>
              <a:rPr lang="en-US" sz="1733" b="1" kern="0" dirty="0">
                <a:solidFill>
                  <a:srgbClr val="000000"/>
                </a:solidFill>
                <a:latin typeface="Bookman Old Style" panose="02050604050505020204" pitchFamily="18" charset="0"/>
                <a:cs typeface="Arial"/>
                <a:sym typeface="Arial"/>
              </a:rPr>
              <a:t>4. Power Source: </a:t>
            </a:r>
            <a:r>
              <a:rPr lang="en-US" sz="1733" kern="0" dirty="0">
                <a:solidFill>
                  <a:srgbClr val="000000"/>
                </a:solidFill>
                <a:latin typeface="Bookman Old Style" panose="02050604050505020204" pitchFamily="18" charset="0"/>
                <a:cs typeface="Arial"/>
                <a:sym typeface="Arial"/>
              </a:rPr>
              <a:t>Power source supplies electrical energy for the robot. The commonly used power source is the battery which can be a lead-acid battery or a silver-cadmium battery.</a:t>
            </a:r>
            <a:endParaRPr lang="en-IN" sz="1733" kern="0" dirty="0">
              <a:solidFill>
                <a:srgbClr val="000000"/>
              </a:solidFill>
              <a:latin typeface="Bookman Old Style" panose="02050604050505020204" pitchFamily="18" charset="0"/>
              <a:cs typeface="Arial"/>
              <a:sym typeface="Arial"/>
            </a:endParaRPr>
          </a:p>
        </p:txBody>
      </p:sp>
    </p:spTree>
    <p:extLst>
      <p:ext uri="{BB962C8B-B14F-4D97-AF65-F5344CB8AC3E}">
        <p14:creationId xmlns:p14="http://schemas.microsoft.com/office/powerpoint/2010/main" val="34620610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DB1A8E9A-8FFB-85CD-D33A-9787D13BF67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2A3D670-4C41-21A8-8D80-8B05E2B562E6}"/>
              </a:ext>
            </a:extLst>
          </p:cNvPr>
          <p:cNvSpPr txBox="1"/>
          <p:nvPr/>
        </p:nvSpPr>
        <p:spPr>
          <a:xfrm>
            <a:off x="2474081" y="401992"/>
            <a:ext cx="7243835" cy="502766"/>
          </a:xfrm>
          <a:prstGeom prst="rect">
            <a:avLst/>
          </a:prstGeom>
          <a:noFill/>
        </p:spPr>
        <p:txBody>
          <a:bodyPr wrap="square">
            <a:spAutoFit/>
          </a:bodyPr>
          <a:lstStyle/>
          <a:p>
            <a:pPr algn="ctr" defTabSz="1219170">
              <a:buClr>
                <a:srgbClr val="000000"/>
              </a:buClr>
            </a:pPr>
            <a:r>
              <a:rPr lang="en-US" altLang="en-US" sz="2667" b="1" kern="0" dirty="0">
                <a:solidFill>
                  <a:srgbClr val="0070C0"/>
                </a:solidFill>
                <a:latin typeface="Bookman Old Style" panose="02050604050505020204" pitchFamily="18" charset="0"/>
                <a:cs typeface="Arial"/>
                <a:sym typeface="Arial"/>
              </a:rPr>
              <a:t>Types of Automation </a:t>
            </a:r>
          </a:p>
        </p:txBody>
      </p:sp>
      <p:sp>
        <p:nvSpPr>
          <p:cNvPr id="4" name="TextBox 3">
            <a:extLst>
              <a:ext uri="{FF2B5EF4-FFF2-40B4-BE49-F238E27FC236}">
                <a16:creationId xmlns:a16="http://schemas.microsoft.com/office/drawing/2014/main" id="{97D85525-C32E-B0A8-E716-4E62897B83C9}"/>
              </a:ext>
            </a:extLst>
          </p:cNvPr>
          <p:cNvSpPr txBox="1"/>
          <p:nvPr/>
        </p:nvSpPr>
        <p:spPr>
          <a:xfrm>
            <a:off x="457200" y="1582340"/>
            <a:ext cx="10780005" cy="1734064"/>
          </a:xfrm>
          <a:prstGeom prst="rect">
            <a:avLst/>
          </a:prstGeom>
          <a:noFill/>
        </p:spPr>
        <p:txBody>
          <a:bodyPr wrap="square">
            <a:spAutoFit/>
          </a:bodyPr>
          <a:lstStyle/>
          <a:p>
            <a:pPr defTabSz="1219170">
              <a:buClr>
                <a:srgbClr val="000000"/>
              </a:buClr>
            </a:pPr>
            <a:r>
              <a:rPr lang="en-US" sz="2667" kern="0" dirty="0">
                <a:solidFill>
                  <a:srgbClr val="000000"/>
                </a:solidFill>
                <a:latin typeface="Bookman Old Style" panose="02050604050505020204" pitchFamily="18" charset="0"/>
                <a:cs typeface="Arial"/>
                <a:sym typeface="Arial"/>
              </a:rPr>
              <a:t>Automation is categorized into three types. They are, </a:t>
            </a:r>
          </a:p>
          <a:p>
            <a:pPr defTabSz="1219170">
              <a:buClr>
                <a:srgbClr val="000000"/>
              </a:buClr>
            </a:pPr>
            <a:r>
              <a:rPr lang="en-US" sz="2667" kern="0" dirty="0">
                <a:solidFill>
                  <a:srgbClr val="000000"/>
                </a:solidFill>
                <a:latin typeface="Bookman Old Style" panose="02050604050505020204" pitchFamily="18" charset="0"/>
                <a:cs typeface="Arial"/>
                <a:sym typeface="Arial"/>
              </a:rPr>
              <a:t>1) Fixed Automation </a:t>
            </a:r>
          </a:p>
          <a:p>
            <a:pPr defTabSz="1219170">
              <a:buClr>
                <a:srgbClr val="000000"/>
              </a:buClr>
            </a:pPr>
            <a:r>
              <a:rPr lang="en-US" sz="2667" kern="0" dirty="0">
                <a:solidFill>
                  <a:srgbClr val="000000"/>
                </a:solidFill>
                <a:latin typeface="Bookman Old Style" panose="02050604050505020204" pitchFamily="18" charset="0"/>
                <a:cs typeface="Arial"/>
                <a:sym typeface="Arial"/>
              </a:rPr>
              <a:t>2) Programmable Automation </a:t>
            </a:r>
          </a:p>
          <a:p>
            <a:pPr defTabSz="1219170">
              <a:buClr>
                <a:srgbClr val="000000"/>
              </a:buClr>
            </a:pPr>
            <a:r>
              <a:rPr lang="en-US" sz="2667" kern="0" dirty="0">
                <a:solidFill>
                  <a:srgbClr val="000000"/>
                </a:solidFill>
                <a:latin typeface="Bookman Old Style" panose="02050604050505020204" pitchFamily="18" charset="0"/>
                <a:cs typeface="Arial"/>
                <a:sym typeface="Arial"/>
              </a:rPr>
              <a:t>3) Flexible Automation.</a:t>
            </a:r>
            <a:endParaRPr lang="en-IN" sz="2667" kern="0" dirty="0">
              <a:solidFill>
                <a:srgbClr val="000000"/>
              </a:solidFill>
              <a:latin typeface="Bookman Old Style" panose="02050604050505020204" pitchFamily="18" charset="0"/>
              <a:cs typeface="Arial"/>
              <a:sym typeface="Arial"/>
            </a:endParaRPr>
          </a:p>
        </p:txBody>
      </p:sp>
    </p:spTree>
    <p:extLst>
      <p:ext uri="{BB962C8B-B14F-4D97-AF65-F5344CB8AC3E}">
        <p14:creationId xmlns:p14="http://schemas.microsoft.com/office/powerpoint/2010/main" val="761933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963A79BF-8BC2-8F53-2252-7B24506D866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ECBD4BF-388F-1524-91EF-824E53660B1A}"/>
              </a:ext>
            </a:extLst>
          </p:cNvPr>
          <p:cNvSpPr txBox="1"/>
          <p:nvPr/>
        </p:nvSpPr>
        <p:spPr>
          <a:xfrm>
            <a:off x="1011382" y="1084237"/>
            <a:ext cx="10709563" cy="5222648"/>
          </a:xfrm>
          <a:prstGeom prst="rect">
            <a:avLst/>
          </a:prstGeom>
          <a:noFill/>
        </p:spPr>
        <p:txBody>
          <a:bodyPr wrap="square">
            <a:spAutoFit/>
          </a:bodyPr>
          <a:lstStyle/>
          <a:p>
            <a:pPr defTabSz="1219170">
              <a:buClr>
                <a:srgbClr val="000000"/>
              </a:buClr>
            </a:pPr>
            <a:r>
              <a:rPr lang="en-US" sz="2667" b="1" kern="0" dirty="0">
                <a:solidFill>
                  <a:srgbClr val="000000"/>
                </a:solidFill>
                <a:latin typeface="Bookman Old Style" panose="02050604050505020204" pitchFamily="18" charset="0"/>
                <a:cs typeface="Arial"/>
                <a:sym typeface="Arial"/>
              </a:rPr>
              <a:t>Fixed Automation:-</a:t>
            </a:r>
          </a:p>
          <a:p>
            <a:pPr algn="just" defTabSz="1219170">
              <a:spcBef>
                <a:spcPts val="1600"/>
              </a:spcBef>
              <a:buClr>
                <a:srgbClr val="000000"/>
              </a:buClr>
            </a:pPr>
            <a:r>
              <a:rPr lang="en-US" sz="2667" kern="0" dirty="0">
                <a:solidFill>
                  <a:srgbClr val="000000"/>
                </a:solidFill>
                <a:latin typeface="Bookman Old Style" panose="02050604050505020204" pitchFamily="18" charset="0"/>
                <a:cs typeface="Arial"/>
                <a:sym typeface="Arial"/>
              </a:rPr>
              <a:t>It is the automation in which the sequence of processing or assembly operations to be carried out is fixed by the equipment configuration.</a:t>
            </a:r>
          </a:p>
          <a:p>
            <a:pPr algn="just" defTabSz="1219170">
              <a:spcBef>
                <a:spcPts val="1600"/>
              </a:spcBef>
              <a:buClr>
                <a:srgbClr val="000000"/>
              </a:buClr>
            </a:pPr>
            <a:r>
              <a:rPr lang="en-US" sz="2667" kern="0" dirty="0">
                <a:solidFill>
                  <a:srgbClr val="000000"/>
                </a:solidFill>
                <a:latin typeface="Bookman Old Style" panose="02050604050505020204" pitchFamily="18" charset="0"/>
                <a:cs typeface="Arial"/>
                <a:sym typeface="Arial"/>
              </a:rPr>
              <a:t>In fixed automation, the sequence of operations (which are simple) are integrated in a piece of equipment. Therefore, it is difficult to automate changes in the design of the product.</a:t>
            </a:r>
          </a:p>
          <a:p>
            <a:pPr algn="just" defTabSz="1219170">
              <a:spcBef>
                <a:spcPts val="1600"/>
              </a:spcBef>
              <a:buClr>
                <a:srgbClr val="000000"/>
              </a:buClr>
            </a:pPr>
            <a:r>
              <a:rPr lang="en-US" sz="2667" kern="0" dirty="0">
                <a:solidFill>
                  <a:srgbClr val="000000"/>
                </a:solidFill>
                <a:latin typeface="Bookman Old Style" panose="02050604050505020204" pitchFamily="18" charset="0"/>
                <a:cs typeface="Arial"/>
                <a:sym typeface="Arial"/>
              </a:rPr>
              <a:t>It is used where high volume of production is required Production rate of fixed automation is high. In this automation, no new products are processed for a given sequence of assembly operations.</a:t>
            </a:r>
          </a:p>
        </p:txBody>
      </p:sp>
      <p:sp>
        <p:nvSpPr>
          <p:cNvPr id="3" name="TextBox 2">
            <a:extLst>
              <a:ext uri="{FF2B5EF4-FFF2-40B4-BE49-F238E27FC236}">
                <a16:creationId xmlns:a16="http://schemas.microsoft.com/office/drawing/2014/main" id="{F7C698B2-5A4E-AC1C-2273-615A029702BF}"/>
              </a:ext>
            </a:extLst>
          </p:cNvPr>
          <p:cNvSpPr txBox="1"/>
          <p:nvPr/>
        </p:nvSpPr>
        <p:spPr>
          <a:xfrm>
            <a:off x="2474081" y="140390"/>
            <a:ext cx="7243835" cy="913199"/>
          </a:xfrm>
          <a:prstGeom prst="rect">
            <a:avLst/>
          </a:prstGeom>
          <a:noFill/>
        </p:spPr>
        <p:txBody>
          <a:bodyPr wrap="square">
            <a:spAutoFit/>
          </a:bodyPr>
          <a:lstStyle/>
          <a:p>
            <a:pPr algn="ctr" defTabSz="1219170">
              <a:buClr>
                <a:srgbClr val="000000"/>
              </a:buClr>
            </a:pPr>
            <a:r>
              <a:rPr lang="en-US" altLang="en-US" sz="2667" b="1" kern="0" dirty="0">
                <a:solidFill>
                  <a:srgbClr val="0070C0"/>
                </a:solidFill>
                <a:latin typeface="Bookman Old Style" panose="02050604050505020204" pitchFamily="18" charset="0"/>
                <a:cs typeface="Arial"/>
                <a:sym typeface="Arial"/>
              </a:rPr>
              <a:t>Types of Automation</a:t>
            </a:r>
          </a:p>
          <a:p>
            <a:pPr algn="ctr" defTabSz="1219170">
              <a:buClr>
                <a:srgbClr val="000000"/>
              </a:buClr>
            </a:pPr>
            <a:r>
              <a:rPr lang="en-US" altLang="en-US" sz="2667" kern="0" dirty="0">
                <a:solidFill>
                  <a:srgbClr val="0070C0"/>
                </a:solidFill>
                <a:latin typeface="Bookman Old Style" panose="02050604050505020204" pitchFamily="18" charset="0"/>
                <a:cs typeface="Arial"/>
                <a:sym typeface="Arial"/>
              </a:rPr>
              <a:t>Fixed Automation </a:t>
            </a:r>
          </a:p>
        </p:txBody>
      </p:sp>
    </p:spTree>
    <p:extLst>
      <p:ext uri="{BB962C8B-B14F-4D97-AF65-F5344CB8AC3E}">
        <p14:creationId xmlns:p14="http://schemas.microsoft.com/office/powerpoint/2010/main" val="5031617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E48B03FA-6F42-7655-5326-A869659996B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FC61C46-37D8-B568-6367-6A3A66B563B2}"/>
              </a:ext>
            </a:extLst>
          </p:cNvPr>
          <p:cNvSpPr txBox="1"/>
          <p:nvPr/>
        </p:nvSpPr>
        <p:spPr>
          <a:xfrm>
            <a:off x="2474081" y="211034"/>
            <a:ext cx="7243835" cy="913199"/>
          </a:xfrm>
          <a:prstGeom prst="rect">
            <a:avLst/>
          </a:prstGeom>
          <a:noFill/>
        </p:spPr>
        <p:txBody>
          <a:bodyPr wrap="square">
            <a:spAutoFit/>
          </a:bodyPr>
          <a:lstStyle/>
          <a:p>
            <a:pPr algn="ctr" defTabSz="1219170">
              <a:buClr>
                <a:srgbClr val="000000"/>
              </a:buClr>
            </a:pPr>
            <a:r>
              <a:rPr lang="en-US" altLang="en-US" sz="2667" b="1" kern="0" dirty="0">
                <a:solidFill>
                  <a:srgbClr val="0070C0"/>
                </a:solidFill>
                <a:latin typeface="Bookman Old Style" panose="02050604050505020204" pitchFamily="18" charset="0"/>
                <a:cs typeface="Arial"/>
                <a:sym typeface="Arial"/>
              </a:rPr>
              <a:t>Types of Automation</a:t>
            </a:r>
          </a:p>
          <a:p>
            <a:pPr algn="ctr" defTabSz="1219170">
              <a:buClr>
                <a:srgbClr val="000000"/>
              </a:buClr>
            </a:pPr>
            <a:r>
              <a:rPr lang="en-US" altLang="en-US" sz="2667" kern="0" dirty="0">
                <a:solidFill>
                  <a:srgbClr val="0070C0"/>
                </a:solidFill>
                <a:latin typeface="Bookman Old Style" panose="02050604050505020204" pitchFamily="18" charset="0"/>
                <a:cs typeface="Arial"/>
                <a:sym typeface="Arial"/>
              </a:rPr>
              <a:t>Fixed Automation </a:t>
            </a:r>
          </a:p>
        </p:txBody>
      </p:sp>
      <p:sp>
        <p:nvSpPr>
          <p:cNvPr id="4" name="TextBox 3">
            <a:extLst>
              <a:ext uri="{FF2B5EF4-FFF2-40B4-BE49-F238E27FC236}">
                <a16:creationId xmlns:a16="http://schemas.microsoft.com/office/drawing/2014/main" id="{E92DCAC3-910D-B526-FB78-1A5AA9D3FCBF}"/>
              </a:ext>
            </a:extLst>
          </p:cNvPr>
          <p:cNvSpPr txBox="1"/>
          <p:nvPr/>
        </p:nvSpPr>
        <p:spPr>
          <a:xfrm>
            <a:off x="789707" y="1124233"/>
            <a:ext cx="10612582" cy="5139036"/>
          </a:xfrm>
          <a:prstGeom prst="rect">
            <a:avLst/>
          </a:prstGeom>
          <a:noFill/>
        </p:spPr>
        <p:txBody>
          <a:bodyPr wrap="square">
            <a:spAutoFit/>
          </a:bodyPr>
          <a:lstStyle/>
          <a:p>
            <a:pPr algn="just" defTabSz="1219170">
              <a:lnSpc>
                <a:spcPct val="150000"/>
              </a:lnSpc>
              <a:buClr>
                <a:srgbClr val="000000"/>
              </a:buClr>
            </a:pPr>
            <a:r>
              <a:rPr lang="en-US" sz="2667" b="1" kern="0" dirty="0">
                <a:solidFill>
                  <a:srgbClr val="000000"/>
                </a:solidFill>
                <a:latin typeface="Bookman Old Style" panose="02050604050505020204" pitchFamily="18" charset="0"/>
                <a:cs typeface="Arial"/>
                <a:sym typeface="Arial"/>
              </a:rPr>
              <a:t>Features:-</a:t>
            </a:r>
          </a:p>
          <a:p>
            <a:pPr marL="502602" marR="6773" lvl="3" indent="-502602" algn="just" defTabSz="2010411" eaLnBrk="0" fontAlgn="base" hangingPunct="0">
              <a:lnSpc>
                <a:spcPct val="150000"/>
              </a:lnSpc>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High volume of production rates,</a:t>
            </a:r>
          </a:p>
          <a:p>
            <a:pPr marL="502602" marR="6773" lvl="3" indent="-502602" algn="just" defTabSz="2010411" eaLnBrk="0" fontAlgn="base" hangingPunct="0">
              <a:lnSpc>
                <a:spcPct val="150000"/>
              </a:lnSpc>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Relatively inflexible in product variety (no new products are produced).</a:t>
            </a:r>
          </a:p>
          <a:p>
            <a:pPr marL="502602" marR="6773" lvl="3" indent="-502602" algn="just" defTabSz="2010411" eaLnBrk="0" fontAlgn="base" hangingPunct="0">
              <a:lnSpc>
                <a:spcPct val="150000"/>
              </a:lnSpc>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High initial investment for custom-engineered equipment</a:t>
            </a:r>
          </a:p>
          <a:p>
            <a:pPr marL="502602" marR="6773" lvl="3" indent="-502602" algn="just" defTabSz="2010411" eaLnBrk="0" fontAlgn="base" hangingPunct="0">
              <a:lnSpc>
                <a:spcPct val="150000"/>
              </a:lnSpc>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High production rates</a:t>
            </a:r>
          </a:p>
          <a:p>
            <a:pPr algn="just" defTabSz="1219170">
              <a:lnSpc>
                <a:spcPct val="150000"/>
              </a:lnSpc>
              <a:buClr>
                <a:srgbClr val="000000"/>
              </a:buClr>
            </a:pPr>
            <a:r>
              <a:rPr lang="en-US" sz="2667" b="1" kern="0" dirty="0">
                <a:solidFill>
                  <a:srgbClr val="000000"/>
                </a:solidFill>
                <a:latin typeface="Bookman Old Style" panose="02050604050505020204" pitchFamily="18" charset="0"/>
                <a:cs typeface="Arial"/>
                <a:sym typeface="Arial"/>
              </a:rPr>
              <a:t>Examples:-</a:t>
            </a:r>
          </a:p>
          <a:p>
            <a:pPr marL="502602" marR="6773" lvl="3" indent="-502602" algn="just" defTabSz="2010411" eaLnBrk="0" fontAlgn="base" hangingPunct="0">
              <a:lnSpc>
                <a:spcPct val="150000"/>
              </a:lnSpc>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Automobile industries.</a:t>
            </a:r>
          </a:p>
          <a:p>
            <a:pPr marL="502602" marR="6773" lvl="3" indent="-502602" algn="just" defTabSz="2010411" eaLnBrk="0" fontAlgn="base" hangingPunct="0">
              <a:lnSpc>
                <a:spcPct val="150000"/>
              </a:lnSpc>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Machining transfer lines and automated assembly machines</a:t>
            </a:r>
          </a:p>
        </p:txBody>
      </p:sp>
    </p:spTree>
    <p:extLst>
      <p:ext uri="{BB962C8B-B14F-4D97-AF65-F5344CB8AC3E}">
        <p14:creationId xmlns:p14="http://schemas.microsoft.com/office/powerpoint/2010/main" val="38014794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458C808B-9697-319B-2DD3-AB821663A8A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6F22F36-236A-B07D-E289-9EA9C71048BB}"/>
              </a:ext>
            </a:extLst>
          </p:cNvPr>
          <p:cNvSpPr txBox="1"/>
          <p:nvPr/>
        </p:nvSpPr>
        <p:spPr>
          <a:xfrm>
            <a:off x="2474081" y="211034"/>
            <a:ext cx="7243835" cy="913199"/>
          </a:xfrm>
          <a:prstGeom prst="rect">
            <a:avLst/>
          </a:prstGeom>
          <a:noFill/>
        </p:spPr>
        <p:txBody>
          <a:bodyPr wrap="square">
            <a:spAutoFit/>
          </a:bodyPr>
          <a:lstStyle/>
          <a:p>
            <a:pPr algn="ctr" defTabSz="1219170">
              <a:buClr>
                <a:srgbClr val="000000"/>
              </a:buClr>
            </a:pPr>
            <a:r>
              <a:rPr lang="en-US" altLang="en-US" sz="2667" b="1" kern="0" dirty="0">
                <a:solidFill>
                  <a:srgbClr val="0070C0"/>
                </a:solidFill>
                <a:latin typeface="Bookman Old Style" panose="02050604050505020204" pitchFamily="18" charset="0"/>
                <a:cs typeface="Arial"/>
                <a:sym typeface="Arial"/>
              </a:rPr>
              <a:t>Types of Automation</a:t>
            </a:r>
          </a:p>
          <a:p>
            <a:pPr algn="ctr" defTabSz="1219170">
              <a:buClr>
                <a:srgbClr val="000000"/>
              </a:buClr>
            </a:pPr>
            <a:r>
              <a:rPr lang="en-US" altLang="en-US" sz="2667" kern="0" dirty="0">
                <a:solidFill>
                  <a:srgbClr val="0070C0"/>
                </a:solidFill>
                <a:latin typeface="Bookman Old Style" panose="02050604050505020204" pitchFamily="18" charset="0"/>
                <a:cs typeface="Arial"/>
                <a:sym typeface="Arial"/>
              </a:rPr>
              <a:t>Programmable Automation</a:t>
            </a:r>
          </a:p>
        </p:txBody>
      </p:sp>
      <p:sp>
        <p:nvSpPr>
          <p:cNvPr id="4" name="TextBox 3">
            <a:extLst>
              <a:ext uri="{FF2B5EF4-FFF2-40B4-BE49-F238E27FC236}">
                <a16:creationId xmlns:a16="http://schemas.microsoft.com/office/drawing/2014/main" id="{94D15E0B-F64C-64FA-CCB0-9C1BF6B78381}"/>
              </a:ext>
            </a:extLst>
          </p:cNvPr>
          <p:cNvSpPr txBox="1"/>
          <p:nvPr/>
        </p:nvSpPr>
        <p:spPr>
          <a:xfrm>
            <a:off x="264406" y="1189064"/>
            <a:ext cx="11663189" cy="4607095"/>
          </a:xfrm>
          <a:prstGeom prst="rect">
            <a:avLst/>
          </a:prstGeom>
          <a:noFill/>
        </p:spPr>
        <p:txBody>
          <a:bodyPr wrap="square">
            <a:spAutoFit/>
          </a:bodyPr>
          <a:lstStyle/>
          <a:p>
            <a:pPr algn="just" defTabSz="1219170">
              <a:buClr>
                <a:srgbClr val="000000"/>
              </a:buClr>
            </a:pPr>
            <a:r>
              <a:rPr lang="en-US" sz="2667" kern="0" dirty="0">
                <a:solidFill>
                  <a:srgbClr val="000000"/>
                </a:solidFill>
                <a:latin typeface="Bookman Old Style" panose="02050604050505020204" pitchFamily="18" charset="0"/>
                <a:cs typeface="Arial"/>
                <a:sym typeface="Arial"/>
              </a:rPr>
              <a:t>It is the automation in which the equipment is designed to accommodate various product configurations in order to change the sequence of operations or assembly operations by means of control program. Different types of programs can be loaded into the equipment to produce products with new configurations (i.e., new products).</a:t>
            </a:r>
          </a:p>
          <a:p>
            <a:pPr algn="just" defTabSz="1219170">
              <a:buClr>
                <a:srgbClr val="000000"/>
              </a:buClr>
            </a:pPr>
            <a:r>
              <a:rPr lang="en-US" sz="2667" kern="0" dirty="0">
                <a:solidFill>
                  <a:srgbClr val="000000"/>
                </a:solidFill>
                <a:latin typeface="Bookman Old Style" panose="02050604050505020204" pitchFamily="18" charset="0"/>
                <a:cs typeface="Arial"/>
                <a:sym typeface="Arial"/>
              </a:rPr>
              <a:t>It is employed for batch production of low and medium volumes. For each new batch of different configured product, a new control program corresponding to the new product is loaded into the equipment. This automation is relatively economic for small batches of the product</a:t>
            </a:r>
            <a:endParaRPr lang="en-US" sz="2400" kern="0" dirty="0">
              <a:solidFill>
                <a:srgbClr val="000000"/>
              </a:solidFill>
              <a:latin typeface="Bookman Old Style" panose="02050604050505020204" pitchFamily="18" charset="0"/>
              <a:cs typeface="Andalus" pitchFamily="18" charset="-78"/>
              <a:sym typeface="Arial"/>
            </a:endParaRPr>
          </a:p>
        </p:txBody>
      </p:sp>
    </p:spTree>
    <p:extLst>
      <p:ext uri="{BB962C8B-B14F-4D97-AF65-F5344CB8AC3E}">
        <p14:creationId xmlns:p14="http://schemas.microsoft.com/office/powerpoint/2010/main" val="9746755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93A4FC8D-A471-A753-5550-43EEB565AD9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75006F9-57A9-9AAF-592E-377CD10081A8}"/>
              </a:ext>
            </a:extLst>
          </p:cNvPr>
          <p:cNvSpPr txBox="1"/>
          <p:nvPr/>
        </p:nvSpPr>
        <p:spPr>
          <a:xfrm>
            <a:off x="2474081" y="211034"/>
            <a:ext cx="7243835" cy="913199"/>
          </a:xfrm>
          <a:prstGeom prst="rect">
            <a:avLst/>
          </a:prstGeom>
          <a:noFill/>
        </p:spPr>
        <p:txBody>
          <a:bodyPr wrap="square">
            <a:spAutoFit/>
          </a:bodyPr>
          <a:lstStyle/>
          <a:p>
            <a:pPr algn="ctr" defTabSz="1219170">
              <a:buClr>
                <a:srgbClr val="000000"/>
              </a:buClr>
            </a:pPr>
            <a:r>
              <a:rPr lang="en-US" altLang="en-US" sz="2667" b="1" kern="0" dirty="0">
                <a:solidFill>
                  <a:srgbClr val="0070C0"/>
                </a:solidFill>
                <a:latin typeface="Bookman Old Style" panose="02050604050505020204" pitchFamily="18" charset="0"/>
                <a:cs typeface="Arial"/>
                <a:sym typeface="Arial"/>
              </a:rPr>
              <a:t>Types of Automation</a:t>
            </a:r>
          </a:p>
          <a:p>
            <a:pPr algn="ctr" defTabSz="1219170">
              <a:buClr>
                <a:srgbClr val="000000"/>
              </a:buClr>
            </a:pPr>
            <a:r>
              <a:rPr lang="en-US" altLang="en-US" sz="2667" kern="0" dirty="0">
                <a:solidFill>
                  <a:srgbClr val="0070C0"/>
                </a:solidFill>
                <a:latin typeface="Bookman Old Style" panose="02050604050505020204" pitchFamily="18" charset="0"/>
                <a:cs typeface="Arial"/>
                <a:sym typeface="Arial"/>
              </a:rPr>
              <a:t>Programmable Automation</a:t>
            </a:r>
          </a:p>
        </p:txBody>
      </p:sp>
      <p:sp>
        <p:nvSpPr>
          <p:cNvPr id="4" name="TextBox 3">
            <a:extLst>
              <a:ext uri="{FF2B5EF4-FFF2-40B4-BE49-F238E27FC236}">
                <a16:creationId xmlns:a16="http://schemas.microsoft.com/office/drawing/2014/main" id="{78A77CF0-D976-C50F-E225-3BC86EA35E65}"/>
              </a:ext>
            </a:extLst>
          </p:cNvPr>
          <p:cNvSpPr txBox="1"/>
          <p:nvPr/>
        </p:nvSpPr>
        <p:spPr>
          <a:xfrm>
            <a:off x="264406" y="1189063"/>
            <a:ext cx="11663189" cy="3129190"/>
          </a:xfrm>
          <a:prstGeom prst="rect">
            <a:avLst/>
          </a:prstGeom>
          <a:noFill/>
        </p:spPr>
        <p:txBody>
          <a:bodyPr wrap="square">
            <a:spAutoFit/>
          </a:bodyPr>
          <a:lstStyle/>
          <a:p>
            <a:pPr algn="just" defTabSz="1219170">
              <a:buClr>
                <a:srgbClr val="000000"/>
              </a:buClr>
            </a:pPr>
            <a:r>
              <a:rPr lang="en-US" sz="2667" b="1" kern="0" dirty="0">
                <a:solidFill>
                  <a:srgbClr val="000000"/>
                </a:solidFill>
                <a:latin typeface="Bookman Old Style" panose="02050604050505020204" pitchFamily="18" charset="0"/>
                <a:cs typeface="Arial"/>
                <a:sym typeface="Arial"/>
              </a:rPr>
              <a:t>Features:-</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High investment in general purpose,</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Lower production rates than fixed automation,</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Flexibility &amp; Changes in products configuration,</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More suitable for batch production.</a:t>
            </a:r>
          </a:p>
          <a:p>
            <a:pPr algn="just" defTabSz="1219170">
              <a:buClr>
                <a:srgbClr val="000000"/>
              </a:buClr>
            </a:pPr>
            <a:r>
              <a:rPr lang="en-US" sz="2667" b="1" kern="0" dirty="0">
                <a:solidFill>
                  <a:srgbClr val="000000"/>
                </a:solidFill>
                <a:latin typeface="Bookman Old Style" panose="02050604050505020204" pitchFamily="18" charset="0"/>
                <a:cs typeface="Arial"/>
                <a:sym typeface="Arial"/>
              </a:rPr>
              <a:t>Examples:-</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Industrial robot</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NC machines tools</a:t>
            </a:r>
          </a:p>
        </p:txBody>
      </p:sp>
    </p:spTree>
    <p:extLst>
      <p:ext uri="{BB962C8B-B14F-4D97-AF65-F5344CB8AC3E}">
        <p14:creationId xmlns:p14="http://schemas.microsoft.com/office/powerpoint/2010/main" val="12804633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0A66BC60-FE95-E7FC-7414-F93154753C8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98744C2-A05E-A6B6-F18C-1C33BF8D9257}"/>
              </a:ext>
            </a:extLst>
          </p:cNvPr>
          <p:cNvSpPr txBox="1"/>
          <p:nvPr/>
        </p:nvSpPr>
        <p:spPr>
          <a:xfrm>
            <a:off x="2474081" y="211034"/>
            <a:ext cx="7243835" cy="913199"/>
          </a:xfrm>
          <a:prstGeom prst="rect">
            <a:avLst/>
          </a:prstGeom>
          <a:noFill/>
        </p:spPr>
        <p:txBody>
          <a:bodyPr wrap="square">
            <a:spAutoFit/>
          </a:bodyPr>
          <a:lstStyle/>
          <a:p>
            <a:pPr algn="ctr" defTabSz="1219170">
              <a:buClr>
                <a:srgbClr val="000000"/>
              </a:buClr>
            </a:pPr>
            <a:r>
              <a:rPr lang="en-US" altLang="en-US" sz="2667" b="1" kern="0" dirty="0">
                <a:solidFill>
                  <a:srgbClr val="0070C0"/>
                </a:solidFill>
                <a:latin typeface="Bookman Old Style" panose="02050604050505020204" pitchFamily="18" charset="0"/>
                <a:cs typeface="Arial"/>
                <a:sym typeface="Arial"/>
              </a:rPr>
              <a:t>Types of Automation</a:t>
            </a:r>
          </a:p>
          <a:p>
            <a:pPr algn="ctr" defTabSz="1219170">
              <a:buClr>
                <a:srgbClr val="000000"/>
              </a:buClr>
            </a:pPr>
            <a:r>
              <a:rPr lang="en-US" altLang="en-US" sz="2667" kern="0" dirty="0">
                <a:solidFill>
                  <a:srgbClr val="0070C0"/>
                </a:solidFill>
                <a:latin typeface="Bookman Old Style" panose="02050604050505020204" pitchFamily="18" charset="0"/>
                <a:cs typeface="Arial"/>
                <a:sym typeface="Arial"/>
              </a:rPr>
              <a:t>Flexible Automation</a:t>
            </a:r>
          </a:p>
        </p:txBody>
      </p:sp>
      <p:sp>
        <p:nvSpPr>
          <p:cNvPr id="4" name="TextBox 3">
            <a:extLst>
              <a:ext uri="{FF2B5EF4-FFF2-40B4-BE49-F238E27FC236}">
                <a16:creationId xmlns:a16="http://schemas.microsoft.com/office/drawing/2014/main" id="{15292200-88DA-4A0E-AD04-DB2E1AEDB0C7}"/>
              </a:ext>
            </a:extLst>
          </p:cNvPr>
          <p:cNvSpPr txBox="1"/>
          <p:nvPr/>
        </p:nvSpPr>
        <p:spPr>
          <a:xfrm>
            <a:off x="845127" y="1189064"/>
            <a:ext cx="10571018" cy="4461671"/>
          </a:xfrm>
          <a:prstGeom prst="rect">
            <a:avLst/>
          </a:prstGeom>
          <a:noFill/>
        </p:spPr>
        <p:txBody>
          <a:bodyPr wrap="square">
            <a:spAutoFit/>
          </a:bodyPr>
          <a:lstStyle/>
          <a:p>
            <a:pPr algn="just" defTabSz="1219170">
              <a:lnSpc>
                <a:spcPct val="150000"/>
              </a:lnSpc>
              <a:buClr>
                <a:srgbClr val="000000"/>
              </a:buClr>
            </a:pPr>
            <a:r>
              <a:rPr lang="en-US" sz="2400" kern="0" dirty="0">
                <a:solidFill>
                  <a:srgbClr val="000000"/>
                </a:solidFill>
                <a:latin typeface="Bookman Old Style" panose="02050604050505020204" pitchFamily="18" charset="0"/>
                <a:cs typeface="Arial"/>
                <a:sym typeface="Arial"/>
              </a:rPr>
              <a:t>A computer integrated manufacturing system which is a extension of programmable automation is referred as flexible automation. It is developed to minimize the time loss between the changeover of the batch production from one product to other while reloading.</a:t>
            </a:r>
          </a:p>
          <a:p>
            <a:pPr algn="just" defTabSz="1219170">
              <a:lnSpc>
                <a:spcPct val="150000"/>
              </a:lnSpc>
              <a:buClr>
                <a:srgbClr val="000000"/>
              </a:buClr>
            </a:pPr>
            <a:r>
              <a:rPr lang="en-US" sz="2400" kern="0" dirty="0">
                <a:solidFill>
                  <a:srgbClr val="000000"/>
                </a:solidFill>
                <a:latin typeface="Bookman Old Style" panose="02050604050505020204" pitchFamily="18" charset="0"/>
                <a:cs typeface="Arial"/>
                <a:sym typeface="Arial"/>
              </a:rPr>
              <a:t>The program to produce new products and changing the physical setup i.e., it 4 produces different products with no loss of time. This automation is more flexible in interconnecting work stations with material handling and storage system</a:t>
            </a:r>
          </a:p>
        </p:txBody>
      </p:sp>
    </p:spTree>
    <p:extLst>
      <p:ext uri="{BB962C8B-B14F-4D97-AF65-F5344CB8AC3E}">
        <p14:creationId xmlns:p14="http://schemas.microsoft.com/office/powerpoint/2010/main" val="6351065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35648408-627A-1D36-C773-277EEE6970E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81887AC-7232-11A2-DA3F-979C2EA62C32}"/>
              </a:ext>
            </a:extLst>
          </p:cNvPr>
          <p:cNvSpPr txBox="1"/>
          <p:nvPr/>
        </p:nvSpPr>
        <p:spPr>
          <a:xfrm>
            <a:off x="2474081" y="211034"/>
            <a:ext cx="7243835" cy="913199"/>
          </a:xfrm>
          <a:prstGeom prst="rect">
            <a:avLst/>
          </a:prstGeom>
          <a:noFill/>
        </p:spPr>
        <p:txBody>
          <a:bodyPr wrap="square">
            <a:spAutoFit/>
          </a:bodyPr>
          <a:lstStyle/>
          <a:p>
            <a:pPr algn="ctr" defTabSz="1219170">
              <a:buClr>
                <a:srgbClr val="000000"/>
              </a:buClr>
            </a:pPr>
            <a:r>
              <a:rPr lang="en-US" altLang="en-US" sz="2667" b="1" kern="0" dirty="0">
                <a:solidFill>
                  <a:srgbClr val="0070C0"/>
                </a:solidFill>
                <a:latin typeface="Bookman Old Style" panose="02050604050505020204" pitchFamily="18" charset="0"/>
                <a:cs typeface="Arial"/>
                <a:sym typeface="Arial"/>
              </a:rPr>
              <a:t>Types of Automation</a:t>
            </a:r>
          </a:p>
          <a:p>
            <a:pPr algn="ctr" defTabSz="1219170">
              <a:buClr>
                <a:srgbClr val="000000"/>
              </a:buClr>
            </a:pPr>
            <a:r>
              <a:rPr lang="en-US" altLang="en-US" sz="2667" kern="0" dirty="0">
                <a:solidFill>
                  <a:srgbClr val="0070C0"/>
                </a:solidFill>
                <a:latin typeface="Bookman Old Style" panose="02050604050505020204" pitchFamily="18" charset="0"/>
                <a:cs typeface="Arial"/>
                <a:sym typeface="Arial"/>
              </a:rPr>
              <a:t>Flexible Automation</a:t>
            </a:r>
          </a:p>
        </p:txBody>
      </p:sp>
      <p:sp>
        <p:nvSpPr>
          <p:cNvPr id="4" name="TextBox 3">
            <a:extLst>
              <a:ext uri="{FF2B5EF4-FFF2-40B4-BE49-F238E27FC236}">
                <a16:creationId xmlns:a16="http://schemas.microsoft.com/office/drawing/2014/main" id="{155A3981-2812-F491-B1F3-091985A20C15}"/>
              </a:ext>
            </a:extLst>
          </p:cNvPr>
          <p:cNvSpPr txBox="1"/>
          <p:nvPr/>
        </p:nvSpPr>
        <p:spPr>
          <a:xfrm>
            <a:off x="264406" y="1189063"/>
            <a:ext cx="11663189" cy="2759858"/>
          </a:xfrm>
          <a:prstGeom prst="rect">
            <a:avLst/>
          </a:prstGeom>
          <a:noFill/>
        </p:spPr>
        <p:txBody>
          <a:bodyPr wrap="square">
            <a:spAutoFit/>
          </a:bodyPr>
          <a:lstStyle/>
          <a:p>
            <a:pPr algn="just" defTabSz="1219170">
              <a:buClr>
                <a:srgbClr val="000000"/>
              </a:buClr>
            </a:pPr>
            <a:r>
              <a:rPr lang="en-US" sz="2667" b="1" kern="0" dirty="0">
                <a:solidFill>
                  <a:srgbClr val="000000"/>
                </a:solidFill>
                <a:latin typeface="Bookman Old Style" panose="02050604050505020204" pitchFamily="18" charset="0"/>
                <a:cs typeface="Arial"/>
                <a:sym typeface="Arial"/>
              </a:rPr>
              <a:t>Features:-</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High investment for a custom engineering system.</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Medium Production rates</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Flexibility to deal with product design variation,</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Continuous production of variable mixtures of products.</a:t>
            </a:r>
          </a:p>
          <a:p>
            <a:pPr algn="just" defTabSz="1219170">
              <a:buClr>
                <a:srgbClr val="000000"/>
              </a:buClr>
            </a:pPr>
            <a:r>
              <a:rPr lang="en-US" sz="2667" b="1" kern="0" dirty="0">
                <a:solidFill>
                  <a:srgbClr val="000000"/>
                </a:solidFill>
                <a:latin typeface="Bookman Old Style" panose="02050604050505020204" pitchFamily="18" charset="0"/>
                <a:cs typeface="Arial"/>
                <a:sym typeface="Arial"/>
              </a:rPr>
              <a:t>Example:-</a:t>
            </a:r>
            <a:r>
              <a:rPr lang="en-US" sz="2667" kern="0" dirty="0">
                <a:solidFill>
                  <a:srgbClr val="000000"/>
                </a:solidFill>
                <a:latin typeface="Bookman Old Style" panose="02050604050505020204" pitchFamily="18" charset="0"/>
                <a:cs typeface="Arial"/>
                <a:sym typeface="Arial"/>
              </a:rPr>
              <a:t> </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Flexible manufacturing systems (FMS)</a:t>
            </a:r>
          </a:p>
        </p:txBody>
      </p:sp>
    </p:spTree>
    <p:extLst>
      <p:ext uri="{BB962C8B-B14F-4D97-AF65-F5344CB8AC3E}">
        <p14:creationId xmlns:p14="http://schemas.microsoft.com/office/powerpoint/2010/main" val="23758573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559C87D1-228F-0C4D-FF22-34F7E126E94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F350B05-A364-D96B-DAD1-801E2D648A14}"/>
              </a:ext>
            </a:extLst>
          </p:cNvPr>
          <p:cNvSpPr txBox="1"/>
          <p:nvPr/>
        </p:nvSpPr>
        <p:spPr>
          <a:xfrm>
            <a:off x="2474081" y="460752"/>
            <a:ext cx="7243835" cy="502766"/>
          </a:xfrm>
          <a:prstGeom prst="rect">
            <a:avLst/>
          </a:prstGeom>
          <a:noFill/>
        </p:spPr>
        <p:txBody>
          <a:bodyPr wrap="square">
            <a:spAutoFit/>
          </a:bodyPr>
          <a:lstStyle/>
          <a:p>
            <a:pPr algn="ctr" defTabSz="1219170">
              <a:buClr>
                <a:srgbClr val="000000"/>
              </a:buClr>
            </a:pPr>
            <a:r>
              <a:rPr lang="en-US" altLang="en-US" sz="2667" b="1" kern="0" dirty="0">
                <a:solidFill>
                  <a:srgbClr val="0070C0"/>
                </a:solidFill>
                <a:latin typeface="Bookman Old Style" panose="02050604050505020204" pitchFamily="18" charset="0"/>
                <a:cs typeface="Arial"/>
                <a:sym typeface="Arial"/>
              </a:rPr>
              <a:t>Types of Automation</a:t>
            </a:r>
          </a:p>
        </p:txBody>
      </p:sp>
      <p:sp>
        <p:nvSpPr>
          <p:cNvPr id="4" name="TextBox 3">
            <a:extLst>
              <a:ext uri="{FF2B5EF4-FFF2-40B4-BE49-F238E27FC236}">
                <a16:creationId xmlns:a16="http://schemas.microsoft.com/office/drawing/2014/main" id="{37A490B3-1B61-DE44-30DA-86A6B26D551C}"/>
              </a:ext>
            </a:extLst>
          </p:cNvPr>
          <p:cNvSpPr txBox="1"/>
          <p:nvPr/>
        </p:nvSpPr>
        <p:spPr>
          <a:xfrm>
            <a:off x="264406" y="1189063"/>
            <a:ext cx="11663189" cy="4154984"/>
          </a:xfrm>
          <a:prstGeom prst="rect">
            <a:avLst/>
          </a:prstGeom>
          <a:noFill/>
        </p:spPr>
        <p:txBody>
          <a:bodyPr wrap="square">
            <a:spAutoFit/>
          </a:bodyPr>
          <a:lstStyle/>
          <a:p>
            <a:pPr algn="just" defTabSz="1219170">
              <a:buClr>
                <a:srgbClr val="000000"/>
              </a:buClr>
            </a:pPr>
            <a:r>
              <a:rPr lang="en-US" sz="2400" b="1" kern="0" dirty="0">
                <a:solidFill>
                  <a:srgbClr val="000000"/>
                </a:solidFill>
                <a:latin typeface="Bookman Old Style" panose="02050604050505020204" pitchFamily="18" charset="0"/>
                <a:cs typeface="Andalus" pitchFamily="18" charset="-78"/>
                <a:sym typeface="Arial"/>
              </a:rPr>
              <a:t>Advantages of Automation</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High Production rates</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Lead time decreases</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Storing capacity decreases</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Human errors are eliminated.</a:t>
            </a:r>
          </a:p>
          <a:p>
            <a:pPr marL="502602" marR="6773" lvl="3" indent="-502602" algn="just" defTabSz="2010411" eaLnBrk="0" fontAlgn="base" hangingPunct="0">
              <a:buClr>
                <a:srgbClr val="000000"/>
              </a:buClr>
              <a:buBlip>
                <a:blip r:embed="rId3"/>
              </a:buBlip>
              <a:defRPr/>
            </a:pPr>
            <a:r>
              <a:rPr lang="en-US" sz="2400" kern="0" dirty="0" err="1">
                <a:solidFill>
                  <a:srgbClr val="000000"/>
                </a:solidFill>
                <a:latin typeface="Bookman Old Style" panose="02050604050505020204" pitchFamily="18" charset="0"/>
                <a:cs typeface="Andalus" pitchFamily="18" charset="-78"/>
                <a:sym typeface="Arial"/>
              </a:rPr>
              <a:t>Labour</a:t>
            </a:r>
            <a:r>
              <a:rPr lang="en-US" sz="2400" kern="0" dirty="0">
                <a:solidFill>
                  <a:srgbClr val="000000"/>
                </a:solidFill>
                <a:latin typeface="Bookman Old Style" panose="02050604050505020204" pitchFamily="18" charset="0"/>
                <a:cs typeface="Andalus" pitchFamily="18" charset="-78"/>
                <a:sym typeface="Arial"/>
              </a:rPr>
              <a:t> cost is decreases.</a:t>
            </a:r>
          </a:p>
          <a:p>
            <a:pPr marL="0" marR="6773" lvl="3" algn="just" defTabSz="2010411" eaLnBrk="0" fontAlgn="base" hangingPunct="0">
              <a:buClr>
                <a:srgbClr val="000000"/>
              </a:buClr>
              <a:defRPr/>
            </a:pPr>
            <a:r>
              <a:rPr lang="en-US" sz="2400" b="1" kern="0" dirty="0">
                <a:solidFill>
                  <a:srgbClr val="000000"/>
                </a:solidFill>
                <a:latin typeface="Bookman Old Style" panose="02050604050505020204" pitchFamily="18" charset="0"/>
                <a:cs typeface="Andalus" pitchFamily="18" charset="-78"/>
                <a:sym typeface="Arial"/>
              </a:rPr>
              <a:t>Dis-Advantages of Automation</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Initial cost of raw material is very high</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Maintenance cost is high</a:t>
            </a: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Required high skilled </a:t>
            </a:r>
            <a:r>
              <a:rPr lang="en-US" sz="2400" kern="0" dirty="0" err="1">
                <a:solidFill>
                  <a:srgbClr val="000000"/>
                </a:solidFill>
                <a:latin typeface="Bookman Old Style" panose="02050604050505020204" pitchFamily="18" charset="0"/>
                <a:cs typeface="Andalus" pitchFamily="18" charset="-78"/>
                <a:sym typeface="Arial"/>
              </a:rPr>
              <a:t>Labour</a:t>
            </a:r>
            <a:endParaRPr lang="en-US" sz="2400" kern="0" dirty="0">
              <a:solidFill>
                <a:srgbClr val="000000"/>
              </a:solidFill>
              <a:latin typeface="Bookman Old Style" panose="02050604050505020204" pitchFamily="18" charset="0"/>
              <a:cs typeface="Andalus" pitchFamily="18" charset="-78"/>
              <a:sym typeface="Arial"/>
            </a:endParaRPr>
          </a:p>
          <a:p>
            <a:pPr marL="502602" marR="6773" lvl="3" indent="-502602" algn="just" defTabSz="2010411" eaLnBrk="0" fontAlgn="base" hangingPunct="0">
              <a:buClr>
                <a:srgbClr val="000000"/>
              </a:buClr>
              <a:buBlip>
                <a:blip r:embed="rId3"/>
              </a:buBlip>
              <a:defRPr/>
            </a:pPr>
            <a:r>
              <a:rPr lang="en-US" sz="2400" kern="0" dirty="0">
                <a:solidFill>
                  <a:srgbClr val="000000"/>
                </a:solidFill>
                <a:latin typeface="Bookman Old Style" panose="02050604050505020204" pitchFamily="18" charset="0"/>
                <a:cs typeface="Andalus" pitchFamily="18" charset="-78"/>
                <a:sym typeface="Arial"/>
              </a:rPr>
              <a:t>Indirect cost for research development &amp; programming increases.</a:t>
            </a:r>
          </a:p>
        </p:txBody>
      </p:sp>
    </p:spTree>
    <p:extLst>
      <p:ext uri="{BB962C8B-B14F-4D97-AF65-F5344CB8AC3E}">
        <p14:creationId xmlns:p14="http://schemas.microsoft.com/office/powerpoint/2010/main" val="2449432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245AC8A0-7384-4214-8B41-7DFD08A1BE4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B99CAC4-FA54-9E04-BD79-643B750057A8}"/>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sp>
        <p:nvSpPr>
          <p:cNvPr id="4" name="TextBox 3">
            <a:extLst>
              <a:ext uri="{FF2B5EF4-FFF2-40B4-BE49-F238E27FC236}">
                <a16:creationId xmlns:a16="http://schemas.microsoft.com/office/drawing/2014/main" id="{03B04132-FD87-C306-B97C-75795B65B972}"/>
              </a:ext>
            </a:extLst>
          </p:cNvPr>
          <p:cNvSpPr txBox="1"/>
          <p:nvPr/>
        </p:nvSpPr>
        <p:spPr>
          <a:xfrm>
            <a:off x="457200" y="1582340"/>
            <a:ext cx="8142515" cy="2572884"/>
          </a:xfrm>
          <a:prstGeom prst="rect">
            <a:avLst/>
          </a:prstGeom>
          <a:noFill/>
        </p:spPr>
        <p:txBody>
          <a:bodyPr wrap="square">
            <a:spAutoFit/>
          </a:bodyPr>
          <a:lstStyle/>
          <a:p>
            <a:pPr defTabSz="1219170">
              <a:lnSpc>
                <a:spcPct val="150000"/>
              </a:lnSpc>
              <a:buClr>
                <a:srgbClr val="000000"/>
              </a:buClr>
            </a:pPr>
            <a:r>
              <a:rPr lang="en-US" sz="2200" b="1" kern="0" dirty="0">
                <a:solidFill>
                  <a:srgbClr val="0070C0"/>
                </a:solidFill>
                <a:latin typeface="Bookman Old Style" panose="02050604050505020204" pitchFamily="18" charset="0"/>
                <a:cs typeface="Arial"/>
                <a:sym typeface="Arial"/>
              </a:rPr>
              <a:t>Classification of Robot based on Robot configuration:</a:t>
            </a:r>
          </a:p>
          <a:p>
            <a:pPr defTabSz="1219170">
              <a:lnSpc>
                <a:spcPct val="150000"/>
              </a:lnSpc>
              <a:buClr>
                <a:srgbClr val="000000"/>
              </a:buClr>
            </a:pPr>
            <a:r>
              <a:rPr lang="en-IN" sz="2200" kern="0" dirty="0">
                <a:solidFill>
                  <a:srgbClr val="000000"/>
                </a:solidFill>
                <a:latin typeface="Bookman Old Style" panose="02050604050505020204" pitchFamily="18" charset="0"/>
                <a:cs typeface="Arial"/>
                <a:sym typeface="Arial"/>
              </a:rPr>
              <a:t>➢ Polar configuration</a:t>
            </a:r>
          </a:p>
          <a:p>
            <a:pPr defTabSz="1219170">
              <a:lnSpc>
                <a:spcPct val="150000"/>
              </a:lnSpc>
              <a:buClr>
                <a:srgbClr val="000000"/>
              </a:buClr>
            </a:pPr>
            <a:r>
              <a:rPr lang="en-IN" sz="2200" kern="0" dirty="0">
                <a:solidFill>
                  <a:srgbClr val="000000"/>
                </a:solidFill>
                <a:latin typeface="Bookman Old Style" panose="02050604050505020204" pitchFamily="18" charset="0"/>
                <a:cs typeface="Arial"/>
                <a:sym typeface="Arial"/>
              </a:rPr>
              <a:t>➢ Cylindrical configuration</a:t>
            </a:r>
          </a:p>
          <a:p>
            <a:pPr defTabSz="1219170">
              <a:lnSpc>
                <a:spcPct val="150000"/>
              </a:lnSpc>
              <a:buClr>
                <a:srgbClr val="000000"/>
              </a:buClr>
            </a:pPr>
            <a:r>
              <a:rPr lang="en-IN" sz="2200" kern="0" dirty="0">
                <a:solidFill>
                  <a:srgbClr val="000000"/>
                </a:solidFill>
                <a:latin typeface="Bookman Old Style" panose="02050604050505020204" pitchFamily="18" charset="0"/>
                <a:cs typeface="Arial"/>
                <a:sym typeface="Arial"/>
              </a:rPr>
              <a:t>➢ Cartesian configuration</a:t>
            </a:r>
          </a:p>
          <a:p>
            <a:pPr defTabSz="1219170">
              <a:lnSpc>
                <a:spcPct val="150000"/>
              </a:lnSpc>
              <a:buClr>
                <a:srgbClr val="000000"/>
              </a:buClr>
            </a:pPr>
            <a:r>
              <a:rPr lang="en-IN" sz="2200" kern="0" dirty="0">
                <a:solidFill>
                  <a:srgbClr val="000000"/>
                </a:solidFill>
                <a:latin typeface="Bookman Old Style" panose="02050604050505020204" pitchFamily="18" charset="0"/>
                <a:cs typeface="Arial"/>
                <a:sym typeface="Arial"/>
              </a:rPr>
              <a:t>➢ Joint arm configuration</a:t>
            </a:r>
          </a:p>
        </p:txBody>
      </p:sp>
    </p:spTree>
    <p:extLst>
      <p:ext uri="{BB962C8B-B14F-4D97-AF65-F5344CB8AC3E}">
        <p14:creationId xmlns:p14="http://schemas.microsoft.com/office/powerpoint/2010/main" val="28555797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5483F5FB-971B-0EAA-5ADB-DED3CCF9DE9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EF92B3D-9E72-F707-A85C-42DCC6269EEE}"/>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pic>
        <p:nvPicPr>
          <p:cNvPr id="5" name="Picture 4">
            <a:extLst>
              <a:ext uri="{FF2B5EF4-FFF2-40B4-BE49-F238E27FC236}">
                <a16:creationId xmlns:a16="http://schemas.microsoft.com/office/drawing/2014/main" id="{FE7814BF-340D-26BE-BA53-3F17B344E2EF}"/>
              </a:ext>
            </a:extLst>
          </p:cNvPr>
          <p:cNvPicPr>
            <a:picLocks noChangeAspect="1"/>
          </p:cNvPicPr>
          <p:nvPr/>
        </p:nvPicPr>
        <p:blipFill>
          <a:blip r:embed="rId3"/>
          <a:srcRect l="17718" t="34049" r="29612"/>
          <a:stretch/>
        </p:blipFill>
        <p:spPr>
          <a:xfrm>
            <a:off x="6095999" y="935043"/>
            <a:ext cx="5707775" cy="3543748"/>
          </a:xfrm>
          <a:prstGeom prst="rect">
            <a:avLst/>
          </a:prstGeom>
        </p:spPr>
      </p:pic>
      <p:sp>
        <p:nvSpPr>
          <p:cNvPr id="7" name="TextBox 6">
            <a:extLst>
              <a:ext uri="{FF2B5EF4-FFF2-40B4-BE49-F238E27FC236}">
                <a16:creationId xmlns:a16="http://schemas.microsoft.com/office/drawing/2014/main" id="{3D568E05-F237-EB5F-0311-21CD8DA34F61}"/>
              </a:ext>
            </a:extLst>
          </p:cNvPr>
          <p:cNvSpPr txBox="1"/>
          <p:nvPr/>
        </p:nvSpPr>
        <p:spPr>
          <a:xfrm>
            <a:off x="388226" y="1253294"/>
            <a:ext cx="5729176" cy="5113195"/>
          </a:xfrm>
          <a:prstGeom prst="rect">
            <a:avLst/>
          </a:prstGeom>
          <a:noFill/>
        </p:spPr>
        <p:txBody>
          <a:bodyPr wrap="square">
            <a:spAutoFit/>
          </a:bodyPr>
          <a:lstStyle/>
          <a:p>
            <a:pPr algn="just" defTabSz="1219170">
              <a:lnSpc>
                <a:spcPct val="150000"/>
              </a:lnSpc>
              <a:buClr>
                <a:srgbClr val="000000"/>
              </a:buClr>
            </a:pPr>
            <a:r>
              <a:rPr lang="en-US" sz="2200" b="1" kern="0" dirty="0">
                <a:solidFill>
                  <a:srgbClr val="000000"/>
                </a:solidFill>
                <a:latin typeface="Bookman Old Style" panose="02050604050505020204" pitchFamily="18" charset="0"/>
                <a:cs typeface="Arial"/>
                <a:sym typeface="Arial"/>
              </a:rPr>
              <a:t>Polar Configuration (Spherical Configuration):</a:t>
            </a:r>
            <a:endParaRPr lang="en-US" sz="2200" kern="0" dirty="0">
              <a:solidFill>
                <a:srgbClr val="000000"/>
              </a:solidFill>
              <a:latin typeface="Bookman Old Style" panose="02050604050505020204" pitchFamily="18" charset="0"/>
              <a:cs typeface="Arial"/>
              <a:sym typeface="Arial"/>
            </a:endParaRPr>
          </a:p>
          <a:p>
            <a:pPr algn="just" defTabSz="1219170">
              <a:lnSpc>
                <a:spcPct val="150000"/>
              </a:lnSpc>
              <a:buClr>
                <a:srgbClr val="000000"/>
              </a:buClr>
            </a:pPr>
            <a:r>
              <a:rPr lang="en-US" sz="2200" kern="0" dirty="0">
                <a:solidFill>
                  <a:srgbClr val="000000"/>
                </a:solidFill>
                <a:latin typeface="Bookman Old Style" panose="02050604050505020204" pitchFamily="18" charset="0"/>
                <a:cs typeface="Arial"/>
                <a:sym typeface="Arial"/>
              </a:rPr>
              <a:t>The Polar configuration robots, also called the </a:t>
            </a:r>
            <a:r>
              <a:rPr lang="en-US" sz="2200" kern="0" dirty="0">
                <a:solidFill>
                  <a:srgbClr val="0070C0"/>
                </a:solidFill>
                <a:latin typeface="Bookman Old Style" panose="02050604050505020204" pitchFamily="18" charset="0"/>
                <a:cs typeface="Arial"/>
                <a:sym typeface="Arial"/>
              </a:rPr>
              <a:t>spherical configuration robots</a:t>
            </a:r>
            <a:r>
              <a:rPr lang="en-US" sz="2200" kern="0" dirty="0">
                <a:solidFill>
                  <a:srgbClr val="000000"/>
                </a:solidFill>
                <a:latin typeface="Bookman Old Style" panose="02050604050505020204" pitchFamily="18" charset="0"/>
                <a:cs typeface="Arial"/>
                <a:sym typeface="Arial"/>
              </a:rPr>
              <a:t>, consist of a </a:t>
            </a:r>
            <a:r>
              <a:rPr lang="en-US" sz="2200" kern="0" dirty="0">
                <a:solidFill>
                  <a:srgbClr val="0070C0"/>
                </a:solidFill>
                <a:latin typeface="Bookman Old Style" panose="02050604050505020204" pitchFamily="18" charset="0"/>
                <a:cs typeface="Arial"/>
                <a:sym typeface="Arial"/>
              </a:rPr>
              <a:t>sliding arm (L-joint)</a:t>
            </a:r>
            <a:r>
              <a:rPr lang="en-US" sz="2200" kern="0" dirty="0">
                <a:solidFill>
                  <a:srgbClr val="FF0000"/>
                </a:solidFill>
                <a:latin typeface="Bookman Old Style" panose="02050604050505020204" pitchFamily="18" charset="0"/>
                <a:cs typeface="Arial"/>
                <a:sym typeface="Arial"/>
              </a:rPr>
              <a:t> </a:t>
            </a:r>
            <a:r>
              <a:rPr lang="en-US" sz="2200" kern="0" dirty="0">
                <a:solidFill>
                  <a:srgbClr val="000000"/>
                </a:solidFill>
                <a:latin typeface="Bookman Old Style" panose="02050604050505020204" pitchFamily="18" charset="0"/>
                <a:cs typeface="Arial"/>
                <a:sym typeface="Arial"/>
              </a:rPr>
              <a:t>that is actuated relative to the body and a rotational base along with a pivot, which can rotate about a </a:t>
            </a:r>
            <a:r>
              <a:rPr lang="en-US" sz="2200" kern="0" dirty="0">
                <a:solidFill>
                  <a:srgbClr val="0070C0"/>
                </a:solidFill>
                <a:latin typeface="Bookman Old Style" panose="02050604050505020204" pitchFamily="18" charset="0"/>
                <a:cs typeface="Arial"/>
                <a:sym typeface="Arial"/>
              </a:rPr>
              <a:t>horizontal axis (R-joint) </a:t>
            </a:r>
            <a:r>
              <a:rPr lang="en-US" sz="2200" kern="0" dirty="0">
                <a:solidFill>
                  <a:srgbClr val="000000"/>
                </a:solidFill>
                <a:latin typeface="Bookman Old Style" panose="02050604050505020204" pitchFamily="18" charset="0"/>
                <a:cs typeface="Arial"/>
                <a:sym typeface="Arial"/>
              </a:rPr>
              <a:t>and the </a:t>
            </a:r>
            <a:r>
              <a:rPr lang="en-US" sz="2200" kern="0" dirty="0">
                <a:solidFill>
                  <a:srgbClr val="0070C0"/>
                </a:solidFill>
                <a:latin typeface="Bookman Old Style" panose="02050604050505020204" pitchFamily="18" charset="0"/>
                <a:cs typeface="Arial"/>
                <a:sym typeface="Arial"/>
              </a:rPr>
              <a:t>vertical axis (T-Joint)</a:t>
            </a:r>
            <a:r>
              <a:rPr lang="en-US" sz="2200" kern="0" dirty="0">
                <a:solidFill>
                  <a:srgbClr val="000000"/>
                </a:solidFill>
                <a:latin typeface="Bookman Old Style" panose="02050604050505020204" pitchFamily="18" charset="0"/>
                <a:cs typeface="Arial"/>
                <a:sym typeface="Arial"/>
              </a:rPr>
              <a:t>. This is shown in the Fig.</a:t>
            </a:r>
          </a:p>
        </p:txBody>
      </p:sp>
      <p:pic>
        <p:nvPicPr>
          <p:cNvPr id="4" name="Picture 3">
            <a:extLst>
              <a:ext uri="{FF2B5EF4-FFF2-40B4-BE49-F238E27FC236}">
                <a16:creationId xmlns:a16="http://schemas.microsoft.com/office/drawing/2014/main" id="{4F91C813-8882-2005-97DB-777B0F6D508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rcRect l="54001"/>
          <a:stretch/>
        </p:blipFill>
        <p:spPr>
          <a:xfrm>
            <a:off x="7214321" y="4478792"/>
            <a:ext cx="2071977" cy="1887697"/>
          </a:xfrm>
          <a:prstGeom prst="rect">
            <a:avLst/>
          </a:prstGeom>
        </p:spPr>
      </p:pic>
      <p:pic>
        <p:nvPicPr>
          <p:cNvPr id="6" name="Picture 5">
            <a:extLst>
              <a:ext uri="{FF2B5EF4-FFF2-40B4-BE49-F238E27FC236}">
                <a16:creationId xmlns:a16="http://schemas.microsoft.com/office/drawing/2014/main" id="{F9E55178-0BFC-7DD3-D16D-360D23AC17DC}"/>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rcRect r="57326"/>
          <a:stretch/>
        </p:blipFill>
        <p:spPr>
          <a:xfrm>
            <a:off x="9731797" y="4493099"/>
            <a:ext cx="2071977" cy="2034733"/>
          </a:xfrm>
          <a:prstGeom prst="rect">
            <a:avLst/>
          </a:prstGeom>
        </p:spPr>
      </p:pic>
    </p:spTree>
    <p:extLst>
      <p:ext uri="{BB962C8B-B14F-4D97-AF65-F5344CB8AC3E}">
        <p14:creationId xmlns:p14="http://schemas.microsoft.com/office/powerpoint/2010/main" val="4660767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181FBDDA-B38E-AE57-8047-BEA4F6827D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F5CF1E1-2173-29C5-8C2F-7740F8AE3BA2}"/>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sp>
        <p:nvSpPr>
          <p:cNvPr id="7" name="TextBox 6">
            <a:extLst>
              <a:ext uri="{FF2B5EF4-FFF2-40B4-BE49-F238E27FC236}">
                <a16:creationId xmlns:a16="http://schemas.microsoft.com/office/drawing/2014/main" id="{A87D3EAE-9C18-98B7-8CBD-33A1C7C6625E}"/>
              </a:ext>
            </a:extLst>
          </p:cNvPr>
          <p:cNvSpPr txBox="1"/>
          <p:nvPr/>
        </p:nvSpPr>
        <p:spPr>
          <a:xfrm>
            <a:off x="437003" y="1291893"/>
            <a:ext cx="11387768" cy="4893647"/>
          </a:xfrm>
          <a:prstGeom prst="rect">
            <a:avLst/>
          </a:prstGeom>
          <a:noFill/>
        </p:spPr>
        <p:txBody>
          <a:bodyPr wrap="square">
            <a:spAutoFit/>
          </a:bodyPr>
          <a:lstStyle/>
          <a:p>
            <a:pPr defTabSz="1219170">
              <a:buClr>
                <a:srgbClr val="000000"/>
              </a:buClr>
            </a:pPr>
            <a:r>
              <a:rPr lang="en-US" sz="2400" kern="0" dirty="0">
                <a:solidFill>
                  <a:srgbClr val="000000"/>
                </a:solidFill>
                <a:latin typeface="Bookman Old Style" panose="02050604050505020204" pitchFamily="18" charset="0"/>
                <a:cs typeface="Arial"/>
                <a:sym typeface="Arial"/>
              </a:rPr>
              <a:t>The one linear and the two rotary joints create a spherical work volume in which the robot operates.</a:t>
            </a:r>
          </a:p>
          <a:p>
            <a:pPr defTabSz="1219170">
              <a:buClr>
                <a:srgbClr val="000000"/>
              </a:buClr>
            </a:pPr>
            <a:br>
              <a:rPr lang="en-US" sz="2400" kern="0" dirty="0">
                <a:solidFill>
                  <a:srgbClr val="000000"/>
                </a:solidFill>
                <a:latin typeface="Bookman Old Style" panose="02050604050505020204" pitchFamily="18" charset="0"/>
                <a:cs typeface="Arial"/>
                <a:sym typeface="Arial"/>
              </a:rPr>
            </a:br>
            <a:r>
              <a:rPr lang="en-US" sz="2400" b="1" kern="0" dirty="0">
                <a:solidFill>
                  <a:srgbClr val="000000"/>
                </a:solidFill>
                <a:latin typeface="Bookman Old Style" panose="02050604050505020204" pitchFamily="18" charset="0"/>
                <a:cs typeface="Arial"/>
                <a:sym typeface="Arial"/>
              </a:rPr>
              <a:t>Example:</a:t>
            </a:r>
            <a:r>
              <a:rPr lang="en-US" sz="2400" kern="0" dirty="0">
                <a:solidFill>
                  <a:srgbClr val="000000"/>
                </a:solidFill>
                <a:latin typeface="Bookman Old Style" panose="02050604050505020204" pitchFamily="18" charset="0"/>
                <a:cs typeface="Arial"/>
                <a:sym typeface="Arial"/>
              </a:rPr>
              <a:t> The </a:t>
            </a:r>
            <a:r>
              <a:rPr lang="en-US" sz="2400" kern="0" dirty="0" err="1">
                <a:solidFill>
                  <a:srgbClr val="000000"/>
                </a:solidFill>
                <a:latin typeface="Bookman Old Style" panose="02050604050505020204" pitchFamily="18" charset="0"/>
                <a:cs typeface="Arial"/>
                <a:sym typeface="Arial"/>
              </a:rPr>
              <a:t>Unimate</a:t>
            </a:r>
            <a:r>
              <a:rPr lang="en-US" sz="2400" kern="0" dirty="0">
                <a:solidFill>
                  <a:srgbClr val="000000"/>
                </a:solidFill>
                <a:latin typeface="Bookman Old Style" panose="02050604050505020204" pitchFamily="18" charset="0"/>
                <a:cs typeface="Arial"/>
                <a:sym typeface="Arial"/>
              </a:rPr>
              <a:t> 2000 series robot. </a:t>
            </a:r>
            <a:r>
              <a:rPr lang="en-US" sz="2400" i="1" kern="0" dirty="0">
                <a:solidFill>
                  <a:srgbClr val="000000"/>
                </a:solidFill>
                <a:latin typeface="Bookman Old Style" panose="02050604050505020204" pitchFamily="18" charset="0"/>
                <a:cs typeface="Arial"/>
                <a:sym typeface="Arial"/>
              </a:rPr>
              <a:t>(Courtesy: </a:t>
            </a:r>
            <a:r>
              <a:rPr lang="en-US" sz="2400" i="1" kern="0" dirty="0" err="1">
                <a:solidFill>
                  <a:srgbClr val="000000"/>
                </a:solidFill>
                <a:latin typeface="Bookman Old Style" panose="02050604050505020204" pitchFamily="18" charset="0"/>
                <a:cs typeface="Arial"/>
                <a:sym typeface="Arial"/>
              </a:rPr>
              <a:t>Unimation</a:t>
            </a:r>
            <a:r>
              <a:rPr lang="en-US" sz="2400" i="1" kern="0" dirty="0">
                <a:solidFill>
                  <a:srgbClr val="000000"/>
                </a:solidFill>
                <a:latin typeface="Bookman Old Style" panose="02050604050505020204" pitchFamily="18" charset="0"/>
                <a:cs typeface="Arial"/>
                <a:sym typeface="Arial"/>
              </a:rPr>
              <a:t> Inc.)</a:t>
            </a:r>
          </a:p>
          <a:p>
            <a:pPr algn="just" defTabSz="1219170">
              <a:buClr>
                <a:srgbClr val="000000"/>
              </a:buClr>
            </a:pPr>
            <a:endParaRPr lang="en-US" sz="2400" kern="0" dirty="0">
              <a:solidFill>
                <a:srgbClr val="000000"/>
              </a:solidFill>
              <a:latin typeface="Bookman Old Style" panose="02050604050505020204" pitchFamily="18" charset="0"/>
              <a:cs typeface="Arial"/>
              <a:sym typeface="Arial"/>
            </a:endParaRPr>
          </a:p>
          <a:p>
            <a:pPr defTabSz="1219170">
              <a:buClr>
                <a:srgbClr val="000000"/>
              </a:buClr>
            </a:pPr>
            <a:r>
              <a:rPr lang="en-US" sz="2400" b="1" kern="0" dirty="0">
                <a:solidFill>
                  <a:srgbClr val="000000"/>
                </a:solidFill>
                <a:latin typeface="Bookman Old Style" panose="02050604050505020204" pitchFamily="18" charset="0"/>
                <a:cs typeface="Arial"/>
                <a:sym typeface="Arial"/>
              </a:rPr>
              <a:t>Advantage:</a:t>
            </a:r>
            <a:br>
              <a:rPr lang="en-US" sz="2400" kern="0" dirty="0">
                <a:solidFill>
                  <a:srgbClr val="000000"/>
                </a:solidFill>
                <a:latin typeface="Bookman Old Style" panose="02050604050505020204" pitchFamily="18" charset="0"/>
                <a:cs typeface="Arial"/>
                <a:sym typeface="Arial"/>
              </a:rPr>
            </a:br>
            <a:r>
              <a:rPr lang="en-US" sz="2400" kern="0" dirty="0">
                <a:solidFill>
                  <a:srgbClr val="000000"/>
                </a:solidFill>
                <a:latin typeface="Bookman Old Style" panose="02050604050505020204" pitchFamily="18" charset="0"/>
                <a:cs typeface="Arial"/>
                <a:sym typeface="Arial"/>
              </a:rPr>
              <a:t>Long reach capability is realized in the horizontal position.</a:t>
            </a:r>
          </a:p>
          <a:p>
            <a:pPr algn="just" defTabSz="1219170">
              <a:buClr>
                <a:srgbClr val="000000"/>
              </a:buClr>
            </a:pPr>
            <a:endParaRPr lang="en-US" sz="2400" kern="0" dirty="0">
              <a:solidFill>
                <a:srgbClr val="000000"/>
              </a:solidFill>
              <a:latin typeface="Bookman Old Style" panose="02050604050505020204" pitchFamily="18" charset="0"/>
              <a:cs typeface="Arial"/>
              <a:sym typeface="Arial"/>
            </a:endParaRPr>
          </a:p>
          <a:p>
            <a:pPr defTabSz="1219170">
              <a:buClr>
                <a:srgbClr val="000000"/>
              </a:buClr>
            </a:pPr>
            <a:r>
              <a:rPr lang="en-US" sz="2400" b="1" kern="0" dirty="0">
                <a:solidFill>
                  <a:srgbClr val="000000"/>
                </a:solidFill>
                <a:latin typeface="Bookman Old Style" panose="02050604050505020204" pitchFamily="18" charset="0"/>
                <a:cs typeface="Arial"/>
                <a:sym typeface="Arial"/>
              </a:rPr>
              <a:t>Disadvantage:</a:t>
            </a:r>
            <a:br>
              <a:rPr lang="en-US" sz="2400" kern="0" dirty="0">
                <a:solidFill>
                  <a:srgbClr val="000000"/>
                </a:solidFill>
                <a:latin typeface="Bookman Old Style" panose="02050604050505020204" pitchFamily="18" charset="0"/>
                <a:cs typeface="Arial"/>
                <a:sym typeface="Arial"/>
              </a:rPr>
            </a:br>
            <a:r>
              <a:rPr lang="en-US" sz="2400" kern="0" dirty="0">
                <a:solidFill>
                  <a:srgbClr val="000000"/>
                </a:solidFill>
                <a:latin typeface="Bookman Old Style" panose="02050604050505020204" pitchFamily="18" charset="0"/>
                <a:cs typeface="Arial"/>
                <a:sym typeface="Arial"/>
              </a:rPr>
              <a:t>The vertical reach is low.</a:t>
            </a:r>
          </a:p>
          <a:p>
            <a:pPr algn="just" defTabSz="1219170">
              <a:buClr>
                <a:srgbClr val="000000"/>
              </a:buClr>
            </a:pPr>
            <a:endParaRPr lang="en-US" sz="2400" kern="0" dirty="0">
              <a:solidFill>
                <a:srgbClr val="000000"/>
              </a:solidFill>
              <a:latin typeface="Bookman Old Style" panose="02050604050505020204" pitchFamily="18" charset="0"/>
              <a:cs typeface="Arial"/>
              <a:sym typeface="Arial"/>
            </a:endParaRPr>
          </a:p>
          <a:p>
            <a:pPr defTabSz="1219170">
              <a:buClr>
                <a:srgbClr val="000000"/>
              </a:buClr>
            </a:pPr>
            <a:r>
              <a:rPr lang="en-US" sz="2400" b="1" kern="0" dirty="0">
                <a:solidFill>
                  <a:srgbClr val="000000"/>
                </a:solidFill>
                <a:latin typeface="Bookman Old Style" panose="02050604050505020204" pitchFamily="18" charset="0"/>
                <a:cs typeface="Arial"/>
                <a:sym typeface="Arial"/>
              </a:rPr>
              <a:t>Applications:</a:t>
            </a:r>
            <a:br>
              <a:rPr lang="en-US" sz="2400" kern="0" dirty="0">
                <a:solidFill>
                  <a:srgbClr val="000000"/>
                </a:solidFill>
                <a:latin typeface="Bookman Old Style" panose="02050604050505020204" pitchFamily="18" charset="0"/>
                <a:cs typeface="Arial"/>
                <a:sym typeface="Arial"/>
              </a:rPr>
            </a:br>
            <a:r>
              <a:rPr lang="en-US" sz="2400" kern="0" dirty="0">
                <a:solidFill>
                  <a:srgbClr val="000000"/>
                </a:solidFill>
                <a:latin typeface="Bookman Old Style" panose="02050604050505020204" pitchFamily="18" charset="0"/>
                <a:cs typeface="Arial"/>
                <a:sym typeface="Arial"/>
              </a:rPr>
              <a:t>Die casting, forging, injection molding, dip coating, cleaning of parts, etc. ​</a:t>
            </a:r>
          </a:p>
        </p:txBody>
      </p:sp>
    </p:spTree>
    <p:extLst>
      <p:ext uri="{BB962C8B-B14F-4D97-AF65-F5344CB8AC3E}">
        <p14:creationId xmlns:p14="http://schemas.microsoft.com/office/powerpoint/2010/main" val="12055838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FEA9B66E-19F9-4931-7AA2-65EAD113FAF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879DF81-F54C-1EC3-373E-E12A114D5AFC}"/>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pic>
        <p:nvPicPr>
          <p:cNvPr id="4" name="Picture 3">
            <a:extLst>
              <a:ext uri="{FF2B5EF4-FFF2-40B4-BE49-F238E27FC236}">
                <a16:creationId xmlns:a16="http://schemas.microsoft.com/office/drawing/2014/main" id="{CCD11500-6136-A6B9-A559-9791EB51B332}"/>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l="30663" t="32750" r="35722" b="832"/>
          <a:stretch/>
        </p:blipFill>
        <p:spPr>
          <a:xfrm>
            <a:off x="6259115" y="1016145"/>
            <a:ext cx="3039123" cy="4036911"/>
          </a:xfrm>
          <a:prstGeom prst="rect">
            <a:avLst/>
          </a:prstGeom>
        </p:spPr>
      </p:pic>
      <p:sp>
        <p:nvSpPr>
          <p:cNvPr id="6" name="TextBox 5">
            <a:extLst>
              <a:ext uri="{FF2B5EF4-FFF2-40B4-BE49-F238E27FC236}">
                <a16:creationId xmlns:a16="http://schemas.microsoft.com/office/drawing/2014/main" id="{5349427A-5829-F9EF-5AD5-FF9603318092}"/>
              </a:ext>
            </a:extLst>
          </p:cNvPr>
          <p:cNvSpPr txBox="1"/>
          <p:nvPr/>
        </p:nvSpPr>
        <p:spPr>
          <a:xfrm>
            <a:off x="264405" y="1459494"/>
            <a:ext cx="5831596" cy="5113195"/>
          </a:xfrm>
          <a:prstGeom prst="rect">
            <a:avLst/>
          </a:prstGeom>
          <a:noFill/>
        </p:spPr>
        <p:txBody>
          <a:bodyPr wrap="square">
            <a:spAutoFit/>
          </a:bodyPr>
          <a:lstStyle/>
          <a:p>
            <a:pPr algn="just" defTabSz="1219170">
              <a:lnSpc>
                <a:spcPct val="150000"/>
              </a:lnSpc>
              <a:buClr>
                <a:srgbClr val="000000"/>
              </a:buClr>
            </a:pPr>
            <a:r>
              <a:rPr lang="en-US" sz="2200" b="1" kern="0" dirty="0">
                <a:solidFill>
                  <a:srgbClr val="000000"/>
                </a:solidFill>
                <a:latin typeface="Bookman Old Style" panose="02050604050505020204" pitchFamily="18" charset="0"/>
                <a:cs typeface="Arial"/>
                <a:sym typeface="Arial"/>
              </a:rPr>
              <a:t>Cylindrical Configuration:</a:t>
            </a:r>
            <a:endParaRPr lang="en-US" sz="2200" kern="0" dirty="0">
              <a:solidFill>
                <a:srgbClr val="000000"/>
              </a:solidFill>
              <a:latin typeface="Bookman Old Style" panose="02050604050505020204" pitchFamily="18" charset="0"/>
              <a:cs typeface="Arial"/>
              <a:sym typeface="Arial"/>
            </a:endParaRPr>
          </a:p>
          <a:p>
            <a:pPr algn="just" defTabSz="1219170">
              <a:lnSpc>
                <a:spcPct val="150000"/>
              </a:lnSpc>
              <a:buClr>
                <a:srgbClr val="000000"/>
              </a:buClr>
            </a:pPr>
            <a:r>
              <a:rPr lang="en-US" sz="2200" kern="0" dirty="0">
                <a:solidFill>
                  <a:srgbClr val="000000"/>
                </a:solidFill>
                <a:latin typeface="Bookman Old Style" panose="02050604050505020204" pitchFamily="18" charset="0"/>
                <a:cs typeface="Arial"/>
                <a:sym typeface="Arial"/>
              </a:rPr>
              <a:t>Robots of the cylindrical configuration consist of a </a:t>
            </a:r>
            <a:r>
              <a:rPr lang="en-US" sz="2200" kern="0" dirty="0">
                <a:solidFill>
                  <a:srgbClr val="0070C0"/>
                </a:solidFill>
                <a:latin typeface="Bookman Old Style" panose="02050604050505020204" pitchFamily="18" charset="0"/>
                <a:cs typeface="Arial"/>
                <a:sym typeface="Arial"/>
              </a:rPr>
              <a:t>slide in the horizontal position </a:t>
            </a:r>
            <a:r>
              <a:rPr lang="en-US" sz="2200" kern="0" dirty="0">
                <a:latin typeface="Bookman Old Style" panose="02050604050505020204" pitchFamily="18" charset="0"/>
                <a:cs typeface="Arial"/>
                <a:sym typeface="Arial"/>
              </a:rPr>
              <a:t>and</a:t>
            </a:r>
            <a:r>
              <a:rPr lang="en-US" sz="2200" kern="0" dirty="0">
                <a:solidFill>
                  <a:srgbClr val="000000"/>
                </a:solidFill>
                <a:latin typeface="Bookman Old Style" panose="02050604050505020204" pitchFamily="18" charset="0"/>
                <a:cs typeface="Arial"/>
                <a:sym typeface="Arial"/>
              </a:rPr>
              <a:t> a column in the vertical position. The </a:t>
            </a:r>
            <a:r>
              <a:rPr lang="en-US" sz="2200" kern="0" dirty="0">
                <a:solidFill>
                  <a:srgbClr val="0070C0"/>
                </a:solidFill>
                <a:latin typeface="Bookman Old Style" panose="02050604050505020204" pitchFamily="18" charset="0"/>
                <a:cs typeface="Arial"/>
                <a:sym typeface="Arial"/>
              </a:rPr>
              <a:t>arm assembly moves up or down relative to the column using an L-joint</a:t>
            </a:r>
            <a:r>
              <a:rPr lang="en-US" sz="2200" kern="0" dirty="0">
                <a:solidFill>
                  <a:srgbClr val="000000"/>
                </a:solidFill>
                <a:latin typeface="Bookman Old Style" panose="02050604050505020204" pitchFamily="18" charset="0"/>
                <a:cs typeface="Arial"/>
                <a:sym typeface="Arial"/>
              </a:rPr>
              <a:t>. The </a:t>
            </a:r>
            <a:r>
              <a:rPr lang="en-US" sz="2200" kern="0" dirty="0">
                <a:solidFill>
                  <a:srgbClr val="0070C0"/>
                </a:solidFill>
                <a:latin typeface="Bookman Old Style" panose="02050604050505020204" pitchFamily="18" charset="0"/>
                <a:cs typeface="Arial"/>
                <a:sym typeface="Arial"/>
              </a:rPr>
              <a:t>column is rotated about its axis using the T-joint</a:t>
            </a:r>
            <a:r>
              <a:rPr lang="en-US" sz="2200" kern="0" dirty="0">
                <a:solidFill>
                  <a:srgbClr val="000000"/>
                </a:solidFill>
                <a:latin typeface="Bookman Old Style" panose="02050604050505020204" pitchFamily="18" charset="0"/>
                <a:cs typeface="Arial"/>
                <a:sym typeface="Arial"/>
              </a:rPr>
              <a:t>. The radial movement of the arm is achieved using the O-joint, as shown in Fig.</a:t>
            </a:r>
          </a:p>
        </p:txBody>
      </p:sp>
      <p:pic>
        <p:nvPicPr>
          <p:cNvPr id="5" name="Picture 4">
            <a:extLst>
              <a:ext uri="{FF2B5EF4-FFF2-40B4-BE49-F238E27FC236}">
                <a16:creationId xmlns:a16="http://schemas.microsoft.com/office/drawing/2014/main" id="{A768C36D-65EA-D1B9-3239-A6A1428E8C80}"/>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rcRect l="70372"/>
          <a:stretch/>
        </p:blipFill>
        <p:spPr>
          <a:xfrm>
            <a:off x="9298238" y="1046923"/>
            <a:ext cx="2732181" cy="4178883"/>
          </a:xfrm>
          <a:prstGeom prst="rect">
            <a:avLst/>
          </a:prstGeom>
        </p:spPr>
      </p:pic>
      <p:pic>
        <p:nvPicPr>
          <p:cNvPr id="7" name="Picture 6">
            <a:extLst>
              <a:ext uri="{FF2B5EF4-FFF2-40B4-BE49-F238E27FC236}">
                <a16:creationId xmlns:a16="http://schemas.microsoft.com/office/drawing/2014/main" id="{29AE98B7-DF96-3DA5-BF3C-DF81BA7D4243}"/>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rcRect t="20851" r="59372" b="32399"/>
          <a:stretch/>
        </p:blipFill>
        <p:spPr>
          <a:xfrm>
            <a:off x="9442325" y="5191323"/>
            <a:ext cx="2656595" cy="1385301"/>
          </a:xfrm>
          <a:prstGeom prst="rect">
            <a:avLst/>
          </a:prstGeom>
        </p:spPr>
      </p:pic>
    </p:spTree>
    <p:extLst>
      <p:ext uri="{BB962C8B-B14F-4D97-AF65-F5344CB8AC3E}">
        <p14:creationId xmlns:p14="http://schemas.microsoft.com/office/powerpoint/2010/main" val="41193236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132E28F8-7325-2028-2668-883D19A04E7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78BB4D4-64E0-2995-3F40-4EBEFC26EF4D}"/>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sp>
        <p:nvSpPr>
          <p:cNvPr id="7" name="TextBox 6">
            <a:extLst>
              <a:ext uri="{FF2B5EF4-FFF2-40B4-BE49-F238E27FC236}">
                <a16:creationId xmlns:a16="http://schemas.microsoft.com/office/drawing/2014/main" id="{C7BF7D6E-D00F-0359-5F2B-45C239E43722}"/>
              </a:ext>
            </a:extLst>
          </p:cNvPr>
          <p:cNvSpPr txBox="1"/>
          <p:nvPr/>
        </p:nvSpPr>
        <p:spPr>
          <a:xfrm>
            <a:off x="264403" y="1296026"/>
            <a:ext cx="11663191" cy="4960461"/>
          </a:xfrm>
          <a:prstGeom prst="rect">
            <a:avLst/>
          </a:prstGeom>
          <a:noFill/>
        </p:spPr>
        <p:txBody>
          <a:bodyPr wrap="square">
            <a:spAutoFit/>
          </a:bodyPr>
          <a:lstStyle/>
          <a:p>
            <a:pPr defTabSz="1219170">
              <a:lnSpc>
                <a:spcPct val="150000"/>
              </a:lnSpc>
              <a:buClr>
                <a:srgbClr val="000000"/>
              </a:buClr>
            </a:pPr>
            <a:r>
              <a:rPr lang="en-IN" sz="2133" kern="0" dirty="0">
                <a:solidFill>
                  <a:srgbClr val="000000"/>
                </a:solidFill>
                <a:latin typeface="Bookman Old Style" panose="02050604050505020204" pitchFamily="18" charset="0"/>
                <a:cs typeface="Arial"/>
                <a:sym typeface="Arial"/>
              </a:rPr>
              <a:t>Example: Model 1A Robot of GMF Robotics Corp. (Courtesy: GMF Robotics Corp.) </a:t>
            </a:r>
          </a:p>
          <a:p>
            <a:pPr defTabSz="1219170">
              <a:lnSpc>
                <a:spcPct val="150000"/>
              </a:lnSpc>
              <a:buClr>
                <a:srgbClr val="000000"/>
              </a:buClr>
            </a:pPr>
            <a:r>
              <a:rPr lang="en-IN" sz="2133" b="1" kern="0" dirty="0">
                <a:solidFill>
                  <a:srgbClr val="000000"/>
                </a:solidFill>
                <a:latin typeface="Bookman Old Style" panose="02050604050505020204" pitchFamily="18" charset="0"/>
                <a:cs typeface="Arial"/>
                <a:sym typeface="Arial"/>
              </a:rPr>
              <a:t>Advantages:</a:t>
            </a:r>
          </a:p>
          <a:p>
            <a:pPr defTabSz="1219170">
              <a:lnSpc>
                <a:spcPct val="150000"/>
              </a:lnSpc>
              <a:buClr>
                <a:srgbClr val="000000"/>
              </a:buClr>
            </a:pPr>
            <a:r>
              <a:rPr lang="en-IN" sz="2133" kern="0" dirty="0">
                <a:solidFill>
                  <a:srgbClr val="000000"/>
                </a:solidFill>
                <a:latin typeface="Bookman Old Style" panose="02050604050505020204" pitchFamily="18" charset="0"/>
                <a:cs typeface="Arial"/>
                <a:sym typeface="Arial"/>
              </a:rPr>
              <a:t>1. Rigidity is increased and is quite robust.</a:t>
            </a:r>
          </a:p>
          <a:p>
            <a:pPr defTabSz="1219170">
              <a:lnSpc>
                <a:spcPct val="150000"/>
              </a:lnSpc>
              <a:buClr>
                <a:srgbClr val="000000"/>
              </a:buClr>
            </a:pPr>
            <a:r>
              <a:rPr lang="en-IN" sz="2133" kern="0" dirty="0">
                <a:solidFill>
                  <a:srgbClr val="000000"/>
                </a:solidFill>
                <a:latin typeface="Bookman Old Style" panose="02050604050505020204" pitchFamily="18" charset="0"/>
                <a:cs typeface="Arial"/>
                <a:sym typeface="Arial"/>
              </a:rPr>
              <a:t>2. Has the capacity to carry high payloads.</a:t>
            </a:r>
          </a:p>
          <a:p>
            <a:pPr defTabSz="1219170">
              <a:lnSpc>
                <a:spcPct val="150000"/>
              </a:lnSpc>
              <a:buClr>
                <a:srgbClr val="000000"/>
              </a:buClr>
            </a:pPr>
            <a:r>
              <a:rPr lang="en-IN" sz="2133" b="1" kern="0" dirty="0">
                <a:solidFill>
                  <a:srgbClr val="000000"/>
                </a:solidFill>
                <a:latin typeface="Bookman Old Style" panose="02050604050505020204" pitchFamily="18" charset="0"/>
                <a:cs typeface="Arial"/>
                <a:sym typeface="Arial"/>
              </a:rPr>
              <a:t>Disadvantages:</a:t>
            </a:r>
          </a:p>
          <a:p>
            <a:pPr defTabSz="1219170">
              <a:lnSpc>
                <a:spcPct val="150000"/>
              </a:lnSpc>
              <a:buClr>
                <a:srgbClr val="000000"/>
              </a:buClr>
            </a:pPr>
            <a:r>
              <a:rPr lang="en-IN" sz="2133" kern="0" dirty="0">
                <a:solidFill>
                  <a:srgbClr val="000000"/>
                </a:solidFill>
                <a:latin typeface="Bookman Old Style" panose="02050604050505020204" pitchFamily="18" charset="0"/>
                <a:cs typeface="Arial"/>
                <a:sym typeface="Arial"/>
              </a:rPr>
              <a:t>1. Work volume is less.</a:t>
            </a:r>
          </a:p>
          <a:p>
            <a:pPr defTabSz="1219170">
              <a:lnSpc>
                <a:spcPct val="150000"/>
              </a:lnSpc>
              <a:buClr>
                <a:srgbClr val="000000"/>
              </a:buClr>
            </a:pPr>
            <a:r>
              <a:rPr lang="en-IN" sz="2133" kern="0" dirty="0">
                <a:solidFill>
                  <a:srgbClr val="000000"/>
                </a:solidFill>
                <a:latin typeface="Bookman Old Style" panose="02050604050505020204" pitchFamily="18" charset="0"/>
                <a:cs typeface="Arial"/>
                <a:sym typeface="Arial"/>
              </a:rPr>
              <a:t>2. Occupies more floor space.</a:t>
            </a:r>
          </a:p>
          <a:p>
            <a:pPr defTabSz="1219170">
              <a:lnSpc>
                <a:spcPct val="150000"/>
              </a:lnSpc>
              <a:buClr>
                <a:srgbClr val="000000"/>
              </a:buClr>
            </a:pPr>
            <a:r>
              <a:rPr lang="en-IN" sz="2133" b="1" kern="0" dirty="0">
                <a:solidFill>
                  <a:srgbClr val="000000"/>
                </a:solidFill>
                <a:latin typeface="Bookman Old Style" panose="02050604050505020204" pitchFamily="18" charset="0"/>
                <a:cs typeface="Arial"/>
                <a:sym typeface="Arial"/>
              </a:rPr>
              <a:t>Applications: </a:t>
            </a:r>
          </a:p>
          <a:p>
            <a:pPr defTabSz="1219170">
              <a:lnSpc>
                <a:spcPct val="150000"/>
              </a:lnSpc>
              <a:buClr>
                <a:srgbClr val="000000"/>
              </a:buClr>
            </a:pPr>
            <a:r>
              <a:rPr lang="en-IN" sz="2133" kern="0" dirty="0">
                <a:solidFill>
                  <a:srgbClr val="000000"/>
                </a:solidFill>
                <a:latin typeface="Bookman Old Style" panose="02050604050505020204" pitchFamily="18" charset="0"/>
                <a:cs typeface="Arial"/>
                <a:sym typeface="Arial"/>
              </a:rPr>
              <a:t>Foundry and forging applications, investment casting, conveyor pallet transfers,</a:t>
            </a:r>
          </a:p>
          <a:p>
            <a:pPr defTabSz="1219170">
              <a:lnSpc>
                <a:spcPct val="150000"/>
              </a:lnSpc>
              <a:buClr>
                <a:srgbClr val="000000"/>
              </a:buClr>
            </a:pPr>
            <a:r>
              <a:rPr lang="en-IN" sz="2133" kern="0" dirty="0">
                <a:solidFill>
                  <a:srgbClr val="000000"/>
                </a:solidFill>
                <a:latin typeface="Bookman Old Style" panose="02050604050505020204" pitchFamily="18" charset="0"/>
                <a:cs typeface="Arial"/>
                <a:sym typeface="Arial"/>
              </a:rPr>
              <a:t>machine loading and unloading</a:t>
            </a:r>
          </a:p>
        </p:txBody>
      </p:sp>
    </p:spTree>
    <p:extLst>
      <p:ext uri="{BB962C8B-B14F-4D97-AF65-F5344CB8AC3E}">
        <p14:creationId xmlns:p14="http://schemas.microsoft.com/office/powerpoint/2010/main" val="11059774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05C2EA22-D5D2-D257-247E-35778895BD4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CFFF95E-F67E-9E06-8E5A-C8B0C0762FDF}"/>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pic>
        <p:nvPicPr>
          <p:cNvPr id="4" name="Picture 3">
            <a:extLst>
              <a:ext uri="{FF2B5EF4-FFF2-40B4-BE49-F238E27FC236}">
                <a16:creationId xmlns:a16="http://schemas.microsoft.com/office/drawing/2014/main" id="{CBE6B604-32A9-A3A2-69FD-28854B7329C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l="17527" t="29741" r="29288" b="399"/>
          <a:stretch/>
        </p:blipFill>
        <p:spPr>
          <a:xfrm>
            <a:off x="7644298" y="972838"/>
            <a:ext cx="3206719" cy="3426536"/>
          </a:xfrm>
          <a:prstGeom prst="rect">
            <a:avLst/>
          </a:prstGeom>
        </p:spPr>
      </p:pic>
      <p:sp>
        <p:nvSpPr>
          <p:cNvPr id="8" name="TextBox 7">
            <a:extLst>
              <a:ext uri="{FF2B5EF4-FFF2-40B4-BE49-F238E27FC236}">
                <a16:creationId xmlns:a16="http://schemas.microsoft.com/office/drawing/2014/main" id="{62562906-ADAD-4693-DD90-B2CA7C9ADC63}"/>
              </a:ext>
            </a:extLst>
          </p:cNvPr>
          <p:cNvSpPr txBox="1"/>
          <p:nvPr/>
        </p:nvSpPr>
        <p:spPr>
          <a:xfrm>
            <a:off x="264405" y="1520785"/>
            <a:ext cx="6610121" cy="4605363"/>
          </a:xfrm>
          <a:prstGeom prst="rect">
            <a:avLst/>
          </a:prstGeom>
          <a:noFill/>
        </p:spPr>
        <p:txBody>
          <a:bodyPr wrap="square">
            <a:spAutoFit/>
          </a:bodyPr>
          <a:lstStyle/>
          <a:p>
            <a:pPr defTabSz="1219170">
              <a:lnSpc>
                <a:spcPct val="150000"/>
              </a:lnSpc>
              <a:buClr>
                <a:srgbClr val="000000"/>
              </a:buClr>
            </a:pPr>
            <a:r>
              <a:rPr lang="en-IN" sz="2200" b="1" kern="0" dirty="0">
                <a:solidFill>
                  <a:srgbClr val="000000"/>
                </a:solidFill>
                <a:latin typeface="Bookman Old Style" panose="02050604050505020204" pitchFamily="18" charset="0"/>
                <a:cs typeface="Arial"/>
                <a:sym typeface="Arial"/>
              </a:rPr>
              <a:t>Cartesian Co-ordinate Robot:</a:t>
            </a:r>
          </a:p>
          <a:p>
            <a:pPr algn="just" defTabSz="1219170">
              <a:lnSpc>
                <a:spcPct val="150000"/>
              </a:lnSpc>
              <a:buClr>
                <a:srgbClr val="000000"/>
              </a:buClr>
            </a:pPr>
            <a:r>
              <a:rPr lang="en-IN" sz="2200" kern="0" dirty="0">
                <a:solidFill>
                  <a:srgbClr val="000000"/>
                </a:solidFill>
                <a:latin typeface="Bookman Old Style" panose="02050604050505020204" pitchFamily="18" charset="0"/>
                <a:cs typeface="Arial"/>
                <a:sym typeface="Arial"/>
              </a:rPr>
              <a:t>It is also called as a rectilinear robot or a </a:t>
            </a:r>
            <a:r>
              <a:rPr lang="en-IN" sz="2200" kern="0" dirty="0">
                <a:solidFill>
                  <a:srgbClr val="0070C0"/>
                </a:solidFill>
                <a:latin typeface="Bookman Old Style" panose="02050604050505020204" pitchFamily="18" charset="0"/>
                <a:cs typeface="Arial"/>
                <a:sym typeface="Arial"/>
              </a:rPr>
              <a:t>XYZ Robot</a:t>
            </a:r>
            <a:r>
              <a:rPr lang="en-IN" sz="2200" kern="0" dirty="0">
                <a:solidFill>
                  <a:srgbClr val="000000"/>
                </a:solidFill>
                <a:latin typeface="Bookman Old Style" panose="02050604050505020204" pitchFamily="18" charset="0"/>
                <a:cs typeface="Arial"/>
                <a:sym typeface="Arial"/>
              </a:rPr>
              <a:t>. It consists of three sliding joints along the X, Y and Z directions in three dimensional space. There are two orthogonal joints. Since movement can stop and start simultaneously along the X, Y and Z axes, the motion of the tool tip is smoother. A typical Cartesian co-ordinate Robot is shown in the Fig.</a:t>
            </a:r>
          </a:p>
        </p:txBody>
      </p:sp>
      <p:pic>
        <p:nvPicPr>
          <p:cNvPr id="5" name="Picture 4">
            <a:extLst>
              <a:ext uri="{FF2B5EF4-FFF2-40B4-BE49-F238E27FC236}">
                <a16:creationId xmlns:a16="http://schemas.microsoft.com/office/drawing/2014/main" id="{2078A6A5-0716-B9D4-DE44-975867A9DA02}"/>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7644298" y="4703993"/>
            <a:ext cx="3400260" cy="1833473"/>
          </a:xfrm>
          <a:prstGeom prst="rect">
            <a:avLst/>
          </a:prstGeom>
        </p:spPr>
      </p:pic>
    </p:spTree>
    <p:extLst>
      <p:ext uri="{BB962C8B-B14F-4D97-AF65-F5344CB8AC3E}">
        <p14:creationId xmlns:p14="http://schemas.microsoft.com/office/powerpoint/2010/main" val="41891113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7903D270-B8AF-0191-ACA1-5CE1D03D6A2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89226CE-0CE8-807E-9D77-021E6E0A7234}"/>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sp>
        <p:nvSpPr>
          <p:cNvPr id="7" name="TextBox 6">
            <a:extLst>
              <a:ext uri="{FF2B5EF4-FFF2-40B4-BE49-F238E27FC236}">
                <a16:creationId xmlns:a16="http://schemas.microsoft.com/office/drawing/2014/main" id="{F5DE4CD2-EBF7-AE22-B8DD-F2BA32EF05DE}"/>
              </a:ext>
            </a:extLst>
          </p:cNvPr>
          <p:cNvSpPr txBox="1"/>
          <p:nvPr/>
        </p:nvSpPr>
        <p:spPr>
          <a:xfrm>
            <a:off x="153568" y="848638"/>
            <a:ext cx="11545677" cy="6123664"/>
          </a:xfrm>
          <a:prstGeom prst="rect">
            <a:avLst/>
          </a:prstGeom>
          <a:noFill/>
        </p:spPr>
        <p:txBody>
          <a:bodyPr wrap="square">
            <a:spAutoFit/>
          </a:bodyPr>
          <a:lstStyle/>
          <a:p>
            <a:pPr algn="just" defTabSz="1219170">
              <a:lnSpc>
                <a:spcPct val="150000"/>
              </a:lnSpc>
              <a:buClr>
                <a:srgbClr val="000000"/>
              </a:buClr>
            </a:pPr>
            <a:r>
              <a:rPr lang="en-IN" sz="2400" b="1" kern="0" dirty="0">
                <a:solidFill>
                  <a:srgbClr val="000000"/>
                </a:solidFill>
                <a:latin typeface="Bookman Old Style" panose="02050604050505020204" pitchFamily="18" charset="0"/>
                <a:cs typeface="Arial"/>
                <a:sym typeface="Arial"/>
              </a:rPr>
              <a:t>Advantages:</a:t>
            </a:r>
          </a:p>
          <a:p>
            <a:pPr marL="380990" indent="-380990" algn="just"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Allows for simpler controls.</a:t>
            </a:r>
          </a:p>
          <a:p>
            <a:pPr marL="380990" indent="-380990" algn="just"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Possess a high degree of mechanical rigidity, accuracy and repeatability.</a:t>
            </a:r>
          </a:p>
          <a:p>
            <a:pPr marL="380990" indent="-380990" algn="just"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They can carry heavy loads and the weight lifting capacity do not vary within the work envelope.</a:t>
            </a:r>
          </a:p>
          <a:p>
            <a:pPr algn="just" defTabSz="1219170">
              <a:lnSpc>
                <a:spcPct val="150000"/>
              </a:lnSpc>
              <a:buClr>
                <a:srgbClr val="000000"/>
              </a:buClr>
            </a:pPr>
            <a:r>
              <a:rPr lang="en-IN" sz="2400" b="1" kern="0" dirty="0">
                <a:solidFill>
                  <a:srgbClr val="000000"/>
                </a:solidFill>
                <a:latin typeface="Bookman Old Style" panose="02050604050505020204" pitchFamily="18" charset="0"/>
                <a:cs typeface="Arial"/>
                <a:sym typeface="Arial"/>
              </a:rPr>
              <a:t>Disadvantages:</a:t>
            </a:r>
          </a:p>
          <a:p>
            <a:pPr marL="380990" indent="-380990" algn="just"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Limited in their movement to a small and rectangular work space.</a:t>
            </a:r>
          </a:p>
          <a:p>
            <a:pPr marL="380990" indent="-380990" algn="just"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Reduced flexibility.</a:t>
            </a:r>
          </a:p>
          <a:p>
            <a:pPr marL="380990" indent="-380990" algn="just"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Applications:</a:t>
            </a:r>
          </a:p>
          <a:p>
            <a:pPr marL="380990" indent="-380990" algn="just"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To perform pick and place tasks, material handling, loading/unloading and machining operations</a:t>
            </a:r>
          </a:p>
        </p:txBody>
      </p:sp>
    </p:spTree>
    <p:extLst>
      <p:ext uri="{BB962C8B-B14F-4D97-AF65-F5344CB8AC3E}">
        <p14:creationId xmlns:p14="http://schemas.microsoft.com/office/powerpoint/2010/main" val="32238502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7F088C1B-650D-4561-606B-680536E5FE6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64C3FD4-1D0E-A731-1B17-FDF5D0406B68}"/>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pic>
        <p:nvPicPr>
          <p:cNvPr id="4" name="Picture 3">
            <a:extLst>
              <a:ext uri="{FF2B5EF4-FFF2-40B4-BE49-F238E27FC236}">
                <a16:creationId xmlns:a16="http://schemas.microsoft.com/office/drawing/2014/main" id="{2E069E3A-F1E6-46E7-3C06-F509A3F43EC9}"/>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l="10998" t="35119" r="16852"/>
          <a:stretch/>
        </p:blipFill>
        <p:spPr>
          <a:xfrm>
            <a:off x="7509164" y="1133382"/>
            <a:ext cx="4155863" cy="2490716"/>
          </a:xfrm>
          <a:prstGeom prst="rect">
            <a:avLst/>
          </a:prstGeom>
        </p:spPr>
      </p:pic>
      <p:sp>
        <p:nvSpPr>
          <p:cNvPr id="7" name="TextBox 6">
            <a:extLst>
              <a:ext uri="{FF2B5EF4-FFF2-40B4-BE49-F238E27FC236}">
                <a16:creationId xmlns:a16="http://schemas.microsoft.com/office/drawing/2014/main" id="{C676F18D-87F9-6F4A-181F-7EE939790B24}"/>
              </a:ext>
            </a:extLst>
          </p:cNvPr>
          <p:cNvSpPr txBox="1"/>
          <p:nvPr/>
        </p:nvSpPr>
        <p:spPr>
          <a:xfrm>
            <a:off x="304800" y="1133382"/>
            <a:ext cx="6774872" cy="5452839"/>
          </a:xfrm>
          <a:prstGeom prst="rect">
            <a:avLst/>
          </a:prstGeom>
          <a:noFill/>
        </p:spPr>
        <p:txBody>
          <a:bodyPr wrap="square">
            <a:spAutoFit/>
          </a:bodyPr>
          <a:lstStyle/>
          <a:p>
            <a:pPr defTabSz="1219170">
              <a:lnSpc>
                <a:spcPct val="150000"/>
              </a:lnSpc>
              <a:buClr>
                <a:srgbClr val="000000"/>
              </a:buClr>
            </a:pPr>
            <a:r>
              <a:rPr lang="en-IN" sz="2133" b="1" kern="0" dirty="0">
                <a:solidFill>
                  <a:srgbClr val="000000"/>
                </a:solidFill>
                <a:latin typeface="Bookman Old Style" panose="02050604050505020204" pitchFamily="18" charset="0"/>
                <a:cs typeface="Arial"/>
                <a:sym typeface="Arial"/>
              </a:rPr>
              <a:t>Jointed-arm Configuration Robot:</a:t>
            </a:r>
          </a:p>
          <a:p>
            <a:pPr algn="just" defTabSz="1219170">
              <a:lnSpc>
                <a:spcPct val="150000"/>
              </a:lnSpc>
              <a:buClr>
                <a:srgbClr val="000000"/>
              </a:buClr>
            </a:pPr>
            <a:r>
              <a:rPr lang="en-IN" sz="2133" kern="0" dirty="0">
                <a:solidFill>
                  <a:srgbClr val="000000"/>
                </a:solidFill>
                <a:latin typeface="Bookman Old Style" panose="02050604050505020204" pitchFamily="18" charset="0"/>
                <a:cs typeface="Arial"/>
                <a:sym typeface="Arial"/>
              </a:rPr>
              <a:t>This type of </a:t>
            </a:r>
            <a:r>
              <a:rPr lang="en-IN" sz="2133" kern="0" dirty="0">
                <a:solidFill>
                  <a:srgbClr val="0070C0"/>
                </a:solidFill>
                <a:latin typeface="Bookman Old Style" panose="02050604050505020204" pitchFamily="18" charset="0"/>
                <a:cs typeface="Arial"/>
                <a:sym typeface="Arial"/>
              </a:rPr>
              <a:t>Configuration resembles the human arm </a:t>
            </a:r>
            <a:r>
              <a:rPr lang="en-IN" sz="2133" kern="0" dirty="0">
                <a:solidFill>
                  <a:srgbClr val="000000"/>
                </a:solidFill>
                <a:latin typeface="Bookman Old Style" panose="02050604050505020204" pitchFamily="18" charset="0"/>
                <a:cs typeface="Arial"/>
                <a:sym typeface="Arial"/>
              </a:rPr>
              <a:t>where the </a:t>
            </a:r>
            <a:r>
              <a:rPr lang="en-IN" sz="2133" kern="0" dirty="0">
                <a:solidFill>
                  <a:srgbClr val="0070C0"/>
                </a:solidFill>
                <a:latin typeface="Bookman Old Style" panose="02050604050505020204" pitchFamily="18" charset="0"/>
                <a:cs typeface="Arial"/>
                <a:sym typeface="Arial"/>
              </a:rPr>
              <a:t>column swivels about a base</a:t>
            </a:r>
            <a:r>
              <a:rPr lang="en-IN" sz="2133" kern="0" dirty="0">
                <a:solidFill>
                  <a:srgbClr val="000000"/>
                </a:solidFill>
                <a:latin typeface="Bookman Old Style" panose="02050604050505020204" pitchFamily="18" charset="0"/>
                <a:cs typeface="Arial"/>
                <a:sym typeface="Arial"/>
              </a:rPr>
              <a:t> (the column and the base forms a T-joint), the </a:t>
            </a:r>
            <a:r>
              <a:rPr lang="en-IN" sz="2133" kern="0" dirty="0">
                <a:solidFill>
                  <a:srgbClr val="0070C0"/>
                </a:solidFill>
                <a:latin typeface="Bookman Old Style" panose="02050604050505020204" pitchFamily="18" charset="0"/>
                <a:cs typeface="Arial"/>
                <a:sym typeface="Arial"/>
              </a:rPr>
              <a:t>column top connects to the shoulder through a shoulder joint </a:t>
            </a:r>
            <a:r>
              <a:rPr lang="en-IN" sz="2133" kern="0" dirty="0">
                <a:solidFill>
                  <a:srgbClr val="000000"/>
                </a:solidFill>
                <a:latin typeface="Bookman Old Style" panose="02050604050505020204" pitchFamily="18" charset="0"/>
                <a:cs typeface="Arial"/>
                <a:sym typeface="Arial"/>
              </a:rPr>
              <a:t>(which is the R-joint) and the </a:t>
            </a:r>
            <a:r>
              <a:rPr lang="en-IN" sz="2133" kern="0" dirty="0">
                <a:solidFill>
                  <a:srgbClr val="0070C0"/>
                </a:solidFill>
                <a:latin typeface="Bookman Old Style" panose="02050604050505020204" pitchFamily="18" charset="0"/>
                <a:cs typeface="Arial"/>
                <a:sym typeface="Arial"/>
              </a:rPr>
              <a:t>shoulder connecting to the elbow through an elbow joint </a:t>
            </a:r>
            <a:r>
              <a:rPr lang="en-IN" sz="2133" kern="0" dirty="0">
                <a:solidFill>
                  <a:srgbClr val="000000"/>
                </a:solidFill>
                <a:latin typeface="Bookman Old Style" panose="02050604050505020204" pitchFamily="18" charset="0"/>
                <a:cs typeface="Arial"/>
                <a:sym typeface="Arial"/>
              </a:rPr>
              <a:t>(which is also an R-joint). Thus, this configuration has the </a:t>
            </a:r>
            <a:r>
              <a:rPr lang="en-IN" sz="2133" kern="0" dirty="0">
                <a:solidFill>
                  <a:srgbClr val="0070C0"/>
                </a:solidFill>
                <a:latin typeface="Bookman Old Style" panose="02050604050505020204" pitchFamily="18" charset="0"/>
                <a:cs typeface="Arial"/>
                <a:sym typeface="Arial"/>
              </a:rPr>
              <a:t>capability to be controlled at any adjustments in the work space</a:t>
            </a:r>
            <a:r>
              <a:rPr lang="en-IN" sz="2133" kern="0" dirty="0">
                <a:solidFill>
                  <a:srgbClr val="000000"/>
                </a:solidFill>
                <a:latin typeface="Bookman Old Style" panose="02050604050505020204" pitchFamily="18" charset="0"/>
                <a:cs typeface="Arial"/>
                <a:sym typeface="Arial"/>
              </a:rPr>
              <a:t>. This is shown in Fig. </a:t>
            </a:r>
          </a:p>
        </p:txBody>
      </p:sp>
      <p:pic>
        <p:nvPicPr>
          <p:cNvPr id="5" name="Picture 4">
            <a:extLst>
              <a:ext uri="{FF2B5EF4-FFF2-40B4-BE49-F238E27FC236}">
                <a16:creationId xmlns:a16="http://schemas.microsoft.com/office/drawing/2014/main" id="{A6B29712-A28D-8BC0-C5E7-26ED3815E1A1}"/>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8497247" y="3875641"/>
            <a:ext cx="2710580" cy="2710580"/>
          </a:xfrm>
          <a:prstGeom prst="rect">
            <a:avLst/>
          </a:prstGeom>
        </p:spPr>
      </p:pic>
    </p:spTree>
    <p:extLst>
      <p:ext uri="{BB962C8B-B14F-4D97-AF65-F5344CB8AC3E}">
        <p14:creationId xmlns:p14="http://schemas.microsoft.com/office/powerpoint/2010/main" val="13371289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3F21BE18-8F64-B0C6-DEA9-9AFAE7DDBAA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E17D04C-3835-E563-0783-E5082DA6EDD2}"/>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sp>
        <p:nvSpPr>
          <p:cNvPr id="7" name="TextBox 6">
            <a:extLst>
              <a:ext uri="{FF2B5EF4-FFF2-40B4-BE49-F238E27FC236}">
                <a16:creationId xmlns:a16="http://schemas.microsoft.com/office/drawing/2014/main" id="{6D7BAADE-6B07-7C69-A52B-2BC70036B17B}"/>
              </a:ext>
            </a:extLst>
          </p:cNvPr>
          <p:cNvSpPr txBox="1"/>
          <p:nvPr/>
        </p:nvSpPr>
        <p:spPr>
          <a:xfrm>
            <a:off x="505773" y="1016145"/>
            <a:ext cx="11457544" cy="5569666"/>
          </a:xfrm>
          <a:prstGeom prst="rect">
            <a:avLst/>
          </a:prstGeom>
          <a:noFill/>
        </p:spPr>
        <p:txBody>
          <a:bodyPr wrap="square">
            <a:spAutoFit/>
          </a:bodyPr>
          <a:lstStyle/>
          <a:p>
            <a:pPr defTabSz="1219170">
              <a:lnSpc>
                <a:spcPct val="150000"/>
              </a:lnSpc>
              <a:buClr>
                <a:srgbClr val="000000"/>
              </a:buClr>
            </a:pPr>
            <a:r>
              <a:rPr lang="en-IN" sz="2400" b="1" kern="0" dirty="0">
                <a:solidFill>
                  <a:srgbClr val="000000"/>
                </a:solidFill>
                <a:latin typeface="Bookman Old Style" panose="02050604050505020204" pitchFamily="18" charset="0"/>
                <a:cs typeface="Arial"/>
                <a:sym typeface="Arial"/>
              </a:rPr>
              <a:t>Advantages:</a:t>
            </a:r>
          </a:p>
          <a:p>
            <a:pPr marL="380990" indent="-380990"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The work volume available is large.</a:t>
            </a:r>
          </a:p>
          <a:p>
            <a:pPr marL="380990" indent="-380990"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Operation is quick.</a:t>
            </a:r>
          </a:p>
          <a:p>
            <a:pPr marL="380990" indent="-380990"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Flexibility is increased.</a:t>
            </a:r>
          </a:p>
          <a:p>
            <a:pPr defTabSz="1219170">
              <a:lnSpc>
                <a:spcPct val="150000"/>
              </a:lnSpc>
              <a:buClr>
                <a:srgbClr val="000000"/>
              </a:buClr>
            </a:pPr>
            <a:r>
              <a:rPr lang="en-IN" sz="2400" b="1" kern="0" dirty="0">
                <a:solidFill>
                  <a:srgbClr val="000000"/>
                </a:solidFill>
                <a:latin typeface="Bookman Old Style" panose="02050604050505020204" pitchFamily="18" charset="0"/>
                <a:cs typeface="Arial"/>
                <a:sym typeface="Arial"/>
              </a:rPr>
              <a:t>Disadvantages:</a:t>
            </a:r>
          </a:p>
          <a:p>
            <a:pPr marL="380990" indent="-380990"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Operating procedures are difficult.</a:t>
            </a:r>
          </a:p>
          <a:p>
            <a:pPr marL="380990" indent="-380990"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Quite expensive type of configuration</a:t>
            </a:r>
          </a:p>
          <a:p>
            <a:pPr marL="380990" indent="-380990"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Number of components involved are more.</a:t>
            </a:r>
          </a:p>
          <a:p>
            <a:pPr defTabSz="1219170">
              <a:lnSpc>
                <a:spcPct val="150000"/>
              </a:lnSpc>
              <a:buClr>
                <a:srgbClr val="000000"/>
              </a:buClr>
            </a:pPr>
            <a:r>
              <a:rPr lang="en-IN" sz="2400" b="1" kern="0" dirty="0">
                <a:solidFill>
                  <a:srgbClr val="000000"/>
                </a:solidFill>
                <a:latin typeface="Bookman Old Style" panose="02050604050505020204" pitchFamily="18" charset="0"/>
                <a:cs typeface="Arial"/>
                <a:sym typeface="Arial"/>
              </a:rPr>
              <a:t>Applications:</a:t>
            </a:r>
          </a:p>
          <a:p>
            <a:pPr marL="380990" indent="-380990" defTabSz="1219170">
              <a:lnSpc>
                <a:spcPct val="150000"/>
              </a:lnSpc>
              <a:buClr>
                <a:srgbClr val="000000"/>
              </a:buClr>
              <a:buFont typeface="Wingdings" panose="05000000000000000000" pitchFamily="2" charset="2"/>
              <a:buChar char="Ø"/>
            </a:pPr>
            <a:r>
              <a:rPr lang="en-IN" sz="2400" kern="0" dirty="0">
                <a:solidFill>
                  <a:srgbClr val="000000"/>
                </a:solidFill>
                <a:latin typeface="Bookman Old Style" panose="02050604050505020204" pitchFamily="18" charset="0"/>
                <a:cs typeface="Arial"/>
                <a:sym typeface="Arial"/>
              </a:rPr>
              <a:t>To perform arc welding, spot welding and spray painting operations</a:t>
            </a:r>
          </a:p>
        </p:txBody>
      </p:sp>
    </p:spTree>
    <p:extLst>
      <p:ext uri="{BB962C8B-B14F-4D97-AF65-F5344CB8AC3E}">
        <p14:creationId xmlns:p14="http://schemas.microsoft.com/office/powerpoint/2010/main" val="41234842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81515DC2-5D2C-2A33-D56D-C523DC7EC92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FB01DBE-084E-F5EA-8EEF-FD2A9EF57B94}"/>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ROBOT</a:t>
            </a:r>
          </a:p>
        </p:txBody>
      </p:sp>
      <p:sp>
        <p:nvSpPr>
          <p:cNvPr id="3" name="AutoShape 2" descr="Robot Configuration - 2">
            <a:extLst>
              <a:ext uri="{FF2B5EF4-FFF2-40B4-BE49-F238E27FC236}">
                <a16:creationId xmlns:a16="http://schemas.microsoft.com/office/drawing/2014/main" id="{05E1965A-EF72-17F2-E089-22BAA9B62F85}"/>
              </a:ext>
            </a:extLst>
          </p:cNvPr>
          <p:cNvSpPr>
            <a:spLocks noChangeAspect="1" noChangeArrowheads="1"/>
          </p:cNvSpPr>
          <p:nvPr/>
        </p:nvSpPr>
        <p:spPr bwMode="auto">
          <a:xfrm>
            <a:off x="5892800" y="3225800"/>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defTabSz="1219170">
              <a:buClr>
                <a:srgbClr val="000000"/>
              </a:buClr>
            </a:pPr>
            <a:endParaRPr lang="en-IN" sz="1867" kern="0">
              <a:solidFill>
                <a:srgbClr val="000000"/>
              </a:solidFill>
              <a:latin typeface="Arial"/>
              <a:cs typeface="Arial"/>
              <a:sym typeface="Arial"/>
            </a:endParaRPr>
          </a:p>
        </p:txBody>
      </p:sp>
      <p:pic>
        <p:nvPicPr>
          <p:cNvPr id="5" name="Picture 4">
            <a:extLst>
              <a:ext uri="{FF2B5EF4-FFF2-40B4-BE49-F238E27FC236}">
                <a16:creationId xmlns:a16="http://schemas.microsoft.com/office/drawing/2014/main" id="{306D8116-1A26-7438-9C81-9DBE11EFE57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l="21808" t="3213" r="5060" b="6290"/>
          <a:stretch/>
        </p:blipFill>
        <p:spPr>
          <a:xfrm>
            <a:off x="700378" y="1085303"/>
            <a:ext cx="7243835" cy="5518552"/>
          </a:xfrm>
          <a:prstGeom prst="rect">
            <a:avLst/>
          </a:prstGeom>
        </p:spPr>
      </p:pic>
      <p:pic>
        <p:nvPicPr>
          <p:cNvPr id="7" name="Picture 6">
            <a:extLst>
              <a:ext uri="{FF2B5EF4-FFF2-40B4-BE49-F238E27FC236}">
                <a16:creationId xmlns:a16="http://schemas.microsoft.com/office/drawing/2014/main" id="{86AE1005-697B-5283-0D91-7B8D3E5E8416}"/>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7527490" y="3632200"/>
            <a:ext cx="4380853" cy="1348712"/>
          </a:xfrm>
          <a:prstGeom prst="rect">
            <a:avLst/>
          </a:prstGeom>
        </p:spPr>
      </p:pic>
      <p:sp>
        <p:nvSpPr>
          <p:cNvPr id="10" name="TextBox 9">
            <a:extLst>
              <a:ext uri="{FF2B5EF4-FFF2-40B4-BE49-F238E27FC236}">
                <a16:creationId xmlns:a16="http://schemas.microsoft.com/office/drawing/2014/main" id="{F6C47B9A-C372-4F73-3ACF-A5AA54D3775C}"/>
              </a:ext>
            </a:extLst>
          </p:cNvPr>
          <p:cNvSpPr txBox="1"/>
          <p:nvPr/>
        </p:nvSpPr>
        <p:spPr>
          <a:xfrm>
            <a:off x="8961796" y="1972080"/>
            <a:ext cx="2843723" cy="1241622"/>
          </a:xfrm>
          <a:prstGeom prst="rect">
            <a:avLst/>
          </a:prstGeom>
          <a:noFill/>
        </p:spPr>
        <p:txBody>
          <a:bodyPr wrap="square">
            <a:spAutoFit/>
          </a:bodyPr>
          <a:lstStyle/>
          <a:p>
            <a:pPr defTabSz="1219170">
              <a:buClr>
                <a:srgbClr val="000000"/>
              </a:buClr>
            </a:pPr>
            <a:r>
              <a:rPr lang="en-US" sz="1867" kern="0" dirty="0">
                <a:solidFill>
                  <a:srgbClr val="000000"/>
                </a:solidFill>
                <a:latin typeface="Bookman Old Style" panose="02050604050505020204" pitchFamily="18" charset="0"/>
                <a:cs typeface="Arial"/>
                <a:sym typeface="Arial"/>
              </a:rPr>
              <a:t>L-Linear Joint</a:t>
            </a:r>
          </a:p>
          <a:p>
            <a:pPr defTabSz="1219170">
              <a:buClr>
                <a:srgbClr val="000000"/>
              </a:buClr>
            </a:pPr>
            <a:r>
              <a:rPr lang="en-US" sz="1867" kern="0" dirty="0">
                <a:solidFill>
                  <a:srgbClr val="000000"/>
                </a:solidFill>
                <a:latin typeface="Bookman Old Style" panose="02050604050505020204" pitchFamily="18" charset="0"/>
                <a:cs typeface="Arial"/>
                <a:sym typeface="Arial"/>
              </a:rPr>
              <a:t>T-Twisting Joint </a:t>
            </a:r>
          </a:p>
          <a:p>
            <a:pPr defTabSz="1219170">
              <a:buClr>
                <a:srgbClr val="000000"/>
              </a:buClr>
            </a:pPr>
            <a:r>
              <a:rPr lang="en-US" sz="1867" kern="0" dirty="0">
                <a:solidFill>
                  <a:srgbClr val="000000"/>
                </a:solidFill>
                <a:latin typeface="Bookman Old Style" panose="02050604050505020204" pitchFamily="18" charset="0"/>
                <a:cs typeface="Arial"/>
                <a:sym typeface="Arial"/>
              </a:rPr>
              <a:t>R-Rotational Joint </a:t>
            </a:r>
          </a:p>
          <a:p>
            <a:pPr defTabSz="1219170">
              <a:buClr>
                <a:srgbClr val="000000"/>
              </a:buClr>
            </a:pPr>
            <a:r>
              <a:rPr lang="en-US" sz="1867" kern="0" dirty="0">
                <a:solidFill>
                  <a:srgbClr val="000000"/>
                </a:solidFill>
                <a:latin typeface="Bookman Old Style" panose="02050604050505020204" pitchFamily="18" charset="0"/>
                <a:cs typeface="Arial"/>
                <a:sym typeface="Arial"/>
              </a:rPr>
              <a:t>V-Revolving Joint</a:t>
            </a:r>
            <a:endParaRPr lang="en-IN" sz="1867" kern="0" dirty="0">
              <a:solidFill>
                <a:srgbClr val="000000"/>
              </a:solidFill>
              <a:latin typeface="Bookman Old Style" panose="02050604050505020204" pitchFamily="18" charset="0"/>
              <a:cs typeface="Arial"/>
              <a:sym typeface="Arial"/>
            </a:endParaRPr>
          </a:p>
        </p:txBody>
      </p:sp>
    </p:spTree>
    <p:extLst>
      <p:ext uri="{BB962C8B-B14F-4D97-AF65-F5344CB8AC3E}">
        <p14:creationId xmlns:p14="http://schemas.microsoft.com/office/powerpoint/2010/main" val="1221867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26770C72-0226-8AC8-92AA-89F4A2BE916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248836F-03DD-ED9C-CDC4-0B084116543A}"/>
              </a:ext>
            </a:extLst>
          </p:cNvPr>
          <p:cNvSpPr txBox="1"/>
          <p:nvPr/>
        </p:nvSpPr>
        <p:spPr>
          <a:xfrm>
            <a:off x="2474081" y="73447"/>
            <a:ext cx="7243835" cy="995209"/>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Applications of Robot</a:t>
            </a:r>
          </a:p>
          <a:p>
            <a:pPr algn="ctr" defTabSz="1219170">
              <a:buClr>
                <a:srgbClr val="000000"/>
              </a:buClr>
            </a:pPr>
            <a:r>
              <a:rPr lang="en-IN" sz="2667" kern="0" dirty="0">
                <a:solidFill>
                  <a:srgbClr val="0070C0"/>
                </a:solidFill>
                <a:latin typeface="Bookman Old Style" panose="02050604050505020204" pitchFamily="18" charset="0"/>
                <a:cs typeface="Arial"/>
                <a:sym typeface="Arial"/>
              </a:rPr>
              <a:t>Material/Part Handling applications</a:t>
            </a:r>
            <a:endParaRPr lang="en-US" altLang="en-US" sz="3200" b="1" kern="0" dirty="0">
              <a:solidFill>
                <a:srgbClr val="0070C0"/>
              </a:solidFill>
              <a:latin typeface="Bookman Old Style" panose="02050604050505020204" pitchFamily="18" charset="0"/>
              <a:cs typeface="Arial"/>
              <a:sym typeface="Arial"/>
            </a:endParaRPr>
          </a:p>
        </p:txBody>
      </p:sp>
      <p:sp>
        <p:nvSpPr>
          <p:cNvPr id="7" name="TextBox 6">
            <a:extLst>
              <a:ext uri="{FF2B5EF4-FFF2-40B4-BE49-F238E27FC236}">
                <a16:creationId xmlns:a16="http://schemas.microsoft.com/office/drawing/2014/main" id="{500C3F13-1D11-1B77-D872-1D33CC6FC351}"/>
              </a:ext>
            </a:extLst>
          </p:cNvPr>
          <p:cNvSpPr txBox="1"/>
          <p:nvPr/>
        </p:nvSpPr>
        <p:spPr>
          <a:xfrm>
            <a:off x="540327" y="1094005"/>
            <a:ext cx="10958946" cy="6277744"/>
          </a:xfrm>
          <a:prstGeom prst="rect">
            <a:avLst/>
          </a:prstGeom>
          <a:noFill/>
        </p:spPr>
        <p:txBody>
          <a:bodyPr wrap="square">
            <a:spAutoFit/>
          </a:bodyPr>
          <a:lstStyle/>
          <a:p>
            <a:pPr algn="just" defTabSz="1219170">
              <a:lnSpc>
                <a:spcPct val="150000"/>
              </a:lnSpc>
              <a:buClr>
                <a:srgbClr val="000000"/>
              </a:buClr>
            </a:pPr>
            <a:r>
              <a:rPr lang="en-IN" kern="0" dirty="0">
                <a:solidFill>
                  <a:srgbClr val="000000"/>
                </a:solidFill>
                <a:latin typeface="Bookman Old Style" panose="02050604050505020204" pitchFamily="18" charset="0"/>
                <a:cs typeface="Arial"/>
                <a:sym typeface="Arial"/>
              </a:rPr>
              <a:t>Most of the applications of the Robot falls under this category. Here the Robots are used to Transfer materials from one location to another location. Typical applications are as given below:</a:t>
            </a:r>
          </a:p>
          <a:p>
            <a:pPr algn="just" defTabSz="1219170">
              <a:lnSpc>
                <a:spcPct val="150000"/>
              </a:lnSpc>
              <a:buClr>
                <a:srgbClr val="000000"/>
              </a:buClr>
            </a:pPr>
            <a:r>
              <a:rPr lang="en-IN" b="1" kern="0" dirty="0">
                <a:solidFill>
                  <a:srgbClr val="000000"/>
                </a:solidFill>
                <a:latin typeface="Bookman Old Style" panose="02050604050505020204" pitchFamily="18" charset="0"/>
                <a:cs typeface="Arial"/>
                <a:sym typeface="Arial"/>
              </a:rPr>
              <a:t>a. Pick-and-place application: </a:t>
            </a:r>
            <a:r>
              <a:rPr lang="en-IN" kern="0" dirty="0">
                <a:solidFill>
                  <a:srgbClr val="000000"/>
                </a:solidFill>
                <a:latin typeface="Bookman Old Style" panose="02050604050505020204" pitchFamily="18" charset="0"/>
                <a:cs typeface="Arial"/>
                <a:sym typeface="Arial"/>
              </a:rPr>
              <a:t>The most common and simplest application here is the pick-and-place application where objects are picked from one location and placed to another location.</a:t>
            </a:r>
          </a:p>
          <a:p>
            <a:pPr algn="just" defTabSz="1219170">
              <a:lnSpc>
                <a:spcPct val="150000"/>
              </a:lnSpc>
              <a:buClr>
                <a:srgbClr val="000000"/>
              </a:buClr>
            </a:pPr>
            <a:r>
              <a:rPr lang="en-IN" b="1" kern="0" dirty="0">
                <a:solidFill>
                  <a:srgbClr val="000000"/>
                </a:solidFill>
                <a:latin typeface="Bookman Old Style" panose="02050604050505020204" pitchFamily="18" charset="0"/>
                <a:cs typeface="Arial"/>
                <a:sym typeface="Arial"/>
              </a:rPr>
              <a:t>b. Palletizing application: </a:t>
            </a:r>
            <a:r>
              <a:rPr lang="en-IN" kern="0" dirty="0">
                <a:solidFill>
                  <a:srgbClr val="000000"/>
                </a:solidFill>
                <a:latin typeface="Bookman Old Style" panose="02050604050505020204" pitchFamily="18" charset="0"/>
                <a:cs typeface="Arial"/>
                <a:sym typeface="Arial"/>
              </a:rPr>
              <a:t>Another application that is slightly complex is the "Palletizing application" where the robot stacks products or carton boxes onto a pallet at various positions on the pallet to the required height. </a:t>
            </a:r>
            <a:r>
              <a:rPr lang="en-IN" b="1" i="1" kern="0" dirty="0">
                <a:solidFill>
                  <a:srgbClr val="000000"/>
                </a:solidFill>
                <a:latin typeface="Bookman Old Style" panose="02050604050505020204" pitchFamily="18" charset="0"/>
                <a:cs typeface="Arial"/>
                <a:sym typeface="Arial"/>
              </a:rPr>
              <a:t>Example</a:t>
            </a:r>
            <a:r>
              <a:rPr lang="en-IN" kern="0" dirty="0">
                <a:solidFill>
                  <a:srgbClr val="000000"/>
                </a:solidFill>
                <a:latin typeface="Bookman Old Style" panose="02050604050505020204" pitchFamily="18" charset="0"/>
                <a:cs typeface="Arial"/>
                <a:sym typeface="Arial"/>
              </a:rPr>
              <a:t> KUKA model KR 40 PA that can stack pallets </a:t>
            </a:r>
            <a:r>
              <a:rPr lang="en-IN" kern="0" dirty="0" err="1">
                <a:solidFill>
                  <a:srgbClr val="000000"/>
                </a:solidFill>
                <a:latin typeface="Bookman Old Style" panose="02050604050505020204" pitchFamily="18" charset="0"/>
                <a:cs typeface="Arial"/>
                <a:sym typeface="Arial"/>
              </a:rPr>
              <a:t>upto</a:t>
            </a:r>
            <a:r>
              <a:rPr lang="en-IN" kern="0" dirty="0">
                <a:solidFill>
                  <a:srgbClr val="000000"/>
                </a:solidFill>
                <a:latin typeface="Bookman Old Style" panose="02050604050505020204" pitchFamily="18" charset="0"/>
                <a:cs typeface="Arial"/>
                <a:sym typeface="Arial"/>
              </a:rPr>
              <a:t> 1.6 metre height and that has a payload carrying capacity of 40 kg (Courtesy of Kuka Robotics Corporation). The Robot picks from the same location, but is programmed to place at different locations on the pallet in the stacking row and column order. Here we use the teach-and-play method or program to compute the location of carton box by taking into account the </a:t>
            </a:r>
            <a:r>
              <a:rPr lang="en-IN" kern="0" dirty="0" err="1">
                <a:solidFill>
                  <a:srgbClr val="000000"/>
                </a:solidFill>
                <a:latin typeface="Bookman Old Style" panose="02050604050505020204" pitchFamily="18" charset="0"/>
                <a:cs typeface="Arial"/>
                <a:sym typeface="Arial"/>
              </a:rPr>
              <a:t>center</a:t>
            </a:r>
            <a:r>
              <a:rPr lang="en-IN" kern="0" dirty="0">
                <a:solidFill>
                  <a:srgbClr val="000000"/>
                </a:solidFill>
                <a:latin typeface="Bookman Old Style" panose="02050604050505020204" pitchFamily="18" charset="0"/>
                <a:cs typeface="Arial"/>
                <a:sym typeface="Arial"/>
              </a:rPr>
              <a:t> distance between the carton boxes and the box dimensions of length x width x height. </a:t>
            </a:r>
          </a:p>
          <a:p>
            <a:pPr algn="just" defTabSz="1219170">
              <a:lnSpc>
                <a:spcPct val="150000"/>
              </a:lnSpc>
              <a:buClr>
                <a:srgbClr val="000000"/>
              </a:buClr>
            </a:pPr>
            <a:endParaRPr lang="en-IN" kern="0" dirty="0">
              <a:solidFill>
                <a:srgbClr val="000000"/>
              </a:solidFill>
              <a:latin typeface="Bookman Old Style" panose="02050604050505020204" pitchFamily="18" charset="0"/>
              <a:cs typeface="Arial"/>
              <a:sym typeface="Arial"/>
            </a:endParaRPr>
          </a:p>
        </p:txBody>
      </p:sp>
    </p:spTree>
    <p:extLst>
      <p:ext uri="{BB962C8B-B14F-4D97-AF65-F5344CB8AC3E}">
        <p14:creationId xmlns:p14="http://schemas.microsoft.com/office/powerpoint/2010/main" val="10572763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26770C72-0226-8AC8-92AA-89F4A2BE916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248836F-03DD-ED9C-CDC4-0B084116543A}"/>
              </a:ext>
            </a:extLst>
          </p:cNvPr>
          <p:cNvSpPr txBox="1"/>
          <p:nvPr/>
        </p:nvSpPr>
        <p:spPr>
          <a:xfrm>
            <a:off x="2474081" y="73447"/>
            <a:ext cx="7243835" cy="995209"/>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Applications of Robot</a:t>
            </a:r>
          </a:p>
          <a:p>
            <a:pPr algn="ctr" defTabSz="1219170">
              <a:buClr>
                <a:srgbClr val="000000"/>
              </a:buClr>
            </a:pPr>
            <a:r>
              <a:rPr lang="en-IN" sz="2667" kern="0" dirty="0">
                <a:solidFill>
                  <a:srgbClr val="0070C0"/>
                </a:solidFill>
                <a:latin typeface="Bookman Old Style" panose="02050604050505020204" pitchFamily="18" charset="0"/>
                <a:cs typeface="Arial"/>
                <a:sym typeface="Arial"/>
              </a:rPr>
              <a:t>Material/Part Handling applications</a:t>
            </a:r>
            <a:endParaRPr lang="en-US" altLang="en-US" sz="3200" b="1" kern="0" dirty="0">
              <a:solidFill>
                <a:srgbClr val="0070C0"/>
              </a:solidFill>
              <a:latin typeface="Bookman Old Style" panose="02050604050505020204" pitchFamily="18" charset="0"/>
              <a:cs typeface="Arial"/>
              <a:sym typeface="Arial"/>
            </a:endParaRPr>
          </a:p>
        </p:txBody>
      </p:sp>
      <p:sp>
        <p:nvSpPr>
          <p:cNvPr id="7" name="TextBox 6">
            <a:extLst>
              <a:ext uri="{FF2B5EF4-FFF2-40B4-BE49-F238E27FC236}">
                <a16:creationId xmlns:a16="http://schemas.microsoft.com/office/drawing/2014/main" id="{500C3F13-1D11-1B77-D872-1D33CC6FC351}"/>
              </a:ext>
            </a:extLst>
          </p:cNvPr>
          <p:cNvSpPr txBox="1"/>
          <p:nvPr/>
        </p:nvSpPr>
        <p:spPr>
          <a:xfrm>
            <a:off x="264404" y="1094005"/>
            <a:ext cx="11501611" cy="3784754"/>
          </a:xfrm>
          <a:prstGeom prst="rect">
            <a:avLst/>
          </a:prstGeom>
          <a:noFill/>
        </p:spPr>
        <p:txBody>
          <a:bodyPr wrap="square">
            <a:spAutoFit/>
          </a:bodyPr>
          <a:lstStyle/>
          <a:p>
            <a:pPr algn="just" defTabSz="1219170">
              <a:lnSpc>
                <a:spcPct val="150000"/>
              </a:lnSpc>
              <a:buClr>
                <a:srgbClr val="000000"/>
              </a:buClr>
            </a:pPr>
            <a:r>
              <a:rPr lang="en-IN" b="1" kern="0" dirty="0">
                <a:solidFill>
                  <a:srgbClr val="000000"/>
                </a:solidFill>
                <a:latin typeface="Bookman Old Style" panose="02050604050505020204" pitchFamily="18" charset="0"/>
                <a:cs typeface="Arial"/>
                <a:sym typeface="Arial"/>
              </a:rPr>
              <a:t>c. Depalletizing application: </a:t>
            </a:r>
            <a:r>
              <a:rPr lang="en-IN" kern="0" dirty="0">
                <a:solidFill>
                  <a:srgbClr val="000000"/>
                </a:solidFill>
                <a:latin typeface="Bookman Old Style" panose="02050604050505020204" pitchFamily="18" charset="0"/>
                <a:cs typeface="Arial"/>
                <a:sym typeface="Arial"/>
              </a:rPr>
              <a:t>Here the robot picks parts from an orderly stacked pallet to another location. </a:t>
            </a:r>
            <a:r>
              <a:rPr lang="en-IN" b="1" i="1" kern="0" dirty="0">
                <a:solidFill>
                  <a:srgbClr val="000000"/>
                </a:solidFill>
                <a:latin typeface="Bookman Old Style" panose="02050604050505020204" pitchFamily="18" charset="0"/>
                <a:cs typeface="Arial"/>
                <a:sym typeface="Arial"/>
              </a:rPr>
              <a:t>Example: </a:t>
            </a:r>
            <a:r>
              <a:rPr lang="en-IN" kern="0" dirty="0">
                <a:solidFill>
                  <a:srgbClr val="000000"/>
                </a:solidFill>
                <a:latin typeface="Bookman Old Style" panose="02050604050505020204" pitchFamily="18" charset="0"/>
                <a:cs typeface="Arial"/>
                <a:sym typeface="Arial"/>
              </a:rPr>
              <a:t>FANUC Robotics M-410iB/140H can handle 140 kg payload and can palletize and depalletize boxes and bags (Courtesy: Fanuc Corporation).</a:t>
            </a:r>
          </a:p>
          <a:p>
            <a:pPr algn="just" defTabSz="1219170">
              <a:lnSpc>
                <a:spcPct val="150000"/>
              </a:lnSpc>
              <a:buClr>
                <a:srgbClr val="000000"/>
              </a:buClr>
            </a:pPr>
            <a:r>
              <a:rPr lang="en-IN" b="1" kern="0" dirty="0">
                <a:solidFill>
                  <a:srgbClr val="000000"/>
                </a:solidFill>
                <a:latin typeface="Bookman Old Style" panose="02050604050505020204" pitchFamily="18" charset="0"/>
                <a:cs typeface="Arial"/>
                <a:sym typeface="Arial"/>
              </a:rPr>
              <a:t>d. Stacking application: </a:t>
            </a:r>
            <a:r>
              <a:rPr lang="en-IN" kern="0" dirty="0">
                <a:solidFill>
                  <a:srgbClr val="000000"/>
                </a:solidFill>
                <a:latin typeface="Bookman Old Style" panose="02050604050505020204" pitchFamily="18" charset="0"/>
                <a:cs typeface="Arial"/>
                <a:sym typeface="Arial"/>
              </a:rPr>
              <a:t>Here, the robots are used to stack parts one upon another. After each placement, the vertical position is re-calculated and the new stacking height is determined. </a:t>
            </a:r>
            <a:r>
              <a:rPr lang="en-IN" b="1" i="1" kern="0" dirty="0">
                <a:solidFill>
                  <a:srgbClr val="000000"/>
                </a:solidFill>
                <a:latin typeface="Bookman Old Style" panose="02050604050505020204" pitchFamily="18" charset="0"/>
                <a:cs typeface="Arial"/>
                <a:sym typeface="Arial"/>
              </a:rPr>
              <a:t>Example:</a:t>
            </a:r>
            <a:r>
              <a:rPr lang="en-IN" kern="0" dirty="0">
                <a:solidFill>
                  <a:srgbClr val="000000"/>
                </a:solidFill>
                <a:latin typeface="Bookman Old Style" panose="02050604050505020204" pitchFamily="18" charset="0"/>
                <a:cs typeface="Arial"/>
                <a:sym typeface="Arial"/>
              </a:rPr>
              <a:t> FANUC M-2iA robot (Courtesy: Fanuc Corporation) was used by an organization to stack stamped parts on conveyors.</a:t>
            </a:r>
          </a:p>
          <a:p>
            <a:pPr algn="just" defTabSz="1219170">
              <a:lnSpc>
                <a:spcPct val="150000"/>
              </a:lnSpc>
              <a:buClr>
                <a:srgbClr val="000000"/>
              </a:buClr>
            </a:pPr>
            <a:r>
              <a:rPr lang="en-IN" b="1" kern="0" dirty="0">
                <a:solidFill>
                  <a:srgbClr val="000000"/>
                </a:solidFill>
                <a:latin typeface="Bookman Old Style" panose="02050604050505020204" pitchFamily="18" charset="0"/>
                <a:cs typeface="Arial"/>
                <a:sym typeface="Arial"/>
              </a:rPr>
              <a:t>e. Insertion operation: </a:t>
            </a:r>
            <a:r>
              <a:rPr lang="en-IN" kern="0" dirty="0">
                <a:solidFill>
                  <a:srgbClr val="000000"/>
                </a:solidFill>
                <a:latin typeface="Bookman Old Style" panose="02050604050505020204" pitchFamily="18" charset="0"/>
                <a:cs typeface="Arial"/>
                <a:sym typeface="Arial"/>
              </a:rPr>
              <a:t>Here, the robots are used to insert parts into the compartments or spaces provided in a carton.</a:t>
            </a:r>
          </a:p>
        </p:txBody>
      </p:sp>
    </p:spTree>
    <p:extLst>
      <p:ext uri="{BB962C8B-B14F-4D97-AF65-F5344CB8AC3E}">
        <p14:creationId xmlns:p14="http://schemas.microsoft.com/office/powerpoint/2010/main" val="17036829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3585E7C1-8D73-8A23-0022-C6B9546FDE0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E9FBC45-4F57-7CD4-F2CF-018E62F6D1C2}"/>
              </a:ext>
            </a:extLst>
          </p:cNvPr>
          <p:cNvSpPr txBox="1"/>
          <p:nvPr/>
        </p:nvSpPr>
        <p:spPr>
          <a:xfrm>
            <a:off x="2474081" y="225720"/>
            <a:ext cx="7243835" cy="995209"/>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Applications of Robot</a:t>
            </a:r>
          </a:p>
          <a:p>
            <a:pPr algn="ctr" defTabSz="1219170">
              <a:buClr>
                <a:srgbClr val="000000"/>
              </a:buClr>
            </a:pPr>
            <a:r>
              <a:rPr lang="en-IN" sz="2667" kern="0" dirty="0">
                <a:solidFill>
                  <a:srgbClr val="0070C0"/>
                </a:solidFill>
                <a:latin typeface="Bookman Old Style" panose="02050604050505020204" pitchFamily="18" charset="0"/>
                <a:cs typeface="Arial"/>
                <a:sym typeface="Arial"/>
              </a:rPr>
              <a:t>Machine loading/unloading</a:t>
            </a:r>
            <a:endParaRPr lang="en-US" altLang="en-US" sz="2667" kern="0" dirty="0">
              <a:solidFill>
                <a:srgbClr val="0070C0"/>
              </a:solidFill>
              <a:latin typeface="Bookman Old Style" panose="02050604050505020204" pitchFamily="18" charset="0"/>
              <a:cs typeface="Arial"/>
              <a:sym typeface="Arial"/>
            </a:endParaRPr>
          </a:p>
        </p:txBody>
      </p:sp>
      <p:sp>
        <p:nvSpPr>
          <p:cNvPr id="7" name="TextBox 6">
            <a:extLst>
              <a:ext uri="{FF2B5EF4-FFF2-40B4-BE49-F238E27FC236}">
                <a16:creationId xmlns:a16="http://schemas.microsoft.com/office/drawing/2014/main" id="{40FB4AC0-A8CB-B855-681C-223D95D739B1}"/>
              </a:ext>
            </a:extLst>
          </p:cNvPr>
          <p:cNvSpPr txBox="1"/>
          <p:nvPr/>
        </p:nvSpPr>
        <p:spPr>
          <a:xfrm>
            <a:off x="264405" y="1311642"/>
            <a:ext cx="11663191" cy="5015797"/>
          </a:xfrm>
          <a:prstGeom prst="rect">
            <a:avLst/>
          </a:prstGeom>
          <a:noFill/>
        </p:spPr>
        <p:txBody>
          <a:bodyPr wrap="square">
            <a:spAutoFit/>
          </a:bodyPr>
          <a:lstStyle/>
          <a:p>
            <a:pPr algn="just" defTabSz="1219170">
              <a:buClr>
                <a:srgbClr val="000000"/>
              </a:buClr>
            </a:pPr>
            <a:r>
              <a:rPr lang="en-IN" sz="2133" b="1" kern="0" dirty="0">
                <a:solidFill>
                  <a:srgbClr val="000000"/>
                </a:solidFill>
                <a:latin typeface="Bookman Old Style" panose="02050604050505020204" pitchFamily="18" charset="0"/>
                <a:cs typeface="Arial"/>
                <a:sym typeface="Arial"/>
              </a:rPr>
              <a:t>a. Machine loading/unloading: </a:t>
            </a:r>
            <a:r>
              <a:rPr lang="en-IN" sz="2133" kern="0" dirty="0">
                <a:solidFill>
                  <a:srgbClr val="000000"/>
                </a:solidFill>
                <a:latin typeface="Bookman Old Style" panose="02050604050505020204" pitchFamily="18" charset="0"/>
                <a:cs typeface="Arial"/>
                <a:sym typeface="Arial"/>
              </a:rPr>
              <a:t>In the machine loading/unloading application, a robot is used to move the work parts to or/and from the production machine.</a:t>
            </a:r>
          </a:p>
          <a:p>
            <a:pPr algn="just" defTabSz="1219170">
              <a:buClr>
                <a:srgbClr val="000000"/>
              </a:buClr>
            </a:pPr>
            <a:r>
              <a:rPr lang="en-IN" sz="2133" kern="0" dirty="0">
                <a:solidFill>
                  <a:srgbClr val="000000"/>
                </a:solidFill>
                <a:latin typeface="Bookman Old Style" panose="02050604050505020204" pitchFamily="18" charset="0"/>
                <a:cs typeface="Arial"/>
                <a:sym typeface="Arial"/>
              </a:rPr>
              <a:t>The following three possibilities can be included for the loading/unloading application:</a:t>
            </a:r>
          </a:p>
          <a:p>
            <a:pPr algn="just" defTabSz="1219170">
              <a:buClr>
                <a:srgbClr val="000000"/>
              </a:buClr>
            </a:pPr>
            <a:r>
              <a:rPr lang="en-IN" sz="2133" b="1" kern="0" dirty="0">
                <a:solidFill>
                  <a:srgbClr val="000000"/>
                </a:solidFill>
                <a:latin typeface="Bookman Old Style" panose="02050604050505020204" pitchFamily="18" charset="0"/>
                <a:cs typeface="Arial"/>
                <a:sym typeface="Arial"/>
              </a:rPr>
              <a:t>b. Machine loading: </a:t>
            </a:r>
            <a:r>
              <a:rPr lang="en-IN" sz="2133" kern="0" dirty="0">
                <a:solidFill>
                  <a:srgbClr val="000000"/>
                </a:solidFill>
                <a:latin typeface="Bookman Old Style" panose="02050604050505020204" pitchFamily="18" charset="0"/>
                <a:cs typeface="Arial"/>
                <a:sym typeface="Arial"/>
              </a:rPr>
              <a:t>In the loading operation, a robot is used to load parts into the production machine, but the unloading of the finished parts after completion of operations of the production machine is done by means other than the use of a robot. Example: This is commonly applied in Press working process.</a:t>
            </a:r>
          </a:p>
          <a:p>
            <a:pPr algn="just" defTabSz="1219170">
              <a:buClr>
                <a:srgbClr val="000000"/>
              </a:buClr>
            </a:pPr>
            <a:r>
              <a:rPr lang="en-IN" sz="2133" b="1" kern="0" dirty="0">
                <a:solidFill>
                  <a:srgbClr val="000000"/>
                </a:solidFill>
                <a:latin typeface="Bookman Old Style" panose="02050604050505020204" pitchFamily="18" charset="0"/>
                <a:cs typeface="Arial"/>
                <a:sym typeface="Arial"/>
              </a:rPr>
              <a:t>c. Machine unloading: </a:t>
            </a:r>
            <a:r>
              <a:rPr lang="en-IN" sz="2133" kern="0" dirty="0">
                <a:solidFill>
                  <a:srgbClr val="000000"/>
                </a:solidFill>
                <a:latin typeface="Bookman Old Style" panose="02050604050505020204" pitchFamily="18" charset="0"/>
                <a:cs typeface="Arial"/>
                <a:sym typeface="Arial"/>
              </a:rPr>
              <a:t>In the unloading operation, a robot is used to unload the finished parts that comes out of a production machine, but the loading of the parts on to the production machine is done by means other than the use of a robot. Example: Die casting and plastic modelling.</a:t>
            </a:r>
          </a:p>
          <a:p>
            <a:pPr algn="just" defTabSz="1219170">
              <a:buClr>
                <a:srgbClr val="000000"/>
              </a:buClr>
            </a:pPr>
            <a:r>
              <a:rPr lang="en-IN" sz="2133" b="1" kern="0" dirty="0">
                <a:solidFill>
                  <a:srgbClr val="000000"/>
                </a:solidFill>
                <a:latin typeface="Bookman Old Style" panose="02050604050505020204" pitchFamily="18" charset="0"/>
                <a:cs typeface="Arial"/>
                <a:sym typeface="Arial"/>
              </a:rPr>
              <a:t>d. Machine loading and unloading: </a:t>
            </a:r>
            <a:r>
              <a:rPr lang="en-IN" sz="2133" kern="0" dirty="0">
                <a:solidFill>
                  <a:srgbClr val="000000"/>
                </a:solidFill>
                <a:latin typeface="Bookman Old Style" panose="02050604050505020204" pitchFamily="18" charset="0"/>
                <a:cs typeface="Arial"/>
                <a:sym typeface="Arial"/>
              </a:rPr>
              <a:t>In this operation, a robot is used to both load raw parts into the production machine and unload finished parts from the production machine. Example: Machining operation</a:t>
            </a:r>
          </a:p>
        </p:txBody>
      </p:sp>
    </p:spTree>
    <p:extLst>
      <p:ext uri="{BB962C8B-B14F-4D97-AF65-F5344CB8AC3E}">
        <p14:creationId xmlns:p14="http://schemas.microsoft.com/office/powerpoint/2010/main" val="6411150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E33BA84C-5D08-1117-6D62-80A9E203985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05A9395-3C5B-7790-FC0E-BF30E77BF522}"/>
              </a:ext>
            </a:extLst>
          </p:cNvPr>
          <p:cNvSpPr txBox="1"/>
          <p:nvPr/>
        </p:nvSpPr>
        <p:spPr>
          <a:xfrm>
            <a:off x="2474080" y="74746"/>
            <a:ext cx="7243835" cy="995209"/>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Applications of Robot</a:t>
            </a:r>
          </a:p>
          <a:p>
            <a:pPr algn="ctr" defTabSz="1219170">
              <a:buClr>
                <a:srgbClr val="000000"/>
              </a:buClr>
            </a:pPr>
            <a:r>
              <a:rPr lang="en-IN" sz="2667" kern="0" dirty="0">
                <a:solidFill>
                  <a:srgbClr val="0070C0"/>
                </a:solidFill>
                <a:latin typeface="Bookman Old Style" panose="02050604050505020204" pitchFamily="18" charset="0"/>
                <a:cs typeface="Arial"/>
                <a:sym typeface="Arial"/>
              </a:rPr>
              <a:t>Machine loading/unloading</a:t>
            </a:r>
            <a:endParaRPr lang="en-US" altLang="en-US" sz="2667" kern="0" dirty="0">
              <a:solidFill>
                <a:srgbClr val="0070C0"/>
              </a:solidFill>
              <a:latin typeface="Bookman Old Style" panose="02050604050505020204" pitchFamily="18" charset="0"/>
              <a:cs typeface="Arial"/>
              <a:sym typeface="Arial"/>
            </a:endParaRPr>
          </a:p>
        </p:txBody>
      </p:sp>
      <p:sp>
        <p:nvSpPr>
          <p:cNvPr id="7" name="TextBox 6">
            <a:extLst>
              <a:ext uri="{FF2B5EF4-FFF2-40B4-BE49-F238E27FC236}">
                <a16:creationId xmlns:a16="http://schemas.microsoft.com/office/drawing/2014/main" id="{1CA0CC18-6CB8-0D14-767D-6404BB77BCE7}"/>
              </a:ext>
            </a:extLst>
          </p:cNvPr>
          <p:cNvSpPr txBox="1"/>
          <p:nvPr/>
        </p:nvSpPr>
        <p:spPr>
          <a:xfrm>
            <a:off x="637309" y="1213910"/>
            <a:ext cx="10543309" cy="4656788"/>
          </a:xfrm>
          <a:prstGeom prst="rect">
            <a:avLst/>
          </a:prstGeom>
          <a:noFill/>
        </p:spPr>
        <p:txBody>
          <a:bodyPr wrap="square">
            <a:spAutoFit/>
          </a:bodyPr>
          <a:lstStyle/>
          <a:p>
            <a:pPr algn="just" defTabSz="1219170">
              <a:lnSpc>
                <a:spcPct val="150000"/>
              </a:lnSpc>
              <a:buClr>
                <a:srgbClr val="000000"/>
              </a:buClr>
            </a:pPr>
            <a:r>
              <a:rPr lang="en-IN" sz="2000" kern="0" dirty="0">
                <a:solidFill>
                  <a:srgbClr val="000000"/>
                </a:solidFill>
                <a:latin typeface="Bookman Old Style" panose="02050604050505020204" pitchFamily="18" charset="0"/>
                <a:cs typeface="Arial"/>
                <a:sym typeface="Arial"/>
              </a:rPr>
              <a:t>Following are the industrial applications of robots used for machine loading/unloading:</a:t>
            </a:r>
          </a:p>
          <a:p>
            <a:pPr algn="just" defTabSz="1219170">
              <a:lnSpc>
                <a:spcPct val="150000"/>
              </a:lnSpc>
              <a:buClr>
                <a:srgbClr val="000000"/>
              </a:buClr>
            </a:pPr>
            <a:r>
              <a:rPr lang="en-IN" sz="2000" b="1" kern="0" dirty="0">
                <a:solidFill>
                  <a:srgbClr val="000000"/>
                </a:solidFill>
                <a:latin typeface="Bookman Old Style" panose="02050604050505020204" pitchFamily="18" charset="0"/>
                <a:cs typeface="Arial"/>
                <a:sym typeface="Arial"/>
              </a:rPr>
              <a:t>Die-casting: </a:t>
            </a:r>
            <a:r>
              <a:rPr lang="en-IN" sz="2000" kern="0" dirty="0">
                <a:solidFill>
                  <a:srgbClr val="000000"/>
                </a:solidFill>
                <a:latin typeface="Bookman Old Style" panose="02050604050505020204" pitchFamily="18" charset="0"/>
                <a:cs typeface="Arial"/>
                <a:sym typeface="Arial"/>
              </a:rPr>
              <a:t>Here the robot is used to safely unload the parts from a die-casting machine with the safety gates closed. Other connected applications are carrying out cooling tasks or parting agent applications.</a:t>
            </a:r>
          </a:p>
          <a:p>
            <a:pPr algn="just" defTabSz="1219170">
              <a:lnSpc>
                <a:spcPct val="150000"/>
              </a:lnSpc>
              <a:buClr>
                <a:srgbClr val="000000"/>
              </a:buClr>
            </a:pPr>
            <a:r>
              <a:rPr lang="en-IN" sz="2000" b="1" kern="0" dirty="0">
                <a:solidFill>
                  <a:srgbClr val="000000"/>
                </a:solidFill>
                <a:latin typeface="Bookman Old Style" panose="02050604050505020204" pitchFamily="18" charset="0"/>
                <a:cs typeface="Arial"/>
                <a:sym typeface="Arial"/>
              </a:rPr>
              <a:t>Forging: </a:t>
            </a:r>
            <a:r>
              <a:rPr lang="en-IN" sz="2000" kern="0" dirty="0">
                <a:solidFill>
                  <a:srgbClr val="000000"/>
                </a:solidFill>
                <a:latin typeface="Bookman Old Style" panose="02050604050505020204" pitchFamily="18" charset="0"/>
                <a:cs typeface="Arial"/>
                <a:sym typeface="Arial"/>
              </a:rPr>
              <a:t>Forging is one of the toughest environments considering the extreme heat, pollution and noise. The use of a robot immensely helps to face the environment of forging. Here the robot loads the red hot billet on to the die of the forging hammer, holds it during the blows and unloads to a safe place away from the hammer.</a:t>
            </a:r>
          </a:p>
        </p:txBody>
      </p:sp>
    </p:spTree>
    <p:extLst>
      <p:ext uri="{BB962C8B-B14F-4D97-AF65-F5344CB8AC3E}">
        <p14:creationId xmlns:p14="http://schemas.microsoft.com/office/powerpoint/2010/main" val="7557587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E33BA84C-5D08-1117-6D62-80A9E203985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05A9395-3C5B-7790-FC0E-BF30E77BF522}"/>
              </a:ext>
            </a:extLst>
          </p:cNvPr>
          <p:cNvSpPr txBox="1"/>
          <p:nvPr/>
        </p:nvSpPr>
        <p:spPr>
          <a:xfrm>
            <a:off x="2474080" y="74746"/>
            <a:ext cx="7243835" cy="995209"/>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Applications of Robot</a:t>
            </a:r>
          </a:p>
          <a:p>
            <a:pPr algn="ctr" defTabSz="1219170">
              <a:buClr>
                <a:srgbClr val="000000"/>
              </a:buClr>
            </a:pPr>
            <a:r>
              <a:rPr lang="en-IN" sz="2667" kern="0" dirty="0">
                <a:solidFill>
                  <a:srgbClr val="0070C0"/>
                </a:solidFill>
                <a:latin typeface="Bookman Old Style" panose="02050604050505020204" pitchFamily="18" charset="0"/>
                <a:cs typeface="Arial"/>
                <a:sym typeface="Arial"/>
              </a:rPr>
              <a:t>Machine loading/unloading</a:t>
            </a:r>
            <a:endParaRPr lang="en-US" altLang="en-US" sz="2667" kern="0" dirty="0">
              <a:solidFill>
                <a:srgbClr val="0070C0"/>
              </a:solidFill>
              <a:latin typeface="Bookman Old Style" panose="02050604050505020204" pitchFamily="18" charset="0"/>
              <a:cs typeface="Arial"/>
              <a:sym typeface="Arial"/>
            </a:endParaRPr>
          </a:p>
        </p:txBody>
      </p:sp>
      <p:sp>
        <p:nvSpPr>
          <p:cNvPr id="7" name="TextBox 6">
            <a:extLst>
              <a:ext uri="{FF2B5EF4-FFF2-40B4-BE49-F238E27FC236}">
                <a16:creationId xmlns:a16="http://schemas.microsoft.com/office/drawing/2014/main" id="{1CA0CC18-6CB8-0D14-767D-6404BB77BCE7}"/>
              </a:ext>
            </a:extLst>
          </p:cNvPr>
          <p:cNvSpPr txBox="1"/>
          <p:nvPr/>
        </p:nvSpPr>
        <p:spPr>
          <a:xfrm>
            <a:off x="471054" y="1213910"/>
            <a:ext cx="11042073" cy="4194610"/>
          </a:xfrm>
          <a:prstGeom prst="rect">
            <a:avLst/>
          </a:prstGeom>
          <a:noFill/>
        </p:spPr>
        <p:txBody>
          <a:bodyPr wrap="square">
            <a:spAutoFit/>
          </a:bodyPr>
          <a:lstStyle/>
          <a:p>
            <a:pPr algn="just" defTabSz="1219170">
              <a:lnSpc>
                <a:spcPct val="150000"/>
              </a:lnSpc>
              <a:buClr>
                <a:srgbClr val="000000"/>
              </a:buClr>
            </a:pPr>
            <a:r>
              <a:rPr lang="en-IN" sz="2000" b="1" kern="0" dirty="0">
                <a:solidFill>
                  <a:srgbClr val="000000"/>
                </a:solidFill>
                <a:latin typeface="Bookman Old Style" panose="02050604050505020204" pitchFamily="18" charset="0"/>
                <a:cs typeface="Arial"/>
                <a:sym typeface="Arial"/>
              </a:rPr>
              <a:t>Plastic injection moulding: </a:t>
            </a:r>
            <a:r>
              <a:rPr lang="en-IN" sz="2000" kern="0" dirty="0">
                <a:solidFill>
                  <a:srgbClr val="000000"/>
                </a:solidFill>
                <a:latin typeface="Bookman Old Style" panose="02050604050505020204" pitchFamily="18" charset="0"/>
                <a:cs typeface="Arial"/>
                <a:sym typeface="Arial"/>
              </a:rPr>
              <a:t>Here a robot unloads parts from the injection moulding machine, cuts the runner and drops runner to scrap area.</a:t>
            </a:r>
          </a:p>
          <a:p>
            <a:pPr algn="just" defTabSz="1219170">
              <a:lnSpc>
                <a:spcPct val="150000"/>
              </a:lnSpc>
              <a:buClr>
                <a:srgbClr val="000000"/>
              </a:buClr>
            </a:pPr>
            <a:r>
              <a:rPr lang="en-IN" sz="2000" b="1" kern="0" dirty="0">
                <a:solidFill>
                  <a:srgbClr val="000000"/>
                </a:solidFill>
                <a:latin typeface="Bookman Old Style" panose="02050604050505020204" pitchFamily="18" charset="0"/>
                <a:cs typeface="Arial"/>
                <a:sym typeface="Arial"/>
              </a:rPr>
              <a:t>Sheet metal press operation (Press working): </a:t>
            </a:r>
            <a:r>
              <a:rPr lang="en-IN" sz="2000" kern="0" dirty="0">
                <a:solidFill>
                  <a:srgbClr val="000000"/>
                </a:solidFill>
                <a:latin typeface="Bookman Old Style" panose="02050604050505020204" pitchFamily="18" charset="0"/>
                <a:cs typeface="Arial"/>
                <a:sym typeface="Arial"/>
              </a:rPr>
              <a:t>Here a robot loads a blank into the press, then after the press stamping operation is performed the robot unloads the scrap and throws it into the scrap area. The stamped parts from the blank falls in the container placed at the back of the machine.</a:t>
            </a:r>
          </a:p>
          <a:p>
            <a:pPr algn="just" defTabSz="1219170">
              <a:lnSpc>
                <a:spcPct val="150000"/>
              </a:lnSpc>
              <a:buClr>
                <a:srgbClr val="000000"/>
              </a:buClr>
            </a:pPr>
            <a:r>
              <a:rPr lang="en-IN" sz="2000" b="1" kern="0" dirty="0">
                <a:solidFill>
                  <a:srgbClr val="000000"/>
                </a:solidFill>
                <a:latin typeface="Bookman Old Style" panose="02050604050505020204" pitchFamily="18" charset="0"/>
                <a:cs typeface="Arial"/>
                <a:sym typeface="Arial"/>
              </a:rPr>
              <a:t>Machining operations: </a:t>
            </a:r>
            <a:r>
              <a:rPr lang="en-IN" sz="2000" kern="0" dirty="0">
                <a:solidFill>
                  <a:srgbClr val="000000"/>
                </a:solidFill>
                <a:latin typeface="Bookman Old Style" panose="02050604050505020204" pitchFamily="18" charset="0"/>
                <a:cs typeface="Arial"/>
                <a:sym typeface="Arial"/>
              </a:rPr>
              <a:t>Here the robot loads the raw blanks on to the machine tool and unloads the finished parts.</a:t>
            </a:r>
          </a:p>
          <a:p>
            <a:pPr algn="just" defTabSz="1219170">
              <a:lnSpc>
                <a:spcPct val="150000"/>
              </a:lnSpc>
              <a:buClr>
                <a:srgbClr val="000000"/>
              </a:buClr>
            </a:pPr>
            <a:r>
              <a:rPr lang="en-IN" sz="2000" b="1" kern="0" dirty="0">
                <a:solidFill>
                  <a:srgbClr val="000000"/>
                </a:solidFill>
                <a:latin typeface="Bookman Old Style" panose="02050604050505020204" pitchFamily="18" charset="0"/>
                <a:cs typeface="Arial"/>
                <a:sym typeface="Arial"/>
              </a:rPr>
              <a:t>Heat treating: </a:t>
            </a:r>
            <a:r>
              <a:rPr lang="en-IN" sz="2000" kern="0" dirty="0">
                <a:solidFill>
                  <a:srgbClr val="000000"/>
                </a:solidFill>
                <a:latin typeface="Bookman Old Style" panose="02050604050505020204" pitchFamily="18" charset="0"/>
                <a:cs typeface="Arial"/>
                <a:sym typeface="Arial"/>
              </a:rPr>
              <a:t>Here the robot loads/unloads parts to/from a furnace.</a:t>
            </a:r>
          </a:p>
        </p:txBody>
      </p:sp>
    </p:spTree>
    <p:extLst>
      <p:ext uri="{BB962C8B-B14F-4D97-AF65-F5344CB8AC3E}">
        <p14:creationId xmlns:p14="http://schemas.microsoft.com/office/powerpoint/2010/main" val="11736723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32A99578-F968-A909-444E-9310F2C209F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8F7FBE6-576F-7480-0BCB-CBFE1F3E5FFF}"/>
              </a:ext>
            </a:extLst>
          </p:cNvPr>
          <p:cNvSpPr txBox="1"/>
          <p:nvPr/>
        </p:nvSpPr>
        <p:spPr>
          <a:xfrm>
            <a:off x="2474081" y="126569"/>
            <a:ext cx="7243835" cy="1077218"/>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Applications of Robot</a:t>
            </a:r>
          </a:p>
          <a:p>
            <a:pPr algn="ctr" defTabSz="1219170">
              <a:buClr>
                <a:srgbClr val="000000"/>
              </a:buClr>
            </a:pPr>
            <a:r>
              <a:rPr lang="en-IN" sz="3200" kern="0" dirty="0">
                <a:solidFill>
                  <a:srgbClr val="0070C0"/>
                </a:solidFill>
                <a:latin typeface="Bookman Old Style" panose="02050604050505020204" pitchFamily="18" charset="0"/>
                <a:cs typeface="Arial"/>
                <a:sym typeface="Arial"/>
              </a:rPr>
              <a:t>Processing operations</a:t>
            </a:r>
          </a:p>
        </p:txBody>
      </p:sp>
      <p:sp>
        <p:nvSpPr>
          <p:cNvPr id="6" name="TextBox 5">
            <a:extLst>
              <a:ext uri="{FF2B5EF4-FFF2-40B4-BE49-F238E27FC236}">
                <a16:creationId xmlns:a16="http://schemas.microsoft.com/office/drawing/2014/main" id="{DB1C229F-3DA7-4ABE-A4F1-F7589F77032B}"/>
              </a:ext>
            </a:extLst>
          </p:cNvPr>
          <p:cNvSpPr txBox="1"/>
          <p:nvPr/>
        </p:nvSpPr>
        <p:spPr>
          <a:xfrm>
            <a:off x="568036" y="1211198"/>
            <a:ext cx="11152909" cy="6077818"/>
          </a:xfrm>
          <a:prstGeom prst="rect">
            <a:avLst/>
          </a:prstGeom>
          <a:noFill/>
        </p:spPr>
        <p:txBody>
          <a:bodyPr wrap="square">
            <a:spAutoFit/>
          </a:bodyPr>
          <a:lstStyle/>
          <a:p>
            <a:pPr algn="just" defTabSz="1219170">
              <a:lnSpc>
                <a:spcPct val="150000"/>
              </a:lnSpc>
              <a:buClr>
                <a:srgbClr val="000000"/>
              </a:buClr>
            </a:pPr>
            <a:r>
              <a:rPr lang="en-IN" sz="1867" kern="0" dirty="0">
                <a:solidFill>
                  <a:srgbClr val="000000"/>
                </a:solidFill>
                <a:latin typeface="Bookman Old Style" panose="02050604050505020204" pitchFamily="18" charset="0"/>
                <a:cs typeface="Arial"/>
                <a:sym typeface="Arial"/>
              </a:rPr>
              <a:t>Robots are used to carry out the processing operations such as spray painting, spot welding, etc by using a tool at its end-effector. The tools can be a spray painting gun for spray painting operation, a spot welding gun for spot welding operation, etc.</a:t>
            </a:r>
          </a:p>
          <a:p>
            <a:pPr algn="just" defTabSz="1219170">
              <a:lnSpc>
                <a:spcPct val="150000"/>
              </a:lnSpc>
              <a:buClr>
                <a:srgbClr val="000000"/>
              </a:buClr>
            </a:pPr>
            <a:r>
              <a:rPr lang="en-IN" sz="1867" kern="0" dirty="0">
                <a:solidFill>
                  <a:srgbClr val="000000"/>
                </a:solidFill>
                <a:latin typeface="Bookman Old Style" panose="02050604050505020204" pitchFamily="18" charset="0"/>
                <a:cs typeface="Arial"/>
                <a:sym typeface="Arial"/>
              </a:rPr>
              <a:t>In processing operations, the robot manipulates a tool to perform a process on the work part.</a:t>
            </a:r>
          </a:p>
          <a:p>
            <a:pPr algn="just" defTabSz="1219170">
              <a:lnSpc>
                <a:spcPct val="150000"/>
              </a:lnSpc>
              <a:buClr>
                <a:srgbClr val="000000"/>
              </a:buClr>
            </a:pPr>
            <a:r>
              <a:rPr lang="en-IN" sz="1867" kern="0" dirty="0">
                <a:solidFill>
                  <a:srgbClr val="000000"/>
                </a:solidFill>
                <a:latin typeface="Bookman Old Style" panose="02050604050505020204" pitchFamily="18" charset="0"/>
                <a:cs typeface="Arial"/>
                <a:sym typeface="Arial"/>
              </a:rPr>
              <a:t>Following are few processes that use industrial robots:</a:t>
            </a:r>
          </a:p>
          <a:p>
            <a:pPr algn="just" defTabSz="1219170">
              <a:lnSpc>
                <a:spcPct val="150000"/>
              </a:lnSpc>
              <a:buClr>
                <a:srgbClr val="000000"/>
              </a:buClr>
            </a:pPr>
            <a:r>
              <a:rPr lang="en-IN" sz="1867" b="1" kern="0" dirty="0">
                <a:solidFill>
                  <a:srgbClr val="000000"/>
                </a:solidFill>
                <a:latin typeface="Bookman Old Style" panose="02050604050505020204" pitchFamily="18" charset="0"/>
                <a:cs typeface="Arial"/>
                <a:sym typeface="Arial"/>
              </a:rPr>
              <a:t>a. Spot Welding: </a:t>
            </a:r>
            <a:r>
              <a:rPr lang="en-IN" sz="1867" kern="0" dirty="0">
                <a:solidFill>
                  <a:srgbClr val="000000"/>
                </a:solidFill>
                <a:latin typeface="Bookman Old Style" panose="02050604050505020204" pitchFamily="18" charset="0"/>
                <a:cs typeface="Arial"/>
                <a:sym typeface="Arial"/>
              </a:rPr>
              <a:t>Spot Welding is a metal joining process where two metal parts are squeezed together between two electrodes and subjected to a large amount of current to form a joint at particular points or spots. The end-effector of the robot here is the spot welding gun that applies the approximate pressure and current to the sheet parts to be welded. The spot welding robots have enough number of axes of motion to approach points in the work envelope at any angle. This was difficult to realize in a manned environment in the absence of robots. Spot welding is used largely in the automobile industry to weld automobile bodies such as car panels.</a:t>
            </a:r>
          </a:p>
          <a:p>
            <a:pPr algn="just" defTabSz="1219170">
              <a:lnSpc>
                <a:spcPct val="150000"/>
              </a:lnSpc>
              <a:buClr>
                <a:srgbClr val="000000"/>
              </a:buClr>
            </a:pPr>
            <a:endParaRPr lang="en-IN" sz="1867" kern="0" dirty="0">
              <a:solidFill>
                <a:srgbClr val="000000"/>
              </a:solidFill>
              <a:latin typeface="Bookman Old Style" panose="02050604050505020204" pitchFamily="18" charset="0"/>
              <a:cs typeface="Arial"/>
              <a:sym typeface="Arial"/>
            </a:endParaRPr>
          </a:p>
        </p:txBody>
      </p:sp>
    </p:spTree>
    <p:extLst>
      <p:ext uri="{BB962C8B-B14F-4D97-AF65-F5344CB8AC3E}">
        <p14:creationId xmlns:p14="http://schemas.microsoft.com/office/powerpoint/2010/main" val="8095888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32A99578-F968-A909-444E-9310F2C209F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8F7FBE6-576F-7480-0BCB-CBFE1F3E5FFF}"/>
              </a:ext>
            </a:extLst>
          </p:cNvPr>
          <p:cNvSpPr txBox="1"/>
          <p:nvPr/>
        </p:nvSpPr>
        <p:spPr>
          <a:xfrm>
            <a:off x="2474081" y="126569"/>
            <a:ext cx="7243835" cy="1077218"/>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Applications of Robot</a:t>
            </a:r>
          </a:p>
          <a:p>
            <a:pPr algn="ctr" defTabSz="1219170">
              <a:buClr>
                <a:srgbClr val="000000"/>
              </a:buClr>
            </a:pPr>
            <a:r>
              <a:rPr lang="en-IN" sz="3200" kern="0" dirty="0">
                <a:solidFill>
                  <a:srgbClr val="0070C0"/>
                </a:solidFill>
                <a:latin typeface="Bookman Old Style" panose="02050604050505020204" pitchFamily="18" charset="0"/>
                <a:cs typeface="Arial"/>
                <a:sym typeface="Arial"/>
              </a:rPr>
              <a:t>Processing operations</a:t>
            </a:r>
          </a:p>
        </p:txBody>
      </p:sp>
      <p:sp>
        <p:nvSpPr>
          <p:cNvPr id="6" name="TextBox 5">
            <a:extLst>
              <a:ext uri="{FF2B5EF4-FFF2-40B4-BE49-F238E27FC236}">
                <a16:creationId xmlns:a16="http://schemas.microsoft.com/office/drawing/2014/main" id="{DB1C229F-3DA7-4ABE-A4F1-F7589F77032B}"/>
              </a:ext>
            </a:extLst>
          </p:cNvPr>
          <p:cNvSpPr txBox="1"/>
          <p:nvPr/>
        </p:nvSpPr>
        <p:spPr>
          <a:xfrm>
            <a:off x="1080655" y="1097847"/>
            <a:ext cx="10390909" cy="3060710"/>
          </a:xfrm>
          <a:prstGeom prst="rect">
            <a:avLst/>
          </a:prstGeom>
          <a:noFill/>
        </p:spPr>
        <p:txBody>
          <a:bodyPr wrap="square">
            <a:spAutoFit/>
          </a:bodyPr>
          <a:lstStyle/>
          <a:p>
            <a:pPr algn="just" defTabSz="1219170">
              <a:lnSpc>
                <a:spcPct val="150000"/>
              </a:lnSpc>
              <a:buClr>
                <a:srgbClr val="000000"/>
              </a:buClr>
            </a:pPr>
            <a:r>
              <a:rPr lang="en-IN" sz="1867" b="1" kern="0" dirty="0">
                <a:solidFill>
                  <a:srgbClr val="000000"/>
                </a:solidFill>
                <a:latin typeface="Bookman Old Style" panose="02050604050505020204" pitchFamily="18" charset="0"/>
                <a:cs typeface="Arial"/>
                <a:sym typeface="Arial"/>
              </a:rPr>
              <a:t>b. Arc Welding: </a:t>
            </a:r>
            <a:r>
              <a:rPr lang="en-IN" sz="1867" kern="0" dirty="0">
                <a:solidFill>
                  <a:srgbClr val="000000"/>
                </a:solidFill>
                <a:latin typeface="Bookman Old Style" panose="02050604050505020204" pitchFamily="18" charset="0"/>
                <a:cs typeface="Arial"/>
                <a:sym typeface="Arial"/>
              </a:rPr>
              <a:t>Arc welding is a metal joining process where metals are welded by using the heat generated by an electric arc. The welding here is continuous unlike spot welding. When arc welding is manually carried out, the conditions are difficult for the operators since they require Personal Protective Equipment like welding shield with special glass to avoid UV rays, are under the danger of operating at high temperatures involving high amount of heat and moreover they must be accurate in following the welding path. These problems are now overcome with the use of arc welding robots.</a:t>
            </a:r>
          </a:p>
        </p:txBody>
      </p:sp>
    </p:spTree>
    <p:extLst>
      <p:ext uri="{BB962C8B-B14F-4D97-AF65-F5344CB8AC3E}">
        <p14:creationId xmlns:p14="http://schemas.microsoft.com/office/powerpoint/2010/main" val="19273783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8ECA9FC9-9C91-F722-2DF7-13AC04F633F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A485075-B1F0-A4A4-06E2-F6B5E5C7F581}"/>
              </a:ext>
            </a:extLst>
          </p:cNvPr>
          <p:cNvSpPr txBox="1"/>
          <p:nvPr/>
        </p:nvSpPr>
        <p:spPr>
          <a:xfrm>
            <a:off x="2474081" y="126570"/>
            <a:ext cx="7243835" cy="954107"/>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Applications of Robot</a:t>
            </a:r>
          </a:p>
          <a:p>
            <a:pPr algn="ctr" defTabSz="1219170">
              <a:buClr>
                <a:srgbClr val="000000"/>
              </a:buClr>
            </a:pPr>
            <a:r>
              <a:rPr lang="en-IN" sz="2400" kern="0" dirty="0">
                <a:solidFill>
                  <a:srgbClr val="0070C0"/>
                </a:solidFill>
                <a:latin typeface="Bookman Old Style" panose="02050604050505020204" pitchFamily="18" charset="0"/>
                <a:cs typeface="Arial"/>
                <a:sym typeface="Arial"/>
              </a:rPr>
              <a:t>Processing operations</a:t>
            </a:r>
          </a:p>
        </p:txBody>
      </p:sp>
      <p:sp>
        <p:nvSpPr>
          <p:cNvPr id="7" name="TextBox 6">
            <a:extLst>
              <a:ext uri="{FF2B5EF4-FFF2-40B4-BE49-F238E27FC236}">
                <a16:creationId xmlns:a16="http://schemas.microsoft.com/office/drawing/2014/main" id="{36E3E5F6-24B1-30BE-BEC2-78E1966DCF3C}"/>
              </a:ext>
            </a:extLst>
          </p:cNvPr>
          <p:cNvSpPr txBox="1"/>
          <p:nvPr/>
        </p:nvSpPr>
        <p:spPr>
          <a:xfrm>
            <a:off x="264405" y="1356638"/>
            <a:ext cx="11663191" cy="5118452"/>
          </a:xfrm>
          <a:prstGeom prst="rect">
            <a:avLst/>
          </a:prstGeom>
          <a:noFill/>
        </p:spPr>
        <p:txBody>
          <a:bodyPr wrap="square">
            <a:spAutoFit/>
          </a:bodyPr>
          <a:lstStyle/>
          <a:p>
            <a:pPr defTabSz="1219170">
              <a:lnSpc>
                <a:spcPct val="150000"/>
              </a:lnSpc>
              <a:buClr>
                <a:srgbClr val="000000"/>
              </a:buClr>
            </a:pPr>
            <a:r>
              <a:rPr lang="en-IN" sz="2000" kern="0" dirty="0">
                <a:solidFill>
                  <a:srgbClr val="000000"/>
                </a:solidFill>
                <a:latin typeface="Bookman Old Style" panose="02050604050505020204" pitchFamily="18" charset="0"/>
                <a:cs typeface="Arial"/>
                <a:sym typeface="Arial"/>
              </a:rPr>
              <a:t>The typical components of an arc welding cell includes:</a:t>
            </a:r>
          </a:p>
          <a:p>
            <a:pPr algn="just" defTabSz="1219170">
              <a:lnSpc>
                <a:spcPct val="150000"/>
              </a:lnSpc>
              <a:buClr>
                <a:srgbClr val="000000"/>
              </a:buClr>
            </a:pPr>
            <a:r>
              <a:rPr lang="en-IN" sz="2000" b="1" kern="0" dirty="0">
                <a:solidFill>
                  <a:srgbClr val="000000"/>
                </a:solidFill>
                <a:latin typeface="Bookman Old Style" panose="02050604050505020204" pitchFamily="18" charset="0"/>
                <a:cs typeface="Arial"/>
                <a:sym typeface="Arial"/>
              </a:rPr>
              <a:t>Arc welding robot: </a:t>
            </a:r>
            <a:r>
              <a:rPr lang="en-IN" sz="2000" kern="0" dirty="0">
                <a:solidFill>
                  <a:srgbClr val="000000"/>
                </a:solidFill>
                <a:latin typeface="Bookman Old Style" panose="02050604050505020204" pitchFamily="18" charset="0"/>
                <a:cs typeface="Arial"/>
                <a:sym typeface="Arial"/>
              </a:rPr>
              <a:t>Most popular is the jointed-arm type robot because it allows the welding torch to be manipulated similar to a manual operator. The torch and travel angles can be changed to make welds of good quality. Also welding can be done in areas that are difficult to reach. These robots typically consist of five or six free programmable axes.</a:t>
            </a:r>
          </a:p>
          <a:p>
            <a:pPr algn="just" defTabSz="1219170">
              <a:lnSpc>
                <a:spcPct val="150000"/>
              </a:lnSpc>
              <a:buClr>
                <a:srgbClr val="000000"/>
              </a:buClr>
            </a:pPr>
            <a:r>
              <a:rPr lang="en-IN" sz="2000" b="1" kern="0" dirty="0">
                <a:solidFill>
                  <a:srgbClr val="000000"/>
                </a:solidFill>
                <a:latin typeface="Bookman Old Style" panose="02050604050505020204" pitchFamily="18" charset="0"/>
                <a:cs typeface="Arial"/>
                <a:sym typeface="Arial"/>
              </a:rPr>
              <a:t>Power Source: </a:t>
            </a:r>
            <a:r>
              <a:rPr lang="en-IN" sz="2000" kern="0" dirty="0">
                <a:solidFill>
                  <a:srgbClr val="000000"/>
                </a:solidFill>
                <a:latin typeface="Bookman Old Style" panose="02050604050505020204" pitchFamily="18" charset="0"/>
                <a:cs typeface="Arial"/>
                <a:sym typeface="Arial"/>
              </a:rPr>
              <a:t>This provides electric power required to do the arc welding operation.</a:t>
            </a:r>
          </a:p>
          <a:p>
            <a:pPr algn="just" defTabSz="1219170">
              <a:lnSpc>
                <a:spcPct val="150000"/>
              </a:lnSpc>
              <a:buClr>
                <a:srgbClr val="000000"/>
              </a:buClr>
            </a:pPr>
            <a:r>
              <a:rPr lang="en-IN" sz="2000" kern="0" dirty="0">
                <a:solidFill>
                  <a:srgbClr val="000000"/>
                </a:solidFill>
                <a:latin typeface="Bookman Old Style" panose="02050604050505020204" pitchFamily="18" charset="0"/>
                <a:cs typeface="Arial"/>
                <a:sym typeface="Arial"/>
              </a:rPr>
              <a:t>Welding torch: This is carried by the robot as its end-effector tool to direct the welding electrode into the arc.</a:t>
            </a:r>
          </a:p>
          <a:p>
            <a:pPr algn="just" defTabSz="1219170">
              <a:lnSpc>
                <a:spcPct val="150000"/>
              </a:lnSpc>
              <a:buClr>
                <a:srgbClr val="000000"/>
              </a:buClr>
            </a:pPr>
            <a:r>
              <a:rPr lang="en-IN" sz="2000" b="1" kern="0" dirty="0">
                <a:solidFill>
                  <a:srgbClr val="000000"/>
                </a:solidFill>
                <a:latin typeface="Bookman Old Style" panose="02050604050505020204" pitchFamily="18" charset="0"/>
                <a:cs typeface="Arial"/>
                <a:sym typeface="Arial"/>
              </a:rPr>
              <a:t>Wire feeder: </a:t>
            </a:r>
            <a:r>
              <a:rPr lang="en-IN" sz="2000" kern="0" dirty="0">
                <a:solidFill>
                  <a:srgbClr val="000000"/>
                </a:solidFill>
                <a:latin typeface="Bookman Old Style" panose="02050604050505020204" pitchFamily="18" charset="0"/>
                <a:cs typeface="Arial"/>
                <a:sym typeface="Arial"/>
              </a:rPr>
              <a:t>These are used to add the filler material in robotic welding.</a:t>
            </a:r>
          </a:p>
          <a:p>
            <a:pPr algn="just" defTabSz="1219170">
              <a:lnSpc>
                <a:spcPct val="150000"/>
              </a:lnSpc>
              <a:buClr>
                <a:srgbClr val="000000"/>
              </a:buClr>
            </a:pPr>
            <a:r>
              <a:rPr lang="en-IN" sz="2000" b="1" kern="0" dirty="0">
                <a:solidFill>
                  <a:srgbClr val="000000"/>
                </a:solidFill>
                <a:latin typeface="Bookman Old Style" panose="02050604050505020204" pitchFamily="18" charset="0"/>
                <a:cs typeface="Arial"/>
                <a:sym typeface="Arial"/>
              </a:rPr>
              <a:t>Welding fixtures: </a:t>
            </a:r>
            <a:r>
              <a:rPr lang="en-IN" sz="2000" kern="0" dirty="0">
                <a:solidFill>
                  <a:srgbClr val="000000"/>
                </a:solidFill>
                <a:latin typeface="Bookman Old Style" panose="02050604050505020204" pitchFamily="18" charset="0"/>
                <a:cs typeface="Arial"/>
                <a:sym typeface="Arial"/>
              </a:rPr>
              <a:t>These hold the individual parts to be welded in proper alignment during welding.</a:t>
            </a:r>
          </a:p>
        </p:txBody>
      </p:sp>
    </p:spTree>
    <p:extLst>
      <p:ext uri="{BB962C8B-B14F-4D97-AF65-F5344CB8AC3E}">
        <p14:creationId xmlns:p14="http://schemas.microsoft.com/office/powerpoint/2010/main" val="29736942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BD696579-0976-97ED-BB4A-6901138542F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30848EF-42B1-189D-8B4F-EDBF62B737C7}"/>
              </a:ext>
            </a:extLst>
          </p:cNvPr>
          <p:cNvSpPr txBox="1"/>
          <p:nvPr/>
        </p:nvSpPr>
        <p:spPr>
          <a:xfrm>
            <a:off x="2474081" y="126570"/>
            <a:ext cx="7243835" cy="954107"/>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Applications of Robot</a:t>
            </a:r>
          </a:p>
          <a:p>
            <a:pPr algn="ctr" defTabSz="1219170">
              <a:buClr>
                <a:srgbClr val="000000"/>
              </a:buClr>
            </a:pPr>
            <a:r>
              <a:rPr lang="en-IN" sz="2400" kern="0" dirty="0">
                <a:solidFill>
                  <a:srgbClr val="0070C0"/>
                </a:solidFill>
                <a:latin typeface="Bookman Old Style" panose="02050604050505020204" pitchFamily="18" charset="0"/>
                <a:cs typeface="Arial"/>
                <a:sym typeface="Arial"/>
              </a:rPr>
              <a:t>Processing operations</a:t>
            </a:r>
          </a:p>
        </p:txBody>
      </p:sp>
      <p:sp>
        <p:nvSpPr>
          <p:cNvPr id="7" name="TextBox 6">
            <a:extLst>
              <a:ext uri="{FF2B5EF4-FFF2-40B4-BE49-F238E27FC236}">
                <a16:creationId xmlns:a16="http://schemas.microsoft.com/office/drawing/2014/main" id="{EF4AD2A9-6F86-FCC8-1CBA-CBA2A4546A07}"/>
              </a:ext>
            </a:extLst>
          </p:cNvPr>
          <p:cNvSpPr txBox="1"/>
          <p:nvPr/>
        </p:nvSpPr>
        <p:spPr>
          <a:xfrm>
            <a:off x="264406" y="1111455"/>
            <a:ext cx="11663189" cy="5551456"/>
          </a:xfrm>
          <a:prstGeom prst="rect">
            <a:avLst/>
          </a:prstGeom>
          <a:noFill/>
        </p:spPr>
        <p:txBody>
          <a:bodyPr wrap="square">
            <a:spAutoFit/>
          </a:bodyPr>
          <a:lstStyle/>
          <a:p>
            <a:pPr algn="just" defTabSz="1219170">
              <a:buClr>
                <a:srgbClr val="000000"/>
              </a:buClr>
            </a:pPr>
            <a:r>
              <a:rPr lang="en-IN" sz="1867" b="1" kern="0" dirty="0">
                <a:solidFill>
                  <a:srgbClr val="000000"/>
                </a:solidFill>
                <a:latin typeface="Bookman Old Style" panose="02050604050505020204" pitchFamily="18" charset="0"/>
                <a:cs typeface="Arial"/>
                <a:sym typeface="Arial"/>
              </a:rPr>
              <a:t>C. Spray Coating: </a:t>
            </a:r>
            <a:r>
              <a:rPr lang="en-IN" sz="1867" kern="0" dirty="0">
                <a:solidFill>
                  <a:srgbClr val="000000"/>
                </a:solidFill>
                <a:latin typeface="Bookman Old Style" panose="02050604050505020204" pitchFamily="18" charset="0"/>
                <a:cs typeface="Arial"/>
                <a:sym typeface="Arial"/>
              </a:rPr>
              <a:t>Spray coating is a process where parts are coated by a spray gun spraying the fluid on to the surface of the part. The fluid passes through the nozzle of the spray gun and is dispersed at high velocity to the surface to be coated. Common examples are powder coating and spray painting.</a:t>
            </a:r>
          </a:p>
          <a:p>
            <a:pPr algn="just" defTabSz="1219170">
              <a:buClr>
                <a:srgbClr val="000000"/>
              </a:buClr>
            </a:pPr>
            <a:r>
              <a:rPr lang="en-IN" sz="1867" kern="0" dirty="0">
                <a:solidFill>
                  <a:srgbClr val="000000"/>
                </a:solidFill>
                <a:latin typeface="Bookman Old Style" panose="02050604050505020204" pitchFamily="18" charset="0"/>
                <a:cs typeface="Arial"/>
                <a:sym typeface="Arial"/>
              </a:rPr>
              <a:t>When human operators carry out the spray coating operations, it results in various health hazards such as the paint or powder fumes / particles entering the operator's body and causing illness, flash fires resulting in burning in the painting booth pit, ear damage due to continued noise of the nozzle, etc. Hence if affordable, robots can be the right substitution to work in such environments.</a:t>
            </a:r>
          </a:p>
          <a:p>
            <a:pPr algn="just" defTabSz="1219170">
              <a:buClr>
                <a:srgbClr val="000000"/>
              </a:buClr>
            </a:pPr>
            <a:r>
              <a:rPr lang="en-IN" sz="1867" kern="0" dirty="0">
                <a:solidFill>
                  <a:srgbClr val="000000"/>
                </a:solidFill>
                <a:latin typeface="Bookman Old Style" panose="02050604050505020204" pitchFamily="18" charset="0"/>
                <a:cs typeface="Arial"/>
                <a:sym typeface="Arial"/>
              </a:rPr>
              <a:t>The robot end gripper is a spray coating gun which sprays the paint or coat on the work surface uniformly. The motion sequence must be smooth with continuous path control. Spray coating robots are used in coating of the exterior and interior parts of a car, spray staining of wood furniture for carousel presentation, applying stain to textiles (like Jeans material), spraying porcelain coating on bathroom fixtures, etc.</a:t>
            </a:r>
          </a:p>
          <a:p>
            <a:pPr defTabSz="1219170">
              <a:buClr>
                <a:srgbClr val="000000"/>
              </a:buClr>
            </a:pPr>
            <a:r>
              <a:rPr lang="en-IN" sz="1867" b="1" kern="0" dirty="0">
                <a:solidFill>
                  <a:srgbClr val="000000"/>
                </a:solidFill>
                <a:latin typeface="Bookman Old Style" panose="02050604050505020204" pitchFamily="18" charset="0"/>
                <a:cs typeface="Arial"/>
                <a:sym typeface="Arial"/>
              </a:rPr>
              <a:t>Benefits of spray coating robot includes:</a:t>
            </a:r>
          </a:p>
          <a:p>
            <a:pPr defTabSz="1219170">
              <a:buClr>
                <a:srgbClr val="000000"/>
              </a:buClr>
            </a:pPr>
            <a:r>
              <a:rPr lang="en-IN" sz="1867" kern="0" dirty="0">
                <a:solidFill>
                  <a:srgbClr val="000000"/>
                </a:solidFill>
                <a:latin typeface="Bookman Old Style" panose="02050604050505020204" pitchFamily="18" charset="0"/>
                <a:cs typeface="Arial"/>
                <a:sym typeface="Arial"/>
              </a:rPr>
              <a:t>1. Protecting human operators from hazardous coating environments</a:t>
            </a:r>
          </a:p>
          <a:p>
            <a:pPr defTabSz="1219170">
              <a:buClr>
                <a:srgbClr val="000000"/>
              </a:buClr>
            </a:pPr>
            <a:r>
              <a:rPr lang="en-IN" sz="1867" kern="0" dirty="0">
                <a:solidFill>
                  <a:srgbClr val="000000"/>
                </a:solidFill>
                <a:latin typeface="Bookman Old Style" panose="02050604050505020204" pitchFamily="18" charset="0"/>
                <a:cs typeface="Arial"/>
                <a:sym typeface="Arial"/>
              </a:rPr>
              <a:t>2. Consistency across coated parts is high</a:t>
            </a:r>
          </a:p>
          <a:p>
            <a:pPr defTabSz="1219170">
              <a:buClr>
                <a:srgbClr val="000000"/>
              </a:buClr>
            </a:pPr>
            <a:r>
              <a:rPr lang="en-IN" sz="1867" kern="0" dirty="0">
                <a:solidFill>
                  <a:srgbClr val="000000"/>
                </a:solidFill>
                <a:latin typeface="Bookman Old Style" panose="02050604050505020204" pitchFamily="18" charset="0"/>
                <a:cs typeface="Arial"/>
                <a:sym typeface="Arial"/>
              </a:rPr>
              <a:t>3. Better productivity</a:t>
            </a:r>
          </a:p>
          <a:p>
            <a:pPr defTabSz="1219170">
              <a:buClr>
                <a:srgbClr val="000000"/>
              </a:buClr>
            </a:pPr>
            <a:r>
              <a:rPr lang="en-IN" sz="1867" kern="0" dirty="0">
                <a:solidFill>
                  <a:srgbClr val="000000"/>
                </a:solidFill>
                <a:latin typeface="Bookman Old Style" panose="02050604050505020204" pitchFamily="18" charset="0"/>
                <a:cs typeface="Arial"/>
                <a:sym typeface="Arial"/>
              </a:rPr>
              <a:t>4. Uniform coating on the coated surface 5. Reduced paint wastage</a:t>
            </a:r>
          </a:p>
        </p:txBody>
      </p:sp>
    </p:spTree>
    <p:extLst>
      <p:ext uri="{BB962C8B-B14F-4D97-AF65-F5344CB8AC3E}">
        <p14:creationId xmlns:p14="http://schemas.microsoft.com/office/powerpoint/2010/main" val="29176533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AF9EF1E0-977B-B9B0-F11F-1F67DF4FEB8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122EAD9-3960-B509-FD94-B16320A45971}"/>
              </a:ext>
            </a:extLst>
          </p:cNvPr>
          <p:cNvSpPr txBox="1"/>
          <p:nvPr/>
        </p:nvSpPr>
        <p:spPr>
          <a:xfrm>
            <a:off x="2474081" y="278482"/>
            <a:ext cx="7243835" cy="954107"/>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Applications of Robot</a:t>
            </a:r>
          </a:p>
          <a:p>
            <a:pPr algn="ctr" defTabSz="1219170">
              <a:buClr>
                <a:srgbClr val="000000"/>
              </a:buClr>
            </a:pPr>
            <a:r>
              <a:rPr lang="en-IN" sz="2400" kern="0" dirty="0">
                <a:solidFill>
                  <a:srgbClr val="0070C0"/>
                </a:solidFill>
                <a:latin typeface="Bookman Old Style" panose="02050604050505020204" pitchFamily="18" charset="0"/>
                <a:cs typeface="Arial"/>
                <a:sym typeface="Arial"/>
              </a:rPr>
              <a:t>Other Processing applications</a:t>
            </a:r>
          </a:p>
        </p:txBody>
      </p:sp>
      <p:sp>
        <p:nvSpPr>
          <p:cNvPr id="6" name="TextBox 5">
            <a:extLst>
              <a:ext uri="{FF2B5EF4-FFF2-40B4-BE49-F238E27FC236}">
                <a16:creationId xmlns:a16="http://schemas.microsoft.com/office/drawing/2014/main" id="{0D156E17-AA14-1473-86FF-4563595C57CE}"/>
              </a:ext>
            </a:extLst>
          </p:cNvPr>
          <p:cNvSpPr txBox="1"/>
          <p:nvPr/>
        </p:nvSpPr>
        <p:spPr>
          <a:xfrm>
            <a:off x="264405" y="1263367"/>
            <a:ext cx="11663191" cy="4976812"/>
          </a:xfrm>
          <a:prstGeom prst="rect">
            <a:avLst/>
          </a:prstGeom>
          <a:noFill/>
        </p:spPr>
        <p:txBody>
          <a:bodyPr wrap="square">
            <a:spAutoFit/>
          </a:bodyPr>
          <a:lstStyle/>
          <a:p>
            <a:pPr algn="just" defTabSz="1219170">
              <a:buClr>
                <a:srgbClr val="000000"/>
              </a:buClr>
            </a:pPr>
            <a:r>
              <a:rPr lang="en-IN" sz="1867" b="1" kern="0" dirty="0">
                <a:solidFill>
                  <a:srgbClr val="000000"/>
                </a:solidFill>
                <a:latin typeface="Bookman Old Style" panose="02050604050505020204" pitchFamily="18" charset="0"/>
                <a:cs typeface="Arial"/>
                <a:sym typeface="Arial"/>
              </a:rPr>
              <a:t>a. Grinding: </a:t>
            </a:r>
            <a:r>
              <a:rPr lang="en-IN" sz="1867" kern="0" dirty="0">
                <a:solidFill>
                  <a:srgbClr val="000000"/>
                </a:solidFill>
                <a:latin typeface="Bookman Old Style" panose="02050604050505020204" pitchFamily="18" charset="0"/>
                <a:cs typeface="Arial"/>
                <a:sym typeface="Arial"/>
              </a:rPr>
              <a:t>Here the end effector of the robot is the rotating spindle and the grinding wheel is mounted in the spindle chuck. The robot moves its arms relative to the workpiece and grinds the material of the workpiece. Manual grinding has problems like exposure of the operator to fast moving tiny ground particles leading to damage to the eyes and face, requirement of intensive training and grind mark patches. On the other hand, use of robots can give us the perfect grinding finish with saving of time and absence of hazards. As a connected application, robots are used to polish surfaces using a polishing wheel.</a:t>
            </a:r>
          </a:p>
          <a:p>
            <a:pPr algn="just" defTabSz="1219170">
              <a:buClr>
                <a:srgbClr val="000000"/>
              </a:buClr>
            </a:pPr>
            <a:r>
              <a:rPr lang="en-IN" sz="1867" b="1" kern="0" dirty="0">
                <a:solidFill>
                  <a:srgbClr val="000000"/>
                </a:solidFill>
                <a:latin typeface="Bookman Old Style" panose="02050604050505020204" pitchFamily="18" charset="0"/>
                <a:cs typeface="Arial"/>
                <a:sym typeface="Arial"/>
              </a:rPr>
              <a:t>b. Drilling and other machining processes: </a:t>
            </a:r>
            <a:r>
              <a:rPr lang="en-IN" sz="1867" kern="0" dirty="0">
                <a:solidFill>
                  <a:srgbClr val="000000"/>
                </a:solidFill>
                <a:latin typeface="Bookman Old Style" panose="02050604050505020204" pitchFamily="18" charset="0"/>
                <a:cs typeface="Arial"/>
                <a:sym typeface="Arial"/>
              </a:rPr>
              <a:t>The end-effector is the rotating spindle and the cutting tool is mounted in the spindle chuck. </a:t>
            </a:r>
          </a:p>
          <a:p>
            <a:pPr algn="just" defTabSz="1219170">
              <a:buClr>
                <a:srgbClr val="000000"/>
              </a:buClr>
            </a:pPr>
            <a:r>
              <a:rPr lang="en-IN" sz="1867" kern="0" dirty="0">
                <a:solidFill>
                  <a:srgbClr val="000000"/>
                </a:solidFill>
                <a:latin typeface="Bookman Old Style" panose="02050604050505020204" pitchFamily="18" charset="0"/>
                <a:cs typeface="Arial"/>
                <a:sym typeface="Arial"/>
              </a:rPr>
              <a:t>Drilling a hole manually requires significant time and effort. Using robots in drilling helps to monitor drill speed, torque, countersinking, displacement and breaking of bits. The monitoring is done by sensors on the robots.</a:t>
            </a:r>
          </a:p>
          <a:p>
            <a:pPr algn="just" defTabSz="1219170">
              <a:buClr>
                <a:srgbClr val="000000"/>
              </a:buClr>
            </a:pPr>
            <a:r>
              <a:rPr lang="en-IN" sz="1867" kern="0" dirty="0">
                <a:solidFill>
                  <a:srgbClr val="000000"/>
                </a:solidFill>
                <a:latin typeface="Bookman Old Style" panose="02050604050505020204" pitchFamily="18" charset="0"/>
                <a:cs typeface="Arial"/>
                <a:sym typeface="Arial"/>
              </a:rPr>
              <a:t>Aerospace industry uses robotic drilling due to the precision and productivity benefits. The only challenge of using robots in drilling and other machining operations is that the robot must handle the high cutting forces during machining.</a:t>
            </a:r>
          </a:p>
          <a:p>
            <a:pPr defTabSz="1219170">
              <a:buClr>
                <a:srgbClr val="000000"/>
              </a:buClr>
            </a:pPr>
            <a:r>
              <a:rPr lang="en-IN" sz="1867" kern="0" dirty="0">
                <a:solidFill>
                  <a:srgbClr val="000000"/>
                </a:solidFill>
                <a:latin typeface="Bookman Old Style" panose="02050604050505020204" pitchFamily="18" charset="0"/>
                <a:cs typeface="Arial"/>
                <a:sym typeface="Arial"/>
              </a:rPr>
              <a:t>Robots are now used in other machining processes like routing, milling, etc. The end-effector here are spindles on which appropriate tools are mounted according to these machining processes.</a:t>
            </a:r>
          </a:p>
        </p:txBody>
      </p:sp>
    </p:spTree>
    <p:extLst>
      <p:ext uri="{BB962C8B-B14F-4D97-AF65-F5344CB8AC3E}">
        <p14:creationId xmlns:p14="http://schemas.microsoft.com/office/powerpoint/2010/main" val="27093459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E8436C3C-2F72-12A5-14EE-FAC8D74C9A5F}"/>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64AC406-4E80-A529-9832-A30961E980AF}"/>
              </a:ext>
            </a:extLst>
          </p:cNvPr>
          <p:cNvSpPr txBox="1"/>
          <p:nvPr/>
        </p:nvSpPr>
        <p:spPr>
          <a:xfrm>
            <a:off x="2474081" y="278482"/>
            <a:ext cx="7243835" cy="954107"/>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Applications of Robot</a:t>
            </a:r>
          </a:p>
          <a:p>
            <a:pPr algn="ctr" defTabSz="1219170">
              <a:buClr>
                <a:srgbClr val="000000"/>
              </a:buClr>
            </a:pPr>
            <a:r>
              <a:rPr lang="en-IN" sz="2400" kern="0" dirty="0">
                <a:solidFill>
                  <a:srgbClr val="0070C0"/>
                </a:solidFill>
                <a:latin typeface="Bookman Old Style" panose="02050604050505020204" pitchFamily="18" charset="0"/>
                <a:cs typeface="Arial"/>
                <a:sym typeface="Arial"/>
              </a:rPr>
              <a:t>Other Processing applications</a:t>
            </a:r>
          </a:p>
        </p:txBody>
      </p:sp>
      <p:sp>
        <p:nvSpPr>
          <p:cNvPr id="6" name="TextBox 5">
            <a:extLst>
              <a:ext uri="{FF2B5EF4-FFF2-40B4-BE49-F238E27FC236}">
                <a16:creationId xmlns:a16="http://schemas.microsoft.com/office/drawing/2014/main" id="{BDADBD2D-5441-BD9A-95B6-A7E92510A425}"/>
              </a:ext>
            </a:extLst>
          </p:cNvPr>
          <p:cNvSpPr txBox="1"/>
          <p:nvPr/>
        </p:nvSpPr>
        <p:spPr>
          <a:xfrm>
            <a:off x="264405" y="1263367"/>
            <a:ext cx="11663191" cy="5646289"/>
          </a:xfrm>
          <a:prstGeom prst="rect">
            <a:avLst/>
          </a:prstGeom>
          <a:noFill/>
        </p:spPr>
        <p:txBody>
          <a:bodyPr wrap="square">
            <a:spAutoFit/>
          </a:bodyPr>
          <a:lstStyle/>
          <a:p>
            <a:pPr algn="just" defTabSz="1219170">
              <a:lnSpc>
                <a:spcPct val="150000"/>
              </a:lnSpc>
              <a:buClr>
                <a:srgbClr val="000000"/>
              </a:buClr>
            </a:pPr>
            <a:r>
              <a:rPr lang="en-IN" sz="1867" b="1" kern="0" dirty="0">
                <a:solidFill>
                  <a:srgbClr val="000000"/>
                </a:solidFill>
                <a:latin typeface="Bookman Old Style" panose="02050604050505020204" pitchFamily="18" charset="0"/>
                <a:cs typeface="Arial"/>
                <a:sym typeface="Arial"/>
              </a:rPr>
              <a:t>c. Plasma Cutting: </a:t>
            </a:r>
            <a:r>
              <a:rPr lang="en-IN" sz="1867" kern="0" dirty="0">
                <a:solidFill>
                  <a:srgbClr val="000000"/>
                </a:solidFill>
                <a:latin typeface="Bookman Old Style" panose="02050604050505020204" pitchFamily="18" charset="0"/>
                <a:cs typeface="Arial"/>
                <a:sym typeface="Arial"/>
              </a:rPr>
              <a:t>Plasma cutting is a process that uses high velocity ionized gas called plasma to heat and melt metals. The plasma later blows away the molten material mechanically to cut the workpiece which is usually one inch thick. Use of robots here results in high quality cuts at faster travel speeds. The plasma torch is attached to the robot as its end-effector.</a:t>
            </a:r>
          </a:p>
          <a:p>
            <a:pPr algn="just" defTabSz="1219170">
              <a:lnSpc>
                <a:spcPct val="150000"/>
              </a:lnSpc>
              <a:buClr>
                <a:srgbClr val="000000"/>
              </a:buClr>
            </a:pPr>
            <a:r>
              <a:rPr lang="en-IN" sz="1867" b="1" kern="0" dirty="0">
                <a:solidFill>
                  <a:srgbClr val="000000"/>
                </a:solidFill>
                <a:latin typeface="Bookman Old Style" panose="02050604050505020204" pitchFamily="18" charset="0"/>
                <a:cs typeface="Arial"/>
                <a:sym typeface="Arial"/>
              </a:rPr>
              <a:t>d. Laser Cutting: </a:t>
            </a:r>
            <a:r>
              <a:rPr lang="en-IN" sz="1867" kern="0" dirty="0">
                <a:solidFill>
                  <a:srgbClr val="000000"/>
                </a:solidFill>
                <a:latin typeface="Bookman Old Style" panose="02050604050505020204" pitchFamily="18" charset="0"/>
                <a:cs typeface="Arial"/>
                <a:sym typeface="Arial"/>
              </a:rPr>
              <a:t>Laser cutting is a process that uses a high power laser through optics to cut materials. The laser tool as an end-effector is attached to the robot. The result of robotic laser cutting is precision cutting with high repeatability and accuracy. </a:t>
            </a:r>
          </a:p>
          <a:p>
            <a:pPr algn="just" defTabSz="1219170">
              <a:lnSpc>
                <a:spcPct val="150000"/>
              </a:lnSpc>
              <a:buClr>
                <a:srgbClr val="000000"/>
              </a:buClr>
            </a:pPr>
            <a:r>
              <a:rPr lang="en-IN" sz="1867" b="1" kern="0" dirty="0">
                <a:solidFill>
                  <a:srgbClr val="000000"/>
                </a:solidFill>
                <a:latin typeface="Bookman Old Style" panose="02050604050505020204" pitchFamily="18" charset="0"/>
                <a:cs typeface="Arial"/>
                <a:sym typeface="Arial"/>
              </a:rPr>
              <a:t>e. Waterjet Cutting: </a:t>
            </a:r>
            <a:r>
              <a:rPr lang="en-IN" sz="1867" kern="0" dirty="0">
                <a:solidFill>
                  <a:srgbClr val="000000"/>
                </a:solidFill>
                <a:latin typeface="Bookman Old Style" panose="02050604050505020204" pitchFamily="18" charset="0"/>
                <a:cs typeface="Arial"/>
                <a:sym typeface="Arial"/>
              </a:rPr>
              <a:t>Waterjet cutting is a process used to cut parts using a very high pressure stream of water. The nozzle ensures the high pressure of the water stream. When used with a robot, this nozzle becomes the end-effector and the arm moves in the programmed paths to achieve high quality cutting. Waterjet robots are used to cut various materials like metals, fabrics, board, plastic, etc. Waterjet robots is used in aerospace, automotive, textile, packaging and food industries. </a:t>
            </a:r>
            <a:r>
              <a:rPr lang="en-IN" sz="1867" b="1" kern="0" dirty="0">
                <a:solidFill>
                  <a:srgbClr val="000000"/>
                </a:solidFill>
                <a:latin typeface="Bookman Old Style" panose="02050604050505020204" pitchFamily="18" charset="0"/>
                <a:cs typeface="Arial"/>
                <a:sym typeface="Arial"/>
              </a:rPr>
              <a:t>f. Other applications </a:t>
            </a:r>
            <a:r>
              <a:rPr lang="en-IN" sz="1867" kern="0" dirty="0">
                <a:solidFill>
                  <a:srgbClr val="000000"/>
                </a:solidFill>
                <a:latin typeface="Bookman Old Style" panose="02050604050505020204" pitchFamily="18" charset="0"/>
                <a:cs typeface="Arial"/>
                <a:sym typeface="Arial"/>
              </a:rPr>
              <a:t>include wire brushing, deburring, fiberglass cutting, etc.</a:t>
            </a:r>
          </a:p>
        </p:txBody>
      </p:sp>
    </p:spTree>
    <p:extLst>
      <p:ext uri="{BB962C8B-B14F-4D97-AF65-F5344CB8AC3E}">
        <p14:creationId xmlns:p14="http://schemas.microsoft.com/office/powerpoint/2010/main" val="6784651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6DC33CF6-F39E-7270-CE62-C7904DED127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0496E65-9C3E-CC80-AE1B-245E957E4403}"/>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Advantages of Robot</a:t>
            </a:r>
          </a:p>
        </p:txBody>
      </p:sp>
      <p:sp>
        <p:nvSpPr>
          <p:cNvPr id="6" name="TextBox 5">
            <a:extLst>
              <a:ext uri="{FF2B5EF4-FFF2-40B4-BE49-F238E27FC236}">
                <a16:creationId xmlns:a16="http://schemas.microsoft.com/office/drawing/2014/main" id="{3CA54617-1151-4389-1251-D8BD49498D07}"/>
              </a:ext>
            </a:extLst>
          </p:cNvPr>
          <p:cNvSpPr txBox="1"/>
          <p:nvPr/>
        </p:nvSpPr>
        <p:spPr>
          <a:xfrm>
            <a:off x="264402" y="1016145"/>
            <a:ext cx="11663191" cy="5959837"/>
          </a:xfrm>
          <a:prstGeom prst="rect">
            <a:avLst/>
          </a:prstGeom>
          <a:noFill/>
        </p:spPr>
        <p:txBody>
          <a:bodyPr wrap="square">
            <a:spAutoFit/>
          </a:bodyPr>
          <a:lstStyle/>
          <a:p>
            <a:pPr defTabSz="1219170">
              <a:lnSpc>
                <a:spcPct val="150000"/>
              </a:lnSpc>
              <a:buClr>
                <a:srgbClr val="000000"/>
              </a:buClr>
            </a:pPr>
            <a:r>
              <a:rPr lang="en-IN" sz="1600" b="1" kern="0" dirty="0">
                <a:solidFill>
                  <a:srgbClr val="000000"/>
                </a:solidFill>
                <a:latin typeface="Bookman Old Style" panose="02050604050505020204" pitchFamily="18" charset="0"/>
                <a:cs typeface="Arial"/>
                <a:sym typeface="Arial"/>
              </a:rPr>
              <a:t>Following are some important advantages of using Industrial Robots:</a:t>
            </a:r>
          </a:p>
          <a:p>
            <a:pPr marL="457189" indent="-457189" algn="just" defTabSz="1219170">
              <a:lnSpc>
                <a:spcPct val="150000"/>
              </a:lnSpc>
              <a:buClr>
                <a:srgbClr val="000000"/>
              </a:buClr>
              <a:buFont typeface="Wingdings" panose="05000000000000000000" pitchFamily="2" charset="2"/>
              <a:buChar char="Ø"/>
            </a:pPr>
            <a:r>
              <a:rPr lang="en-IN" sz="1600" kern="0" dirty="0">
                <a:solidFill>
                  <a:srgbClr val="000000"/>
                </a:solidFill>
                <a:latin typeface="Bookman Old Style" panose="02050604050505020204" pitchFamily="18" charset="0"/>
                <a:cs typeface="Arial"/>
                <a:sym typeface="Arial"/>
              </a:rPr>
              <a:t>Robots can be substituted for humans to work in hazardous work environments. Example: During arc welding, in foundry environment, in powder coating environment, etc.</a:t>
            </a:r>
          </a:p>
          <a:p>
            <a:pPr marL="457189" indent="-457189" algn="just" defTabSz="1219170">
              <a:lnSpc>
                <a:spcPct val="150000"/>
              </a:lnSpc>
              <a:buClr>
                <a:srgbClr val="000000"/>
              </a:buClr>
              <a:buFont typeface="Wingdings" panose="05000000000000000000" pitchFamily="2" charset="2"/>
              <a:buChar char="Ø"/>
            </a:pPr>
            <a:r>
              <a:rPr lang="en-IN" sz="1600" kern="0" dirty="0">
                <a:solidFill>
                  <a:srgbClr val="000000"/>
                </a:solidFill>
                <a:latin typeface="Bookman Old Style" panose="02050604050505020204" pitchFamily="18" charset="0"/>
                <a:cs typeface="Arial"/>
                <a:sym typeface="Arial"/>
              </a:rPr>
              <a:t>Robots can produce greater quantity in a short span of time with consistency and accuracy that cannot be matched by humans.</a:t>
            </a:r>
          </a:p>
          <a:p>
            <a:pPr marL="457189" indent="-457189" algn="just" defTabSz="1219170">
              <a:lnSpc>
                <a:spcPct val="150000"/>
              </a:lnSpc>
              <a:buClr>
                <a:srgbClr val="000000"/>
              </a:buClr>
              <a:buFont typeface="Wingdings" panose="05000000000000000000" pitchFamily="2" charset="2"/>
              <a:buChar char="Ø"/>
            </a:pPr>
            <a:r>
              <a:rPr lang="en-IN" sz="1600" kern="0" dirty="0">
                <a:solidFill>
                  <a:srgbClr val="000000"/>
                </a:solidFill>
                <a:latin typeface="Bookman Old Style" panose="02050604050505020204" pitchFamily="18" charset="0"/>
                <a:cs typeface="Arial"/>
                <a:sym typeface="Arial"/>
              </a:rPr>
              <a:t>Robots can work at constant speeds without any break which is not possible by humans. </a:t>
            </a:r>
          </a:p>
          <a:p>
            <a:pPr marL="457189" indent="-457189" algn="just" defTabSz="1219170">
              <a:lnSpc>
                <a:spcPct val="150000"/>
              </a:lnSpc>
              <a:buClr>
                <a:srgbClr val="000000"/>
              </a:buClr>
              <a:buFont typeface="Wingdings" panose="05000000000000000000" pitchFamily="2" charset="2"/>
              <a:buChar char="Ø"/>
            </a:pPr>
            <a:r>
              <a:rPr lang="en-IN" sz="1600" kern="0" dirty="0">
                <a:solidFill>
                  <a:srgbClr val="000000"/>
                </a:solidFill>
                <a:latin typeface="Bookman Old Style" panose="02050604050505020204" pitchFamily="18" charset="0"/>
                <a:cs typeface="Arial"/>
                <a:sym typeface="Arial"/>
              </a:rPr>
              <a:t>Robots are capable of lifting heavy loads without getting tired or injured.</a:t>
            </a:r>
          </a:p>
          <a:p>
            <a:pPr marL="457189" indent="-457189" algn="just" defTabSz="1219170">
              <a:lnSpc>
                <a:spcPct val="150000"/>
              </a:lnSpc>
              <a:buClr>
                <a:srgbClr val="000000"/>
              </a:buClr>
              <a:buFont typeface="Wingdings" panose="05000000000000000000" pitchFamily="2" charset="2"/>
              <a:buChar char="Ø"/>
            </a:pPr>
            <a:r>
              <a:rPr lang="en-IN" sz="1600" kern="0" dirty="0">
                <a:solidFill>
                  <a:srgbClr val="000000"/>
                </a:solidFill>
                <a:latin typeface="Bookman Old Style" panose="02050604050505020204" pitchFamily="18" charset="0"/>
                <a:cs typeface="Arial"/>
                <a:sym typeface="Arial"/>
              </a:rPr>
              <a:t>Robots can work in tight spaces where human reach is not possible.</a:t>
            </a:r>
          </a:p>
          <a:p>
            <a:pPr marL="457189" indent="-457189" algn="just" defTabSz="1219170">
              <a:lnSpc>
                <a:spcPct val="150000"/>
              </a:lnSpc>
              <a:buClr>
                <a:srgbClr val="000000"/>
              </a:buClr>
              <a:buFont typeface="Wingdings" panose="05000000000000000000" pitchFamily="2" charset="2"/>
              <a:buChar char="Ø"/>
            </a:pPr>
            <a:r>
              <a:rPr lang="en-IN" sz="1600" kern="0" dirty="0">
                <a:solidFill>
                  <a:srgbClr val="000000"/>
                </a:solidFill>
                <a:latin typeface="Bookman Old Style" panose="02050604050505020204" pitchFamily="18" charset="0"/>
                <a:cs typeface="Arial"/>
                <a:sym typeface="Arial"/>
              </a:rPr>
              <a:t>Robots can be re-programmed with changed tooling to take up a different task after the end of a batch or a production run. In such cases, robots are better than fixed automation. </a:t>
            </a:r>
          </a:p>
          <a:p>
            <a:pPr marL="457189" indent="-457189" algn="just" defTabSz="1219170">
              <a:lnSpc>
                <a:spcPct val="150000"/>
              </a:lnSpc>
              <a:buClr>
                <a:srgbClr val="000000"/>
              </a:buClr>
              <a:buFont typeface="Wingdings" panose="05000000000000000000" pitchFamily="2" charset="2"/>
              <a:buChar char="Ø"/>
            </a:pPr>
            <a:r>
              <a:rPr lang="en-IN" sz="1600" kern="0" dirty="0">
                <a:solidFill>
                  <a:srgbClr val="000000"/>
                </a:solidFill>
                <a:latin typeface="Bookman Old Style" panose="02050604050505020204" pitchFamily="18" charset="0"/>
                <a:cs typeface="Arial"/>
                <a:sym typeface="Arial"/>
              </a:rPr>
              <a:t>Accidents at the workplace is avoided since robots perform the risky jobs which were otherwise done by humans.</a:t>
            </a:r>
          </a:p>
          <a:p>
            <a:pPr marL="457189" indent="-457189" algn="just" defTabSz="1219170">
              <a:lnSpc>
                <a:spcPct val="150000"/>
              </a:lnSpc>
              <a:buClr>
                <a:srgbClr val="000000"/>
              </a:buClr>
              <a:buFont typeface="Wingdings" panose="05000000000000000000" pitchFamily="2" charset="2"/>
              <a:buChar char="Ø"/>
            </a:pPr>
            <a:r>
              <a:rPr lang="en-IN" sz="1600" kern="0" dirty="0">
                <a:solidFill>
                  <a:srgbClr val="000000"/>
                </a:solidFill>
                <a:latin typeface="Bookman Old Style" panose="02050604050505020204" pitchFamily="18" charset="0"/>
                <a:cs typeface="Arial"/>
                <a:sym typeface="Arial"/>
              </a:rPr>
              <a:t>Since Robots are controlled by computers, they can be integrated to other computer systems to realize Computer Integrated Manufacturing (CIM)</a:t>
            </a:r>
          </a:p>
          <a:p>
            <a:pPr marL="457189" indent="-457189" algn="just" defTabSz="1219170">
              <a:lnSpc>
                <a:spcPct val="150000"/>
              </a:lnSpc>
              <a:buClr>
                <a:srgbClr val="000000"/>
              </a:buClr>
              <a:buFont typeface="Wingdings" panose="05000000000000000000" pitchFamily="2" charset="2"/>
              <a:buChar char="Ø"/>
            </a:pPr>
            <a:r>
              <a:rPr lang="en-IN" sz="1600" kern="0" dirty="0">
                <a:solidFill>
                  <a:srgbClr val="000000"/>
                </a:solidFill>
                <a:latin typeface="Bookman Old Style" panose="02050604050505020204" pitchFamily="18" charset="0"/>
                <a:cs typeface="Arial"/>
                <a:sym typeface="Arial"/>
              </a:rPr>
              <a:t>The usage of robots produces lesser or no defective parts and hence saves time of rework and money to the organization.</a:t>
            </a:r>
          </a:p>
        </p:txBody>
      </p:sp>
    </p:spTree>
    <p:extLst>
      <p:ext uri="{BB962C8B-B14F-4D97-AF65-F5344CB8AC3E}">
        <p14:creationId xmlns:p14="http://schemas.microsoft.com/office/powerpoint/2010/main" val="36018437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7">
          <a:extLst>
            <a:ext uri="{FF2B5EF4-FFF2-40B4-BE49-F238E27FC236}">
              <a16:creationId xmlns:a16="http://schemas.microsoft.com/office/drawing/2014/main" id="{066226F3-FDC8-DC2A-7647-6A92EAED41D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F59E25F-640B-7A1C-60D6-DBC44A37D405}"/>
              </a:ext>
            </a:extLst>
          </p:cNvPr>
          <p:cNvSpPr txBox="1"/>
          <p:nvPr/>
        </p:nvSpPr>
        <p:spPr>
          <a:xfrm>
            <a:off x="2474081" y="431370"/>
            <a:ext cx="7243835" cy="584775"/>
          </a:xfrm>
          <a:prstGeom prst="rect">
            <a:avLst/>
          </a:prstGeom>
          <a:noFill/>
        </p:spPr>
        <p:txBody>
          <a:bodyPr wrap="square">
            <a:spAutoFit/>
          </a:bodyPr>
          <a:lstStyle/>
          <a:p>
            <a:pPr algn="ctr" defTabSz="1219170">
              <a:buClr>
                <a:srgbClr val="000000"/>
              </a:buClr>
            </a:pPr>
            <a:r>
              <a:rPr lang="en-US" altLang="en-US" sz="3200" b="1" kern="0" dirty="0">
                <a:solidFill>
                  <a:srgbClr val="0070C0"/>
                </a:solidFill>
                <a:latin typeface="Bookman Old Style" panose="02050604050505020204" pitchFamily="18" charset="0"/>
                <a:cs typeface="Arial"/>
                <a:sym typeface="Arial"/>
              </a:rPr>
              <a:t>Disadvantages of Robot</a:t>
            </a:r>
          </a:p>
        </p:txBody>
      </p:sp>
      <p:sp>
        <p:nvSpPr>
          <p:cNvPr id="6" name="TextBox 5">
            <a:extLst>
              <a:ext uri="{FF2B5EF4-FFF2-40B4-BE49-F238E27FC236}">
                <a16:creationId xmlns:a16="http://schemas.microsoft.com/office/drawing/2014/main" id="{C51ECEF8-D4EF-F580-EEF9-8F92B40A56D5}"/>
              </a:ext>
            </a:extLst>
          </p:cNvPr>
          <p:cNvSpPr txBox="1"/>
          <p:nvPr/>
        </p:nvSpPr>
        <p:spPr>
          <a:xfrm>
            <a:off x="409290" y="1230213"/>
            <a:ext cx="11373415" cy="5452839"/>
          </a:xfrm>
          <a:prstGeom prst="rect">
            <a:avLst/>
          </a:prstGeom>
          <a:noFill/>
        </p:spPr>
        <p:txBody>
          <a:bodyPr wrap="square">
            <a:spAutoFit/>
          </a:bodyPr>
          <a:lstStyle/>
          <a:p>
            <a:pPr algn="just" defTabSz="1219170">
              <a:lnSpc>
                <a:spcPct val="150000"/>
              </a:lnSpc>
              <a:buClr>
                <a:srgbClr val="000000"/>
              </a:buClr>
            </a:pPr>
            <a:r>
              <a:rPr lang="en-IN" sz="2133" b="1" kern="0" dirty="0">
                <a:solidFill>
                  <a:srgbClr val="000000"/>
                </a:solidFill>
                <a:latin typeface="Bookman Old Style" panose="02050604050505020204" pitchFamily="18" charset="0"/>
                <a:cs typeface="Arial"/>
                <a:sym typeface="Arial"/>
              </a:rPr>
              <a:t>Following are some disadvantages of using Industrial Robots:</a:t>
            </a:r>
          </a:p>
          <a:p>
            <a:pPr marL="380990" indent="-380990" algn="just" defTabSz="1219170">
              <a:lnSpc>
                <a:spcPct val="150000"/>
              </a:lnSpc>
              <a:buClr>
                <a:srgbClr val="000000"/>
              </a:buClr>
              <a:buFont typeface="Wingdings" panose="05000000000000000000" pitchFamily="2" charset="2"/>
              <a:buChar char="Ø"/>
            </a:pPr>
            <a:r>
              <a:rPr lang="en-IN" sz="2133" kern="0" dirty="0">
                <a:solidFill>
                  <a:srgbClr val="000000"/>
                </a:solidFill>
                <a:latin typeface="Bookman Old Style" panose="02050604050505020204" pitchFamily="18" charset="0"/>
                <a:cs typeface="Arial"/>
                <a:sym typeface="Arial"/>
              </a:rPr>
              <a:t>Organizations have to make huge investments to introduce robots at their workplaces.</a:t>
            </a:r>
          </a:p>
          <a:p>
            <a:pPr marL="380990" indent="-380990" algn="just" defTabSz="1219170">
              <a:lnSpc>
                <a:spcPct val="150000"/>
              </a:lnSpc>
              <a:buClr>
                <a:srgbClr val="000000"/>
              </a:buClr>
              <a:buFont typeface="Wingdings" panose="05000000000000000000" pitchFamily="2" charset="2"/>
              <a:buChar char="Ø"/>
            </a:pPr>
            <a:r>
              <a:rPr lang="en-IN" sz="2133" kern="0" dirty="0">
                <a:solidFill>
                  <a:srgbClr val="000000"/>
                </a:solidFill>
                <a:latin typeface="Bookman Old Style" panose="02050604050505020204" pitchFamily="18" charset="0"/>
                <a:cs typeface="Arial"/>
                <a:sym typeface="Arial"/>
              </a:rPr>
              <a:t>Since parts of a robot are made very precisely, their replacement is very difficult and to maintain, it costs huge amount of money.</a:t>
            </a:r>
          </a:p>
          <a:p>
            <a:pPr marL="380990" indent="-380990" algn="just" defTabSz="1219170">
              <a:lnSpc>
                <a:spcPct val="150000"/>
              </a:lnSpc>
              <a:buClr>
                <a:srgbClr val="000000"/>
              </a:buClr>
              <a:buFont typeface="Wingdings" panose="05000000000000000000" pitchFamily="2" charset="2"/>
              <a:buChar char="Ø"/>
            </a:pPr>
            <a:r>
              <a:rPr lang="en-IN" sz="2133" kern="0" dirty="0">
                <a:solidFill>
                  <a:srgbClr val="000000"/>
                </a:solidFill>
                <a:latin typeface="Bookman Old Style" panose="02050604050505020204" pitchFamily="18" charset="0"/>
                <a:cs typeface="Arial"/>
                <a:sym typeface="Arial"/>
              </a:rPr>
              <a:t>To program and setup the robotic systems and robots, and to avoid unnecessary future problems and mishaps, it requires highly skilled technical engineers and programmers which again is a significant cost for the organization.</a:t>
            </a:r>
          </a:p>
          <a:p>
            <a:pPr marL="380990" indent="-380990" algn="just" defTabSz="1219170">
              <a:lnSpc>
                <a:spcPct val="150000"/>
              </a:lnSpc>
              <a:buClr>
                <a:srgbClr val="000000"/>
              </a:buClr>
              <a:buFont typeface="Wingdings" panose="05000000000000000000" pitchFamily="2" charset="2"/>
              <a:buChar char="Ø"/>
            </a:pPr>
            <a:r>
              <a:rPr lang="en-IN" sz="2133" kern="0" dirty="0">
                <a:solidFill>
                  <a:srgbClr val="000000"/>
                </a:solidFill>
                <a:latin typeface="Bookman Old Style" panose="02050604050505020204" pitchFamily="18" charset="0"/>
                <a:cs typeface="Arial"/>
                <a:sym typeface="Arial"/>
              </a:rPr>
              <a:t>Unless the level of the artificial intelligence is highly sophisticated, robots may not be able to respond properly during times of emergency, during times of accidents or when an unexpected variance occurs.</a:t>
            </a:r>
          </a:p>
        </p:txBody>
      </p:sp>
    </p:spTree>
    <p:extLst>
      <p:ext uri="{BB962C8B-B14F-4D97-AF65-F5344CB8AC3E}">
        <p14:creationId xmlns:p14="http://schemas.microsoft.com/office/powerpoint/2010/main" val="1866046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14875</TotalTime>
  <Words>8729</Words>
  <Application>Microsoft Office PowerPoint</Application>
  <PresentationFormat>Widescreen</PresentationFormat>
  <Paragraphs>579</Paragraphs>
  <Slides>84</Slides>
  <Notes>75</Notes>
  <HiddenSlides>0</HiddenSlides>
  <MMClips>2</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84</vt:i4>
      </vt:variant>
    </vt:vector>
  </HeadingPairs>
  <TitlesOfParts>
    <vt:vector size="96" baseType="lpstr">
      <vt:lpstr>MS PGothic</vt:lpstr>
      <vt:lpstr>Andalus</vt:lpstr>
      <vt:lpstr>Arial</vt:lpstr>
      <vt:lpstr>Bookman Old Style</vt:lpstr>
      <vt:lpstr>Calibri</vt:lpstr>
      <vt:lpstr>Calibri Light</vt:lpstr>
      <vt:lpstr>Playfair Display</vt:lpstr>
      <vt:lpstr>Roboto regular</vt:lpstr>
      <vt:lpstr>Times New Roman</vt:lpstr>
      <vt:lpstr>Wingdings</vt:lpstr>
      <vt:lpstr>Office Theme</vt:lpstr>
      <vt:lpstr>Simple Light</vt:lpstr>
      <vt:lpstr>Unit -5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Mamtha V</cp:lastModifiedBy>
  <cp:revision>997</cp:revision>
  <cp:lastPrinted>2024-02-20T07:16:26Z</cp:lastPrinted>
  <dcterms:created xsi:type="dcterms:W3CDTF">2021-06-02T13:10:21Z</dcterms:created>
  <dcterms:modified xsi:type="dcterms:W3CDTF">2024-12-30T07:39:37Z</dcterms:modified>
</cp:coreProperties>
</file>