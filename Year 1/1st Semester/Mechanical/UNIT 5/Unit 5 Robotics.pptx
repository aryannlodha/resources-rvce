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3" r:id="rId3"/>
    <p:sldId id="287" r:id="rId4"/>
    <p:sldId id="257" r:id="rId5"/>
    <p:sldId id="258" r:id="rId6"/>
    <p:sldId id="259" r:id="rId7"/>
    <p:sldId id="260" r:id="rId8"/>
    <p:sldId id="284" r:id="rId9"/>
    <p:sldId id="285" r:id="rId10"/>
    <p:sldId id="286" r:id="rId11"/>
    <p:sldId id="263" r:id="rId12"/>
    <p:sldId id="264" r:id="rId13"/>
    <p:sldId id="288" r:id="rId14"/>
    <p:sldId id="289" r:id="rId15"/>
    <p:sldId id="290" r:id="rId16"/>
    <p:sldId id="291" r:id="rId17"/>
    <p:sldId id="292" r:id="rId18"/>
    <p:sldId id="293" r:id="rId19"/>
    <p:sldId id="294" r:id="rId20"/>
    <p:sldId id="295" r:id="rId21"/>
    <p:sldId id="268" r:id="rId22"/>
    <p:sldId id="296" r:id="rId23"/>
    <p:sldId id="269" r:id="rId24"/>
    <p:sldId id="297" r:id="rId25"/>
    <p:sldId id="298" r:id="rId26"/>
    <p:sldId id="299" r:id="rId27"/>
    <p:sldId id="300" r:id="rId28"/>
    <p:sldId id="301" r:id="rId29"/>
    <p:sldId id="271" r:id="rId30"/>
    <p:sldId id="272" r:id="rId31"/>
    <p:sldId id="273" r:id="rId32"/>
    <p:sldId id="302" r:id="rId33"/>
    <p:sldId id="303" r:id="rId34"/>
    <p:sldId id="304" r:id="rId35"/>
    <p:sldId id="305" r:id="rId36"/>
    <p:sldId id="274" r:id="rId37"/>
    <p:sldId id="275" r:id="rId38"/>
    <p:sldId id="276" r:id="rId39"/>
    <p:sldId id="277" r:id="rId40"/>
    <p:sldId id="278" r:id="rId41"/>
    <p:sldId id="279" r:id="rId42"/>
    <p:sldId id="306" r:id="rId43"/>
    <p:sldId id="280" r:id="rId44"/>
    <p:sldId id="281" r:id="rId45"/>
    <p:sldId id="307" r:id="rId46"/>
    <p:sldId id="308" r:id="rId47"/>
    <p:sldId id="309" r:id="rId48"/>
    <p:sldId id="310" r:id="rId49"/>
    <p:sldId id="311" r:id="rId50"/>
    <p:sldId id="312"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 to Robots</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Definition of a Robot</a:t>
            </a:r>
          </a:p>
          <a:p>
            <a:r>
              <a:rPr lang="en-US" dirty="0">
                <a:latin typeface="Times New Roman" panose="02020603050405020304" pitchFamily="18" charset="0"/>
                <a:cs typeface="Times New Roman" panose="02020603050405020304" pitchFamily="18" charset="0"/>
              </a:rPr>
              <a:t>"A reprogrammable, multifunctional manipulator designed to move material, parts, tools, or specialized devices through various programmed motions for the performance of a variety of tasks" .</a:t>
            </a:r>
          </a:p>
          <a:p>
            <a:pPr marL="0" indent="0">
              <a:buNone/>
            </a:pPr>
            <a:r>
              <a:rPr lang="en-US" dirty="0">
                <a:latin typeface="Times New Roman" panose="02020603050405020304" pitchFamily="18" charset="0"/>
                <a:cs typeface="Times New Roman" panose="02020603050405020304" pitchFamily="18" charset="0"/>
              </a:rPr>
              <a:t>Or a simpler version</a:t>
            </a:r>
          </a:p>
          <a:p>
            <a:r>
              <a:rPr lang="en-US" dirty="0">
                <a:latin typeface="Times New Roman" panose="02020603050405020304" pitchFamily="18" charset="0"/>
                <a:cs typeface="Times New Roman" panose="02020603050405020304" pitchFamily="18" charset="0"/>
              </a:rPr>
              <a:t>An automatic device that performs functions normally ascribed to humans or a machine in the form of a human.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42F73-256E-8D58-8C28-F82DA0E83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D15AF-C603-2B54-4290-92FC265FA37F}"/>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 to Robots</a:t>
            </a:r>
          </a:p>
        </p:txBody>
      </p:sp>
      <p:sp>
        <p:nvSpPr>
          <p:cNvPr id="3" name="Content Placeholder 2">
            <a:extLst>
              <a:ext uri="{FF2B5EF4-FFF2-40B4-BE49-F238E27FC236}">
                <a16:creationId xmlns:a16="http://schemas.microsoft.com/office/drawing/2014/main" id="{F6378A11-C149-02D4-31B4-A73475538354}"/>
              </a:ext>
            </a:extLst>
          </p:cNvPr>
          <p:cNvSpPr>
            <a:spLocks noGrp="1"/>
          </p:cNvSpPr>
          <p:nvPr>
            <p:ph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A general-purpose, programmable machine possessing certain anthropomorphic characteristics</a:t>
            </a:r>
          </a:p>
          <a:p>
            <a:r>
              <a:rPr lang="en-US" dirty="0">
                <a:latin typeface="Times New Roman" panose="02020603050405020304" pitchFamily="18" charset="0"/>
                <a:cs typeface="Times New Roman" panose="02020603050405020304" pitchFamily="18" charset="0"/>
              </a:rPr>
              <a:t>Hazardous work environments</a:t>
            </a:r>
          </a:p>
          <a:p>
            <a:r>
              <a:rPr lang="en-US" dirty="0">
                <a:latin typeface="Times New Roman" panose="02020603050405020304" pitchFamily="18" charset="0"/>
                <a:cs typeface="Times New Roman" panose="02020603050405020304" pitchFamily="18" charset="0"/>
              </a:rPr>
              <a:t>Repetitive work cycle</a:t>
            </a:r>
          </a:p>
          <a:p>
            <a:r>
              <a:rPr lang="en-US" dirty="0">
                <a:latin typeface="Times New Roman" panose="02020603050405020304" pitchFamily="18" charset="0"/>
                <a:cs typeface="Times New Roman" panose="02020603050405020304" pitchFamily="18" charset="0"/>
              </a:rPr>
              <a:t>Consistency and accuracy</a:t>
            </a:r>
          </a:p>
          <a:p>
            <a:r>
              <a:rPr lang="en-US" dirty="0">
                <a:latin typeface="Times New Roman" panose="02020603050405020304" pitchFamily="18" charset="0"/>
                <a:cs typeface="Times New Roman" panose="02020603050405020304" pitchFamily="18" charset="0"/>
              </a:rPr>
              <a:t>Difficult handling task for humans</a:t>
            </a:r>
          </a:p>
          <a:p>
            <a:r>
              <a:rPr lang="en-US" dirty="0">
                <a:latin typeface="Times New Roman" panose="02020603050405020304" pitchFamily="18" charset="0"/>
                <a:cs typeface="Times New Roman" panose="02020603050405020304" pitchFamily="18" charset="0"/>
              </a:rPr>
              <a:t>Multi shift operations</a:t>
            </a:r>
          </a:p>
          <a:p>
            <a:r>
              <a:rPr lang="en-US" dirty="0">
                <a:latin typeface="Times New Roman" panose="02020603050405020304" pitchFamily="18" charset="0"/>
                <a:cs typeface="Times New Roman" panose="02020603050405020304" pitchFamily="18" charset="0"/>
              </a:rPr>
              <a:t>Reprogrammable, flexible</a:t>
            </a:r>
          </a:p>
          <a:p>
            <a:r>
              <a:rPr lang="en-US" dirty="0">
                <a:latin typeface="Times New Roman" panose="02020603050405020304" pitchFamily="18" charset="0"/>
                <a:cs typeface="Times New Roman" panose="02020603050405020304" pitchFamily="18" charset="0"/>
              </a:rPr>
              <a:t>Interfaced to other computer systems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71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E596D-B27A-405C-2A97-9A92744C2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5C517-4496-A79A-AB42-50D7E4073CDA}"/>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 to Robots</a:t>
            </a:r>
          </a:p>
        </p:txBody>
      </p:sp>
      <p:sp>
        <p:nvSpPr>
          <p:cNvPr id="3" name="Content Placeholder 2">
            <a:extLst>
              <a:ext uri="{FF2B5EF4-FFF2-40B4-BE49-F238E27FC236}">
                <a16:creationId xmlns:a16="http://schemas.microsoft.com/office/drawing/2014/main" id="{EAB5C1D5-77B3-6E7E-44AC-34D4C5EE401F}"/>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Specifications of robotics</a:t>
            </a:r>
          </a:p>
          <a:p>
            <a:r>
              <a:rPr lang="en-US" dirty="0">
                <a:latin typeface="Times New Roman" panose="02020603050405020304" pitchFamily="18" charset="0"/>
                <a:cs typeface="Times New Roman" panose="02020603050405020304" pitchFamily="18" charset="0"/>
              </a:rPr>
              <a:t>Axis of motion</a:t>
            </a:r>
          </a:p>
          <a:p>
            <a:r>
              <a:rPr lang="en-US" dirty="0">
                <a:latin typeface="Times New Roman" panose="02020603050405020304" pitchFamily="18" charset="0"/>
                <a:cs typeface="Times New Roman" panose="02020603050405020304" pitchFamily="18" charset="0"/>
              </a:rPr>
              <a:t>Work stations</a:t>
            </a:r>
          </a:p>
          <a:p>
            <a:r>
              <a:rPr lang="en-US" dirty="0">
                <a:latin typeface="Times New Roman" panose="02020603050405020304" pitchFamily="18" charset="0"/>
                <a:cs typeface="Times New Roman" panose="02020603050405020304" pitchFamily="18" charset="0"/>
              </a:rPr>
              <a:t>Speed</a:t>
            </a:r>
          </a:p>
          <a:p>
            <a:r>
              <a:rPr lang="en-US" dirty="0">
                <a:latin typeface="Times New Roman" panose="02020603050405020304" pitchFamily="18" charset="0"/>
                <a:cs typeface="Times New Roman" panose="02020603050405020304" pitchFamily="18" charset="0"/>
              </a:rPr>
              <a:t>Acceleration</a:t>
            </a:r>
          </a:p>
          <a:p>
            <a:r>
              <a:rPr lang="en-US" dirty="0">
                <a:latin typeface="Times New Roman" panose="02020603050405020304" pitchFamily="18" charset="0"/>
                <a:cs typeface="Times New Roman" panose="02020603050405020304" pitchFamily="18" charset="0"/>
              </a:rPr>
              <a:t>Pay load capacity</a:t>
            </a:r>
          </a:p>
          <a:p>
            <a:r>
              <a:rPr lang="en-US" dirty="0">
                <a:latin typeface="Times New Roman" panose="02020603050405020304" pitchFamily="18" charset="0"/>
                <a:cs typeface="Times New Roman" panose="02020603050405020304" pitchFamily="18" charset="0"/>
              </a:rPr>
              <a:t>Accuracy</a:t>
            </a:r>
          </a:p>
          <a:p>
            <a:r>
              <a:rPr lang="en-US" dirty="0">
                <a:latin typeface="Times New Roman" panose="02020603050405020304" pitchFamily="18" charset="0"/>
                <a:cs typeface="Times New Roman" panose="02020603050405020304" pitchFamily="18" charset="0"/>
              </a:rPr>
              <a:t>Repeatability</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5961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 to Robots</a:t>
            </a:r>
          </a:p>
        </p:txBody>
      </p:sp>
      <p:sp>
        <p:nvSpPr>
          <p:cNvPr id="3" name="Content Placeholder 2"/>
          <p:cNvSpPr>
            <a:spLocks noGrp="1"/>
          </p:cNvSpPr>
          <p:nvPr>
            <p:ph idx="1"/>
          </p:nvPr>
        </p:nvSpPr>
        <p:spPr>
          <a:xfrm>
            <a:off x="457200" y="1166018"/>
            <a:ext cx="8229600" cy="5219792"/>
          </a:xfrm>
        </p:spPr>
        <p:txBody>
          <a:bodyPr>
            <a:normAutofit fontScale="92500"/>
          </a:bodyPr>
          <a:lstStyle/>
          <a:p>
            <a:pPr marL="0" indent="0">
              <a:buNone/>
            </a:pPr>
            <a:r>
              <a:rPr sz="2400" b="1" dirty="0">
                <a:latin typeface="Times New Roman" panose="02020603050405020304" pitchFamily="18" charset="0"/>
                <a:cs typeface="Times New Roman" panose="02020603050405020304" pitchFamily="18" charset="0"/>
              </a:rPr>
              <a:t>Historical Evolution</a:t>
            </a:r>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Early Mechanical Automatons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Ancient Greeks and Egyptians built mechanical devices resembling humans and animals for entertainment and religious purposes.</a:t>
            </a:r>
          </a:p>
          <a:p>
            <a:r>
              <a:rPr lang="en-US" sz="2400" b="1" dirty="0">
                <a:latin typeface="Times New Roman" panose="02020603050405020304" pitchFamily="18" charset="0"/>
                <a:cs typeface="Times New Roman" panose="02020603050405020304" pitchFamily="18" charset="0"/>
              </a:rPr>
              <a:t>Industrial Revolution (18th-19th Century):</a:t>
            </a:r>
          </a:p>
          <a:p>
            <a:pPr marL="0" indent="0">
              <a:buNone/>
            </a:pPr>
            <a:r>
              <a:rPr lang="en-US" sz="2400" dirty="0">
                <a:latin typeface="Times New Roman" panose="02020603050405020304" pitchFamily="18" charset="0"/>
                <a:cs typeface="Times New Roman" panose="02020603050405020304" pitchFamily="18" charset="0"/>
              </a:rPr>
              <a:t>Introduction of mechanical machines powered by steam, later electricity, for manufacturing.</a:t>
            </a:r>
          </a:p>
          <a:p>
            <a:r>
              <a:rPr lang="en-US" sz="2400" b="1" dirty="0">
                <a:latin typeface="Times New Roman" panose="02020603050405020304" pitchFamily="18" charset="0"/>
                <a:cs typeface="Times New Roman" panose="02020603050405020304" pitchFamily="18" charset="0"/>
              </a:rPr>
              <a:t>20th Century Developments:</a:t>
            </a:r>
          </a:p>
          <a:p>
            <a:pPr marL="0" indent="0">
              <a:buNone/>
            </a:pPr>
            <a:r>
              <a:rPr lang="en-US" sz="2400" dirty="0">
                <a:latin typeface="Times New Roman" panose="02020603050405020304" pitchFamily="18" charset="0"/>
                <a:cs typeface="Times New Roman" panose="02020603050405020304" pitchFamily="18" charset="0"/>
              </a:rPr>
              <a:t>Invention of programmable robots for assembly lines (e.g., </a:t>
            </a:r>
            <a:r>
              <a:rPr lang="en-US" sz="2400" dirty="0" err="1">
                <a:latin typeface="Times New Roman" panose="02020603050405020304" pitchFamily="18" charset="0"/>
                <a:cs typeface="Times New Roman" panose="02020603050405020304" pitchFamily="18" charset="0"/>
              </a:rPr>
              <a:t>Unimate</a:t>
            </a:r>
            <a:r>
              <a:rPr lang="en-US" sz="2400" dirty="0">
                <a:latin typeface="Times New Roman" panose="02020603050405020304" pitchFamily="18" charset="0"/>
                <a:cs typeface="Times New Roman" panose="02020603050405020304" pitchFamily="18" charset="0"/>
              </a:rPr>
              <a:t> in 1961).</a:t>
            </a:r>
          </a:p>
          <a:p>
            <a:r>
              <a:rPr lang="en-US" sz="2400" b="1" dirty="0">
                <a:latin typeface="Times New Roman" panose="02020603050405020304" pitchFamily="18" charset="0"/>
                <a:cs typeface="Times New Roman" panose="02020603050405020304" pitchFamily="18" charset="0"/>
              </a:rPr>
              <a:t>21st Century:</a:t>
            </a:r>
          </a:p>
          <a:p>
            <a:pPr marL="0" indent="0">
              <a:buNone/>
            </a:pPr>
            <a:r>
              <a:rPr lang="en-US" sz="2400" dirty="0">
                <a:latin typeface="Times New Roman" panose="02020603050405020304" pitchFamily="18" charset="0"/>
                <a:cs typeface="Times New Roman" panose="02020603050405020304" pitchFamily="18" charset="0"/>
              </a:rPr>
              <a:t>Integration of artificial intelligence, sensors, and advanced algorithms.</a:t>
            </a:r>
          </a:p>
          <a:p>
            <a:pPr marL="0" indent="0">
              <a:buNone/>
            </a:pPr>
            <a:r>
              <a:rPr lang="en-US" sz="2400" dirty="0">
                <a:latin typeface="Times New Roman" panose="02020603050405020304" pitchFamily="18" charset="0"/>
                <a:cs typeface="Times New Roman" panose="02020603050405020304" pitchFamily="18" charset="0"/>
              </a:rPr>
              <a:t>Emergence of collaborative robots (</a:t>
            </a:r>
            <a:r>
              <a:rPr lang="en-US" sz="2400" dirty="0" err="1">
                <a:latin typeface="Times New Roman" panose="02020603050405020304" pitchFamily="18" charset="0"/>
                <a:cs typeface="Times New Roman" panose="02020603050405020304" pitchFamily="18" charset="0"/>
              </a:rPr>
              <a:t>Cobots</a:t>
            </a:r>
            <a:r>
              <a:rPr lang="en-US" sz="2400" dirty="0">
                <a:latin typeface="Times New Roman" panose="02020603050405020304" pitchFamily="18" charset="0"/>
                <a:cs typeface="Times New Roman" panose="02020603050405020304" pitchFamily="18" charset="0"/>
              </a:rPr>
              <a:t>) and autonomous systems.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 to Robots</a:t>
            </a:r>
          </a:p>
        </p:txBody>
      </p:sp>
      <p:sp>
        <p:nvSpPr>
          <p:cNvPr id="3" name="Content Placeholder 2"/>
          <p:cNvSpPr>
            <a:spLocks noGrp="1"/>
          </p:cNvSpPr>
          <p:nvPr>
            <p:ph idx="1"/>
          </p:nvPr>
        </p:nvSpPr>
        <p:spPr/>
        <p:txBody>
          <a:bodyPr>
            <a:normAutofit/>
          </a:bodyPr>
          <a:lstStyle/>
          <a:p>
            <a:pPr marL="0" indent="0">
              <a:buNone/>
            </a:pPr>
            <a:r>
              <a:rPr sz="2400" dirty="0">
                <a:latin typeface="Times New Roman" panose="02020603050405020304" pitchFamily="18" charset="0"/>
                <a:cs typeface="Times New Roman" panose="02020603050405020304" pitchFamily="18" charset="0"/>
              </a:rPr>
              <a:t>Importance:</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Enhanced Productivity</a:t>
            </a:r>
            <a:r>
              <a:rPr lang="en-US" sz="2400" dirty="0">
                <a:latin typeface="Times New Roman" panose="02020603050405020304" pitchFamily="18" charset="0"/>
                <a:cs typeface="Times New Roman" panose="02020603050405020304" pitchFamily="18" charset="0"/>
              </a:rPr>
              <a:t>: Robots can work continuously without fatigue, increasing output and efficiency.</a:t>
            </a:r>
          </a:p>
          <a:p>
            <a:r>
              <a:rPr lang="en-US" sz="2400" b="1" dirty="0">
                <a:latin typeface="Times New Roman" panose="02020603050405020304" pitchFamily="18" charset="0"/>
                <a:cs typeface="Times New Roman" panose="02020603050405020304" pitchFamily="18" charset="0"/>
              </a:rPr>
              <a:t>Improved Precision and Accuracy</a:t>
            </a:r>
            <a:r>
              <a:rPr lang="en-US" sz="2400" dirty="0">
                <a:latin typeface="Times New Roman" panose="02020603050405020304" pitchFamily="18" charset="0"/>
                <a:cs typeface="Times New Roman" panose="02020603050405020304" pitchFamily="18" charset="0"/>
              </a:rPr>
              <a:t>: Robots excel in tasks requiring high precision, such as surgery and electronics manufacturing.</a:t>
            </a:r>
          </a:p>
          <a:p>
            <a:r>
              <a:rPr lang="en-US" sz="2400" b="1" dirty="0">
                <a:latin typeface="Times New Roman" panose="02020603050405020304" pitchFamily="18" charset="0"/>
                <a:cs typeface="Times New Roman" panose="02020603050405020304" pitchFamily="18" charset="0"/>
              </a:rPr>
              <a:t>Safety and Risk Mitigation</a:t>
            </a:r>
            <a:r>
              <a:rPr lang="en-US" sz="2400" dirty="0">
                <a:latin typeface="Times New Roman" panose="02020603050405020304" pitchFamily="18" charset="0"/>
                <a:cs typeface="Times New Roman" panose="02020603050405020304" pitchFamily="18" charset="0"/>
              </a:rPr>
              <a:t>: Robots perform dangerous tasks, protecting human workers (e.g., bomb disposal, deep-sea exploration).</a:t>
            </a:r>
          </a:p>
          <a:p>
            <a:r>
              <a:rPr lang="en-US" sz="2400" b="1" dirty="0">
                <a:latin typeface="Times New Roman" panose="02020603050405020304" pitchFamily="18" charset="0"/>
                <a:cs typeface="Times New Roman" panose="02020603050405020304" pitchFamily="18" charset="0"/>
              </a:rPr>
              <a:t>Applications Across Industries</a:t>
            </a:r>
            <a:r>
              <a:rPr lang="en-US" sz="2400" dirty="0">
                <a:latin typeface="Times New Roman" panose="02020603050405020304" pitchFamily="18" charset="0"/>
                <a:cs typeface="Times New Roman" panose="02020603050405020304" pitchFamily="18" charset="0"/>
              </a:rPr>
              <a:t>: Found in sectors like healthcare, automotive, logistics, and agriculture.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Structure of Robots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I. </a:t>
            </a:r>
            <a:r>
              <a:rPr b="1" dirty="0">
                <a:latin typeface="Times New Roman" panose="02020603050405020304" pitchFamily="18" charset="0"/>
                <a:cs typeface="Times New Roman" panose="02020603050405020304" pitchFamily="18" charset="0"/>
              </a:rPr>
              <a:t>Mechanical Components</a:t>
            </a:r>
            <a:r>
              <a:rP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Links</a:t>
            </a:r>
            <a:r>
              <a:rPr lang="en-US" dirty="0">
                <a:latin typeface="Times New Roman" panose="02020603050405020304" pitchFamily="18" charset="0"/>
                <a:cs typeface="Times New Roman" panose="02020603050405020304" pitchFamily="18" charset="0"/>
              </a:rPr>
              <a:t>: The rigid members or parts of the robot that connect different joints. Serve as the "bones" of the robot, providing structure.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Joints</a:t>
            </a:r>
            <a:r>
              <a:rPr lang="en-US" dirty="0">
                <a:latin typeface="Times New Roman" panose="02020603050405020304" pitchFamily="18" charset="0"/>
                <a:cs typeface="Times New Roman" panose="02020603050405020304" pitchFamily="18" charset="0"/>
              </a:rPr>
              <a:t>: Provide motion between the links. Types:</a:t>
            </a:r>
          </a:p>
          <a:p>
            <a:r>
              <a:rPr lang="en-US" b="1" dirty="0">
                <a:latin typeface="Times New Roman" panose="02020603050405020304" pitchFamily="18" charset="0"/>
                <a:cs typeface="Times New Roman" panose="02020603050405020304" pitchFamily="18" charset="0"/>
              </a:rPr>
              <a:t>Rotational Joints</a:t>
            </a:r>
            <a:r>
              <a:rPr lang="en-US" dirty="0">
                <a:latin typeface="Times New Roman" panose="02020603050405020304" pitchFamily="18" charset="0"/>
                <a:cs typeface="Times New Roman" panose="02020603050405020304" pitchFamily="18" charset="0"/>
              </a:rPr>
              <a:t>: Allow rotation.</a:t>
            </a:r>
          </a:p>
          <a:p>
            <a:r>
              <a:rPr lang="en-US" b="1" dirty="0">
                <a:latin typeface="Times New Roman" panose="02020603050405020304" pitchFamily="18" charset="0"/>
                <a:cs typeface="Times New Roman" panose="02020603050405020304" pitchFamily="18" charset="0"/>
              </a:rPr>
              <a:t>Linear Joints</a:t>
            </a:r>
            <a:r>
              <a:rPr lang="en-US" dirty="0">
                <a:latin typeface="Times New Roman" panose="02020603050405020304" pitchFamily="18" charset="0"/>
                <a:cs typeface="Times New Roman" panose="02020603050405020304" pitchFamily="18" charset="0"/>
              </a:rPr>
              <a:t>: Enable straight-line motion.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Actuators</a:t>
            </a:r>
            <a:r>
              <a:rPr lang="en-US" dirty="0">
                <a:latin typeface="Times New Roman" panose="02020603050405020304" pitchFamily="18" charset="0"/>
                <a:cs typeface="Times New Roman" panose="02020603050405020304" pitchFamily="18" charset="0"/>
              </a:rPr>
              <a:t>: Devices that convert energy into motion. Types:</a:t>
            </a:r>
          </a:p>
          <a:p>
            <a:r>
              <a:rPr lang="en-US" b="1" dirty="0">
                <a:latin typeface="Times New Roman" panose="02020603050405020304" pitchFamily="18" charset="0"/>
                <a:cs typeface="Times New Roman" panose="02020603050405020304" pitchFamily="18" charset="0"/>
              </a:rPr>
              <a:t>Electric Actuators</a:t>
            </a:r>
            <a:r>
              <a:rPr lang="en-US" dirty="0">
                <a:latin typeface="Times New Roman" panose="02020603050405020304" pitchFamily="18" charset="0"/>
                <a:cs typeface="Times New Roman" panose="02020603050405020304" pitchFamily="18" charset="0"/>
              </a:rPr>
              <a:t>: Motors powered by electricity (most common).</a:t>
            </a:r>
          </a:p>
          <a:p>
            <a:r>
              <a:rPr lang="en-US" b="1" dirty="0">
                <a:latin typeface="Times New Roman" panose="02020603050405020304" pitchFamily="18" charset="0"/>
                <a:cs typeface="Times New Roman" panose="02020603050405020304" pitchFamily="18" charset="0"/>
              </a:rPr>
              <a:t>Hydraulic Actuators</a:t>
            </a:r>
            <a:r>
              <a:rPr lang="en-US" dirty="0">
                <a:latin typeface="Times New Roman" panose="02020603050405020304" pitchFamily="18" charset="0"/>
                <a:cs typeface="Times New Roman" panose="02020603050405020304" pitchFamily="18" charset="0"/>
              </a:rPr>
              <a:t>: Use fluid pressure for heavy lifting.</a:t>
            </a:r>
          </a:p>
          <a:p>
            <a:r>
              <a:rPr lang="en-US" b="1" dirty="0">
                <a:latin typeface="Times New Roman" panose="02020603050405020304" pitchFamily="18" charset="0"/>
                <a:cs typeface="Times New Roman" panose="02020603050405020304" pitchFamily="18" charset="0"/>
              </a:rPr>
              <a:t>Pneumatic Actuators</a:t>
            </a:r>
            <a:r>
              <a:rPr lang="en-US" dirty="0">
                <a:latin typeface="Times New Roman" panose="02020603050405020304" pitchFamily="18" charset="0"/>
                <a:cs typeface="Times New Roman" panose="02020603050405020304" pitchFamily="18" charset="0"/>
              </a:rPr>
              <a:t>: Use compressed air for lighter tasks.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Structure of Robots</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II. Electrical Components</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Power Supply</a:t>
            </a:r>
            <a:r>
              <a:rPr lang="en-US" dirty="0">
                <a:latin typeface="Times New Roman" panose="02020603050405020304" pitchFamily="18" charset="0"/>
                <a:cs typeface="Times New Roman" panose="02020603050405020304" pitchFamily="18" charset="0"/>
              </a:rPr>
              <a:t>: Provides the energy needed to run actuators, sensors, and controllers. Types:</a:t>
            </a:r>
          </a:p>
          <a:p>
            <a:r>
              <a:rPr lang="en-US" dirty="0">
                <a:latin typeface="Times New Roman" panose="02020603050405020304" pitchFamily="18" charset="0"/>
                <a:cs typeface="Times New Roman" panose="02020603050405020304" pitchFamily="18" charset="0"/>
              </a:rPr>
              <a:t>Batteries (portable robots).</a:t>
            </a:r>
          </a:p>
          <a:p>
            <a:r>
              <a:rPr lang="en-US" dirty="0">
                <a:latin typeface="Times New Roman" panose="02020603050405020304" pitchFamily="18" charset="0"/>
                <a:cs typeface="Times New Roman" panose="02020603050405020304" pitchFamily="18" charset="0"/>
              </a:rPr>
              <a:t>Electrical power from external sources (industrial robots).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Wiring and Circuitry</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Transmits signals and power between components.</a:t>
            </a:r>
          </a:p>
          <a:p>
            <a:r>
              <a:rPr lang="en-US" dirty="0">
                <a:latin typeface="Times New Roman" panose="02020603050405020304" pitchFamily="18" charset="0"/>
                <a:cs typeface="Times New Roman" panose="02020603050405020304" pitchFamily="18" charset="0"/>
              </a:rPr>
              <a:t>Ensures smooth communication within the robot.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AAD75-051A-8DC1-C9F1-6815E586F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6AE72-90E1-D09F-BD29-952CFA4184B0}"/>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Structure of Robots</a:t>
            </a:r>
          </a:p>
        </p:txBody>
      </p:sp>
      <p:sp>
        <p:nvSpPr>
          <p:cNvPr id="3" name="Content Placeholder 2">
            <a:extLst>
              <a:ext uri="{FF2B5EF4-FFF2-40B4-BE49-F238E27FC236}">
                <a16:creationId xmlns:a16="http://schemas.microsoft.com/office/drawing/2014/main" id="{811C8033-284D-3A18-13FA-204E8D744029}"/>
              </a:ext>
            </a:extLst>
          </p:cNvPr>
          <p:cNvSpPr>
            <a:spLocks noGrp="1"/>
          </p:cNvSpPr>
          <p:nvPr>
            <p:ph idx="1"/>
          </p:nvPr>
        </p:nvSpPr>
        <p:spPr/>
        <p:txBody>
          <a:bodyPr>
            <a:normAutofit/>
          </a:bodyPr>
          <a:lstStyle/>
          <a:p>
            <a:pPr marL="0" indent="0">
              <a:buNone/>
            </a:pPr>
            <a:r>
              <a:rPr lang="en-US" sz="2700" b="1" dirty="0">
                <a:latin typeface="Times New Roman" panose="02020603050405020304" pitchFamily="18" charset="0"/>
                <a:cs typeface="Times New Roman" panose="02020603050405020304" pitchFamily="18" charset="0"/>
              </a:rPr>
              <a:t>III. Control Systems</a:t>
            </a:r>
          </a:p>
          <a:p>
            <a:pPr marL="0" indent="0">
              <a:buNone/>
            </a:pPr>
            <a:r>
              <a:rPr lang="en-US" sz="2400" dirty="0">
                <a:latin typeface="Times New Roman" panose="02020603050405020304" pitchFamily="18" charset="0"/>
                <a:cs typeface="Times New Roman" panose="02020603050405020304" pitchFamily="18" charset="0"/>
              </a:rPr>
              <a:t>1. </a:t>
            </a:r>
            <a:r>
              <a:rPr lang="en-US" sz="2400" b="1" dirty="0">
                <a:latin typeface="Times New Roman" panose="02020603050405020304" pitchFamily="18" charset="0"/>
                <a:cs typeface="Times New Roman" panose="02020603050405020304" pitchFamily="18" charset="0"/>
              </a:rPr>
              <a:t>Controller</a:t>
            </a:r>
            <a:r>
              <a:rPr lang="en-US" sz="2400" dirty="0">
                <a:latin typeface="Times New Roman" panose="02020603050405020304" pitchFamily="18" charset="0"/>
                <a:cs typeface="Times New Roman" panose="02020603050405020304" pitchFamily="18" charset="0"/>
              </a:rPr>
              <a:t>: Acts as the "brain" of the robot. Receives input from sensors, processes it, and sends commands to actuators.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Microprocessors and Microcontrollers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Process data and execute programs for robot operation.</a:t>
            </a:r>
          </a:p>
          <a:p>
            <a:pPr marL="0" indent="0">
              <a:buNone/>
            </a:pPr>
            <a:r>
              <a:rPr lang="en-US" sz="2400" dirty="0">
                <a:latin typeface="Times New Roman" panose="02020603050405020304" pitchFamily="18" charset="0"/>
                <a:cs typeface="Times New Roman" panose="02020603050405020304" pitchFamily="18" charset="0"/>
              </a:rPr>
              <a:t>Modern robots use advanced processors for AI and machine learning.</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709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779C-3699-CB2C-592C-2D517B1F4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94CE6-79FC-FC53-B8BD-0BA7AD680CDD}"/>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Structure of Robots</a:t>
            </a:r>
          </a:p>
        </p:txBody>
      </p:sp>
      <p:sp>
        <p:nvSpPr>
          <p:cNvPr id="3" name="Content Placeholder 2">
            <a:extLst>
              <a:ext uri="{FF2B5EF4-FFF2-40B4-BE49-F238E27FC236}">
                <a16:creationId xmlns:a16="http://schemas.microsoft.com/office/drawing/2014/main" id="{D9BF7857-8EDD-9AF1-951B-ADA1D10BB8DA}"/>
              </a:ext>
            </a:extLst>
          </p:cNvPr>
          <p:cNvSpPr>
            <a:spLocks noGrp="1"/>
          </p:cNvSpPr>
          <p:nvPr>
            <p:ph idx="1"/>
          </p:nvPr>
        </p:nvSpPr>
        <p:spPr/>
        <p:txBody>
          <a:bodyPr>
            <a:normAutofit fontScale="92500"/>
          </a:bodyPr>
          <a:lstStyle/>
          <a:p>
            <a:pPr marL="0" indent="0">
              <a:buNone/>
            </a:pPr>
            <a:r>
              <a:rPr lang="en-US" sz="2700" b="1" dirty="0">
                <a:latin typeface="Times New Roman" panose="02020603050405020304" pitchFamily="18" charset="0"/>
                <a:cs typeface="Times New Roman" panose="02020603050405020304" pitchFamily="18" charset="0"/>
              </a:rPr>
              <a:t>IV. </a:t>
            </a:r>
            <a:r>
              <a:rPr lang="en-US" sz="2900" b="1" dirty="0">
                <a:latin typeface="Times New Roman" panose="02020603050405020304" pitchFamily="18" charset="0"/>
                <a:cs typeface="Times New Roman" panose="02020603050405020304" pitchFamily="18" charset="0"/>
              </a:rPr>
              <a:t>Sensors</a:t>
            </a:r>
          </a:p>
          <a:p>
            <a:pPr marL="0" indent="0">
              <a:buNone/>
            </a:pPr>
            <a:r>
              <a:rPr lang="en-US" sz="2700" b="1" dirty="0">
                <a:latin typeface="Times New Roman" panose="02020603050405020304" pitchFamily="18" charset="0"/>
                <a:cs typeface="Times New Roman" panose="02020603050405020304" pitchFamily="18" charset="0"/>
              </a:rPr>
              <a:t>Purpose</a:t>
            </a:r>
            <a:r>
              <a:rPr lang="en-US" sz="2700" dirty="0">
                <a:latin typeface="Times New Roman" panose="02020603050405020304" pitchFamily="18" charset="0"/>
                <a:cs typeface="Times New Roman" panose="02020603050405020304" pitchFamily="18" charset="0"/>
              </a:rPr>
              <a:t>: Detect environmental conditions or the state of the robot. Provide feedback to the controller for decision-making.</a:t>
            </a:r>
          </a:p>
          <a:p>
            <a:pPr marL="0" indent="0">
              <a:buNone/>
            </a:pPr>
            <a:endParaRPr lang="en-US" sz="2700" dirty="0">
              <a:latin typeface="Times New Roman" panose="02020603050405020304" pitchFamily="18" charset="0"/>
              <a:cs typeface="Times New Roman" panose="02020603050405020304" pitchFamily="18" charset="0"/>
            </a:endParaRPr>
          </a:p>
          <a:p>
            <a:pPr marL="0" indent="0">
              <a:buNone/>
            </a:pPr>
            <a:r>
              <a:rPr lang="en-US" sz="2700" dirty="0">
                <a:latin typeface="Times New Roman" panose="02020603050405020304" pitchFamily="18" charset="0"/>
                <a:cs typeface="Times New Roman" panose="02020603050405020304" pitchFamily="18" charset="0"/>
              </a:rPr>
              <a:t>Common Types:</a:t>
            </a:r>
          </a:p>
          <a:p>
            <a:pPr marL="0" indent="0">
              <a:buNone/>
            </a:pPr>
            <a:r>
              <a:rPr lang="en-US" sz="2700" b="1" dirty="0">
                <a:latin typeface="Times New Roman" panose="02020603050405020304" pitchFamily="18" charset="0"/>
                <a:cs typeface="Times New Roman" panose="02020603050405020304" pitchFamily="18" charset="0"/>
              </a:rPr>
              <a:t>Proximity Sensors</a:t>
            </a:r>
            <a:r>
              <a:rPr lang="en-US" sz="2700" dirty="0">
                <a:latin typeface="Times New Roman" panose="02020603050405020304" pitchFamily="18" charset="0"/>
                <a:cs typeface="Times New Roman" panose="02020603050405020304" pitchFamily="18" charset="0"/>
              </a:rPr>
              <a:t>: Detect objects nearby.</a:t>
            </a:r>
          </a:p>
          <a:p>
            <a:pPr marL="0" indent="0">
              <a:buNone/>
            </a:pPr>
            <a:r>
              <a:rPr lang="en-US" sz="2700" b="1" dirty="0">
                <a:latin typeface="Times New Roman" panose="02020603050405020304" pitchFamily="18" charset="0"/>
                <a:cs typeface="Times New Roman" panose="02020603050405020304" pitchFamily="18" charset="0"/>
              </a:rPr>
              <a:t>Vision Sensors</a:t>
            </a:r>
            <a:r>
              <a:rPr lang="en-US" sz="2700" dirty="0">
                <a:latin typeface="Times New Roman" panose="02020603050405020304" pitchFamily="18" charset="0"/>
                <a:cs typeface="Times New Roman" panose="02020603050405020304" pitchFamily="18" charset="0"/>
              </a:rPr>
              <a:t>: Cameras for image processing.</a:t>
            </a:r>
          </a:p>
          <a:p>
            <a:pPr marL="0" indent="0">
              <a:buNone/>
            </a:pPr>
            <a:r>
              <a:rPr lang="en-US" sz="2700" b="1" dirty="0">
                <a:latin typeface="Times New Roman" panose="02020603050405020304" pitchFamily="18" charset="0"/>
                <a:cs typeface="Times New Roman" panose="02020603050405020304" pitchFamily="18" charset="0"/>
              </a:rPr>
              <a:t>Tactile Sensors</a:t>
            </a:r>
            <a:r>
              <a:rPr lang="en-US" sz="2700" dirty="0">
                <a:latin typeface="Times New Roman" panose="02020603050405020304" pitchFamily="18" charset="0"/>
                <a:cs typeface="Times New Roman" panose="02020603050405020304" pitchFamily="18" charset="0"/>
              </a:rPr>
              <a:t>: Mimic the sense of touch.</a:t>
            </a:r>
          </a:p>
          <a:p>
            <a:pPr marL="0" indent="0">
              <a:buNone/>
            </a:pPr>
            <a:r>
              <a:rPr lang="en-US" sz="2700" b="1" dirty="0">
                <a:latin typeface="Times New Roman" panose="02020603050405020304" pitchFamily="18" charset="0"/>
                <a:cs typeface="Times New Roman" panose="02020603050405020304" pitchFamily="18" charset="0"/>
              </a:rPr>
              <a:t>Gyroscopes/Accelerometers</a:t>
            </a:r>
            <a:r>
              <a:rPr lang="en-US" sz="2700" dirty="0">
                <a:latin typeface="Times New Roman" panose="02020603050405020304" pitchFamily="18" charset="0"/>
                <a:cs typeface="Times New Roman" panose="02020603050405020304" pitchFamily="18" charset="0"/>
              </a:rPr>
              <a:t>: Measure orientation and motion.</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0706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943E-A538-2DF7-08DD-B6628F1C4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607F6-E66B-CDE1-9D61-6E7838A4F327}"/>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Structure of Robots</a:t>
            </a:r>
          </a:p>
        </p:txBody>
      </p:sp>
      <p:sp>
        <p:nvSpPr>
          <p:cNvPr id="3" name="Content Placeholder 2">
            <a:extLst>
              <a:ext uri="{FF2B5EF4-FFF2-40B4-BE49-F238E27FC236}">
                <a16:creationId xmlns:a16="http://schemas.microsoft.com/office/drawing/2014/main" id="{EB816AD8-BB75-4F24-F148-73B63B129CC1}"/>
              </a:ext>
            </a:extLst>
          </p:cNvPr>
          <p:cNvSpPr>
            <a:spLocks noGrp="1"/>
          </p:cNvSpPr>
          <p:nvPr>
            <p:ph idx="1"/>
          </p:nvPr>
        </p:nvSpPr>
        <p:spPr/>
        <p:txBody>
          <a:bodyPr>
            <a:normAutofit/>
          </a:bodyPr>
          <a:lstStyle/>
          <a:p>
            <a:pPr marL="0" indent="0">
              <a:buNone/>
            </a:pPr>
            <a:r>
              <a:rPr lang="en-US" sz="2700" b="1" dirty="0">
                <a:latin typeface="Times New Roman" panose="02020603050405020304" pitchFamily="18" charset="0"/>
                <a:cs typeface="Times New Roman" panose="02020603050405020304" pitchFamily="18" charset="0"/>
              </a:rPr>
              <a:t>V. End Effector </a:t>
            </a:r>
            <a:r>
              <a:rPr lang="en-US" sz="2700" dirty="0">
                <a:latin typeface="Times New Roman" panose="02020603050405020304" pitchFamily="18" charset="0"/>
                <a:cs typeface="Times New Roman" panose="02020603050405020304" pitchFamily="18" charset="0"/>
              </a:rPr>
              <a:t>- The tool or device attached to the robot's manipulator for performing tasks.</a:t>
            </a:r>
          </a:p>
          <a:p>
            <a:pPr marL="0" indent="0">
              <a:buNone/>
            </a:pPr>
            <a:r>
              <a:rPr lang="en-US" sz="2700" dirty="0">
                <a:latin typeface="Times New Roman" panose="02020603050405020304" pitchFamily="18" charset="0"/>
                <a:cs typeface="Times New Roman" panose="02020603050405020304" pitchFamily="18" charset="0"/>
              </a:rPr>
              <a:t>Examples: Grippers, welding torches, painting guns, or cameras.</a:t>
            </a:r>
          </a:p>
          <a:p>
            <a:pPr marL="0" indent="0">
              <a:buNone/>
            </a:pPr>
            <a:endParaRPr lang="en-US" sz="2700" dirty="0">
              <a:latin typeface="Times New Roman" panose="02020603050405020304" pitchFamily="18" charset="0"/>
              <a:cs typeface="Times New Roman" panose="02020603050405020304" pitchFamily="18" charset="0"/>
            </a:endParaRPr>
          </a:p>
          <a:p>
            <a:pPr marL="0" indent="0">
              <a:buNone/>
            </a:pPr>
            <a:r>
              <a:rPr lang="en-US" sz="2700" b="1" dirty="0">
                <a:latin typeface="Times New Roman" panose="02020603050405020304" pitchFamily="18" charset="0"/>
                <a:cs typeface="Times New Roman" panose="02020603050405020304" pitchFamily="18" charset="0"/>
              </a:rPr>
              <a:t>VI. Mobility Systems</a:t>
            </a:r>
            <a:r>
              <a:rPr lang="en-US" sz="2700" dirty="0">
                <a:latin typeface="Times New Roman" panose="02020603050405020304" pitchFamily="18" charset="0"/>
                <a:cs typeface="Times New Roman" panose="02020603050405020304" pitchFamily="18" charset="0"/>
              </a:rPr>
              <a:t> (For Mobile Robots)</a:t>
            </a:r>
          </a:p>
          <a:p>
            <a:pPr marL="0" indent="0">
              <a:buNone/>
            </a:pPr>
            <a:r>
              <a:rPr lang="en-US" sz="2700" dirty="0">
                <a:latin typeface="Times New Roman" panose="02020603050405020304" pitchFamily="18" charset="0"/>
                <a:cs typeface="Times New Roman" panose="02020603050405020304" pitchFamily="18" charset="0"/>
              </a:rPr>
              <a:t>Wheels or Tracks: Enable movement on flat or rugged surfaces.</a:t>
            </a:r>
          </a:p>
          <a:p>
            <a:pPr marL="0" indent="0">
              <a:buNone/>
            </a:pPr>
            <a:r>
              <a:rPr lang="en-US" sz="2700" dirty="0">
                <a:latin typeface="Times New Roman" panose="02020603050405020304" pitchFamily="18" charset="0"/>
                <a:cs typeface="Times New Roman" panose="02020603050405020304" pitchFamily="18" charset="0"/>
              </a:rPr>
              <a:t>Legs: Used in robots designed for walking or climbing.</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1611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Structure of Robots</a:t>
            </a:r>
          </a:p>
        </p:txBody>
      </p:sp>
      <p:pic>
        <p:nvPicPr>
          <p:cNvPr id="1026" name="Picture 2" descr="Basic concepts of robotics | PPT">
            <a:extLst>
              <a:ext uri="{FF2B5EF4-FFF2-40B4-BE49-F238E27FC236}">
                <a16:creationId xmlns:a16="http://schemas.microsoft.com/office/drawing/2014/main" id="{85D85D66-9725-721B-8DB9-CBB32A92D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062" y="1417638"/>
            <a:ext cx="6285876" cy="47144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Robot anatomy refers to the physical structure and components that enable a robot to interact with its environment, perform tasks, and carry out actions. The anatomy of a robot includes several key parts, each serving specific functions, similar to how human anatomy enables movement and function.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D64AE-7B79-58AA-B075-C99D98AE2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53DC5-A249-C206-2BFA-0206AFB3237A}"/>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A25F1D55-BE4A-DB46-B171-90A1AE5A1418}"/>
              </a:ext>
            </a:extLst>
          </p:cNvPr>
          <p:cNvSpPr>
            <a:spLocks noGrp="1"/>
          </p:cNvSpPr>
          <p:nvPr>
            <p:ph idx="1"/>
          </p:nvPr>
        </p:nvSpPr>
        <p:spPr>
          <a:xfrm>
            <a:off x="284813" y="1600200"/>
            <a:ext cx="8709285" cy="4525963"/>
          </a:xfrm>
        </p:spPr>
        <p:txBody>
          <a:bodyPr>
            <a:normAutofit fontScale="92500"/>
          </a:bodyPr>
          <a:lstStyle/>
          <a:p>
            <a:pPr marL="0" indent="0" algn="just">
              <a:buNone/>
            </a:pPr>
            <a:r>
              <a:rPr lang="en-US" dirty="0">
                <a:latin typeface="Times New Roman" panose="02020603050405020304" pitchFamily="18" charset="0"/>
                <a:cs typeface="Times New Roman" panose="02020603050405020304" pitchFamily="18" charset="0"/>
              </a:rPr>
              <a:t>1. Manipulator</a:t>
            </a:r>
          </a:p>
          <a:p>
            <a:pPr marL="0" indent="0" algn="just">
              <a:buNone/>
            </a:pPr>
            <a:r>
              <a:rPr lang="en-US" sz="2700" b="1" dirty="0">
                <a:latin typeface="Times New Roman" panose="02020603050405020304" pitchFamily="18" charset="0"/>
                <a:cs typeface="Times New Roman" panose="02020603050405020304" pitchFamily="18" charset="0"/>
              </a:rPr>
              <a:t>Definition</a:t>
            </a:r>
            <a:r>
              <a:rPr lang="en-US" sz="2700" dirty="0">
                <a:latin typeface="Times New Roman" panose="02020603050405020304" pitchFamily="18" charset="0"/>
                <a:cs typeface="Times New Roman" panose="02020603050405020304" pitchFamily="18" charset="0"/>
              </a:rPr>
              <a:t>: The "arm" or "limb" of the robot used to interact with objects in its environment. It is typically composed of links and joints.</a:t>
            </a:r>
          </a:p>
          <a:p>
            <a:pPr marL="0" indent="0" algn="just">
              <a:buNone/>
            </a:pPr>
            <a:r>
              <a:rPr lang="en-US" sz="2700" b="1" dirty="0">
                <a:latin typeface="Times New Roman" panose="02020603050405020304" pitchFamily="18" charset="0"/>
                <a:cs typeface="Times New Roman" panose="02020603050405020304" pitchFamily="18" charset="0"/>
              </a:rPr>
              <a:t>Function</a:t>
            </a:r>
            <a:r>
              <a:rPr lang="en-US" sz="2700" dirty="0">
                <a:latin typeface="Times New Roman" panose="02020603050405020304" pitchFamily="18" charset="0"/>
                <a:cs typeface="Times New Roman" panose="02020603050405020304" pitchFamily="18" charset="0"/>
              </a:rPr>
              <a:t>: Similar to a human arm, it helps the robot perform tasks such as lifting, moving, or holding objects.</a:t>
            </a:r>
          </a:p>
          <a:p>
            <a:pPr marL="0" indent="0" algn="just">
              <a:buNone/>
            </a:pPr>
            <a:r>
              <a:rPr lang="en-US" sz="2700" b="1" dirty="0">
                <a:latin typeface="Times New Roman" panose="02020603050405020304" pitchFamily="18" charset="0"/>
                <a:cs typeface="Times New Roman" panose="02020603050405020304" pitchFamily="18" charset="0"/>
              </a:rPr>
              <a:t>Components</a:t>
            </a:r>
            <a:r>
              <a:rPr lang="en-US" sz="2700" dirty="0">
                <a:latin typeface="Times New Roman" panose="02020603050405020304" pitchFamily="18" charset="0"/>
                <a:cs typeface="Times New Roman" panose="02020603050405020304" pitchFamily="18" charset="0"/>
              </a:rPr>
              <a:t>:</a:t>
            </a:r>
          </a:p>
          <a:p>
            <a:pPr algn="just"/>
            <a:r>
              <a:rPr lang="en-US" sz="2700" b="1" dirty="0">
                <a:latin typeface="Times New Roman" panose="02020603050405020304" pitchFamily="18" charset="0"/>
                <a:cs typeface="Times New Roman" panose="02020603050405020304" pitchFamily="18" charset="0"/>
              </a:rPr>
              <a:t>Links</a:t>
            </a:r>
            <a:r>
              <a:rPr lang="en-US" sz="2700" dirty="0">
                <a:latin typeface="Times New Roman" panose="02020603050405020304" pitchFamily="18" charset="0"/>
                <a:cs typeface="Times New Roman" panose="02020603050405020304" pitchFamily="18" charset="0"/>
              </a:rPr>
              <a:t>: Rigid parts that connect joints, similar to bones.</a:t>
            </a:r>
          </a:p>
          <a:p>
            <a:pPr algn="just"/>
            <a:r>
              <a:rPr lang="en-US" sz="2700" b="1" dirty="0">
                <a:latin typeface="Times New Roman" panose="02020603050405020304" pitchFamily="18" charset="0"/>
                <a:cs typeface="Times New Roman" panose="02020603050405020304" pitchFamily="18" charset="0"/>
              </a:rPr>
              <a:t>Joints</a:t>
            </a:r>
            <a:r>
              <a:rPr lang="en-US" sz="2700" dirty="0">
                <a:latin typeface="Times New Roman" panose="02020603050405020304" pitchFamily="18" charset="0"/>
                <a:cs typeface="Times New Roman" panose="02020603050405020304" pitchFamily="18" charset="0"/>
              </a:rPr>
              <a:t>: Allow movement and flexibility. Types include rotational joints (rotate) and prismatic joints (move linearly).</a:t>
            </a:r>
            <a:endParaRPr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3868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BD3A4-1E10-E72C-15D5-43C579DF7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D8A1A-DFA3-C7E5-600A-159DE2091B5B}"/>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58D630FC-B743-FB89-13F6-5A94E7B16A75}"/>
              </a:ext>
            </a:extLst>
          </p:cNvPr>
          <p:cNvSpPr>
            <a:spLocks noGrp="1"/>
          </p:cNvSpPr>
          <p:nvPr>
            <p:ph idx="1"/>
          </p:nvPr>
        </p:nvSpPr>
        <p:spPr>
          <a:xfrm>
            <a:off x="284813" y="1600200"/>
            <a:ext cx="8709285" cy="4525963"/>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2. End Effector</a:t>
            </a:r>
          </a:p>
          <a:p>
            <a:pPr marL="0" indent="0" algn="just">
              <a:buNone/>
            </a:pPr>
            <a:r>
              <a:rPr lang="en-US" sz="2700" b="1" dirty="0">
                <a:latin typeface="Times New Roman" panose="02020603050405020304" pitchFamily="18" charset="0"/>
                <a:cs typeface="Times New Roman" panose="02020603050405020304" pitchFamily="18" charset="0"/>
              </a:rPr>
              <a:t>Definition</a:t>
            </a:r>
            <a:r>
              <a:rPr lang="en-US" sz="2700" dirty="0">
                <a:latin typeface="Times New Roman" panose="02020603050405020304" pitchFamily="18" charset="0"/>
                <a:cs typeface="Times New Roman" panose="02020603050405020304" pitchFamily="18" charset="0"/>
              </a:rPr>
              <a:t>: The tool or device attached to the end of the manipulator (robot's "hand"). The end effector is used for specific tasks.</a:t>
            </a:r>
          </a:p>
          <a:p>
            <a:pPr marL="0" indent="0" algn="just">
              <a:buNone/>
            </a:pPr>
            <a:r>
              <a:rPr lang="en-US" sz="2700" b="1" dirty="0">
                <a:latin typeface="Times New Roman" panose="02020603050405020304" pitchFamily="18" charset="0"/>
                <a:cs typeface="Times New Roman" panose="02020603050405020304" pitchFamily="18" charset="0"/>
              </a:rPr>
              <a:t>Function</a:t>
            </a:r>
            <a:r>
              <a:rPr lang="en-US" sz="2700" dirty="0">
                <a:latin typeface="Times New Roman" panose="02020603050405020304" pitchFamily="18" charset="0"/>
                <a:cs typeface="Times New Roman" panose="02020603050405020304" pitchFamily="18" charset="0"/>
              </a:rPr>
              <a:t>: Executes the action that the robot was programmed to do, such as picking up, welding, painting, or assembling.</a:t>
            </a:r>
          </a:p>
          <a:p>
            <a:pPr marL="0" indent="0" algn="just">
              <a:buNone/>
            </a:pPr>
            <a:r>
              <a:rPr lang="en-US" sz="2700" b="1" dirty="0">
                <a:latin typeface="Times New Roman" panose="02020603050405020304" pitchFamily="18" charset="0"/>
                <a:cs typeface="Times New Roman" panose="02020603050405020304" pitchFamily="18" charset="0"/>
              </a:rPr>
              <a:t>Examples:</a:t>
            </a:r>
          </a:p>
          <a:p>
            <a:pPr algn="just"/>
            <a:r>
              <a:rPr lang="en-US" sz="2700" b="1" dirty="0">
                <a:latin typeface="Times New Roman" panose="02020603050405020304" pitchFamily="18" charset="0"/>
                <a:cs typeface="Times New Roman" panose="02020603050405020304" pitchFamily="18" charset="0"/>
              </a:rPr>
              <a:t>Grippers:</a:t>
            </a:r>
            <a:r>
              <a:rPr lang="en-US" sz="2700" dirty="0">
                <a:latin typeface="Times New Roman" panose="02020603050405020304" pitchFamily="18" charset="0"/>
                <a:cs typeface="Times New Roman" panose="02020603050405020304" pitchFamily="18" charset="0"/>
              </a:rPr>
              <a:t> Used for picking up and holding objects.</a:t>
            </a:r>
          </a:p>
          <a:p>
            <a:pPr algn="just"/>
            <a:r>
              <a:rPr lang="en-US" sz="2700" b="1" dirty="0">
                <a:latin typeface="Times New Roman" panose="02020603050405020304" pitchFamily="18" charset="0"/>
                <a:cs typeface="Times New Roman" panose="02020603050405020304" pitchFamily="18" charset="0"/>
              </a:rPr>
              <a:t>Welders:</a:t>
            </a:r>
            <a:r>
              <a:rPr lang="en-US" sz="2700" dirty="0">
                <a:latin typeface="Times New Roman" panose="02020603050405020304" pitchFamily="18" charset="0"/>
                <a:cs typeface="Times New Roman" panose="02020603050405020304" pitchFamily="18" charset="0"/>
              </a:rPr>
              <a:t> Used for welding parts together.</a:t>
            </a:r>
          </a:p>
          <a:p>
            <a:pPr algn="just"/>
            <a:r>
              <a:rPr lang="en-US" sz="2700" b="1" dirty="0">
                <a:latin typeface="Times New Roman" panose="02020603050405020304" pitchFamily="18" charset="0"/>
                <a:cs typeface="Times New Roman" panose="02020603050405020304" pitchFamily="18" charset="0"/>
              </a:rPr>
              <a:t>Paint Guns: </a:t>
            </a:r>
            <a:r>
              <a:rPr lang="en-US" sz="2700" dirty="0">
                <a:latin typeface="Times New Roman" panose="02020603050405020304" pitchFamily="18" charset="0"/>
                <a:cs typeface="Times New Roman" panose="02020603050405020304" pitchFamily="18" charset="0"/>
              </a:rPr>
              <a:t>For painting objects in industries like automotive manufacturing.</a:t>
            </a:r>
          </a:p>
          <a:p>
            <a:pPr algn="just"/>
            <a:r>
              <a:rPr lang="en-US" sz="2700" b="1" dirty="0">
                <a:latin typeface="Times New Roman" panose="02020603050405020304" pitchFamily="18" charset="0"/>
                <a:cs typeface="Times New Roman" panose="02020603050405020304" pitchFamily="18" charset="0"/>
              </a:rPr>
              <a:t>Suction Cups:</a:t>
            </a:r>
            <a:r>
              <a:rPr lang="en-US" sz="2700" dirty="0">
                <a:latin typeface="Times New Roman" panose="02020603050405020304" pitchFamily="18" charset="0"/>
                <a:cs typeface="Times New Roman" panose="02020603050405020304" pitchFamily="18" charset="0"/>
              </a:rPr>
              <a:t> For handling delicate or fragile items.</a:t>
            </a:r>
            <a:endParaRPr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349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42442-42A2-27F4-6ED1-414301229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B3832-BA8C-51EF-A994-1DE4175F2DA1}"/>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6238320D-CC1E-E7E2-7517-65BD88DE835E}"/>
              </a:ext>
            </a:extLst>
          </p:cNvPr>
          <p:cNvSpPr>
            <a:spLocks noGrp="1"/>
          </p:cNvSpPr>
          <p:nvPr>
            <p:ph idx="1"/>
          </p:nvPr>
        </p:nvSpPr>
        <p:spPr>
          <a:xfrm>
            <a:off x="284813" y="1600200"/>
            <a:ext cx="8709285" cy="4525963"/>
          </a:xfrm>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3. Mobility Systems (for Mobile Robots)</a:t>
            </a:r>
          </a:p>
          <a:p>
            <a:pPr marL="0" indent="0" algn="just">
              <a:buNone/>
            </a:pPr>
            <a:r>
              <a:rPr lang="en-US" sz="2700" b="1" dirty="0">
                <a:latin typeface="Times New Roman" panose="02020603050405020304" pitchFamily="18" charset="0"/>
                <a:cs typeface="Times New Roman" panose="02020603050405020304" pitchFamily="18" charset="0"/>
              </a:rPr>
              <a:t>Definition:</a:t>
            </a:r>
            <a:r>
              <a:rPr lang="en-US" sz="2700" dirty="0">
                <a:latin typeface="Times New Roman" panose="02020603050405020304" pitchFamily="18" charset="0"/>
                <a:cs typeface="Times New Roman" panose="02020603050405020304" pitchFamily="18" charset="0"/>
              </a:rPr>
              <a:t> Mobility systems provide robots with the ability to move and navigate within their environment. They are critical for mobile robots such as autonomous vehicles and drones.</a:t>
            </a:r>
          </a:p>
          <a:p>
            <a:pPr marL="0" indent="0" algn="just">
              <a:buNone/>
            </a:pPr>
            <a:r>
              <a:rPr lang="en-US" sz="2700" b="1" dirty="0">
                <a:latin typeface="Times New Roman" panose="02020603050405020304" pitchFamily="18" charset="0"/>
                <a:cs typeface="Times New Roman" panose="02020603050405020304" pitchFamily="18" charset="0"/>
              </a:rPr>
              <a:t>Types of Mobility:</a:t>
            </a:r>
          </a:p>
          <a:p>
            <a:pPr algn="just"/>
            <a:r>
              <a:rPr lang="en-US" sz="2700" b="1" dirty="0">
                <a:latin typeface="Times New Roman" panose="02020603050405020304" pitchFamily="18" charset="0"/>
                <a:cs typeface="Times New Roman" panose="02020603050405020304" pitchFamily="18" charset="0"/>
              </a:rPr>
              <a:t>Wheels: </a:t>
            </a:r>
            <a:r>
              <a:rPr lang="en-US" sz="2700" dirty="0">
                <a:latin typeface="Times New Roman" panose="02020603050405020304" pitchFamily="18" charset="0"/>
                <a:cs typeface="Times New Roman" panose="02020603050405020304" pitchFamily="18" charset="0"/>
              </a:rPr>
              <a:t>Common in robots designed to move on flat surfaces (e.g., warehouse robots).</a:t>
            </a:r>
          </a:p>
          <a:p>
            <a:pPr algn="just"/>
            <a:r>
              <a:rPr lang="en-US" sz="2700" b="1" dirty="0">
                <a:latin typeface="Times New Roman" panose="02020603050405020304" pitchFamily="18" charset="0"/>
                <a:cs typeface="Times New Roman" panose="02020603050405020304" pitchFamily="18" charset="0"/>
              </a:rPr>
              <a:t>Tracks:</a:t>
            </a:r>
            <a:r>
              <a:rPr lang="en-US" sz="2700" dirty="0">
                <a:latin typeface="Times New Roman" panose="02020603050405020304" pitchFamily="18" charset="0"/>
                <a:cs typeface="Times New Roman" panose="02020603050405020304" pitchFamily="18" charset="0"/>
              </a:rPr>
              <a:t> Used in robots that need to navigate rough or uneven terrain (e.g., military robots or exploration robots).</a:t>
            </a:r>
          </a:p>
          <a:p>
            <a:pPr algn="just"/>
            <a:r>
              <a:rPr lang="en-US" sz="2700" b="1" dirty="0">
                <a:latin typeface="Times New Roman" panose="02020603050405020304" pitchFamily="18" charset="0"/>
                <a:cs typeface="Times New Roman" panose="02020603050405020304" pitchFamily="18" charset="0"/>
              </a:rPr>
              <a:t>Legs:</a:t>
            </a:r>
            <a:r>
              <a:rPr lang="en-US" sz="2700" dirty="0">
                <a:latin typeface="Times New Roman" panose="02020603050405020304" pitchFamily="18" charset="0"/>
                <a:cs typeface="Times New Roman" panose="02020603050405020304" pitchFamily="18" charset="0"/>
              </a:rPr>
              <a:t> Used in walking robots that can navigate complex environments (e.g., Boston Dynamics' robots like Spot).</a:t>
            </a:r>
            <a:endParaRPr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139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5F44-A2DB-839D-EA0A-FF0E988EC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F3688-B18D-F3FB-73FF-C0C91A574CC5}"/>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F864E181-8AA0-F2B3-1ECD-7216F6BD115F}"/>
              </a:ext>
            </a:extLst>
          </p:cNvPr>
          <p:cNvSpPr>
            <a:spLocks noGrp="1"/>
          </p:cNvSpPr>
          <p:nvPr>
            <p:ph idx="1"/>
          </p:nvPr>
        </p:nvSpPr>
        <p:spPr>
          <a:xfrm>
            <a:off x="284813" y="1600200"/>
            <a:ext cx="8709285" cy="4983162"/>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4. Sensors</a:t>
            </a:r>
          </a:p>
          <a:p>
            <a:pPr marL="0" indent="0" algn="just">
              <a:buNone/>
            </a:pPr>
            <a:r>
              <a:rPr lang="en-US" sz="2700" b="1" dirty="0">
                <a:latin typeface="Times New Roman" panose="02020603050405020304" pitchFamily="18" charset="0"/>
                <a:cs typeface="Times New Roman" panose="02020603050405020304" pitchFamily="18" charset="0"/>
              </a:rPr>
              <a:t>Definition</a:t>
            </a:r>
            <a:r>
              <a:rPr lang="en-US" sz="2700" dirty="0">
                <a:latin typeface="Times New Roman" panose="02020603050405020304" pitchFamily="18" charset="0"/>
                <a:cs typeface="Times New Roman" panose="02020603050405020304" pitchFamily="18" charset="0"/>
              </a:rPr>
              <a:t>: Sensors enable the robot to gather information about its environment or the status of its own components. They provide data that allows the robot to make decisions and adapt its behavior.</a:t>
            </a:r>
          </a:p>
          <a:p>
            <a:pPr marL="0" indent="0" algn="just">
              <a:buNone/>
            </a:pPr>
            <a:r>
              <a:rPr lang="en-US" sz="2700" b="1" dirty="0">
                <a:latin typeface="Times New Roman" panose="02020603050405020304" pitchFamily="18" charset="0"/>
                <a:cs typeface="Times New Roman" panose="02020603050405020304" pitchFamily="18" charset="0"/>
              </a:rPr>
              <a:t>Types of Sensors:</a:t>
            </a:r>
          </a:p>
          <a:p>
            <a:pPr algn="just"/>
            <a:r>
              <a:rPr lang="en-US" sz="2700" b="1" dirty="0">
                <a:latin typeface="Times New Roman" panose="02020603050405020304" pitchFamily="18" charset="0"/>
                <a:cs typeface="Times New Roman" panose="02020603050405020304" pitchFamily="18" charset="0"/>
              </a:rPr>
              <a:t>Proximity Sensors</a:t>
            </a:r>
            <a:r>
              <a:rPr lang="en-US" sz="2700" dirty="0">
                <a:latin typeface="Times New Roman" panose="02020603050405020304" pitchFamily="18" charset="0"/>
                <a:cs typeface="Times New Roman" panose="02020603050405020304" pitchFamily="18" charset="0"/>
              </a:rPr>
              <a:t>: Detect objects nearby.</a:t>
            </a:r>
          </a:p>
          <a:p>
            <a:pPr algn="just"/>
            <a:r>
              <a:rPr lang="en-US" sz="2700" b="1" dirty="0">
                <a:latin typeface="Times New Roman" panose="02020603050405020304" pitchFamily="18" charset="0"/>
                <a:cs typeface="Times New Roman" panose="02020603050405020304" pitchFamily="18" charset="0"/>
              </a:rPr>
              <a:t>Vision Sensors (Cameras): </a:t>
            </a:r>
            <a:r>
              <a:rPr lang="en-US" sz="2700" dirty="0">
                <a:latin typeface="Times New Roman" panose="02020603050405020304" pitchFamily="18" charset="0"/>
                <a:cs typeface="Times New Roman" panose="02020603050405020304" pitchFamily="18" charset="0"/>
              </a:rPr>
              <a:t>Provide visual input (images or videos) to recognize objects or navigate.</a:t>
            </a:r>
          </a:p>
          <a:p>
            <a:pPr algn="just"/>
            <a:r>
              <a:rPr lang="en-US" sz="2700" b="1" dirty="0">
                <a:latin typeface="Times New Roman" panose="02020603050405020304" pitchFamily="18" charset="0"/>
                <a:cs typeface="Times New Roman" panose="02020603050405020304" pitchFamily="18" charset="0"/>
              </a:rPr>
              <a:t>Tactile Sensors</a:t>
            </a:r>
            <a:r>
              <a:rPr lang="en-US" sz="2700" dirty="0">
                <a:latin typeface="Times New Roman" panose="02020603050405020304" pitchFamily="18" charset="0"/>
                <a:cs typeface="Times New Roman" panose="02020603050405020304" pitchFamily="18" charset="0"/>
              </a:rPr>
              <a:t>: Mimic the sense of touch, useful for delicate handling.</a:t>
            </a:r>
          </a:p>
          <a:p>
            <a:pPr algn="just"/>
            <a:r>
              <a:rPr lang="en-US" sz="2700" b="1" dirty="0">
                <a:latin typeface="Times New Roman" panose="02020603050405020304" pitchFamily="18" charset="0"/>
                <a:cs typeface="Times New Roman" panose="02020603050405020304" pitchFamily="18" charset="0"/>
              </a:rPr>
              <a:t>Force/Torque Sensors</a:t>
            </a:r>
            <a:r>
              <a:rPr lang="en-US" sz="2700" dirty="0">
                <a:latin typeface="Times New Roman" panose="02020603050405020304" pitchFamily="18" charset="0"/>
                <a:cs typeface="Times New Roman" panose="02020603050405020304" pitchFamily="18" charset="0"/>
              </a:rPr>
              <a:t>: Measure the force applied by the robot on an object or in its movements.</a:t>
            </a:r>
          </a:p>
          <a:p>
            <a:pPr algn="just"/>
            <a:r>
              <a:rPr lang="en-US" sz="2700" b="1" dirty="0">
                <a:latin typeface="Times New Roman" panose="02020603050405020304" pitchFamily="18" charset="0"/>
                <a:cs typeface="Times New Roman" panose="02020603050405020304" pitchFamily="18" charset="0"/>
              </a:rPr>
              <a:t>Gyroscope/Accelerometers: </a:t>
            </a:r>
            <a:r>
              <a:rPr lang="en-US" sz="2700" dirty="0">
                <a:latin typeface="Times New Roman" panose="02020603050405020304" pitchFamily="18" charset="0"/>
                <a:cs typeface="Times New Roman" panose="02020603050405020304" pitchFamily="18" charset="0"/>
              </a:rPr>
              <a:t>Help robots maintain orientation and balance, useful in mobile robots and aerial drones.</a:t>
            </a:r>
            <a:endParaRPr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20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01A8-7EDB-5CEC-F7D4-A01BAA85B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ED829-4DE5-4910-1127-394ED1D1B589}"/>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EB8CAED3-29B2-DDBE-1092-EF157BC68F3A}"/>
              </a:ext>
            </a:extLst>
          </p:cNvPr>
          <p:cNvSpPr>
            <a:spLocks noGrp="1"/>
          </p:cNvSpPr>
          <p:nvPr>
            <p:ph idx="1"/>
          </p:nvPr>
        </p:nvSpPr>
        <p:spPr>
          <a:xfrm>
            <a:off x="284813" y="1600200"/>
            <a:ext cx="8709285" cy="4983162"/>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5. Controller (The Brain)</a:t>
            </a:r>
          </a:p>
          <a:p>
            <a:pPr marL="0" indent="0" algn="just">
              <a:buNone/>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The controller is the central processing unit of the robot. It processes input from the sensors and makes decisions based on pre-programmed algorithms or AI models.</a:t>
            </a:r>
          </a:p>
          <a:p>
            <a:pPr marL="0" indent="0" algn="just">
              <a:buNone/>
            </a:pPr>
            <a:r>
              <a:rPr lang="en-US" sz="2400" b="1" dirty="0">
                <a:latin typeface="Times New Roman" panose="02020603050405020304" pitchFamily="18" charset="0"/>
                <a:cs typeface="Times New Roman" panose="02020603050405020304" pitchFamily="18" charset="0"/>
              </a:rPr>
              <a:t>Function:</a:t>
            </a:r>
            <a:r>
              <a:rPr lang="en-US" sz="2400" dirty="0">
                <a:latin typeface="Times New Roman" panose="02020603050405020304" pitchFamily="18" charset="0"/>
                <a:cs typeface="Times New Roman" panose="02020603050405020304" pitchFamily="18" charset="0"/>
              </a:rPr>
              <a:t> The controller sends instructions to the actuators to carry out movements and actions based on sensor feedback.</a:t>
            </a:r>
          </a:p>
          <a:p>
            <a:pPr marL="0" indent="0" algn="just">
              <a:buNone/>
            </a:pPr>
            <a:r>
              <a:rPr lang="en-US" sz="2400" b="1" dirty="0">
                <a:latin typeface="Times New Roman" panose="02020603050405020304" pitchFamily="18" charset="0"/>
                <a:cs typeface="Times New Roman" panose="02020603050405020304" pitchFamily="18" charset="0"/>
              </a:rPr>
              <a:t>Components:</a:t>
            </a:r>
          </a:p>
          <a:p>
            <a:pPr algn="just"/>
            <a:r>
              <a:rPr lang="en-US" sz="2400" b="1" dirty="0">
                <a:latin typeface="Times New Roman" panose="02020603050405020304" pitchFamily="18" charset="0"/>
                <a:cs typeface="Times New Roman" panose="02020603050405020304" pitchFamily="18" charset="0"/>
              </a:rPr>
              <a:t>Microcontroller or Microprocessor: </a:t>
            </a:r>
            <a:r>
              <a:rPr lang="en-US" sz="2400" dirty="0">
                <a:latin typeface="Times New Roman" panose="02020603050405020304" pitchFamily="18" charset="0"/>
                <a:cs typeface="Times New Roman" panose="02020603050405020304" pitchFamily="18" charset="0"/>
              </a:rPr>
              <a:t>Executes programs and processes sensor data.</a:t>
            </a:r>
          </a:p>
          <a:p>
            <a:pPr algn="just"/>
            <a:r>
              <a:rPr lang="en-US" sz="2400" b="1" dirty="0">
                <a:latin typeface="Times New Roman" panose="02020603050405020304" pitchFamily="18" charset="0"/>
                <a:cs typeface="Times New Roman" panose="02020603050405020304" pitchFamily="18" charset="0"/>
              </a:rPr>
              <a:t>Real-time Operating Systems (RTOS): </a:t>
            </a:r>
            <a:r>
              <a:rPr lang="en-US" sz="2400" dirty="0">
                <a:latin typeface="Times New Roman" panose="02020603050405020304" pitchFamily="18" charset="0"/>
                <a:cs typeface="Times New Roman" panose="02020603050405020304" pitchFamily="18" charset="0"/>
              </a:rPr>
              <a:t>Ensures timely processing of sensor inputs and actuator outputs.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860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C6820-BA5F-F77E-F101-21DAC9854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EB28B-6147-3BAA-B0D4-E12A4ACC8843}"/>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7346F337-FB56-50BC-E108-BA29BD4FA359}"/>
              </a:ext>
            </a:extLst>
          </p:cNvPr>
          <p:cNvSpPr>
            <a:spLocks noGrp="1"/>
          </p:cNvSpPr>
          <p:nvPr>
            <p:ph idx="1"/>
          </p:nvPr>
        </p:nvSpPr>
        <p:spPr>
          <a:xfrm>
            <a:off x="284813" y="1600200"/>
            <a:ext cx="8709285" cy="4983162"/>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6. Power Supply</a:t>
            </a:r>
          </a:p>
          <a:p>
            <a:pPr marL="0" indent="0" algn="just">
              <a:buNone/>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The power supply provides the energy needed to run all components of the robot, including sensors, actuators, and controllers.</a:t>
            </a:r>
          </a:p>
          <a:p>
            <a:pPr marL="0" indent="0" algn="just">
              <a:buNone/>
            </a:pPr>
            <a:r>
              <a:rPr lang="en-US" sz="2400" b="1" dirty="0">
                <a:latin typeface="Times New Roman" panose="02020603050405020304" pitchFamily="18" charset="0"/>
                <a:cs typeface="Times New Roman" panose="02020603050405020304" pitchFamily="18" charset="0"/>
              </a:rPr>
              <a:t>Types:</a:t>
            </a:r>
          </a:p>
          <a:p>
            <a:pPr algn="just"/>
            <a:r>
              <a:rPr lang="en-US" sz="2400" b="1" dirty="0">
                <a:latin typeface="Times New Roman" panose="02020603050405020304" pitchFamily="18" charset="0"/>
                <a:cs typeface="Times New Roman" panose="02020603050405020304" pitchFamily="18" charset="0"/>
              </a:rPr>
              <a:t>Battery: </a:t>
            </a:r>
            <a:r>
              <a:rPr lang="en-US" sz="2400" dirty="0">
                <a:latin typeface="Times New Roman" panose="02020603050405020304" pitchFamily="18" charset="0"/>
                <a:cs typeface="Times New Roman" panose="02020603050405020304" pitchFamily="18" charset="0"/>
              </a:rPr>
              <a:t>Portable power source for autonomous mobile robots.</a:t>
            </a:r>
          </a:p>
          <a:p>
            <a:pPr algn="just"/>
            <a:r>
              <a:rPr lang="en-US" sz="2400" b="1" dirty="0">
                <a:latin typeface="Times New Roman" panose="02020603050405020304" pitchFamily="18" charset="0"/>
                <a:cs typeface="Times New Roman" panose="02020603050405020304" pitchFamily="18" charset="0"/>
              </a:rPr>
              <a:t>Electricity:</a:t>
            </a:r>
            <a:r>
              <a:rPr lang="en-US" sz="2400" dirty="0">
                <a:latin typeface="Times New Roman" panose="02020603050405020304" pitchFamily="18" charset="0"/>
                <a:cs typeface="Times New Roman" panose="02020603050405020304" pitchFamily="18" charset="0"/>
              </a:rPr>
              <a:t> Powered through cables for industrial robots or robots fixed in one place.</a:t>
            </a:r>
          </a:p>
          <a:p>
            <a:pPr algn="just"/>
            <a:r>
              <a:rPr lang="en-US" sz="2400" b="1" dirty="0">
                <a:latin typeface="Times New Roman" panose="02020603050405020304" pitchFamily="18" charset="0"/>
                <a:cs typeface="Times New Roman" panose="02020603050405020304" pitchFamily="18" charset="0"/>
              </a:rPr>
              <a:t>Fuel Cells: </a:t>
            </a:r>
            <a:r>
              <a:rPr lang="en-US" sz="2400" dirty="0">
                <a:latin typeface="Times New Roman" panose="02020603050405020304" pitchFamily="18" charset="0"/>
                <a:cs typeface="Times New Roman" panose="02020603050405020304" pitchFamily="18" charset="0"/>
              </a:rPr>
              <a:t>Used in some robots for long-term energy supply.</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564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9C134-4411-70C3-F971-2186768D0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9981C-3620-404C-35C9-8024BD56FCC3}"/>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E0384A7E-DD01-34A6-D3E4-E01582D58466}"/>
              </a:ext>
            </a:extLst>
          </p:cNvPr>
          <p:cNvSpPr>
            <a:spLocks noGrp="1"/>
          </p:cNvSpPr>
          <p:nvPr>
            <p:ph idx="1"/>
          </p:nvPr>
        </p:nvSpPr>
        <p:spPr>
          <a:xfrm>
            <a:off x="284813" y="1600200"/>
            <a:ext cx="8709285" cy="4983162"/>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7. Feedback Mechanisms</a:t>
            </a:r>
          </a:p>
          <a:p>
            <a:pPr marL="0" indent="0" algn="just">
              <a:buNone/>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Feedback mechanisms provide the robot with information about the success of its actions. Sensors monitor changes and send this data to the controller.</a:t>
            </a:r>
          </a:p>
          <a:p>
            <a:pPr marL="0" indent="0" algn="just">
              <a:buNone/>
            </a:pPr>
            <a:r>
              <a:rPr lang="en-US" sz="2400" b="1" dirty="0">
                <a:latin typeface="Times New Roman" panose="02020603050405020304" pitchFamily="18" charset="0"/>
                <a:cs typeface="Times New Roman" panose="02020603050405020304" pitchFamily="18" charset="0"/>
              </a:rPr>
              <a:t>Types of Feedback:</a:t>
            </a:r>
          </a:p>
          <a:p>
            <a:pPr algn="just"/>
            <a:r>
              <a:rPr lang="en-US" sz="2400" b="1" dirty="0">
                <a:latin typeface="Times New Roman" panose="02020603050405020304" pitchFamily="18" charset="0"/>
                <a:cs typeface="Times New Roman" panose="02020603050405020304" pitchFamily="18" charset="0"/>
              </a:rPr>
              <a:t>Positional Feedback: </a:t>
            </a:r>
            <a:r>
              <a:rPr lang="en-US" sz="2400" dirty="0">
                <a:latin typeface="Times New Roman" panose="02020603050405020304" pitchFamily="18" charset="0"/>
                <a:cs typeface="Times New Roman" panose="02020603050405020304" pitchFamily="18" charset="0"/>
              </a:rPr>
              <a:t>Ensures the robot is in the right location or orientation.</a:t>
            </a:r>
          </a:p>
          <a:p>
            <a:pPr algn="just"/>
            <a:r>
              <a:rPr lang="en-US" sz="2400" b="1" dirty="0">
                <a:latin typeface="Times New Roman" panose="02020603050405020304" pitchFamily="18" charset="0"/>
                <a:cs typeface="Times New Roman" panose="02020603050405020304" pitchFamily="18" charset="0"/>
              </a:rPr>
              <a:t>Force Feedback: </a:t>
            </a:r>
            <a:r>
              <a:rPr lang="en-US" sz="2400" dirty="0">
                <a:latin typeface="Times New Roman" panose="02020603050405020304" pitchFamily="18" charset="0"/>
                <a:cs typeface="Times New Roman" panose="02020603050405020304" pitchFamily="18" charset="0"/>
              </a:rPr>
              <a:t>Indicates the force exerted on an object.</a:t>
            </a:r>
          </a:p>
          <a:p>
            <a:pPr algn="just"/>
            <a:r>
              <a:rPr lang="en-US" sz="2400" b="1" dirty="0">
                <a:latin typeface="Times New Roman" panose="02020603050405020304" pitchFamily="18" charset="0"/>
                <a:cs typeface="Times New Roman" panose="02020603050405020304" pitchFamily="18" charset="0"/>
              </a:rPr>
              <a:t>Visual Feedback: </a:t>
            </a:r>
            <a:r>
              <a:rPr lang="en-US" sz="2400" dirty="0">
                <a:latin typeface="Times New Roman" panose="02020603050405020304" pitchFamily="18" charset="0"/>
                <a:cs typeface="Times New Roman" panose="02020603050405020304" pitchFamily="18" charset="0"/>
              </a:rPr>
              <a:t>Used by vision systems to recognize objects or map environments.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767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FDF4-2483-03AA-6BF2-5E76A2A3A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6DB2A-2F93-ACBC-070D-78370C808800}"/>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Robot Anatomy</a:t>
            </a:r>
          </a:p>
        </p:txBody>
      </p:sp>
      <p:sp>
        <p:nvSpPr>
          <p:cNvPr id="3" name="Content Placeholder 2">
            <a:extLst>
              <a:ext uri="{FF2B5EF4-FFF2-40B4-BE49-F238E27FC236}">
                <a16:creationId xmlns:a16="http://schemas.microsoft.com/office/drawing/2014/main" id="{F8782FB6-496D-02B5-7F0C-4740D1A593E3}"/>
              </a:ext>
            </a:extLst>
          </p:cNvPr>
          <p:cNvSpPr>
            <a:spLocks noGrp="1"/>
          </p:cNvSpPr>
          <p:nvPr>
            <p:ph idx="1"/>
          </p:nvPr>
        </p:nvSpPr>
        <p:spPr>
          <a:xfrm>
            <a:off x="284813" y="1600200"/>
            <a:ext cx="8709285" cy="4983162"/>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How Robot Anatomy Works Together</a:t>
            </a:r>
          </a:p>
          <a:p>
            <a:pPr algn="just"/>
            <a:r>
              <a:rPr lang="en-US" sz="2400" dirty="0">
                <a:latin typeface="Times New Roman" panose="02020603050405020304" pitchFamily="18" charset="0"/>
                <a:cs typeface="Times New Roman" panose="02020603050405020304" pitchFamily="18" charset="0"/>
              </a:rPr>
              <a:t>Sensors gather data about the environment.</a:t>
            </a:r>
          </a:p>
          <a:p>
            <a:pPr algn="just"/>
            <a:r>
              <a:rPr lang="en-US" sz="2400" dirty="0">
                <a:latin typeface="Times New Roman" panose="02020603050405020304" pitchFamily="18" charset="0"/>
                <a:cs typeface="Times New Roman" panose="02020603050405020304" pitchFamily="18" charset="0"/>
              </a:rPr>
              <a:t>Controller processes the sensor data and decides on the next action.</a:t>
            </a:r>
          </a:p>
          <a:p>
            <a:pPr algn="just"/>
            <a:r>
              <a:rPr lang="en-US" sz="2400" dirty="0">
                <a:latin typeface="Times New Roman" panose="02020603050405020304" pitchFamily="18" charset="0"/>
                <a:cs typeface="Times New Roman" panose="02020603050405020304" pitchFamily="18" charset="0"/>
              </a:rPr>
              <a:t>Actuators (such as motors) carry out the physical movements (e.g., turning wheels, moving joints).</a:t>
            </a:r>
          </a:p>
          <a:p>
            <a:pPr algn="just"/>
            <a:r>
              <a:rPr lang="en-US" sz="2400" dirty="0">
                <a:latin typeface="Times New Roman" panose="02020603050405020304" pitchFamily="18" charset="0"/>
                <a:cs typeface="Times New Roman" panose="02020603050405020304" pitchFamily="18" charset="0"/>
              </a:rPr>
              <a:t>Manipulator and End Effector perform the intended tasks (e.g., lifting, welding, painting).</a:t>
            </a:r>
          </a:p>
          <a:p>
            <a:pPr algn="just"/>
            <a:r>
              <a:rPr lang="en-US" sz="2400" dirty="0">
                <a:latin typeface="Times New Roman" panose="02020603050405020304" pitchFamily="18" charset="0"/>
                <a:cs typeface="Times New Roman" panose="02020603050405020304" pitchFamily="18" charset="0"/>
              </a:rPr>
              <a:t>Feedback from sensors informs the controller about the success or need for adjustment in the robot’s actions.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5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p:cNvSpPr>
            <a:spLocks noGrp="1"/>
          </p:cNvSpPr>
          <p:nvPr>
            <p:ph idx="1"/>
          </p:nvPr>
        </p:nvSpPr>
        <p:spPr>
          <a:xfrm>
            <a:off x="457200" y="1417638"/>
            <a:ext cx="8229600" cy="5165724"/>
          </a:xfrm>
        </p:spPr>
        <p:txBody>
          <a:bodyPr>
            <a:normAutofit fontScale="70000" lnSpcReduction="20000"/>
          </a:bodyPr>
          <a:lstStyle/>
          <a:p>
            <a:pPr algn="just"/>
            <a:r>
              <a:rPr sz="4000" dirty="0">
                <a:latin typeface="Times New Roman" panose="02020603050405020304" pitchFamily="18" charset="0"/>
                <a:cs typeface="Times New Roman" panose="02020603050405020304" pitchFamily="18" charset="0"/>
              </a:rPr>
              <a:t>By Movement</a:t>
            </a:r>
            <a:endParaRPr lang="en-US" sz="4000"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I. </a:t>
            </a:r>
            <a:r>
              <a:rPr lang="en-IN" b="1" dirty="0">
                <a:latin typeface="Times New Roman" panose="02020603050405020304" pitchFamily="18" charset="0"/>
                <a:cs typeface="Times New Roman" panose="02020603050405020304" pitchFamily="18" charset="0"/>
              </a:rPr>
              <a:t>Fixed Robots</a:t>
            </a:r>
            <a:r>
              <a:rPr lang="en-IN" dirty="0">
                <a:latin typeface="Times New Roman" panose="02020603050405020304" pitchFamily="18" charset="0"/>
                <a:cs typeface="Times New Roman" panose="02020603050405020304" pitchFamily="18" charset="0"/>
              </a:rPr>
              <a:t>:</a:t>
            </a:r>
          </a:p>
          <a:p>
            <a:pPr marL="0" indent="0" algn="just">
              <a:buNone/>
            </a:pPr>
            <a:r>
              <a:rPr lang="en-IN" dirty="0">
                <a:latin typeface="Times New Roman" panose="02020603050405020304" pitchFamily="18" charset="0"/>
                <a:cs typeface="Times New Roman" panose="02020603050405020304" pitchFamily="18" charset="0"/>
              </a:rPr>
              <a:t>Stationary robots with a fixed base.</a:t>
            </a:r>
          </a:p>
          <a:p>
            <a:pPr marL="0" indent="0" algn="just">
              <a:buNone/>
            </a:pPr>
            <a:r>
              <a:rPr lang="en-IN" dirty="0">
                <a:latin typeface="Times New Roman" panose="02020603050405020304" pitchFamily="18" charset="0"/>
                <a:cs typeface="Times New Roman" panose="02020603050405020304" pitchFamily="18" charset="0"/>
              </a:rPr>
              <a:t>Examples: Industrial robotic arms in assembly lines.</a:t>
            </a:r>
          </a:p>
          <a:p>
            <a:pPr marL="0" indent="0" algn="just">
              <a:buNone/>
            </a:pPr>
            <a:r>
              <a:rPr lang="en-IN" dirty="0">
                <a:latin typeface="Times New Roman" panose="02020603050405020304" pitchFamily="18" charset="0"/>
                <a:cs typeface="Times New Roman" panose="02020603050405020304" pitchFamily="18" charset="0"/>
              </a:rPr>
              <a:t>Applications: Welding, painting, and material handling.</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II. </a:t>
            </a:r>
            <a:r>
              <a:rPr lang="en-IN" b="1" dirty="0">
                <a:latin typeface="Times New Roman" panose="02020603050405020304" pitchFamily="18" charset="0"/>
                <a:cs typeface="Times New Roman" panose="02020603050405020304" pitchFamily="18" charset="0"/>
              </a:rPr>
              <a:t>Mobile Robots:</a:t>
            </a:r>
          </a:p>
          <a:p>
            <a:pPr marL="0" indent="0" algn="just">
              <a:buNone/>
            </a:pPr>
            <a:r>
              <a:rPr lang="en-IN" dirty="0">
                <a:latin typeface="Times New Roman" panose="02020603050405020304" pitchFamily="18" charset="0"/>
                <a:cs typeface="Times New Roman" panose="02020603050405020304" pitchFamily="18" charset="0"/>
              </a:rPr>
              <a:t>Robots that can move in their environment.</a:t>
            </a:r>
          </a:p>
          <a:p>
            <a:pPr marL="0" indent="0" algn="just">
              <a:buNone/>
            </a:pPr>
            <a:r>
              <a:rPr lang="en-IN" dirty="0">
                <a:latin typeface="Times New Roman" panose="02020603050405020304" pitchFamily="18" charset="0"/>
                <a:cs typeface="Times New Roman" panose="02020603050405020304" pitchFamily="18" charset="0"/>
              </a:rPr>
              <a:t>Types:</a:t>
            </a:r>
          </a:p>
          <a:p>
            <a:pPr algn="just">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Wheeled Robots</a:t>
            </a:r>
            <a:r>
              <a:rPr lang="en-IN" dirty="0">
                <a:latin typeface="Times New Roman" panose="02020603050405020304" pitchFamily="18" charset="0"/>
                <a:cs typeface="Times New Roman" panose="02020603050405020304" pitchFamily="18" charset="0"/>
              </a:rPr>
              <a:t>: Common in indoor environments (e.g., warehouse robots).</a:t>
            </a:r>
          </a:p>
          <a:p>
            <a:pPr algn="just">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Tracked Robots</a:t>
            </a:r>
            <a:r>
              <a:rPr lang="en-IN" dirty="0">
                <a:latin typeface="Times New Roman" panose="02020603050405020304" pitchFamily="18" charset="0"/>
                <a:cs typeface="Times New Roman" panose="02020603050405020304" pitchFamily="18" charset="0"/>
              </a:rPr>
              <a:t>: Used in rugged terrains (e.g., bomb disposal robots).</a:t>
            </a:r>
          </a:p>
          <a:p>
            <a:pPr marL="0" indent="0" algn="just">
              <a:buNone/>
            </a:pPr>
            <a:r>
              <a:rPr lang="en-IN" dirty="0">
                <a:latin typeface="Times New Roman" panose="02020603050405020304" pitchFamily="18" charset="0"/>
                <a:cs typeface="Times New Roman" panose="02020603050405020304" pitchFamily="18" charset="0"/>
              </a:rPr>
              <a:t>Examples: Autonomous vehicles, robotic vacuum cleaners.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7235-5B66-E9E5-B494-04D298241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AD597-7115-27CA-790E-B91E5C87BA73}"/>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a:extLst>
              <a:ext uri="{FF2B5EF4-FFF2-40B4-BE49-F238E27FC236}">
                <a16:creationId xmlns:a16="http://schemas.microsoft.com/office/drawing/2014/main" id="{AA3E23AE-6108-2BEE-A373-E2D2B817CAA0}"/>
              </a:ext>
            </a:extLst>
          </p:cNvPr>
          <p:cNvSpPr>
            <a:spLocks noGrp="1"/>
          </p:cNvSpPr>
          <p:nvPr>
            <p:ph idx="1"/>
          </p:nvPr>
        </p:nvSpPr>
        <p:spPr>
          <a:xfrm>
            <a:off x="457200" y="1417638"/>
            <a:ext cx="8229600" cy="5165724"/>
          </a:xfrm>
        </p:spPr>
        <p:txBody>
          <a:bodyPr>
            <a:normAutofit fontScale="77500" lnSpcReduction="20000"/>
          </a:bodyPr>
          <a:lstStyle/>
          <a:p>
            <a:pPr algn="just"/>
            <a:r>
              <a:rPr sz="4000" dirty="0">
                <a:latin typeface="Times New Roman" panose="02020603050405020304" pitchFamily="18" charset="0"/>
                <a:cs typeface="Times New Roman" panose="02020603050405020304" pitchFamily="18" charset="0"/>
              </a:rPr>
              <a:t>By Movement</a:t>
            </a:r>
            <a:endParaRPr lang="en-US" sz="4000" dirty="0">
              <a:latin typeface="Times New Roman" panose="02020603050405020304" pitchFamily="18" charset="0"/>
              <a:cs typeface="Times New Roman" panose="02020603050405020304" pitchFamily="18" charset="0"/>
            </a:endParaRPr>
          </a:p>
          <a:p>
            <a:pPr marL="0" indent="0" algn="just">
              <a:buNone/>
            </a:pPr>
            <a:r>
              <a:rPr lang="en-IN" b="1" dirty="0">
                <a:latin typeface="Times New Roman" panose="02020603050405020304" pitchFamily="18" charset="0"/>
                <a:cs typeface="Times New Roman" panose="02020603050405020304" pitchFamily="18" charset="0"/>
              </a:rPr>
              <a:t>III. Aerial Robots:</a:t>
            </a:r>
          </a:p>
          <a:p>
            <a:pPr marL="0" indent="0" algn="just">
              <a:buNone/>
            </a:pPr>
            <a:r>
              <a:rPr lang="en-IN" dirty="0">
                <a:latin typeface="Times New Roman" panose="02020603050405020304" pitchFamily="18" charset="0"/>
                <a:cs typeface="Times New Roman" panose="02020603050405020304" pitchFamily="18" charset="0"/>
              </a:rPr>
              <a:t>Robots capable of flight.</a:t>
            </a:r>
          </a:p>
          <a:p>
            <a:pPr marL="0" indent="0" algn="just">
              <a:buNone/>
            </a:pPr>
            <a:r>
              <a:rPr lang="en-IN" dirty="0">
                <a:latin typeface="Times New Roman" panose="02020603050405020304" pitchFamily="18" charset="0"/>
                <a:cs typeface="Times New Roman" panose="02020603050405020304" pitchFamily="18" charset="0"/>
              </a:rPr>
              <a:t>Examples: Drones used for surveillance, delivery, or photography.</a:t>
            </a:r>
          </a:p>
          <a:p>
            <a:pPr marL="0" indent="0" algn="just">
              <a:buNone/>
            </a:pPr>
            <a:r>
              <a:rPr lang="en-IN" dirty="0">
                <a:latin typeface="Times New Roman" panose="02020603050405020304" pitchFamily="18" charset="0"/>
                <a:cs typeface="Times New Roman" panose="02020603050405020304" pitchFamily="18" charset="0"/>
              </a:rPr>
              <a:t>Applications: Military reconnaissance, package delivery, disaster management.</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b="1" dirty="0">
                <a:latin typeface="Times New Roman" panose="02020603050405020304" pitchFamily="18" charset="0"/>
                <a:cs typeface="Times New Roman" panose="02020603050405020304" pitchFamily="18" charset="0"/>
              </a:rPr>
              <a:t>IV. Underwater Robots:</a:t>
            </a:r>
          </a:p>
          <a:p>
            <a:pPr marL="0" indent="0" algn="just">
              <a:buNone/>
            </a:pPr>
            <a:r>
              <a:rPr lang="en-IN" dirty="0">
                <a:latin typeface="Times New Roman" panose="02020603050405020304" pitchFamily="18" charset="0"/>
                <a:cs typeface="Times New Roman" panose="02020603050405020304" pitchFamily="18" charset="0"/>
              </a:rPr>
              <a:t>Robots designed to operate underwater.</a:t>
            </a:r>
          </a:p>
          <a:p>
            <a:pPr marL="0" indent="0" algn="just">
              <a:buNone/>
            </a:pPr>
            <a:r>
              <a:rPr lang="en-IN" dirty="0">
                <a:latin typeface="Times New Roman" panose="02020603050405020304" pitchFamily="18" charset="0"/>
                <a:cs typeface="Times New Roman" panose="02020603050405020304" pitchFamily="18" charset="0"/>
              </a:rPr>
              <a:t>Examples: Remotely Operated Vehicles (ROVs) for deep-sea exploration.</a:t>
            </a:r>
          </a:p>
          <a:p>
            <a:pPr marL="0" indent="0" algn="just">
              <a:buNone/>
            </a:pPr>
            <a:r>
              <a:rPr lang="en-IN" dirty="0">
                <a:latin typeface="Times New Roman" panose="02020603050405020304" pitchFamily="18" charset="0"/>
                <a:cs typeface="Times New Roman" panose="02020603050405020304" pitchFamily="18" charset="0"/>
              </a:rPr>
              <a:t>Applications: Oceanography, underwater pipeline inspections.</a:t>
            </a:r>
          </a:p>
        </p:txBody>
      </p:sp>
    </p:spTree>
    <p:extLst>
      <p:ext uri="{BB962C8B-B14F-4D97-AF65-F5344CB8AC3E}">
        <p14:creationId xmlns:p14="http://schemas.microsoft.com/office/powerpoint/2010/main" val="625540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p:cNvSpPr>
            <a:spLocks noGrp="1"/>
          </p:cNvSpPr>
          <p:nvPr>
            <p:ph idx="1"/>
          </p:nvPr>
        </p:nvSpPr>
        <p:spPr/>
        <p:txBody>
          <a:bodyPr>
            <a:normAutofit fontScale="85000" lnSpcReduction="20000"/>
          </a:bodyPr>
          <a:lstStyle/>
          <a:p>
            <a:r>
              <a:rPr b="1" dirty="0">
                <a:latin typeface="Times New Roman" panose="02020603050405020304" pitchFamily="18" charset="0"/>
                <a:cs typeface="Times New Roman" panose="02020603050405020304" pitchFamily="18" charset="0"/>
              </a:rPr>
              <a:t>By Generations</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 First-Generation Robots:</a:t>
            </a:r>
          </a:p>
          <a:p>
            <a:pPr marL="0" indent="0">
              <a:buNone/>
            </a:pPr>
            <a:r>
              <a:rPr lang="en-US" dirty="0">
                <a:latin typeface="Times New Roman" panose="02020603050405020304" pitchFamily="18" charset="0"/>
                <a:cs typeface="Times New Roman" panose="02020603050405020304" pitchFamily="18" charset="0"/>
              </a:rPr>
              <a:t>Manual robots operated by humans.</a:t>
            </a:r>
          </a:p>
          <a:p>
            <a:pPr marL="0" indent="0">
              <a:buNone/>
            </a:pPr>
            <a:r>
              <a:rPr lang="en-US" dirty="0">
                <a:latin typeface="Times New Roman" panose="02020603050405020304" pitchFamily="18" charset="0"/>
                <a:cs typeface="Times New Roman" panose="02020603050405020304" pitchFamily="18" charset="0"/>
              </a:rPr>
              <a:t>Characteristics: No autonomy or sensors.</a:t>
            </a:r>
          </a:p>
          <a:p>
            <a:pPr marL="0" indent="0">
              <a:buNone/>
            </a:pPr>
            <a:r>
              <a:rPr lang="en-US" dirty="0">
                <a:latin typeface="Times New Roman" panose="02020603050405020304" pitchFamily="18" charset="0"/>
                <a:cs typeface="Times New Roman" panose="02020603050405020304" pitchFamily="18" charset="0"/>
              </a:rPr>
              <a:t>Examples: Basic robotic arms for assembly tasks.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II. Second-Generation Robots:</a:t>
            </a:r>
          </a:p>
          <a:p>
            <a:pPr marL="0" indent="0">
              <a:buNone/>
            </a:pPr>
            <a:r>
              <a:rPr lang="en-US" dirty="0">
                <a:latin typeface="Times New Roman" panose="02020603050405020304" pitchFamily="18" charset="0"/>
                <a:cs typeface="Times New Roman" panose="02020603050405020304" pitchFamily="18" charset="0"/>
              </a:rPr>
              <a:t>Pre-programmed robots with limited adaptability.</a:t>
            </a:r>
          </a:p>
          <a:p>
            <a:pPr marL="0" indent="0">
              <a:buNone/>
            </a:pPr>
            <a:r>
              <a:rPr lang="en-US" dirty="0">
                <a:latin typeface="Times New Roman" panose="02020603050405020304" pitchFamily="18" charset="0"/>
                <a:cs typeface="Times New Roman" panose="02020603050405020304" pitchFamily="18" charset="0"/>
              </a:rPr>
              <a:t>Characteristics: No real-time feedback.</a:t>
            </a:r>
          </a:p>
          <a:p>
            <a:pPr marL="0" indent="0">
              <a:buNone/>
            </a:pPr>
            <a:r>
              <a:rPr lang="en-US" dirty="0">
                <a:latin typeface="Times New Roman" panose="02020603050405020304" pitchFamily="18" charset="0"/>
                <a:cs typeface="Times New Roman" panose="02020603050405020304" pitchFamily="18" charset="0"/>
              </a:rPr>
              <a:t>Examples: Early CNC machines.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F2D76-477B-AB67-8409-809B04B96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BC8AF-7252-07BD-9E96-608A5F90D9A6}"/>
              </a:ext>
            </a:extLst>
          </p:cNvPr>
          <p:cNvSpPr>
            <a:spLocks noGrp="1"/>
          </p:cNvSpPr>
          <p:nvPr>
            <p:ph type="title"/>
          </p:nvPr>
        </p:nvSpPr>
        <p:spPr>
          <a:xfrm>
            <a:off x="457200" y="19805"/>
            <a:ext cx="8229600" cy="1143000"/>
          </a:xfrm>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a:extLst>
              <a:ext uri="{FF2B5EF4-FFF2-40B4-BE49-F238E27FC236}">
                <a16:creationId xmlns:a16="http://schemas.microsoft.com/office/drawing/2014/main" id="{FE430C7A-DE2F-4E6F-A002-36E13DE33172}"/>
              </a:ext>
            </a:extLst>
          </p:cNvPr>
          <p:cNvSpPr>
            <a:spLocks noGrp="1"/>
          </p:cNvSpPr>
          <p:nvPr>
            <p:ph idx="1"/>
          </p:nvPr>
        </p:nvSpPr>
        <p:spPr>
          <a:xfrm>
            <a:off x="457200" y="1162805"/>
            <a:ext cx="8229600" cy="4525963"/>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III. Third-Generation Robots:</a:t>
            </a:r>
          </a:p>
          <a:p>
            <a:pPr marL="0" indent="0">
              <a:buNone/>
            </a:pPr>
            <a:r>
              <a:rPr lang="en-US" sz="2200" dirty="0">
                <a:latin typeface="Times New Roman" panose="02020603050405020304" pitchFamily="18" charset="0"/>
                <a:cs typeface="Times New Roman" panose="02020603050405020304" pitchFamily="18" charset="0"/>
              </a:rPr>
              <a:t>Robots with integrated sensors for feedback.</a:t>
            </a:r>
          </a:p>
          <a:p>
            <a:pPr marL="0" indent="0">
              <a:buNone/>
            </a:pPr>
            <a:r>
              <a:rPr lang="en-US" sz="2200" dirty="0">
                <a:latin typeface="Times New Roman" panose="02020603050405020304" pitchFamily="18" charset="0"/>
                <a:cs typeface="Times New Roman" panose="02020603050405020304" pitchFamily="18" charset="0"/>
              </a:rPr>
              <a:t>Characteristics: Capable of adapting to changing environments.</a:t>
            </a:r>
          </a:p>
          <a:p>
            <a:pPr marL="0" indent="0">
              <a:buNone/>
            </a:pPr>
            <a:r>
              <a:rPr lang="en-US" sz="2200" dirty="0">
                <a:latin typeface="Times New Roman" panose="02020603050405020304" pitchFamily="18" charset="0"/>
                <a:cs typeface="Times New Roman" panose="02020603050405020304" pitchFamily="18" charset="0"/>
              </a:rPr>
              <a:t>Examples: Robots with proximity and vision sensors.</a:t>
            </a:r>
          </a:p>
          <a:p>
            <a:pPr marL="0" indent="0">
              <a:buNone/>
            </a:pPr>
            <a:endParaRPr lang="en-US" sz="11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IV. Fourth-Generation Robots:</a:t>
            </a:r>
          </a:p>
          <a:p>
            <a:pPr marL="0" indent="0">
              <a:buNone/>
            </a:pPr>
            <a:r>
              <a:rPr lang="en-US" sz="2200" dirty="0">
                <a:latin typeface="Times New Roman" panose="02020603050405020304" pitchFamily="18" charset="0"/>
                <a:cs typeface="Times New Roman" panose="02020603050405020304" pitchFamily="18" charset="0"/>
              </a:rPr>
              <a:t>AI-based robots with decision-making abilities.</a:t>
            </a:r>
          </a:p>
          <a:p>
            <a:pPr marL="0" indent="0">
              <a:buNone/>
            </a:pPr>
            <a:r>
              <a:rPr lang="en-US" sz="2200" dirty="0">
                <a:latin typeface="Times New Roman" panose="02020603050405020304" pitchFamily="18" charset="0"/>
                <a:cs typeface="Times New Roman" panose="02020603050405020304" pitchFamily="18" charset="0"/>
              </a:rPr>
              <a:t>Characteristics: Real-time learning and adaptation.</a:t>
            </a:r>
          </a:p>
          <a:p>
            <a:pPr marL="0" indent="0">
              <a:buNone/>
            </a:pPr>
            <a:r>
              <a:rPr lang="en-US" sz="2200" dirty="0">
                <a:latin typeface="Times New Roman" panose="02020603050405020304" pitchFamily="18" charset="0"/>
                <a:cs typeface="Times New Roman" panose="02020603050405020304" pitchFamily="18" charset="0"/>
              </a:rPr>
              <a:t>Examples: Autonomous cars, collaborative robots (</a:t>
            </a:r>
            <a:r>
              <a:rPr lang="en-US" sz="2200" dirty="0" err="1">
                <a:latin typeface="Times New Roman" panose="02020603050405020304" pitchFamily="18" charset="0"/>
                <a:cs typeface="Times New Roman" panose="02020603050405020304" pitchFamily="18" charset="0"/>
              </a:rPr>
              <a:t>Cobots</a:t>
            </a:r>
            <a:r>
              <a:rPr lang="en-US" sz="2200" dirty="0">
                <a:latin typeface="Times New Roman" panose="02020603050405020304" pitchFamily="18" charset="0"/>
                <a:cs typeface="Times New Roman" panose="02020603050405020304" pitchFamily="18" charset="0"/>
              </a:rPr>
              <a:t>).</a:t>
            </a:r>
          </a:p>
          <a:p>
            <a:pPr marL="0" indent="0">
              <a:buNone/>
            </a:pPr>
            <a:endParaRPr lang="en-US" sz="11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V. Fifth-Generation Robots:</a:t>
            </a:r>
          </a:p>
          <a:p>
            <a:pPr marL="0" indent="0">
              <a:buNone/>
            </a:pPr>
            <a:r>
              <a:rPr lang="en-US" sz="2200" dirty="0">
                <a:latin typeface="Times New Roman" panose="02020603050405020304" pitchFamily="18" charset="0"/>
                <a:cs typeface="Times New Roman" panose="02020603050405020304" pitchFamily="18" charset="0"/>
              </a:rPr>
              <a:t>Highly autonomous robots with advanced AI.</a:t>
            </a:r>
          </a:p>
          <a:p>
            <a:pPr marL="0" indent="0">
              <a:buNone/>
            </a:pPr>
            <a:r>
              <a:rPr lang="en-US" sz="2200" dirty="0">
                <a:latin typeface="Times New Roman" panose="02020603050405020304" pitchFamily="18" charset="0"/>
                <a:cs typeface="Times New Roman" panose="02020603050405020304" pitchFamily="18" charset="0"/>
              </a:rPr>
              <a:t>Characteristics: Ability to collaborate with humans and learn from experience.</a:t>
            </a:r>
          </a:p>
          <a:p>
            <a:pPr marL="0" indent="0">
              <a:buNone/>
            </a:pPr>
            <a:r>
              <a:rPr lang="en-US" sz="2200" dirty="0">
                <a:latin typeface="Times New Roman" panose="02020603050405020304" pitchFamily="18" charset="0"/>
                <a:cs typeface="Times New Roman" panose="02020603050405020304" pitchFamily="18" charset="0"/>
              </a:rPr>
              <a:t>Examples: Advanced humanoid robots, social robots.</a:t>
            </a:r>
            <a:endParaRP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3610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11BBF-E173-95E2-C037-0C2C02BA3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20CD2-531B-33E8-4153-7E507A5BB28C}"/>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a:extLst>
              <a:ext uri="{FF2B5EF4-FFF2-40B4-BE49-F238E27FC236}">
                <a16:creationId xmlns:a16="http://schemas.microsoft.com/office/drawing/2014/main" id="{FEBC9B78-6C93-8AB9-EE10-4B543E455FC5}"/>
              </a:ext>
            </a:extLst>
          </p:cNvPr>
          <p:cNvSpPr>
            <a:spLocks noGrp="1"/>
          </p:cNvSpPr>
          <p:nvPr>
            <p:ph idx="1"/>
          </p:nvPr>
        </p:nvSpPr>
        <p:spPr/>
        <p:txBody>
          <a:bodyPr>
            <a:normAutofit fontScale="70000" lnSpcReduction="20000"/>
          </a:bodyPr>
          <a:lstStyle/>
          <a:p>
            <a:r>
              <a:rPr sz="3900" b="1" dirty="0">
                <a:latin typeface="Times New Roman" panose="02020603050405020304" pitchFamily="18" charset="0"/>
                <a:cs typeface="Times New Roman" panose="02020603050405020304" pitchFamily="18" charset="0"/>
              </a:rPr>
              <a:t>By </a:t>
            </a:r>
            <a:r>
              <a:rPr lang="en-US" sz="3900" b="1" dirty="0">
                <a:latin typeface="Times New Roman" panose="02020603050405020304" pitchFamily="18" charset="0"/>
                <a:cs typeface="Times New Roman" panose="02020603050405020304" pitchFamily="18" charset="0"/>
              </a:rPr>
              <a:t>Application</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Industrial Robots:</a:t>
            </a:r>
          </a:p>
          <a:p>
            <a:pPr marL="0" indent="0">
              <a:buNone/>
            </a:pPr>
            <a:r>
              <a:rPr lang="en-US" dirty="0">
                <a:latin typeface="Times New Roman" panose="02020603050405020304" pitchFamily="18" charset="0"/>
                <a:cs typeface="Times New Roman" panose="02020603050405020304" pitchFamily="18" charset="0"/>
              </a:rPr>
              <a:t>Designed for manufacturing and industrial applications.</a:t>
            </a:r>
          </a:p>
          <a:p>
            <a:pPr marL="0" indent="0">
              <a:buNone/>
            </a:pPr>
            <a:r>
              <a:rPr lang="en-US" dirty="0">
                <a:latin typeface="Times New Roman" panose="02020603050405020304" pitchFamily="18" charset="0"/>
                <a:cs typeface="Times New Roman" panose="02020603050405020304" pitchFamily="18" charset="0"/>
              </a:rPr>
              <a:t>Examples: Assembly line robots, welding robots.</a:t>
            </a:r>
          </a:p>
          <a:p>
            <a:pPr marL="0" indent="0">
              <a:buNone/>
            </a:pPr>
            <a:r>
              <a:rPr lang="en-US" dirty="0">
                <a:latin typeface="Times New Roman" panose="02020603050405020304" pitchFamily="18" charset="0"/>
                <a:cs typeface="Times New Roman" panose="02020603050405020304" pitchFamily="18" charset="0"/>
              </a:rPr>
              <a:t>Applications: Automotive industry, electronics manufacturing.</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Service Robots:</a:t>
            </a:r>
          </a:p>
          <a:p>
            <a:pPr marL="0" indent="0">
              <a:buNone/>
            </a:pPr>
            <a:r>
              <a:rPr lang="en-US" dirty="0">
                <a:latin typeface="Times New Roman" panose="02020603050405020304" pitchFamily="18" charset="0"/>
                <a:cs typeface="Times New Roman" panose="02020603050405020304" pitchFamily="18" charset="0"/>
              </a:rPr>
              <a:t>Assist humans in non-industrial environments.</a:t>
            </a:r>
          </a:p>
          <a:p>
            <a:pPr marL="0" indent="0">
              <a:buNone/>
            </a:pPr>
            <a:r>
              <a:rPr lang="en-US" dirty="0">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Domestic Robots: Robotic vacuum cleaners, lawn mowers.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Healthcare Robots: Surgical robots, patient care robots.</a:t>
            </a:r>
          </a:p>
          <a:p>
            <a:pPr marL="0" indent="0">
              <a:buNone/>
            </a:pPr>
            <a:r>
              <a:rPr lang="en-US" dirty="0">
                <a:latin typeface="Times New Roman" panose="02020603050405020304" pitchFamily="18" charset="0"/>
                <a:cs typeface="Times New Roman" panose="02020603050405020304" pitchFamily="18" charset="0"/>
              </a:rPr>
              <a:t>Applications: Household chores, healthcare, education.</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361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A9E1-01FF-2AC9-8ED5-3F1E83777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E4B8E-0D82-6C20-0741-15C2F199B22E}"/>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a:extLst>
              <a:ext uri="{FF2B5EF4-FFF2-40B4-BE49-F238E27FC236}">
                <a16:creationId xmlns:a16="http://schemas.microsoft.com/office/drawing/2014/main" id="{83A87317-0868-AE4E-FC61-A9BB932CAF02}"/>
              </a:ext>
            </a:extLst>
          </p:cNvPr>
          <p:cNvSpPr>
            <a:spLocks noGrp="1"/>
          </p:cNvSpPr>
          <p:nvPr>
            <p:ph idx="1"/>
          </p:nvPr>
        </p:nvSpPr>
        <p:spPr/>
        <p:txBody>
          <a:bodyPr>
            <a:normAutofit fontScale="77500" lnSpcReduction="20000"/>
          </a:bodyPr>
          <a:lstStyle/>
          <a:p>
            <a:r>
              <a:rPr sz="3900" b="1" dirty="0">
                <a:latin typeface="Times New Roman" panose="02020603050405020304" pitchFamily="18" charset="0"/>
                <a:cs typeface="Times New Roman" panose="02020603050405020304" pitchFamily="18" charset="0"/>
              </a:rPr>
              <a:t>By </a:t>
            </a:r>
            <a:r>
              <a:rPr lang="en-US" sz="3900" b="1" dirty="0">
                <a:latin typeface="Times New Roman" panose="02020603050405020304" pitchFamily="18" charset="0"/>
                <a:cs typeface="Times New Roman" panose="02020603050405020304" pitchFamily="18" charset="0"/>
              </a:rPr>
              <a:t>Application</a:t>
            </a:r>
          </a:p>
          <a:p>
            <a:pPr marL="0" indent="0">
              <a:buNone/>
            </a:pPr>
            <a:r>
              <a:rPr lang="en-US" b="1" dirty="0">
                <a:latin typeface="Times New Roman" panose="02020603050405020304" pitchFamily="18" charset="0"/>
                <a:cs typeface="Times New Roman" panose="02020603050405020304" pitchFamily="18" charset="0"/>
              </a:rPr>
              <a:t>3. Military Robots:</a:t>
            </a:r>
          </a:p>
          <a:p>
            <a:pPr marL="0" indent="0">
              <a:buNone/>
            </a:pPr>
            <a:r>
              <a:rPr lang="en-US" dirty="0">
                <a:latin typeface="Times New Roman" panose="02020603050405020304" pitchFamily="18" charset="0"/>
                <a:cs typeface="Times New Roman" panose="02020603050405020304" pitchFamily="18" charset="0"/>
              </a:rPr>
              <a:t>Used for defense and military purposes.</a:t>
            </a:r>
          </a:p>
          <a:p>
            <a:pPr marL="0" indent="0">
              <a:buNone/>
            </a:pPr>
            <a:r>
              <a:rPr lang="en-US" dirty="0">
                <a:latin typeface="Times New Roman" panose="02020603050405020304" pitchFamily="18" charset="0"/>
                <a:cs typeface="Times New Roman" panose="02020603050405020304" pitchFamily="18" charset="0"/>
              </a:rPr>
              <a:t>Examples: Drones, bomb disposal robots, reconnaissance robots.</a:t>
            </a:r>
          </a:p>
          <a:p>
            <a:pPr marL="0" indent="0">
              <a:buNone/>
            </a:pPr>
            <a:r>
              <a:rPr lang="en-US" dirty="0">
                <a:latin typeface="Times New Roman" panose="02020603050405020304" pitchFamily="18" charset="0"/>
                <a:cs typeface="Times New Roman" panose="02020603050405020304" pitchFamily="18" charset="0"/>
              </a:rPr>
              <a:t>Applications: Surveillance, combat, and rescue missions.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4. Exploration Robots:</a:t>
            </a:r>
          </a:p>
          <a:p>
            <a:pPr marL="0" indent="0">
              <a:buNone/>
            </a:pPr>
            <a:r>
              <a:rPr lang="en-US" dirty="0">
                <a:latin typeface="Times New Roman" panose="02020603050405020304" pitchFamily="18" charset="0"/>
                <a:cs typeface="Times New Roman" panose="02020603050405020304" pitchFamily="18" charset="0"/>
              </a:rPr>
              <a:t>Used for space, deep-sea, or inaccessible environments.</a:t>
            </a:r>
          </a:p>
          <a:p>
            <a:pPr marL="0" indent="0">
              <a:buNone/>
            </a:pPr>
            <a:r>
              <a:rPr lang="en-US" dirty="0">
                <a:latin typeface="Times New Roman" panose="02020603050405020304" pitchFamily="18" charset="0"/>
                <a:cs typeface="Times New Roman" panose="02020603050405020304" pitchFamily="18" charset="0"/>
              </a:rPr>
              <a:t>Examples: Mars rovers, deep-sea ROVs.</a:t>
            </a:r>
          </a:p>
          <a:p>
            <a:pPr marL="0" indent="0">
              <a:buNone/>
            </a:pPr>
            <a:r>
              <a:rPr lang="en-US" dirty="0">
                <a:latin typeface="Times New Roman" panose="02020603050405020304" pitchFamily="18" charset="0"/>
                <a:cs typeface="Times New Roman" panose="02020603050405020304" pitchFamily="18" charset="0"/>
              </a:rPr>
              <a:t>Applications: Space exploration, oceanography.</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381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AF8B2-1875-6777-9B19-03DF49478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55DAC-69EE-F8C4-2D89-A6108E014657}"/>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sp>
        <p:nvSpPr>
          <p:cNvPr id="3" name="Content Placeholder 2">
            <a:extLst>
              <a:ext uri="{FF2B5EF4-FFF2-40B4-BE49-F238E27FC236}">
                <a16:creationId xmlns:a16="http://schemas.microsoft.com/office/drawing/2014/main" id="{F0FF1459-EBF2-1A47-E60F-02517000D78A}"/>
              </a:ext>
            </a:extLst>
          </p:cNvPr>
          <p:cNvSpPr>
            <a:spLocks noGrp="1"/>
          </p:cNvSpPr>
          <p:nvPr>
            <p:ph idx="1"/>
          </p:nvPr>
        </p:nvSpPr>
        <p:spPr>
          <a:xfrm>
            <a:off x="457200" y="1306823"/>
            <a:ext cx="8229600" cy="5246558"/>
          </a:xfrm>
        </p:spPr>
        <p:txBody>
          <a:bodyPr>
            <a:normAutofit fontScale="70000" lnSpcReduction="20000"/>
          </a:bodyPr>
          <a:lstStyle/>
          <a:p>
            <a:r>
              <a:rPr sz="3900" b="1" dirty="0">
                <a:latin typeface="Times New Roman" panose="02020603050405020304" pitchFamily="18" charset="0"/>
                <a:cs typeface="Times New Roman" panose="02020603050405020304" pitchFamily="18" charset="0"/>
              </a:rPr>
              <a:t>By </a:t>
            </a:r>
            <a:r>
              <a:rPr lang="en-US" sz="4000" b="1" dirty="0">
                <a:latin typeface="Times New Roman" panose="02020603050405020304" pitchFamily="18" charset="0"/>
                <a:cs typeface="Times New Roman" panose="02020603050405020304" pitchFamily="18" charset="0"/>
              </a:rPr>
              <a:t>Control Mechanism </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Manual Control: </a:t>
            </a:r>
            <a:r>
              <a:rPr lang="en-US" dirty="0">
                <a:latin typeface="Times New Roman" panose="02020603050405020304" pitchFamily="18" charset="0"/>
                <a:cs typeface="Times New Roman" panose="02020603050405020304" pitchFamily="18" charset="0"/>
              </a:rPr>
              <a:t>Operated directly by a human.</a:t>
            </a:r>
          </a:p>
          <a:p>
            <a:pPr marL="0" indent="0">
              <a:buNone/>
            </a:pPr>
            <a:r>
              <a:rPr lang="en-US" dirty="0">
                <a:latin typeface="Times New Roman" panose="02020603050405020304" pitchFamily="18" charset="0"/>
                <a:cs typeface="Times New Roman" panose="02020603050405020304" pitchFamily="18" charset="0"/>
              </a:rPr>
              <a:t>Examples: Remote-controlled drones.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Automatic Control: </a:t>
            </a:r>
            <a:r>
              <a:rPr lang="en-US" dirty="0">
                <a:latin typeface="Times New Roman" panose="02020603050405020304" pitchFamily="18" charset="0"/>
                <a:cs typeface="Times New Roman" panose="02020603050405020304" pitchFamily="18" charset="0"/>
              </a:rPr>
              <a:t>Pre-programmed robots with no real-time feedback.</a:t>
            </a:r>
          </a:p>
          <a:p>
            <a:pPr marL="0" indent="0">
              <a:buNone/>
            </a:pPr>
            <a:r>
              <a:rPr lang="en-US" dirty="0">
                <a:latin typeface="Times New Roman" panose="02020603050405020304" pitchFamily="18" charset="0"/>
                <a:cs typeface="Times New Roman" panose="02020603050405020304" pitchFamily="18" charset="0"/>
              </a:rPr>
              <a:t>Examples: Robotic arms in fixed assembly lines.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Semi-Autonomous Robots: </a:t>
            </a:r>
            <a:r>
              <a:rPr lang="en-US" dirty="0">
                <a:latin typeface="Times New Roman" panose="02020603050405020304" pitchFamily="18" charset="0"/>
                <a:cs typeface="Times New Roman" panose="02020603050405020304" pitchFamily="18" charset="0"/>
              </a:rPr>
              <a:t>Perform tasks with some level of human intervention.</a:t>
            </a:r>
          </a:p>
          <a:p>
            <a:pPr marL="0" indent="0">
              <a:buNone/>
            </a:pPr>
            <a:r>
              <a:rPr lang="en-US" dirty="0">
                <a:latin typeface="Times New Roman" panose="02020603050405020304" pitchFamily="18" charset="0"/>
                <a:cs typeface="Times New Roman" panose="02020603050405020304" pitchFamily="18" charset="0"/>
              </a:rPr>
              <a:t>Examples: Drones with autopilot features.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Fully Autonomous Robots: </a:t>
            </a:r>
            <a:r>
              <a:rPr lang="en-US" dirty="0">
                <a:latin typeface="Times New Roman" panose="02020603050405020304" pitchFamily="18" charset="0"/>
                <a:cs typeface="Times New Roman" panose="02020603050405020304" pitchFamily="18" charset="0"/>
              </a:rPr>
              <a:t>Operate without human intervention, using AI and sensors for decision-making.</a:t>
            </a:r>
          </a:p>
          <a:p>
            <a:pPr marL="0" indent="0">
              <a:buNone/>
            </a:pPr>
            <a:r>
              <a:rPr lang="en-US" dirty="0">
                <a:latin typeface="Times New Roman" panose="02020603050405020304" pitchFamily="18" charset="0"/>
                <a:cs typeface="Times New Roman" panose="02020603050405020304" pitchFamily="18" charset="0"/>
              </a:rPr>
              <a:t>Examples: Self-driving cars, warehouse robots.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328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D9DE6-7990-F3EB-50CE-EA36EABBD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12EEF-3106-7D93-D93B-27C141BE7BF7}"/>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Classification of Robots</a:t>
            </a:r>
          </a:p>
        </p:txBody>
      </p:sp>
      <p:graphicFrame>
        <p:nvGraphicFramePr>
          <p:cNvPr id="4" name="Content Placeholder 3">
            <a:extLst>
              <a:ext uri="{FF2B5EF4-FFF2-40B4-BE49-F238E27FC236}">
                <a16:creationId xmlns:a16="http://schemas.microsoft.com/office/drawing/2014/main" id="{502A9C63-2A8A-A156-7409-1718FBDE9C20}"/>
              </a:ext>
            </a:extLst>
          </p:cNvPr>
          <p:cNvGraphicFramePr>
            <a:graphicFrameLocks noGrp="1"/>
          </p:cNvGraphicFramePr>
          <p:nvPr>
            <p:ph idx="1"/>
            <p:extLst>
              <p:ext uri="{D42A27DB-BD31-4B8C-83A1-F6EECF244321}">
                <p14:modId xmlns:p14="http://schemas.microsoft.com/office/powerpoint/2010/main" val="1355651553"/>
              </p:ext>
            </p:extLst>
          </p:nvPr>
        </p:nvGraphicFramePr>
        <p:xfrm>
          <a:off x="820086" y="1996124"/>
          <a:ext cx="7454484" cy="2950630"/>
        </p:xfrm>
        <a:graphic>
          <a:graphicData uri="http://schemas.openxmlformats.org/drawingml/2006/table">
            <a:tbl>
              <a:tblPr/>
              <a:tblGrid>
                <a:gridCol w="2484828">
                  <a:extLst>
                    <a:ext uri="{9D8B030D-6E8A-4147-A177-3AD203B41FA5}">
                      <a16:colId xmlns:a16="http://schemas.microsoft.com/office/drawing/2014/main" val="1224039450"/>
                    </a:ext>
                  </a:extLst>
                </a:gridCol>
                <a:gridCol w="2484828">
                  <a:extLst>
                    <a:ext uri="{9D8B030D-6E8A-4147-A177-3AD203B41FA5}">
                      <a16:colId xmlns:a16="http://schemas.microsoft.com/office/drawing/2014/main" val="3753195742"/>
                    </a:ext>
                  </a:extLst>
                </a:gridCol>
                <a:gridCol w="2484828">
                  <a:extLst>
                    <a:ext uri="{9D8B030D-6E8A-4147-A177-3AD203B41FA5}">
                      <a16:colId xmlns:a16="http://schemas.microsoft.com/office/drawing/2014/main" val="3103565642"/>
                    </a:ext>
                  </a:extLst>
                </a:gridCol>
              </a:tblGrid>
              <a:tr h="1475315">
                <a:tc>
                  <a:txBody>
                    <a:bodyPr/>
                    <a:lstStyle/>
                    <a:p>
                      <a:pPr fontAlgn="base"/>
                      <a:r>
                        <a:rPr lang="en-IN" dirty="0">
                          <a:effectLst/>
                        </a:rPr>
                        <a:t>Workspace</a:t>
                      </a:r>
                    </a:p>
                  </a:txBody>
                  <a:tcPr anchor="ctr">
                    <a:lnL w="9525" cap="flat" cmpd="sng" algn="ctr">
                      <a:solidFill>
                        <a:srgbClr val="705F66"/>
                      </a:solidFill>
                      <a:prstDash val="solid"/>
                      <a:round/>
                      <a:headEnd type="none" w="med" len="med"/>
                      <a:tailEnd type="none" w="med" len="med"/>
                    </a:lnL>
                    <a:lnR w="9525" cap="flat" cmpd="sng" algn="ctr">
                      <a:solidFill>
                        <a:srgbClr val="805E66"/>
                      </a:solidFill>
                      <a:prstDash val="solid"/>
                      <a:round/>
                      <a:headEnd type="none" w="med" len="med"/>
                      <a:tailEnd type="none" w="med" len="med"/>
                    </a:lnR>
                    <a:lnT w="12700" cap="flat" cmpd="sng" algn="ctr">
                      <a:solidFill>
                        <a:srgbClr val="705F66"/>
                      </a:solidFill>
                      <a:prstDash val="solid"/>
                      <a:round/>
                      <a:headEnd type="none" w="med" len="med"/>
                      <a:tailEnd type="none" w="med" len="med"/>
                    </a:lnT>
                    <a:lnB w="12700" cap="flat" cmpd="sng" algn="ctr">
                      <a:solidFill>
                        <a:srgbClr val="805E66"/>
                      </a:solidFill>
                      <a:prstDash val="solid"/>
                      <a:round/>
                      <a:headEnd type="none" w="med" len="med"/>
                      <a:tailEnd type="none" w="med" len="med"/>
                    </a:lnB>
                    <a:noFill/>
                  </a:tcPr>
                </a:tc>
                <a:tc>
                  <a:txBody>
                    <a:bodyPr/>
                    <a:lstStyle/>
                    <a:p>
                      <a:pPr fontAlgn="base"/>
                      <a:r>
                        <a:rPr lang="en-IN" dirty="0">
                          <a:effectLst/>
                        </a:rPr>
                        <a:t>Cartesian, Cylindrical, Spherical, Articulated, SCARA</a:t>
                      </a:r>
                    </a:p>
                  </a:txBody>
                  <a:tcPr anchor="ctr">
                    <a:lnL w="9525" cap="flat" cmpd="sng" algn="ctr">
                      <a:solidFill>
                        <a:srgbClr val="805E66"/>
                      </a:solidFill>
                      <a:prstDash val="solid"/>
                      <a:round/>
                      <a:headEnd type="none" w="med" len="med"/>
                      <a:tailEnd type="none" w="med" len="med"/>
                    </a:lnL>
                    <a:lnR w="9525" cap="flat" cmpd="sng" algn="ctr">
                      <a:solidFill>
                        <a:srgbClr val="A05F66"/>
                      </a:solidFill>
                      <a:prstDash val="solid"/>
                      <a:round/>
                      <a:headEnd type="none" w="med" len="med"/>
                      <a:tailEnd type="none" w="med" len="med"/>
                    </a:lnR>
                    <a:lnT w="12700" cap="flat" cmpd="sng" algn="ctr">
                      <a:solidFill>
                        <a:srgbClr val="805E66"/>
                      </a:solidFill>
                      <a:prstDash val="solid"/>
                      <a:round/>
                      <a:headEnd type="none" w="med" len="med"/>
                      <a:tailEnd type="none" w="med" len="med"/>
                    </a:lnT>
                    <a:lnB w="12700" cap="flat" cmpd="sng" algn="ctr">
                      <a:solidFill>
                        <a:srgbClr val="606066"/>
                      </a:solidFill>
                      <a:prstDash val="solid"/>
                      <a:round/>
                      <a:headEnd type="none" w="med" len="med"/>
                      <a:tailEnd type="none" w="med" len="med"/>
                    </a:lnB>
                    <a:noFill/>
                  </a:tcPr>
                </a:tc>
                <a:tc>
                  <a:txBody>
                    <a:bodyPr/>
                    <a:lstStyle/>
                    <a:p>
                      <a:pPr fontAlgn="base"/>
                      <a:r>
                        <a:rPr lang="en-IN">
                          <a:effectLst/>
                        </a:rPr>
                        <a:t>Assembly robots, CNC machines</a:t>
                      </a:r>
                    </a:p>
                  </a:txBody>
                  <a:tcPr anchor="ctr">
                    <a:lnL w="9525" cap="flat" cmpd="sng" algn="ctr">
                      <a:solidFill>
                        <a:srgbClr val="A05F66"/>
                      </a:solidFill>
                      <a:prstDash val="solid"/>
                      <a:round/>
                      <a:headEnd type="none" w="med" len="med"/>
                      <a:tailEnd type="none" w="med" len="med"/>
                    </a:lnL>
                    <a:lnR w="9525" cap="flat" cmpd="sng" algn="ctr">
                      <a:solidFill>
                        <a:srgbClr val="A05F66"/>
                      </a:solidFill>
                      <a:prstDash val="solid"/>
                      <a:round/>
                      <a:headEnd type="none" w="med" len="med"/>
                      <a:tailEnd type="none" w="med" len="med"/>
                    </a:lnR>
                    <a:lnT w="12700" cap="flat" cmpd="sng" algn="ctr">
                      <a:solidFill>
                        <a:srgbClr val="A05F66"/>
                      </a:solidFill>
                      <a:prstDash val="solid"/>
                      <a:round/>
                      <a:headEnd type="none" w="med" len="med"/>
                      <a:tailEnd type="none" w="med" len="med"/>
                    </a:lnT>
                    <a:lnB w="12700" cap="flat" cmpd="sng" algn="ctr">
                      <a:solidFill>
                        <a:srgbClr val="805E66"/>
                      </a:solidFill>
                      <a:prstDash val="solid"/>
                      <a:round/>
                      <a:headEnd type="none" w="med" len="med"/>
                      <a:tailEnd type="none" w="med" len="med"/>
                    </a:lnB>
                    <a:noFill/>
                  </a:tcPr>
                </a:tc>
                <a:extLst>
                  <a:ext uri="{0D108BD9-81ED-4DB2-BD59-A6C34878D82A}">
                    <a16:rowId xmlns:a16="http://schemas.microsoft.com/office/drawing/2014/main" val="3479335299"/>
                  </a:ext>
                </a:extLst>
              </a:tr>
              <a:tr h="1475315">
                <a:tc>
                  <a:txBody>
                    <a:bodyPr/>
                    <a:lstStyle/>
                    <a:p>
                      <a:pPr fontAlgn="base"/>
                      <a:r>
                        <a:rPr lang="en-IN" dirty="0">
                          <a:effectLst/>
                        </a:rPr>
                        <a:t>Interaction with Humans</a:t>
                      </a:r>
                    </a:p>
                  </a:txBody>
                  <a:tcPr anchor="ctr">
                    <a:lnL w="9525" cap="flat" cmpd="sng" algn="ctr">
                      <a:solidFill>
                        <a:srgbClr val="805E66"/>
                      </a:solidFill>
                      <a:prstDash val="solid"/>
                      <a:round/>
                      <a:headEnd type="none" w="med" len="med"/>
                      <a:tailEnd type="none" w="med" len="med"/>
                    </a:lnL>
                    <a:lnR w="9525" cap="flat" cmpd="sng" algn="ctr">
                      <a:solidFill>
                        <a:srgbClr val="606066"/>
                      </a:solidFill>
                      <a:prstDash val="solid"/>
                      <a:round/>
                      <a:headEnd type="none" w="med" len="med"/>
                      <a:tailEnd type="none" w="med" len="med"/>
                    </a:lnR>
                    <a:lnT w="12700" cap="flat" cmpd="sng" algn="ctr">
                      <a:solidFill>
                        <a:srgbClr val="805E66"/>
                      </a:solidFill>
                      <a:prstDash val="solid"/>
                      <a:round/>
                      <a:headEnd type="none" w="med" len="med"/>
                      <a:tailEnd type="none" w="med" len="med"/>
                    </a:lnT>
                    <a:lnB w="9525" cap="flat" cmpd="sng" algn="ctr">
                      <a:solidFill>
                        <a:srgbClr val="805E66"/>
                      </a:solidFill>
                      <a:prstDash val="solid"/>
                      <a:round/>
                      <a:headEnd type="none" w="med" len="med"/>
                      <a:tailEnd type="none" w="med" len="med"/>
                    </a:lnB>
                    <a:noFill/>
                  </a:tcPr>
                </a:tc>
                <a:tc>
                  <a:txBody>
                    <a:bodyPr/>
                    <a:lstStyle/>
                    <a:p>
                      <a:pPr fontAlgn="base"/>
                      <a:r>
                        <a:rPr lang="en-IN" dirty="0">
                          <a:effectLst/>
                        </a:rPr>
                        <a:t>Collaborative, Autonomous, Humanoid</a:t>
                      </a:r>
                    </a:p>
                  </a:txBody>
                  <a:tcPr anchor="ctr">
                    <a:lnL w="9525" cap="flat" cmpd="sng" algn="ctr">
                      <a:solidFill>
                        <a:srgbClr val="606066"/>
                      </a:solidFill>
                      <a:prstDash val="solid"/>
                      <a:round/>
                      <a:headEnd type="none" w="med" len="med"/>
                      <a:tailEnd type="none" w="med" len="med"/>
                    </a:lnL>
                    <a:lnR w="9525" cap="flat" cmpd="sng" algn="ctr">
                      <a:solidFill>
                        <a:srgbClr val="805E66"/>
                      </a:solidFill>
                      <a:prstDash val="solid"/>
                      <a:round/>
                      <a:headEnd type="none" w="med" len="med"/>
                      <a:tailEnd type="none" w="med" len="med"/>
                    </a:lnR>
                    <a:lnT w="12700" cap="flat" cmpd="sng" algn="ctr">
                      <a:solidFill>
                        <a:srgbClr val="606066"/>
                      </a:solidFill>
                      <a:prstDash val="solid"/>
                      <a:round/>
                      <a:headEnd type="none" w="med" len="med"/>
                      <a:tailEnd type="none" w="med" len="med"/>
                    </a:lnT>
                    <a:lnB w="9525" cap="flat" cmpd="sng" algn="ctr">
                      <a:solidFill>
                        <a:srgbClr val="606066"/>
                      </a:solidFill>
                      <a:prstDash val="solid"/>
                      <a:round/>
                      <a:headEnd type="none" w="med" len="med"/>
                      <a:tailEnd type="none" w="med" len="med"/>
                    </a:lnB>
                    <a:noFill/>
                  </a:tcPr>
                </a:tc>
                <a:tc>
                  <a:txBody>
                    <a:bodyPr/>
                    <a:lstStyle/>
                    <a:p>
                      <a:pPr fontAlgn="base"/>
                      <a:r>
                        <a:rPr lang="en-IN" dirty="0" err="1">
                          <a:effectLst/>
                        </a:rPr>
                        <a:t>Cobots</a:t>
                      </a:r>
                      <a:r>
                        <a:rPr lang="en-IN" dirty="0">
                          <a:effectLst/>
                        </a:rPr>
                        <a:t>, social robots</a:t>
                      </a:r>
                    </a:p>
                  </a:txBody>
                  <a:tcPr anchor="ctr">
                    <a:lnL w="9525" cap="flat" cmpd="sng" algn="ctr">
                      <a:solidFill>
                        <a:srgbClr val="805E66"/>
                      </a:solidFill>
                      <a:prstDash val="solid"/>
                      <a:round/>
                      <a:headEnd type="none" w="med" len="med"/>
                      <a:tailEnd type="none" w="med" len="med"/>
                    </a:lnL>
                    <a:lnR w="9525" cap="flat" cmpd="sng" algn="ctr">
                      <a:solidFill>
                        <a:srgbClr val="805E66"/>
                      </a:solidFill>
                      <a:prstDash val="solid"/>
                      <a:round/>
                      <a:headEnd type="none" w="med" len="med"/>
                      <a:tailEnd type="none" w="med" len="med"/>
                    </a:lnR>
                    <a:lnT w="12700" cap="flat" cmpd="sng" algn="ctr">
                      <a:solidFill>
                        <a:srgbClr val="805E66"/>
                      </a:solidFill>
                      <a:prstDash val="solid"/>
                      <a:round/>
                      <a:headEnd type="none" w="med" len="med"/>
                      <a:tailEnd type="none" w="med" len="med"/>
                    </a:lnT>
                    <a:lnB w="9525" cap="flat" cmpd="sng" algn="ctr">
                      <a:solidFill>
                        <a:srgbClr val="805E66"/>
                      </a:solidFill>
                      <a:prstDash val="solid"/>
                      <a:round/>
                      <a:headEnd type="none" w="med" len="med"/>
                      <a:tailEnd type="none" w="med" len="med"/>
                    </a:lnB>
                    <a:noFill/>
                  </a:tcPr>
                </a:tc>
                <a:extLst>
                  <a:ext uri="{0D108BD9-81ED-4DB2-BD59-A6C34878D82A}">
                    <a16:rowId xmlns:a16="http://schemas.microsoft.com/office/drawing/2014/main" val="2572618068"/>
                  </a:ext>
                </a:extLst>
              </a:tr>
            </a:tbl>
          </a:graphicData>
        </a:graphic>
      </p:graphicFrame>
      <p:graphicFrame>
        <p:nvGraphicFramePr>
          <p:cNvPr id="5" name="Table 4">
            <a:extLst>
              <a:ext uri="{FF2B5EF4-FFF2-40B4-BE49-F238E27FC236}">
                <a16:creationId xmlns:a16="http://schemas.microsoft.com/office/drawing/2014/main" id="{1F90F3BB-7040-2745-BD61-D235C17D2419}"/>
              </a:ext>
            </a:extLst>
          </p:cNvPr>
          <p:cNvGraphicFramePr>
            <a:graphicFrameLocks noGrp="1"/>
          </p:cNvGraphicFramePr>
          <p:nvPr>
            <p:extLst>
              <p:ext uri="{D42A27DB-BD31-4B8C-83A1-F6EECF244321}">
                <p14:modId xmlns:p14="http://schemas.microsoft.com/office/powerpoint/2010/main" val="4058944153"/>
              </p:ext>
            </p:extLst>
          </p:nvPr>
        </p:nvGraphicFramePr>
        <p:xfrm>
          <a:off x="820085" y="1630364"/>
          <a:ext cx="7454484" cy="365760"/>
        </p:xfrm>
        <a:graphic>
          <a:graphicData uri="http://schemas.openxmlformats.org/drawingml/2006/table">
            <a:tbl>
              <a:tblPr/>
              <a:tblGrid>
                <a:gridCol w="2484828">
                  <a:extLst>
                    <a:ext uri="{9D8B030D-6E8A-4147-A177-3AD203B41FA5}">
                      <a16:colId xmlns:a16="http://schemas.microsoft.com/office/drawing/2014/main" val="2897513224"/>
                    </a:ext>
                  </a:extLst>
                </a:gridCol>
                <a:gridCol w="2484828">
                  <a:extLst>
                    <a:ext uri="{9D8B030D-6E8A-4147-A177-3AD203B41FA5}">
                      <a16:colId xmlns:a16="http://schemas.microsoft.com/office/drawing/2014/main" val="3244032409"/>
                    </a:ext>
                  </a:extLst>
                </a:gridCol>
                <a:gridCol w="2484828">
                  <a:extLst>
                    <a:ext uri="{9D8B030D-6E8A-4147-A177-3AD203B41FA5}">
                      <a16:colId xmlns:a16="http://schemas.microsoft.com/office/drawing/2014/main" val="3242773448"/>
                    </a:ext>
                  </a:extLst>
                </a:gridCol>
              </a:tblGrid>
              <a:tr h="0">
                <a:tc>
                  <a:txBody>
                    <a:bodyPr/>
                    <a:lstStyle/>
                    <a:p>
                      <a:pPr fontAlgn="b"/>
                      <a:r>
                        <a:rPr lang="en-IN" b="1" dirty="0">
                          <a:effectLst/>
                        </a:rPr>
                        <a:t>Criteria</a:t>
                      </a:r>
                    </a:p>
                  </a:txBody>
                  <a:tcPr anchor="b">
                    <a:lnL w="9525" cap="flat" cmpd="sng" algn="ctr">
                      <a:solidFill>
                        <a:srgbClr val="2847A1"/>
                      </a:solidFill>
                      <a:prstDash val="solid"/>
                      <a:round/>
                      <a:headEnd type="none" w="med" len="med"/>
                      <a:tailEnd type="none" w="med" len="med"/>
                    </a:lnL>
                    <a:lnR w="9525" cap="flat" cmpd="sng" algn="ctr">
                      <a:solidFill>
                        <a:srgbClr val="D845A1"/>
                      </a:solidFill>
                      <a:prstDash val="solid"/>
                      <a:round/>
                      <a:headEnd type="none" w="med" len="med"/>
                      <a:tailEnd type="none" w="med" len="med"/>
                    </a:lnR>
                    <a:lnT w="9525" cap="flat" cmpd="sng" algn="ctr">
                      <a:solidFill>
                        <a:srgbClr val="2847A1"/>
                      </a:solidFill>
                      <a:prstDash val="solid"/>
                      <a:round/>
                      <a:headEnd type="none" w="med" len="med"/>
                      <a:tailEnd type="none" w="med" len="med"/>
                    </a:lnT>
                    <a:lnB w="9525" cap="flat" cmpd="sng" algn="ctr">
                      <a:solidFill>
                        <a:srgbClr val="2847A1"/>
                      </a:solidFill>
                      <a:prstDash val="solid"/>
                      <a:round/>
                      <a:headEnd type="none" w="med" len="med"/>
                      <a:tailEnd type="none" w="med" len="med"/>
                    </a:lnB>
                    <a:noFill/>
                  </a:tcPr>
                </a:tc>
                <a:tc>
                  <a:txBody>
                    <a:bodyPr/>
                    <a:lstStyle/>
                    <a:p>
                      <a:pPr fontAlgn="b"/>
                      <a:r>
                        <a:rPr lang="en-IN" b="1">
                          <a:effectLst/>
                        </a:rPr>
                        <a:t>Types</a:t>
                      </a:r>
                    </a:p>
                  </a:txBody>
                  <a:tcPr anchor="b">
                    <a:lnL w="9525" cap="flat" cmpd="sng" algn="ctr">
                      <a:solidFill>
                        <a:srgbClr val="D845A1"/>
                      </a:solidFill>
                      <a:prstDash val="solid"/>
                      <a:round/>
                      <a:headEnd type="none" w="med" len="med"/>
                      <a:tailEnd type="none" w="med" len="med"/>
                    </a:lnL>
                    <a:lnR w="9525" cap="flat" cmpd="sng" algn="ctr">
                      <a:solidFill>
                        <a:srgbClr val="2847A1"/>
                      </a:solidFill>
                      <a:prstDash val="solid"/>
                      <a:round/>
                      <a:headEnd type="none" w="med" len="med"/>
                      <a:tailEnd type="none" w="med" len="med"/>
                    </a:lnR>
                    <a:lnT w="9525" cap="flat" cmpd="sng" algn="ctr">
                      <a:solidFill>
                        <a:srgbClr val="D845A1"/>
                      </a:solidFill>
                      <a:prstDash val="solid"/>
                      <a:round/>
                      <a:headEnd type="none" w="med" len="med"/>
                      <a:tailEnd type="none" w="med" len="med"/>
                    </a:lnT>
                    <a:lnB w="9525" cap="flat" cmpd="sng" algn="ctr">
                      <a:solidFill>
                        <a:srgbClr val="D845A1"/>
                      </a:solidFill>
                      <a:prstDash val="solid"/>
                      <a:round/>
                      <a:headEnd type="none" w="med" len="med"/>
                      <a:tailEnd type="none" w="med" len="med"/>
                    </a:lnB>
                    <a:noFill/>
                  </a:tcPr>
                </a:tc>
                <a:tc>
                  <a:txBody>
                    <a:bodyPr/>
                    <a:lstStyle/>
                    <a:p>
                      <a:pPr fontAlgn="b"/>
                      <a:r>
                        <a:rPr lang="en-IN" b="1" dirty="0">
                          <a:effectLst/>
                        </a:rPr>
                        <a:t>Examples</a:t>
                      </a:r>
                    </a:p>
                  </a:txBody>
                  <a:tcPr anchor="b">
                    <a:lnL w="9525" cap="flat" cmpd="sng" algn="ctr">
                      <a:solidFill>
                        <a:srgbClr val="2847A1"/>
                      </a:solidFill>
                      <a:prstDash val="solid"/>
                      <a:round/>
                      <a:headEnd type="none" w="med" len="med"/>
                      <a:tailEnd type="none" w="med" len="med"/>
                    </a:lnL>
                    <a:lnR w="9525" cap="flat" cmpd="sng" algn="ctr">
                      <a:solidFill>
                        <a:srgbClr val="2847A1"/>
                      </a:solidFill>
                      <a:prstDash val="solid"/>
                      <a:round/>
                      <a:headEnd type="none" w="med" len="med"/>
                      <a:tailEnd type="none" w="med" len="med"/>
                    </a:lnR>
                    <a:lnT w="9525" cap="flat" cmpd="sng" algn="ctr">
                      <a:solidFill>
                        <a:srgbClr val="2847A1"/>
                      </a:solidFill>
                      <a:prstDash val="solid"/>
                      <a:round/>
                      <a:headEnd type="none" w="med" len="med"/>
                      <a:tailEnd type="none" w="med" len="med"/>
                    </a:lnT>
                    <a:lnB w="9525" cap="flat" cmpd="sng" algn="ctr">
                      <a:solidFill>
                        <a:srgbClr val="2847A1"/>
                      </a:solidFill>
                      <a:prstDash val="solid"/>
                      <a:round/>
                      <a:headEnd type="none" w="med" len="med"/>
                      <a:tailEnd type="none" w="med" len="med"/>
                    </a:lnB>
                    <a:noFill/>
                  </a:tcPr>
                </a:tc>
                <a:extLst>
                  <a:ext uri="{0D108BD9-81ED-4DB2-BD59-A6C34878D82A}">
                    <a16:rowId xmlns:a16="http://schemas.microsoft.com/office/drawing/2014/main" val="1112096882"/>
                  </a:ext>
                </a:extLst>
              </a:tr>
            </a:tbl>
          </a:graphicData>
        </a:graphic>
      </p:graphicFrame>
    </p:spTree>
    <p:extLst>
      <p:ext uri="{BB962C8B-B14F-4D97-AF65-F5344CB8AC3E}">
        <p14:creationId xmlns:p14="http://schemas.microsoft.com/office/powerpoint/2010/main" val="1257674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p:cNvSpPr>
            <a:spLocks noGrp="1"/>
          </p:cNvSpPr>
          <p:nvPr>
            <p:ph idx="1"/>
          </p:nvPr>
        </p:nvSpPr>
        <p:spPr>
          <a:xfrm>
            <a:off x="457200" y="1383910"/>
            <a:ext cx="8229600" cy="5199452"/>
          </a:xfrm>
        </p:spPr>
        <p:txBody>
          <a:bodyPr>
            <a:normAutofit fontScale="70000" lnSpcReduction="20000"/>
          </a:bodyPr>
          <a:lstStyle/>
          <a:p>
            <a:pPr marL="0" indent="0">
              <a:buNone/>
            </a:pPr>
            <a:r>
              <a:rPr lang="en-US" sz="3900" b="1" dirty="0">
                <a:latin typeface="Times New Roman" panose="02020603050405020304" pitchFamily="18" charset="0"/>
                <a:cs typeface="Times New Roman" panose="02020603050405020304" pitchFamily="18" charset="0"/>
              </a:rPr>
              <a:t>I. </a:t>
            </a:r>
            <a:r>
              <a:rPr sz="3900" b="1" dirty="0">
                <a:latin typeface="Times New Roman" panose="02020603050405020304" pitchFamily="18" charset="0"/>
                <a:cs typeface="Times New Roman" panose="02020603050405020304" pitchFamily="18" charset="0"/>
              </a:rPr>
              <a:t>Sensors</a:t>
            </a:r>
            <a:endParaRPr lang="en-US" sz="3900" b="1" dirty="0">
              <a:latin typeface="Times New Roman" panose="02020603050405020304" pitchFamily="18" charset="0"/>
              <a:cs typeface="Times New Roman" panose="02020603050405020304" pitchFamily="18" charset="0"/>
            </a:endParaRPr>
          </a:p>
          <a:p>
            <a:pPr marL="0" indent="0">
              <a:buNone/>
            </a:pPr>
            <a:endParaRPr lang="en-US" sz="9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Devices that detect environmental or internal conditions and provide data to the robot's control system.</a:t>
            </a:r>
          </a:p>
          <a:p>
            <a:pPr marL="0" indent="0">
              <a:buNone/>
            </a:pPr>
            <a:r>
              <a:rPr lang="en-US" b="1" dirty="0">
                <a:latin typeface="Times New Roman" panose="02020603050405020304" pitchFamily="18" charset="0"/>
                <a:cs typeface="Times New Roman" panose="02020603050405020304" pitchFamily="18" charset="0"/>
              </a:rPr>
              <a:t>Types of Sensors:</a:t>
            </a:r>
          </a:p>
          <a:p>
            <a:r>
              <a:rPr lang="en-US" b="1" dirty="0">
                <a:latin typeface="Times New Roman" panose="02020603050405020304" pitchFamily="18" charset="0"/>
                <a:cs typeface="Times New Roman" panose="02020603050405020304" pitchFamily="18" charset="0"/>
              </a:rPr>
              <a:t>Proximity Sensors: </a:t>
            </a:r>
            <a:r>
              <a:rPr lang="en-US" dirty="0">
                <a:latin typeface="Times New Roman" panose="02020603050405020304" pitchFamily="18" charset="0"/>
                <a:cs typeface="Times New Roman" panose="02020603050405020304" pitchFamily="18" charset="0"/>
              </a:rPr>
              <a:t>Detect nearby objects without physical contact. Ex: Ultrasonic sensors in autonomous vehicles.</a:t>
            </a:r>
          </a:p>
          <a:p>
            <a:r>
              <a:rPr lang="en-US" b="1" dirty="0">
                <a:latin typeface="Times New Roman" panose="02020603050405020304" pitchFamily="18" charset="0"/>
                <a:cs typeface="Times New Roman" panose="02020603050405020304" pitchFamily="18" charset="0"/>
              </a:rPr>
              <a:t>Vision Sensors (Cameras): </a:t>
            </a:r>
            <a:r>
              <a:rPr lang="en-US" dirty="0">
                <a:latin typeface="Times New Roman" panose="02020603050405020304" pitchFamily="18" charset="0"/>
                <a:cs typeface="Times New Roman" panose="02020603050405020304" pitchFamily="18" charset="0"/>
              </a:rPr>
              <a:t>Capture images or video for object recognition and navigation. Example: Cameras used in warehouse robots.</a:t>
            </a:r>
          </a:p>
          <a:p>
            <a:r>
              <a:rPr lang="en-US" b="1" dirty="0">
                <a:latin typeface="Times New Roman" panose="02020603050405020304" pitchFamily="18" charset="0"/>
                <a:cs typeface="Times New Roman" panose="02020603050405020304" pitchFamily="18" charset="0"/>
              </a:rPr>
              <a:t>Tactile Sensors: </a:t>
            </a:r>
            <a:r>
              <a:rPr lang="en-US" dirty="0">
                <a:latin typeface="Times New Roman" panose="02020603050405020304" pitchFamily="18" charset="0"/>
                <a:cs typeface="Times New Roman" panose="02020603050405020304" pitchFamily="18" charset="0"/>
              </a:rPr>
              <a:t>Mimic the sense of touch to measure pressure or texture. Example: Used in robotic grippers for handling delicate objects.</a:t>
            </a:r>
          </a:p>
          <a:p>
            <a:r>
              <a:rPr lang="en-US" b="1" dirty="0">
                <a:latin typeface="Times New Roman" panose="02020603050405020304" pitchFamily="18" charset="0"/>
                <a:cs typeface="Times New Roman" panose="02020603050405020304" pitchFamily="18" charset="0"/>
              </a:rPr>
              <a:t>Force/Torque Sensors: </a:t>
            </a:r>
            <a:r>
              <a:rPr lang="en-US" dirty="0">
                <a:latin typeface="Times New Roman" panose="02020603050405020304" pitchFamily="18" charset="0"/>
                <a:cs typeface="Times New Roman" panose="02020603050405020304" pitchFamily="18" charset="0"/>
              </a:rPr>
              <a:t>Measure force and torque during operations. Example: Welding robots for precision control.</a:t>
            </a:r>
          </a:p>
          <a:p>
            <a:r>
              <a:rPr lang="en-US" b="1" dirty="0">
                <a:latin typeface="Times New Roman" panose="02020603050405020304" pitchFamily="18" charset="0"/>
                <a:cs typeface="Times New Roman" panose="02020603050405020304" pitchFamily="18" charset="0"/>
              </a:rPr>
              <a:t>Gyroscope/Accelerometers: </a:t>
            </a:r>
            <a:r>
              <a:rPr lang="en-US" dirty="0">
                <a:latin typeface="Times New Roman" panose="02020603050405020304" pitchFamily="18" charset="0"/>
                <a:cs typeface="Times New Roman" panose="02020603050405020304" pitchFamily="18" charset="0"/>
              </a:rPr>
              <a:t>Measure orientation, position, and motion. Example: Balance control in bipedal robots.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p:cNvSpPr>
            <a:spLocks noGrp="1"/>
          </p:cNvSpPr>
          <p:nvPr>
            <p:ph idx="1"/>
          </p:nvPr>
        </p:nvSpPr>
        <p:spPr/>
        <p:txBody>
          <a:bodyPr>
            <a:normAutofit fontScale="70000" lnSpcReduction="20000"/>
          </a:bodyPr>
          <a:lstStyle/>
          <a:p>
            <a:pPr marL="0" indent="0">
              <a:buNone/>
            </a:pPr>
            <a:r>
              <a:rPr lang="en-US" sz="3900" b="1" dirty="0">
                <a:latin typeface="Times New Roman" panose="02020603050405020304" pitchFamily="18" charset="0"/>
                <a:cs typeface="Times New Roman" panose="02020603050405020304" pitchFamily="18" charset="0"/>
              </a:rPr>
              <a:t>II. </a:t>
            </a:r>
            <a:r>
              <a:rPr sz="3900" b="1" dirty="0">
                <a:latin typeface="Times New Roman" panose="02020603050405020304" pitchFamily="18" charset="0"/>
                <a:cs typeface="Times New Roman" panose="02020603050405020304" pitchFamily="18" charset="0"/>
              </a:rPr>
              <a:t>Actuators</a:t>
            </a:r>
            <a:endParaRPr lang="en-US" sz="3900" b="1" dirty="0">
              <a:latin typeface="Times New Roman" panose="02020603050405020304" pitchFamily="18" charset="0"/>
              <a:cs typeface="Times New Roman" panose="02020603050405020304" pitchFamily="18" charset="0"/>
            </a:endParaRPr>
          </a:p>
          <a:p>
            <a:pPr marL="0" indent="0">
              <a:buNone/>
            </a:pPr>
            <a:endParaRPr lang="en-US" sz="10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Devices that convert energy into mechanical motion.</a:t>
            </a:r>
          </a:p>
          <a:p>
            <a:pPr marL="0" indent="0">
              <a:buNone/>
            </a:pPr>
            <a:r>
              <a:rPr lang="en-US" dirty="0">
                <a:latin typeface="Times New Roman" panose="02020603050405020304" pitchFamily="18" charset="0"/>
                <a:cs typeface="Times New Roman" panose="02020603050405020304" pitchFamily="18" charset="0"/>
              </a:rPr>
              <a:t>Types of Actuators:</a:t>
            </a:r>
          </a:p>
          <a:p>
            <a:r>
              <a:rPr lang="en-US" b="1" dirty="0">
                <a:latin typeface="Times New Roman" panose="02020603050405020304" pitchFamily="18" charset="0"/>
                <a:cs typeface="Times New Roman" panose="02020603050405020304" pitchFamily="18" charset="0"/>
              </a:rPr>
              <a:t>Electric Actuators: </a:t>
            </a:r>
            <a:r>
              <a:rPr lang="en-US" dirty="0">
                <a:latin typeface="Times New Roman" panose="02020603050405020304" pitchFamily="18" charset="0"/>
                <a:cs typeface="Times New Roman" panose="02020603050405020304" pitchFamily="18" charset="0"/>
              </a:rPr>
              <a:t>Motors powered by electricity; commonly used due to precision and efficiency. Example: DC motors in robotic arms.</a:t>
            </a:r>
          </a:p>
          <a:p>
            <a:r>
              <a:rPr lang="en-US" b="1" dirty="0">
                <a:latin typeface="Times New Roman" panose="02020603050405020304" pitchFamily="18" charset="0"/>
                <a:cs typeface="Times New Roman" panose="02020603050405020304" pitchFamily="18" charset="0"/>
              </a:rPr>
              <a:t>Hydraulic Actuators: </a:t>
            </a:r>
            <a:r>
              <a:rPr lang="en-US" dirty="0">
                <a:latin typeface="Times New Roman" panose="02020603050405020304" pitchFamily="18" charset="0"/>
                <a:cs typeface="Times New Roman" panose="02020603050405020304" pitchFamily="18" charset="0"/>
              </a:rPr>
              <a:t>Use pressurized fluids for heavy-duty tasks. Example: Excavation robots.</a:t>
            </a:r>
          </a:p>
          <a:p>
            <a:r>
              <a:rPr lang="en-US" b="1" dirty="0">
                <a:latin typeface="Times New Roman" panose="02020603050405020304" pitchFamily="18" charset="0"/>
                <a:cs typeface="Times New Roman" panose="02020603050405020304" pitchFamily="18" charset="0"/>
              </a:rPr>
              <a:t>Pneumatic Actuators: </a:t>
            </a:r>
            <a:r>
              <a:rPr lang="en-US" dirty="0">
                <a:latin typeface="Times New Roman" panose="02020603050405020304" pitchFamily="18" charset="0"/>
                <a:cs typeface="Times New Roman" panose="02020603050405020304" pitchFamily="18" charset="0"/>
              </a:rPr>
              <a:t>Use compressed air for lightweight and rapid operations. Example: Assembly line robots.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Importance: Actuators provide the movement required to perform tasks, such as picking up objects or navigating environments.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p:cNvSpPr>
            <a:spLocks noGrp="1"/>
          </p:cNvSpPr>
          <p:nvPr>
            <p:ph idx="1"/>
          </p:nvPr>
        </p:nvSpPr>
        <p:spPr>
          <a:xfrm>
            <a:off x="457200" y="1600200"/>
            <a:ext cx="8229600" cy="4983162"/>
          </a:xfrm>
        </p:spPr>
        <p:txBody>
          <a:bodyPr>
            <a:normAutofit fontScale="70000" lnSpcReduction="20000"/>
          </a:bodyPr>
          <a:lstStyle/>
          <a:p>
            <a:pPr marL="0" indent="0">
              <a:buNone/>
            </a:pPr>
            <a:r>
              <a:rPr lang="en-US" sz="4300" b="1" dirty="0">
                <a:latin typeface="Times New Roman" panose="02020603050405020304" pitchFamily="18" charset="0"/>
                <a:cs typeface="Times New Roman" panose="02020603050405020304" pitchFamily="18" charset="0"/>
              </a:rPr>
              <a:t>III. </a:t>
            </a:r>
            <a:r>
              <a:rPr sz="4300" b="1" dirty="0">
                <a:latin typeface="Times New Roman" panose="02020603050405020304" pitchFamily="18" charset="0"/>
                <a:cs typeface="Times New Roman" panose="02020603050405020304" pitchFamily="18" charset="0"/>
              </a:rPr>
              <a:t>Control Systems</a:t>
            </a:r>
            <a:endParaRPr lang="en-US" sz="4300" b="1" dirty="0">
              <a:latin typeface="Times New Roman" panose="02020603050405020304" pitchFamily="18" charset="0"/>
              <a:cs typeface="Times New Roman" panose="02020603050405020304" pitchFamily="18" charset="0"/>
            </a:endParaRPr>
          </a:p>
          <a:p>
            <a:pPr marL="0" indent="0">
              <a:buNone/>
            </a:pPr>
            <a:endParaRPr lang="en-US" sz="11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Systems that manage and coordinate the operation of sensors, actuators, and other components.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Types of Control Systems:</a:t>
            </a: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Open-Loop Control: </a:t>
            </a:r>
            <a:r>
              <a:rPr lang="en-US" dirty="0">
                <a:latin typeface="Times New Roman" panose="02020603050405020304" pitchFamily="18" charset="0"/>
                <a:cs typeface="Times New Roman" panose="02020603050405020304" pitchFamily="18" charset="0"/>
              </a:rPr>
              <a:t>No feedback mechanism; actions are pre-programmed. Example: Conveyor belts with fixed timing.</a:t>
            </a: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Closed-Loop Control: </a:t>
            </a:r>
            <a:r>
              <a:rPr lang="en-US" dirty="0">
                <a:latin typeface="Times New Roman" panose="02020603050405020304" pitchFamily="18" charset="0"/>
                <a:cs typeface="Times New Roman" panose="02020603050405020304" pitchFamily="18" charset="0"/>
              </a:rPr>
              <a:t>Uses feedback from sensors to adjust actions in real-time. Example: Temperature control in welding robots.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Key Functions: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Process data from sensors.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Decide actions based on programming or AI algorithms.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Send signals to actuators for motion or task execution.</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EF3A-E511-B083-EB0A-FDC37AB3C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5BCE9-EC13-787A-3AE3-8C84831FC2BF}"/>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a:extLst>
              <a:ext uri="{FF2B5EF4-FFF2-40B4-BE49-F238E27FC236}">
                <a16:creationId xmlns:a16="http://schemas.microsoft.com/office/drawing/2014/main" id="{55607849-538D-EE01-9252-91379C6B9467}"/>
              </a:ext>
            </a:extLst>
          </p:cNvPr>
          <p:cNvSpPr>
            <a:spLocks noGrp="1"/>
          </p:cNvSpPr>
          <p:nvPr>
            <p:ph idx="1"/>
          </p:nvPr>
        </p:nvSpPr>
        <p:spPr>
          <a:xfrm>
            <a:off x="457200" y="1600200"/>
            <a:ext cx="8229600" cy="4983162"/>
          </a:xfrm>
        </p:spPr>
        <p:txBody>
          <a:bodyPr>
            <a:normAutofit fontScale="70000" lnSpcReduction="20000"/>
          </a:bodyPr>
          <a:lstStyle/>
          <a:p>
            <a:pPr marL="0" indent="0">
              <a:buNone/>
            </a:pPr>
            <a:r>
              <a:rPr lang="en-IN" sz="4300" b="1" dirty="0">
                <a:latin typeface="Times New Roman" panose="02020603050405020304" pitchFamily="18" charset="0"/>
                <a:cs typeface="Times New Roman" panose="02020603050405020304" pitchFamily="18" charset="0"/>
              </a:rPr>
              <a:t>IV. Power Systems</a:t>
            </a:r>
          </a:p>
          <a:p>
            <a:pPr marL="0" indent="0">
              <a:buNone/>
            </a:pPr>
            <a:endParaRPr lang="en-US" sz="13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Provide the energy required for all robot components.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Types of Power Sources:</a:t>
            </a: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Battery: </a:t>
            </a:r>
            <a:r>
              <a:rPr lang="en-US" dirty="0">
                <a:latin typeface="Times New Roman" panose="02020603050405020304" pitchFamily="18" charset="0"/>
                <a:cs typeface="Times New Roman" panose="02020603050405020304" pitchFamily="18" charset="0"/>
              </a:rPr>
              <a:t>Used in mobile robots for portability. Example: Lithium-ion batteries in drones.</a:t>
            </a: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Electricity: </a:t>
            </a:r>
            <a:r>
              <a:rPr lang="en-US" dirty="0">
                <a:latin typeface="Times New Roman" panose="02020603050405020304" pitchFamily="18" charset="0"/>
                <a:cs typeface="Times New Roman" panose="02020603050405020304" pitchFamily="18" charset="0"/>
              </a:rPr>
              <a:t>Wired power source for stationary robots. Example: Robotic arms in factories.</a:t>
            </a:r>
          </a:p>
          <a:p>
            <a:pPr>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Fuel Cells: </a:t>
            </a:r>
            <a:r>
              <a:rPr lang="en-US" dirty="0">
                <a:latin typeface="Times New Roman" panose="02020603050405020304" pitchFamily="18" charset="0"/>
                <a:cs typeface="Times New Roman" panose="02020603050405020304" pitchFamily="18" charset="0"/>
              </a:rPr>
              <a:t>Used for long-duration tasks requiring higher energy density. Example: Underwater robots.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Importance: Ensures uninterrupted operation of the robot's systems.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3653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230A-93FC-417A-E4DE-CC1D14AF7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39C65-A607-E97D-F57B-55577E54F7FD}"/>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a:extLst>
              <a:ext uri="{FF2B5EF4-FFF2-40B4-BE49-F238E27FC236}">
                <a16:creationId xmlns:a16="http://schemas.microsoft.com/office/drawing/2014/main" id="{6423BCFD-57C8-BCE6-DAE1-D11E26BCA4EB}"/>
              </a:ext>
            </a:extLst>
          </p:cNvPr>
          <p:cNvSpPr>
            <a:spLocks noGrp="1"/>
          </p:cNvSpPr>
          <p:nvPr>
            <p:ph idx="1"/>
          </p:nvPr>
        </p:nvSpPr>
        <p:spPr>
          <a:xfrm>
            <a:off x="457200" y="1600200"/>
            <a:ext cx="8229600" cy="4983162"/>
          </a:xfrm>
        </p:spPr>
        <p:txBody>
          <a:bodyPr>
            <a:normAutofit fontScale="70000" lnSpcReduction="20000"/>
          </a:bodyPr>
          <a:lstStyle/>
          <a:p>
            <a:pPr marL="0" indent="0">
              <a:buNone/>
            </a:pPr>
            <a:r>
              <a:rPr lang="en-IN" sz="4300" b="1" dirty="0">
                <a:latin typeface="Times New Roman" panose="02020603050405020304" pitchFamily="18" charset="0"/>
                <a:cs typeface="Times New Roman" panose="02020603050405020304" pitchFamily="18" charset="0"/>
              </a:rPr>
              <a:t>V. Programming and Algorithms</a:t>
            </a:r>
            <a:endParaRPr lang="en-US" sz="1300" b="1" dirty="0">
              <a:latin typeface="Times New Roman" panose="02020603050405020304" pitchFamily="18" charset="0"/>
              <a:cs typeface="Times New Roman" panose="02020603050405020304" pitchFamily="18" charset="0"/>
            </a:endParaRPr>
          </a:p>
          <a:p>
            <a:pPr marL="0" indent="0">
              <a:buNone/>
            </a:pPr>
            <a:endParaRPr lang="en-US" sz="11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The set of instructions that control a robot's actions.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Programming Approaches:</a:t>
            </a: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Manual Programming</a:t>
            </a:r>
            <a:r>
              <a:rPr lang="en-US" dirty="0">
                <a:latin typeface="Times New Roman" panose="02020603050405020304" pitchFamily="18" charset="0"/>
                <a:cs typeface="Times New Roman" panose="02020603050405020304" pitchFamily="18" charset="0"/>
              </a:rPr>
              <a:t>: Operators input instructions directly. Example: Robot arm programmed for specific welding paths.</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Adaptive Programming</a:t>
            </a:r>
            <a:r>
              <a:rPr lang="en-US" dirty="0">
                <a:latin typeface="Times New Roman" panose="02020603050405020304" pitchFamily="18" charset="0"/>
                <a:cs typeface="Times New Roman" panose="02020603050405020304" pitchFamily="18" charset="0"/>
              </a:rPr>
              <a:t>: Robots learn from sensor data and adapt actions. Example: Self-driving cars adjusting to traffic conditions.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Use of Algorithms</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Pathfinding:</a:t>
            </a:r>
            <a:r>
              <a:rPr lang="en-US" dirty="0">
                <a:latin typeface="Times New Roman" panose="02020603050405020304" pitchFamily="18" charset="0"/>
                <a:cs typeface="Times New Roman" panose="02020603050405020304" pitchFamily="18" charset="0"/>
              </a:rPr>
              <a:t> Determine the shortest route in a workspace.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Object Recognition: </a:t>
            </a:r>
            <a:r>
              <a:rPr lang="en-US" dirty="0">
                <a:latin typeface="Times New Roman" panose="02020603050405020304" pitchFamily="18" charset="0"/>
                <a:cs typeface="Times New Roman" panose="02020603050405020304" pitchFamily="18" charset="0"/>
              </a:rPr>
              <a:t>Identify objects using vision systems.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AI and Machine Learning: </a:t>
            </a:r>
            <a:r>
              <a:rPr lang="en-US" dirty="0">
                <a:latin typeface="Times New Roman" panose="02020603050405020304" pitchFamily="18" charset="0"/>
                <a:cs typeface="Times New Roman" panose="02020603050405020304" pitchFamily="18" charset="0"/>
              </a:rPr>
              <a:t>Allow robots to make decisions and improve over time.</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420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3D15D-A4AE-8F3D-BD08-A40A1AEFC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3C687-C6F6-A4FE-3D9C-B90DC2165B7F}"/>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a:extLst>
              <a:ext uri="{FF2B5EF4-FFF2-40B4-BE49-F238E27FC236}">
                <a16:creationId xmlns:a16="http://schemas.microsoft.com/office/drawing/2014/main" id="{D8EFAB03-712A-1CA6-A96D-B5BE27949302}"/>
              </a:ext>
            </a:extLst>
          </p:cNvPr>
          <p:cNvSpPr>
            <a:spLocks noGrp="1"/>
          </p:cNvSpPr>
          <p:nvPr>
            <p:ph idx="1"/>
          </p:nvPr>
        </p:nvSpPr>
        <p:spPr>
          <a:xfrm>
            <a:off x="457200" y="1600200"/>
            <a:ext cx="8229600" cy="4983162"/>
          </a:xfrm>
        </p:spPr>
        <p:txBody>
          <a:bodyPr>
            <a:normAutofit/>
          </a:bodyPr>
          <a:lstStyle/>
          <a:p>
            <a:pPr marL="0" indent="0">
              <a:buNone/>
            </a:pPr>
            <a:r>
              <a:rPr lang="en-IN" sz="2700" b="1" dirty="0">
                <a:latin typeface="Times New Roman" panose="02020603050405020304" pitchFamily="18" charset="0"/>
                <a:cs typeface="Times New Roman" panose="02020603050405020304" pitchFamily="18" charset="0"/>
              </a:rPr>
              <a:t>V. Feedback Systems</a:t>
            </a:r>
            <a:endParaRPr lang="en-US" sz="2700" b="1" dirty="0">
              <a:latin typeface="Times New Roman" panose="02020603050405020304" pitchFamily="18" charset="0"/>
              <a:cs typeface="Times New Roman" panose="02020603050405020304" pitchFamily="18" charset="0"/>
            </a:endParaRPr>
          </a:p>
          <a:p>
            <a:pPr marL="0" indent="0">
              <a:buNone/>
            </a:pPr>
            <a:endParaRPr lang="en-US" sz="8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Definition</a:t>
            </a:r>
            <a:r>
              <a:rPr lang="en-US" sz="2200" dirty="0">
                <a:latin typeface="Times New Roman" panose="02020603050405020304" pitchFamily="18" charset="0"/>
                <a:cs typeface="Times New Roman" panose="02020603050405020304" pitchFamily="18" charset="0"/>
              </a:rPr>
              <a:t>: Mechanisms that allow robots to adjust actions based on real-time data.</a:t>
            </a:r>
          </a:p>
          <a:p>
            <a:pPr marL="0" indent="0">
              <a:buNone/>
            </a:pP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Components of Feedback:</a:t>
            </a:r>
          </a:p>
          <a:p>
            <a:pPr>
              <a:buFont typeface="Wingdings" panose="05000000000000000000" pitchFamily="2" charset="2"/>
              <a:buChar char="§"/>
            </a:pPr>
            <a:r>
              <a:rPr lang="en-US" sz="2200" b="1" dirty="0">
                <a:latin typeface="Times New Roman" panose="02020603050405020304" pitchFamily="18" charset="0"/>
                <a:cs typeface="Times New Roman" panose="02020603050405020304" pitchFamily="18" charset="0"/>
              </a:rPr>
              <a:t>Sensors:</a:t>
            </a:r>
            <a:r>
              <a:rPr lang="en-US" sz="2200" dirty="0">
                <a:latin typeface="Times New Roman" panose="02020603050405020304" pitchFamily="18" charset="0"/>
                <a:cs typeface="Times New Roman" panose="02020603050405020304" pitchFamily="18" charset="0"/>
              </a:rPr>
              <a:t> Provide data on performance and environment.</a:t>
            </a:r>
          </a:p>
          <a:p>
            <a:pPr>
              <a:buFont typeface="Wingdings" panose="05000000000000000000" pitchFamily="2" charset="2"/>
              <a:buChar char="§"/>
            </a:pPr>
            <a:r>
              <a:rPr lang="en-US" sz="2200" b="1" dirty="0">
                <a:latin typeface="Times New Roman" panose="02020603050405020304" pitchFamily="18" charset="0"/>
                <a:cs typeface="Times New Roman" panose="02020603050405020304" pitchFamily="18" charset="0"/>
              </a:rPr>
              <a:t>Controller: </a:t>
            </a:r>
            <a:r>
              <a:rPr lang="en-US" sz="2200" dirty="0">
                <a:latin typeface="Times New Roman" panose="02020603050405020304" pitchFamily="18" charset="0"/>
                <a:cs typeface="Times New Roman" panose="02020603050405020304" pitchFamily="18" charset="0"/>
              </a:rPr>
              <a:t>Processes feedback and recalibrates actions.</a:t>
            </a:r>
          </a:p>
          <a:p>
            <a:pPr>
              <a:buFont typeface="Wingdings" panose="05000000000000000000" pitchFamily="2" charset="2"/>
              <a:buChar char="§"/>
            </a:pPr>
            <a:r>
              <a:rPr lang="en-US" sz="2200" b="1" dirty="0">
                <a:latin typeface="Times New Roman" panose="02020603050405020304" pitchFamily="18" charset="0"/>
                <a:cs typeface="Times New Roman" panose="02020603050405020304" pitchFamily="18" charset="0"/>
              </a:rPr>
              <a:t>Output Adjustment: </a:t>
            </a:r>
            <a:r>
              <a:rPr lang="en-US" sz="2200" dirty="0">
                <a:latin typeface="Times New Roman" panose="02020603050405020304" pitchFamily="18" charset="0"/>
                <a:cs typeface="Times New Roman" panose="02020603050405020304" pitchFamily="18" charset="0"/>
              </a:rPr>
              <a:t>Ensures precise and accurate task execution.</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Importance: Critical for tasks requiring high precision, such as robotic surgery.</a:t>
            </a:r>
            <a:endParaRP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548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94197-E984-9DFF-115D-0F6F9DD33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F3306-C4EB-41EA-7C76-DEA1DEDAB1CC}"/>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a:extLst>
              <a:ext uri="{FF2B5EF4-FFF2-40B4-BE49-F238E27FC236}">
                <a16:creationId xmlns:a16="http://schemas.microsoft.com/office/drawing/2014/main" id="{97E4DACB-EEBD-4F0D-AD9C-142BE61F2E9C}"/>
              </a:ext>
            </a:extLst>
          </p:cNvPr>
          <p:cNvSpPr>
            <a:spLocks noGrp="1"/>
          </p:cNvSpPr>
          <p:nvPr>
            <p:ph idx="1"/>
          </p:nvPr>
        </p:nvSpPr>
        <p:spPr>
          <a:xfrm>
            <a:off x="457200" y="1600200"/>
            <a:ext cx="8229600" cy="4983162"/>
          </a:xfrm>
        </p:spPr>
        <p:txBody>
          <a:bodyPr>
            <a:normAutofit/>
          </a:bodyPr>
          <a:lstStyle/>
          <a:p>
            <a:pPr marL="0" indent="0">
              <a:buNone/>
            </a:pPr>
            <a:r>
              <a:rPr lang="en-IN" sz="2700" b="1" dirty="0">
                <a:latin typeface="Times New Roman" panose="02020603050405020304" pitchFamily="18" charset="0"/>
                <a:cs typeface="Times New Roman" panose="02020603050405020304" pitchFamily="18" charset="0"/>
              </a:rPr>
              <a:t>Applications of Robot Technology</a:t>
            </a:r>
          </a:p>
          <a:p>
            <a:r>
              <a:rPr lang="en-IN" sz="2500" b="1" dirty="0">
                <a:latin typeface="Times New Roman" panose="02020603050405020304" pitchFamily="18" charset="0"/>
                <a:cs typeface="Times New Roman" panose="02020603050405020304" pitchFamily="18" charset="0"/>
              </a:rPr>
              <a:t>Industrial Manufacturing</a:t>
            </a:r>
            <a:r>
              <a:rPr lang="en-IN" sz="2500" dirty="0">
                <a:latin typeface="Times New Roman" panose="02020603050405020304" pitchFamily="18" charset="0"/>
                <a:cs typeface="Times New Roman" panose="02020603050405020304" pitchFamily="18" charset="0"/>
              </a:rPr>
              <a:t>: Assembly, painting, welding, and material handling.</a:t>
            </a:r>
          </a:p>
          <a:p>
            <a:r>
              <a:rPr lang="en-IN" sz="2500" b="1" dirty="0">
                <a:latin typeface="Times New Roman" panose="02020603050405020304" pitchFamily="18" charset="0"/>
                <a:cs typeface="Times New Roman" panose="02020603050405020304" pitchFamily="18" charset="0"/>
              </a:rPr>
              <a:t>Healthcare</a:t>
            </a:r>
            <a:r>
              <a:rPr lang="en-IN" sz="2500" dirty="0">
                <a:latin typeface="Times New Roman" panose="02020603050405020304" pitchFamily="18" charset="0"/>
                <a:cs typeface="Times New Roman" panose="02020603050405020304" pitchFamily="18" charset="0"/>
              </a:rPr>
              <a:t>: Robotic-assisted surgeries, rehabilitation devices.</a:t>
            </a:r>
          </a:p>
          <a:p>
            <a:r>
              <a:rPr lang="en-IN" sz="2500" b="1" dirty="0">
                <a:latin typeface="Times New Roman" panose="02020603050405020304" pitchFamily="18" charset="0"/>
                <a:cs typeface="Times New Roman" panose="02020603050405020304" pitchFamily="18" charset="0"/>
              </a:rPr>
              <a:t>Service Robots</a:t>
            </a:r>
            <a:r>
              <a:rPr lang="en-IN" sz="2500" dirty="0">
                <a:latin typeface="Times New Roman" panose="02020603050405020304" pitchFamily="18" charset="0"/>
                <a:cs typeface="Times New Roman" panose="02020603050405020304" pitchFamily="18" charset="0"/>
              </a:rPr>
              <a:t>: Cleaning, delivery, and customer service robots.</a:t>
            </a:r>
          </a:p>
          <a:p>
            <a:r>
              <a:rPr lang="en-IN" sz="2500" b="1" dirty="0">
                <a:latin typeface="Times New Roman" panose="02020603050405020304" pitchFamily="18" charset="0"/>
                <a:cs typeface="Times New Roman" panose="02020603050405020304" pitchFamily="18" charset="0"/>
              </a:rPr>
              <a:t>Exploration</a:t>
            </a:r>
            <a:r>
              <a:rPr lang="en-IN" sz="2500" dirty="0">
                <a:latin typeface="Times New Roman" panose="02020603050405020304" pitchFamily="18" charset="0"/>
                <a:cs typeface="Times New Roman" panose="02020603050405020304" pitchFamily="18" charset="0"/>
              </a:rPr>
              <a:t>: Space rovers, deep-sea robots for inaccessible terrains.</a:t>
            </a:r>
          </a:p>
          <a:p>
            <a:r>
              <a:rPr lang="en-IN" sz="2500" b="1" dirty="0">
                <a:latin typeface="Times New Roman" panose="02020603050405020304" pitchFamily="18" charset="0"/>
                <a:cs typeface="Times New Roman" panose="02020603050405020304" pitchFamily="18" charset="0"/>
              </a:rPr>
              <a:t>Military:</a:t>
            </a:r>
            <a:r>
              <a:rPr lang="en-IN" sz="2500" dirty="0">
                <a:latin typeface="Times New Roman" panose="02020603050405020304" pitchFamily="18" charset="0"/>
                <a:cs typeface="Times New Roman" panose="02020603050405020304" pitchFamily="18" charset="0"/>
              </a:rPr>
              <a:t> Drones, bomb disposal robots, and surveillance systems.</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614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dirty="0">
                <a:latin typeface="Times New Roman" panose="02020603050405020304" pitchFamily="18" charset="0"/>
                <a:cs typeface="Times New Roman" panose="02020603050405020304" pitchFamily="18" charset="0"/>
              </a:rPr>
              <a:t>Fundamentals about Robot Technology</a:t>
            </a:r>
          </a:p>
        </p:txBody>
      </p:sp>
      <p:sp>
        <p:nvSpPr>
          <p:cNvPr id="3" name="Content Placeholder 2"/>
          <p:cNvSpPr>
            <a:spLocks noGrp="1"/>
          </p:cNvSpPr>
          <p:nvPr>
            <p:ph idx="1"/>
          </p:nvPr>
        </p:nvSpPr>
        <p:spPr>
          <a:xfrm>
            <a:off x="457200" y="1166017"/>
            <a:ext cx="8229600" cy="5549575"/>
          </a:xfrm>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Real-Time Sensing for Adaptation</a:t>
            </a:r>
            <a:r>
              <a:rPr lang="en-US" dirty="0">
                <a:latin typeface="Times New Roman" panose="02020603050405020304" pitchFamily="18" charset="0"/>
                <a:cs typeface="Times New Roman" panose="02020603050405020304" pitchFamily="18" charset="0"/>
              </a:rPr>
              <a:t>: Sensors gather environmental data, enabling robots to adapt autonomously to changing conditions and execute tasks with fine adjustments.</a:t>
            </a:r>
          </a:p>
          <a:p>
            <a:r>
              <a:rPr lang="en-US" b="1" dirty="0">
                <a:latin typeface="Times New Roman" panose="02020603050405020304" pitchFamily="18" charset="0"/>
                <a:cs typeface="Times New Roman" panose="02020603050405020304" pitchFamily="18" charset="0"/>
              </a:rPr>
              <a:t>Precise Motion via Actuators</a:t>
            </a:r>
            <a:r>
              <a:rPr lang="en-US" dirty="0">
                <a:latin typeface="Times New Roman" panose="02020603050405020304" pitchFamily="18" charset="0"/>
                <a:cs typeface="Times New Roman" panose="02020603050405020304" pitchFamily="18" charset="0"/>
              </a:rPr>
              <a:t>: Actuators, such as electric and hydraulic systems, provide controlled movements essential for high-accuracy operations like assembly or surgery.</a:t>
            </a:r>
          </a:p>
          <a:p>
            <a:r>
              <a:rPr lang="en-US" b="1" dirty="0">
                <a:latin typeface="Times New Roman" panose="02020603050405020304" pitchFamily="18" charset="0"/>
                <a:cs typeface="Times New Roman" panose="02020603050405020304" pitchFamily="18" charset="0"/>
              </a:rPr>
              <a:t>Intelligent Control Systems</a:t>
            </a:r>
            <a:r>
              <a:rPr lang="en-US" dirty="0">
                <a:latin typeface="Times New Roman" panose="02020603050405020304" pitchFamily="18" charset="0"/>
                <a:cs typeface="Times New Roman" panose="02020603050405020304" pitchFamily="18" charset="0"/>
              </a:rPr>
              <a:t>: Closed-loop control systems process feedback to make real-time corrections, ensuring tasks are completed with minimal error.</a:t>
            </a:r>
          </a:p>
          <a:p>
            <a:r>
              <a:rPr lang="en-US" b="1" dirty="0">
                <a:latin typeface="Times New Roman" panose="02020603050405020304" pitchFamily="18" charset="0"/>
                <a:cs typeface="Times New Roman" panose="02020603050405020304" pitchFamily="18" charset="0"/>
              </a:rPr>
              <a:t>Feedback Mechanisms for Accuracy</a:t>
            </a:r>
            <a:r>
              <a:rPr lang="en-US" dirty="0">
                <a:latin typeface="Times New Roman" panose="02020603050405020304" pitchFamily="18" charset="0"/>
                <a:cs typeface="Times New Roman" panose="02020603050405020304" pitchFamily="18" charset="0"/>
              </a:rPr>
              <a:t>: Continuous monitoring through feedback loops allows robots to self-correct actions, enhancing precision in repetitive or delicate tasks.</a:t>
            </a:r>
          </a:p>
          <a:p>
            <a:r>
              <a:rPr lang="en-US" b="1" dirty="0">
                <a:latin typeface="Times New Roman" panose="02020603050405020304" pitchFamily="18" charset="0"/>
                <a:cs typeface="Times New Roman" panose="02020603050405020304" pitchFamily="18" charset="0"/>
              </a:rPr>
              <a:t>Advanced Programming and AI Algorithms</a:t>
            </a:r>
            <a:r>
              <a:rPr lang="en-US" dirty="0">
                <a:latin typeface="Times New Roman" panose="02020603050405020304" pitchFamily="18" charset="0"/>
                <a:cs typeface="Times New Roman" panose="02020603050405020304" pitchFamily="18" charset="0"/>
              </a:rPr>
              <a:t>: Algorithms enable robots to execute complex operations autonomously, while machine learning refines precision over time through adaptive behavior.</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sp>
        <p:nvSpPr>
          <p:cNvPr id="3" name="Content Placeholder 2"/>
          <p:cNvSpPr>
            <a:spLocks noGrp="1"/>
          </p:cNvSpPr>
          <p:nvPr>
            <p:ph idx="1"/>
          </p:nvPr>
        </p:nvSpPr>
        <p:spPr/>
        <p:txBody>
          <a:bodyPr>
            <a:normAutofit fontScale="70000" lnSpcReduction="20000"/>
          </a:bodyPr>
          <a:lstStyle/>
          <a:p>
            <a:r>
              <a:rPr sz="4000" b="1" dirty="0">
                <a:latin typeface="Times New Roman" panose="02020603050405020304" pitchFamily="18" charset="0"/>
                <a:cs typeface="Times New Roman" panose="02020603050405020304" pitchFamily="18" charset="0"/>
              </a:rPr>
              <a:t>Cartesian Robots</a:t>
            </a:r>
            <a:endParaRPr lang="en-US" sz="40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Description: </a:t>
            </a:r>
            <a:r>
              <a:rPr lang="en-US" dirty="0">
                <a:latin typeface="Times New Roman" panose="02020603050405020304" pitchFamily="18" charset="0"/>
                <a:cs typeface="Times New Roman" panose="02020603050405020304" pitchFamily="18" charset="0"/>
              </a:rPr>
              <a:t>Operate in a rectangular workspace with linear motion along three perpendicular axes (X, Y, Z).</a:t>
            </a:r>
          </a:p>
          <a:p>
            <a:pPr marL="0" indent="0">
              <a:buNone/>
            </a:pPr>
            <a:r>
              <a:rPr lang="en-US" b="1" dirty="0">
                <a:latin typeface="Times New Roman" panose="02020603050405020304" pitchFamily="18" charset="0"/>
                <a:cs typeface="Times New Roman" panose="02020603050405020304" pitchFamily="18" charset="0"/>
              </a:rPr>
              <a:t>Characteristics:</a:t>
            </a:r>
          </a:p>
          <a:p>
            <a:r>
              <a:rPr lang="en-US" dirty="0">
                <a:latin typeface="Times New Roman" panose="02020603050405020304" pitchFamily="18" charset="0"/>
                <a:cs typeface="Times New Roman" panose="02020603050405020304" pitchFamily="18" charset="0"/>
              </a:rPr>
              <a:t>Simple design and easy to program.</a:t>
            </a:r>
          </a:p>
          <a:p>
            <a:r>
              <a:rPr lang="en-US" dirty="0">
                <a:latin typeface="Times New Roman" panose="02020603050405020304" pitchFamily="18" charset="0"/>
                <a:cs typeface="Times New Roman" panose="02020603050405020304" pitchFamily="18" charset="0"/>
              </a:rPr>
              <a:t>High accuracy and repeatability in operations.</a:t>
            </a:r>
          </a:p>
          <a:p>
            <a:pPr marL="0" indent="0">
              <a:buNone/>
            </a:pPr>
            <a:r>
              <a:rPr lang="en-US" b="1" dirty="0">
                <a:latin typeface="Times New Roman" panose="02020603050405020304" pitchFamily="18" charset="0"/>
                <a:cs typeface="Times New Roman" panose="02020603050405020304" pitchFamily="18" charset="0"/>
              </a:rPr>
              <a:t>Applications: </a:t>
            </a:r>
            <a:r>
              <a:rPr lang="en-US" dirty="0">
                <a:latin typeface="Times New Roman" panose="02020603050405020304" pitchFamily="18" charset="0"/>
                <a:cs typeface="Times New Roman" panose="02020603050405020304" pitchFamily="18" charset="0"/>
              </a:rPr>
              <a:t>Pick-and-place tasks, CNC machining, 3D printing.</a:t>
            </a:r>
          </a:p>
          <a:p>
            <a:pPr marL="0" indent="0">
              <a:buNone/>
            </a:pPr>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Easy to maintain and program.</a:t>
            </a:r>
          </a:p>
          <a:p>
            <a:r>
              <a:rPr lang="en-US" dirty="0">
                <a:latin typeface="Times New Roman" panose="02020603050405020304" pitchFamily="18" charset="0"/>
                <a:cs typeface="Times New Roman" panose="02020603050405020304" pitchFamily="18" charset="0"/>
              </a:rPr>
              <a:t>High stiffness for precise tasks.</a:t>
            </a:r>
          </a:p>
          <a:p>
            <a:pPr marL="0" indent="0">
              <a:buNone/>
            </a:pPr>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Limited range of motion compared to other configurations.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sp>
        <p:nvSpPr>
          <p:cNvPr id="3" name="Content Placeholder 2"/>
          <p:cNvSpPr>
            <a:spLocks noGrp="1"/>
          </p:cNvSpPr>
          <p:nvPr>
            <p:ph idx="1"/>
          </p:nvPr>
        </p:nvSpPr>
        <p:spPr/>
        <p:txBody>
          <a:bodyPr>
            <a:normAutofit fontScale="77500" lnSpcReduction="20000"/>
          </a:bodyPr>
          <a:lstStyle/>
          <a:p>
            <a:r>
              <a:rPr sz="3600" b="1" dirty="0">
                <a:latin typeface="Times New Roman" panose="02020603050405020304" pitchFamily="18" charset="0"/>
                <a:cs typeface="Times New Roman" panose="02020603050405020304" pitchFamily="18" charset="0"/>
              </a:rPr>
              <a:t>Cylindrical Robots</a:t>
            </a:r>
            <a:endParaRPr lang="en-US" sz="36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Description: </a:t>
            </a:r>
            <a:r>
              <a:rPr lang="en-US" dirty="0">
                <a:latin typeface="Times New Roman" panose="02020603050405020304" pitchFamily="18" charset="0"/>
                <a:cs typeface="Times New Roman" panose="02020603050405020304" pitchFamily="18" charset="0"/>
              </a:rPr>
              <a:t>Combine linear motion along one axis with rotational motion around a base.</a:t>
            </a:r>
          </a:p>
          <a:p>
            <a:pPr marL="0" indent="0">
              <a:buNone/>
            </a:pPr>
            <a:r>
              <a:rPr lang="en-US" b="1" dirty="0">
                <a:latin typeface="Times New Roman" panose="02020603050405020304" pitchFamily="18" charset="0"/>
                <a:cs typeface="Times New Roman" panose="02020603050405020304" pitchFamily="18" charset="0"/>
              </a:rPr>
              <a:t>Characteristics:</a:t>
            </a:r>
          </a:p>
          <a:p>
            <a:r>
              <a:rPr lang="en-US" dirty="0">
                <a:latin typeface="Times New Roman" panose="02020603050405020304" pitchFamily="18" charset="0"/>
                <a:cs typeface="Times New Roman" panose="02020603050405020304" pitchFamily="18" charset="0"/>
              </a:rPr>
              <a:t>Cylindrical work envelope.</a:t>
            </a:r>
          </a:p>
          <a:p>
            <a:r>
              <a:rPr lang="en-US" dirty="0">
                <a:latin typeface="Times New Roman" panose="02020603050405020304" pitchFamily="18" charset="0"/>
                <a:cs typeface="Times New Roman" panose="02020603050405020304" pitchFamily="18" charset="0"/>
              </a:rPr>
              <a:t>Suitable for operations requiring rotational access.</a:t>
            </a:r>
          </a:p>
          <a:p>
            <a:pPr marL="0" indent="0">
              <a:buNone/>
            </a:pPr>
            <a:r>
              <a:rPr lang="en-US" dirty="0">
                <a:latin typeface="Times New Roman" panose="02020603050405020304" pitchFamily="18" charset="0"/>
                <a:cs typeface="Times New Roman" panose="02020603050405020304" pitchFamily="18" charset="0"/>
              </a:rPr>
              <a:t>Applications: Assembly tasks, material handling, and welding.</a:t>
            </a:r>
          </a:p>
          <a:p>
            <a:pPr marL="0" indent="0">
              <a:buNone/>
            </a:pPr>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Compact and flexible design for specific tasks.</a:t>
            </a:r>
          </a:p>
          <a:p>
            <a:pPr marL="0" indent="0">
              <a:buNone/>
            </a:pPr>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Limited reach compared to Cartesian robots.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sp>
        <p:nvSpPr>
          <p:cNvPr id="3" name="Content Placeholder 2"/>
          <p:cNvSpPr>
            <a:spLocks noGrp="1"/>
          </p:cNvSpPr>
          <p:nvPr>
            <p:ph idx="1"/>
          </p:nvPr>
        </p:nvSpPr>
        <p:spPr/>
        <p:txBody>
          <a:bodyPr>
            <a:normAutofit fontScale="77500" lnSpcReduction="20000"/>
          </a:bodyPr>
          <a:lstStyle/>
          <a:p>
            <a:r>
              <a:rPr sz="4000" b="1" dirty="0">
                <a:latin typeface="Times New Roman" panose="02020603050405020304" pitchFamily="18" charset="0"/>
                <a:cs typeface="Times New Roman" panose="02020603050405020304" pitchFamily="18" charset="0"/>
              </a:rPr>
              <a:t>Spherical Robots</a:t>
            </a:r>
            <a:endParaRPr lang="en-US" sz="40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Description: </a:t>
            </a:r>
            <a:r>
              <a:rPr lang="en-US" dirty="0">
                <a:latin typeface="Times New Roman" panose="02020603050405020304" pitchFamily="18" charset="0"/>
                <a:cs typeface="Times New Roman" panose="02020603050405020304" pitchFamily="18" charset="0"/>
              </a:rPr>
              <a:t>Feature a pivoting arm and rotary joints that create a spherical workspace.</a:t>
            </a:r>
          </a:p>
          <a:p>
            <a:pPr marL="0" indent="0">
              <a:buNone/>
            </a:pPr>
            <a:r>
              <a:rPr lang="en-US" b="1" dirty="0">
                <a:latin typeface="Times New Roman" panose="02020603050405020304" pitchFamily="18" charset="0"/>
                <a:cs typeface="Times New Roman" panose="02020603050405020304" pitchFamily="18" charset="0"/>
              </a:rPr>
              <a:t>Characteristics:</a:t>
            </a:r>
          </a:p>
          <a:p>
            <a:r>
              <a:rPr lang="en-US" dirty="0">
                <a:latin typeface="Times New Roman" panose="02020603050405020304" pitchFamily="18" charset="0"/>
                <a:cs typeface="Times New Roman" panose="02020603050405020304" pitchFamily="18" charset="0"/>
              </a:rPr>
              <a:t>Combine rotational and linear movements.</a:t>
            </a:r>
          </a:p>
          <a:p>
            <a:pPr marL="0" indent="0">
              <a:buNone/>
            </a:pPr>
            <a:r>
              <a:rPr lang="en-US" b="1" dirty="0">
                <a:latin typeface="Times New Roman" panose="02020603050405020304" pitchFamily="18" charset="0"/>
                <a:cs typeface="Times New Roman" panose="02020603050405020304" pitchFamily="18" charset="0"/>
              </a:rPr>
              <a:t>Applications:</a:t>
            </a:r>
          </a:p>
          <a:p>
            <a:pPr marL="0" indent="0">
              <a:buNone/>
            </a:pPr>
            <a:r>
              <a:rPr lang="en-US" dirty="0">
                <a:latin typeface="Times New Roman" panose="02020603050405020304" pitchFamily="18" charset="0"/>
                <a:cs typeface="Times New Roman" panose="02020603050405020304" pitchFamily="18" charset="0"/>
              </a:rPr>
              <a:t>Inspection, surveillance, and arc welding.</a:t>
            </a:r>
          </a:p>
          <a:p>
            <a:pPr marL="0" indent="0">
              <a:buNone/>
            </a:pPr>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Wide reach within a spherical range.</a:t>
            </a:r>
          </a:p>
          <a:p>
            <a:pPr marL="0" indent="0">
              <a:buNone/>
            </a:pPr>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Complex design and programming.</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sp>
        <p:nvSpPr>
          <p:cNvPr id="3" name="Content Placeholder 2"/>
          <p:cNvSpPr>
            <a:spLocks noGrp="1"/>
          </p:cNvSpPr>
          <p:nvPr>
            <p:ph idx="1"/>
          </p:nvPr>
        </p:nvSpPr>
        <p:spPr/>
        <p:txBody>
          <a:bodyPr>
            <a:normAutofit fontScale="62500" lnSpcReduction="20000"/>
          </a:bodyPr>
          <a:lstStyle/>
          <a:p>
            <a:r>
              <a:rPr sz="4500" b="1" dirty="0">
                <a:latin typeface="Times New Roman" panose="02020603050405020304" pitchFamily="18" charset="0"/>
                <a:cs typeface="Times New Roman" panose="02020603050405020304" pitchFamily="18" charset="0"/>
              </a:rPr>
              <a:t>Articulated Robots</a:t>
            </a:r>
            <a:endParaRPr lang="en-US" sz="4500" b="1" dirty="0">
              <a:latin typeface="Times New Roman" panose="02020603050405020304" pitchFamily="18" charset="0"/>
              <a:cs typeface="Times New Roman" panose="02020603050405020304" pitchFamily="18" charset="0"/>
            </a:endParaRPr>
          </a:p>
          <a:p>
            <a:pPr marL="0" indent="0">
              <a:buNone/>
            </a:pPr>
            <a:r>
              <a:rPr lang="en-US" sz="3600" b="1" dirty="0">
                <a:latin typeface="Times New Roman" panose="02020603050405020304" pitchFamily="18" charset="0"/>
                <a:cs typeface="Times New Roman" panose="02020603050405020304" pitchFamily="18" charset="0"/>
              </a:rPr>
              <a:t>Description: </a:t>
            </a:r>
            <a:r>
              <a:rPr lang="en-US" sz="3600" dirty="0">
                <a:latin typeface="Times New Roman" panose="02020603050405020304" pitchFamily="18" charset="0"/>
                <a:cs typeface="Times New Roman" panose="02020603050405020304" pitchFamily="18" charset="0"/>
              </a:rPr>
              <a:t>Multi-jointed robots with rotary joints, resembling a human arm.</a:t>
            </a:r>
          </a:p>
          <a:p>
            <a:pPr marL="0" indent="0">
              <a:buNone/>
            </a:pPr>
            <a:r>
              <a:rPr lang="en-US" sz="3600" b="1" dirty="0">
                <a:latin typeface="Times New Roman" panose="02020603050405020304" pitchFamily="18" charset="0"/>
                <a:cs typeface="Times New Roman" panose="02020603050405020304" pitchFamily="18" charset="0"/>
              </a:rPr>
              <a:t>Characteristics:</a:t>
            </a:r>
          </a:p>
          <a:p>
            <a:r>
              <a:rPr lang="en-US" sz="3600" dirty="0">
                <a:latin typeface="Times New Roman" panose="02020603050405020304" pitchFamily="18" charset="0"/>
                <a:cs typeface="Times New Roman" panose="02020603050405020304" pitchFamily="18" charset="0"/>
              </a:rPr>
              <a:t>Highly flexible and versatile.</a:t>
            </a:r>
          </a:p>
          <a:p>
            <a:r>
              <a:rPr lang="en-US" sz="3600" dirty="0">
                <a:latin typeface="Times New Roman" panose="02020603050405020304" pitchFamily="18" charset="0"/>
                <a:cs typeface="Times New Roman" panose="02020603050405020304" pitchFamily="18" charset="0"/>
              </a:rPr>
              <a:t>Work envelope depends on the number of joints (Degrees of Freedom).</a:t>
            </a:r>
          </a:p>
          <a:p>
            <a:pPr marL="0" indent="0">
              <a:buNone/>
            </a:pPr>
            <a:r>
              <a:rPr lang="en-US" sz="3600" b="1" dirty="0">
                <a:latin typeface="Times New Roman" panose="02020603050405020304" pitchFamily="18" charset="0"/>
                <a:cs typeface="Times New Roman" panose="02020603050405020304" pitchFamily="18" charset="0"/>
              </a:rPr>
              <a:t>Applications: </a:t>
            </a:r>
            <a:r>
              <a:rPr lang="en-US" sz="3600" dirty="0">
                <a:latin typeface="Times New Roman" panose="02020603050405020304" pitchFamily="18" charset="0"/>
                <a:cs typeface="Times New Roman" panose="02020603050405020304" pitchFamily="18" charset="0"/>
              </a:rPr>
              <a:t>Painting, welding, assembly, and material handling.</a:t>
            </a:r>
          </a:p>
          <a:p>
            <a:pPr marL="0" indent="0">
              <a:buNone/>
            </a:pPr>
            <a:r>
              <a:rPr lang="en-US" sz="3600" b="1" dirty="0">
                <a:latin typeface="Times New Roman" panose="02020603050405020304" pitchFamily="18" charset="0"/>
                <a:cs typeface="Times New Roman" panose="02020603050405020304" pitchFamily="18" charset="0"/>
              </a:rPr>
              <a:t>Advantages:</a:t>
            </a:r>
          </a:p>
          <a:p>
            <a:r>
              <a:rPr lang="en-US" sz="3600" dirty="0">
                <a:latin typeface="Times New Roman" panose="02020603050405020304" pitchFamily="18" charset="0"/>
                <a:cs typeface="Times New Roman" panose="02020603050405020304" pitchFamily="18" charset="0"/>
              </a:rPr>
              <a:t>Excellent flexibility for complex tasks.</a:t>
            </a:r>
          </a:p>
          <a:p>
            <a:pPr marL="0" indent="0">
              <a:buNone/>
            </a:pPr>
            <a:r>
              <a:rPr lang="en-US" sz="3600" b="1" dirty="0">
                <a:latin typeface="Times New Roman" panose="02020603050405020304" pitchFamily="18" charset="0"/>
                <a:cs typeface="Times New Roman" panose="02020603050405020304" pitchFamily="18" charset="0"/>
              </a:rPr>
              <a:t>Disadvantages:</a:t>
            </a:r>
          </a:p>
          <a:p>
            <a:r>
              <a:rPr lang="en-US" sz="3600" dirty="0">
                <a:latin typeface="Times New Roman" panose="02020603050405020304" pitchFamily="18" charset="0"/>
                <a:cs typeface="Times New Roman" panose="02020603050405020304" pitchFamily="18" charset="0"/>
              </a:rPr>
              <a:t>Expensive and challenging to program.</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sp>
        <p:nvSpPr>
          <p:cNvPr id="3" name="Content Placeholder 2"/>
          <p:cNvSpPr>
            <a:spLocks noGrp="1"/>
          </p:cNvSpPr>
          <p:nvPr>
            <p:ph idx="1"/>
          </p:nvPr>
        </p:nvSpPr>
        <p:spPr/>
        <p:txBody>
          <a:bodyPr>
            <a:normAutofit fontScale="77500" lnSpcReduction="20000"/>
          </a:bodyPr>
          <a:lstStyle/>
          <a:p>
            <a:r>
              <a:rPr sz="4000" b="1" dirty="0">
                <a:latin typeface="Times New Roman" panose="02020603050405020304" pitchFamily="18" charset="0"/>
                <a:cs typeface="Times New Roman" panose="02020603050405020304" pitchFamily="18" charset="0"/>
              </a:rPr>
              <a:t>SCARA Robots</a:t>
            </a:r>
            <a:endParaRPr lang="en-US" sz="40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Description: </a:t>
            </a:r>
            <a:r>
              <a:rPr lang="en-US" dirty="0">
                <a:latin typeface="Times New Roman" panose="02020603050405020304" pitchFamily="18" charset="0"/>
                <a:cs typeface="Times New Roman" panose="02020603050405020304" pitchFamily="18" charset="0"/>
              </a:rPr>
              <a:t>Designed for high-speed assembly and precision tasks within a limited workspace.</a:t>
            </a:r>
          </a:p>
          <a:p>
            <a:pPr marL="0" indent="0">
              <a:buNone/>
            </a:pPr>
            <a:r>
              <a:rPr lang="en-US" b="1" dirty="0">
                <a:latin typeface="Times New Roman" panose="02020603050405020304" pitchFamily="18" charset="0"/>
                <a:cs typeface="Times New Roman" panose="02020603050405020304" pitchFamily="18" charset="0"/>
              </a:rPr>
              <a:t>Characteristics: </a:t>
            </a:r>
            <a:r>
              <a:rPr lang="en-US" dirty="0">
                <a:latin typeface="Times New Roman" panose="02020603050405020304" pitchFamily="18" charset="0"/>
                <a:cs typeface="Times New Roman" panose="02020603050405020304" pitchFamily="18" charset="0"/>
              </a:rPr>
              <a:t>Horizontal motion for compliance in specific directions.</a:t>
            </a:r>
          </a:p>
          <a:p>
            <a:pPr marL="0" indent="0">
              <a:buNone/>
            </a:pPr>
            <a:r>
              <a:rPr lang="en-US" b="1" dirty="0">
                <a:latin typeface="Times New Roman" panose="02020603050405020304" pitchFamily="18" charset="0"/>
                <a:cs typeface="Times New Roman" panose="02020603050405020304" pitchFamily="18" charset="0"/>
              </a:rPr>
              <a:t>Applications: </a:t>
            </a:r>
            <a:r>
              <a:rPr lang="en-US" dirty="0">
                <a:latin typeface="Times New Roman" panose="02020603050405020304" pitchFamily="18" charset="0"/>
                <a:cs typeface="Times New Roman" panose="02020603050405020304" pitchFamily="18" charset="0"/>
              </a:rPr>
              <a:t>Electronics assembly, palletizing, and machine loading.</a:t>
            </a:r>
          </a:p>
          <a:p>
            <a:pPr marL="0" indent="0">
              <a:buNone/>
            </a:pPr>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High speed and precision.</a:t>
            </a:r>
          </a:p>
          <a:p>
            <a:r>
              <a:rPr lang="en-US" dirty="0">
                <a:latin typeface="Times New Roman" panose="02020603050405020304" pitchFamily="18" charset="0"/>
                <a:cs typeface="Times New Roman" panose="02020603050405020304" pitchFamily="18" charset="0"/>
              </a:rPr>
              <a:t>Compact design for limited spaces.</a:t>
            </a:r>
          </a:p>
          <a:p>
            <a:pPr marL="0" indent="0">
              <a:buNone/>
            </a:pPr>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Restricted to specific tasks and small workspaces.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908D0-7FD8-0BF8-7DBE-FCBF90DA0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77B2D-1698-C63B-0E21-5827A323575D}"/>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Basic Configurations of Robots</a:t>
            </a:r>
          </a:p>
        </p:txBody>
      </p:sp>
      <p:graphicFrame>
        <p:nvGraphicFramePr>
          <p:cNvPr id="6" name="Content Placeholder 5">
            <a:extLst>
              <a:ext uri="{FF2B5EF4-FFF2-40B4-BE49-F238E27FC236}">
                <a16:creationId xmlns:a16="http://schemas.microsoft.com/office/drawing/2014/main" id="{D5537C88-3A4B-2D49-06D0-7C1F0B259536}"/>
              </a:ext>
            </a:extLst>
          </p:cNvPr>
          <p:cNvGraphicFramePr>
            <a:graphicFrameLocks noGrp="1"/>
          </p:cNvGraphicFramePr>
          <p:nvPr>
            <p:ph idx="1"/>
            <p:extLst>
              <p:ext uri="{D42A27DB-BD31-4B8C-83A1-F6EECF244321}">
                <p14:modId xmlns:p14="http://schemas.microsoft.com/office/powerpoint/2010/main" val="1432029474"/>
              </p:ext>
            </p:extLst>
          </p:nvPr>
        </p:nvGraphicFramePr>
        <p:xfrm>
          <a:off x="457200" y="1600200"/>
          <a:ext cx="8461948" cy="4525964"/>
        </p:xfrm>
        <a:graphic>
          <a:graphicData uri="http://schemas.openxmlformats.org/drawingml/2006/table">
            <a:tbl>
              <a:tblPr/>
              <a:tblGrid>
                <a:gridCol w="1392836">
                  <a:extLst>
                    <a:ext uri="{9D8B030D-6E8A-4147-A177-3AD203B41FA5}">
                      <a16:colId xmlns:a16="http://schemas.microsoft.com/office/drawing/2014/main" val="3848498097"/>
                    </a:ext>
                  </a:extLst>
                </a:gridCol>
                <a:gridCol w="1392836">
                  <a:extLst>
                    <a:ext uri="{9D8B030D-6E8A-4147-A177-3AD203B41FA5}">
                      <a16:colId xmlns:a16="http://schemas.microsoft.com/office/drawing/2014/main" val="399178355"/>
                    </a:ext>
                  </a:extLst>
                </a:gridCol>
                <a:gridCol w="1392836">
                  <a:extLst>
                    <a:ext uri="{9D8B030D-6E8A-4147-A177-3AD203B41FA5}">
                      <a16:colId xmlns:a16="http://schemas.microsoft.com/office/drawing/2014/main" val="4216832254"/>
                    </a:ext>
                  </a:extLst>
                </a:gridCol>
                <a:gridCol w="1392836">
                  <a:extLst>
                    <a:ext uri="{9D8B030D-6E8A-4147-A177-3AD203B41FA5}">
                      <a16:colId xmlns:a16="http://schemas.microsoft.com/office/drawing/2014/main" val="99696664"/>
                    </a:ext>
                  </a:extLst>
                </a:gridCol>
                <a:gridCol w="1392836">
                  <a:extLst>
                    <a:ext uri="{9D8B030D-6E8A-4147-A177-3AD203B41FA5}">
                      <a16:colId xmlns:a16="http://schemas.microsoft.com/office/drawing/2014/main" val="575277996"/>
                    </a:ext>
                  </a:extLst>
                </a:gridCol>
                <a:gridCol w="1497768">
                  <a:extLst>
                    <a:ext uri="{9D8B030D-6E8A-4147-A177-3AD203B41FA5}">
                      <a16:colId xmlns:a16="http://schemas.microsoft.com/office/drawing/2014/main" val="3088387212"/>
                    </a:ext>
                  </a:extLst>
                </a:gridCol>
              </a:tblGrid>
              <a:tr h="718407">
                <a:tc>
                  <a:txBody>
                    <a:bodyPr/>
                    <a:lstStyle/>
                    <a:p>
                      <a:pPr fontAlgn="b"/>
                      <a:r>
                        <a:rPr lang="en-IN" sz="1600" b="1" dirty="0">
                          <a:effectLst/>
                          <a:latin typeface="Times New Roman" panose="02020603050405020304" pitchFamily="18" charset="0"/>
                          <a:cs typeface="Times New Roman" panose="02020603050405020304" pitchFamily="18" charset="0"/>
                        </a:rPr>
                        <a:t>Configuration</a:t>
                      </a:r>
                    </a:p>
                  </a:txBody>
                  <a:tcPr marL="71841" marR="71841" marT="35920" marB="35920" anchor="b">
                    <a:lnL w="9525" cap="flat" cmpd="sng" algn="ctr">
                      <a:solidFill>
                        <a:srgbClr val="F029B6"/>
                      </a:solidFill>
                      <a:prstDash val="solid"/>
                      <a:round/>
                      <a:headEnd type="none" w="med" len="med"/>
                      <a:tailEnd type="none" w="med" len="med"/>
                    </a:lnL>
                    <a:lnR w="9525" cap="flat" cmpd="sng" algn="ctr">
                      <a:solidFill>
                        <a:srgbClr val="402BB6"/>
                      </a:solidFill>
                      <a:prstDash val="solid"/>
                      <a:round/>
                      <a:headEnd type="none" w="med" len="med"/>
                      <a:tailEnd type="none" w="med" len="med"/>
                    </a:lnR>
                    <a:lnT w="9525" cap="flat" cmpd="sng" algn="ctr">
                      <a:solidFill>
                        <a:srgbClr val="F029B6"/>
                      </a:solidFill>
                      <a:prstDash val="solid"/>
                      <a:round/>
                      <a:headEnd type="none" w="med" len="med"/>
                      <a:tailEnd type="none" w="med" len="med"/>
                    </a:lnT>
                    <a:lnB w="12700" cap="flat" cmpd="sng" algn="ctr">
                      <a:solidFill>
                        <a:srgbClr val="B030B6"/>
                      </a:solidFill>
                      <a:prstDash val="solid"/>
                      <a:round/>
                      <a:headEnd type="none" w="med" len="med"/>
                      <a:tailEnd type="none" w="med" len="med"/>
                    </a:lnB>
                    <a:noFill/>
                  </a:tcPr>
                </a:tc>
                <a:tc>
                  <a:txBody>
                    <a:bodyPr/>
                    <a:lstStyle/>
                    <a:p>
                      <a:pPr fontAlgn="b"/>
                      <a:r>
                        <a:rPr lang="en-IN" sz="1600" b="1" dirty="0">
                          <a:effectLst/>
                          <a:latin typeface="Times New Roman" panose="02020603050405020304" pitchFamily="18" charset="0"/>
                          <a:cs typeface="Times New Roman" panose="02020603050405020304" pitchFamily="18" charset="0"/>
                        </a:rPr>
                        <a:t>Motion Type</a:t>
                      </a:r>
                    </a:p>
                  </a:txBody>
                  <a:tcPr marL="71841" marR="71841" marT="35920" marB="35920" anchor="b">
                    <a:lnL w="9525" cap="flat" cmpd="sng" algn="ctr">
                      <a:solidFill>
                        <a:srgbClr val="402BB6"/>
                      </a:solidFill>
                      <a:prstDash val="solid"/>
                      <a:round/>
                      <a:headEnd type="none" w="med" len="med"/>
                      <a:tailEnd type="none" w="med" len="med"/>
                    </a:lnL>
                    <a:lnR w="9525" cap="flat" cmpd="sng" algn="ctr">
                      <a:solidFill>
                        <a:srgbClr val="B02DB6"/>
                      </a:solidFill>
                      <a:prstDash val="solid"/>
                      <a:round/>
                      <a:headEnd type="none" w="med" len="med"/>
                      <a:tailEnd type="none" w="med" len="med"/>
                    </a:lnR>
                    <a:lnT w="9525" cap="flat" cmpd="sng" algn="ctr">
                      <a:solidFill>
                        <a:srgbClr val="402BB6"/>
                      </a:solidFill>
                      <a:prstDash val="solid"/>
                      <a:round/>
                      <a:headEnd type="none" w="med" len="med"/>
                      <a:tailEnd type="none" w="med" len="med"/>
                    </a:lnT>
                    <a:lnB w="12700" cap="flat" cmpd="sng" algn="ctr">
                      <a:solidFill>
                        <a:srgbClr val="8030B6"/>
                      </a:solidFill>
                      <a:prstDash val="solid"/>
                      <a:round/>
                      <a:headEnd type="none" w="med" len="med"/>
                      <a:tailEnd type="none" w="med" len="med"/>
                    </a:lnB>
                    <a:noFill/>
                  </a:tcPr>
                </a:tc>
                <a:tc>
                  <a:txBody>
                    <a:bodyPr/>
                    <a:lstStyle/>
                    <a:p>
                      <a:pPr fontAlgn="b"/>
                      <a:r>
                        <a:rPr lang="en-IN" sz="1600" b="1" dirty="0">
                          <a:effectLst/>
                          <a:latin typeface="Times New Roman" panose="02020603050405020304" pitchFamily="18" charset="0"/>
                          <a:cs typeface="Times New Roman" panose="02020603050405020304" pitchFamily="18" charset="0"/>
                        </a:rPr>
                        <a:t>Work Envelope</a:t>
                      </a:r>
                    </a:p>
                  </a:txBody>
                  <a:tcPr marL="71841" marR="71841" marT="35920" marB="35920" anchor="b">
                    <a:lnL w="9525" cap="flat" cmpd="sng" algn="ctr">
                      <a:solidFill>
                        <a:srgbClr val="B02DB6"/>
                      </a:solidFill>
                      <a:prstDash val="solid"/>
                      <a:round/>
                      <a:headEnd type="none" w="med" len="med"/>
                      <a:tailEnd type="none" w="med" len="med"/>
                    </a:lnL>
                    <a:lnR w="9525" cap="flat" cmpd="sng" algn="ctr">
                      <a:solidFill>
                        <a:srgbClr val="202DB6"/>
                      </a:solidFill>
                      <a:prstDash val="solid"/>
                      <a:round/>
                      <a:headEnd type="none" w="med" len="med"/>
                      <a:tailEnd type="none" w="med" len="med"/>
                    </a:lnR>
                    <a:lnT w="9525" cap="flat" cmpd="sng" algn="ctr">
                      <a:solidFill>
                        <a:srgbClr val="B02DB6"/>
                      </a:solidFill>
                      <a:prstDash val="solid"/>
                      <a:round/>
                      <a:headEnd type="none" w="med" len="med"/>
                      <a:tailEnd type="none" w="med" len="med"/>
                    </a:lnT>
                    <a:lnB w="12700" cap="flat" cmpd="sng" algn="ctr">
                      <a:solidFill>
                        <a:srgbClr val="102EB6"/>
                      </a:solidFill>
                      <a:prstDash val="solid"/>
                      <a:round/>
                      <a:headEnd type="none" w="med" len="med"/>
                      <a:tailEnd type="none" w="med" len="med"/>
                    </a:lnB>
                    <a:noFill/>
                  </a:tcPr>
                </a:tc>
                <a:tc>
                  <a:txBody>
                    <a:bodyPr/>
                    <a:lstStyle/>
                    <a:p>
                      <a:pPr fontAlgn="b"/>
                      <a:r>
                        <a:rPr lang="en-IN" sz="1600" b="1" dirty="0">
                          <a:effectLst/>
                          <a:latin typeface="Times New Roman" panose="02020603050405020304" pitchFamily="18" charset="0"/>
                          <a:cs typeface="Times New Roman" panose="02020603050405020304" pitchFamily="18" charset="0"/>
                        </a:rPr>
                        <a:t>Common Applications</a:t>
                      </a:r>
                    </a:p>
                  </a:txBody>
                  <a:tcPr marL="71841" marR="71841" marT="35920" marB="35920" anchor="b">
                    <a:lnL w="9525" cap="flat" cmpd="sng" algn="ctr">
                      <a:solidFill>
                        <a:srgbClr val="202DB6"/>
                      </a:solidFill>
                      <a:prstDash val="solid"/>
                      <a:round/>
                      <a:headEnd type="none" w="med" len="med"/>
                      <a:tailEnd type="none" w="med" len="med"/>
                    </a:lnL>
                    <a:lnR w="9525" cap="flat" cmpd="sng" algn="ctr">
                      <a:solidFill>
                        <a:srgbClr val="602CB6"/>
                      </a:solidFill>
                      <a:prstDash val="solid"/>
                      <a:round/>
                      <a:headEnd type="none" w="med" len="med"/>
                      <a:tailEnd type="none" w="med" len="med"/>
                    </a:lnR>
                    <a:lnT w="9525" cap="flat" cmpd="sng" algn="ctr">
                      <a:solidFill>
                        <a:srgbClr val="202DB6"/>
                      </a:solidFill>
                      <a:prstDash val="solid"/>
                      <a:round/>
                      <a:headEnd type="none" w="med" len="med"/>
                      <a:tailEnd type="none" w="med" len="med"/>
                    </a:lnT>
                    <a:lnB w="12700" cap="flat" cmpd="sng" algn="ctr">
                      <a:solidFill>
                        <a:srgbClr val="8030B6"/>
                      </a:solidFill>
                      <a:prstDash val="solid"/>
                      <a:round/>
                      <a:headEnd type="none" w="med" len="med"/>
                      <a:tailEnd type="none" w="med" len="med"/>
                    </a:lnB>
                    <a:noFill/>
                  </a:tcPr>
                </a:tc>
                <a:tc>
                  <a:txBody>
                    <a:bodyPr/>
                    <a:lstStyle/>
                    <a:p>
                      <a:pPr fontAlgn="b"/>
                      <a:r>
                        <a:rPr lang="en-IN" sz="1600" b="1" dirty="0">
                          <a:effectLst/>
                          <a:latin typeface="Times New Roman" panose="02020603050405020304" pitchFamily="18" charset="0"/>
                          <a:cs typeface="Times New Roman" panose="02020603050405020304" pitchFamily="18" charset="0"/>
                        </a:rPr>
                        <a:t>Advantages</a:t>
                      </a:r>
                    </a:p>
                  </a:txBody>
                  <a:tcPr marL="71841" marR="71841" marT="35920" marB="35920" anchor="b">
                    <a:lnL w="9525" cap="flat" cmpd="sng" algn="ctr">
                      <a:solidFill>
                        <a:srgbClr val="602CB6"/>
                      </a:solidFill>
                      <a:prstDash val="solid"/>
                      <a:round/>
                      <a:headEnd type="none" w="med" len="med"/>
                      <a:tailEnd type="none" w="med" len="med"/>
                    </a:lnL>
                    <a:lnR w="9525" cap="flat" cmpd="sng" algn="ctr">
                      <a:solidFill>
                        <a:srgbClr val="102BB6"/>
                      </a:solidFill>
                      <a:prstDash val="solid"/>
                      <a:round/>
                      <a:headEnd type="none" w="med" len="med"/>
                      <a:tailEnd type="none" w="med" len="med"/>
                    </a:lnR>
                    <a:lnT w="9525" cap="flat" cmpd="sng" algn="ctr">
                      <a:solidFill>
                        <a:srgbClr val="602CB6"/>
                      </a:solidFill>
                      <a:prstDash val="solid"/>
                      <a:round/>
                      <a:headEnd type="none" w="med" len="med"/>
                      <a:tailEnd type="none" w="med" len="med"/>
                    </a:lnT>
                    <a:lnB w="12700" cap="flat" cmpd="sng" algn="ctr">
                      <a:solidFill>
                        <a:srgbClr val="2030B6"/>
                      </a:solidFill>
                      <a:prstDash val="solid"/>
                      <a:round/>
                      <a:headEnd type="none" w="med" len="med"/>
                      <a:tailEnd type="none" w="med" len="med"/>
                    </a:lnB>
                    <a:noFill/>
                  </a:tcPr>
                </a:tc>
                <a:tc>
                  <a:txBody>
                    <a:bodyPr/>
                    <a:lstStyle/>
                    <a:p>
                      <a:pPr fontAlgn="b"/>
                      <a:r>
                        <a:rPr lang="en-IN" sz="1600" b="1" dirty="0">
                          <a:effectLst/>
                          <a:latin typeface="Times New Roman" panose="02020603050405020304" pitchFamily="18" charset="0"/>
                          <a:cs typeface="Times New Roman" panose="02020603050405020304" pitchFamily="18" charset="0"/>
                        </a:rPr>
                        <a:t>Disadvantages</a:t>
                      </a:r>
                    </a:p>
                  </a:txBody>
                  <a:tcPr marL="71841" marR="71841" marT="35920" marB="35920" anchor="b">
                    <a:lnL w="9525" cap="flat" cmpd="sng" algn="ctr">
                      <a:solidFill>
                        <a:srgbClr val="102BB6"/>
                      </a:solidFill>
                      <a:prstDash val="solid"/>
                      <a:round/>
                      <a:headEnd type="none" w="med" len="med"/>
                      <a:tailEnd type="none" w="med" len="med"/>
                    </a:lnL>
                    <a:lnR w="9525" cap="flat" cmpd="sng" algn="ctr">
                      <a:solidFill>
                        <a:srgbClr val="102BB6"/>
                      </a:solidFill>
                      <a:prstDash val="solid"/>
                      <a:round/>
                      <a:headEnd type="none" w="med" len="med"/>
                      <a:tailEnd type="none" w="med" len="med"/>
                    </a:lnR>
                    <a:lnT w="9525" cap="flat" cmpd="sng" algn="ctr">
                      <a:solidFill>
                        <a:srgbClr val="102BB6"/>
                      </a:solidFill>
                      <a:prstDash val="solid"/>
                      <a:round/>
                      <a:headEnd type="none" w="med" len="med"/>
                      <a:tailEnd type="none" w="med" len="med"/>
                    </a:lnT>
                    <a:lnB w="12700" cap="flat" cmpd="sng" algn="ctr">
                      <a:solidFill>
                        <a:srgbClr val="502DB6"/>
                      </a:solidFill>
                      <a:prstDash val="solid"/>
                      <a:round/>
                      <a:headEnd type="none" w="med" len="med"/>
                      <a:tailEnd type="none" w="med" len="med"/>
                    </a:lnB>
                    <a:noFill/>
                  </a:tcPr>
                </a:tc>
                <a:extLst>
                  <a:ext uri="{0D108BD9-81ED-4DB2-BD59-A6C34878D82A}">
                    <a16:rowId xmlns:a16="http://schemas.microsoft.com/office/drawing/2014/main" val="2745856844"/>
                  </a:ext>
                </a:extLst>
              </a:tr>
              <a:tr h="933929">
                <a:tc>
                  <a:txBody>
                    <a:bodyPr/>
                    <a:lstStyle/>
                    <a:p>
                      <a:pPr fontAlgn="base"/>
                      <a:r>
                        <a:rPr lang="en-IN" sz="1400">
                          <a:effectLst/>
                          <a:latin typeface="Times New Roman" panose="02020603050405020304" pitchFamily="18" charset="0"/>
                          <a:cs typeface="Times New Roman" panose="02020603050405020304" pitchFamily="18" charset="0"/>
                        </a:rPr>
                        <a:t>Cartesian</a:t>
                      </a:r>
                    </a:p>
                  </a:txBody>
                  <a:tcPr marL="71841" marR="71841" marT="35920" marB="35920" anchor="ctr">
                    <a:lnL w="9525" cap="flat" cmpd="sng" algn="ctr">
                      <a:solidFill>
                        <a:srgbClr val="B030B6"/>
                      </a:solidFill>
                      <a:prstDash val="solid"/>
                      <a:round/>
                      <a:headEnd type="none" w="med" len="med"/>
                      <a:tailEnd type="none" w="med" len="med"/>
                    </a:lnL>
                    <a:lnR w="9525" cap="flat" cmpd="sng" algn="ctr">
                      <a:solidFill>
                        <a:srgbClr val="8030B6"/>
                      </a:solidFill>
                      <a:prstDash val="solid"/>
                      <a:round/>
                      <a:headEnd type="none" w="med" len="med"/>
                      <a:tailEnd type="none" w="med" len="med"/>
                    </a:lnR>
                    <a:lnT w="12700" cap="flat" cmpd="sng" algn="ctr">
                      <a:solidFill>
                        <a:srgbClr val="B030B6"/>
                      </a:solidFill>
                      <a:prstDash val="solid"/>
                      <a:round/>
                      <a:headEnd type="none" w="med" len="med"/>
                      <a:tailEnd type="none" w="med" len="med"/>
                    </a:lnT>
                    <a:lnB w="12700" cap="flat" cmpd="sng" algn="ctr">
                      <a:solidFill>
                        <a:srgbClr val="502D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Linear</a:t>
                      </a:r>
                    </a:p>
                  </a:txBody>
                  <a:tcPr marL="71841" marR="71841" marT="35920" marB="35920" anchor="ctr">
                    <a:lnL w="9525" cap="flat" cmpd="sng" algn="ctr">
                      <a:solidFill>
                        <a:srgbClr val="8030B6"/>
                      </a:solidFill>
                      <a:prstDash val="solid"/>
                      <a:round/>
                      <a:headEnd type="none" w="med" len="med"/>
                      <a:tailEnd type="none" w="med" len="med"/>
                    </a:lnL>
                    <a:lnR w="9525" cap="flat" cmpd="sng" algn="ctr">
                      <a:solidFill>
                        <a:srgbClr val="102EB6"/>
                      </a:solidFill>
                      <a:prstDash val="solid"/>
                      <a:round/>
                      <a:headEnd type="none" w="med" len="med"/>
                      <a:tailEnd type="none" w="med" len="med"/>
                    </a:lnR>
                    <a:lnT w="12700" cap="flat" cmpd="sng" algn="ctr">
                      <a:solidFill>
                        <a:srgbClr val="8030B6"/>
                      </a:solidFill>
                      <a:prstDash val="solid"/>
                      <a:round/>
                      <a:headEnd type="none" w="med" len="med"/>
                      <a:tailEnd type="none" w="med" len="med"/>
                    </a:lnT>
                    <a:lnB w="12700" cap="flat" cmpd="sng" algn="ctr">
                      <a:solidFill>
                        <a:srgbClr val="402E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Rectangular</a:t>
                      </a:r>
                    </a:p>
                  </a:txBody>
                  <a:tcPr marL="71841" marR="71841" marT="35920" marB="35920" anchor="ctr">
                    <a:lnL w="9525" cap="flat" cmpd="sng" algn="ctr">
                      <a:solidFill>
                        <a:srgbClr val="102EB6"/>
                      </a:solidFill>
                      <a:prstDash val="solid"/>
                      <a:round/>
                      <a:headEnd type="none" w="med" len="med"/>
                      <a:tailEnd type="none" w="med" len="med"/>
                    </a:lnL>
                    <a:lnR w="9525" cap="flat" cmpd="sng" algn="ctr">
                      <a:solidFill>
                        <a:srgbClr val="8030B6"/>
                      </a:solidFill>
                      <a:prstDash val="solid"/>
                      <a:round/>
                      <a:headEnd type="none" w="med" len="med"/>
                      <a:tailEnd type="none" w="med" len="med"/>
                    </a:lnR>
                    <a:lnT w="12700" cap="flat" cmpd="sng" algn="ctr">
                      <a:solidFill>
                        <a:srgbClr val="102EB6"/>
                      </a:solidFill>
                      <a:prstDash val="solid"/>
                      <a:round/>
                      <a:headEnd type="none" w="med" len="med"/>
                      <a:tailEnd type="none" w="med" len="med"/>
                    </a:lnT>
                    <a:lnB w="12700" cap="flat" cmpd="sng" algn="ctr">
                      <a:solidFill>
                        <a:srgbClr val="302F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CNC machining, 3D printing</a:t>
                      </a:r>
                    </a:p>
                  </a:txBody>
                  <a:tcPr marL="71841" marR="71841" marT="35920" marB="35920" anchor="ctr">
                    <a:lnL w="9525" cap="flat" cmpd="sng" algn="ctr">
                      <a:solidFill>
                        <a:srgbClr val="8030B6"/>
                      </a:solidFill>
                      <a:prstDash val="solid"/>
                      <a:round/>
                      <a:headEnd type="none" w="med" len="med"/>
                      <a:tailEnd type="none" w="med" len="med"/>
                    </a:lnL>
                    <a:lnR w="9525" cap="flat" cmpd="sng" algn="ctr">
                      <a:solidFill>
                        <a:srgbClr val="2030B6"/>
                      </a:solidFill>
                      <a:prstDash val="solid"/>
                      <a:round/>
                      <a:headEnd type="none" w="med" len="med"/>
                      <a:tailEnd type="none" w="med" len="med"/>
                    </a:lnR>
                    <a:lnT w="12700" cap="flat" cmpd="sng" algn="ctr">
                      <a:solidFill>
                        <a:srgbClr val="8030B6"/>
                      </a:solidFill>
                      <a:prstDash val="solid"/>
                      <a:round/>
                      <a:headEnd type="none" w="med" len="med"/>
                      <a:tailEnd type="none" w="med" len="med"/>
                    </a:lnT>
                    <a:lnB w="12700" cap="flat" cmpd="sng" algn="ctr">
                      <a:solidFill>
                        <a:srgbClr val="102B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High precision, simple design</a:t>
                      </a:r>
                    </a:p>
                  </a:txBody>
                  <a:tcPr marL="71841" marR="71841" marT="35920" marB="35920" anchor="ctr">
                    <a:lnL w="9525" cap="flat" cmpd="sng" algn="ctr">
                      <a:solidFill>
                        <a:srgbClr val="2030B6"/>
                      </a:solidFill>
                      <a:prstDash val="solid"/>
                      <a:round/>
                      <a:headEnd type="none" w="med" len="med"/>
                      <a:tailEnd type="none" w="med" len="med"/>
                    </a:lnL>
                    <a:lnR w="9525" cap="flat" cmpd="sng" algn="ctr">
                      <a:solidFill>
                        <a:srgbClr val="502DB6"/>
                      </a:solidFill>
                      <a:prstDash val="solid"/>
                      <a:round/>
                      <a:headEnd type="none" w="med" len="med"/>
                      <a:tailEnd type="none" w="med" len="med"/>
                    </a:lnR>
                    <a:lnT w="12700" cap="flat" cmpd="sng" algn="ctr">
                      <a:solidFill>
                        <a:srgbClr val="2030B6"/>
                      </a:solidFill>
                      <a:prstDash val="solid"/>
                      <a:round/>
                      <a:headEnd type="none" w="med" len="med"/>
                      <a:tailEnd type="none" w="med" len="med"/>
                    </a:lnT>
                    <a:lnB w="12700" cap="flat" cmpd="sng" algn="ctr">
                      <a:solidFill>
                        <a:srgbClr val="502D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Limited range of motion</a:t>
                      </a:r>
                    </a:p>
                  </a:txBody>
                  <a:tcPr marL="71841" marR="71841" marT="35920" marB="35920" anchor="ctr">
                    <a:lnL w="9525" cap="flat" cmpd="sng" algn="ctr">
                      <a:solidFill>
                        <a:srgbClr val="502DB6"/>
                      </a:solidFill>
                      <a:prstDash val="solid"/>
                      <a:round/>
                      <a:headEnd type="none" w="med" len="med"/>
                      <a:tailEnd type="none" w="med" len="med"/>
                    </a:lnL>
                    <a:lnR w="9525" cap="flat" cmpd="sng" algn="ctr">
                      <a:solidFill>
                        <a:srgbClr val="502DB6"/>
                      </a:solidFill>
                      <a:prstDash val="solid"/>
                      <a:round/>
                      <a:headEnd type="none" w="med" len="med"/>
                      <a:tailEnd type="none" w="med" len="med"/>
                    </a:lnR>
                    <a:lnT w="12700" cap="flat" cmpd="sng" algn="ctr">
                      <a:solidFill>
                        <a:srgbClr val="502DB6"/>
                      </a:solidFill>
                      <a:prstDash val="solid"/>
                      <a:round/>
                      <a:headEnd type="none" w="med" len="med"/>
                      <a:tailEnd type="none" w="med" len="med"/>
                    </a:lnT>
                    <a:lnB w="12700" cap="flat" cmpd="sng" algn="ctr">
                      <a:solidFill>
                        <a:srgbClr val="402EB6"/>
                      </a:solidFill>
                      <a:prstDash val="solid"/>
                      <a:round/>
                      <a:headEnd type="none" w="med" len="med"/>
                      <a:tailEnd type="none" w="med" len="med"/>
                    </a:lnB>
                    <a:noFill/>
                  </a:tcPr>
                </a:tc>
                <a:extLst>
                  <a:ext uri="{0D108BD9-81ED-4DB2-BD59-A6C34878D82A}">
                    <a16:rowId xmlns:a16="http://schemas.microsoft.com/office/drawing/2014/main" val="4133519972"/>
                  </a:ext>
                </a:extLst>
              </a:tr>
              <a:tr h="502885">
                <a:tc>
                  <a:txBody>
                    <a:bodyPr/>
                    <a:lstStyle/>
                    <a:p>
                      <a:pPr fontAlgn="base"/>
                      <a:r>
                        <a:rPr lang="en-IN" sz="1400">
                          <a:effectLst/>
                          <a:latin typeface="Times New Roman" panose="02020603050405020304" pitchFamily="18" charset="0"/>
                          <a:cs typeface="Times New Roman" panose="02020603050405020304" pitchFamily="18" charset="0"/>
                        </a:rPr>
                        <a:t>Cylindrical</a:t>
                      </a:r>
                    </a:p>
                  </a:txBody>
                  <a:tcPr marL="71841" marR="71841" marT="35920" marB="35920" anchor="ctr">
                    <a:lnL w="9525" cap="flat" cmpd="sng" algn="ctr">
                      <a:solidFill>
                        <a:srgbClr val="502DB6"/>
                      </a:solidFill>
                      <a:prstDash val="solid"/>
                      <a:round/>
                      <a:headEnd type="none" w="med" len="med"/>
                      <a:tailEnd type="none" w="med" len="med"/>
                    </a:lnL>
                    <a:lnR w="9525" cap="flat" cmpd="sng" algn="ctr">
                      <a:solidFill>
                        <a:srgbClr val="402EB6"/>
                      </a:solidFill>
                      <a:prstDash val="solid"/>
                      <a:round/>
                      <a:headEnd type="none" w="med" len="med"/>
                      <a:tailEnd type="none" w="med" len="med"/>
                    </a:lnR>
                    <a:lnT w="12700" cap="flat" cmpd="sng" algn="ctr">
                      <a:solidFill>
                        <a:srgbClr val="502DB6"/>
                      </a:solidFill>
                      <a:prstDash val="solid"/>
                      <a:round/>
                      <a:headEnd type="none" w="med" len="med"/>
                      <a:tailEnd type="none" w="med" len="med"/>
                    </a:lnT>
                    <a:lnB w="12700" cap="flat" cmpd="sng" algn="ctr">
                      <a:solidFill>
                        <a:srgbClr val="003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Linear + Rotary</a:t>
                      </a:r>
                    </a:p>
                  </a:txBody>
                  <a:tcPr marL="71841" marR="71841" marT="35920" marB="35920" anchor="ctr">
                    <a:lnL w="9525" cap="flat" cmpd="sng" algn="ctr">
                      <a:solidFill>
                        <a:srgbClr val="402EB6"/>
                      </a:solidFill>
                      <a:prstDash val="solid"/>
                      <a:round/>
                      <a:headEnd type="none" w="med" len="med"/>
                      <a:tailEnd type="none" w="med" len="med"/>
                    </a:lnL>
                    <a:lnR w="9525" cap="flat" cmpd="sng" algn="ctr">
                      <a:solidFill>
                        <a:srgbClr val="302FB6"/>
                      </a:solidFill>
                      <a:prstDash val="solid"/>
                      <a:round/>
                      <a:headEnd type="none" w="med" len="med"/>
                      <a:tailEnd type="none" w="med" len="med"/>
                    </a:lnR>
                    <a:lnT w="12700" cap="flat" cmpd="sng" algn="ctr">
                      <a:solidFill>
                        <a:srgbClr val="402EB6"/>
                      </a:solidFill>
                      <a:prstDash val="solid"/>
                      <a:round/>
                      <a:headEnd type="none" w="med" len="med"/>
                      <a:tailEnd type="none" w="med" len="med"/>
                    </a:lnT>
                    <a:lnB w="12700" cap="flat" cmpd="sng" algn="ctr">
                      <a:solidFill>
                        <a:srgbClr val="403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Cylindrical</a:t>
                      </a:r>
                    </a:p>
                  </a:txBody>
                  <a:tcPr marL="71841" marR="71841" marT="35920" marB="35920" anchor="ctr">
                    <a:lnL w="9525" cap="flat" cmpd="sng" algn="ctr">
                      <a:solidFill>
                        <a:srgbClr val="302FB6"/>
                      </a:solidFill>
                      <a:prstDash val="solid"/>
                      <a:round/>
                      <a:headEnd type="none" w="med" len="med"/>
                      <a:tailEnd type="none" w="med" len="med"/>
                    </a:lnL>
                    <a:lnR w="9525" cap="flat" cmpd="sng" algn="ctr">
                      <a:solidFill>
                        <a:srgbClr val="102BB6"/>
                      </a:solidFill>
                      <a:prstDash val="solid"/>
                      <a:round/>
                      <a:headEnd type="none" w="med" len="med"/>
                      <a:tailEnd type="none" w="med" len="med"/>
                    </a:lnR>
                    <a:lnT w="12700" cap="flat" cmpd="sng" algn="ctr">
                      <a:solidFill>
                        <a:srgbClr val="302FB6"/>
                      </a:solidFill>
                      <a:prstDash val="solid"/>
                      <a:round/>
                      <a:headEnd type="none" w="med" len="med"/>
                      <a:tailEnd type="none" w="med" len="med"/>
                    </a:lnT>
                    <a:lnB w="12700" cap="flat" cmpd="sng" algn="ctr">
                      <a:solidFill>
                        <a:srgbClr val="003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Assembly, welding</a:t>
                      </a:r>
                    </a:p>
                  </a:txBody>
                  <a:tcPr marL="71841" marR="71841" marT="35920" marB="35920" anchor="ctr">
                    <a:lnL w="9525" cap="flat" cmpd="sng" algn="ctr">
                      <a:solidFill>
                        <a:srgbClr val="102BB6"/>
                      </a:solidFill>
                      <a:prstDash val="solid"/>
                      <a:round/>
                      <a:headEnd type="none" w="med" len="med"/>
                      <a:tailEnd type="none" w="med" len="med"/>
                    </a:lnL>
                    <a:lnR w="9525" cap="flat" cmpd="sng" algn="ctr">
                      <a:solidFill>
                        <a:srgbClr val="502DB6"/>
                      </a:solidFill>
                      <a:prstDash val="solid"/>
                      <a:round/>
                      <a:headEnd type="none" w="med" len="med"/>
                      <a:tailEnd type="none" w="med" len="med"/>
                    </a:lnR>
                    <a:lnT w="12700" cap="flat" cmpd="sng" algn="ctr">
                      <a:solidFill>
                        <a:srgbClr val="102BB6"/>
                      </a:solidFill>
                      <a:prstDash val="solid"/>
                      <a:round/>
                      <a:headEnd type="none" w="med" len="med"/>
                      <a:tailEnd type="none" w="med" len="med"/>
                    </a:lnT>
                    <a:lnB w="12700" cap="flat" cmpd="sng" algn="ctr">
                      <a:solidFill>
                        <a:srgbClr val="303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Compact, flexible</a:t>
                      </a:r>
                    </a:p>
                  </a:txBody>
                  <a:tcPr marL="71841" marR="71841" marT="35920" marB="35920" anchor="ctr">
                    <a:lnL w="9525" cap="flat" cmpd="sng" algn="ctr">
                      <a:solidFill>
                        <a:srgbClr val="502DB6"/>
                      </a:solidFill>
                      <a:prstDash val="solid"/>
                      <a:round/>
                      <a:headEnd type="none" w="med" len="med"/>
                      <a:tailEnd type="none" w="med" len="med"/>
                    </a:lnL>
                    <a:lnR w="9525" cap="flat" cmpd="sng" algn="ctr">
                      <a:solidFill>
                        <a:srgbClr val="402EB6"/>
                      </a:solidFill>
                      <a:prstDash val="solid"/>
                      <a:round/>
                      <a:headEnd type="none" w="med" len="med"/>
                      <a:tailEnd type="none" w="med" len="med"/>
                    </a:lnR>
                    <a:lnT w="12700" cap="flat" cmpd="sng" algn="ctr">
                      <a:solidFill>
                        <a:srgbClr val="502DB6"/>
                      </a:solidFill>
                      <a:prstDash val="solid"/>
                      <a:round/>
                      <a:headEnd type="none" w="med" len="med"/>
                      <a:tailEnd type="none" w="med" len="med"/>
                    </a:lnT>
                    <a:lnB w="12700" cap="flat" cmpd="sng" algn="ctr">
                      <a:solidFill>
                        <a:srgbClr val="E030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Limited reach</a:t>
                      </a:r>
                    </a:p>
                  </a:txBody>
                  <a:tcPr marL="71841" marR="71841" marT="35920" marB="35920" anchor="ctr">
                    <a:lnL w="9525" cap="flat" cmpd="sng" algn="ctr">
                      <a:solidFill>
                        <a:srgbClr val="402EB6"/>
                      </a:solidFill>
                      <a:prstDash val="solid"/>
                      <a:round/>
                      <a:headEnd type="none" w="med" len="med"/>
                      <a:tailEnd type="none" w="med" len="med"/>
                    </a:lnL>
                    <a:lnR w="9525" cap="flat" cmpd="sng" algn="ctr">
                      <a:solidFill>
                        <a:srgbClr val="402EB6"/>
                      </a:solidFill>
                      <a:prstDash val="solid"/>
                      <a:round/>
                      <a:headEnd type="none" w="med" len="med"/>
                      <a:tailEnd type="none" w="med" len="med"/>
                    </a:lnR>
                    <a:lnT w="12700" cap="flat" cmpd="sng" algn="ctr">
                      <a:solidFill>
                        <a:srgbClr val="402EB6"/>
                      </a:solidFill>
                      <a:prstDash val="solid"/>
                      <a:round/>
                      <a:headEnd type="none" w="med" len="med"/>
                      <a:tailEnd type="none" w="med" len="med"/>
                    </a:lnT>
                    <a:lnB w="12700" cap="flat" cmpd="sng" algn="ctr">
                      <a:solidFill>
                        <a:srgbClr val="2036B6"/>
                      </a:solidFill>
                      <a:prstDash val="solid"/>
                      <a:round/>
                      <a:headEnd type="none" w="med" len="med"/>
                      <a:tailEnd type="none" w="med" len="med"/>
                    </a:lnB>
                    <a:noFill/>
                  </a:tcPr>
                </a:tc>
                <a:extLst>
                  <a:ext uri="{0D108BD9-81ED-4DB2-BD59-A6C34878D82A}">
                    <a16:rowId xmlns:a16="http://schemas.microsoft.com/office/drawing/2014/main" val="1134809665"/>
                  </a:ext>
                </a:extLst>
              </a:tr>
              <a:tr h="718407">
                <a:tc>
                  <a:txBody>
                    <a:bodyPr/>
                    <a:lstStyle/>
                    <a:p>
                      <a:pPr fontAlgn="base"/>
                      <a:r>
                        <a:rPr lang="en-IN" sz="1400">
                          <a:effectLst/>
                          <a:latin typeface="Times New Roman" panose="02020603050405020304" pitchFamily="18" charset="0"/>
                          <a:cs typeface="Times New Roman" panose="02020603050405020304" pitchFamily="18" charset="0"/>
                        </a:rPr>
                        <a:t>Spherical</a:t>
                      </a:r>
                    </a:p>
                  </a:txBody>
                  <a:tcPr marL="71841" marR="71841" marT="35920" marB="35920" anchor="ctr">
                    <a:lnL w="9525" cap="flat" cmpd="sng" algn="ctr">
                      <a:solidFill>
                        <a:srgbClr val="0032B6"/>
                      </a:solidFill>
                      <a:prstDash val="solid"/>
                      <a:round/>
                      <a:headEnd type="none" w="med" len="med"/>
                      <a:tailEnd type="none" w="med" len="med"/>
                    </a:lnL>
                    <a:lnR w="9525" cap="flat" cmpd="sng" algn="ctr">
                      <a:solidFill>
                        <a:srgbClr val="4034B6"/>
                      </a:solidFill>
                      <a:prstDash val="solid"/>
                      <a:round/>
                      <a:headEnd type="none" w="med" len="med"/>
                      <a:tailEnd type="none" w="med" len="med"/>
                    </a:lnR>
                    <a:lnT w="12700" cap="flat" cmpd="sng" algn="ctr">
                      <a:solidFill>
                        <a:srgbClr val="0032B6"/>
                      </a:solidFill>
                      <a:prstDash val="solid"/>
                      <a:round/>
                      <a:headEnd type="none" w="med" len="med"/>
                      <a:tailEnd type="none" w="med" len="med"/>
                    </a:lnT>
                    <a:lnB w="12700" cap="flat" cmpd="sng" algn="ctr">
                      <a:solidFill>
                        <a:srgbClr val="303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Rotary + Linear</a:t>
                      </a:r>
                    </a:p>
                  </a:txBody>
                  <a:tcPr marL="71841" marR="71841" marT="35920" marB="35920" anchor="ctr">
                    <a:lnL w="9525" cap="flat" cmpd="sng" algn="ctr">
                      <a:solidFill>
                        <a:srgbClr val="4034B6"/>
                      </a:solidFill>
                      <a:prstDash val="solid"/>
                      <a:round/>
                      <a:headEnd type="none" w="med" len="med"/>
                      <a:tailEnd type="none" w="med" len="med"/>
                    </a:lnL>
                    <a:lnR w="9525" cap="flat" cmpd="sng" algn="ctr">
                      <a:solidFill>
                        <a:srgbClr val="0032B6"/>
                      </a:solidFill>
                      <a:prstDash val="solid"/>
                      <a:round/>
                      <a:headEnd type="none" w="med" len="med"/>
                      <a:tailEnd type="none" w="med" len="med"/>
                    </a:lnR>
                    <a:lnT w="12700" cap="flat" cmpd="sng" algn="ctr">
                      <a:solidFill>
                        <a:srgbClr val="4034B6"/>
                      </a:solidFill>
                      <a:prstDash val="solid"/>
                      <a:round/>
                      <a:headEnd type="none" w="med" len="med"/>
                      <a:tailEnd type="none" w="med" len="med"/>
                    </a:lnT>
                    <a:lnB w="12700" cap="flat" cmpd="sng" algn="ctr">
                      <a:solidFill>
                        <a:srgbClr val="2033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Spherical</a:t>
                      </a:r>
                    </a:p>
                  </a:txBody>
                  <a:tcPr marL="71841" marR="71841" marT="35920" marB="35920" anchor="ctr">
                    <a:lnL w="9525" cap="flat" cmpd="sng" algn="ctr">
                      <a:solidFill>
                        <a:srgbClr val="0032B6"/>
                      </a:solidFill>
                      <a:prstDash val="solid"/>
                      <a:round/>
                      <a:headEnd type="none" w="med" len="med"/>
                      <a:tailEnd type="none" w="med" len="med"/>
                    </a:lnL>
                    <a:lnR w="9525" cap="flat" cmpd="sng" algn="ctr">
                      <a:solidFill>
                        <a:srgbClr val="3032B6"/>
                      </a:solidFill>
                      <a:prstDash val="solid"/>
                      <a:round/>
                      <a:headEnd type="none" w="med" len="med"/>
                      <a:tailEnd type="none" w="med" len="med"/>
                    </a:lnR>
                    <a:lnT w="12700" cap="flat" cmpd="sng" algn="ctr">
                      <a:solidFill>
                        <a:srgbClr val="0032B6"/>
                      </a:solidFill>
                      <a:prstDash val="solid"/>
                      <a:round/>
                      <a:headEnd type="none" w="med" len="med"/>
                      <a:tailEnd type="none" w="med" len="med"/>
                    </a:lnT>
                    <a:lnB w="12700" cap="flat" cmpd="sng" algn="ctr">
                      <a:solidFill>
                        <a:srgbClr val="A03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Surveillance, inspection</a:t>
                      </a:r>
                    </a:p>
                  </a:txBody>
                  <a:tcPr marL="71841" marR="71841" marT="35920" marB="35920" anchor="ctr">
                    <a:lnL w="9525" cap="flat" cmpd="sng" algn="ctr">
                      <a:solidFill>
                        <a:srgbClr val="3032B6"/>
                      </a:solidFill>
                      <a:prstDash val="solid"/>
                      <a:round/>
                      <a:headEnd type="none" w="med" len="med"/>
                      <a:tailEnd type="none" w="med" len="med"/>
                    </a:lnL>
                    <a:lnR w="9525" cap="flat" cmpd="sng" algn="ctr">
                      <a:solidFill>
                        <a:srgbClr val="E030B6"/>
                      </a:solidFill>
                      <a:prstDash val="solid"/>
                      <a:round/>
                      <a:headEnd type="none" w="med" len="med"/>
                      <a:tailEnd type="none" w="med" len="med"/>
                    </a:lnR>
                    <a:lnT w="12700" cap="flat" cmpd="sng" algn="ctr">
                      <a:solidFill>
                        <a:srgbClr val="3032B6"/>
                      </a:solidFill>
                      <a:prstDash val="solid"/>
                      <a:round/>
                      <a:headEnd type="none" w="med" len="med"/>
                      <a:tailEnd type="none" w="med" len="med"/>
                    </a:lnT>
                    <a:lnB w="12700" cap="flat" cmpd="sng" algn="ctr">
                      <a:solidFill>
                        <a:srgbClr val="8033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Wide reach</a:t>
                      </a:r>
                    </a:p>
                  </a:txBody>
                  <a:tcPr marL="71841" marR="71841" marT="35920" marB="35920" anchor="ctr">
                    <a:lnL w="9525" cap="flat" cmpd="sng" algn="ctr">
                      <a:solidFill>
                        <a:srgbClr val="E030B6"/>
                      </a:solidFill>
                      <a:prstDash val="solid"/>
                      <a:round/>
                      <a:headEnd type="none" w="med" len="med"/>
                      <a:tailEnd type="none" w="med" len="med"/>
                    </a:lnL>
                    <a:lnR w="9525" cap="flat" cmpd="sng" algn="ctr">
                      <a:solidFill>
                        <a:srgbClr val="2036B6"/>
                      </a:solidFill>
                      <a:prstDash val="solid"/>
                      <a:round/>
                      <a:headEnd type="none" w="med" len="med"/>
                      <a:tailEnd type="none" w="med" len="med"/>
                    </a:lnR>
                    <a:lnT w="12700" cap="flat" cmpd="sng" algn="ctr">
                      <a:solidFill>
                        <a:srgbClr val="E030B6"/>
                      </a:solidFill>
                      <a:prstDash val="solid"/>
                      <a:round/>
                      <a:headEnd type="none" w="med" len="med"/>
                      <a:tailEnd type="none" w="med" len="med"/>
                    </a:lnT>
                    <a:lnB w="12700" cap="flat" cmpd="sng" algn="ctr">
                      <a:solidFill>
                        <a:srgbClr val="C035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Complex design</a:t>
                      </a:r>
                    </a:p>
                  </a:txBody>
                  <a:tcPr marL="71841" marR="71841" marT="35920" marB="35920" anchor="ctr">
                    <a:lnL w="9525" cap="flat" cmpd="sng" algn="ctr">
                      <a:solidFill>
                        <a:srgbClr val="2036B6"/>
                      </a:solidFill>
                      <a:prstDash val="solid"/>
                      <a:round/>
                      <a:headEnd type="none" w="med" len="med"/>
                      <a:tailEnd type="none" w="med" len="med"/>
                    </a:lnL>
                    <a:lnR w="9525" cap="flat" cmpd="sng" algn="ctr">
                      <a:solidFill>
                        <a:srgbClr val="2036B6"/>
                      </a:solidFill>
                      <a:prstDash val="solid"/>
                      <a:round/>
                      <a:headEnd type="none" w="med" len="med"/>
                      <a:tailEnd type="none" w="med" len="med"/>
                    </a:lnR>
                    <a:lnT w="12700" cap="flat" cmpd="sng" algn="ctr">
                      <a:solidFill>
                        <a:srgbClr val="2036B6"/>
                      </a:solidFill>
                      <a:prstDash val="solid"/>
                      <a:round/>
                      <a:headEnd type="none" w="med" len="med"/>
                      <a:tailEnd type="none" w="med" len="med"/>
                    </a:lnT>
                    <a:lnB w="12700" cap="flat" cmpd="sng" algn="ctr">
                      <a:solidFill>
                        <a:srgbClr val="C038B6"/>
                      </a:solidFill>
                      <a:prstDash val="solid"/>
                      <a:round/>
                      <a:headEnd type="none" w="med" len="med"/>
                      <a:tailEnd type="none" w="med" len="med"/>
                    </a:lnB>
                    <a:noFill/>
                  </a:tcPr>
                </a:tc>
                <a:extLst>
                  <a:ext uri="{0D108BD9-81ED-4DB2-BD59-A6C34878D82A}">
                    <a16:rowId xmlns:a16="http://schemas.microsoft.com/office/drawing/2014/main" val="1011610709"/>
                  </a:ext>
                </a:extLst>
              </a:tr>
              <a:tr h="933929">
                <a:tc>
                  <a:txBody>
                    <a:bodyPr/>
                    <a:lstStyle/>
                    <a:p>
                      <a:pPr fontAlgn="base"/>
                      <a:r>
                        <a:rPr lang="en-IN" sz="1400">
                          <a:effectLst/>
                          <a:latin typeface="Times New Roman" panose="02020603050405020304" pitchFamily="18" charset="0"/>
                          <a:cs typeface="Times New Roman" panose="02020603050405020304" pitchFamily="18" charset="0"/>
                        </a:rPr>
                        <a:t>Articulated</a:t>
                      </a:r>
                    </a:p>
                  </a:txBody>
                  <a:tcPr marL="71841" marR="71841" marT="35920" marB="35920" anchor="ctr">
                    <a:lnL w="9525" cap="flat" cmpd="sng" algn="ctr">
                      <a:solidFill>
                        <a:srgbClr val="3032B6"/>
                      </a:solidFill>
                      <a:prstDash val="solid"/>
                      <a:round/>
                      <a:headEnd type="none" w="med" len="med"/>
                      <a:tailEnd type="none" w="med" len="med"/>
                    </a:lnL>
                    <a:lnR w="9525" cap="flat" cmpd="sng" algn="ctr">
                      <a:solidFill>
                        <a:srgbClr val="2033B6"/>
                      </a:solidFill>
                      <a:prstDash val="solid"/>
                      <a:round/>
                      <a:headEnd type="none" w="med" len="med"/>
                      <a:tailEnd type="none" w="med" len="med"/>
                    </a:lnR>
                    <a:lnT w="12700" cap="flat" cmpd="sng" algn="ctr">
                      <a:solidFill>
                        <a:srgbClr val="3032B6"/>
                      </a:solidFill>
                      <a:prstDash val="solid"/>
                      <a:round/>
                      <a:headEnd type="none" w="med" len="med"/>
                      <a:tailEnd type="none" w="med" len="med"/>
                    </a:lnT>
                    <a:lnB w="12700" cap="flat" cmpd="sng" algn="ctr">
                      <a:solidFill>
                        <a:srgbClr val="E04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Multi-rotary</a:t>
                      </a:r>
                    </a:p>
                  </a:txBody>
                  <a:tcPr marL="71841" marR="71841" marT="35920" marB="35920" anchor="ctr">
                    <a:lnL w="9525" cap="flat" cmpd="sng" algn="ctr">
                      <a:solidFill>
                        <a:srgbClr val="2033B6"/>
                      </a:solidFill>
                      <a:prstDash val="solid"/>
                      <a:round/>
                      <a:headEnd type="none" w="med" len="med"/>
                      <a:tailEnd type="none" w="med" len="med"/>
                    </a:lnL>
                    <a:lnR w="9525" cap="flat" cmpd="sng" algn="ctr">
                      <a:solidFill>
                        <a:srgbClr val="A034B6"/>
                      </a:solidFill>
                      <a:prstDash val="solid"/>
                      <a:round/>
                      <a:headEnd type="none" w="med" len="med"/>
                      <a:tailEnd type="none" w="med" len="med"/>
                    </a:lnR>
                    <a:lnT w="12700" cap="flat" cmpd="sng" algn="ctr">
                      <a:solidFill>
                        <a:srgbClr val="2033B6"/>
                      </a:solidFill>
                      <a:prstDash val="solid"/>
                      <a:round/>
                      <a:headEnd type="none" w="med" len="med"/>
                      <a:tailEnd type="none" w="med" len="med"/>
                    </a:lnT>
                    <a:lnB w="12700" cap="flat" cmpd="sng" algn="ctr">
                      <a:solidFill>
                        <a:srgbClr val="004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Various</a:t>
                      </a:r>
                    </a:p>
                  </a:txBody>
                  <a:tcPr marL="71841" marR="71841" marT="35920" marB="35920" anchor="ctr">
                    <a:lnL w="9525" cap="flat" cmpd="sng" algn="ctr">
                      <a:solidFill>
                        <a:srgbClr val="A034B6"/>
                      </a:solidFill>
                      <a:prstDash val="solid"/>
                      <a:round/>
                      <a:headEnd type="none" w="med" len="med"/>
                      <a:tailEnd type="none" w="med" len="med"/>
                    </a:lnL>
                    <a:lnR w="9525" cap="flat" cmpd="sng" algn="ctr">
                      <a:solidFill>
                        <a:srgbClr val="8033B6"/>
                      </a:solidFill>
                      <a:prstDash val="solid"/>
                      <a:round/>
                      <a:headEnd type="none" w="med" len="med"/>
                      <a:tailEnd type="none" w="med" len="med"/>
                    </a:lnR>
                    <a:lnT w="12700" cap="flat" cmpd="sng" algn="ctr">
                      <a:solidFill>
                        <a:srgbClr val="A034B6"/>
                      </a:solidFill>
                      <a:prstDash val="solid"/>
                      <a:round/>
                      <a:headEnd type="none" w="med" len="med"/>
                      <a:tailEnd type="none" w="med" len="med"/>
                    </a:lnT>
                    <a:lnB w="12700" cap="flat" cmpd="sng" algn="ctr">
                      <a:solidFill>
                        <a:srgbClr val="4043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Welding, painting</a:t>
                      </a:r>
                    </a:p>
                  </a:txBody>
                  <a:tcPr marL="71841" marR="71841" marT="35920" marB="35920" anchor="ctr">
                    <a:lnL w="9525" cap="flat" cmpd="sng" algn="ctr">
                      <a:solidFill>
                        <a:srgbClr val="8033B6"/>
                      </a:solidFill>
                      <a:prstDash val="solid"/>
                      <a:round/>
                      <a:headEnd type="none" w="med" len="med"/>
                      <a:tailEnd type="none" w="med" len="med"/>
                    </a:lnL>
                    <a:lnR w="9525" cap="flat" cmpd="sng" algn="ctr">
                      <a:solidFill>
                        <a:srgbClr val="C035B6"/>
                      </a:solidFill>
                      <a:prstDash val="solid"/>
                      <a:round/>
                      <a:headEnd type="none" w="med" len="med"/>
                      <a:tailEnd type="none" w="med" len="med"/>
                    </a:lnR>
                    <a:lnT w="12700" cap="flat" cmpd="sng" algn="ctr">
                      <a:solidFill>
                        <a:srgbClr val="8033B6"/>
                      </a:solidFill>
                      <a:prstDash val="solid"/>
                      <a:round/>
                      <a:headEnd type="none" w="med" len="med"/>
                      <a:tailEnd type="none" w="med" len="med"/>
                    </a:lnT>
                    <a:lnB w="12700" cap="flat" cmpd="sng" algn="ctr">
                      <a:solidFill>
                        <a:srgbClr val="904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Highly flexible</a:t>
                      </a:r>
                    </a:p>
                  </a:txBody>
                  <a:tcPr marL="71841" marR="71841" marT="35920" marB="35920" anchor="ctr">
                    <a:lnL w="9525" cap="flat" cmpd="sng" algn="ctr">
                      <a:solidFill>
                        <a:srgbClr val="C035B6"/>
                      </a:solidFill>
                      <a:prstDash val="solid"/>
                      <a:round/>
                      <a:headEnd type="none" w="med" len="med"/>
                      <a:tailEnd type="none" w="med" len="med"/>
                    </a:lnL>
                    <a:lnR w="9525" cap="flat" cmpd="sng" algn="ctr">
                      <a:solidFill>
                        <a:srgbClr val="C038B6"/>
                      </a:solidFill>
                      <a:prstDash val="solid"/>
                      <a:round/>
                      <a:headEnd type="none" w="med" len="med"/>
                      <a:tailEnd type="none" w="med" len="med"/>
                    </a:lnR>
                    <a:lnT w="12700" cap="flat" cmpd="sng" algn="ctr">
                      <a:solidFill>
                        <a:srgbClr val="C035B6"/>
                      </a:solidFill>
                      <a:prstDash val="solid"/>
                      <a:round/>
                      <a:headEnd type="none" w="med" len="med"/>
                      <a:tailEnd type="none" w="med" len="med"/>
                    </a:lnT>
                    <a:lnB w="12700" cap="flat" cmpd="sng" algn="ctr">
                      <a:solidFill>
                        <a:srgbClr val="E045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Expensive, complex to program</a:t>
                      </a:r>
                    </a:p>
                  </a:txBody>
                  <a:tcPr marL="71841" marR="71841" marT="35920" marB="35920" anchor="ctr">
                    <a:lnL w="9525" cap="flat" cmpd="sng" algn="ctr">
                      <a:solidFill>
                        <a:srgbClr val="C038B6"/>
                      </a:solidFill>
                      <a:prstDash val="solid"/>
                      <a:round/>
                      <a:headEnd type="none" w="med" len="med"/>
                      <a:tailEnd type="none" w="med" len="med"/>
                    </a:lnL>
                    <a:lnR w="9525" cap="flat" cmpd="sng" algn="ctr">
                      <a:solidFill>
                        <a:srgbClr val="C038B6"/>
                      </a:solidFill>
                      <a:prstDash val="solid"/>
                      <a:round/>
                      <a:headEnd type="none" w="med" len="med"/>
                      <a:tailEnd type="none" w="med" len="med"/>
                    </a:lnR>
                    <a:lnT w="12700" cap="flat" cmpd="sng" algn="ctr">
                      <a:solidFill>
                        <a:srgbClr val="C038B6"/>
                      </a:solidFill>
                      <a:prstDash val="solid"/>
                      <a:round/>
                      <a:headEnd type="none" w="med" len="med"/>
                      <a:tailEnd type="none" w="med" len="med"/>
                    </a:lnT>
                    <a:lnB w="12700" cap="flat" cmpd="sng" algn="ctr">
                      <a:solidFill>
                        <a:srgbClr val="3044B6"/>
                      </a:solidFill>
                      <a:prstDash val="solid"/>
                      <a:round/>
                      <a:headEnd type="none" w="med" len="med"/>
                      <a:tailEnd type="none" w="med" len="med"/>
                    </a:lnB>
                    <a:noFill/>
                  </a:tcPr>
                </a:tc>
                <a:extLst>
                  <a:ext uri="{0D108BD9-81ED-4DB2-BD59-A6C34878D82A}">
                    <a16:rowId xmlns:a16="http://schemas.microsoft.com/office/drawing/2014/main" val="1572212872"/>
                  </a:ext>
                </a:extLst>
              </a:tr>
              <a:tr h="718407">
                <a:tc>
                  <a:txBody>
                    <a:bodyPr/>
                    <a:lstStyle/>
                    <a:p>
                      <a:pPr fontAlgn="base"/>
                      <a:r>
                        <a:rPr lang="en-IN" sz="1400">
                          <a:effectLst/>
                          <a:latin typeface="Times New Roman" panose="02020603050405020304" pitchFamily="18" charset="0"/>
                          <a:cs typeface="Times New Roman" panose="02020603050405020304" pitchFamily="18" charset="0"/>
                        </a:rPr>
                        <a:t>SCARA</a:t>
                      </a:r>
                    </a:p>
                  </a:txBody>
                  <a:tcPr marL="71841" marR="71841" marT="35920" marB="35920" anchor="ctr">
                    <a:lnL w="9525" cap="flat" cmpd="sng" algn="ctr">
                      <a:solidFill>
                        <a:srgbClr val="E042B6"/>
                      </a:solidFill>
                      <a:prstDash val="solid"/>
                      <a:round/>
                      <a:headEnd type="none" w="med" len="med"/>
                      <a:tailEnd type="none" w="med" len="med"/>
                    </a:lnL>
                    <a:lnR w="9525" cap="flat" cmpd="sng" algn="ctr">
                      <a:solidFill>
                        <a:srgbClr val="0044B6"/>
                      </a:solidFill>
                      <a:prstDash val="solid"/>
                      <a:round/>
                      <a:headEnd type="none" w="med" len="med"/>
                      <a:tailEnd type="none" w="med" len="med"/>
                    </a:lnR>
                    <a:lnT w="12700" cap="flat" cmpd="sng" algn="ctr">
                      <a:solidFill>
                        <a:srgbClr val="E042B6"/>
                      </a:solidFill>
                      <a:prstDash val="solid"/>
                      <a:round/>
                      <a:headEnd type="none" w="med" len="med"/>
                      <a:tailEnd type="none" w="med" len="med"/>
                    </a:lnT>
                    <a:lnB w="9525" cap="flat" cmpd="sng" algn="ctr">
                      <a:solidFill>
                        <a:srgbClr val="E042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Linear + Rotary</a:t>
                      </a:r>
                    </a:p>
                  </a:txBody>
                  <a:tcPr marL="71841" marR="71841" marT="35920" marB="35920" anchor="ctr">
                    <a:lnL w="9525" cap="flat" cmpd="sng" algn="ctr">
                      <a:solidFill>
                        <a:srgbClr val="0044B6"/>
                      </a:solidFill>
                      <a:prstDash val="solid"/>
                      <a:round/>
                      <a:headEnd type="none" w="med" len="med"/>
                      <a:tailEnd type="none" w="med" len="med"/>
                    </a:lnL>
                    <a:lnR w="9525" cap="flat" cmpd="sng" algn="ctr">
                      <a:solidFill>
                        <a:srgbClr val="4043B6"/>
                      </a:solidFill>
                      <a:prstDash val="solid"/>
                      <a:round/>
                      <a:headEnd type="none" w="med" len="med"/>
                      <a:tailEnd type="none" w="med" len="med"/>
                    </a:lnR>
                    <a:lnT w="12700" cap="flat" cmpd="sng" algn="ctr">
                      <a:solidFill>
                        <a:srgbClr val="0044B6"/>
                      </a:solidFill>
                      <a:prstDash val="solid"/>
                      <a:round/>
                      <a:headEnd type="none" w="med" len="med"/>
                      <a:tailEnd type="none" w="med" len="med"/>
                    </a:lnT>
                    <a:lnB w="9525" cap="flat" cmpd="sng" algn="ctr">
                      <a:solidFill>
                        <a:srgbClr val="004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Horizontal plane</a:t>
                      </a:r>
                    </a:p>
                  </a:txBody>
                  <a:tcPr marL="71841" marR="71841" marT="35920" marB="35920" anchor="ctr">
                    <a:lnL w="9525" cap="flat" cmpd="sng" algn="ctr">
                      <a:solidFill>
                        <a:srgbClr val="4043B6"/>
                      </a:solidFill>
                      <a:prstDash val="solid"/>
                      <a:round/>
                      <a:headEnd type="none" w="med" len="med"/>
                      <a:tailEnd type="none" w="med" len="med"/>
                    </a:lnL>
                    <a:lnR w="9525" cap="flat" cmpd="sng" algn="ctr">
                      <a:solidFill>
                        <a:srgbClr val="9044B6"/>
                      </a:solidFill>
                      <a:prstDash val="solid"/>
                      <a:round/>
                      <a:headEnd type="none" w="med" len="med"/>
                      <a:tailEnd type="none" w="med" len="med"/>
                    </a:lnR>
                    <a:lnT w="12700" cap="flat" cmpd="sng" algn="ctr">
                      <a:solidFill>
                        <a:srgbClr val="4043B6"/>
                      </a:solidFill>
                      <a:prstDash val="solid"/>
                      <a:round/>
                      <a:headEnd type="none" w="med" len="med"/>
                      <a:tailEnd type="none" w="med" len="med"/>
                    </a:lnT>
                    <a:lnB w="9525" cap="flat" cmpd="sng" algn="ctr">
                      <a:solidFill>
                        <a:srgbClr val="4043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Electronics assembly</a:t>
                      </a:r>
                    </a:p>
                  </a:txBody>
                  <a:tcPr marL="71841" marR="71841" marT="35920" marB="35920" anchor="ctr">
                    <a:lnL w="9525" cap="flat" cmpd="sng" algn="ctr">
                      <a:solidFill>
                        <a:srgbClr val="9044B6"/>
                      </a:solidFill>
                      <a:prstDash val="solid"/>
                      <a:round/>
                      <a:headEnd type="none" w="med" len="med"/>
                      <a:tailEnd type="none" w="med" len="med"/>
                    </a:lnL>
                    <a:lnR w="9525" cap="flat" cmpd="sng" algn="ctr">
                      <a:solidFill>
                        <a:srgbClr val="E045B6"/>
                      </a:solidFill>
                      <a:prstDash val="solid"/>
                      <a:round/>
                      <a:headEnd type="none" w="med" len="med"/>
                      <a:tailEnd type="none" w="med" len="med"/>
                    </a:lnR>
                    <a:lnT w="12700" cap="flat" cmpd="sng" algn="ctr">
                      <a:solidFill>
                        <a:srgbClr val="9044B6"/>
                      </a:solidFill>
                      <a:prstDash val="solid"/>
                      <a:round/>
                      <a:headEnd type="none" w="med" len="med"/>
                      <a:tailEnd type="none" w="med" len="med"/>
                    </a:lnT>
                    <a:lnB w="9525" cap="flat" cmpd="sng" algn="ctr">
                      <a:solidFill>
                        <a:srgbClr val="9044B6"/>
                      </a:solidFill>
                      <a:prstDash val="solid"/>
                      <a:round/>
                      <a:headEnd type="none" w="med" len="med"/>
                      <a:tailEnd type="none" w="med" len="med"/>
                    </a:lnB>
                    <a:noFill/>
                  </a:tcPr>
                </a:tc>
                <a:tc>
                  <a:txBody>
                    <a:bodyPr/>
                    <a:lstStyle/>
                    <a:p>
                      <a:pPr fontAlgn="base"/>
                      <a:r>
                        <a:rPr lang="en-IN" sz="1400">
                          <a:effectLst/>
                          <a:latin typeface="Times New Roman" panose="02020603050405020304" pitchFamily="18" charset="0"/>
                          <a:cs typeface="Times New Roman" panose="02020603050405020304" pitchFamily="18" charset="0"/>
                        </a:rPr>
                        <a:t>High speed and precision</a:t>
                      </a:r>
                    </a:p>
                  </a:txBody>
                  <a:tcPr marL="71841" marR="71841" marT="35920" marB="35920" anchor="ctr">
                    <a:lnL w="9525" cap="flat" cmpd="sng" algn="ctr">
                      <a:solidFill>
                        <a:srgbClr val="E045B6"/>
                      </a:solidFill>
                      <a:prstDash val="solid"/>
                      <a:round/>
                      <a:headEnd type="none" w="med" len="med"/>
                      <a:tailEnd type="none" w="med" len="med"/>
                    </a:lnL>
                    <a:lnR w="9525" cap="flat" cmpd="sng" algn="ctr">
                      <a:solidFill>
                        <a:srgbClr val="3044B6"/>
                      </a:solidFill>
                      <a:prstDash val="solid"/>
                      <a:round/>
                      <a:headEnd type="none" w="med" len="med"/>
                      <a:tailEnd type="none" w="med" len="med"/>
                    </a:lnR>
                    <a:lnT w="12700" cap="flat" cmpd="sng" algn="ctr">
                      <a:solidFill>
                        <a:srgbClr val="E045B6"/>
                      </a:solidFill>
                      <a:prstDash val="solid"/>
                      <a:round/>
                      <a:headEnd type="none" w="med" len="med"/>
                      <a:tailEnd type="none" w="med" len="med"/>
                    </a:lnT>
                    <a:lnB w="9525" cap="flat" cmpd="sng" algn="ctr">
                      <a:solidFill>
                        <a:srgbClr val="E045B6"/>
                      </a:solidFill>
                      <a:prstDash val="solid"/>
                      <a:round/>
                      <a:headEnd type="none" w="med" len="med"/>
                      <a:tailEnd type="none" w="med" len="med"/>
                    </a:lnB>
                    <a:noFill/>
                  </a:tcPr>
                </a:tc>
                <a:tc>
                  <a:txBody>
                    <a:bodyPr/>
                    <a:lstStyle/>
                    <a:p>
                      <a:pPr fontAlgn="base"/>
                      <a:r>
                        <a:rPr lang="en-IN" sz="1400" dirty="0">
                          <a:effectLst/>
                          <a:latin typeface="Times New Roman" panose="02020603050405020304" pitchFamily="18" charset="0"/>
                          <a:cs typeface="Times New Roman" panose="02020603050405020304" pitchFamily="18" charset="0"/>
                        </a:rPr>
                        <a:t>Limited workspace</a:t>
                      </a:r>
                    </a:p>
                  </a:txBody>
                  <a:tcPr marL="71841" marR="71841" marT="35920" marB="35920" anchor="ctr">
                    <a:lnL w="9525" cap="flat" cmpd="sng" algn="ctr">
                      <a:solidFill>
                        <a:srgbClr val="3044B6"/>
                      </a:solidFill>
                      <a:prstDash val="solid"/>
                      <a:round/>
                      <a:headEnd type="none" w="med" len="med"/>
                      <a:tailEnd type="none" w="med" len="med"/>
                    </a:lnL>
                    <a:lnR w="9525" cap="flat" cmpd="sng" algn="ctr">
                      <a:solidFill>
                        <a:srgbClr val="3044B6"/>
                      </a:solidFill>
                      <a:prstDash val="solid"/>
                      <a:round/>
                      <a:headEnd type="none" w="med" len="med"/>
                      <a:tailEnd type="none" w="med" len="med"/>
                    </a:lnR>
                    <a:lnT w="12700" cap="flat" cmpd="sng" algn="ctr">
                      <a:solidFill>
                        <a:srgbClr val="3044B6"/>
                      </a:solidFill>
                      <a:prstDash val="solid"/>
                      <a:round/>
                      <a:headEnd type="none" w="med" len="med"/>
                      <a:tailEnd type="none" w="med" len="med"/>
                    </a:lnT>
                    <a:lnB w="9525" cap="flat" cmpd="sng" algn="ctr">
                      <a:solidFill>
                        <a:srgbClr val="3044B6"/>
                      </a:solidFill>
                      <a:prstDash val="solid"/>
                      <a:round/>
                      <a:headEnd type="none" w="med" len="med"/>
                      <a:tailEnd type="none" w="med" len="med"/>
                    </a:lnB>
                    <a:noFill/>
                  </a:tcPr>
                </a:tc>
                <a:extLst>
                  <a:ext uri="{0D108BD9-81ED-4DB2-BD59-A6C34878D82A}">
                    <a16:rowId xmlns:a16="http://schemas.microsoft.com/office/drawing/2014/main" val="3732585872"/>
                  </a:ext>
                </a:extLst>
              </a:tr>
            </a:tbl>
          </a:graphicData>
        </a:graphic>
      </p:graphicFrame>
    </p:spTree>
    <p:extLst>
      <p:ext uri="{BB962C8B-B14F-4D97-AF65-F5344CB8AC3E}">
        <p14:creationId xmlns:p14="http://schemas.microsoft.com/office/powerpoint/2010/main" val="1171510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p:cNvSpPr>
            <a:spLocks noGrp="1"/>
          </p:cNvSpPr>
          <p:nvPr>
            <p:ph idx="1"/>
          </p:nvPr>
        </p:nvSpPr>
        <p:spPr/>
        <p:txBody>
          <a:bodyPr>
            <a:normAutofit fontScale="85000" lnSpcReduction="10000"/>
          </a:bodyPr>
          <a:lstStyle/>
          <a:p>
            <a:pPr marL="0" indent="0" algn="just">
              <a:buNone/>
            </a:pPr>
            <a:r>
              <a:rPr lang="en-US" sz="3600" b="1" dirty="0">
                <a:latin typeface="Times New Roman" panose="02020603050405020304" pitchFamily="18" charset="0"/>
                <a:cs typeface="Times New Roman" panose="02020603050405020304" pitchFamily="18" charset="0"/>
              </a:rPr>
              <a:t>I. Industrial Applications</a:t>
            </a:r>
          </a:p>
          <a:p>
            <a:pPr marL="0" indent="0" algn="just">
              <a:buNone/>
            </a:pPr>
            <a:r>
              <a:rPr lang="en-US" b="1" dirty="0">
                <a:latin typeface="Times New Roman" panose="02020603050405020304" pitchFamily="18" charset="0"/>
                <a:cs typeface="Times New Roman" panose="02020603050405020304" pitchFamily="18" charset="0"/>
              </a:rPr>
              <a:t>Manufacturing and Assembly: </a:t>
            </a:r>
            <a:r>
              <a:rPr lang="en-US" dirty="0">
                <a:latin typeface="Times New Roman" panose="02020603050405020304" pitchFamily="18" charset="0"/>
                <a:cs typeface="Times New Roman" panose="02020603050405020304" pitchFamily="18" charset="0"/>
              </a:rPr>
              <a:t>Robots automate repetitive tasks such as welding, painting, and assembling components. Example: Robotic arms on automotive production lines.</a:t>
            </a:r>
          </a:p>
          <a:p>
            <a:pPr marL="0" indent="0" algn="just">
              <a:buNone/>
            </a:pPr>
            <a:r>
              <a:rPr lang="en-US" b="1" dirty="0">
                <a:latin typeface="Times New Roman" panose="02020603050405020304" pitchFamily="18" charset="0"/>
                <a:cs typeface="Times New Roman" panose="02020603050405020304" pitchFamily="18" charset="0"/>
              </a:rPr>
              <a:t>Material Handling: </a:t>
            </a:r>
            <a:r>
              <a:rPr lang="en-US" dirty="0">
                <a:latin typeface="Times New Roman" panose="02020603050405020304" pitchFamily="18" charset="0"/>
                <a:cs typeface="Times New Roman" panose="02020603050405020304" pitchFamily="18" charset="0"/>
              </a:rPr>
              <a:t>Robots transport, sort, and organize materials in warehouses. Example: Automated Guided Vehicles (AGVs) in e-commerce warehouses.</a:t>
            </a:r>
          </a:p>
          <a:p>
            <a:pPr marL="0" indent="0" algn="just">
              <a:buNone/>
            </a:pPr>
            <a:r>
              <a:rPr lang="en-US" b="1" dirty="0">
                <a:latin typeface="Times New Roman" panose="02020603050405020304" pitchFamily="18" charset="0"/>
                <a:cs typeface="Times New Roman" panose="02020603050405020304" pitchFamily="18" charset="0"/>
              </a:rPr>
              <a:t>Quality Control: </a:t>
            </a:r>
            <a:r>
              <a:rPr lang="en-US" dirty="0">
                <a:latin typeface="Times New Roman" panose="02020603050405020304" pitchFamily="18" charset="0"/>
                <a:cs typeface="Times New Roman" panose="02020603050405020304" pitchFamily="18" charset="0"/>
              </a:rPr>
              <a:t>Vision-enabled robots inspect products for defects. Example: Robots in electronics manufacturing.</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p:cNvSpPr>
            <a:spLocks noGrp="1"/>
          </p:cNvSpPr>
          <p:nvPr>
            <p:ph idx="1"/>
          </p:nvPr>
        </p:nvSpPr>
        <p:spPr/>
        <p:txBody>
          <a:bodyPr>
            <a:normAutofit/>
          </a:bodyPr>
          <a:lstStyle/>
          <a:p>
            <a:pPr marL="0" indent="0" algn="just">
              <a:buNone/>
            </a:pPr>
            <a:r>
              <a:rPr lang="en-US" sz="3000" b="1" dirty="0">
                <a:latin typeface="Times New Roman" panose="02020603050405020304" pitchFamily="18" charset="0"/>
                <a:cs typeface="Times New Roman" panose="02020603050405020304" pitchFamily="18" charset="0"/>
              </a:rPr>
              <a:t>II. Healthcare</a:t>
            </a:r>
          </a:p>
          <a:p>
            <a:pPr marL="0" indent="0" algn="just">
              <a:buNone/>
            </a:pPr>
            <a:r>
              <a:rPr lang="en-US" sz="2500" b="1" dirty="0">
                <a:latin typeface="Times New Roman" panose="02020603050405020304" pitchFamily="18" charset="0"/>
                <a:cs typeface="Times New Roman" panose="02020603050405020304" pitchFamily="18" charset="0"/>
              </a:rPr>
              <a:t>Surgical Robots: </a:t>
            </a:r>
            <a:r>
              <a:rPr lang="en-US" sz="2500" dirty="0">
                <a:latin typeface="Times New Roman" panose="02020603050405020304" pitchFamily="18" charset="0"/>
                <a:cs typeface="Times New Roman" panose="02020603050405020304" pitchFamily="18" charset="0"/>
              </a:rPr>
              <a:t>Assist surgeons in minimally invasive surgeries with high precision. Example: da Vinci Surgical System.</a:t>
            </a:r>
          </a:p>
          <a:p>
            <a:pPr marL="0" indent="0" algn="just">
              <a:buNone/>
            </a:pPr>
            <a:r>
              <a:rPr lang="en-US" sz="2500" b="1" dirty="0">
                <a:latin typeface="Times New Roman" panose="02020603050405020304" pitchFamily="18" charset="0"/>
                <a:cs typeface="Times New Roman" panose="02020603050405020304" pitchFamily="18" charset="0"/>
              </a:rPr>
              <a:t>Rehabilitation: </a:t>
            </a:r>
            <a:r>
              <a:rPr lang="en-US" sz="2500" dirty="0">
                <a:latin typeface="Times New Roman" panose="02020603050405020304" pitchFamily="18" charset="0"/>
                <a:cs typeface="Times New Roman" panose="02020603050405020304" pitchFamily="18" charset="0"/>
              </a:rPr>
              <a:t>Robots aid in physical therapy for patients with mobility impairments. Example: Exoskeletons for walking assistance.</a:t>
            </a:r>
          </a:p>
          <a:p>
            <a:pPr marL="0" indent="0" algn="just">
              <a:buNone/>
            </a:pPr>
            <a:r>
              <a:rPr lang="en-US" sz="2500" b="1" dirty="0">
                <a:latin typeface="Times New Roman" panose="02020603050405020304" pitchFamily="18" charset="0"/>
                <a:cs typeface="Times New Roman" panose="02020603050405020304" pitchFamily="18" charset="0"/>
              </a:rPr>
              <a:t>Elderly Care: </a:t>
            </a:r>
            <a:r>
              <a:rPr lang="en-US" sz="2500" dirty="0">
                <a:latin typeface="Times New Roman" panose="02020603050405020304" pitchFamily="18" charset="0"/>
                <a:cs typeface="Times New Roman" panose="02020603050405020304" pitchFamily="18" charset="0"/>
              </a:rPr>
              <a:t>Companion robots provide emotional support and assistance in daily tasks. Example: Robots like Paro for dementia patients.</a:t>
            </a:r>
            <a:endParaRPr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95B3-53B9-9D90-03E9-D37F8A0CF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5DDDC-50B0-EAE0-9F7D-861E3E3498BC}"/>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CA8F9ED7-7F64-2C93-2B70-A002A85970CE}"/>
              </a:ext>
            </a:extLst>
          </p:cNvPr>
          <p:cNvSpPr>
            <a:spLocks noGrp="1"/>
          </p:cNvSpPr>
          <p:nvPr>
            <p:ph idx="1"/>
          </p:nvPr>
        </p:nvSpPr>
        <p:spPr/>
        <p:txBody>
          <a:bodyPr>
            <a:normAutofit/>
          </a:bodyPr>
          <a:lstStyle/>
          <a:p>
            <a:pPr marL="0" indent="0" algn="just">
              <a:buNone/>
            </a:pPr>
            <a:r>
              <a:rPr lang="en-US" sz="3000" b="1" dirty="0">
                <a:latin typeface="Times New Roman" panose="02020603050405020304" pitchFamily="18" charset="0"/>
                <a:cs typeface="Times New Roman" panose="02020603050405020304" pitchFamily="18" charset="0"/>
              </a:rPr>
              <a:t>III. Service Robotics</a:t>
            </a:r>
          </a:p>
          <a:p>
            <a:pPr marL="0" indent="0" algn="just">
              <a:buNone/>
            </a:pPr>
            <a:r>
              <a:rPr lang="en-US" sz="2500" b="1" dirty="0">
                <a:latin typeface="Times New Roman" panose="02020603050405020304" pitchFamily="18" charset="0"/>
                <a:cs typeface="Times New Roman" panose="02020603050405020304" pitchFamily="18" charset="0"/>
              </a:rPr>
              <a:t>Domestic Robots</a:t>
            </a:r>
            <a:r>
              <a:rPr lang="en-US" sz="2500" dirty="0">
                <a:latin typeface="Times New Roman" panose="02020603050405020304" pitchFamily="18" charset="0"/>
                <a:cs typeface="Times New Roman" panose="02020603050405020304" pitchFamily="18" charset="0"/>
              </a:rPr>
              <a:t>: Perform household tasks such as cleaning and lawn mowing. Example: Robotic vacuum cleaners like Roomba.</a:t>
            </a:r>
          </a:p>
          <a:p>
            <a:pPr marL="0" indent="0" algn="just">
              <a:buNone/>
            </a:pPr>
            <a:r>
              <a:rPr lang="en-US" sz="2500" b="1" dirty="0">
                <a:latin typeface="Times New Roman" panose="02020603050405020304" pitchFamily="18" charset="0"/>
                <a:cs typeface="Times New Roman" panose="02020603050405020304" pitchFamily="18" charset="0"/>
              </a:rPr>
              <a:t>Customer Service</a:t>
            </a:r>
            <a:r>
              <a:rPr lang="en-US" sz="2500" dirty="0">
                <a:latin typeface="Times New Roman" panose="02020603050405020304" pitchFamily="18" charset="0"/>
                <a:cs typeface="Times New Roman" panose="02020603050405020304" pitchFamily="18" charset="0"/>
              </a:rPr>
              <a:t>: Robots assist in retail and hospitality sectors. Example: Pepper robot for customer interaction.</a:t>
            </a:r>
          </a:p>
          <a:p>
            <a:pPr marL="0" indent="0" algn="just">
              <a:buNone/>
            </a:pPr>
            <a:r>
              <a:rPr lang="en-US" sz="2500" b="1" dirty="0">
                <a:latin typeface="Times New Roman" panose="02020603050405020304" pitchFamily="18" charset="0"/>
                <a:cs typeface="Times New Roman" panose="02020603050405020304" pitchFamily="18" charset="0"/>
              </a:rPr>
              <a:t>Delivery Robots: </a:t>
            </a:r>
            <a:r>
              <a:rPr lang="en-US" sz="2500" dirty="0">
                <a:latin typeface="Times New Roman" panose="02020603050405020304" pitchFamily="18" charset="0"/>
                <a:cs typeface="Times New Roman" panose="02020603050405020304" pitchFamily="18" charset="0"/>
              </a:rPr>
              <a:t>Autonomous robots deliver packages or food. Example: Starship delivery robots.</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8253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2301-FAD5-4AE3-8EE1-98BAAFFF9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CD505-CCAE-6C1E-9B18-217C7FFBED12}"/>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84974C99-057B-7AB6-6A86-6D6E7CE54D35}"/>
              </a:ext>
            </a:extLst>
          </p:cNvPr>
          <p:cNvSpPr>
            <a:spLocks noGrp="1"/>
          </p:cNvSpPr>
          <p:nvPr>
            <p:ph idx="1"/>
          </p:nvPr>
        </p:nvSpPr>
        <p:spPr/>
        <p:txBody>
          <a:bodyPr>
            <a:normAutofit/>
          </a:bodyPr>
          <a:lstStyle/>
          <a:p>
            <a:pPr marL="0" indent="0" algn="just">
              <a:buNone/>
            </a:pPr>
            <a:r>
              <a:rPr lang="en-US" sz="3000" b="1" dirty="0">
                <a:latin typeface="Times New Roman" panose="02020603050405020304" pitchFamily="18" charset="0"/>
                <a:cs typeface="Times New Roman" panose="02020603050405020304" pitchFamily="18" charset="0"/>
              </a:rPr>
              <a:t>IV. Military and Defense</a:t>
            </a:r>
          </a:p>
          <a:p>
            <a:pPr marL="0" indent="0" algn="just">
              <a:buNone/>
            </a:pPr>
            <a:endParaRPr lang="en-US" sz="800" b="1" dirty="0">
              <a:latin typeface="Times New Roman" panose="02020603050405020304" pitchFamily="18" charset="0"/>
              <a:cs typeface="Times New Roman" panose="02020603050405020304" pitchFamily="18" charset="0"/>
            </a:endParaRPr>
          </a:p>
          <a:p>
            <a:pPr marL="0" indent="0" algn="just">
              <a:buNone/>
            </a:pPr>
            <a:r>
              <a:rPr lang="en-US" sz="2500" b="1" dirty="0">
                <a:latin typeface="Times New Roman" panose="02020603050405020304" pitchFamily="18" charset="0"/>
                <a:cs typeface="Times New Roman" panose="02020603050405020304" pitchFamily="18" charset="0"/>
              </a:rPr>
              <a:t>Surveillance: </a:t>
            </a:r>
            <a:r>
              <a:rPr lang="en-US" sz="2500" dirty="0">
                <a:latin typeface="Times New Roman" panose="02020603050405020304" pitchFamily="18" charset="0"/>
                <a:cs typeface="Times New Roman" panose="02020603050405020304" pitchFamily="18" charset="0"/>
              </a:rPr>
              <a:t>Drones monitor borders and gather intelligence. Example: UAVs (Unmanned Aerial Vehicles).</a:t>
            </a:r>
          </a:p>
          <a:p>
            <a:pPr marL="0" indent="0" algn="just">
              <a:buNone/>
            </a:pPr>
            <a:r>
              <a:rPr lang="en-US" sz="2500" b="1" dirty="0">
                <a:latin typeface="Times New Roman" panose="02020603050405020304" pitchFamily="18" charset="0"/>
                <a:cs typeface="Times New Roman" panose="02020603050405020304" pitchFamily="18" charset="0"/>
              </a:rPr>
              <a:t>Bomb Disposal:</a:t>
            </a:r>
            <a:r>
              <a:rPr lang="en-US" sz="2500" dirty="0">
                <a:latin typeface="Times New Roman" panose="02020603050405020304" pitchFamily="18" charset="0"/>
                <a:cs typeface="Times New Roman" panose="02020603050405020304" pitchFamily="18" charset="0"/>
              </a:rPr>
              <a:t> Robots safely neutralize explosive devices. Example: </a:t>
            </a:r>
            <a:r>
              <a:rPr lang="en-US" sz="2500" dirty="0" err="1">
                <a:latin typeface="Times New Roman" panose="02020603050405020304" pitchFamily="18" charset="0"/>
                <a:cs typeface="Times New Roman" panose="02020603050405020304" pitchFamily="18" charset="0"/>
              </a:rPr>
              <a:t>PackBot</a:t>
            </a:r>
            <a:r>
              <a:rPr lang="en-US" sz="2500" dirty="0">
                <a:latin typeface="Times New Roman" panose="02020603050405020304" pitchFamily="18" charset="0"/>
                <a:cs typeface="Times New Roman" panose="02020603050405020304" pitchFamily="18" charset="0"/>
              </a:rPr>
              <a:t> by iRobot.</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2242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0717-C754-95EE-6937-C5A35C947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B2F44-7413-BD7C-0BBE-ED310E1B933C}"/>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AFC1864F-B90C-BD5E-81BE-8251713A52E1}"/>
              </a:ext>
            </a:extLst>
          </p:cNvPr>
          <p:cNvSpPr>
            <a:spLocks noGrp="1"/>
          </p:cNvSpPr>
          <p:nvPr>
            <p:ph idx="1"/>
          </p:nvPr>
        </p:nvSpPr>
        <p:spPr/>
        <p:txBody>
          <a:bodyPr>
            <a:normAutofit/>
          </a:bodyPr>
          <a:lstStyle/>
          <a:p>
            <a:pPr marL="0" indent="0" algn="just">
              <a:buNone/>
            </a:pPr>
            <a:r>
              <a:rPr lang="en-US" sz="3000" b="1" dirty="0">
                <a:latin typeface="Times New Roman" panose="02020603050405020304" pitchFamily="18" charset="0"/>
                <a:cs typeface="Times New Roman" panose="02020603050405020304" pitchFamily="18" charset="0"/>
              </a:rPr>
              <a:t>V. Exploration</a:t>
            </a:r>
          </a:p>
          <a:p>
            <a:pPr marL="0" indent="0" algn="just">
              <a:buNone/>
            </a:pPr>
            <a:endParaRPr lang="en-US" sz="800" b="1" dirty="0">
              <a:latin typeface="Times New Roman" panose="02020603050405020304" pitchFamily="18" charset="0"/>
              <a:cs typeface="Times New Roman" panose="02020603050405020304" pitchFamily="18" charset="0"/>
            </a:endParaRPr>
          </a:p>
          <a:p>
            <a:pPr marL="0" indent="0" algn="just">
              <a:buNone/>
            </a:pPr>
            <a:r>
              <a:rPr lang="en-US" sz="2500" b="1" dirty="0">
                <a:latin typeface="Times New Roman" panose="02020603050405020304" pitchFamily="18" charset="0"/>
                <a:cs typeface="Times New Roman" panose="02020603050405020304" pitchFamily="18" charset="0"/>
              </a:rPr>
              <a:t>Space Exploration: </a:t>
            </a:r>
            <a:r>
              <a:rPr lang="en-US" sz="2500" dirty="0">
                <a:latin typeface="Times New Roman" panose="02020603050405020304" pitchFamily="18" charset="0"/>
                <a:cs typeface="Times New Roman" panose="02020603050405020304" pitchFamily="18" charset="0"/>
              </a:rPr>
              <a:t>Robots explore planets and moons, gathering data. Example: NASA’s Mars rovers (Perseverance, Curiosity).</a:t>
            </a:r>
          </a:p>
          <a:p>
            <a:pPr marL="0" indent="0" algn="just">
              <a:buNone/>
            </a:pPr>
            <a:r>
              <a:rPr lang="en-US" sz="2500" b="1" dirty="0">
                <a:latin typeface="Times New Roman" panose="02020603050405020304" pitchFamily="18" charset="0"/>
                <a:cs typeface="Times New Roman" panose="02020603050405020304" pitchFamily="18" charset="0"/>
              </a:rPr>
              <a:t>Underwater Exploration: </a:t>
            </a:r>
            <a:r>
              <a:rPr lang="en-US" sz="2500" dirty="0">
                <a:latin typeface="Times New Roman" panose="02020603050405020304" pitchFamily="18" charset="0"/>
                <a:cs typeface="Times New Roman" panose="02020603050405020304" pitchFamily="18" charset="0"/>
              </a:rPr>
              <a:t>Robots inspect underwater infrastructure or study marine ecosystems. Example: Remotely Operated Vehicles (ROVs).</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267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C91C7-1233-238C-A676-14D8FB1CC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7ADA6-6930-2848-3EF4-8BA06589F024}"/>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314B844E-D969-E454-F4EE-8852DEBD1A1F}"/>
              </a:ext>
            </a:extLst>
          </p:cNvPr>
          <p:cNvSpPr>
            <a:spLocks noGrp="1"/>
          </p:cNvSpPr>
          <p:nvPr>
            <p:ph idx="1"/>
          </p:nvPr>
        </p:nvSpPr>
        <p:spPr/>
        <p:txBody>
          <a:bodyPr>
            <a:normAutofit/>
          </a:bodyPr>
          <a:lstStyle/>
          <a:p>
            <a:pPr marL="0" indent="0" algn="just">
              <a:buNone/>
            </a:pPr>
            <a:r>
              <a:rPr lang="en-US" sz="3000" b="1" dirty="0">
                <a:latin typeface="Times New Roman" panose="02020603050405020304" pitchFamily="18" charset="0"/>
                <a:cs typeface="Times New Roman" panose="02020603050405020304" pitchFamily="18" charset="0"/>
              </a:rPr>
              <a:t>V. Agriculture</a:t>
            </a:r>
            <a:endParaRPr lang="en-US" sz="800" b="1" dirty="0">
              <a:latin typeface="Times New Roman" panose="02020603050405020304" pitchFamily="18" charset="0"/>
              <a:cs typeface="Times New Roman" panose="02020603050405020304" pitchFamily="18" charset="0"/>
            </a:endParaRPr>
          </a:p>
          <a:p>
            <a:pPr marL="0" indent="0" algn="just">
              <a:buNone/>
            </a:pPr>
            <a:r>
              <a:rPr lang="en-US" sz="2500" b="1" dirty="0">
                <a:latin typeface="Times New Roman" panose="02020603050405020304" pitchFamily="18" charset="0"/>
                <a:cs typeface="Times New Roman" panose="02020603050405020304" pitchFamily="18" charset="0"/>
              </a:rPr>
              <a:t>Crop Harvesting: </a:t>
            </a:r>
            <a:r>
              <a:rPr lang="en-US" sz="2500" dirty="0">
                <a:latin typeface="Times New Roman" panose="02020603050405020304" pitchFamily="18" charset="0"/>
                <a:cs typeface="Times New Roman" panose="02020603050405020304" pitchFamily="18" charset="0"/>
              </a:rPr>
              <a:t>Robots automate picking and harvesting. Example: Robots with vision sensors identify ripe fruits.</a:t>
            </a:r>
          </a:p>
          <a:p>
            <a:pPr marL="0" indent="0" algn="just">
              <a:buNone/>
            </a:pPr>
            <a:endParaRPr lang="en-US" sz="2500" dirty="0">
              <a:latin typeface="Times New Roman" panose="02020603050405020304" pitchFamily="18" charset="0"/>
              <a:cs typeface="Times New Roman" panose="02020603050405020304" pitchFamily="18" charset="0"/>
            </a:endParaRPr>
          </a:p>
          <a:p>
            <a:pPr marL="0" indent="0" algn="just">
              <a:buNone/>
            </a:pPr>
            <a:r>
              <a:rPr lang="en-US" sz="2500" b="1" dirty="0">
                <a:latin typeface="Times New Roman" panose="02020603050405020304" pitchFamily="18" charset="0"/>
                <a:cs typeface="Times New Roman" panose="02020603050405020304" pitchFamily="18" charset="0"/>
              </a:rPr>
              <a:t>Weed Control</a:t>
            </a:r>
            <a:r>
              <a:rPr lang="en-US" sz="2500" dirty="0">
                <a:latin typeface="Times New Roman" panose="02020603050405020304" pitchFamily="18" charset="0"/>
                <a:cs typeface="Times New Roman" panose="02020603050405020304" pitchFamily="18" charset="0"/>
              </a:rPr>
              <a:t>: Autonomous machines remove weeds with precision. Example: Robots like the </a:t>
            </a:r>
            <a:r>
              <a:rPr lang="en-US" sz="2500" dirty="0" err="1">
                <a:latin typeface="Times New Roman" panose="02020603050405020304" pitchFamily="18" charset="0"/>
                <a:cs typeface="Times New Roman" panose="02020603050405020304" pitchFamily="18" charset="0"/>
              </a:rPr>
              <a:t>ecoRobotix</a:t>
            </a:r>
            <a:r>
              <a:rPr lang="en-US" sz="2500" dirty="0">
                <a:latin typeface="Times New Roman" panose="02020603050405020304" pitchFamily="18" charset="0"/>
                <a:cs typeface="Times New Roman" panose="02020603050405020304" pitchFamily="18" charset="0"/>
              </a:rPr>
              <a:t>.</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451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1AD9-5051-4C6E-3534-F49594BD8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715BF-1BE1-55C0-D437-C0CD060D8D4B}"/>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46AE4DD6-4F5D-116B-EA0D-F60275CA2541}"/>
              </a:ext>
            </a:extLst>
          </p:cNvPr>
          <p:cNvSpPr>
            <a:spLocks noGrp="1"/>
          </p:cNvSpPr>
          <p:nvPr>
            <p:ph idx="1"/>
          </p:nvPr>
        </p:nvSpPr>
        <p:spPr>
          <a:xfrm>
            <a:off x="457200" y="1600200"/>
            <a:ext cx="8229600" cy="4983162"/>
          </a:xfrm>
        </p:spPr>
        <p:txBody>
          <a:bodyPr>
            <a:normAutofit fontScale="70000" lnSpcReduction="20000"/>
          </a:bodyPr>
          <a:lstStyle/>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Integration with Artificial Intelligence (AI): </a:t>
            </a:r>
            <a:r>
              <a:rPr lang="en-US" sz="3000" dirty="0">
                <a:latin typeface="Times New Roman" panose="02020603050405020304" pitchFamily="18" charset="0"/>
                <a:cs typeface="Times New Roman" panose="02020603050405020304" pitchFamily="18" charset="0"/>
              </a:rPr>
              <a:t>Robots are becoming smarter with AI, enabling complex decision-making and autonomous task execution.</a:t>
            </a:r>
          </a:p>
          <a:p>
            <a:pPr marL="514350" indent="-514350" algn="just">
              <a:buFont typeface="+mj-lt"/>
              <a:buAutoNum type="arabicPeriod"/>
            </a:pP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Collaborative Robots (</a:t>
            </a:r>
            <a:r>
              <a:rPr lang="en-US" sz="3000" b="1" dirty="0" err="1">
                <a:latin typeface="Times New Roman" panose="02020603050405020304" pitchFamily="18" charset="0"/>
                <a:cs typeface="Times New Roman" panose="02020603050405020304" pitchFamily="18" charset="0"/>
              </a:rPr>
              <a:t>Cobots</a:t>
            </a:r>
            <a:r>
              <a:rPr lang="en-US" sz="3000" b="1"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Designed to safely work alongside humans, </a:t>
            </a:r>
            <a:r>
              <a:rPr lang="en-US" sz="3000" dirty="0" err="1">
                <a:latin typeface="Times New Roman" panose="02020603050405020304" pitchFamily="18" charset="0"/>
                <a:cs typeface="Times New Roman" panose="02020603050405020304" pitchFamily="18" charset="0"/>
              </a:rPr>
              <a:t>Cobots</a:t>
            </a:r>
            <a:r>
              <a:rPr lang="en-US" sz="3000" dirty="0">
                <a:latin typeface="Times New Roman" panose="02020603050405020304" pitchFamily="18" charset="0"/>
                <a:cs typeface="Times New Roman" panose="02020603050405020304" pitchFamily="18" charset="0"/>
              </a:rPr>
              <a:t> are increasingly used in manufacturing and logistics.</a:t>
            </a:r>
          </a:p>
          <a:p>
            <a:pPr marL="514350" indent="-514350" algn="just">
              <a:buFont typeface="+mj-lt"/>
              <a:buAutoNum type="arabicPeriod"/>
            </a:pP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Industry 4.0 and IoT Integration: </a:t>
            </a:r>
            <a:r>
              <a:rPr lang="en-US" sz="3000" dirty="0">
                <a:latin typeface="Times New Roman" panose="02020603050405020304" pitchFamily="18" charset="0"/>
                <a:cs typeface="Times New Roman" panose="02020603050405020304" pitchFamily="18" charset="0"/>
              </a:rPr>
              <a:t>Robots in smart factories collect real-time data, enabling predictive maintenance and process optimization.</a:t>
            </a:r>
          </a:p>
          <a:p>
            <a:pPr marL="514350" indent="-514350" algn="just">
              <a:buFont typeface="+mj-lt"/>
              <a:buAutoNum type="arabicPeriod"/>
            </a:pP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Advancements in Autonomous Mobility: </a:t>
            </a:r>
            <a:r>
              <a:rPr lang="en-US" sz="3000" dirty="0">
                <a:latin typeface="Times New Roman" panose="02020603050405020304" pitchFamily="18" charset="0"/>
                <a:cs typeface="Times New Roman" panose="02020603050405020304" pitchFamily="18" charset="0"/>
              </a:rPr>
              <a:t>Self-driving cars, delivery robots, and drones are improving navigation in dynamic environments.</a:t>
            </a:r>
          </a:p>
          <a:p>
            <a:pPr marL="514350" indent="-514350" algn="just">
              <a:buFont typeface="+mj-lt"/>
              <a:buAutoNum type="arabicPeriod"/>
            </a:pPr>
            <a:endParaRPr lang="en-US" sz="30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000" b="1" dirty="0">
                <a:latin typeface="Times New Roman" panose="02020603050405020304" pitchFamily="18" charset="0"/>
                <a:cs typeface="Times New Roman" panose="02020603050405020304" pitchFamily="18" charset="0"/>
              </a:rPr>
              <a:t>Soft Robotics: </a:t>
            </a:r>
            <a:r>
              <a:rPr lang="en-US" sz="3000" dirty="0">
                <a:latin typeface="Times New Roman" panose="02020603050405020304" pitchFamily="18" charset="0"/>
                <a:cs typeface="Times New Roman" panose="02020603050405020304" pitchFamily="18" charset="0"/>
              </a:rPr>
              <a:t>Robots made of flexible materials are being developed for delicate and adaptive tasks, such as handling fragile items.</a:t>
            </a:r>
            <a:endParaRPr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9376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01679-CCD9-3992-2275-0FBA99E47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02008-C9A4-BAB9-8054-346061C20A6B}"/>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Applications and Trends in Robotics</a:t>
            </a:r>
          </a:p>
        </p:txBody>
      </p:sp>
      <p:sp>
        <p:nvSpPr>
          <p:cNvPr id="3" name="Content Placeholder 2">
            <a:extLst>
              <a:ext uri="{FF2B5EF4-FFF2-40B4-BE49-F238E27FC236}">
                <a16:creationId xmlns:a16="http://schemas.microsoft.com/office/drawing/2014/main" id="{C8D6B6DB-5948-1001-AA1A-FB7143704758}"/>
              </a:ext>
            </a:extLst>
          </p:cNvPr>
          <p:cNvSpPr>
            <a:spLocks noGrp="1"/>
          </p:cNvSpPr>
          <p:nvPr>
            <p:ph idx="1"/>
          </p:nvPr>
        </p:nvSpPr>
        <p:spPr>
          <a:xfrm>
            <a:off x="457200" y="1600200"/>
            <a:ext cx="8229600" cy="4983162"/>
          </a:xfrm>
        </p:spPr>
        <p:txBody>
          <a:bodyPr>
            <a:normAutofit fontScale="70000" lnSpcReduction="20000"/>
          </a:bodyPr>
          <a:lstStyle/>
          <a:p>
            <a:pPr marL="0" indent="0" algn="just">
              <a:buNone/>
            </a:pPr>
            <a:r>
              <a:rPr lang="en-US" sz="3000" b="1" dirty="0">
                <a:latin typeface="Times New Roman" panose="02020603050405020304" pitchFamily="18" charset="0"/>
                <a:cs typeface="Times New Roman" panose="02020603050405020304" pitchFamily="18" charset="0"/>
              </a:rPr>
              <a:t>6. Swarm Robotics: </a:t>
            </a:r>
            <a:r>
              <a:rPr lang="en-US" sz="3000" dirty="0">
                <a:latin typeface="Times New Roman" panose="02020603050405020304" pitchFamily="18" charset="0"/>
                <a:cs typeface="Times New Roman" panose="02020603050405020304" pitchFamily="18" charset="0"/>
              </a:rPr>
              <a:t>Groups of small robots work together, inspired by the collective behavior of insects, for tasks like search and rescue.</a:t>
            </a:r>
          </a:p>
          <a:p>
            <a:pPr marL="0" indent="0" algn="just">
              <a:buNone/>
            </a:pPr>
            <a:endParaRPr lang="en-US" sz="3000" dirty="0">
              <a:latin typeface="Times New Roman" panose="02020603050405020304" pitchFamily="18" charset="0"/>
              <a:cs typeface="Times New Roman" panose="02020603050405020304" pitchFamily="18" charset="0"/>
            </a:endParaRPr>
          </a:p>
          <a:p>
            <a:pPr marL="0" indent="0" algn="just">
              <a:buNone/>
            </a:pPr>
            <a:r>
              <a:rPr lang="en-US" sz="3000" b="1" dirty="0">
                <a:latin typeface="Times New Roman" panose="02020603050405020304" pitchFamily="18" charset="0"/>
                <a:cs typeface="Times New Roman" panose="02020603050405020304" pitchFamily="18" charset="0"/>
              </a:rPr>
              <a:t>7. Robotics in Healthcare: </a:t>
            </a:r>
            <a:r>
              <a:rPr lang="en-US" sz="3000" dirty="0">
                <a:latin typeface="Times New Roman" panose="02020603050405020304" pitchFamily="18" charset="0"/>
                <a:cs typeface="Times New Roman" panose="02020603050405020304" pitchFamily="18" charset="0"/>
              </a:rPr>
              <a:t>Applications include surgical robots, rehabilitation aids, and robots for elder care and companionship.</a:t>
            </a:r>
          </a:p>
          <a:p>
            <a:pPr marL="0" indent="0" algn="just">
              <a:buNone/>
            </a:pPr>
            <a:endParaRPr lang="en-US" sz="3000" dirty="0">
              <a:latin typeface="Times New Roman" panose="02020603050405020304" pitchFamily="18" charset="0"/>
              <a:cs typeface="Times New Roman" panose="02020603050405020304" pitchFamily="18" charset="0"/>
            </a:endParaRPr>
          </a:p>
          <a:p>
            <a:pPr marL="0" indent="0" algn="just">
              <a:buNone/>
            </a:pPr>
            <a:r>
              <a:rPr lang="en-US" sz="3000" b="1" dirty="0">
                <a:latin typeface="Times New Roman" panose="02020603050405020304" pitchFamily="18" charset="0"/>
                <a:cs typeface="Times New Roman" panose="02020603050405020304" pitchFamily="18" charset="0"/>
              </a:rPr>
              <a:t>8. Focus on Human-Robot Interaction: </a:t>
            </a:r>
            <a:r>
              <a:rPr lang="en-US" sz="3000" dirty="0">
                <a:latin typeface="Times New Roman" panose="02020603050405020304" pitchFamily="18" charset="0"/>
                <a:cs typeface="Times New Roman" panose="02020603050405020304" pitchFamily="18" charset="0"/>
              </a:rPr>
              <a:t>Improvements in voice, gesture, and facial recognition enable robots to interact more intuitively with humans.</a:t>
            </a:r>
          </a:p>
          <a:p>
            <a:pPr marL="0" indent="0" algn="just">
              <a:buNone/>
            </a:pPr>
            <a:endParaRPr lang="en-US" sz="3000" dirty="0">
              <a:latin typeface="Times New Roman" panose="02020603050405020304" pitchFamily="18" charset="0"/>
              <a:cs typeface="Times New Roman" panose="02020603050405020304" pitchFamily="18" charset="0"/>
            </a:endParaRPr>
          </a:p>
          <a:p>
            <a:pPr marL="0" indent="0" algn="just">
              <a:buNone/>
            </a:pPr>
            <a:r>
              <a:rPr lang="en-US" sz="3000" b="1" dirty="0">
                <a:latin typeface="Times New Roman" panose="02020603050405020304" pitchFamily="18" charset="0"/>
                <a:cs typeface="Times New Roman" panose="02020603050405020304" pitchFamily="18" charset="0"/>
              </a:rPr>
              <a:t>9. Eco-Friendly and Sustainable Robotics: </a:t>
            </a:r>
            <a:r>
              <a:rPr lang="en-US" sz="3000" dirty="0">
                <a:latin typeface="Times New Roman" panose="02020603050405020304" pitchFamily="18" charset="0"/>
                <a:cs typeface="Times New Roman" panose="02020603050405020304" pitchFamily="18" charset="0"/>
              </a:rPr>
              <a:t>Robots are being designed with renewable energy sources and biodegradable materials to reduce environmental impact.</a:t>
            </a:r>
          </a:p>
          <a:p>
            <a:pPr marL="0" indent="0" algn="just">
              <a:buNone/>
            </a:pPr>
            <a:endParaRPr lang="en-US" sz="3000" dirty="0">
              <a:latin typeface="Times New Roman" panose="02020603050405020304" pitchFamily="18" charset="0"/>
              <a:cs typeface="Times New Roman" panose="02020603050405020304" pitchFamily="18" charset="0"/>
            </a:endParaRPr>
          </a:p>
          <a:p>
            <a:pPr marL="0" indent="0" algn="just">
              <a:buNone/>
            </a:pPr>
            <a:r>
              <a:rPr lang="en-US" sz="3000" b="1" dirty="0">
                <a:latin typeface="Times New Roman" panose="02020603050405020304" pitchFamily="18" charset="0"/>
                <a:cs typeface="Times New Roman" panose="02020603050405020304" pitchFamily="18" charset="0"/>
              </a:rPr>
              <a:t>10. 3D Printing and Robotics Fusion: </a:t>
            </a:r>
            <a:r>
              <a:rPr lang="en-US" sz="3000" dirty="0">
                <a:latin typeface="Times New Roman" panose="02020603050405020304" pitchFamily="18" charset="0"/>
                <a:cs typeface="Times New Roman" panose="02020603050405020304" pitchFamily="18" charset="0"/>
              </a:rPr>
              <a:t>Robots equipped with 3D printing capabilities are used for rapid prototyping and large-scale construction projects.</a:t>
            </a:r>
          </a:p>
          <a:p>
            <a:pPr marL="514350" indent="-514350" algn="just">
              <a:buFont typeface="+mj-lt"/>
              <a:buAutoNum type="arabicPeriod"/>
            </a:pPr>
            <a:endParaRPr lang="en-US" sz="3000" b="1"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000" b="1"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000" b="1"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000" b="1"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554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1190</TotalTime>
  <Words>3812</Words>
  <Application>Microsoft Office PowerPoint</Application>
  <PresentationFormat>On-screen Show (4:3)</PresentationFormat>
  <Paragraphs>474</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Times New Roman</vt:lpstr>
      <vt:lpstr>Wingdings</vt:lpstr>
      <vt:lpstr>Office Theme</vt:lpstr>
      <vt:lpstr>Introduction to Robots</vt:lpstr>
      <vt:lpstr>Introduction to Robots</vt:lpstr>
      <vt:lpstr>Introduction to Robots</vt:lpstr>
      <vt:lpstr>Introduction to Robots</vt:lpstr>
      <vt:lpstr>Introduction to Robots</vt:lpstr>
      <vt:lpstr>Basic Structure of Robots</vt:lpstr>
      <vt:lpstr>Basic Structure of Robots</vt:lpstr>
      <vt:lpstr>Basic Structure of Robots</vt:lpstr>
      <vt:lpstr>Basic Structure of Robots</vt:lpstr>
      <vt:lpstr>Basic Structure of Robots</vt:lpstr>
      <vt:lpstr>Basic Structure of Robots</vt:lpstr>
      <vt:lpstr>Robot Anatomy</vt:lpstr>
      <vt:lpstr>Robot Anatomy</vt:lpstr>
      <vt:lpstr>Robot Anatomy</vt:lpstr>
      <vt:lpstr>Robot Anatomy</vt:lpstr>
      <vt:lpstr>Robot Anatomy</vt:lpstr>
      <vt:lpstr>Robot Anatomy</vt:lpstr>
      <vt:lpstr>Robot Anatomy</vt:lpstr>
      <vt:lpstr>Robot Anatomy</vt:lpstr>
      <vt:lpstr>Robot Anatomy</vt:lpstr>
      <vt:lpstr>Classification of Robots</vt:lpstr>
      <vt:lpstr>Classification of Robots</vt:lpstr>
      <vt:lpstr>Classification of Robots</vt:lpstr>
      <vt:lpstr>Classification of Robots</vt:lpstr>
      <vt:lpstr>Classification of Robots</vt:lpstr>
      <vt:lpstr>Classification of Robots</vt:lpstr>
      <vt:lpstr>Classification of Robots</vt:lpstr>
      <vt:lpstr>Classification of Robots</vt:lpstr>
      <vt:lpstr>Fundamentals about Robot Technology</vt:lpstr>
      <vt:lpstr>Fundamentals about Robot Technology</vt:lpstr>
      <vt:lpstr>Fundamentals about Robot Technology</vt:lpstr>
      <vt:lpstr>Fundamentals about Robot Technology</vt:lpstr>
      <vt:lpstr>Fundamentals about Robot Technology</vt:lpstr>
      <vt:lpstr>Fundamentals about Robot Technology</vt:lpstr>
      <vt:lpstr>Fundamentals about Robot Technology</vt:lpstr>
      <vt:lpstr>Fundamentals about Robot Technology</vt:lpstr>
      <vt:lpstr>Basic Configurations of Robots</vt:lpstr>
      <vt:lpstr>Basic Configurations of Robots</vt:lpstr>
      <vt:lpstr>Basic Configurations of Robots</vt:lpstr>
      <vt:lpstr>Basic Configurations of Robots</vt:lpstr>
      <vt:lpstr>Basic Configurations of Robots</vt:lpstr>
      <vt:lpstr>Basic Configurations of Robots</vt:lpstr>
      <vt:lpstr>Applications and Trends in Robotics</vt:lpstr>
      <vt:lpstr>Applications and Trends in Robotics</vt:lpstr>
      <vt:lpstr>Applications and Trends in Robotics</vt:lpstr>
      <vt:lpstr>Applications and Trends in Robotics</vt:lpstr>
      <vt:lpstr>Applications and Trends in Robotics</vt:lpstr>
      <vt:lpstr>Applications and Trends in Robotics</vt:lpstr>
      <vt:lpstr>Applications and Trends in Robotics</vt:lpstr>
      <vt:lpstr>Applications and Trends in Robotics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Inchara N Aradhya</cp:lastModifiedBy>
  <cp:revision>48</cp:revision>
  <dcterms:created xsi:type="dcterms:W3CDTF">2013-01-27T09:14:16Z</dcterms:created>
  <dcterms:modified xsi:type="dcterms:W3CDTF">2024-12-01T06:18:32Z</dcterms:modified>
  <cp:category/>
</cp:coreProperties>
</file>