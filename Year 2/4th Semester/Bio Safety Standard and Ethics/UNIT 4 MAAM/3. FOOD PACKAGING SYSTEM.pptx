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6858000" cy="9144000"/>
  <p:embeddedFontLst>
    <p:embeddedFont>
      <p:font typeface="Source Sans 3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jjjtThRKqZKoeltilkJ3FaezAO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SourceSans3-bold.fntdata"/><Relationship Id="rId21" Type="http://schemas.openxmlformats.org/officeDocument/2006/relationships/slide" Target="slides/slide17.xml"/><Relationship Id="rId43" Type="http://schemas.openxmlformats.org/officeDocument/2006/relationships/font" Target="fonts/SourceSans3-regular.fntdata"/><Relationship Id="rId24" Type="http://schemas.openxmlformats.org/officeDocument/2006/relationships/slide" Target="slides/slide20.xml"/><Relationship Id="rId46" Type="http://schemas.openxmlformats.org/officeDocument/2006/relationships/font" Target="fonts/SourceSans3-boldItalic.fntdata"/><Relationship Id="rId23" Type="http://schemas.openxmlformats.org/officeDocument/2006/relationships/slide" Target="slides/slide19.xml"/><Relationship Id="rId45" Type="http://schemas.openxmlformats.org/officeDocument/2006/relationships/font" Target="fonts/SourceSans3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customschemas.google.com/relationships/presentationmetadata" Target="meta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lideshare.net/slideshow/food-packaging-42641320/42641320#5" TargetMode="External"/><Relationship Id="rId4" Type="http://schemas.openxmlformats.org/officeDocument/2006/relationships/hyperlink" Target="https://www.slideshare.net/slideshow/food-packaging-42641320/42641320#5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slideshare.net/slideshow/food-packaging-42641320/42641320#8" TargetMode="External"/><Relationship Id="rId4" Type="http://schemas.openxmlformats.org/officeDocument/2006/relationships/hyperlink" Target="https://www.slideshare.net/slideshow/food-packaging-42641320/42641320#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slideshare.net/slideshow/advances-in-food-packaging/54590928#7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slideshare.net/slideshow/advances-in-food-packaging/54590928#5" TargetMode="External"/><Relationship Id="rId4" Type="http://schemas.openxmlformats.org/officeDocument/2006/relationships/hyperlink" Target="https://www.slideshare.net/slideshow/advances-in-food-packaging/54590928#5" TargetMode="External"/><Relationship Id="rId5" Type="http://schemas.openxmlformats.org/officeDocument/2006/relationships/hyperlink" Target="https://www.slideshare.net/slideshow/advances-in-food-packaging/54590928#5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slideshare.net/slideshow/aseptic-packaging-57588611/57588611#4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slideshare.net/slideshow/modified-atmospheric-packaging-map/105645782#5" TargetMode="External"/><Relationship Id="rId4" Type="http://schemas.openxmlformats.org/officeDocument/2006/relationships/hyperlink" Target="https://www.slideshare.net/slideshow/modified-atmospheric-packaging-map/105645782#6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slideshare.net/slideshow/vacuum-packaging-77432786/77432786#4" TargetMode="External"/><Relationship Id="rId4" Type="http://schemas.openxmlformats.org/officeDocument/2006/relationships/hyperlink" Target="https://www.slideshare.net/slideshow/vacuum-packaging-77432786/77432786#4" TargetMode="External"/><Relationship Id="rId5" Type="http://schemas.openxmlformats.org/officeDocument/2006/relationships/hyperlink" Target="https://www.slideshare.net/slideshow/vacuum-packaging-77432786/77432786#4" TargetMode="External"/><Relationship Id="rId6" Type="http://schemas.openxmlformats.org/officeDocument/2006/relationships/hyperlink" Target="https://www.slideshare.net/slideshow/vacuum-packaging-77432786/77432786#7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253218"/>
            <a:ext cx="9144000" cy="5627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UNIT 4 - FOOD PACKAGING SYSTEM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7787" y="1390650"/>
            <a:ext cx="6253017" cy="491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195" y="1264041"/>
            <a:ext cx="4198767" cy="5038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445" y="464234"/>
            <a:ext cx="9636369" cy="6049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6"/>
            <a:ext cx="10515600" cy="5914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Packing definition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125415"/>
            <a:ext cx="10515600" cy="5051548"/>
          </a:xfrm>
          <a:prstGeom prst="rect">
            <a:avLst/>
          </a:prstGeom>
          <a:noFill/>
          <a:ln cap="flat" cmpd="sng" w="9525">
            <a:solidFill>
              <a:srgbClr val="9CC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packaging as the enclosure of products in a wrapped pouch, bag, box, cup, tray, can, tube, bottle or other container form to perform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containment,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protection,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preservation,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communication,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If the device or container performs one or more of these functions, it is considered a package.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365761" y="70337"/>
            <a:ext cx="11394830" cy="668215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OBJECTIVES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to protect food products from the outside environment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Protect from damage by abrasion,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to contain the food,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to provide consumers with information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(ingredients and nutrition, quantity, price, brand name, food type and the expiry date of the product)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Packaging is an important tool for advertisement.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Brand awareness and customer attraction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(Customers often make their purchase decisions based on the appearance of the product, and the logo, colors, and style of food packaging)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8024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FUNCTION of Packaging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199" y="1336432"/>
            <a:ext cx="10711375" cy="5345722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rgbClr val="9CC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Packaging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materials have the four basic functions (</a:t>
            </a:r>
            <a:r>
              <a:rPr b="1"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Primary function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)of providing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protection,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Communication,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Convenience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Containment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 u="sng">
                <a:latin typeface="Times New Roman"/>
                <a:ea typeface="Times New Roman"/>
                <a:cs typeface="Times New Roman"/>
                <a:sym typeface="Times New Roman"/>
              </a:rPr>
              <a:t>Secondary functions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Traceability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tamper indication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478937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Primary functions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492369" y="1125414"/>
            <a:ext cx="6822831" cy="5732585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476250" lvl="0" marL="5143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Protection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to protect food against spoilage or deterioration due to physical damage, chemical changes or biological damage. </a:t>
            </a:r>
            <a:endParaRPr/>
          </a:p>
          <a:p>
            <a:pPr indent="-81279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5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1279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5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0977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58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. Communication</a:t>
            </a:r>
            <a:endParaRPr/>
          </a:p>
          <a:p>
            <a:pPr indent="-1905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provide consumers with information about ingredients and nutrition, quantity, price, brand name, food type and the expiry date of the product </a:t>
            </a:r>
            <a:endParaRPr/>
          </a:p>
          <a:p>
            <a:pPr indent="-1905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Identification of manufacturer’s brand, quantity,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quality and type of product.</a:t>
            </a:r>
            <a:endParaRPr/>
          </a:p>
          <a:p>
            <a:pPr indent="-9906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5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732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4732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4373" y="801859"/>
            <a:ext cx="3909427" cy="2419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9772" y="3221502"/>
            <a:ext cx="3742005" cy="327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365760"/>
            <a:ext cx="5956495" cy="5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Convenience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Food containers can be designed to have features that make the handling, consumption, and preservation of food items easier for customers</a:t>
            </a:r>
            <a:endParaRPr/>
          </a:p>
          <a:p>
            <a:pPr indent="-254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4.Containment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Hold the contents and keep them secure until they are used.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3503" y="211015"/>
            <a:ext cx="3840480" cy="2806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0112" y="3850003"/>
            <a:ext cx="3601328" cy="2326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D8E2F3"/>
          </a:solidFill>
          <a:ln cap="flat" cmpd="sng" w="9525">
            <a:solidFill>
              <a:srgbClr val="9CC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Secondary functions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Traceability: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Ability 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to track any food through all stages of production, processing and distribution.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</a:pPr>
            <a:r>
              <a:rPr lang="en-US" sz="36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Tamper indication: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Food tampering is the intentional contamination of a food product, with intent to cause harm to the consumer or to a private company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739" y="436099"/>
            <a:ext cx="10213144" cy="5908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452" y="661182"/>
            <a:ext cx="10818056" cy="5254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Two broad categories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742950" lvl="0" marL="7429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Rigid packaging materials</a:t>
            </a:r>
            <a:endParaRPr/>
          </a:p>
          <a:p>
            <a:pPr indent="-742950" lvl="0" marL="7429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Flexible packaging materials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Rigid packaging materials: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Metal cans: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Primarily for heat sterilized food products.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Made of tin plate, aluminium or tin free steel.</a:t>
            </a:r>
            <a:endParaRPr/>
          </a:p>
        </p:txBody>
      </p:sp>
      <p:pic>
        <p:nvPicPr>
          <p:cNvPr id="145" name="Google Shape;1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6675" y="422325"/>
            <a:ext cx="4438650" cy="14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838200" y="365125"/>
            <a:ext cx="10515600" cy="844697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.GLASS CONTAINERS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838200" y="1336431"/>
            <a:ext cx="10515600" cy="4840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Advantages</a:t>
            </a:r>
            <a:r>
              <a:rPr lang="en-US"/>
              <a:t>: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Chemically inert in nature.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Excellent product visibility.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Excellent barrier to solids, liquids and gases.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Molded into various shapes and sizes.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Withstand sterilization temperature.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Refillable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Disadvantages: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Fragile.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Heavy weight.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br>
              <a:rPr lang="en-US">
                <a:solidFill>
                  <a:srgbClr val="FF0000"/>
                </a:solidFill>
              </a:rPr>
            </a:br>
            <a:endParaRPr>
              <a:solidFill>
                <a:srgbClr val="FF0000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838200" y="365126"/>
            <a:ext cx="10515600" cy="748352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3.RIGID PLASTIC PACKAGES: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838200" y="1113479"/>
            <a:ext cx="10515600" cy="1474976"/>
          </a:xfrm>
          <a:prstGeom prst="rect">
            <a:avLst/>
          </a:prstGeom>
          <a:solidFill>
            <a:srgbClr val="F7CAAC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Advantages </a:t>
            </a:r>
            <a:r>
              <a:rPr lang="en-US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Low cost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Ease of fabrication</a:t>
            </a:r>
            <a:endParaRPr/>
          </a:p>
        </p:txBody>
      </p:sp>
      <p:sp>
        <p:nvSpPr>
          <p:cNvPr id="158" name="Google Shape;158;p13"/>
          <p:cNvSpPr txBox="1"/>
          <p:nvPr/>
        </p:nvSpPr>
        <p:spPr>
          <a:xfrm>
            <a:off x="838200" y="2678104"/>
            <a:ext cx="10515600" cy="523220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WOODEN BOXES AND CRATES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838200" y="3156408"/>
            <a:ext cx="10515600" cy="523220"/>
          </a:xfrm>
          <a:prstGeom prst="rect">
            <a:avLst/>
          </a:prstGeom>
          <a:solidFill>
            <a:srgbClr val="D0CEC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5.FIBRE BOARD AND CARD BOARD BOXES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838199" y="3760316"/>
            <a:ext cx="10515599" cy="3046988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make shipping cases exclusively in bulk packaging.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Versatility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weight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Disposability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cost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838200" y="365125"/>
            <a:ext cx="10515600" cy="535207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FLEXIBLE PACKAGING MATERIALS</a:t>
            </a:r>
            <a:endParaRPr/>
          </a:p>
        </p:txBody>
      </p:sp>
      <p:sp>
        <p:nvSpPr>
          <p:cNvPr id="166" name="Google Shape;166;p14"/>
          <p:cNvSpPr txBox="1"/>
          <p:nvPr>
            <p:ph idx="1" type="body"/>
          </p:nvPr>
        </p:nvSpPr>
        <p:spPr>
          <a:xfrm>
            <a:off x="838200" y="900332"/>
            <a:ext cx="10515600" cy="5957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Aluminum foil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Lightweight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effective barrier to the effects of air, temperature, moisture and chemical attack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Aluminium foil is used for aseptic cartons, pouches, wrappings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Plastics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588" y="618978"/>
            <a:ext cx="10986867" cy="5401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399" y="98474"/>
            <a:ext cx="10818055" cy="529905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618978" y="5397531"/>
            <a:ext cx="1111347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packaging is intended to protect not only the product, but also the primary packaging, which often is the packaging most visible to the consumer in retail displays.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266" y="379828"/>
            <a:ext cx="10255346" cy="5440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386" y="196948"/>
            <a:ext cx="10438226" cy="5861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183" y="464233"/>
            <a:ext cx="10888392" cy="5880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44" y="534572"/>
            <a:ext cx="11451101" cy="6147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838200" y="365125"/>
            <a:ext cx="10515600" cy="535207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i="1" lang="en-US" sz="4400">
                <a:latin typeface="Times New Roman"/>
                <a:ea typeface="Times New Roman"/>
                <a:cs typeface="Times New Roman"/>
                <a:sym typeface="Times New Roman"/>
              </a:rPr>
              <a:t>Active packaging</a:t>
            </a:r>
            <a:endParaRPr/>
          </a:p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838199" y="1364566"/>
            <a:ext cx="10922391" cy="533165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Active packaging refers to the incorporation of certain additives into packaging film or within packaging containers with the aim of maintaining and extending product shelf life.</a:t>
            </a:r>
            <a:endParaRPr/>
          </a:p>
          <a:p>
            <a:pPr indent="-228600" lvl="0" marL="22860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modification of the environment inside the package by removing undesired gases .</a:t>
            </a:r>
            <a:endParaRPr/>
          </a:p>
          <a:p>
            <a:pPr indent="-228600" lvl="0" marL="22860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Oxygen scavenging</a:t>
            </a:r>
            <a:endParaRPr/>
          </a:p>
          <a:p>
            <a:pPr indent="-228600" lvl="0" marL="22860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Most moulds require oxygen to grow</a:t>
            </a:r>
            <a:endParaRPr/>
          </a:p>
          <a:p>
            <a:pPr indent="-228600" lvl="0" marL="22860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mould growth which limits the shelf life of packaged baked goods. </a:t>
            </a:r>
            <a:endParaRPr/>
          </a:p>
          <a:p>
            <a:pPr indent="-228600" lvl="0" marL="22860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Removal of oxygen can also delay oxidation </a:t>
            </a:r>
            <a:endParaRPr/>
          </a:p>
          <a:p>
            <a:pPr indent="-228600" lvl="0" marL="228600" rtl="0" algn="just">
              <a:lnSpc>
                <a:spcPct val="10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iron powder, ascorbic acid, enzymes (such as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glucose oxidase and ethanol oxidase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), immobilized yeast on a solid substrate - These materials are normally contained in a sachet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747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1420836" y="365126"/>
            <a:ext cx="9932963" cy="8869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Anti microbial packaging </a:t>
            </a:r>
            <a:endParaRPr/>
          </a:p>
        </p:txBody>
      </p:sp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Food packages can be made AM active by incorporation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1" i="0" lang="en-US" sz="3200" u="sng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•Antimicrobials </a:t>
            </a: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type of packaging, the packaging surface is polished with some materials like silver ions, chitin,   chlorine dioxide, ethyl alcohol etc. which retards their growth.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Antimicrobials reduce the growth rate of microbes and acts against their growth. •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838200" y="365126"/>
            <a:ext cx="10515600" cy="78842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INTELLIGENT PACKAGING</a:t>
            </a:r>
            <a:endParaRPr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838200" y="1392702"/>
            <a:ext cx="10515600" cy="4784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intelligent packaging is ‘packaging which senses and informs to the customer about the status of the product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Protection against theft and tampering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INTELLIGENT TAMPER-PROOF PACKAGING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Optically variable films or gas sensing dyes, involving irreversible color changes.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Piezoelectric polymeric materials might be incorporated into package construction so that the package changes colour at a certain stress threshold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993" y="520505"/>
            <a:ext cx="10452295" cy="6091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603" y="450165"/>
            <a:ext cx="9861452" cy="592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2" y="647114"/>
            <a:ext cx="10719580" cy="5641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1" i="0" lang="en-US" u="sng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Edible Packaging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b="1" i="0" lang="en-US" u="sng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i="0" lang="en-US" sz="4000" u="sng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 </a:t>
            </a:r>
            <a:r>
              <a:rPr b="0" i="0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is generally packaged in edible material layers of other edible products. </a:t>
            </a:r>
            <a:endParaRPr/>
          </a:p>
          <a:p>
            <a:pPr indent="-2540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•"/>
            </a:pPr>
            <a:r>
              <a:rPr b="0" i="0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step is beneficial so as to reduce the environmental pollution.</a:t>
            </a:r>
            <a:endParaRPr/>
          </a:p>
          <a:p>
            <a:pPr indent="-2540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000"/>
              <a:buChar char="•"/>
            </a:pPr>
            <a:r>
              <a:rPr b="0" i="0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best thing about edible packaging is that it reduces the wastage of food</a:t>
            </a:r>
            <a:br>
              <a:rPr b="0" i="0" lang="en-US" sz="4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708" y="604911"/>
            <a:ext cx="11211950" cy="5711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686" y="239151"/>
            <a:ext cx="10311619" cy="6231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/>
          <p:nvPr>
            <p:ph type="title"/>
          </p:nvPr>
        </p:nvSpPr>
        <p:spPr>
          <a:xfrm>
            <a:off x="838200" y="365126"/>
            <a:ext cx="10515600" cy="788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ASEPTIC PACKAGING </a:t>
            </a:r>
            <a:br>
              <a:rPr lang="en-US"/>
            </a:br>
            <a:endParaRPr/>
          </a:p>
        </p:txBody>
      </p:sp>
      <p:sp>
        <p:nvSpPr>
          <p:cNvPr id="252" name="Google Shape;252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</a:pPr>
            <a:r>
              <a:rPr b="0" i="0"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b="1" i="0" lang="en-US" sz="3600" u="sng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 It </a:t>
            </a:r>
            <a:r>
              <a:rPr b="0" i="0"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defined as the filling of a commercially sterile product into a sterile container under aseptic conditions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</a:pPr>
            <a:r>
              <a:rPr b="0" i="0"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• This results in a product which is shelf stable at ambient conditions.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00000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505" y="393895"/>
            <a:ext cx="10677378" cy="6035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437" y="225083"/>
            <a:ext cx="11141612" cy="5671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>
            <p:ph type="title"/>
          </p:nvPr>
        </p:nvSpPr>
        <p:spPr>
          <a:xfrm>
            <a:off x="838200" y="365125"/>
            <a:ext cx="10515600" cy="746223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1" i="0" lang="en-US" u="sng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Modified Atmosphere Packaging 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(MAP)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3"/>
          <p:cNvSpPr txBox="1"/>
          <p:nvPr>
            <p:ph idx="1" type="body"/>
          </p:nvPr>
        </p:nvSpPr>
        <p:spPr>
          <a:xfrm>
            <a:off x="98475" y="1111348"/>
            <a:ext cx="11929402" cy="50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requires specialized machinery to flush out air from the packaging and replace it with a different gas or gas mixture.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normal composition of air is 21% oxygen, 78% nitrogen and less than 0.1% carbon dioxide.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The modification of the atmosphere generally implies a reduction of O2 content or an increase of the CO2 concentration,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 the shelf-life of perishable foods at chill temperatures.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i="0" lang="en-US" sz="3200" u="sng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The major </a:t>
            </a:r>
            <a:r>
              <a:rPr b="1" i="0" lang="en-US" sz="3200" strike="noStrik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gases used in MAP are N2, and CO2.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Noble gases such as argon are used commercially for food products like coffee and other snacks, however its uses are limited.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838200" y="492369"/>
            <a:ext cx="10515600" cy="56845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Carbon dioxide (CO2) inhibits the increase of most aerobic bacteria.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most important gas in the packaging of food under modified atmospheres. In general one can say the higher the CO2 concentration the longer the durability of the perishable food.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Nitrogen (N2) is an inert gas that is used to expel air especially Oxygen out of the packaging.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idx="1" type="body"/>
          </p:nvPr>
        </p:nvSpPr>
        <p:spPr>
          <a:xfrm>
            <a:off x="838200" y="520505"/>
            <a:ext cx="10515600" cy="5656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i="0" lang="en-US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 </a:t>
            </a:r>
            <a:r>
              <a:rPr b="1" i="0" lang="en-US" sz="3200" u="sng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VACUUM PACKAGING 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 u="sng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1" i="0" lang="en-US" sz="3200" u="sng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“Vacuum packagng </a:t>
            </a: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method of packaging that removes air from the package and hermetically sealing it.”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0" lang="en-US" sz="3200" u="sng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Oxygen is </a:t>
            </a: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highly reactive element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of the organic compounds in the food reacts with oxygen and cause negative changes in the color, flavor and odour.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0" i="0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absence of oxygen the food can retain its natural properties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078" y="1690688"/>
            <a:ext cx="10515600" cy="463977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i="0" lang="en-US">
                <a:latin typeface="Times New Roman"/>
                <a:ea typeface="Times New Roman"/>
                <a:cs typeface="Times New Roman"/>
                <a:sym typeface="Times New Roman"/>
              </a:rPr>
              <a:t>Nanotechnology in food packaging</a:t>
            </a:r>
            <a:br>
              <a:rPr b="1" i="0" lang="en-US">
                <a:latin typeface="Source Sans 3"/>
                <a:ea typeface="Source Sans 3"/>
                <a:cs typeface="Source Sans 3"/>
                <a:sym typeface="Source Sans 3"/>
              </a:rPr>
            </a:b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738" y="168812"/>
            <a:ext cx="11207262" cy="6386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1" y="225083"/>
            <a:ext cx="10874326" cy="6457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2024-12-09T06:41:24Z</dcterms:created>
  <dc:creator>Rajeshwari M.</dc:creator>
</cp:coreProperties>
</file>