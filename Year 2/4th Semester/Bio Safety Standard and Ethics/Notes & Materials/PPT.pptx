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6"/>
  </p:notesMasterIdLst>
  <p:sldIdLst>
    <p:sldId id="256" r:id="rId2"/>
    <p:sldId id="259" r:id="rId3"/>
    <p:sldId id="260" r:id="rId4"/>
    <p:sldId id="272" r:id="rId5"/>
    <p:sldId id="261" r:id="rId6"/>
    <p:sldId id="273" r:id="rId7"/>
    <p:sldId id="262" r:id="rId8"/>
    <p:sldId id="263" r:id="rId9"/>
    <p:sldId id="264" r:id="rId10"/>
    <p:sldId id="274" r:id="rId11"/>
    <p:sldId id="265" r:id="rId12"/>
    <p:sldId id="267" r:id="rId13"/>
    <p:sldId id="268" r:id="rId14"/>
    <p:sldId id="270" r:id="rId15"/>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F7B66-FC0A-42F8-B389-B4CCFE59E75B}" v="16" dt="2026-06-07T16:23:09.8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microsoft.com/office/2016/11/relationships/changesInfo" Target="changesInfos/changesInfo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yav Saraf" userId="849e87745219389a" providerId="LiveId" clId="{FB646FD9-826B-4C83-AE0B-A15422314F7B}"/>
    <pc:docChg chg="custSel delSld modSld">
      <pc:chgData name="Avyav Saraf" userId="849e87745219389a" providerId="LiveId" clId="{FB646FD9-826B-4C83-AE0B-A15422314F7B}" dt="2026-06-07T16:24:41.962" v="166" actId="47"/>
      <pc:docMkLst>
        <pc:docMk/>
      </pc:docMkLst>
      <pc:sldChg chg="modSp mod">
        <pc:chgData name="Avyav Saraf" userId="849e87745219389a" providerId="LiveId" clId="{FB646FD9-826B-4C83-AE0B-A15422314F7B}" dt="2026-06-07T16:19:45.117" v="83" actId="20577"/>
        <pc:sldMkLst>
          <pc:docMk/>
          <pc:sldMk cId="0" sldId="256"/>
        </pc:sldMkLst>
        <pc:spChg chg="mod">
          <ac:chgData name="Avyav Saraf" userId="849e87745219389a" providerId="LiveId" clId="{FB646FD9-826B-4C83-AE0B-A15422314F7B}" dt="2026-06-07T16:19:45.117" v="83" actId="20577"/>
          <ac:spMkLst>
            <pc:docMk/>
            <pc:sldMk cId="0" sldId="256"/>
            <ac:spMk id="2" creationId="{A8663FE1-35EB-672B-A606-59D95882E7A0}"/>
          </ac:spMkLst>
        </pc:spChg>
        <pc:spChg chg="mod">
          <ac:chgData name="Avyav Saraf" userId="849e87745219389a" providerId="LiveId" clId="{FB646FD9-826B-4C83-AE0B-A15422314F7B}" dt="2026-06-07T16:17:02.091" v="0" actId="207"/>
          <ac:spMkLst>
            <pc:docMk/>
            <pc:sldMk cId="0" sldId="256"/>
            <ac:spMk id="128" creationId="{00000000-0000-0000-0000-000000000000}"/>
          </ac:spMkLst>
        </pc:spChg>
        <pc:spChg chg="mod">
          <ac:chgData name="Avyav Saraf" userId="849e87745219389a" providerId="LiveId" clId="{FB646FD9-826B-4C83-AE0B-A15422314F7B}" dt="2026-06-07T16:18:00.175" v="43" actId="404"/>
          <ac:spMkLst>
            <pc:docMk/>
            <pc:sldMk cId="0" sldId="256"/>
            <ac:spMk id="129" creationId="{00000000-0000-0000-0000-000000000000}"/>
          </ac:spMkLst>
        </pc:spChg>
      </pc:sldChg>
      <pc:sldChg chg="addSp delSp modSp del mod">
        <pc:chgData name="Avyav Saraf" userId="849e87745219389a" providerId="LiveId" clId="{FB646FD9-826B-4C83-AE0B-A15422314F7B}" dt="2026-06-07T16:24:41.962" v="166" actId="47"/>
        <pc:sldMkLst>
          <pc:docMk/>
          <pc:sldMk cId="0" sldId="258"/>
        </pc:sldMkLst>
        <pc:spChg chg="del">
          <ac:chgData name="Avyav Saraf" userId="849e87745219389a" providerId="LiveId" clId="{FB646FD9-826B-4C83-AE0B-A15422314F7B}" dt="2026-06-07T16:20:02" v="84" actId="478"/>
          <ac:spMkLst>
            <pc:docMk/>
            <pc:sldMk cId="0" sldId="258"/>
            <ac:spMk id="2" creationId="{A597B74C-62AD-0668-A042-8AE0AAC8B52A}"/>
          </ac:spMkLst>
        </pc:spChg>
        <pc:spChg chg="add mod">
          <ac:chgData name="Avyav Saraf" userId="849e87745219389a" providerId="LiveId" clId="{FB646FD9-826B-4C83-AE0B-A15422314F7B}" dt="2026-06-07T16:20:02.732" v="85"/>
          <ac:spMkLst>
            <pc:docMk/>
            <pc:sldMk cId="0" sldId="258"/>
            <ac:spMk id="3" creationId="{F565F8D3-AE18-D6FF-8D94-EF0CFAF9B4EA}"/>
          </ac:spMkLst>
        </pc:spChg>
        <pc:spChg chg="mod">
          <ac:chgData name="Avyav Saraf" userId="849e87745219389a" providerId="LiveId" clId="{FB646FD9-826B-4C83-AE0B-A15422314F7B}" dt="2026-06-07T16:24:31.941" v="165" actId="1038"/>
          <ac:spMkLst>
            <pc:docMk/>
            <pc:sldMk cId="0" sldId="258"/>
            <ac:spMk id="49" creationId="{36BBA7F4-AB02-6887-9106-DB4D16FF9CF4}"/>
          </ac:spMkLst>
        </pc:spChg>
      </pc:sldChg>
      <pc:sldChg chg="addSp delSp modSp mod">
        <pc:chgData name="Avyav Saraf" userId="849e87745219389a" providerId="LiveId" clId="{FB646FD9-826B-4C83-AE0B-A15422314F7B}" dt="2026-06-07T16:20:07.551" v="87"/>
        <pc:sldMkLst>
          <pc:docMk/>
          <pc:sldMk cId="0" sldId="259"/>
        </pc:sldMkLst>
        <pc:spChg chg="del">
          <ac:chgData name="Avyav Saraf" userId="849e87745219389a" providerId="LiveId" clId="{FB646FD9-826B-4C83-AE0B-A15422314F7B}" dt="2026-06-07T16:20:07.086" v="86" actId="478"/>
          <ac:spMkLst>
            <pc:docMk/>
            <pc:sldMk cId="0" sldId="259"/>
            <ac:spMk id="2" creationId="{B24DA2AB-2578-E07B-29CA-2FD1AB703DF1}"/>
          </ac:spMkLst>
        </pc:spChg>
        <pc:spChg chg="add mod">
          <ac:chgData name="Avyav Saraf" userId="849e87745219389a" providerId="LiveId" clId="{FB646FD9-826B-4C83-AE0B-A15422314F7B}" dt="2026-06-07T16:20:07.551" v="87"/>
          <ac:spMkLst>
            <pc:docMk/>
            <pc:sldMk cId="0" sldId="259"/>
            <ac:spMk id="3" creationId="{308FEFBD-83DC-FA5D-9DE3-081D51BEDAC0}"/>
          </ac:spMkLst>
        </pc:spChg>
      </pc:sldChg>
      <pc:sldChg chg="addSp delSp modSp mod">
        <pc:chgData name="Avyav Saraf" userId="849e87745219389a" providerId="LiveId" clId="{FB646FD9-826B-4C83-AE0B-A15422314F7B}" dt="2026-06-07T16:20:42.108" v="91" actId="1035"/>
        <pc:sldMkLst>
          <pc:docMk/>
          <pc:sldMk cId="0" sldId="260"/>
        </pc:sldMkLst>
        <pc:spChg chg="del">
          <ac:chgData name="Avyav Saraf" userId="849e87745219389a" providerId="LiveId" clId="{FB646FD9-826B-4C83-AE0B-A15422314F7B}" dt="2026-06-07T16:20:12.813" v="88" actId="478"/>
          <ac:spMkLst>
            <pc:docMk/>
            <pc:sldMk cId="0" sldId="260"/>
            <ac:spMk id="2" creationId="{3DF68C0D-7B8E-262E-72A4-A4F40924AC34}"/>
          </ac:spMkLst>
        </pc:spChg>
        <pc:spChg chg="add mod">
          <ac:chgData name="Avyav Saraf" userId="849e87745219389a" providerId="LiveId" clId="{FB646FD9-826B-4C83-AE0B-A15422314F7B}" dt="2026-06-07T16:20:13.151" v="89"/>
          <ac:spMkLst>
            <pc:docMk/>
            <pc:sldMk cId="0" sldId="260"/>
            <ac:spMk id="3" creationId="{9EDE75EB-C6EF-7ACE-4153-B23D76D08776}"/>
          </ac:spMkLst>
        </pc:spChg>
        <pc:graphicFrameChg chg="mod">
          <ac:chgData name="Avyav Saraf" userId="849e87745219389a" providerId="LiveId" clId="{FB646FD9-826B-4C83-AE0B-A15422314F7B}" dt="2026-06-07T16:20:42.108" v="91" actId="1035"/>
          <ac:graphicFrameMkLst>
            <pc:docMk/>
            <pc:sldMk cId="0" sldId="260"/>
            <ac:graphicFrameMk id="4" creationId="{B45DFFD9-65EB-78F7-9F87-4093316405EC}"/>
          </ac:graphicFrameMkLst>
        </pc:graphicFrameChg>
      </pc:sldChg>
      <pc:sldChg chg="addSp delSp modSp mod">
        <pc:chgData name="Avyav Saraf" userId="849e87745219389a" providerId="LiveId" clId="{FB646FD9-826B-4C83-AE0B-A15422314F7B}" dt="2026-06-07T16:21:11.862" v="95"/>
        <pc:sldMkLst>
          <pc:docMk/>
          <pc:sldMk cId="0" sldId="261"/>
        </pc:sldMkLst>
        <pc:spChg chg="add mod">
          <ac:chgData name="Avyav Saraf" userId="849e87745219389a" providerId="LiveId" clId="{FB646FD9-826B-4C83-AE0B-A15422314F7B}" dt="2026-06-07T16:21:11.862" v="95"/>
          <ac:spMkLst>
            <pc:docMk/>
            <pc:sldMk cId="0" sldId="261"/>
            <ac:spMk id="3" creationId="{6A07B499-C177-8FBF-0B94-E4B6F9D6C3B7}"/>
          </ac:spMkLst>
        </pc:spChg>
        <pc:spChg chg="del">
          <ac:chgData name="Avyav Saraf" userId="849e87745219389a" providerId="LiveId" clId="{FB646FD9-826B-4C83-AE0B-A15422314F7B}" dt="2026-06-07T16:21:11.528" v="94" actId="478"/>
          <ac:spMkLst>
            <pc:docMk/>
            <pc:sldMk cId="0" sldId="261"/>
            <ac:spMk id="6" creationId="{39ECC9D6-143E-795B-E847-2B80200B276E}"/>
          </ac:spMkLst>
        </pc:spChg>
      </pc:sldChg>
      <pc:sldChg chg="addSp delSp modSp mod">
        <pc:chgData name="Avyav Saraf" userId="849e87745219389a" providerId="LiveId" clId="{FB646FD9-826B-4C83-AE0B-A15422314F7B}" dt="2026-06-07T16:22:33.550" v="102"/>
        <pc:sldMkLst>
          <pc:docMk/>
          <pc:sldMk cId="0" sldId="262"/>
        </pc:sldMkLst>
        <pc:spChg chg="add mod">
          <ac:chgData name="Avyav Saraf" userId="849e87745219389a" providerId="LiveId" clId="{FB646FD9-826B-4C83-AE0B-A15422314F7B}" dt="2026-06-07T16:22:33.550" v="102"/>
          <ac:spMkLst>
            <pc:docMk/>
            <pc:sldMk cId="0" sldId="262"/>
            <ac:spMk id="3" creationId="{B1E25DC4-C32F-9004-2670-F0FCC4D9676E}"/>
          </ac:spMkLst>
        </pc:spChg>
        <pc:spChg chg="del">
          <ac:chgData name="Avyav Saraf" userId="849e87745219389a" providerId="LiveId" clId="{FB646FD9-826B-4C83-AE0B-A15422314F7B}" dt="2026-06-07T16:22:33.027" v="101" actId="478"/>
          <ac:spMkLst>
            <pc:docMk/>
            <pc:sldMk cId="0" sldId="262"/>
            <ac:spMk id="10" creationId="{05C11B7A-03A6-1546-7B9D-2A1D6F557076}"/>
          </ac:spMkLst>
        </pc:spChg>
      </pc:sldChg>
      <pc:sldChg chg="addSp delSp modSp mod">
        <pc:chgData name="Avyav Saraf" userId="849e87745219389a" providerId="LiveId" clId="{FB646FD9-826B-4C83-AE0B-A15422314F7B}" dt="2026-06-07T16:22:45.582" v="104"/>
        <pc:sldMkLst>
          <pc:docMk/>
          <pc:sldMk cId="0" sldId="263"/>
        </pc:sldMkLst>
        <pc:spChg chg="add mod">
          <ac:chgData name="Avyav Saraf" userId="849e87745219389a" providerId="LiveId" clId="{FB646FD9-826B-4C83-AE0B-A15422314F7B}" dt="2026-06-07T16:22:45.582" v="104"/>
          <ac:spMkLst>
            <pc:docMk/>
            <pc:sldMk cId="0" sldId="263"/>
            <ac:spMk id="2" creationId="{2B0681DA-BF34-C509-6407-4FB9ADDCCDC2}"/>
          </ac:spMkLst>
        </pc:spChg>
        <pc:spChg chg="del">
          <ac:chgData name="Avyav Saraf" userId="849e87745219389a" providerId="LiveId" clId="{FB646FD9-826B-4C83-AE0B-A15422314F7B}" dt="2026-06-07T16:22:45.119" v="103" actId="478"/>
          <ac:spMkLst>
            <pc:docMk/>
            <pc:sldMk cId="0" sldId="263"/>
            <ac:spMk id="8" creationId="{2264F97A-11F7-3706-2157-F1B9EC26FE7A}"/>
          </ac:spMkLst>
        </pc:spChg>
      </pc:sldChg>
      <pc:sldChg chg="addSp delSp modSp mod">
        <pc:chgData name="Avyav Saraf" userId="849e87745219389a" providerId="LiveId" clId="{FB646FD9-826B-4C83-AE0B-A15422314F7B}" dt="2026-06-07T16:22:52.177" v="106"/>
        <pc:sldMkLst>
          <pc:docMk/>
          <pc:sldMk cId="0" sldId="264"/>
        </pc:sldMkLst>
        <pc:spChg chg="add mod">
          <ac:chgData name="Avyav Saraf" userId="849e87745219389a" providerId="LiveId" clId="{FB646FD9-826B-4C83-AE0B-A15422314F7B}" dt="2026-06-07T16:22:52.177" v="106"/>
          <ac:spMkLst>
            <pc:docMk/>
            <pc:sldMk cId="0" sldId="264"/>
            <ac:spMk id="2" creationId="{A84EA90B-0EB0-BBC3-15C1-A6816128BD79}"/>
          </ac:spMkLst>
        </pc:spChg>
        <pc:spChg chg="del">
          <ac:chgData name="Avyav Saraf" userId="849e87745219389a" providerId="LiveId" clId="{FB646FD9-826B-4C83-AE0B-A15422314F7B}" dt="2026-06-07T16:22:51.763" v="105" actId="478"/>
          <ac:spMkLst>
            <pc:docMk/>
            <pc:sldMk cId="0" sldId="264"/>
            <ac:spMk id="19" creationId="{229E6658-F661-D54B-05D2-347D7FD795A9}"/>
          </ac:spMkLst>
        </pc:spChg>
      </pc:sldChg>
      <pc:sldChg chg="addSp delSp modSp mod">
        <pc:chgData name="Avyav Saraf" userId="849e87745219389a" providerId="LiveId" clId="{FB646FD9-826B-4C83-AE0B-A15422314F7B}" dt="2026-06-07T16:23:02.891" v="110"/>
        <pc:sldMkLst>
          <pc:docMk/>
          <pc:sldMk cId="0" sldId="265"/>
        </pc:sldMkLst>
        <pc:spChg chg="add mod">
          <ac:chgData name="Avyav Saraf" userId="849e87745219389a" providerId="LiveId" clId="{FB646FD9-826B-4C83-AE0B-A15422314F7B}" dt="2026-06-07T16:23:02.891" v="110"/>
          <ac:spMkLst>
            <pc:docMk/>
            <pc:sldMk cId="0" sldId="265"/>
            <ac:spMk id="2" creationId="{C96884A2-F6F1-B30D-9C33-2D56E2184042}"/>
          </ac:spMkLst>
        </pc:spChg>
        <pc:spChg chg="del">
          <ac:chgData name="Avyav Saraf" userId="849e87745219389a" providerId="LiveId" clId="{FB646FD9-826B-4C83-AE0B-A15422314F7B}" dt="2026-06-07T16:23:02.363" v="109" actId="478"/>
          <ac:spMkLst>
            <pc:docMk/>
            <pc:sldMk cId="0" sldId="265"/>
            <ac:spMk id="12" creationId="{F7020B0A-C7FC-AC02-F082-A6E54F24497F}"/>
          </ac:spMkLst>
        </pc:spChg>
      </pc:sldChg>
      <pc:sldChg chg="del">
        <pc:chgData name="Avyav Saraf" userId="849e87745219389a" providerId="LiveId" clId="{FB646FD9-826B-4C83-AE0B-A15422314F7B}" dt="2026-06-07T16:23:07.140" v="111" actId="47"/>
        <pc:sldMkLst>
          <pc:docMk/>
          <pc:sldMk cId="0" sldId="266"/>
        </pc:sldMkLst>
      </pc:sldChg>
      <pc:sldChg chg="addSp modSp mod">
        <pc:chgData name="Avyav Saraf" userId="849e87745219389a" providerId="LiveId" clId="{FB646FD9-826B-4C83-AE0B-A15422314F7B}" dt="2026-06-07T16:23:16.794" v="113" actId="113"/>
        <pc:sldMkLst>
          <pc:docMk/>
          <pc:sldMk cId="0" sldId="267"/>
        </pc:sldMkLst>
        <pc:spChg chg="add mod">
          <ac:chgData name="Avyav Saraf" userId="849e87745219389a" providerId="LiveId" clId="{FB646FD9-826B-4C83-AE0B-A15422314F7B}" dt="2026-06-07T16:23:09.893" v="112"/>
          <ac:spMkLst>
            <pc:docMk/>
            <pc:sldMk cId="0" sldId="267"/>
            <ac:spMk id="2" creationId="{8A9DD791-A649-0C9D-A653-2E9FFCBCD703}"/>
          </ac:spMkLst>
        </pc:spChg>
        <pc:spChg chg="mod">
          <ac:chgData name="Avyav Saraf" userId="849e87745219389a" providerId="LiveId" clId="{FB646FD9-826B-4C83-AE0B-A15422314F7B}" dt="2026-06-07T16:23:16.794" v="113" actId="113"/>
          <ac:spMkLst>
            <pc:docMk/>
            <pc:sldMk cId="0" sldId="267"/>
            <ac:spMk id="17" creationId="{F80B30C1-72A3-BA4F-A790-5D4B5F4644AC}"/>
          </ac:spMkLst>
        </pc:spChg>
        <pc:spChg chg="mod">
          <ac:chgData name="Avyav Saraf" userId="849e87745219389a" providerId="LiveId" clId="{FB646FD9-826B-4C83-AE0B-A15422314F7B}" dt="2026-06-07T16:23:16.794" v="113" actId="113"/>
          <ac:spMkLst>
            <pc:docMk/>
            <pc:sldMk cId="0" sldId="267"/>
            <ac:spMk id="18" creationId="{EC1339F5-3606-0691-8EB0-50529533E121}"/>
          </ac:spMkLst>
        </pc:spChg>
        <pc:spChg chg="mod">
          <ac:chgData name="Avyav Saraf" userId="849e87745219389a" providerId="LiveId" clId="{FB646FD9-826B-4C83-AE0B-A15422314F7B}" dt="2026-06-07T16:23:16.794" v="113" actId="113"/>
          <ac:spMkLst>
            <pc:docMk/>
            <pc:sldMk cId="0" sldId="267"/>
            <ac:spMk id="19" creationId="{2ADA797C-74A1-5422-5596-CB465F6CA1DF}"/>
          </ac:spMkLst>
        </pc:spChg>
        <pc:spChg chg="mod">
          <ac:chgData name="Avyav Saraf" userId="849e87745219389a" providerId="LiveId" clId="{FB646FD9-826B-4C83-AE0B-A15422314F7B}" dt="2026-06-07T16:23:16.794" v="113" actId="113"/>
          <ac:spMkLst>
            <pc:docMk/>
            <pc:sldMk cId="0" sldId="267"/>
            <ac:spMk id="21" creationId="{38579B43-EED7-F13C-1868-A7720761D59B}"/>
          </ac:spMkLst>
        </pc:spChg>
        <pc:spChg chg="mod">
          <ac:chgData name="Avyav Saraf" userId="849e87745219389a" providerId="LiveId" clId="{FB646FD9-826B-4C83-AE0B-A15422314F7B}" dt="2026-06-07T16:23:16.794" v="113" actId="113"/>
          <ac:spMkLst>
            <pc:docMk/>
            <pc:sldMk cId="0" sldId="267"/>
            <ac:spMk id="23" creationId="{5B23C251-7D65-421C-28B6-D0EC1381FC3F}"/>
          </ac:spMkLst>
        </pc:spChg>
        <pc:spChg chg="mod">
          <ac:chgData name="Avyav Saraf" userId="849e87745219389a" providerId="LiveId" clId="{FB646FD9-826B-4C83-AE0B-A15422314F7B}" dt="2026-06-07T16:23:16.794" v="113" actId="113"/>
          <ac:spMkLst>
            <pc:docMk/>
            <pc:sldMk cId="0" sldId="267"/>
            <ac:spMk id="25" creationId="{0445A8AE-6876-AC26-5427-0F51BA63CF25}"/>
          </ac:spMkLst>
        </pc:spChg>
        <pc:spChg chg="mod">
          <ac:chgData name="Avyav Saraf" userId="849e87745219389a" providerId="LiveId" clId="{FB646FD9-826B-4C83-AE0B-A15422314F7B}" dt="2026-06-07T16:23:16.794" v="113" actId="113"/>
          <ac:spMkLst>
            <pc:docMk/>
            <pc:sldMk cId="0" sldId="267"/>
            <ac:spMk id="26" creationId="{682BAC65-69FC-ED8F-03C2-EAA71739DCF0}"/>
          </ac:spMkLst>
        </pc:spChg>
        <pc:spChg chg="mod">
          <ac:chgData name="Avyav Saraf" userId="849e87745219389a" providerId="LiveId" clId="{FB646FD9-826B-4C83-AE0B-A15422314F7B}" dt="2026-06-07T16:23:16.794" v="113" actId="113"/>
          <ac:spMkLst>
            <pc:docMk/>
            <pc:sldMk cId="0" sldId="267"/>
            <ac:spMk id="27" creationId="{70281A72-4DFA-2F24-E825-F7EF732C6D97}"/>
          </ac:spMkLst>
        </pc:spChg>
        <pc:spChg chg="mod">
          <ac:chgData name="Avyav Saraf" userId="849e87745219389a" providerId="LiveId" clId="{FB646FD9-826B-4C83-AE0B-A15422314F7B}" dt="2026-06-07T16:23:16.794" v="113" actId="113"/>
          <ac:spMkLst>
            <pc:docMk/>
            <pc:sldMk cId="0" sldId="267"/>
            <ac:spMk id="29" creationId="{E8B01220-609B-6D70-83F4-56AE9037F701}"/>
          </ac:spMkLst>
        </pc:spChg>
        <pc:spChg chg="mod">
          <ac:chgData name="Avyav Saraf" userId="849e87745219389a" providerId="LiveId" clId="{FB646FD9-826B-4C83-AE0B-A15422314F7B}" dt="2026-06-07T16:23:16.794" v="113" actId="113"/>
          <ac:spMkLst>
            <pc:docMk/>
            <pc:sldMk cId="0" sldId="267"/>
            <ac:spMk id="31" creationId="{FA6D1204-D64C-CB66-2F30-23D33DD69079}"/>
          </ac:spMkLst>
        </pc:spChg>
      </pc:sldChg>
      <pc:sldChg chg="del">
        <pc:chgData name="Avyav Saraf" userId="849e87745219389a" providerId="LiveId" clId="{FB646FD9-826B-4C83-AE0B-A15422314F7B}" dt="2026-06-07T16:23:27.523" v="114" actId="47"/>
        <pc:sldMkLst>
          <pc:docMk/>
          <pc:sldMk cId="0" sldId="269"/>
        </pc:sldMkLst>
      </pc:sldChg>
      <pc:sldChg chg="addSp delSp modSp mod">
        <pc:chgData name="Avyav Saraf" userId="849e87745219389a" providerId="LiveId" clId="{FB646FD9-826B-4C83-AE0B-A15422314F7B}" dt="2026-06-07T16:21:06.130" v="93"/>
        <pc:sldMkLst>
          <pc:docMk/>
          <pc:sldMk cId="3106157699" sldId="272"/>
        </pc:sldMkLst>
        <pc:spChg chg="del">
          <ac:chgData name="Avyav Saraf" userId="849e87745219389a" providerId="LiveId" clId="{FB646FD9-826B-4C83-AE0B-A15422314F7B}" dt="2026-06-07T16:21:05.576" v="92" actId="478"/>
          <ac:spMkLst>
            <pc:docMk/>
            <pc:sldMk cId="3106157699" sldId="272"/>
            <ac:spMk id="2" creationId="{C4AFC06F-6E00-5403-DE15-5C8F44CC395D}"/>
          </ac:spMkLst>
        </pc:spChg>
        <pc:spChg chg="add mod">
          <ac:chgData name="Avyav Saraf" userId="849e87745219389a" providerId="LiveId" clId="{FB646FD9-826B-4C83-AE0B-A15422314F7B}" dt="2026-06-07T16:21:06.130" v="93"/>
          <ac:spMkLst>
            <pc:docMk/>
            <pc:sldMk cId="3106157699" sldId="272"/>
            <ac:spMk id="3" creationId="{A2D3EB15-F27F-C83D-FCA5-F6251AB9FE5F}"/>
          </ac:spMkLst>
        </pc:spChg>
      </pc:sldChg>
      <pc:sldChg chg="addSp delSp modSp mod">
        <pc:chgData name="Avyav Saraf" userId="849e87745219389a" providerId="LiveId" clId="{FB646FD9-826B-4C83-AE0B-A15422314F7B}" dt="2026-06-07T16:22:30.014" v="100" actId="1076"/>
        <pc:sldMkLst>
          <pc:docMk/>
          <pc:sldMk cId="2733615713" sldId="273"/>
        </pc:sldMkLst>
        <pc:spChg chg="add mod">
          <ac:chgData name="Avyav Saraf" userId="849e87745219389a" providerId="LiveId" clId="{FB646FD9-826B-4C83-AE0B-A15422314F7B}" dt="2026-06-07T16:22:13.778" v="97"/>
          <ac:spMkLst>
            <pc:docMk/>
            <pc:sldMk cId="2733615713" sldId="273"/>
            <ac:spMk id="2" creationId="{4AB38B9D-D020-373A-1775-BAE59806F25A}"/>
          </ac:spMkLst>
        </pc:spChg>
        <pc:spChg chg="add mod">
          <ac:chgData name="Avyav Saraf" userId="849e87745219389a" providerId="LiveId" clId="{FB646FD9-826B-4C83-AE0B-A15422314F7B}" dt="2026-06-07T16:22:20.794" v="98"/>
          <ac:spMkLst>
            <pc:docMk/>
            <pc:sldMk cId="2733615713" sldId="273"/>
            <ac:spMk id="3" creationId="{4BA08F05-F6C6-CC8E-0904-4C47B26EFE5E}"/>
          </ac:spMkLst>
        </pc:spChg>
        <pc:spChg chg="del">
          <ac:chgData name="Avyav Saraf" userId="849e87745219389a" providerId="LiveId" clId="{FB646FD9-826B-4C83-AE0B-A15422314F7B}" dt="2026-06-07T16:22:13.395" v="96" actId="478"/>
          <ac:spMkLst>
            <pc:docMk/>
            <pc:sldMk cId="2733615713" sldId="273"/>
            <ac:spMk id="5" creationId="{100D38CE-0BD7-DD60-3851-48F260F2DF01}"/>
          </ac:spMkLst>
        </pc:spChg>
        <pc:picChg chg="add mod">
          <ac:chgData name="Avyav Saraf" userId="849e87745219389a" providerId="LiveId" clId="{FB646FD9-826B-4C83-AE0B-A15422314F7B}" dt="2026-06-07T16:22:30.014" v="100" actId="1076"/>
          <ac:picMkLst>
            <pc:docMk/>
            <pc:sldMk cId="2733615713" sldId="273"/>
            <ac:picMk id="7" creationId="{D7D49BBA-8626-2C41-8DD2-9EC19118D79C}"/>
          </ac:picMkLst>
        </pc:picChg>
      </pc:sldChg>
      <pc:sldChg chg="addSp delSp modSp mod">
        <pc:chgData name="Avyav Saraf" userId="849e87745219389a" providerId="LiveId" clId="{FB646FD9-826B-4C83-AE0B-A15422314F7B}" dt="2026-06-07T16:22:57.656" v="108"/>
        <pc:sldMkLst>
          <pc:docMk/>
          <pc:sldMk cId="3394284064" sldId="274"/>
        </pc:sldMkLst>
        <pc:spChg chg="add mod">
          <ac:chgData name="Avyav Saraf" userId="849e87745219389a" providerId="LiveId" clId="{FB646FD9-826B-4C83-AE0B-A15422314F7B}" dt="2026-06-07T16:22:57.656" v="108"/>
          <ac:spMkLst>
            <pc:docMk/>
            <pc:sldMk cId="3394284064" sldId="274"/>
            <ac:spMk id="2" creationId="{CAA6F8E3-D47F-08D3-F9A0-4F3782135222}"/>
          </ac:spMkLst>
        </pc:spChg>
        <pc:spChg chg="del">
          <ac:chgData name="Avyav Saraf" userId="849e87745219389a" providerId="LiveId" clId="{FB646FD9-826B-4C83-AE0B-A15422314F7B}" dt="2026-06-07T16:22:57.241" v="107" actId="478"/>
          <ac:spMkLst>
            <pc:docMk/>
            <pc:sldMk cId="3394284064" sldId="274"/>
            <ac:spMk id="23" creationId="{D29962E1-DDDA-5563-6809-16A93E195E09}"/>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37:15.815"/>
    </inkml:context>
    <inkml:brush xml:id="br0">
      <inkml:brushProperty name="width" value="0.035" units="cm"/>
      <inkml:brushProperty name="height" value="0.035" units="cm"/>
      <inkml:brushProperty name="color" value="#FFFFFF"/>
    </inkml:brush>
  </inkml:definitions>
  <inkml:trace contextRef="#ctx0" brushRef="#br0">299 156 24575,'-83'-7'0,"-4"0"0,68 6 0,-35-7 0,16 2 0,37 7 0,0-1 0,1 0 0,-1 0 0,0 0 0,0 0 0,1 0 0,-1-1 0,0 1 0,1 0 0,-1 0 0,0 0 0,1-1 0,-1 1 0,0 0 0,1 0 0,-1-1 0,0 1 0,1-1 0,-1 1 0,1-1 0,-1 1 0,1-1 0,-1 1 0,1-1 0,-1 1 0,1-1 0,-1 0 0,1 0 0,1 0 0,-1 0 0,0 0 0,1 1 0,-1-1 0,1 0 0,-1 0 0,1 0 0,-1 1 0,1-1 0,-1 0 0,1 1 0,0-1 0,-1 0 0,1 1 0,0-1 0,1 0 0,41-24 0,-40 24 0,29-15 0,0 2 0,1 1 0,0 2 0,56-11 0,-51 19-1365,-26 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37:25.707"/>
    </inkml:context>
    <inkml:brush xml:id="br0">
      <inkml:brushProperty name="width" value="0.35" units="cm"/>
      <inkml:brushProperty name="height" value="0.35" units="cm"/>
      <inkml:brushProperty name="color" value="#FFFFFF"/>
    </inkml:brush>
  </inkml:definitions>
  <inkml:trace contextRef="#ctx0" brushRef="#br0">0 142 24575,'5'-2'0,"-1"-1"0,1 1 0,-1 0 0,1 1 0,0-1 0,0 1 0,-1 0 0,1 0 0,10 0 0,9-3 0,11-5 0,5-2 0,0 1 0,1 2 0,0 2 0,49-1 0,-72 6 0,-1-1 0,1 0 0,29-9 0,8-1 0,-36 7-273,-1 0 0,0-2 0,-1 0 0,21-12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37:25.803"/>
    </inkml:context>
    <inkml:brush xml:id="br0">
      <inkml:brushProperty name="width" value="0.35" units="cm"/>
      <inkml:brushProperty name="height" value="0.35" units="cm"/>
      <inkml:brushProperty name="color" value="#FFFFFF"/>
    </inkml:brush>
  </inkml:definitions>
  <inkml:trace contextRef="#ctx0" brushRef="#br0">1 1 24575,'4'1'0,"0"0"0,1 0 0,-1 0 0,0 1 0,0 0 0,0 0 0,0 0 0,-1 0 0,1 1 0,0-1 0,-1 1 0,6 6 0,22 13 0,-21-18 0,0 0 0,1-1 0,-1 0 0,1-1 0,-1 0 0,20 1 0,69-4 0,-38-2 0,54 3-1365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37:31.460"/>
    </inkml:context>
    <inkml:brush xml:id="br0">
      <inkml:brushProperty name="width" value="0.35" units="cm"/>
      <inkml:brushProperty name="height" value="0.35" units="cm"/>
      <inkml:brushProperty name="color" value="#FFFFFF"/>
    </inkml:brush>
  </inkml:definitions>
  <inkml:trace contextRef="#ctx0" brushRef="#br0">1877 0 24575,'-17'2'0,"0"0"0,1 1 0,-1 0 0,-27 10 0,-21 5 0,18-11 0,-1-2 0,-79-1 0,-450-4 0,564 1 0,0 1 0,-1 0 0,1 1 0,0 1 0,0 0 0,1 0 0,-19 10 0,-8 2 0,25-12 0,0-2 0,0 0 0,0 0 0,0-1 0,0-1 0,0 0 0,-16-3 0,-19 1 0,15 4 0,-64 11 0,65-8 0,0 0 0,-37-1 0,43-4 0,15-1 0,-1 0 0,0 1 0,0 1 0,0 0 0,0 1 0,0 0 0,0 1 0,-22 8 0,25-8-16,1 0-1,-1-1 1,0 0-1,0-1 0,1 0 1,-1 0-1,0-1 1,-16-2-1,-1 1-1199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6805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59202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1958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985480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D65B70DD-B908-3F08-9578-B17A408C6282}"/>
            </a:ext>
          </a:extLst>
        </p:cNvPr>
        <p:cNvGrpSpPr/>
        <p:nvPr/>
      </p:nvGrpSpPr>
      <p:grpSpPr>
        <a:xfrm>
          <a:off x="0" y="0"/>
          <a:ext cx="0" cy="0"/>
          <a:chOff x="0" y="0"/>
          <a:chExt cx="0" cy="0"/>
        </a:xfrm>
      </p:grpSpPr>
      <p:sp>
        <p:nvSpPr>
          <p:cNvPr id="155" name="Google Shape;155;p6:notes">
            <a:extLst>
              <a:ext uri="{FF2B5EF4-FFF2-40B4-BE49-F238E27FC236}">
                <a16:creationId xmlns:a16="http://schemas.microsoft.com/office/drawing/2014/main" id="{8DB6496B-0AD0-288B-9DB5-A001C28C768F}"/>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a:extLst>
              <a:ext uri="{FF2B5EF4-FFF2-40B4-BE49-F238E27FC236}">
                <a16:creationId xmlns:a16="http://schemas.microsoft.com/office/drawing/2014/main" id="{0166D627-2D68-D125-4FBA-D0095FFE9A90}"/>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01196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191832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00174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28255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48138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DA974FAD-ADE1-E6DC-C11F-A8814EB682BD}"/>
            </a:ext>
          </a:extLst>
        </p:cNvPr>
        <p:cNvGrpSpPr/>
        <p:nvPr/>
      </p:nvGrpSpPr>
      <p:grpSpPr>
        <a:xfrm>
          <a:off x="0" y="0"/>
          <a:ext cx="0" cy="0"/>
          <a:chOff x="0" y="0"/>
          <a:chExt cx="0" cy="0"/>
        </a:xfrm>
      </p:grpSpPr>
      <p:sp>
        <p:nvSpPr>
          <p:cNvPr id="187" name="Google Shape;187;p10:notes">
            <a:extLst>
              <a:ext uri="{FF2B5EF4-FFF2-40B4-BE49-F238E27FC236}">
                <a16:creationId xmlns:a16="http://schemas.microsoft.com/office/drawing/2014/main" id="{306FE5E7-31D3-80B0-9CE2-8CCDBFFE8ECA}"/>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a:extLst>
              <a:ext uri="{FF2B5EF4-FFF2-40B4-BE49-F238E27FC236}">
                <a16:creationId xmlns:a16="http://schemas.microsoft.com/office/drawing/2014/main" id="{0EC9EA97-23B3-BAA2-9FAD-D3792D77F005}"/>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147443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52669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extLst>
      <p:ext uri="{BB962C8B-B14F-4D97-AF65-F5344CB8AC3E}">
        <p14:creationId xmlns:p14="http://schemas.microsoft.com/office/powerpoint/2010/main" val="607140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extLst>
      <p:ext uri="{BB962C8B-B14F-4D97-AF65-F5344CB8AC3E}">
        <p14:creationId xmlns:p14="http://schemas.microsoft.com/office/powerpoint/2010/main" val="2008551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87746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txBody>
          <a:bodyPr/>
          <a:lstStyle/>
          <a:p>
            <a:endParaRPr lang="en-US"/>
          </a:p>
        </p:txBody>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30.png"/><Relationship Id="rId12" Type="http://schemas.openxmlformats.org/officeDocument/2006/relationships/customXml" Target="../ink/ink4.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ustomXml" Target="../ink/ink1.xml"/><Relationship Id="rId11" Type="http://schemas.openxmlformats.org/officeDocument/2006/relationships/image" Target="../media/image15.png"/><Relationship Id="rId5" Type="http://schemas.openxmlformats.org/officeDocument/2006/relationships/image" Target="../media/image13.png"/><Relationship Id="rId10" Type="http://schemas.openxmlformats.org/officeDocument/2006/relationships/customXml" Target="../ink/ink3.xml"/><Relationship Id="rId4" Type="http://schemas.openxmlformats.org/officeDocument/2006/relationships/image" Target="../media/image12.png"/><Relationship Id="rId9" Type="http://schemas.openxmlformats.org/officeDocument/2006/relationships/image" Target="../media/image14.png"/><Relationship Id="rId1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wedocs.unep.org/handle/20.500.11822/32316" TargetMode="External"/><Relationship Id="rId3" Type="http://schemas.openxmlformats.org/officeDocument/2006/relationships/hyperlink" Target="https://www.mdpi.com/2078-1547/13/2/41" TargetMode="External"/><Relationship Id="rId7" Type="http://schemas.openxmlformats.org/officeDocument/2006/relationships/hyperlink" Target="https://arxiv.org/abs/1801.07807"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arxiv.org/abs/1908.10791" TargetMode="External"/><Relationship Id="rId5" Type="http://schemas.openxmlformats.org/officeDocument/2006/relationships/hyperlink" Target="https://iucn.org/resources/publication/situation-analysis-roles-and-risks-wildlife-emergence-human-infectious" TargetMode="External"/><Relationship Id="rId4" Type="http://schemas.openxmlformats.org/officeDocument/2006/relationships/hyperlink" Target="https://wwwnc.cdc.gov/eid/article/11/12/04-0789_article"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2800" b="1" dirty="0">
                <a:solidFill>
                  <a:schemeClr val="bg1"/>
                </a:solidFill>
                <a:latin typeface="Bookman Old Style" panose="02050604050505020204" pitchFamily="18" charset="0"/>
              </a:rPr>
              <a:t>WildSentinel: Safeguarding the Human–Wildlife Interface </a:t>
            </a:r>
            <a:endParaRPr sz="2800" b="1" dirty="0">
              <a:solidFill>
                <a:schemeClr val="bg1"/>
              </a:solidFill>
              <a:latin typeface="Bookman Old Style" panose="02050604050505020204" pitchFamily="18" charset="0"/>
            </a:endParaRPr>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dirty="0">
                <a:solidFill>
                  <a:schemeClr val="bg1"/>
                </a:solidFill>
                <a:latin typeface="Bookman Old Style"/>
                <a:sym typeface="Bookman Old Style"/>
              </a:rPr>
              <a:t>Biosafety Standard and Ethics - EL</a:t>
            </a:r>
            <a:endParaRPr dirty="0">
              <a:solidFill>
                <a:schemeClr val="bg1"/>
              </a:solidFill>
            </a:endParaRPr>
          </a:p>
        </p:txBody>
      </p:sp>
      <p:sp>
        <p:nvSpPr>
          <p:cNvPr id="2" name="Google Shape;234;p15">
            <a:extLst>
              <a:ext uri="{FF2B5EF4-FFF2-40B4-BE49-F238E27FC236}">
                <a16:creationId xmlns:a16="http://schemas.microsoft.com/office/drawing/2014/main" id="{A8663FE1-35EB-672B-A606-59D95882E7A0}"/>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2</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A step to save Humanity</a:t>
            </a:r>
            <a:endParaRPr sz="4000" b="1" u="sng" dirty="0">
              <a:solidFill>
                <a:schemeClr val="tx1"/>
              </a:solidFill>
              <a:latin typeface="Bookman Old Style"/>
              <a:ea typeface="Bookman Old Style"/>
              <a:cs typeface="Bookman Old Style"/>
              <a:sym typeface="Bookman Old Style"/>
            </a:endParaRPr>
          </a:p>
        </p:txBody>
      </p:sp>
      <p:sp>
        <p:nvSpPr>
          <p:cNvPr id="4" name="Oval 3">
            <a:extLst>
              <a:ext uri="{FF2B5EF4-FFF2-40B4-BE49-F238E27FC236}">
                <a16:creationId xmlns:a16="http://schemas.microsoft.com/office/drawing/2014/main" id="{DC3C8895-1591-CBA6-A342-6F2DCC8594F5}"/>
              </a:ext>
            </a:extLst>
          </p:cNvPr>
          <p:cNvSpPr/>
          <p:nvPr/>
        </p:nvSpPr>
        <p:spPr>
          <a:xfrm>
            <a:off x="235291" y="1550287"/>
            <a:ext cx="586854" cy="58685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1</a:t>
            </a:r>
            <a:endParaRPr lang="en-US" b="1" dirty="0">
              <a:solidFill>
                <a:schemeClr val="tx1"/>
              </a:solidFill>
            </a:endParaRPr>
          </a:p>
        </p:txBody>
      </p:sp>
      <p:sp>
        <p:nvSpPr>
          <p:cNvPr id="5" name="Oval 4">
            <a:extLst>
              <a:ext uri="{FF2B5EF4-FFF2-40B4-BE49-F238E27FC236}">
                <a16:creationId xmlns:a16="http://schemas.microsoft.com/office/drawing/2014/main" id="{E093D285-1054-6BF9-A72E-F119C4AB05FA}"/>
              </a:ext>
            </a:extLst>
          </p:cNvPr>
          <p:cNvSpPr/>
          <p:nvPr/>
        </p:nvSpPr>
        <p:spPr>
          <a:xfrm>
            <a:off x="235291" y="2569597"/>
            <a:ext cx="586854" cy="58685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2</a:t>
            </a:r>
            <a:endParaRPr lang="en-US" b="1" dirty="0">
              <a:solidFill>
                <a:schemeClr val="tx1"/>
              </a:solidFill>
            </a:endParaRPr>
          </a:p>
        </p:txBody>
      </p:sp>
      <p:sp>
        <p:nvSpPr>
          <p:cNvPr id="6" name="Oval 5">
            <a:extLst>
              <a:ext uri="{FF2B5EF4-FFF2-40B4-BE49-F238E27FC236}">
                <a16:creationId xmlns:a16="http://schemas.microsoft.com/office/drawing/2014/main" id="{9DF663FC-6660-A1CB-1D18-96D939D76210}"/>
              </a:ext>
            </a:extLst>
          </p:cNvPr>
          <p:cNvSpPr/>
          <p:nvPr/>
        </p:nvSpPr>
        <p:spPr>
          <a:xfrm>
            <a:off x="235291" y="3588907"/>
            <a:ext cx="586854" cy="58685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3</a:t>
            </a:r>
            <a:endParaRPr lang="en-US" b="1" dirty="0">
              <a:solidFill>
                <a:schemeClr val="tx1"/>
              </a:solidFill>
            </a:endParaRPr>
          </a:p>
        </p:txBody>
      </p:sp>
      <p:sp>
        <p:nvSpPr>
          <p:cNvPr id="7" name="Oval 6">
            <a:extLst>
              <a:ext uri="{FF2B5EF4-FFF2-40B4-BE49-F238E27FC236}">
                <a16:creationId xmlns:a16="http://schemas.microsoft.com/office/drawing/2014/main" id="{7BE8ACA3-120C-1BA3-4794-9F0D81CAB511}"/>
              </a:ext>
            </a:extLst>
          </p:cNvPr>
          <p:cNvSpPr/>
          <p:nvPr/>
        </p:nvSpPr>
        <p:spPr>
          <a:xfrm>
            <a:off x="235291" y="4752595"/>
            <a:ext cx="586854" cy="58685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4</a:t>
            </a:r>
            <a:endParaRPr lang="en-US" b="1" dirty="0">
              <a:solidFill>
                <a:schemeClr val="tx1"/>
              </a:solidFill>
            </a:endParaRPr>
          </a:p>
        </p:txBody>
      </p:sp>
      <p:sp>
        <p:nvSpPr>
          <p:cNvPr id="8" name="TextBox 7">
            <a:extLst>
              <a:ext uri="{FF2B5EF4-FFF2-40B4-BE49-F238E27FC236}">
                <a16:creationId xmlns:a16="http://schemas.microsoft.com/office/drawing/2014/main" id="{84E6C802-8CE8-2D5F-2EFC-A3D61E70EB2E}"/>
              </a:ext>
            </a:extLst>
          </p:cNvPr>
          <p:cNvSpPr txBox="1"/>
          <p:nvPr/>
        </p:nvSpPr>
        <p:spPr>
          <a:xfrm>
            <a:off x="1117539" y="1550287"/>
            <a:ext cx="8357162" cy="707886"/>
          </a:xfrm>
          <a:prstGeom prst="rect">
            <a:avLst/>
          </a:prstGeom>
          <a:noFill/>
        </p:spPr>
        <p:txBody>
          <a:bodyPr wrap="square" rtlCol="0">
            <a:spAutoFit/>
          </a:bodyPr>
          <a:lstStyle/>
          <a:p>
            <a:r>
              <a:rPr lang="en-US" sz="2000" dirty="0"/>
              <a:t>Zoonotic diseases are increasing worldwide as human expansion, wildlife trade, and habitat loss push people closer to wild animals.</a:t>
            </a:r>
            <a:endParaRPr lang="en-IN" sz="2000" dirty="0"/>
          </a:p>
        </p:txBody>
      </p:sp>
      <p:pic>
        <p:nvPicPr>
          <p:cNvPr id="1028" name="Picture 4" descr="Environmental Metamorphosis and Surging Zoonotic Diseases - Diplomatist">
            <a:extLst>
              <a:ext uri="{FF2B5EF4-FFF2-40B4-BE49-F238E27FC236}">
                <a16:creationId xmlns:a16="http://schemas.microsoft.com/office/drawing/2014/main" id="{FA10F2F1-683C-D760-4D3D-BF1AEC595B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258" t="430" r="20750"/>
          <a:stretch>
            <a:fillRect/>
          </a:stretch>
        </p:blipFill>
        <p:spPr bwMode="auto">
          <a:xfrm>
            <a:off x="8603909" y="1811977"/>
            <a:ext cx="3352800" cy="323404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0CF25DB-F2F6-B601-9AFB-F235B65DA2C1}"/>
              </a:ext>
            </a:extLst>
          </p:cNvPr>
          <p:cNvSpPr txBox="1"/>
          <p:nvPr/>
        </p:nvSpPr>
        <p:spPr>
          <a:xfrm>
            <a:off x="1117538" y="2519863"/>
            <a:ext cx="7595937" cy="707886"/>
          </a:xfrm>
          <a:prstGeom prst="rect">
            <a:avLst/>
          </a:prstGeom>
          <a:noFill/>
        </p:spPr>
        <p:txBody>
          <a:bodyPr wrap="square" rtlCol="0">
            <a:spAutoFit/>
          </a:bodyPr>
          <a:lstStyle/>
          <a:p>
            <a:r>
              <a:rPr lang="en-US" sz="2000" dirty="0"/>
              <a:t>These rapid environmental changes create new pathways for dangerous pathogens to move from animals to humans.</a:t>
            </a:r>
            <a:endParaRPr lang="en-IN" sz="2000" dirty="0"/>
          </a:p>
        </p:txBody>
      </p:sp>
      <p:sp>
        <p:nvSpPr>
          <p:cNvPr id="11" name="TextBox 10">
            <a:extLst>
              <a:ext uri="{FF2B5EF4-FFF2-40B4-BE49-F238E27FC236}">
                <a16:creationId xmlns:a16="http://schemas.microsoft.com/office/drawing/2014/main" id="{71AD5341-8356-A370-8172-3D814459557A}"/>
              </a:ext>
            </a:extLst>
          </p:cNvPr>
          <p:cNvSpPr txBox="1"/>
          <p:nvPr/>
        </p:nvSpPr>
        <p:spPr>
          <a:xfrm>
            <a:off x="1117537" y="3528391"/>
            <a:ext cx="7595937" cy="707886"/>
          </a:xfrm>
          <a:prstGeom prst="rect">
            <a:avLst/>
          </a:prstGeom>
          <a:noFill/>
        </p:spPr>
        <p:txBody>
          <a:bodyPr wrap="square" rtlCol="0">
            <a:spAutoFit/>
          </a:bodyPr>
          <a:lstStyle/>
          <a:p>
            <a:r>
              <a:rPr lang="en-US" sz="2000" dirty="0"/>
              <a:t>Current surveillance systems react only after an outbreak begins, leading to delays in prevention and control.</a:t>
            </a:r>
            <a:endParaRPr lang="en-IN" sz="2000" dirty="0"/>
          </a:p>
        </p:txBody>
      </p:sp>
      <p:sp>
        <p:nvSpPr>
          <p:cNvPr id="12" name="TextBox 11">
            <a:extLst>
              <a:ext uri="{FF2B5EF4-FFF2-40B4-BE49-F238E27FC236}">
                <a16:creationId xmlns:a16="http://schemas.microsoft.com/office/drawing/2014/main" id="{DDE1264D-DE3D-72F0-A25D-1DD0B6B03EF2}"/>
              </a:ext>
            </a:extLst>
          </p:cNvPr>
          <p:cNvSpPr txBox="1"/>
          <p:nvPr/>
        </p:nvSpPr>
        <p:spPr>
          <a:xfrm>
            <a:off x="1117537" y="4752595"/>
            <a:ext cx="7595937" cy="1015663"/>
          </a:xfrm>
          <a:prstGeom prst="rect">
            <a:avLst/>
          </a:prstGeom>
          <a:noFill/>
        </p:spPr>
        <p:txBody>
          <a:bodyPr wrap="square" rtlCol="0">
            <a:spAutoFit/>
          </a:bodyPr>
          <a:lstStyle/>
          <a:p>
            <a:r>
              <a:rPr lang="en-US" sz="2000" dirty="0"/>
              <a:t>WildSentinel aims to predict these risks early by combining ecological, environmental, and trade-based data into one unified model.</a:t>
            </a:r>
            <a:endParaRPr lang="en-IN" sz="2000" dirty="0"/>
          </a:p>
        </p:txBody>
      </p:sp>
      <p:sp>
        <p:nvSpPr>
          <p:cNvPr id="3" name="Google Shape;234;p15">
            <a:extLst>
              <a:ext uri="{FF2B5EF4-FFF2-40B4-BE49-F238E27FC236}">
                <a16:creationId xmlns:a16="http://schemas.microsoft.com/office/drawing/2014/main" id="{308FEFBD-83DC-FA5D-9DE3-081D51BEDAC0}"/>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61" name="Google Shape;161;p6"/>
          <p:cNvSpPr txBox="1"/>
          <p:nvPr/>
        </p:nvSpPr>
        <p:spPr>
          <a:xfrm>
            <a:off x="1710268" y="-16042"/>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Literature Review</a:t>
            </a:r>
            <a:endParaRPr u="sng" dirty="0">
              <a:solidFill>
                <a:schemeClr val="tx1"/>
              </a:solidFill>
            </a:endParaRPr>
          </a:p>
        </p:txBody>
      </p:sp>
      <p:graphicFrame>
        <p:nvGraphicFramePr>
          <p:cNvPr id="4" name="Table 3">
            <a:extLst>
              <a:ext uri="{FF2B5EF4-FFF2-40B4-BE49-F238E27FC236}">
                <a16:creationId xmlns:a16="http://schemas.microsoft.com/office/drawing/2014/main" id="{B45DFFD9-65EB-78F7-9F87-4093316405EC}"/>
              </a:ext>
            </a:extLst>
          </p:cNvPr>
          <p:cNvGraphicFramePr>
            <a:graphicFrameLocks noGrp="1"/>
          </p:cNvGraphicFramePr>
          <p:nvPr>
            <p:extLst>
              <p:ext uri="{D42A27DB-BD31-4B8C-83A1-F6EECF244321}">
                <p14:modId xmlns:p14="http://schemas.microsoft.com/office/powerpoint/2010/main" val="3540552473"/>
              </p:ext>
            </p:extLst>
          </p:nvPr>
        </p:nvGraphicFramePr>
        <p:xfrm>
          <a:off x="174812" y="1014645"/>
          <a:ext cx="11919285" cy="5412507"/>
        </p:xfrm>
        <a:graphic>
          <a:graphicData uri="http://schemas.openxmlformats.org/drawingml/2006/table">
            <a:tbl>
              <a:tblPr/>
              <a:tblGrid>
                <a:gridCol w="2460673">
                  <a:extLst>
                    <a:ext uri="{9D8B030D-6E8A-4147-A177-3AD203B41FA5}">
                      <a16:colId xmlns:a16="http://schemas.microsoft.com/office/drawing/2014/main" val="3585736765"/>
                    </a:ext>
                  </a:extLst>
                </a:gridCol>
                <a:gridCol w="2071843">
                  <a:extLst>
                    <a:ext uri="{9D8B030D-6E8A-4147-A177-3AD203B41FA5}">
                      <a16:colId xmlns:a16="http://schemas.microsoft.com/office/drawing/2014/main" val="4086179629"/>
                    </a:ext>
                  </a:extLst>
                </a:gridCol>
                <a:gridCol w="6678475">
                  <a:extLst>
                    <a:ext uri="{9D8B030D-6E8A-4147-A177-3AD203B41FA5}">
                      <a16:colId xmlns:a16="http://schemas.microsoft.com/office/drawing/2014/main" val="1242679352"/>
                    </a:ext>
                  </a:extLst>
                </a:gridCol>
                <a:gridCol w="708294">
                  <a:extLst>
                    <a:ext uri="{9D8B030D-6E8A-4147-A177-3AD203B41FA5}">
                      <a16:colId xmlns:a16="http://schemas.microsoft.com/office/drawing/2014/main" val="2147348139"/>
                    </a:ext>
                  </a:extLst>
                </a:gridCol>
              </a:tblGrid>
              <a:tr h="657627">
                <a:tc>
                  <a:txBody>
                    <a:bodyPr/>
                    <a:lstStyle/>
                    <a:p>
                      <a:r>
                        <a:rPr lang="en-IN" b="1" dirty="0"/>
                        <a:t>Name of the Research paper</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IN" b="1" dirty="0"/>
                        <a:t>Name of the contributors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r>
                        <a:rPr lang="en-IN" sz="2800" b="1" dirty="0"/>
                        <a:t>Key Learnings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IN" b="1" dirty="0"/>
                        <a:t>Year</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1926988"/>
                  </a:ext>
                </a:extLst>
              </a:tr>
              <a:tr h="1533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Zoonotic Spillover in an Era of Rapid Deforestation &amp; Wildlife Trafficking</a:t>
                      </a:r>
                      <a:endParaRPr lang="en-US" sz="1800" b="0" i="0" kern="1200" dirty="0">
                        <a:solidFill>
                          <a:schemeClr val="tx1"/>
                        </a:solidFill>
                        <a:effectLst/>
                        <a:latin typeface="+mn-lt"/>
                        <a:ea typeface="+mn-ea"/>
                        <a:cs typeface="+mn-cs"/>
                      </a:endParaRPr>
                    </a:p>
                    <a:p>
                      <a:endParaRPr lang="en-IN" sz="1400" dirty="0">
                        <a:ln w="0"/>
                        <a:effectLst>
                          <a:outerShdw blurRad="38100" dist="19050" dir="2700000" algn="tl" rotWithShape="0">
                            <a:schemeClr val="dk1">
                              <a:alpha val="40000"/>
                            </a:schemeClr>
                          </a:outerShdw>
                        </a:effectLst>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O. </a:t>
                      </a:r>
                      <a:r>
                        <a:rPr lang="en-IN" sz="1800" dirty="0" err="1"/>
                        <a:t>Bajinka</a:t>
                      </a:r>
                      <a:r>
                        <a:rPr lang="en-IN" sz="1800" dirty="0"/>
                        <a:t>, H.J. Oladipo</a:t>
                      </a:r>
                      <a:endParaRPr lang="en-IN" sz="180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Bajinka</a:t>
                      </a:r>
                      <a:r>
                        <a:rPr lang="en-US" dirty="0"/>
                        <a:t> and Oladipo expand on the ecological drivers of spillover by demonstrating how rapid deforestation and growing wildlife trafficking networks jointly break down natural biological barriers. Their study emphasizes that human-driven habitat destruction directly increases opportunities for pathogen exchange, especially when displaced wildlife is pushed into human activity </a:t>
                      </a:r>
                      <a:r>
                        <a:rPr lang="en-US" dirty="0" err="1"/>
                        <a:t>centres</a:t>
                      </a:r>
                      <a:r>
                        <a:rPr lang="en-US" dirty="0"/>
                        <a:t>. This supports </a:t>
                      </a:r>
                      <a:r>
                        <a:rPr lang="en-US" dirty="0" err="1"/>
                        <a:t>WildSentinel’s</a:t>
                      </a:r>
                      <a:r>
                        <a:rPr lang="en-US" dirty="0"/>
                        <a:t> integration of both land-use and wildlife movement/trade patterns to capture how ecological disruption amplifies risk.</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2022</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927491"/>
                  </a:ext>
                </a:extLst>
              </a:tr>
              <a:tr h="15031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t>Bushmeat Hunting, Deforestation, and Prediction of Zoonotic Disease</a:t>
                      </a:r>
                      <a:endParaRPr lang="en-US" sz="1800" b="0" i="0" kern="1200" dirty="0">
                        <a:solidFill>
                          <a:schemeClr val="tx1"/>
                        </a:solidFill>
                        <a:effectLst/>
                        <a:latin typeface="+mn-lt"/>
                        <a:ea typeface="+mn-ea"/>
                        <a:cs typeface="+mn-cs"/>
                      </a:endParaRPr>
                    </a:p>
                    <a:p>
                      <a:endParaRPr lang="en-US" sz="1600" b="0" kern="1200" dirty="0">
                        <a:solidFill>
                          <a:schemeClr val="tx1"/>
                        </a:solidFill>
                        <a:effectLst/>
                        <a:latin typeface="+mn-lt"/>
                        <a:ea typeface="+mn-ea"/>
                        <a:cs typeface="+mn-cs"/>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r>
                        <a:rPr lang="en-IN" dirty="0"/>
                        <a:t>N.D. Wolfe, P. </a:t>
                      </a:r>
                      <a:r>
                        <a:rPr lang="en-IN" dirty="0" err="1"/>
                        <a:t>Daszak</a:t>
                      </a:r>
                      <a:r>
                        <a:rPr lang="en-IN" dirty="0"/>
                        <a:t>, A.M. Kilpatrick, D.S. Burke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This study reveals how practices like bushmeat hunting combine with forest loss to create extremely high-risk spillover environments. It shows that when wildlife is directly exploited for meat, the human–animal interface becomes intense, frequent, and unpredictable, making pathogen transmission easier. The paper stresses that early prediction models must use environmental indicators such as forest loss and human proximity—both of which are central to </a:t>
                      </a:r>
                      <a:r>
                        <a:rPr lang="en-US" dirty="0" err="1"/>
                        <a:t>WildSentinel’s</a:t>
                      </a:r>
                      <a:r>
                        <a:rPr lang="en-US" dirty="0"/>
                        <a:t> feature engineering pipeline.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2005</a:t>
                      </a:r>
                    </a:p>
                    <a:p>
                      <a:endParaRPr lang="en-IN"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2834746"/>
                  </a:ext>
                </a:extLst>
              </a:tr>
              <a:tr h="820741">
                <a:tc>
                  <a:txBody>
                    <a:bodyPr/>
                    <a:lstStyle/>
                    <a:p>
                      <a:r>
                        <a:rPr lang="en-US" sz="1600" dirty="0"/>
                        <a:t>Analysis: Roles &amp; Risks of Wildlife in Human Infectious Diseases</a:t>
                      </a:r>
                      <a:endParaRPr lang="en-IN" sz="1600" dirty="0">
                        <a:effectLst/>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 Kock, H. Caceres-Escobar</a:t>
                      </a:r>
                      <a:endParaRPr lang="en-IN"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The IUCN report provides detailed evidence that wildlife in degraded or disturbed ecosystems becomes a much stronger carrier of infectious pathogens. When habitats collapse, species that thrive in disturbed ecosystems (bats, rodents, primates) expand into human zones, increasing contact rates. The study also highlights the importance of biodiversity patterns in identifying high-risk spillover zones, justifying </a:t>
                      </a:r>
                      <a:r>
                        <a:rPr lang="en-US" dirty="0" err="1"/>
                        <a:t>WildSentinel’s</a:t>
                      </a:r>
                      <a:r>
                        <a:rPr lang="en-US" dirty="0"/>
                        <a:t> use of species richness, host density, and distribution layers.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2013</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6758711"/>
                  </a:ext>
                </a:extLst>
              </a:tr>
            </a:tbl>
          </a:graphicData>
        </a:graphic>
      </p:graphicFrame>
      <p:sp>
        <p:nvSpPr>
          <p:cNvPr id="3" name="Google Shape;234;p15">
            <a:extLst>
              <a:ext uri="{FF2B5EF4-FFF2-40B4-BE49-F238E27FC236}">
                <a16:creationId xmlns:a16="http://schemas.microsoft.com/office/drawing/2014/main" id="{9EDE75EB-C6EF-7ACE-4153-B23D76D08776}"/>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7921301B-90EA-780D-5C2B-2A2726910877}"/>
            </a:ext>
          </a:extLst>
        </p:cNvPr>
        <p:cNvGrpSpPr/>
        <p:nvPr/>
      </p:nvGrpSpPr>
      <p:grpSpPr>
        <a:xfrm>
          <a:off x="0" y="0"/>
          <a:ext cx="0" cy="0"/>
          <a:chOff x="0" y="0"/>
          <a:chExt cx="0" cy="0"/>
        </a:xfrm>
      </p:grpSpPr>
      <p:sp>
        <p:nvSpPr>
          <p:cNvPr id="160" name="Google Shape;160;p6">
            <a:extLst>
              <a:ext uri="{FF2B5EF4-FFF2-40B4-BE49-F238E27FC236}">
                <a16:creationId xmlns:a16="http://schemas.microsoft.com/office/drawing/2014/main" id="{C953E5FA-B17F-7927-66B5-9DC3CA3D2555}"/>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161" name="Google Shape;161;p6">
            <a:extLst>
              <a:ext uri="{FF2B5EF4-FFF2-40B4-BE49-F238E27FC236}">
                <a16:creationId xmlns:a16="http://schemas.microsoft.com/office/drawing/2014/main" id="{C96AA78B-E89A-D687-7EC4-BC312AEBDF25}"/>
              </a:ext>
            </a:extLst>
          </p:cNvPr>
          <p:cNvSpPr txBox="1"/>
          <p:nvPr/>
        </p:nvSpPr>
        <p:spPr>
          <a:xfrm>
            <a:off x="1710268" y="-16042"/>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Literature Review</a:t>
            </a:r>
            <a:endParaRPr u="sng" dirty="0">
              <a:solidFill>
                <a:schemeClr val="tx1"/>
              </a:solidFill>
            </a:endParaRPr>
          </a:p>
        </p:txBody>
      </p:sp>
      <p:graphicFrame>
        <p:nvGraphicFramePr>
          <p:cNvPr id="4" name="Table 3">
            <a:extLst>
              <a:ext uri="{FF2B5EF4-FFF2-40B4-BE49-F238E27FC236}">
                <a16:creationId xmlns:a16="http://schemas.microsoft.com/office/drawing/2014/main" id="{161EE596-4766-1C20-EA34-DBFF3EDD7FED}"/>
              </a:ext>
            </a:extLst>
          </p:cNvPr>
          <p:cNvGraphicFramePr>
            <a:graphicFrameLocks noGrp="1"/>
          </p:cNvGraphicFramePr>
          <p:nvPr>
            <p:extLst>
              <p:ext uri="{D42A27DB-BD31-4B8C-83A1-F6EECF244321}">
                <p14:modId xmlns:p14="http://schemas.microsoft.com/office/powerpoint/2010/main" val="79078507"/>
              </p:ext>
            </p:extLst>
          </p:nvPr>
        </p:nvGraphicFramePr>
        <p:xfrm>
          <a:off x="174812" y="1032933"/>
          <a:ext cx="11919285" cy="5199147"/>
        </p:xfrm>
        <a:graphic>
          <a:graphicData uri="http://schemas.openxmlformats.org/drawingml/2006/table">
            <a:tbl>
              <a:tblPr/>
              <a:tblGrid>
                <a:gridCol w="2460673">
                  <a:extLst>
                    <a:ext uri="{9D8B030D-6E8A-4147-A177-3AD203B41FA5}">
                      <a16:colId xmlns:a16="http://schemas.microsoft.com/office/drawing/2014/main" val="3585736765"/>
                    </a:ext>
                  </a:extLst>
                </a:gridCol>
                <a:gridCol w="2071843">
                  <a:extLst>
                    <a:ext uri="{9D8B030D-6E8A-4147-A177-3AD203B41FA5}">
                      <a16:colId xmlns:a16="http://schemas.microsoft.com/office/drawing/2014/main" val="4086179629"/>
                    </a:ext>
                  </a:extLst>
                </a:gridCol>
                <a:gridCol w="6678475">
                  <a:extLst>
                    <a:ext uri="{9D8B030D-6E8A-4147-A177-3AD203B41FA5}">
                      <a16:colId xmlns:a16="http://schemas.microsoft.com/office/drawing/2014/main" val="1242679352"/>
                    </a:ext>
                  </a:extLst>
                </a:gridCol>
                <a:gridCol w="708294">
                  <a:extLst>
                    <a:ext uri="{9D8B030D-6E8A-4147-A177-3AD203B41FA5}">
                      <a16:colId xmlns:a16="http://schemas.microsoft.com/office/drawing/2014/main" val="2147348139"/>
                    </a:ext>
                  </a:extLst>
                </a:gridCol>
              </a:tblGrid>
              <a:tr h="657627">
                <a:tc>
                  <a:txBody>
                    <a:bodyPr/>
                    <a:lstStyle/>
                    <a:p>
                      <a:r>
                        <a:rPr lang="en-IN" b="1" dirty="0"/>
                        <a:t>Name of the Research paper</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IN" b="1" dirty="0"/>
                        <a:t>Name of the contributors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r>
                        <a:rPr lang="en-IN" sz="2800" b="1" dirty="0"/>
                        <a:t>Key Learnings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IN" b="1" dirty="0"/>
                        <a:t>Year</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1926988"/>
                  </a:ext>
                </a:extLst>
              </a:tr>
              <a:tr h="1533903">
                <a:tc>
                  <a:txBody>
                    <a:bodyPr/>
                    <a:lstStyle/>
                    <a:p>
                      <a:r>
                        <a:rPr lang="en-US" dirty="0"/>
                        <a:t>Drivers and Consequences of Viral Zoonoses</a:t>
                      </a:r>
                      <a:endParaRPr lang="en-IN" sz="1400" dirty="0">
                        <a:ln w="0"/>
                        <a:effectLst>
                          <a:outerShdw blurRad="38100" dist="19050" dir="2700000" algn="tl" rotWithShape="0">
                            <a:schemeClr val="dk1">
                              <a:alpha val="40000"/>
                            </a:schemeClr>
                          </a:outerShdw>
                        </a:effectLst>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A. Banik, S. Basu</a:t>
                      </a:r>
                      <a:r>
                        <a:rPr lang="en-IN" sz="1800" b="0" cap="none" spc="0" dirty="0">
                          <a:ln w="0"/>
                          <a:effectLst/>
                        </a:rPr>
                        <a:t> </a:t>
                      </a:r>
                      <a:endParaRPr lang="en-IN"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Banik and Basu emphasize that zoonotic emergence is not solely ecological—it is heavily influenced by socio-economic </a:t>
                      </a:r>
                      <a:r>
                        <a:rPr lang="en-US" dirty="0" err="1"/>
                        <a:t>behaviour</a:t>
                      </a:r>
                      <a:r>
                        <a:rPr lang="en-US" dirty="0"/>
                        <a:t>, market demand, illegal wildlife trade, and poor biosafety practices. Their analysis shows that outbreaks emerge at the intersection of environmental degradation, human pressure, and wildlife exploitation. This directly supports </a:t>
                      </a:r>
                      <a:r>
                        <a:rPr lang="en-US" dirty="0" err="1"/>
                        <a:t>WildSentinel’s</a:t>
                      </a:r>
                      <a:r>
                        <a:rPr lang="en-US" dirty="0"/>
                        <a:t> multi-factor modelling approach, combining ecological, environmental, trade, and biosafety parameters to produce realistic spillover predictions.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2025</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927491"/>
                  </a:ext>
                </a:extLst>
              </a:tr>
              <a:tr h="1503149">
                <a:tc>
                  <a:txBody>
                    <a:bodyPr/>
                    <a:lstStyle/>
                    <a:p>
                      <a:r>
                        <a:rPr lang="en-US" sz="1600" dirty="0"/>
                        <a:t>A Game Theoretic Treatment of Contagion in Trade Networks</a:t>
                      </a:r>
                      <a:endParaRPr lang="en-US" sz="1600" b="0" kern="1200" dirty="0">
                        <a:solidFill>
                          <a:schemeClr val="tx1"/>
                        </a:solidFill>
                        <a:effectLst/>
                        <a:latin typeface="+mn-lt"/>
                        <a:ea typeface="+mn-ea"/>
                        <a:cs typeface="+mn-cs"/>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McAlister, Brunner, Galvin, Fefferman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This study shows that the structure of trade networks—including the relationships between markets, intermediaries, and distribution hubs—plays a major role in how contagion spreads across regions. Their game-theoretic modelling demonstrates that markets with high connectivity act as amplifiers of disease flow. This insight aligns with </a:t>
                      </a:r>
                      <a:r>
                        <a:rPr lang="en-US" dirty="0" err="1"/>
                        <a:t>WildSentinel’s</a:t>
                      </a:r>
                      <a:r>
                        <a:rPr lang="en-US" dirty="0"/>
                        <a:t> use of wildlife-trade pathways and network-inspired feature engineering, where trade volume and movement patterns significantly influence spillover probability.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2025</a:t>
                      </a:r>
                    </a:p>
                    <a:p>
                      <a:endParaRPr lang="en-IN"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2834746"/>
                  </a:ext>
                </a:extLst>
              </a:tr>
              <a:tr h="820741">
                <a:tc>
                  <a:txBody>
                    <a:bodyPr/>
                    <a:lstStyle/>
                    <a:p>
                      <a:r>
                        <a:rPr lang="en-US" sz="1600" dirty="0"/>
                        <a:t>Mathematically Modeling Spillover Dynamics of Emerging Zoonoses</a:t>
                      </a:r>
                      <a:endParaRPr lang="en-IN" sz="1600" dirty="0">
                        <a:effectLst/>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800" dirty="0"/>
                        <a:t>K.P. Royce, F. Fu</a:t>
                      </a:r>
                      <a:r>
                        <a:rPr lang="en-IN" sz="1800" dirty="0">
                          <a:ln w="0"/>
                          <a:effectLst/>
                        </a:rPr>
                        <a:t> </a:t>
                      </a:r>
                      <a:endParaRPr lang="en-IN"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Royce and Fu build mathematical models that map how pathogens move between wildlife, intermediate hosts, and humans. They show that spillover events are shaped by multi-host interactions and ecological overlaps. Their work highlights the importance of modelling indirect transmission routes—not just direct human–wildlife contact. WildSentinel adopts this perspective through multidimensional features, accounting for habitat, species density, and anthropogenic pressure.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2019</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6758711"/>
                  </a:ext>
                </a:extLst>
              </a:tr>
            </a:tbl>
          </a:graphicData>
        </a:graphic>
      </p:graphicFrame>
      <p:sp>
        <p:nvSpPr>
          <p:cNvPr id="3" name="Google Shape;234;p15">
            <a:extLst>
              <a:ext uri="{FF2B5EF4-FFF2-40B4-BE49-F238E27FC236}">
                <a16:creationId xmlns:a16="http://schemas.microsoft.com/office/drawing/2014/main" id="{A2D3EB15-F27F-C83D-FCA5-F6251AB9FE5F}"/>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extLst>
      <p:ext uri="{BB962C8B-B14F-4D97-AF65-F5344CB8AC3E}">
        <p14:creationId xmlns:p14="http://schemas.microsoft.com/office/powerpoint/2010/main" val="3106157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9" name="Google Shape;169;p7"/>
          <p:cNvSpPr txBox="1"/>
          <p:nvPr/>
        </p:nvSpPr>
        <p:spPr>
          <a:xfrm>
            <a:off x="982133"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u="sng" dirty="0">
                <a:solidFill>
                  <a:schemeClr val="tx1"/>
                </a:solidFill>
                <a:latin typeface="Bookman Old Style"/>
                <a:ea typeface="Bookman Old Style"/>
                <a:cs typeface="Bookman Old Style"/>
                <a:sym typeface="Bookman Old Style"/>
              </a:rPr>
              <a:t>Problems</a:t>
            </a:r>
            <a:endParaRPr sz="3600" b="1" u="sng" dirty="0">
              <a:solidFill>
                <a:schemeClr val="tx1"/>
              </a:solidFill>
              <a:latin typeface="Bookman Old Style"/>
              <a:ea typeface="Bookman Old Style"/>
              <a:cs typeface="Bookman Old Style"/>
              <a:sym typeface="Bookman Old Style"/>
            </a:endParaRPr>
          </a:p>
        </p:txBody>
      </p:sp>
      <p:pic>
        <p:nvPicPr>
          <p:cNvPr id="1026" name="Picture 2" descr="What is deforestation, what are its causes or objectives and consequences?  - SGK-Planet">
            <a:extLst>
              <a:ext uri="{FF2B5EF4-FFF2-40B4-BE49-F238E27FC236}">
                <a16:creationId xmlns:a16="http://schemas.microsoft.com/office/drawing/2014/main" id="{40549921-2C2C-C47F-7875-D787B97D37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193"/>
          <a:stretch>
            <a:fillRect/>
          </a:stretch>
        </p:blipFill>
        <p:spPr bwMode="auto">
          <a:xfrm>
            <a:off x="1169641" y="994015"/>
            <a:ext cx="3135656" cy="18506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8" name="Picture 4" descr="How AI Can Help Combat Illegal Wildlife Trade | Earth.Org">
            <a:extLst>
              <a:ext uri="{FF2B5EF4-FFF2-40B4-BE49-F238E27FC236}">
                <a16:creationId xmlns:a16="http://schemas.microsoft.com/office/drawing/2014/main" id="{CC84974C-154B-3E1A-57A7-2BE2F900BF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7791" y="911705"/>
            <a:ext cx="2774568" cy="18506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30" name="Picture 6" descr="Data-driven Design">
            <a:extLst>
              <a:ext uri="{FF2B5EF4-FFF2-40B4-BE49-F238E27FC236}">
                <a16:creationId xmlns:a16="http://schemas.microsoft.com/office/drawing/2014/main" id="{34E34733-0DB3-609E-6E07-A7B0D65790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7767" y="3764076"/>
            <a:ext cx="3246842" cy="18431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extBox 1">
            <a:extLst>
              <a:ext uri="{FF2B5EF4-FFF2-40B4-BE49-F238E27FC236}">
                <a16:creationId xmlns:a16="http://schemas.microsoft.com/office/drawing/2014/main" id="{A47109DA-1277-BA74-F753-CD9DF1273E01}"/>
              </a:ext>
            </a:extLst>
          </p:cNvPr>
          <p:cNvSpPr txBox="1"/>
          <p:nvPr/>
        </p:nvSpPr>
        <p:spPr>
          <a:xfrm>
            <a:off x="285001" y="2917345"/>
            <a:ext cx="5643717" cy="954107"/>
          </a:xfrm>
          <a:prstGeom prst="rect">
            <a:avLst/>
          </a:prstGeom>
          <a:noFill/>
        </p:spPr>
        <p:txBody>
          <a:bodyPr wrap="square" rtlCol="0">
            <a:spAutoFit/>
          </a:bodyPr>
          <a:lstStyle/>
          <a:p>
            <a:r>
              <a:rPr lang="en-US" dirty="0"/>
              <a:t>Increased Human–Wildlife Interaction Due to Rapid deforestation,</a:t>
            </a:r>
          </a:p>
          <a:p>
            <a:r>
              <a:rPr lang="en-US" dirty="0"/>
              <a:t>and urban expansion are pushing humans and wildlife into closer contact. This breaks natural ecological barriers and significantly elevates the risk of zoonotic spillover events.</a:t>
            </a:r>
            <a:endParaRPr lang="en-IN" dirty="0"/>
          </a:p>
        </p:txBody>
      </p:sp>
      <p:sp>
        <p:nvSpPr>
          <p:cNvPr id="4" name="TextBox 3">
            <a:extLst>
              <a:ext uri="{FF2B5EF4-FFF2-40B4-BE49-F238E27FC236}">
                <a16:creationId xmlns:a16="http://schemas.microsoft.com/office/drawing/2014/main" id="{94A4A6A1-4D51-1E81-4D8E-09C38A979E22}"/>
              </a:ext>
            </a:extLst>
          </p:cNvPr>
          <p:cNvSpPr txBox="1"/>
          <p:nvPr/>
        </p:nvSpPr>
        <p:spPr>
          <a:xfrm>
            <a:off x="5921188" y="2886982"/>
            <a:ext cx="6096000" cy="1169551"/>
          </a:xfrm>
          <a:prstGeom prst="rect">
            <a:avLst/>
          </a:prstGeom>
          <a:noFill/>
        </p:spPr>
        <p:txBody>
          <a:bodyPr wrap="square">
            <a:spAutoFit/>
          </a:bodyPr>
          <a:lstStyle/>
          <a:p>
            <a:r>
              <a:rPr lang="en-US" dirty="0"/>
              <a:t>Increased wildlife trade creates high-risk environments, such as live animal markets and long transport routes, where pathogens can easily jump between species. The absence of strict controls allows these trade networks to become major drivers of emerging diseases.</a:t>
            </a:r>
          </a:p>
          <a:p>
            <a:pPr>
              <a:buNone/>
            </a:pPr>
            <a:endParaRPr lang="en-US" dirty="0"/>
          </a:p>
        </p:txBody>
      </p:sp>
      <p:sp>
        <p:nvSpPr>
          <p:cNvPr id="5" name="TextBox 4">
            <a:extLst>
              <a:ext uri="{FF2B5EF4-FFF2-40B4-BE49-F238E27FC236}">
                <a16:creationId xmlns:a16="http://schemas.microsoft.com/office/drawing/2014/main" id="{F5253C8B-BC40-34C5-5FCE-C521DDCFA6D7}"/>
              </a:ext>
            </a:extLst>
          </p:cNvPr>
          <p:cNvSpPr txBox="1"/>
          <p:nvPr/>
        </p:nvSpPr>
        <p:spPr>
          <a:xfrm>
            <a:off x="1083717" y="5576963"/>
            <a:ext cx="9674942" cy="738664"/>
          </a:xfrm>
          <a:prstGeom prst="rect">
            <a:avLst/>
          </a:prstGeom>
          <a:noFill/>
        </p:spPr>
        <p:txBody>
          <a:bodyPr wrap="square">
            <a:spAutoFit/>
          </a:bodyPr>
          <a:lstStyle/>
          <a:p>
            <a:r>
              <a:rPr lang="en-US" dirty="0"/>
              <a:t>Most existing bio surveillance systems are reactive, focusing on outbreaks only after they occur. There is no unified predictive framework that integrates ecological, environmental, and trade-based data to forecast spillover risk, leaving policymakers without timely, actionable intelligence.</a:t>
            </a:r>
          </a:p>
        </p:txBody>
      </p:sp>
      <p:sp>
        <p:nvSpPr>
          <p:cNvPr id="3" name="Google Shape;234;p15">
            <a:extLst>
              <a:ext uri="{FF2B5EF4-FFF2-40B4-BE49-F238E27FC236}">
                <a16:creationId xmlns:a16="http://schemas.microsoft.com/office/drawing/2014/main" id="{6A07B499-C177-8FBF-0B94-E4B6F9D6C3B7}"/>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681D3F-BFD1-1FBD-6BBD-89C39EC887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
        <p:nvSpPr>
          <p:cNvPr id="8" name="TextBox 7">
            <a:extLst>
              <a:ext uri="{FF2B5EF4-FFF2-40B4-BE49-F238E27FC236}">
                <a16:creationId xmlns:a16="http://schemas.microsoft.com/office/drawing/2014/main" id="{807AC428-2F24-9DA8-9BE6-A2FD94F2B39D}"/>
              </a:ext>
            </a:extLst>
          </p:cNvPr>
          <p:cNvSpPr txBox="1"/>
          <p:nvPr/>
        </p:nvSpPr>
        <p:spPr>
          <a:xfrm>
            <a:off x="2995026" y="136524"/>
            <a:ext cx="7196558" cy="523220"/>
          </a:xfrm>
          <a:prstGeom prst="rect">
            <a:avLst/>
          </a:prstGeom>
          <a:noFill/>
        </p:spPr>
        <p:txBody>
          <a:bodyPr wrap="square">
            <a:spAutoFit/>
          </a:bodyPr>
          <a:lstStyle/>
          <a:p>
            <a:pPr algn="ctr"/>
            <a:r>
              <a:rPr lang="en-US" sz="2800" b="0" u="sng" cap="none" spc="0" dirty="0">
                <a:ln w="0"/>
                <a:solidFill>
                  <a:schemeClr val="tx1"/>
                </a:solidFill>
                <a:effectLst>
                  <a:outerShdw blurRad="38100" dist="19050" dir="2700000" algn="tl" rotWithShape="0">
                    <a:schemeClr val="dk1">
                      <a:alpha val="40000"/>
                    </a:schemeClr>
                  </a:outerShdw>
                </a:effectLst>
                <a:latin typeface="Elephant" panose="02020904090505020303" pitchFamily="18" charset="0"/>
              </a:rPr>
              <a:t>Significance of addressing the problem</a:t>
            </a:r>
          </a:p>
        </p:txBody>
      </p:sp>
      <p:sp>
        <p:nvSpPr>
          <p:cNvPr id="9" name="Rectangle 8">
            <a:extLst>
              <a:ext uri="{FF2B5EF4-FFF2-40B4-BE49-F238E27FC236}">
                <a16:creationId xmlns:a16="http://schemas.microsoft.com/office/drawing/2014/main" id="{D09FA72D-2DB1-E909-2E05-07C0C61FEA3D}"/>
              </a:ext>
            </a:extLst>
          </p:cNvPr>
          <p:cNvSpPr/>
          <p:nvPr/>
        </p:nvSpPr>
        <p:spPr>
          <a:xfrm>
            <a:off x="663635" y="753284"/>
            <a:ext cx="10864729" cy="1015663"/>
          </a:xfrm>
          <a:prstGeom prst="rect">
            <a:avLst/>
          </a:prstGeom>
          <a:noFill/>
        </p:spPr>
        <p:txBody>
          <a:bodyPr wrap="square" lIns="91440" tIns="45720" rIns="91440" bIns="45720">
            <a:spAutoFit/>
          </a:bodyPr>
          <a:lstStyle/>
          <a:p>
            <a:pPr algn="ctr"/>
            <a:r>
              <a:rPr lang="en-US" sz="2000" dirty="0"/>
              <a:t>The disturbances at the human–wildlife interface are emerging as a major global concern, creating serious threats not only to wildlife populations but also to human health and the stability of entire ecosystems.</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957970D1-3A1E-287D-7167-B3284BDF1ACB}"/>
              </a:ext>
            </a:extLst>
          </p:cNvPr>
          <p:cNvSpPr/>
          <p:nvPr/>
        </p:nvSpPr>
        <p:spPr>
          <a:xfrm>
            <a:off x="11821044" y="6547325"/>
            <a:ext cx="280847"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6</a:t>
            </a:r>
            <a:endParaRPr lang="en-US" sz="1400" b="0" cap="none" spc="0" dirty="0">
              <a:ln w="0"/>
              <a:solidFill>
                <a:schemeClr val="tx1"/>
              </a:solidFill>
              <a:effectLst>
                <a:outerShdw blurRad="38100" dist="19050" dir="2700000" algn="tl" rotWithShape="0">
                  <a:schemeClr val="dk1">
                    <a:alpha val="40000"/>
                  </a:schemeClr>
                </a:outerShdw>
              </a:effectLst>
            </a:endParaRPr>
          </a:p>
        </p:txBody>
      </p:sp>
      <p:grpSp>
        <p:nvGrpSpPr>
          <p:cNvPr id="12" name="Group 11">
            <a:extLst>
              <a:ext uri="{FF2B5EF4-FFF2-40B4-BE49-F238E27FC236}">
                <a16:creationId xmlns:a16="http://schemas.microsoft.com/office/drawing/2014/main" id="{1E6DC2F1-B745-4484-9499-48A8BFAC98D2}"/>
              </a:ext>
            </a:extLst>
          </p:cNvPr>
          <p:cNvGrpSpPr/>
          <p:nvPr/>
        </p:nvGrpSpPr>
        <p:grpSpPr>
          <a:xfrm>
            <a:off x="605125" y="1778954"/>
            <a:ext cx="2034994" cy="2034994"/>
            <a:chOff x="463460" y="2070160"/>
            <a:chExt cx="2034994" cy="2034994"/>
          </a:xfrm>
        </p:grpSpPr>
        <p:sp>
          <p:nvSpPr>
            <p:cNvPr id="13" name="Oval 12">
              <a:extLst>
                <a:ext uri="{FF2B5EF4-FFF2-40B4-BE49-F238E27FC236}">
                  <a16:creationId xmlns:a16="http://schemas.microsoft.com/office/drawing/2014/main" id="{42E18B7B-9594-745B-D6CD-ED4C4F707494}"/>
                </a:ext>
              </a:extLst>
            </p:cNvPr>
            <p:cNvSpPr/>
            <p:nvPr/>
          </p:nvSpPr>
          <p:spPr>
            <a:xfrm>
              <a:off x="463460" y="2070160"/>
              <a:ext cx="2034994" cy="2034994"/>
            </a:xfrm>
            <a:prstGeom prst="ellipse">
              <a:avLst/>
            </a:prstGeom>
            <a:solidFill>
              <a:srgbClr val="00B0F0">
                <a:alpha val="20000"/>
              </a:srgbClr>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969B3558-A483-9A28-3A8F-4848592A744B}"/>
                </a:ext>
              </a:extLst>
            </p:cNvPr>
            <p:cNvSpPr/>
            <p:nvPr/>
          </p:nvSpPr>
          <p:spPr>
            <a:xfrm>
              <a:off x="546547" y="2718325"/>
              <a:ext cx="1829695" cy="1015663"/>
            </a:xfrm>
            <a:prstGeom prst="rect">
              <a:avLst/>
            </a:prstGeom>
            <a:noFill/>
          </p:spPr>
          <p:txBody>
            <a:bodyPr wrap="square" lIns="91440" tIns="45720" rIns="91440" bIns="45720">
              <a:spAutoFit/>
            </a:bodyPr>
            <a:lstStyle/>
            <a:p>
              <a:pPr algn="ctr"/>
              <a:r>
                <a:rPr lang="en-IN" sz="2000" dirty="0"/>
                <a:t>Unregulated wildlife trade networks</a:t>
              </a:r>
              <a:endParaRPr lang="en-US" sz="2000" cap="none" spc="0" dirty="0">
                <a:ln w="0"/>
                <a:solidFill>
                  <a:schemeClr val="tx1"/>
                </a:solidFill>
                <a:effectLst>
                  <a:outerShdw blurRad="38100" dist="19050" dir="2700000" algn="tl" rotWithShape="0">
                    <a:schemeClr val="dk1">
                      <a:alpha val="40000"/>
                    </a:schemeClr>
                  </a:outerShdw>
                </a:effectLst>
              </a:endParaRPr>
            </a:p>
          </p:txBody>
        </p:sp>
      </p:grpSp>
      <p:grpSp>
        <p:nvGrpSpPr>
          <p:cNvPr id="15" name="Group 14">
            <a:extLst>
              <a:ext uri="{FF2B5EF4-FFF2-40B4-BE49-F238E27FC236}">
                <a16:creationId xmlns:a16="http://schemas.microsoft.com/office/drawing/2014/main" id="{548427FF-F185-01CA-39E3-5187DF9E1D4C}"/>
              </a:ext>
            </a:extLst>
          </p:cNvPr>
          <p:cNvGrpSpPr/>
          <p:nvPr/>
        </p:nvGrpSpPr>
        <p:grpSpPr>
          <a:xfrm>
            <a:off x="5001084" y="1778954"/>
            <a:ext cx="2034994" cy="2034994"/>
            <a:chOff x="4814373" y="2204958"/>
            <a:chExt cx="2034994" cy="2034994"/>
          </a:xfrm>
          <a:solidFill>
            <a:srgbClr val="FFFF00">
              <a:alpha val="50000"/>
            </a:srgbClr>
          </a:solidFill>
        </p:grpSpPr>
        <p:sp>
          <p:nvSpPr>
            <p:cNvPr id="16" name="Oval 15">
              <a:extLst>
                <a:ext uri="{FF2B5EF4-FFF2-40B4-BE49-F238E27FC236}">
                  <a16:creationId xmlns:a16="http://schemas.microsoft.com/office/drawing/2014/main" id="{8B4CB568-A80F-D21F-25B7-497BDA793FFF}"/>
                </a:ext>
              </a:extLst>
            </p:cNvPr>
            <p:cNvSpPr/>
            <p:nvPr/>
          </p:nvSpPr>
          <p:spPr>
            <a:xfrm>
              <a:off x="4814373" y="2204958"/>
              <a:ext cx="2034994" cy="2034994"/>
            </a:xfrm>
            <a:prstGeom prst="ellipse">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17" name="Rectangle 16">
              <a:extLst>
                <a:ext uri="{FF2B5EF4-FFF2-40B4-BE49-F238E27FC236}">
                  <a16:creationId xmlns:a16="http://schemas.microsoft.com/office/drawing/2014/main" id="{E7ACA784-18AF-8BBB-9C3C-5B79FD2DD983}"/>
                </a:ext>
              </a:extLst>
            </p:cNvPr>
            <p:cNvSpPr/>
            <p:nvPr/>
          </p:nvSpPr>
          <p:spPr>
            <a:xfrm>
              <a:off x="5033825" y="2653068"/>
              <a:ext cx="1596090" cy="1323439"/>
            </a:xfrm>
            <a:prstGeom prst="rect">
              <a:avLst/>
            </a:prstGeom>
            <a:noFill/>
          </p:spPr>
          <p:txBody>
            <a:bodyPr wrap="square" lIns="91440" tIns="45720" rIns="91440" bIns="45720">
              <a:spAutoFit/>
            </a:bodyPr>
            <a:lstStyle/>
            <a:p>
              <a:pPr algn="ctr"/>
              <a:r>
                <a:rPr lang="en-US" sz="2000" dirty="0"/>
                <a:t>Increased chances of spillover events</a:t>
              </a:r>
              <a:endParaRPr lang="en-US" sz="2000" cap="none" spc="0" dirty="0">
                <a:ln w="0"/>
                <a:solidFill>
                  <a:schemeClr val="tx1"/>
                </a:solidFill>
                <a:effectLst>
                  <a:outerShdw blurRad="38100" dist="19050" dir="2700000" algn="tl" rotWithShape="0">
                    <a:schemeClr val="dk1">
                      <a:alpha val="40000"/>
                    </a:schemeClr>
                  </a:outerShdw>
                </a:effectLst>
              </a:endParaRPr>
            </a:p>
          </p:txBody>
        </p:sp>
      </p:grpSp>
      <p:grpSp>
        <p:nvGrpSpPr>
          <p:cNvPr id="18" name="Group 17">
            <a:extLst>
              <a:ext uri="{FF2B5EF4-FFF2-40B4-BE49-F238E27FC236}">
                <a16:creationId xmlns:a16="http://schemas.microsoft.com/office/drawing/2014/main" id="{76538C8B-A366-3D7E-7A40-C41779AAB88C}"/>
              </a:ext>
            </a:extLst>
          </p:cNvPr>
          <p:cNvGrpSpPr/>
          <p:nvPr/>
        </p:nvGrpSpPr>
        <p:grpSpPr>
          <a:xfrm>
            <a:off x="9490820" y="1778954"/>
            <a:ext cx="2182279" cy="2034994"/>
            <a:chOff x="8074146" y="2259276"/>
            <a:chExt cx="2182279" cy="2034994"/>
          </a:xfrm>
        </p:grpSpPr>
        <p:sp>
          <p:nvSpPr>
            <p:cNvPr id="19" name="Oval 18">
              <a:extLst>
                <a:ext uri="{FF2B5EF4-FFF2-40B4-BE49-F238E27FC236}">
                  <a16:creationId xmlns:a16="http://schemas.microsoft.com/office/drawing/2014/main" id="{B5972CCF-4EA4-919F-EE1F-2760316D7FA4}"/>
                </a:ext>
              </a:extLst>
            </p:cNvPr>
            <p:cNvSpPr/>
            <p:nvPr/>
          </p:nvSpPr>
          <p:spPr>
            <a:xfrm>
              <a:off x="8147789" y="2259276"/>
              <a:ext cx="2034994" cy="2034994"/>
            </a:xfrm>
            <a:prstGeom prst="ellipse">
              <a:avLst/>
            </a:prstGeom>
            <a:solidFill>
              <a:srgbClr val="00B0F0">
                <a:alpha val="20000"/>
              </a:srgbClr>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0" name="Rectangle 19">
              <a:extLst>
                <a:ext uri="{FF2B5EF4-FFF2-40B4-BE49-F238E27FC236}">
                  <a16:creationId xmlns:a16="http://schemas.microsoft.com/office/drawing/2014/main" id="{70111288-1B75-8DF1-5630-29DE1DDB930B}"/>
                </a:ext>
              </a:extLst>
            </p:cNvPr>
            <p:cNvSpPr/>
            <p:nvPr/>
          </p:nvSpPr>
          <p:spPr>
            <a:xfrm>
              <a:off x="8074146" y="2907441"/>
              <a:ext cx="2182279" cy="1015663"/>
            </a:xfrm>
            <a:prstGeom prst="rect">
              <a:avLst/>
            </a:prstGeom>
            <a:noFill/>
          </p:spPr>
          <p:txBody>
            <a:bodyPr wrap="square" lIns="91440" tIns="45720" rIns="91440" bIns="45720">
              <a:spAutoFit/>
            </a:bodyPr>
            <a:lstStyle/>
            <a:p>
              <a:pPr algn="ctr"/>
              <a:r>
                <a:rPr lang="en-US" sz="2000" dirty="0"/>
                <a:t>Overlap of human–wildlife habitats</a:t>
              </a:r>
              <a:endParaRPr lang="en-US" sz="2000" cap="none" spc="0" dirty="0">
                <a:ln w="0"/>
                <a:solidFill>
                  <a:schemeClr val="tx1"/>
                </a:solidFill>
                <a:effectLst>
                  <a:outerShdw blurRad="38100" dist="19050" dir="2700000" algn="tl" rotWithShape="0">
                    <a:schemeClr val="dk1">
                      <a:alpha val="40000"/>
                    </a:schemeClr>
                  </a:outerShdw>
                </a:effectLst>
              </a:endParaRPr>
            </a:p>
          </p:txBody>
        </p:sp>
      </p:grpSp>
      <p:grpSp>
        <p:nvGrpSpPr>
          <p:cNvPr id="21" name="Group 20">
            <a:extLst>
              <a:ext uri="{FF2B5EF4-FFF2-40B4-BE49-F238E27FC236}">
                <a16:creationId xmlns:a16="http://schemas.microsoft.com/office/drawing/2014/main" id="{91DDDEED-5A95-F9CA-1A80-57874F4C1718}"/>
              </a:ext>
            </a:extLst>
          </p:cNvPr>
          <p:cNvGrpSpPr/>
          <p:nvPr/>
        </p:nvGrpSpPr>
        <p:grpSpPr>
          <a:xfrm>
            <a:off x="7353300" y="4359016"/>
            <a:ext cx="2201393" cy="2034994"/>
            <a:chOff x="6644958" y="4239952"/>
            <a:chExt cx="2201393" cy="2034994"/>
          </a:xfrm>
        </p:grpSpPr>
        <p:sp>
          <p:nvSpPr>
            <p:cNvPr id="22" name="Oval 21">
              <a:extLst>
                <a:ext uri="{FF2B5EF4-FFF2-40B4-BE49-F238E27FC236}">
                  <a16:creationId xmlns:a16="http://schemas.microsoft.com/office/drawing/2014/main" id="{5BC919E0-7529-E8CC-B91E-4D1F4F84617D}"/>
                </a:ext>
              </a:extLst>
            </p:cNvPr>
            <p:cNvSpPr/>
            <p:nvPr/>
          </p:nvSpPr>
          <p:spPr>
            <a:xfrm>
              <a:off x="6753372" y="4239952"/>
              <a:ext cx="2034994" cy="2034994"/>
            </a:xfrm>
            <a:prstGeom prst="ellipse">
              <a:avLst/>
            </a:prstGeom>
            <a:solidFill>
              <a:srgbClr val="7030A0">
                <a:alpha val="58000"/>
              </a:srgbClr>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23" name="Rectangle 22">
              <a:extLst>
                <a:ext uri="{FF2B5EF4-FFF2-40B4-BE49-F238E27FC236}">
                  <a16:creationId xmlns:a16="http://schemas.microsoft.com/office/drawing/2014/main" id="{8E08E486-7B20-355C-57AF-98B24F6AD49A}"/>
                </a:ext>
              </a:extLst>
            </p:cNvPr>
            <p:cNvSpPr/>
            <p:nvPr/>
          </p:nvSpPr>
          <p:spPr>
            <a:xfrm>
              <a:off x="6644958" y="4749618"/>
              <a:ext cx="2201393" cy="1015663"/>
            </a:xfrm>
            <a:prstGeom prst="rect">
              <a:avLst/>
            </a:prstGeom>
            <a:noFill/>
          </p:spPr>
          <p:txBody>
            <a:bodyPr wrap="square" lIns="91440" tIns="45720" rIns="91440" bIns="45720">
              <a:spAutoFit/>
            </a:bodyPr>
            <a:lstStyle/>
            <a:p>
              <a:pPr algn="ctr"/>
              <a:r>
                <a:rPr lang="en-US" sz="2000" cap="none" spc="0" dirty="0">
                  <a:ln w="0"/>
                  <a:solidFill>
                    <a:schemeClr val="tx1"/>
                  </a:solidFill>
                </a:rPr>
                <a:t>Disturbances in the entire ecosystem.</a:t>
              </a:r>
            </a:p>
          </p:txBody>
        </p:sp>
      </p:grpSp>
      <p:grpSp>
        <p:nvGrpSpPr>
          <p:cNvPr id="24" name="Group 23">
            <a:extLst>
              <a:ext uri="{FF2B5EF4-FFF2-40B4-BE49-F238E27FC236}">
                <a16:creationId xmlns:a16="http://schemas.microsoft.com/office/drawing/2014/main" id="{4A95B379-AD30-32CD-D611-C6B931FAFCA8}"/>
              </a:ext>
            </a:extLst>
          </p:cNvPr>
          <p:cNvGrpSpPr/>
          <p:nvPr/>
        </p:nvGrpSpPr>
        <p:grpSpPr>
          <a:xfrm>
            <a:off x="2637307" y="4359016"/>
            <a:ext cx="2040547" cy="2034994"/>
            <a:chOff x="3474436" y="4392352"/>
            <a:chExt cx="2040547" cy="2034994"/>
          </a:xfrm>
        </p:grpSpPr>
        <p:sp>
          <p:nvSpPr>
            <p:cNvPr id="25" name="Oval 24">
              <a:extLst>
                <a:ext uri="{FF2B5EF4-FFF2-40B4-BE49-F238E27FC236}">
                  <a16:creationId xmlns:a16="http://schemas.microsoft.com/office/drawing/2014/main" id="{34259C73-9D5D-2355-A701-E2127A862824}"/>
                </a:ext>
              </a:extLst>
            </p:cNvPr>
            <p:cNvSpPr/>
            <p:nvPr/>
          </p:nvSpPr>
          <p:spPr>
            <a:xfrm>
              <a:off x="3479989" y="4392352"/>
              <a:ext cx="2034994" cy="2034994"/>
            </a:xfrm>
            <a:prstGeom prst="ellipse">
              <a:avLst/>
            </a:prstGeom>
            <a:solidFill>
              <a:srgbClr val="00FF00">
                <a:alpha val="58000"/>
              </a:srgbClr>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3D351E3D-2C25-BCD5-B7FF-8A793AB23376}"/>
                </a:ext>
              </a:extLst>
            </p:cNvPr>
            <p:cNvSpPr/>
            <p:nvPr/>
          </p:nvSpPr>
          <p:spPr>
            <a:xfrm>
              <a:off x="3474436" y="5038097"/>
              <a:ext cx="2034995" cy="707886"/>
            </a:xfrm>
            <a:prstGeom prst="rect">
              <a:avLst/>
            </a:prstGeom>
            <a:noFill/>
          </p:spPr>
          <p:txBody>
            <a:bodyPr wrap="square" lIns="91440" tIns="45720" rIns="91440" bIns="45720">
              <a:spAutoFit/>
            </a:bodyPr>
            <a:lstStyle/>
            <a:p>
              <a:pPr algn="ctr"/>
              <a:r>
                <a:rPr lang="en-US" sz="2000" dirty="0"/>
                <a:t>Increased risks to human health</a:t>
              </a:r>
              <a:endParaRPr lang="en-US" sz="2000" cap="none" spc="0" dirty="0">
                <a:ln w="0"/>
                <a:solidFill>
                  <a:schemeClr val="tx1"/>
                </a:solidFill>
                <a:effectLst>
                  <a:outerShdw blurRad="38100" dist="19050" dir="2700000" algn="tl" rotWithShape="0">
                    <a:schemeClr val="dk1">
                      <a:alpha val="40000"/>
                    </a:schemeClr>
                  </a:outerShdw>
                </a:effectLst>
              </a:endParaRPr>
            </a:p>
          </p:txBody>
        </p:sp>
      </p:grpSp>
      <p:cxnSp>
        <p:nvCxnSpPr>
          <p:cNvPr id="27" name="Straight Arrow Connector 26">
            <a:extLst>
              <a:ext uri="{FF2B5EF4-FFF2-40B4-BE49-F238E27FC236}">
                <a16:creationId xmlns:a16="http://schemas.microsoft.com/office/drawing/2014/main" id="{6AE1FEE5-9535-70F0-651F-2EB73584035C}"/>
              </a:ext>
            </a:extLst>
          </p:cNvPr>
          <p:cNvCxnSpPr>
            <a:cxnSpLocks/>
          </p:cNvCxnSpPr>
          <p:nvPr/>
        </p:nvCxnSpPr>
        <p:spPr>
          <a:xfrm>
            <a:off x="2814452" y="2796451"/>
            <a:ext cx="200043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14304A8-B7D1-8914-4310-B6AB2EC46E4A}"/>
              </a:ext>
            </a:extLst>
          </p:cNvPr>
          <p:cNvCxnSpPr>
            <a:cxnSpLocks/>
          </p:cNvCxnSpPr>
          <p:nvPr/>
        </p:nvCxnSpPr>
        <p:spPr>
          <a:xfrm flipH="1">
            <a:off x="7267482" y="2796451"/>
            <a:ext cx="200043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DBB3A20-5AE6-ED90-3EBA-94082BE16B20}"/>
              </a:ext>
            </a:extLst>
          </p:cNvPr>
          <p:cNvCxnSpPr>
            <a:cxnSpLocks/>
          </p:cNvCxnSpPr>
          <p:nvPr/>
        </p:nvCxnSpPr>
        <p:spPr>
          <a:xfrm>
            <a:off x="7036078" y="3479812"/>
            <a:ext cx="822047" cy="87920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18948F9-A561-F0EE-8ED4-7E97EB910683}"/>
              </a:ext>
            </a:extLst>
          </p:cNvPr>
          <p:cNvCxnSpPr>
            <a:cxnSpLocks/>
          </p:cNvCxnSpPr>
          <p:nvPr/>
        </p:nvCxnSpPr>
        <p:spPr>
          <a:xfrm flipH="1">
            <a:off x="4188588" y="3479812"/>
            <a:ext cx="822047" cy="87920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D7D49BBA-8626-2C41-8DD2-9EC19118D79C}"/>
              </a:ext>
            </a:extLst>
          </p:cNvPr>
          <p:cNvPicPr>
            <a:picLocks noChangeAspect="1"/>
          </p:cNvPicPr>
          <p:nvPr/>
        </p:nvPicPr>
        <p:blipFill>
          <a:blip r:embed="rId2"/>
          <a:stretch>
            <a:fillRect/>
          </a:stretch>
        </p:blipFill>
        <p:spPr>
          <a:xfrm>
            <a:off x="-225531" y="6477536"/>
            <a:ext cx="2743438" cy="371888"/>
          </a:xfrm>
          <a:prstGeom prst="rect">
            <a:avLst/>
          </a:prstGeom>
        </p:spPr>
      </p:pic>
    </p:spTree>
    <p:extLst>
      <p:ext uri="{BB962C8B-B14F-4D97-AF65-F5344CB8AC3E}">
        <p14:creationId xmlns:p14="http://schemas.microsoft.com/office/powerpoint/2010/main" val="2733615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Objectives</a:t>
            </a:r>
            <a:endParaRPr u="sng" dirty="0">
              <a:solidFill>
                <a:schemeClr val="tx1"/>
              </a:solidFill>
            </a:endParaRPr>
          </a:p>
        </p:txBody>
      </p:sp>
      <p:sp>
        <p:nvSpPr>
          <p:cNvPr id="4" name="Oval 3">
            <a:extLst>
              <a:ext uri="{FF2B5EF4-FFF2-40B4-BE49-F238E27FC236}">
                <a16:creationId xmlns:a16="http://schemas.microsoft.com/office/drawing/2014/main" id="{BD729F72-2291-1484-EE07-AED07550088C}"/>
              </a:ext>
            </a:extLst>
          </p:cNvPr>
          <p:cNvSpPr/>
          <p:nvPr/>
        </p:nvSpPr>
        <p:spPr>
          <a:xfrm>
            <a:off x="235291" y="1550287"/>
            <a:ext cx="586854" cy="58685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1</a:t>
            </a:r>
            <a:endParaRPr lang="en-US" b="1" dirty="0">
              <a:solidFill>
                <a:schemeClr val="tx1"/>
              </a:solidFill>
            </a:endParaRPr>
          </a:p>
        </p:txBody>
      </p:sp>
      <p:sp>
        <p:nvSpPr>
          <p:cNvPr id="5" name="Oval 4">
            <a:extLst>
              <a:ext uri="{FF2B5EF4-FFF2-40B4-BE49-F238E27FC236}">
                <a16:creationId xmlns:a16="http://schemas.microsoft.com/office/drawing/2014/main" id="{F4ABC912-38A5-D84C-ADE8-3A565433D050}"/>
              </a:ext>
            </a:extLst>
          </p:cNvPr>
          <p:cNvSpPr/>
          <p:nvPr/>
        </p:nvSpPr>
        <p:spPr>
          <a:xfrm>
            <a:off x="234620" y="3282286"/>
            <a:ext cx="586854" cy="58685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2</a:t>
            </a:r>
            <a:endParaRPr lang="en-US" b="1" dirty="0">
              <a:solidFill>
                <a:schemeClr val="tx1"/>
              </a:solidFill>
            </a:endParaRPr>
          </a:p>
        </p:txBody>
      </p:sp>
      <p:sp>
        <p:nvSpPr>
          <p:cNvPr id="6" name="Oval 5">
            <a:extLst>
              <a:ext uri="{FF2B5EF4-FFF2-40B4-BE49-F238E27FC236}">
                <a16:creationId xmlns:a16="http://schemas.microsoft.com/office/drawing/2014/main" id="{CBE83CDC-B5FE-3D52-7F11-8EA7A0019A02}"/>
              </a:ext>
            </a:extLst>
          </p:cNvPr>
          <p:cNvSpPr/>
          <p:nvPr/>
        </p:nvSpPr>
        <p:spPr>
          <a:xfrm>
            <a:off x="235291" y="5014286"/>
            <a:ext cx="586854" cy="58685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3</a:t>
            </a:r>
            <a:endParaRPr lang="en-US" b="1" dirty="0">
              <a:solidFill>
                <a:schemeClr val="tx1"/>
              </a:solidFill>
            </a:endParaRPr>
          </a:p>
        </p:txBody>
      </p:sp>
      <p:sp>
        <p:nvSpPr>
          <p:cNvPr id="2" name="TextBox 1">
            <a:extLst>
              <a:ext uri="{FF2B5EF4-FFF2-40B4-BE49-F238E27FC236}">
                <a16:creationId xmlns:a16="http://schemas.microsoft.com/office/drawing/2014/main" id="{D1C4E6BD-DAD7-668B-998B-DC451B20E244}"/>
              </a:ext>
            </a:extLst>
          </p:cNvPr>
          <p:cNvSpPr txBox="1"/>
          <p:nvPr/>
        </p:nvSpPr>
        <p:spPr>
          <a:xfrm>
            <a:off x="1229032" y="1490810"/>
            <a:ext cx="10097729" cy="923330"/>
          </a:xfrm>
          <a:prstGeom prst="rect">
            <a:avLst/>
          </a:prstGeom>
          <a:noFill/>
        </p:spPr>
        <p:txBody>
          <a:bodyPr wrap="square" rtlCol="0">
            <a:spAutoFit/>
          </a:bodyPr>
          <a:lstStyle/>
          <a:p>
            <a:r>
              <a:rPr lang="en-US" sz="1800" dirty="0"/>
              <a:t>The main objective of our project is to develop a predictive system that can identify regions with high risk of zoonotic spillover by integrating wildlife trade, habitat loss, species distribution, and outbreak data.</a:t>
            </a:r>
            <a:endParaRPr lang="en-IN" sz="1800" dirty="0"/>
          </a:p>
        </p:txBody>
      </p:sp>
      <p:sp>
        <p:nvSpPr>
          <p:cNvPr id="8" name="TextBox 7">
            <a:extLst>
              <a:ext uri="{FF2B5EF4-FFF2-40B4-BE49-F238E27FC236}">
                <a16:creationId xmlns:a16="http://schemas.microsoft.com/office/drawing/2014/main" id="{CD54DE2B-A198-C913-455F-216E2B597371}"/>
              </a:ext>
            </a:extLst>
          </p:cNvPr>
          <p:cNvSpPr txBox="1"/>
          <p:nvPr/>
        </p:nvSpPr>
        <p:spPr>
          <a:xfrm>
            <a:off x="1229032" y="3198167"/>
            <a:ext cx="10097729" cy="923330"/>
          </a:xfrm>
          <a:prstGeom prst="rect">
            <a:avLst/>
          </a:prstGeom>
          <a:noFill/>
        </p:spPr>
        <p:txBody>
          <a:bodyPr wrap="square" rtlCol="0">
            <a:spAutoFit/>
          </a:bodyPr>
          <a:lstStyle/>
          <a:p>
            <a:r>
              <a:rPr lang="en-US" sz="1800" dirty="0"/>
              <a:t>We aim to build a machine-learning and geospatial-based framework that analyzes these multisource datasets and generates hotspot maps, risk scores, and early-warning indicators for proactive bio surveillance.</a:t>
            </a:r>
            <a:endParaRPr lang="en-IN" sz="1800" dirty="0"/>
          </a:p>
        </p:txBody>
      </p:sp>
      <p:sp>
        <p:nvSpPr>
          <p:cNvPr id="9" name="TextBox 8">
            <a:extLst>
              <a:ext uri="{FF2B5EF4-FFF2-40B4-BE49-F238E27FC236}">
                <a16:creationId xmlns:a16="http://schemas.microsoft.com/office/drawing/2014/main" id="{D8F75A23-8968-29B9-DCAF-0A10CD1EDEFD}"/>
              </a:ext>
            </a:extLst>
          </p:cNvPr>
          <p:cNvSpPr txBox="1"/>
          <p:nvPr/>
        </p:nvSpPr>
        <p:spPr>
          <a:xfrm>
            <a:off x="1229032" y="4905525"/>
            <a:ext cx="10097729" cy="923330"/>
          </a:xfrm>
          <a:prstGeom prst="rect">
            <a:avLst/>
          </a:prstGeom>
          <a:noFill/>
        </p:spPr>
        <p:txBody>
          <a:bodyPr wrap="square" rtlCol="0">
            <a:spAutoFit/>
          </a:bodyPr>
          <a:lstStyle/>
          <a:p>
            <a:r>
              <a:rPr lang="en-US" sz="1800" dirty="0"/>
              <a:t>Through this project, we aim to support both public health and ecological stability by enabling early detection of spillover threats, guiding better policies, and promoting safer coexistence between humans and wildlife.</a:t>
            </a:r>
            <a:endParaRPr lang="en-IN" sz="1800" dirty="0"/>
          </a:p>
        </p:txBody>
      </p:sp>
      <p:sp>
        <p:nvSpPr>
          <p:cNvPr id="3" name="Google Shape;234;p15">
            <a:extLst>
              <a:ext uri="{FF2B5EF4-FFF2-40B4-BE49-F238E27FC236}">
                <a16:creationId xmlns:a16="http://schemas.microsoft.com/office/drawing/2014/main" id="{B1E25DC4-C32F-9004-2670-F0FCC4D9676E}"/>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Methodology</a:t>
            </a:r>
            <a:endParaRPr u="sng" dirty="0">
              <a:solidFill>
                <a:schemeClr val="tx1"/>
              </a:solidFill>
            </a:endParaRPr>
          </a:p>
        </p:txBody>
      </p:sp>
      <p:sp>
        <p:nvSpPr>
          <p:cNvPr id="4" name="Rectangle 2">
            <a:extLst>
              <a:ext uri="{FF2B5EF4-FFF2-40B4-BE49-F238E27FC236}">
                <a16:creationId xmlns:a16="http://schemas.microsoft.com/office/drawing/2014/main" id="{BD9F286B-4A03-A7F4-DA66-E8604D2A5569}"/>
              </a:ext>
            </a:extLst>
          </p:cNvPr>
          <p:cNvSpPr>
            <a:spLocks noChangeArrowheads="1"/>
          </p:cNvSpPr>
          <p:nvPr/>
        </p:nvSpPr>
        <p:spPr bwMode="auto">
          <a:xfrm>
            <a:off x="249159" y="2604692"/>
            <a:ext cx="785370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Dataset Cleaning: </a:t>
            </a:r>
            <a:r>
              <a:rPr lang="en-US" sz="1800" dirty="0"/>
              <a:t>Collected data is cleaned by removing inconsistencies, correcting spatial information, standardizing formats, and extracting meaningful environmental and interaction indicators. Using this cleaned data a master data set is created to train our model. This ensured the dataset was reliable, uniform, and ready for modelling.</a:t>
            </a:r>
          </a:p>
        </p:txBody>
      </p:sp>
      <p:sp>
        <p:nvSpPr>
          <p:cNvPr id="5" name="Rectangle 2">
            <a:extLst>
              <a:ext uri="{FF2B5EF4-FFF2-40B4-BE49-F238E27FC236}">
                <a16:creationId xmlns:a16="http://schemas.microsoft.com/office/drawing/2014/main" id="{B891C060-5036-00C1-2165-F8B620AB4C4D}"/>
              </a:ext>
            </a:extLst>
          </p:cNvPr>
          <p:cNvSpPr>
            <a:spLocks noChangeArrowheads="1"/>
          </p:cNvSpPr>
          <p:nvPr/>
        </p:nvSpPr>
        <p:spPr bwMode="auto">
          <a:xfrm>
            <a:off x="249160" y="1298653"/>
            <a:ext cx="785370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Data Collection: </a:t>
            </a:r>
            <a:r>
              <a:rPr lang="en-US" sz="1800" dirty="0"/>
              <a:t>Collection of different datasets trade, species distribution, environmental changes such as habitat loss, land data, and records of past disease spillover events. This provided a broad understanding of how human activity and ecological factors interact to influence spillover risk.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35B3BDEB-B087-D594-857A-DA50888B4BD5}"/>
              </a:ext>
            </a:extLst>
          </p:cNvPr>
          <p:cNvSpPr>
            <a:spLocks noChangeArrowheads="1"/>
          </p:cNvSpPr>
          <p:nvPr/>
        </p:nvSpPr>
        <p:spPr bwMode="auto">
          <a:xfrm>
            <a:off x="249159" y="4266685"/>
            <a:ext cx="723427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Model Training: </a:t>
            </a:r>
            <a:r>
              <a:rPr lang="en-US" sz="1800" dirty="0"/>
              <a:t>Using the master data set we are going to train a machine-learning model to estimate zoonotic spillover. We are going to use </a:t>
            </a:r>
            <a:r>
              <a:rPr lang="en-US" sz="1800" dirty="0" err="1"/>
              <a:t>XGBoost</a:t>
            </a:r>
            <a:r>
              <a:rPr lang="en-US" sz="1800" dirty="0"/>
              <a:t> model due to its strong performance on non linear datasets.</a:t>
            </a:r>
            <a:r>
              <a:rPr lang="en-US" altLang="en-US" sz="1800" dirty="0">
                <a:solidFill>
                  <a:schemeClr val="tx1"/>
                </a:solidFill>
                <a:latin typeface="Arial" panose="020B0604020202020204" pitchFamily="34" charset="0"/>
              </a:rPr>
              <a:t> The model learns relationships between wildlife trade, habitat overlap, species richness, and past outbreak trends. Output is a </a:t>
            </a:r>
            <a:r>
              <a:rPr lang="en-US" altLang="en-US" sz="1800" b="1" dirty="0">
                <a:solidFill>
                  <a:schemeClr val="tx1"/>
                </a:solidFill>
                <a:latin typeface="Arial" panose="020B0604020202020204" pitchFamily="34" charset="0"/>
              </a:rPr>
              <a:t>spillover probability score</a:t>
            </a:r>
            <a:r>
              <a:rPr lang="en-US" altLang="en-US" sz="1800" dirty="0">
                <a:solidFill>
                  <a:schemeClr val="tx1"/>
                </a:solidFill>
                <a:latin typeface="Arial" panose="020B0604020202020204" pitchFamily="34" charset="0"/>
              </a:rPr>
              <a:t> for each region, enabling early identification of high-risk zones</a:t>
            </a:r>
          </a:p>
          <a:p>
            <a:endParaRPr lang="en-US" sz="1800" dirty="0"/>
          </a:p>
          <a:p>
            <a:endParaRPr lang="en-US" sz="1800" dirty="0"/>
          </a:p>
        </p:txBody>
      </p:sp>
      <p:pic>
        <p:nvPicPr>
          <p:cNvPr id="2053" name="Picture 5" descr="Top 32 Machine Learning Projects for Beginners [2025 Guide]">
            <a:extLst>
              <a:ext uri="{FF2B5EF4-FFF2-40B4-BE49-F238E27FC236}">
                <a16:creationId xmlns:a16="http://schemas.microsoft.com/office/drawing/2014/main" id="{F610DB0A-D107-A0BF-89AB-DCB247EB3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0849" y="1830870"/>
            <a:ext cx="3524865" cy="3524865"/>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234;p15">
            <a:extLst>
              <a:ext uri="{FF2B5EF4-FFF2-40B4-BE49-F238E27FC236}">
                <a16:creationId xmlns:a16="http://schemas.microsoft.com/office/drawing/2014/main" id="{2B0681DA-BF34-C509-6407-4FB9ADDCCDC2}"/>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Methodology</a:t>
            </a:r>
            <a:endParaRPr u="sng" dirty="0">
              <a:solidFill>
                <a:schemeClr val="tx1"/>
              </a:solidFill>
            </a:endParaRPr>
          </a:p>
        </p:txBody>
      </p:sp>
      <p:sp>
        <p:nvSpPr>
          <p:cNvPr id="4" name="TextBox 3">
            <a:extLst>
              <a:ext uri="{FF2B5EF4-FFF2-40B4-BE49-F238E27FC236}">
                <a16:creationId xmlns:a16="http://schemas.microsoft.com/office/drawing/2014/main" id="{5BE15FAF-6D9D-3646-D3FC-DC48C4D7C034}"/>
              </a:ext>
            </a:extLst>
          </p:cNvPr>
          <p:cNvSpPr txBox="1"/>
          <p:nvPr/>
        </p:nvSpPr>
        <p:spPr>
          <a:xfrm>
            <a:off x="471948" y="1071715"/>
            <a:ext cx="2786340" cy="523220"/>
          </a:xfrm>
          <a:prstGeom prst="rect">
            <a:avLst/>
          </a:prstGeom>
          <a:noFill/>
        </p:spPr>
        <p:txBody>
          <a:bodyPr wrap="none" rtlCol="0">
            <a:spAutoFit/>
          </a:bodyPr>
          <a:lstStyle/>
          <a:p>
            <a:r>
              <a:rPr lang="en-IN" sz="2800" b="1" dirty="0"/>
              <a:t>Datasets Used:</a:t>
            </a:r>
          </a:p>
        </p:txBody>
      </p:sp>
      <p:sp>
        <p:nvSpPr>
          <p:cNvPr id="5" name="TextBox 4">
            <a:extLst>
              <a:ext uri="{FF2B5EF4-FFF2-40B4-BE49-F238E27FC236}">
                <a16:creationId xmlns:a16="http://schemas.microsoft.com/office/drawing/2014/main" id="{5217BB10-DACB-8BF5-A052-6C6C9E431F2C}"/>
              </a:ext>
            </a:extLst>
          </p:cNvPr>
          <p:cNvSpPr txBox="1"/>
          <p:nvPr/>
        </p:nvSpPr>
        <p:spPr>
          <a:xfrm>
            <a:off x="471948" y="1827249"/>
            <a:ext cx="7855975" cy="738664"/>
          </a:xfrm>
          <a:prstGeom prst="rect">
            <a:avLst/>
          </a:prstGeom>
          <a:noFill/>
        </p:spPr>
        <p:txBody>
          <a:bodyPr wrap="square" rtlCol="0">
            <a:spAutoFit/>
          </a:bodyPr>
          <a:lstStyle/>
          <a:p>
            <a:r>
              <a:rPr lang="en-US" b="1" dirty="0"/>
              <a:t>CITES Wildlife Trade Data</a:t>
            </a:r>
          </a:p>
          <a:p>
            <a:r>
              <a:rPr lang="en-US" dirty="0"/>
              <a:t>Provides detailed records of international wildlife movement, including quantity, species traded, trade routes, and pressure points where human–animal contact increases due to commerce.</a:t>
            </a:r>
          </a:p>
        </p:txBody>
      </p:sp>
      <p:sp>
        <p:nvSpPr>
          <p:cNvPr id="6" name="TextBox 5">
            <a:extLst>
              <a:ext uri="{FF2B5EF4-FFF2-40B4-BE49-F238E27FC236}">
                <a16:creationId xmlns:a16="http://schemas.microsoft.com/office/drawing/2014/main" id="{02AEE50A-6E50-6572-247A-AA317066DB14}"/>
              </a:ext>
            </a:extLst>
          </p:cNvPr>
          <p:cNvSpPr txBox="1"/>
          <p:nvPr/>
        </p:nvSpPr>
        <p:spPr>
          <a:xfrm>
            <a:off x="471948" y="2995630"/>
            <a:ext cx="7737987" cy="954107"/>
          </a:xfrm>
          <a:prstGeom prst="rect">
            <a:avLst/>
          </a:prstGeom>
          <a:noFill/>
        </p:spPr>
        <p:txBody>
          <a:bodyPr wrap="square" rtlCol="0">
            <a:spAutoFit/>
          </a:bodyPr>
          <a:lstStyle/>
          <a:p>
            <a:r>
              <a:rPr lang="en-US" b="1" dirty="0"/>
              <a:t>GBIF Species Distribution Data</a:t>
            </a:r>
          </a:p>
          <a:p>
            <a:r>
              <a:rPr lang="en-US" dirty="0"/>
              <a:t>Contains global species occurrence points used to identify where host animals are located, how diverse an ecosystem is, and which regions have higher potential for spillover due to species richness.</a:t>
            </a:r>
          </a:p>
        </p:txBody>
      </p:sp>
      <p:sp>
        <p:nvSpPr>
          <p:cNvPr id="7" name="TextBox 6">
            <a:extLst>
              <a:ext uri="{FF2B5EF4-FFF2-40B4-BE49-F238E27FC236}">
                <a16:creationId xmlns:a16="http://schemas.microsoft.com/office/drawing/2014/main" id="{8E3BE36B-3AB6-B054-F792-F96067DE8A25}"/>
              </a:ext>
            </a:extLst>
          </p:cNvPr>
          <p:cNvSpPr txBox="1"/>
          <p:nvPr/>
        </p:nvSpPr>
        <p:spPr>
          <a:xfrm>
            <a:off x="471948" y="4359043"/>
            <a:ext cx="7737987" cy="954107"/>
          </a:xfrm>
          <a:prstGeom prst="rect">
            <a:avLst/>
          </a:prstGeom>
          <a:noFill/>
        </p:spPr>
        <p:txBody>
          <a:bodyPr wrap="square" rtlCol="0">
            <a:spAutoFit/>
          </a:bodyPr>
          <a:lstStyle/>
          <a:p>
            <a:r>
              <a:rPr lang="en-IN" b="1" dirty="0"/>
              <a:t>NASA MODIS Environmental Data</a:t>
            </a:r>
          </a:p>
          <a:p>
            <a:r>
              <a:rPr lang="en-IN" dirty="0"/>
              <a:t>Offers satellite-derived information such as forest loss, vegetation index (NDVI), and land-use changes. These indicators help measure habitat degradation and human-driven ecological disturbance.</a:t>
            </a:r>
          </a:p>
        </p:txBody>
      </p:sp>
      <p:sp>
        <p:nvSpPr>
          <p:cNvPr id="8" name="TextBox 7">
            <a:extLst>
              <a:ext uri="{FF2B5EF4-FFF2-40B4-BE49-F238E27FC236}">
                <a16:creationId xmlns:a16="http://schemas.microsoft.com/office/drawing/2014/main" id="{7E3FA035-7AC9-74FC-826A-0BCF65FE8953}"/>
              </a:ext>
            </a:extLst>
          </p:cNvPr>
          <p:cNvSpPr txBox="1"/>
          <p:nvPr/>
        </p:nvSpPr>
        <p:spPr>
          <a:xfrm>
            <a:off x="471948" y="5514206"/>
            <a:ext cx="7570839" cy="738664"/>
          </a:xfrm>
          <a:prstGeom prst="rect">
            <a:avLst/>
          </a:prstGeom>
          <a:noFill/>
        </p:spPr>
        <p:txBody>
          <a:bodyPr wrap="square" rtlCol="0">
            <a:spAutoFit/>
          </a:bodyPr>
          <a:lstStyle/>
          <a:p>
            <a:r>
              <a:rPr lang="en-US" b="1" dirty="0"/>
              <a:t>WHO Outbreak Records</a:t>
            </a:r>
          </a:p>
          <a:p>
            <a:r>
              <a:rPr lang="en-US" dirty="0"/>
              <a:t>Includes historical data on zoonotic disease outbreaks, helping the model learn patterns of past spillover events and validate predictions for future high-risk regions.</a:t>
            </a:r>
          </a:p>
        </p:txBody>
      </p:sp>
      <p:pic>
        <p:nvPicPr>
          <p:cNvPr id="3074" name="Picture 2" descr="CITES Wildlife Trade Database">
            <a:extLst>
              <a:ext uri="{FF2B5EF4-FFF2-40B4-BE49-F238E27FC236}">
                <a16:creationId xmlns:a16="http://schemas.microsoft.com/office/drawing/2014/main" id="{02896446-73F7-C4AF-19D4-61BD0DF31F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5620" y="998881"/>
            <a:ext cx="1656735" cy="165673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GBIF Backbone Taxonomy">
            <a:extLst>
              <a:ext uri="{FF2B5EF4-FFF2-40B4-BE49-F238E27FC236}">
                <a16:creationId xmlns:a16="http://schemas.microsoft.com/office/drawing/2014/main" id="{F2CC7491-1A99-E6C5-299E-3EFB073F6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3987" y="2114750"/>
            <a:ext cx="2857500" cy="18954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FEMC - Dataset - MODIS DUR Yearly Mean and STD - Overview">
            <a:extLst>
              <a:ext uri="{FF2B5EF4-FFF2-40B4-BE49-F238E27FC236}">
                <a16:creationId xmlns:a16="http://schemas.microsoft.com/office/drawing/2014/main" id="{0557A5AF-61BF-FD1C-2766-EE03CFF6F7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0859" y="4057952"/>
            <a:ext cx="2560074" cy="12800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E27E5AA0-B84C-9E64-12D3-1C585E1DE1B3}"/>
                  </a:ext>
                </a:extLst>
              </p14:cNvPr>
              <p14:cNvContentPartPr/>
              <p14:nvPr/>
            </p14:nvContentPartPr>
            <p14:xfrm>
              <a:off x="9051360" y="4861240"/>
              <a:ext cx="117720" cy="56520"/>
            </p14:xfrm>
          </p:contentPart>
        </mc:Choice>
        <mc:Fallback xmlns="">
          <p:pic>
            <p:nvPicPr>
              <p:cNvPr id="10" name="Ink 9">
                <a:extLst>
                  <a:ext uri="{FF2B5EF4-FFF2-40B4-BE49-F238E27FC236}">
                    <a16:creationId xmlns:a16="http://schemas.microsoft.com/office/drawing/2014/main" id="{E27E5AA0-B84C-9E64-12D3-1C585E1DE1B3}"/>
                  </a:ext>
                </a:extLst>
              </p:cNvPr>
              <p:cNvPicPr/>
              <p:nvPr/>
            </p:nvPicPr>
            <p:blipFill>
              <a:blip r:embed="rId7"/>
              <a:stretch>
                <a:fillRect/>
              </a:stretch>
            </p:blipFill>
            <p:spPr>
              <a:xfrm>
                <a:off x="9045240" y="4855120"/>
                <a:ext cx="129960" cy="68760"/>
              </a:xfrm>
              <a:prstGeom prst="rect">
                <a:avLst/>
              </a:prstGeom>
            </p:spPr>
          </p:pic>
        </mc:Fallback>
      </mc:AlternateContent>
      <p:grpSp>
        <p:nvGrpSpPr>
          <p:cNvPr id="16" name="Group 15">
            <a:extLst>
              <a:ext uri="{FF2B5EF4-FFF2-40B4-BE49-F238E27FC236}">
                <a16:creationId xmlns:a16="http://schemas.microsoft.com/office/drawing/2014/main" id="{C8EACCEB-B0EC-A3B7-168E-D8A66D437675}"/>
              </a:ext>
            </a:extLst>
          </p:cNvPr>
          <p:cNvGrpSpPr/>
          <p:nvPr/>
        </p:nvGrpSpPr>
        <p:grpSpPr>
          <a:xfrm>
            <a:off x="9062520" y="4851160"/>
            <a:ext cx="1123200" cy="92880"/>
            <a:chOff x="9062520" y="4851160"/>
            <a:chExt cx="1123200" cy="92880"/>
          </a:xfrm>
        </p:grpSpPr>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38920186-653D-7B1D-EF20-607E40D92599}"/>
                    </a:ext>
                  </a:extLst>
                </p14:cNvPr>
                <p14:cNvContentPartPr/>
                <p14:nvPr/>
              </p14:nvContentPartPr>
              <p14:xfrm>
                <a:off x="9062520" y="4856200"/>
                <a:ext cx="228240" cy="51480"/>
              </p14:xfrm>
            </p:contentPart>
          </mc:Choice>
          <mc:Fallback xmlns="">
            <p:pic>
              <p:nvPicPr>
                <p:cNvPr id="11" name="Ink 10">
                  <a:extLst>
                    <a:ext uri="{FF2B5EF4-FFF2-40B4-BE49-F238E27FC236}">
                      <a16:creationId xmlns:a16="http://schemas.microsoft.com/office/drawing/2014/main" id="{38920186-653D-7B1D-EF20-607E40D92599}"/>
                    </a:ext>
                  </a:extLst>
                </p:cNvPr>
                <p:cNvPicPr/>
                <p:nvPr/>
              </p:nvPicPr>
              <p:blipFill>
                <a:blip r:embed="rId9"/>
                <a:stretch>
                  <a:fillRect/>
                </a:stretch>
              </p:blipFill>
              <p:spPr>
                <a:xfrm>
                  <a:off x="8999520" y="4793200"/>
                  <a:ext cx="35388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4098E98D-3143-25EF-4859-4A90574989FE}"/>
                    </a:ext>
                  </a:extLst>
                </p14:cNvPr>
                <p14:cNvContentPartPr/>
                <p14:nvPr/>
              </p14:nvContentPartPr>
              <p14:xfrm>
                <a:off x="9296160" y="4851160"/>
                <a:ext cx="163800" cy="27000"/>
              </p14:xfrm>
            </p:contentPart>
          </mc:Choice>
          <mc:Fallback xmlns="">
            <p:pic>
              <p:nvPicPr>
                <p:cNvPr id="12" name="Ink 11">
                  <a:extLst>
                    <a:ext uri="{FF2B5EF4-FFF2-40B4-BE49-F238E27FC236}">
                      <a16:creationId xmlns:a16="http://schemas.microsoft.com/office/drawing/2014/main" id="{4098E98D-3143-25EF-4859-4A90574989FE}"/>
                    </a:ext>
                  </a:extLst>
                </p:cNvPr>
                <p:cNvPicPr/>
                <p:nvPr/>
              </p:nvPicPr>
              <p:blipFill>
                <a:blip r:embed="rId11"/>
                <a:stretch>
                  <a:fillRect/>
                </a:stretch>
              </p:blipFill>
              <p:spPr>
                <a:xfrm>
                  <a:off x="9233520" y="4788520"/>
                  <a:ext cx="2894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84F8E32A-0C4F-B1E1-48A6-ECFD70E54410}"/>
                    </a:ext>
                  </a:extLst>
                </p14:cNvPr>
                <p14:cNvContentPartPr/>
                <p14:nvPr/>
              </p14:nvContentPartPr>
              <p14:xfrm>
                <a:off x="9509640" y="4881760"/>
                <a:ext cx="676080" cy="62280"/>
              </p14:xfrm>
            </p:contentPart>
          </mc:Choice>
          <mc:Fallback xmlns="">
            <p:pic>
              <p:nvPicPr>
                <p:cNvPr id="15" name="Ink 14">
                  <a:extLst>
                    <a:ext uri="{FF2B5EF4-FFF2-40B4-BE49-F238E27FC236}">
                      <a16:creationId xmlns:a16="http://schemas.microsoft.com/office/drawing/2014/main" id="{84F8E32A-0C4F-B1E1-48A6-ECFD70E54410}"/>
                    </a:ext>
                  </a:extLst>
                </p:cNvPr>
                <p:cNvPicPr/>
                <p:nvPr/>
              </p:nvPicPr>
              <p:blipFill>
                <a:blip r:embed="rId13"/>
                <a:stretch>
                  <a:fillRect/>
                </a:stretch>
              </p:blipFill>
              <p:spPr>
                <a:xfrm>
                  <a:off x="9446640" y="4818760"/>
                  <a:ext cx="801720" cy="187920"/>
                </a:xfrm>
                <a:prstGeom prst="rect">
                  <a:avLst/>
                </a:prstGeom>
              </p:spPr>
            </p:pic>
          </mc:Fallback>
        </mc:AlternateContent>
      </p:grpSp>
      <p:pic>
        <p:nvPicPr>
          <p:cNvPr id="3086" name="Picture 14">
            <a:extLst>
              <a:ext uri="{FF2B5EF4-FFF2-40B4-BE49-F238E27FC236}">
                <a16:creationId xmlns:a16="http://schemas.microsoft.com/office/drawing/2014/main" id="{BEF233E1-D933-D255-78D9-652078B5190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526280" y="4817278"/>
            <a:ext cx="1346481" cy="138627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234;p15">
            <a:extLst>
              <a:ext uri="{FF2B5EF4-FFF2-40B4-BE49-F238E27FC236}">
                <a16:creationId xmlns:a16="http://schemas.microsoft.com/office/drawing/2014/main" id="{A84EA90B-0EB0-BBC3-15C1-A6816128BD79}"/>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B803EDA3-6A34-F652-332C-C44B41C021B8}"/>
            </a:ext>
          </a:extLst>
        </p:cNvPr>
        <p:cNvGrpSpPr/>
        <p:nvPr/>
      </p:nvGrpSpPr>
      <p:grpSpPr>
        <a:xfrm>
          <a:off x="0" y="0"/>
          <a:ext cx="0" cy="0"/>
          <a:chOff x="0" y="0"/>
          <a:chExt cx="0" cy="0"/>
        </a:xfrm>
      </p:grpSpPr>
      <p:sp>
        <p:nvSpPr>
          <p:cNvPr id="192" name="Google Shape;192;p10">
            <a:extLst>
              <a:ext uri="{FF2B5EF4-FFF2-40B4-BE49-F238E27FC236}">
                <a16:creationId xmlns:a16="http://schemas.microsoft.com/office/drawing/2014/main" id="{CFFBEA94-C0DF-E847-5FEA-30E19CA20758}"/>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193" name="Google Shape;193;p10">
            <a:extLst>
              <a:ext uri="{FF2B5EF4-FFF2-40B4-BE49-F238E27FC236}">
                <a16:creationId xmlns:a16="http://schemas.microsoft.com/office/drawing/2014/main" id="{8AAD7BBF-548E-078E-D1E8-D9CA1B5EE0B3}"/>
              </a:ext>
            </a:extLst>
          </p:cNvPr>
          <p:cNvSpPr txBox="1"/>
          <p:nvPr/>
        </p:nvSpPr>
        <p:spPr>
          <a:xfrm>
            <a:off x="2284362" y="9832"/>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Methodology</a:t>
            </a:r>
            <a:endParaRPr u="sng" dirty="0">
              <a:solidFill>
                <a:schemeClr val="tx1"/>
              </a:solidFill>
            </a:endParaRPr>
          </a:p>
        </p:txBody>
      </p:sp>
      <p:sp>
        <p:nvSpPr>
          <p:cNvPr id="4" name="TextBox 3">
            <a:extLst>
              <a:ext uri="{FF2B5EF4-FFF2-40B4-BE49-F238E27FC236}">
                <a16:creationId xmlns:a16="http://schemas.microsoft.com/office/drawing/2014/main" id="{0EEC7944-7D0E-F86D-4E09-B3341F3610F5}"/>
              </a:ext>
            </a:extLst>
          </p:cNvPr>
          <p:cNvSpPr txBox="1"/>
          <p:nvPr/>
        </p:nvSpPr>
        <p:spPr>
          <a:xfrm>
            <a:off x="501445" y="1193113"/>
            <a:ext cx="3760966" cy="523220"/>
          </a:xfrm>
          <a:prstGeom prst="rect">
            <a:avLst/>
          </a:prstGeom>
          <a:noFill/>
        </p:spPr>
        <p:txBody>
          <a:bodyPr wrap="none" rtlCol="0">
            <a:spAutoFit/>
          </a:bodyPr>
          <a:lstStyle/>
          <a:p>
            <a:r>
              <a:rPr lang="en-IN" sz="2800" b="1" dirty="0"/>
              <a:t>Dashboard Overview</a:t>
            </a:r>
          </a:p>
        </p:txBody>
      </p:sp>
      <p:sp>
        <p:nvSpPr>
          <p:cNvPr id="7" name="TextBox 6">
            <a:extLst>
              <a:ext uri="{FF2B5EF4-FFF2-40B4-BE49-F238E27FC236}">
                <a16:creationId xmlns:a16="http://schemas.microsoft.com/office/drawing/2014/main" id="{D479BA7B-FDF6-B05F-B795-ECDED81600B3}"/>
              </a:ext>
            </a:extLst>
          </p:cNvPr>
          <p:cNvSpPr txBox="1"/>
          <p:nvPr/>
        </p:nvSpPr>
        <p:spPr>
          <a:xfrm>
            <a:off x="501445" y="2024340"/>
            <a:ext cx="6980903" cy="1200329"/>
          </a:xfrm>
          <a:prstGeom prst="rect">
            <a:avLst/>
          </a:prstGeom>
          <a:noFill/>
        </p:spPr>
        <p:txBody>
          <a:bodyPr wrap="square" rtlCol="0">
            <a:spAutoFit/>
          </a:bodyPr>
          <a:lstStyle/>
          <a:p>
            <a:pPr>
              <a:buNone/>
            </a:pPr>
            <a:r>
              <a:rPr lang="en-US" sz="1800" b="1" dirty="0"/>
              <a:t>Interactive Risk Mapping</a:t>
            </a:r>
          </a:p>
          <a:p>
            <a:pPr>
              <a:buNone/>
            </a:pPr>
            <a:r>
              <a:rPr lang="en-US" sz="1800" dirty="0"/>
              <a:t>The dashboard displays geospatial heatmaps showing spillover risk across different regions, helping users quickly identify emerging hotspots with help of leaflet </a:t>
            </a:r>
            <a:r>
              <a:rPr lang="en-US" sz="1800" dirty="0" err="1"/>
              <a:t>js</a:t>
            </a:r>
            <a:r>
              <a:rPr lang="en-US" sz="1800" dirty="0"/>
              <a:t>.</a:t>
            </a:r>
          </a:p>
        </p:txBody>
      </p:sp>
      <p:sp>
        <p:nvSpPr>
          <p:cNvPr id="8" name="TextBox 7">
            <a:extLst>
              <a:ext uri="{FF2B5EF4-FFF2-40B4-BE49-F238E27FC236}">
                <a16:creationId xmlns:a16="http://schemas.microsoft.com/office/drawing/2014/main" id="{82C4986D-C3C3-A62D-7036-89DE3D585224}"/>
              </a:ext>
            </a:extLst>
          </p:cNvPr>
          <p:cNvSpPr txBox="1"/>
          <p:nvPr/>
        </p:nvSpPr>
        <p:spPr>
          <a:xfrm>
            <a:off x="501445" y="3398007"/>
            <a:ext cx="7177548" cy="1200329"/>
          </a:xfrm>
          <a:prstGeom prst="rect">
            <a:avLst/>
          </a:prstGeom>
          <a:noFill/>
        </p:spPr>
        <p:txBody>
          <a:bodyPr wrap="square" rtlCol="0">
            <a:spAutoFit/>
          </a:bodyPr>
          <a:lstStyle/>
          <a:p>
            <a:pPr>
              <a:buNone/>
            </a:pPr>
            <a:r>
              <a:rPr lang="en-US" sz="1800" b="1" dirty="0"/>
              <a:t>Scenario Simulation View</a:t>
            </a:r>
          </a:p>
          <a:p>
            <a:pPr>
              <a:buNone/>
            </a:pPr>
            <a:r>
              <a:rPr lang="en-US" sz="1800" dirty="0"/>
              <a:t>The dashboard allows comparison of different intervention scenarios—like reduced trade or increased forest cover—to observe changes in predicted risk levels.</a:t>
            </a:r>
          </a:p>
        </p:txBody>
      </p:sp>
      <p:sp>
        <p:nvSpPr>
          <p:cNvPr id="9" name="TextBox 8">
            <a:extLst>
              <a:ext uri="{FF2B5EF4-FFF2-40B4-BE49-F238E27FC236}">
                <a16:creationId xmlns:a16="http://schemas.microsoft.com/office/drawing/2014/main" id="{6F7D2CAD-52DC-92DB-F553-F7A3DDF76026}"/>
              </a:ext>
            </a:extLst>
          </p:cNvPr>
          <p:cNvSpPr txBox="1"/>
          <p:nvPr/>
        </p:nvSpPr>
        <p:spPr>
          <a:xfrm>
            <a:off x="553884" y="4880470"/>
            <a:ext cx="6980903" cy="1200329"/>
          </a:xfrm>
          <a:prstGeom prst="rect">
            <a:avLst/>
          </a:prstGeom>
          <a:noFill/>
        </p:spPr>
        <p:txBody>
          <a:bodyPr wrap="square" rtlCol="0">
            <a:spAutoFit/>
          </a:bodyPr>
          <a:lstStyle/>
          <a:p>
            <a:pPr>
              <a:buNone/>
            </a:pPr>
            <a:r>
              <a:rPr lang="en-US" sz="1800" b="1" dirty="0"/>
              <a:t>Time-Based Trend Analysis</a:t>
            </a:r>
          </a:p>
          <a:p>
            <a:pPr>
              <a:buNone/>
            </a:pPr>
            <a:r>
              <a:rPr lang="en-US" sz="1800" dirty="0"/>
              <a:t>Year-wise and region-wise trends show how spillover risk evolves over time, enabling policymakers and researchers to monitor patterns and plan early interventions.</a:t>
            </a:r>
          </a:p>
        </p:txBody>
      </p:sp>
      <p:pic>
        <p:nvPicPr>
          <p:cNvPr id="22" name="Picture 21">
            <a:extLst>
              <a:ext uri="{FF2B5EF4-FFF2-40B4-BE49-F238E27FC236}">
                <a16:creationId xmlns:a16="http://schemas.microsoft.com/office/drawing/2014/main" id="{1C167D5D-44CD-942A-7E7E-62901EE84DEE}"/>
              </a:ext>
            </a:extLst>
          </p:cNvPr>
          <p:cNvPicPr>
            <a:picLocks noChangeAspect="1"/>
          </p:cNvPicPr>
          <p:nvPr/>
        </p:nvPicPr>
        <p:blipFill>
          <a:blip r:embed="rId3"/>
          <a:stretch>
            <a:fillRect/>
          </a:stretch>
        </p:blipFill>
        <p:spPr>
          <a:xfrm>
            <a:off x="7875031" y="2342934"/>
            <a:ext cx="3730917" cy="2799992"/>
          </a:xfrm>
          <a:prstGeom prst="rect">
            <a:avLst/>
          </a:prstGeom>
          <a:ln>
            <a:noFill/>
          </a:ln>
          <a:effectLst>
            <a:softEdge rad="112500"/>
          </a:effectLst>
        </p:spPr>
      </p:pic>
      <p:sp>
        <p:nvSpPr>
          <p:cNvPr id="2" name="Google Shape;234;p15">
            <a:extLst>
              <a:ext uri="{FF2B5EF4-FFF2-40B4-BE49-F238E27FC236}">
                <a16:creationId xmlns:a16="http://schemas.microsoft.com/office/drawing/2014/main" id="{CAA6F8E3-D47F-08D3-F9A0-4F3782135222}"/>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extLst>
      <p:ext uri="{BB962C8B-B14F-4D97-AF65-F5344CB8AC3E}">
        <p14:creationId xmlns:p14="http://schemas.microsoft.com/office/powerpoint/2010/main" val="339428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u="sng" dirty="0">
                <a:solidFill>
                  <a:schemeClr val="tx1"/>
                </a:solidFill>
                <a:latin typeface="Bookman Old Style"/>
                <a:ea typeface="Bookman Old Style"/>
                <a:cs typeface="Bookman Old Style"/>
                <a:sym typeface="Bookman Old Style"/>
              </a:rPr>
              <a:t>Outcomes</a:t>
            </a:r>
            <a:endParaRPr u="sng" dirty="0">
              <a:solidFill>
                <a:schemeClr val="tx1"/>
              </a:solidFill>
            </a:endParaRPr>
          </a:p>
        </p:txBody>
      </p:sp>
      <p:sp>
        <p:nvSpPr>
          <p:cNvPr id="6" name="TextBox 5">
            <a:extLst>
              <a:ext uri="{FF2B5EF4-FFF2-40B4-BE49-F238E27FC236}">
                <a16:creationId xmlns:a16="http://schemas.microsoft.com/office/drawing/2014/main" id="{98BEEC4E-0146-9465-E80F-6EE0E7C9DF0D}"/>
              </a:ext>
            </a:extLst>
          </p:cNvPr>
          <p:cNvSpPr txBox="1"/>
          <p:nvPr/>
        </p:nvSpPr>
        <p:spPr>
          <a:xfrm>
            <a:off x="501445" y="1296330"/>
            <a:ext cx="6990736" cy="1077218"/>
          </a:xfrm>
          <a:prstGeom prst="rect">
            <a:avLst/>
          </a:prstGeom>
          <a:noFill/>
        </p:spPr>
        <p:txBody>
          <a:bodyPr wrap="square" rtlCol="0">
            <a:spAutoFit/>
          </a:bodyPr>
          <a:lstStyle/>
          <a:p>
            <a:pPr>
              <a:buNone/>
            </a:pPr>
            <a:r>
              <a:rPr lang="en-US" sz="1600" b="1" dirty="0"/>
              <a:t>Developed a Working Predictive Model</a:t>
            </a:r>
          </a:p>
          <a:p>
            <a:pPr>
              <a:buNone/>
            </a:pPr>
            <a:r>
              <a:rPr lang="en-US" sz="1600" dirty="0"/>
              <a:t>Successfully built and trained a machine-learning model that identifies regions with high zoonotic spillover risk using ecological, environmental, and human-activity indicators.</a:t>
            </a:r>
          </a:p>
        </p:txBody>
      </p:sp>
      <p:sp>
        <p:nvSpPr>
          <p:cNvPr id="7" name="TextBox 6">
            <a:extLst>
              <a:ext uri="{FF2B5EF4-FFF2-40B4-BE49-F238E27FC236}">
                <a16:creationId xmlns:a16="http://schemas.microsoft.com/office/drawing/2014/main" id="{0B0348E2-BE36-5D96-6A5A-B4B529792BD8}"/>
              </a:ext>
            </a:extLst>
          </p:cNvPr>
          <p:cNvSpPr txBox="1"/>
          <p:nvPr/>
        </p:nvSpPr>
        <p:spPr>
          <a:xfrm>
            <a:off x="501445" y="2656148"/>
            <a:ext cx="6744929" cy="830997"/>
          </a:xfrm>
          <a:prstGeom prst="rect">
            <a:avLst/>
          </a:prstGeom>
          <a:noFill/>
        </p:spPr>
        <p:txBody>
          <a:bodyPr wrap="square" rtlCol="0">
            <a:spAutoFit/>
          </a:bodyPr>
          <a:lstStyle/>
          <a:p>
            <a:pPr>
              <a:buNone/>
            </a:pPr>
            <a:r>
              <a:rPr lang="en-US" sz="1600" b="1" dirty="0"/>
              <a:t>Generated Accurate Hotspot Maps</a:t>
            </a:r>
          </a:p>
          <a:p>
            <a:pPr>
              <a:buNone/>
            </a:pPr>
            <a:r>
              <a:rPr lang="en-US" sz="1600" dirty="0"/>
              <a:t>Created geospatial heatmaps that clearly highlight high-risk zones, validating the system against historical spillover and outbreak patterns.</a:t>
            </a:r>
          </a:p>
        </p:txBody>
      </p:sp>
      <p:sp>
        <p:nvSpPr>
          <p:cNvPr id="8" name="TextBox 7">
            <a:extLst>
              <a:ext uri="{FF2B5EF4-FFF2-40B4-BE49-F238E27FC236}">
                <a16:creationId xmlns:a16="http://schemas.microsoft.com/office/drawing/2014/main" id="{D82E78DA-B257-E363-215B-516088053D8A}"/>
              </a:ext>
            </a:extLst>
          </p:cNvPr>
          <p:cNvSpPr txBox="1"/>
          <p:nvPr/>
        </p:nvSpPr>
        <p:spPr>
          <a:xfrm>
            <a:off x="501445" y="3806426"/>
            <a:ext cx="6990736" cy="1077218"/>
          </a:xfrm>
          <a:prstGeom prst="rect">
            <a:avLst/>
          </a:prstGeom>
          <a:noFill/>
        </p:spPr>
        <p:txBody>
          <a:bodyPr wrap="square" rtlCol="0">
            <a:spAutoFit/>
          </a:bodyPr>
          <a:lstStyle/>
          <a:p>
            <a:pPr>
              <a:buNone/>
            </a:pPr>
            <a:r>
              <a:rPr lang="en-US" sz="1600" b="1" dirty="0"/>
              <a:t>Built an Interactive Dashboard</a:t>
            </a:r>
          </a:p>
          <a:p>
            <a:pPr>
              <a:buNone/>
            </a:pPr>
            <a:r>
              <a:rPr lang="en-US" sz="1600" dirty="0"/>
              <a:t>Designed a functional dashboard that visualizes risk scores, trend changes, and scenario outcomes, enabling easy interpretation for researchers and policymakers.</a:t>
            </a:r>
          </a:p>
        </p:txBody>
      </p:sp>
      <p:sp>
        <p:nvSpPr>
          <p:cNvPr id="9" name="TextBox 8">
            <a:extLst>
              <a:ext uri="{FF2B5EF4-FFF2-40B4-BE49-F238E27FC236}">
                <a16:creationId xmlns:a16="http://schemas.microsoft.com/office/drawing/2014/main" id="{FCF17322-D180-CACD-76D1-6CAE9488407E}"/>
              </a:ext>
            </a:extLst>
          </p:cNvPr>
          <p:cNvSpPr txBox="1"/>
          <p:nvPr/>
        </p:nvSpPr>
        <p:spPr>
          <a:xfrm>
            <a:off x="501445" y="5319562"/>
            <a:ext cx="6990736" cy="830997"/>
          </a:xfrm>
          <a:prstGeom prst="rect">
            <a:avLst/>
          </a:prstGeom>
          <a:noFill/>
        </p:spPr>
        <p:txBody>
          <a:bodyPr wrap="square" rtlCol="0">
            <a:spAutoFit/>
          </a:bodyPr>
          <a:lstStyle/>
          <a:p>
            <a:pPr>
              <a:buNone/>
            </a:pPr>
            <a:r>
              <a:rPr lang="en-US" sz="1600" b="1" dirty="0"/>
              <a:t>Conducted Intervention Simulations</a:t>
            </a:r>
          </a:p>
          <a:p>
            <a:pPr>
              <a:buNone/>
            </a:pPr>
            <a:r>
              <a:rPr lang="en-US" sz="1600" dirty="0"/>
              <a:t>Ran multiple simulation scenarios (e.g., reduced trade, increased forest cover) and observed measurable reductions in predicted spillover risk.</a:t>
            </a:r>
          </a:p>
        </p:txBody>
      </p:sp>
      <p:pic>
        <p:nvPicPr>
          <p:cNvPr id="14" name="Picture 13">
            <a:extLst>
              <a:ext uri="{FF2B5EF4-FFF2-40B4-BE49-F238E27FC236}">
                <a16:creationId xmlns:a16="http://schemas.microsoft.com/office/drawing/2014/main" id="{037E83AB-E7B5-4E6F-C250-31F83D0E7849}"/>
              </a:ext>
            </a:extLst>
          </p:cNvPr>
          <p:cNvPicPr>
            <a:picLocks noChangeAspect="1"/>
          </p:cNvPicPr>
          <p:nvPr/>
        </p:nvPicPr>
        <p:blipFill>
          <a:blip r:embed="rId3"/>
          <a:stretch>
            <a:fillRect/>
          </a:stretch>
        </p:blipFill>
        <p:spPr>
          <a:xfrm>
            <a:off x="7523846" y="1083619"/>
            <a:ext cx="4109884" cy="1995862"/>
          </a:xfrm>
          <a:prstGeom prst="rect">
            <a:avLst/>
          </a:prstGeom>
        </p:spPr>
      </p:pic>
      <p:pic>
        <p:nvPicPr>
          <p:cNvPr id="16" name="Picture 15">
            <a:extLst>
              <a:ext uri="{FF2B5EF4-FFF2-40B4-BE49-F238E27FC236}">
                <a16:creationId xmlns:a16="http://schemas.microsoft.com/office/drawing/2014/main" id="{009C55A7-25F3-C636-EAEA-A2427E1D83D4}"/>
              </a:ext>
            </a:extLst>
          </p:cNvPr>
          <p:cNvPicPr>
            <a:picLocks noChangeAspect="1"/>
          </p:cNvPicPr>
          <p:nvPr/>
        </p:nvPicPr>
        <p:blipFill>
          <a:blip r:embed="rId4"/>
          <a:stretch>
            <a:fillRect/>
          </a:stretch>
        </p:blipFill>
        <p:spPr>
          <a:xfrm>
            <a:off x="7523845" y="4107125"/>
            <a:ext cx="4166709" cy="2020931"/>
          </a:xfrm>
          <a:prstGeom prst="rect">
            <a:avLst/>
          </a:prstGeom>
        </p:spPr>
      </p:pic>
      <p:sp>
        <p:nvSpPr>
          <p:cNvPr id="2" name="Google Shape;234;p15">
            <a:extLst>
              <a:ext uri="{FF2B5EF4-FFF2-40B4-BE49-F238E27FC236}">
                <a16:creationId xmlns:a16="http://schemas.microsoft.com/office/drawing/2014/main" id="{C96884A2-F6F1-B30D-9C33-2D56E2184042}"/>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8" name="Rectangle 7">
            <a:extLst>
              <a:ext uri="{FF2B5EF4-FFF2-40B4-BE49-F238E27FC236}">
                <a16:creationId xmlns:a16="http://schemas.microsoft.com/office/drawing/2014/main" id="{194C2C52-D3B6-E771-182A-9DB3ADE4C602}"/>
              </a:ext>
            </a:extLst>
          </p:cNvPr>
          <p:cNvSpPr/>
          <p:nvPr/>
        </p:nvSpPr>
        <p:spPr>
          <a:xfrm>
            <a:off x="3724217" y="15938"/>
            <a:ext cx="4682612" cy="584775"/>
          </a:xfrm>
          <a:prstGeom prst="rect">
            <a:avLst/>
          </a:prstGeom>
          <a:noFill/>
        </p:spPr>
        <p:txBody>
          <a:bodyPr wrap="square" lIns="91440" tIns="45720" rIns="91440" bIns="4572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u="sng">
                <a:ln w="0"/>
                <a:effectLst>
                  <a:outerShdw blurRad="38100" dist="19050" dir="2700000" algn="tl" rotWithShape="0">
                    <a:schemeClr val="dk1">
                      <a:alpha val="40000"/>
                    </a:schemeClr>
                  </a:outerShdw>
                </a:effectLst>
                <a:latin typeface="Britannic Bold" panose="020B0903060703020204" pitchFamily="34" charset="0"/>
              </a:rPr>
              <a:t>Conclusion</a:t>
            </a:r>
            <a:endParaRPr lang="en-US" sz="3200" b="0" u="sng" cap="none" spc="0">
              <a:ln w="0"/>
              <a:solidFill>
                <a:schemeClr val="tx1"/>
              </a:solidFill>
              <a:effectLst>
                <a:outerShdw blurRad="38100" dist="19050" dir="2700000" algn="tl" rotWithShape="0">
                  <a:schemeClr val="dk1">
                    <a:alpha val="40000"/>
                  </a:schemeClr>
                </a:outerShdw>
              </a:effectLst>
              <a:latin typeface="Britannic Bold" panose="020B0903060703020204" pitchFamily="34" charset="0"/>
            </a:endParaRPr>
          </a:p>
        </p:txBody>
      </p:sp>
      <p:sp>
        <p:nvSpPr>
          <p:cNvPr id="9" name="Rectangle: Rounded Corners 8">
            <a:extLst>
              <a:ext uri="{FF2B5EF4-FFF2-40B4-BE49-F238E27FC236}">
                <a16:creationId xmlns:a16="http://schemas.microsoft.com/office/drawing/2014/main" id="{8600BD63-7EF9-D956-A151-755D979D2B46}"/>
              </a:ext>
            </a:extLst>
          </p:cNvPr>
          <p:cNvSpPr/>
          <p:nvPr/>
        </p:nvSpPr>
        <p:spPr>
          <a:xfrm>
            <a:off x="6082259" y="1173308"/>
            <a:ext cx="432000" cy="5040000"/>
          </a:xfrm>
          <a:prstGeom prst="roundRect">
            <a:avLst>
              <a:gd name="adj" fmla="val 41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nvGrpSpPr>
          <p:cNvPr id="10" name="Group 9">
            <a:extLst>
              <a:ext uri="{FF2B5EF4-FFF2-40B4-BE49-F238E27FC236}">
                <a16:creationId xmlns:a16="http://schemas.microsoft.com/office/drawing/2014/main" id="{D9EC0894-5023-05AB-8354-4C1734530D23}"/>
              </a:ext>
            </a:extLst>
          </p:cNvPr>
          <p:cNvGrpSpPr/>
          <p:nvPr/>
        </p:nvGrpSpPr>
        <p:grpSpPr>
          <a:xfrm>
            <a:off x="200080" y="1453735"/>
            <a:ext cx="6098179" cy="691724"/>
            <a:chOff x="152487" y="1137076"/>
            <a:chExt cx="6098179" cy="691724"/>
          </a:xfrm>
        </p:grpSpPr>
        <p:grpSp>
          <p:nvGrpSpPr>
            <p:cNvPr id="32" name="Group 31">
              <a:extLst>
                <a:ext uri="{FF2B5EF4-FFF2-40B4-BE49-F238E27FC236}">
                  <a16:creationId xmlns:a16="http://schemas.microsoft.com/office/drawing/2014/main" id="{6DBC9EE7-79A8-02FB-E549-053AEDB8B8E1}"/>
                </a:ext>
              </a:extLst>
            </p:cNvPr>
            <p:cNvGrpSpPr/>
            <p:nvPr/>
          </p:nvGrpSpPr>
          <p:grpSpPr>
            <a:xfrm>
              <a:off x="4964807" y="1257300"/>
              <a:ext cx="1285859" cy="571500"/>
              <a:chOff x="4964807" y="1257300"/>
              <a:chExt cx="1285859" cy="571500"/>
            </a:xfrm>
          </p:grpSpPr>
          <p:sp>
            <p:nvSpPr>
              <p:cNvPr id="34" name="Rectangle: Rounded Corners 33">
                <a:extLst>
                  <a:ext uri="{FF2B5EF4-FFF2-40B4-BE49-F238E27FC236}">
                    <a16:creationId xmlns:a16="http://schemas.microsoft.com/office/drawing/2014/main" id="{0DDA8ABD-1985-CD51-F051-8CC033D49130}"/>
                  </a:ext>
                </a:extLst>
              </p:cNvPr>
              <p:cNvSpPr/>
              <p:nvPr/>
            </p:nvSpPr>
            <p:spPr>
              <a:xfrm rot="16200000" flipH="1">
                <a:off x="5854666" y="1185150"/>
                <a:ext cx="72000" cy="720000"/>
              </a:xfrm>
              <a:prstGeom prst="roundRect">
                <a:avLst>
                  <a:gd name="adj" fmla="val 41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5" name="Oval 34">
                <a:extLst>
                  <a:ext uri="{FF2B5EF4-FFF2-40B4-BE49-F238E27FC236}">
                    <a16:creationId xmlns:a16="http://schemas.microsoft.com/office/drawing/2014/main" id="{F2E17C9C-A0C2-13B9-F6DA-56689DB414DC}"/>
                  </a:ext>
                </a:extLst>
              </p:cNvPr>
              <p:cNvSpPr/>
              <p:nvPr/>
            </p:nvSpPr>
            <p:spPr>
              <a:xfrm>
                <a:off x="4964807" y="1257300"/>
                <a:ext cx="590550" cy="5715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b="1"/>
                  <a:t>1.</a:t>
                </a:r>
              </a:p>
            </p:txBody>
          </p:sp>
        </p:grpSp>
        <p:sp>
          <p:nvSpPr>
            <p:cNvPr id="33" name="Rectangle 32">
              <a:extLst>
                <a:ext uri="{FF2B5EF4-FFF2-40B4-BE49-F238E27FC236}">
                  <a16:creationId xmlns:a16="http://schemas.microsoft.com/office/drawing/2014/main" id="{B0441F0C-1EFC-BB69-31C7-4974C2AF6290}"/>
                </a:ext>
              </a:extLst>
            </p:cNvPr>
            <p:cNvSpPr/>
            <p:nvPr/>
          </p:nvSpPr>
          <p:spPr>
            <a:xfrm>
              <a:off x="152487" y="1137076"/>
              <a:ext cx="4801718"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sz="1600" b="0" cap="none" spc="0">
                <a:ln w="0"/>
                <a:effectLst>
                  <a:outerShdw blurRad="38100" dist="38100" dir="2700000" algn="tl">
                    <a:srgbClr val="000000">
                      <a:alpha val="43137"/>
                    </a:srgbClr>
                  </a:outerShdw>
                </a:effectLst>
              </a:endParaRPr>
            </a:p>
          </p:txBody>
        </p:sp>
      </p:grpSp>
      <p:grpSp>
        <p:nvGrpSpPr>
          <p:cNvPr id="11" name="Group 10">
            <a:extLst>
              <a:ext uri="{FF2B5EF4-FFF2-40B4-BE49-F238E27FC236}">
                <a16:creationId xmlns:a16="http://schemas.microsoft.com/office/drawing/2014/main" id="{72037CCE-9D22-F8DB-1B2A-D7CF8ED127F2}"/>
              </a:ext>
            </a:extLst>
          </p:cNvPr>
          <p:cNvGrpSpPr/>
          <p:nvPr/>
        </p:nvGrpSpPr>
        <p:grpSpPr>
          <a:xfrm>
            <a:off x="6181111" y="1356611"/>
            <a:ext cx="6018932" cy="1323439"/>
            <a:chOff x="5936357" y="1666862"/>
            <a:chExt cx="6018932" cy="1323439"/>
          </a:xfrm>
        </p:grpSpPr>
        <p:grpSp>
          <p:nvGrpSpPr>
            <p:cNvPr id="28" name="Group 27">
              <a:extLst>
                <a:ext uri="{FF2B5EF4-FFF2-40B4-BE49-F238E27FC236}">
                  <a16:creationId xmlns:a16="http://schemas.microsoft.com/office/drawing/2014/main" id="{67067E71-F5C8-A0DE-DA57-C981B5E81978}"/>
                </a:ext>
              </a:extLst>
            </p:cNvPr>
            <p:cNvGrpSpPr/>
            <p:nvPr/>
          </p:nvGrpSpPr>
          <p:grpSpPr>
            <a:xfrm flipH="1">
              <a:off x="5936357" y="2095500"/>
              <a:ext cx="1285859" cy="571500"/>
              <a:chOff x="4964807" y="1257300"/>
              <a:chExt cx="1285859" cy="571500"/>
            </a:xfrm>
          </p:grpSpPr>
          <p:sp>
            <p:nvSpPr>
              <p:cNvPr id="30" name="Rectangle: Rounded Corners 29">
                <a:extLst>
                  <a:ext uri="{FF2B5EF4-FFF2-40B4-BE49-F238E27FC236}">
                    <a16:creationId xmlns:a16="http://schemas.microsoft.com/office/drawing/2014/main" id="{315B4D70-1ECA-6BE9-E853-10D755F4D191}"/>
                  </a:ext>
                </a:extLst>
              </p:cNvPr>
              <p:cNvSpPr/>
              <p:nvPr/>
            </p:nvSpPr>
            <p:spPr>
              <a:xfrm rot="16200000" flipH="1">
                <a:off x="5854666" y="1185150"/>
                <a:ext cx="72000" cy="720000"/>
              </a:xfrm>
              <a:prstGeom prst="roundRect">
                <a:avLst>
                  <a:gd name="adj" fmla="val 41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1" name="Oval 30">
                <a:extLst>
                  <a:ext uri="{FF2B5EF4-FFF2-40B4-BE49-F238E27FC236}">
                    <a16:creationId xmlns:a16="http://schemas.microsoft.com/office/drawing/2014/main" id="{FA6D1204-D64C-CB66-2F30-23D33DD69079}"/>
                  </a:ext>
                </a:extLst>
              </p:cNvPr>
              <p:cNvSpPr/>
              <p:nvPr/>
            </p:nvSpPr>
            <p:spPr>
              <a:xfrm>
                <a:off x="4964807" y="1257300"/>
                <a:ext cx="590550" cy="5715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a:t>2.</a:t>
                </a:r>
              </a:p>
            </p:txBody>
          </p:sp>
        </p:grpSp>
        <p:sp>
          <p:nvSpPr>
            <p:cNvPr id="29" name="Rectangle 28">
              <a:extLst>
                <a:ext uri="{FF2B5EF4-FFF2-40B4-BE49-F238E27FC236}">
                  <a16:creationId xmlns:a16="http://schemas.microsoft.com/office/drawing/2014/main" id="{E8B01220-609B-6D70-83F4-56AE9037F701}"/>
                </a:ext>
              </a:extLst>
            </p:cNvPr>
            <p:cNvSpPr/>
            <p:nvPr/>
          </p:nvSpPr>
          <p:spPr>
            <a:xfrm>
              <a:off x="7153571" y="1666862"/>
              <a:ext cx="4801718" cy="132343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The project applies a combined geospatial and machine-learning methodology, enabling the system to capture real-world interactions between humans, wildlife, and ecosystems more accurately than traditional reactive models.</a:t>
              </a:r>
              <a:endParaRPr lang="en-US" sz="1600" cap="none" spc="0" dirty="0">
                <a:ln w="0"/>
              </a:endParaRPr>
            </a:p>
          </p:txBody>
        </p:sp>
      </p:grpSp>
      <p:grpSp>
        <p:nvGrpSpPr>
          <p:cNvPr id="12" name="Group 11">
            <a:extLst>
              <a:ext uri="{FF2B5EF4-FFF2-40B4-BE49-F238E27FC236}">
                <a16:creationId xmlns:a16="http://schemas.microsoft.com/office/drawing/2014/main" id="{EB6023F2-A679-9902-622F-A7D0703B8ADD}"/>
              </a:ext>
            </a:extLst>
          </p:cNvPr>
          <p:cNvGrpSpPr/>
          <p:nvPr/>
        </p:nvGrpSpPr>
        <p:grpSpPr>
          <a:xfrm>
            <a:off x="-19324" y="2959993"/>
            <a:ext cx="6215499" cy="1077218"/>
            <a:chOff x="73599" y="2610925"/>
            <a:chExt cx="6215499" cy="1077218"/>
          </a:xfrm>
        </p:grpSpPr>
        <p:grpSp>
          <p:nvGrpSpPr>
            <p:cNvPr id="24" name="Group 23">
              <a:extLst>
                <a:ext uri="{FF2B5EF4-FFF2-40B4-BE49-F238E27FC236}">
                  <a16:creationId xmlns:a16="http://schemas.microsoft.com/office/drawing/2014/main" id="{56E3B272-DCD8-1CF5-774E-0F751BA896CA}"/>
                </a:ext>
              </a:extLst>
            </p:cNvPr>
            <p:cNvGrpSpPr/>
            <p:nvPr/>
          </p:nvGrpSpPr>
          <p:grpSpPr>
            <a:xfrm>
              <a:off x="5003239" y="3028998"/>
              <a:ext cx="1285859" cy="571500"/>
              <a:chOff x="4964807" y="1257300"/>
              <a:chExt cx="1285859" cy="571500"/>
            </a:xfrm>
          </p:grpSpPr>
          <p:sp>
            <p:nvSpPr>
              <p:cNvPr id="26" name="Rectangle: Rounded Corners 25">
                <a:extLst>
                  <a:ext uri="{FF2B5EF4-FFF2-40B4-BE49-F238E27FC236}">
                    <a16:creationId xmlns:a16="http://schemas.microsoft.com/office/drawing/2014/main" id="{682BAC65-69FC-ED8F-03C2-EAA71739DCF0}"/>
                  </a:ext>
                </a:extLst>
              </p:cNvPr>
              <p:cNvSpPr/>
              <p:nvPr/>
            </p:nvSpPr>
            <p:spPr>
              <a:xfrm rot="16200000" flipH="1">
                <a:off x="5854666" y="1185150"/>
                <a:ext cx="72000" cy="720000"/>
              </a:xfrm>
              <a:prstGeom prst="roundRect">
                <a:avLst>
                  <a:gd name="adj" fmla="val 41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27" name="Oval 26">
                <a:extLst>
                  <a:ext uri="{FF2B5EF4-FFF2-40B4-BE49-F238E27FC236}">
                    <a16:creationId xmlns:a16="http://schemas.microsoft.com/office/drawing/2014/main" id="{70281A72-4DFA-2F24-E825-F7EF732C6D97}"/>
                  </a:ext>
                </a:extLst>
              </p:cNvPr>
              <p:cNvSpPr/>
              <p:nvPr/>
            </p:nvSpPr>
            <p:spPr>
              <a:xfrm>
                <a:off x="4964807" y="1257300"/>
                <a:ext cx="590550" cy="5715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3.</a:t>
                </a:r>
              </a:p>
            </p:txBody>
          </p:sp>
        </p:grpSp>
        <p:sp>
          <p:nvSpPr>
            <p:cNvPr id="25" name="Rectangle 24">
              <a:extLst>
                <a:ext uri="{FF2B5EF4-FFF2-40B4-BE49-F238E27FC236}">
                  <a16:creationId xmlns:a16="http://schemas.microsoft.com/office/drawing/2014/main" id="{0445A8AE-6876-AC26-5427-0F51BA63CF25}"/>
                </a:ext>
              </a:extLst>
            </p:cNvPr>
            <p:cNvSpPr/>
            <p:nvPr/>
          </p:nvSpPr>
          <p:spPr>
            <a:xfrm>
              <a:off x="73599" y="2610925"/>
              <a:ext cx="4951447" cy="1077218"/>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dirty="0"/>
                <a:t>The ML model demonstrates strong predictive ability on unseen data, successfully identifying historical hotspots and highlighting new high-risk zones, validating its use as an early-warning tool.</a:t>
              </a:r>
            </a:p>
          </p:txBody>
        </p:sp>
      </p:grpSp>
      <p:grpSp>
        <p:nvGrpSpPr>
          <p:cNvPr id="13" name="Group 12">
            <a:extLst>
              <a:ext uri="{FF2B5EF4-FFF2-40B4-BE49-F238E27FC236}">
                <a16:creationId xmlns:a16="http://schemas.microsoft.com/office/drawing/2014/main" id="{3E3A9B52-3012-7A64-7795-EDB907A2FCBD}"/>
              </a:ext>
            </a:extLst>
          </p:cNvPr>
          <p:cNvGrpSpPr/>
          <p:nvPr/>
        </p:nvGrpSpPr>
        <p:grpSpPr>
          <a:xfrm>
            <a:off x="6141602" y="3885015"/>
            <a:ext cx="6058441" cy="1323439"/>
            <a:chOff x="5886450" y="3696358"/>
            <a:chExt cx="6058441" cy="1323439"/>
          </a:xfrm>
        </p:grpSpPr>
        <p:grpSp>
          <p:nvGrpSpPr>
            <p:cNvPr id="20" name="Group 19">
              <a:extLst>
                <a:ext uri="{FF2B5EF4-FFF2-40B4-BE49-F238E27FC236}">
                  <a16:creationId xmlns:a16="http://schemas.microsoft.com/office/drawing/2014/main" id="{09F18A68-0DF5-40E0-A117-73F49CE1B160}"/>
                </a:ext>
              </a:extLst>
            </p:cNvPr>
            <p:cNvGrpSpPr/>
            <p:nvPr/>
          </p:nvGrpSpPr>
          <p:grpSpPr>
            <a:xfrm flipH="1">
              <a:off x="5886450" y="3816582"/>
              <a:ext cx="1285859" cy="571500"/>
              <a:chOff x="4964807" y="1257300"/>
              <a:chExt cx="1285859" cy="571500"/>
            </a:xfrm>
          </p:grpSpPr>
          <p:sp>
            <p:nvSpPr>
              <p:cNvPr id="22" name="Rectangle: Rounded Corners 21">
                <a:extLst>
                  <a:ext uri="{FF2B5EF4-FFF2-40B4-BE49-F238E27FC236}">
                    <a16:creationId xmlns:a16="http://schemas.microsoft.com/office/drawing/2014/main" id="{5861F30C-F63B-02E6-8B1B-5C0AC83BCF95}"/>
                  </a:ext>
                </a:extLst>
              </p:cNvPr>
              <p:cNvSpPr/>
              <p:nvPr/>
            </p:nvSpPr>
            <p:spPr>
              <a:xfrm rot="16200000" flipH="1">
                <a:off x="5854666" y="1185150"/>
                <a:ext cx="72000" cy="720000"/>
              </a:xfrm>
              <a:prstGeom prst="roundRect">
                <a:avLst>
                  <a:gd name="adj" fmla="val 41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23" name="Oval 22">
                <a:extLst>
                  <a:ext uri="{FF2B5EF4-FFF2-40B4-BE49-F238E27FC236}">
                    <a16:creationId xmlns:a16="http://schemas.microsoft.com/office/drawing/2014/main" id="{5B23C251-7D65-421C-28B6-D0EC1381FC3F}"/>
                  </a:ext>
                </a:extLst>
              </p:cNvPr>
              <p:cNvSpPr/>
              <p:nvPr/>
            </p:nvSpPr>
            <p:spPr>
              <a:xfrm>
                <a:off x="4964807" y="1257300"/>
                <a:ext cx="590550" cy="5715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a:t>4.</a:t>
                </a:r>
              </a:p>
            </p:txBody>
          </p:sp>
        </p:grpSp>
        <p:sp>
          <p:nvSpPr>
            <p:cNvPr id="21" name="Rectangle 20">
              <a:extLst>
                <a:ext uri="{FF2B5EF4-FFF2-40B4-BE49-F238E27FC236}">
                  <a16:creationId xmlns:a16="http://schemas.microsoft.com/office/drawing/2014/main" id="{38579B43-EED7-F13C-1868-A7720761D59B}"/>
                </a:ext>
              </a:extLst>
            </p:cNvPr>
            <p:cNvSpPr/>
            <p:nvPr/>
          </p:nvSpPr>
          <p:spPr>
            <a:xfrm>
              <a:off x="7143173" y="3696358"/>
              <a:ext cx="4801718" cy="132343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Simulation results reveal that reducing illegal wildlife trade or restoring forest cover can substantially lower predicted spillover risk, showing </a:t>
              </a:r>
              <a:r>
                <a:rPr lang="en-US" sz="1600" dirty="0" err="1"/>
                <a:t>WildSentinel’s</a:t>
              </a:r>
              <a:r>
                <a:rPr lang="en-US" sz="1600" dirty="0"/>
                <a:t> value for policy and bio                 surveillance planning.</a:t>
              </a:r>
            </a:p>
          </p:txBody>
        </p:sp>
      </p:grpSp>
      <p:grpSp>
        <p:nvGrpSpPr>
          <p:cNvPr id="14" name="Group 13">
            <a:extLst>
              <a:ext uri="{FF2B5EF4-FFF2-40B4-BE49-F238E27FC236}">
                <a16:creationId xmlns:a16="http://schemas.microsoft.com/office/drawing/2014/main" id="{DEE81FC8-2661-924F-5ADE-3FEC25187403}"/>
              </a:ext>
            </a:extLst>
          </p:cNvPr>
          <p:cNvGrpSpPr/>
          <p:nvPr/>
        </p:nvGrpSpPr>
        <p:grpSpPr>
          <a:xfrm>
            <a:off x="139839" y="4742545"/>
            <a:ext cx="6087577" cy="1323439"/>
            <a:chOff x="211919" y="4473374"/>
            <a:chExt cx="6087577" cy="1323439"/>
          </a:xfrm>
        </p:grpSpPr>
        <p:grpSp>
          <p:nvGrpSpPr>
            <p:cNvPr id="16" name="Group 15">
              <a:extLst>
                <a:ext uri="{FF2B5EF4-FFF2-40B4-BE49-F238E27FC236}">
                  <a16:creationId xmlns:a16="http://schemas.microsoft.com/office/drawing/2014/main" id="{C0B10C68-7A38-D741-6B21-0B500916DFF2}"/>
                </a:ext>
              </a:extLst>
            </p:cNvPr>
            <p:cNvGrpSpPr/>
            <p:nvPr/>
          </p:nvGrpSpPr>
          <p:grpSpPr>
            <a:xfrm>
              <a:off x="5013637" y="4664929"/>
              <a:ext cx="1285859" cy="571500"/>
              <a:chOff x="4964807" y="1257300"/>
              <a:chExt cx="1285859" cy="571500"/>
            </a:xfrm>
          </p:grpSpPr>
          <p:sp>
            <p:nvSpPr>
              <p:cNvPr id="18" name="Rectangle: Rounded Corners 17">
                <a:extLst>
                  <a:ext uri="{FF2B5EF4-FFF2-40B4-BE49-F238E27FC236}">
                    <a16:creationId xmlns:a16="http://schemas.microsoft.com/office/drawing/2014/main" id="{EC1339F5-3606-0691-8EB0-50529533E121}"/>
                  </a:ext>
                </a:extLst>
              </p:cNvPr>
              <p:cNvSpPr/>
              <p:nvPr/>
            </p:nvSpPr>
            <p:spPr>
              <a:xfrm rot="16200000" flipH="1">
                <a:off x="5854666" y="1185150"/>
                <a:ext cx="72000" cy="720000"/>
              </a:xfrm>
              <a:prstGeom prst="roundRect">
                <a:avLst>
                  <a:gd name="adj" fmla="val 41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9" name="Oval 18">
                <a:extLst>
                  <a:ext uri="{FF2B5EF4-FFF2-40B4-BE49-F238E27FC236}">
                    <a16:creationId xmlns:a16="http://schemas.microsoft.com/office/drawing/2014/main" id="{2ADA797C-74A1-5422-5596-CB465F6CA1DF}"/>
                  </a:ext>
                </a:extLst>
              </p:cNvPr>
              <p:cNvSpPr/>
              <p:nvPr/>
            </p:nvSpPr>
            <p:spPr>
              <a:xfrm>
                <a:off x="4964807" y="1257300"/>
                <a:ext cx="590550" cy="5715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5.</a:t>
                </a:r>
              </a:p>
            </p:txBody>
          </p:sp>
        </p:grpSp>
        <p:sp>
          <p:nvSpPr>
            <p:cNvPr id="17" name="Rectangle 16">
              <a:extLst>
                <a:ext uri="{FF2B5EF4-FFF2-40B4-BE49-F238E27FC236}">
                  <a16:creationId xmlns:a16="http://schemas.microsoft.com/office/drawing/2014/main" id="{F80B30C1-72A3-BA4F-A790-5D4B5F4644AC}"/>
                </a:ext>
              </a:extLst>
            </p:cNvPr>
            <p:cNvSpPr/>
            <p:nvPr/>
          </p:nvSpPr>
          <p:spPr>
            <a:xfrm>
              <a:off x="211919" y="4473374"/>
              <a:ext cx="4801718" cy="132343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dirty="0"/>
                <a:t>Overall, WildSentinel provides a scalable, data-driven decision-support framework grounded in the One Health approach, helping strengthen global preparedness and promote safer coexistence between humans and wildlife.</a:t>
              </a:r>
              <a:endParaRPr lang="en-US" dirty="0"/>
            </a:p>
          </p:txBody>
        </p:sp>
      </p:grpSp>
      <p:sp>
        <p:nvSpPr>
          <p:cNvPr id="15" name="TextBox 2">
            <a:extLst>
              <a:ext uri="{FF2B5EF4-FFF2-40B4-BE49-F238E27FC236}">
                <a16:creationId xmlns:a16="http://schemas.microsoft.com/office/drawing/2014/main" id="{96FE5387-2201-8849-C6CF-EB7EF345E20D}"/>
              </a:ext>
            </a:extLst>
          </p:cNvPr>
          <p:cNvSpPr txBox="1"/>
          <p:nvPr/>
        </p:nvSpPr>
        <p:spPr>
          <a:xfrm>
            <a:off x="3257" y="1365750"/>
            <a:ext cx="4959717"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dirty="0"/>
              <a:t>WildSentinel shows that zoonotic spillover risk can be predicted early by integrating wildlife trade, habitat loss, biodiversity, and outbreak data into a unified analytical framework.</a:t>
            </a:r>
          </a:p>
        </p:txBody>
      </p:sp>
      <p:sp>
        <p:nvSpPr>
          <p:cNvPr id="2" name="Google Shape;234;p15">
            <a:extLst>
              <a:ext uri="{FF2B5EF4-FFF2-40B4-BE49-F238E27FC236}">
                <a16:creationId xmlns:a16="http://schemas.microsoft.com/office/drawing/2014/main" id="{8A9DD791-A649-0C9D-A653-2E9FFCBCD703}"/>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Monday, 8 June 2026</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u="sng" dirty="0">
                <a:solidFill>
                  <a:schemeClr val="tx1"/>
                </a:solidFill>
                <a:latin typeface="Bookman Old Style"/>
                <a:ea typeface="Bookman Old Style"/>
                <a:cs typeface="Bookman Old Style"/>
                <a:sym typeface="Bookman Old Style"/>
              </a:rPr>
              <a:t>References</a:t>
            </a:r>
            <a:endParaRPr sz="3600" u="sng" dirty="0">
              <a:solidFill>
                <a:schemeClr val="tx1"/>
              </a:solidFill>
            </a:endParaRPr>
          </a:p>
        </p:txBody>
      </p:sp>
      <p:sp>
        <p:nvSpPr>
          <p:cNvPr id="4" name="Rectangle 3">
            <a:extLst>
              <a:ext uri="{FF2B5EF4-FFF2-40B4-BE49-F238E27FC236}">
                <a16:creationId xmlns:a16="http://schemas.microsoft.com/office/drawing/2014/main" id="{A967FEDC-484C-DB16-DB54-6C58937CC565}"/>
              </a:ext>
            </a:extLst>
          </p:cNvPr>
          <p:cNvSpPr/>
          <p:nvPr/>
        </p:nvSpPr>
        <p:spPr>
          <a:xfrm>
            <a:off x="35332" y="1157759"/>
            <a:ext cx="12121335" cy="513986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600" dirty="0">
                <a:ln w="0"/>
                <a:solidFill>
                  <a:srgbClr val="000000"/>
                </a:solidFill>
                <a:effectLst>
                  <a:outerShdw blurRad="38100" dist="19050" dir="2700000" algn="tl" rotWithShape="0">
                    <a:prstClr val="black">
                      <a:alpha val="40000"/>
                    </a:prstClr>
                  </a:outerShdw>
                </a:effectLst>
                <a:latin typeface="ElsevierGulliver"/>
                <a:ea typeface="+mn-lt"/>
                <a:cs typeface="+mn-lt"/>
              </a:rPr>
              <a:t>[1] </a:t>
            </a:r>
            <a:r>
              <a:rPr lang="en-US" sz="1600" dirty="0"/>
              <a:t>Zoonotic spillover in an era of rapid deforestation and wildlife trafficking: Into the wild.</a:t>
            </a:r>
            <a:endParaRPr lang="en-IN" sz="1600" dirty="0">
              <a:ln w="0"/>
              <a:effectLst>
                <a:outerShdw blurRad="38100" dist="19050" dir="2700000" algn="tl" rotWithShape="0">
                  <a:prstClr val="black">
                    <a:alpha val="40000"/>
                  </a:prstClr>
                </a:outerShdw>
              </a:effectLst>
              <a:ea typeface="+mn-lt"/>
              <a:cs typeface="+mn-lt"/>
            </a:endParaRPr>
          </a:p>
          <a:p>
            <a:r>
              <a:rPr lang="en-US" sz="1600" dirty="0">
                <a:ea typeface="+mn-lt"/>
                <a:cs typeface="+mn-lt"/>
              </a:rPr>
              <a:t> </a:t>
            </a:r>
            <a:r>
              <a:rPr lang="en-US" sz="1600" dirty="0">
                <a:ea typeface="+mn-lt"/>
                <a:cs typeface="+mn-lt"/>
                <a:hlinkClick r:id="rId3"/>
              </a:rPr>
              <a:t>https://www.mdpi.com/2078-1547/13/2/41</a:t>
            </a:r>
            <a:r>
              <a:rPr lang="en-US" sz="1600" dirty="0">
                <a:ea typeface="+mn-lt"/>
                <a:cs typeface="+mn-lt"/>
              </a:rPr>
              <a:t> </a:t>
            </a:r>
            <a:endParaRPr lang="en-US" dirty="0"/>
          </a:p>
          <a:p>
            <a:endParaRPr lang="en-IN" sz="1600" cap="none" spc="0" dirty="0">
              <a:ln w="0"/>
              <a:solidFill>
                <a:schemeClr val="accent5"/>
              </a:solidFill>
              <a:effectLst>
                <a:outerShdw blurRad="38100" dist="19050" dir="2700000" algn="tl" rotWithShape="0">
                  <a:schemeClr val="dk1">
                    <a:alpha val="40000"/>
                  </a:schemeClr>
                </a:outerShdw>
              </a:effectLst>
            </a:endParaRPr>
          </a:p>
          <a:p>
            <a:pPr eaLnBrk="0" fontAlgn="base" hangingPunct="0">
              <a:spcBef>
                <a:spcPct val="0"/>
              </a:spcBef>
              <a:spcAft>
                <a:spcPct val="0"/>
              </a:spcAft>
            </a:pPr>
            <a:r>
              <a:rPr lang="en-IN" sz="1600" cap="none" spc="0" dirty="0">
                <a:ln w="0"/>
                <a:effectLst>
                  <a:outerShdw blurRad="38100" dist="19050" dir="2700000" algn="tl" rotWithShape="0">
                    <a:schemeClr val="dk1">
                      <a:alpha val="40000"/>
                    </a:schemeClr>
                  </a:outerShdw>
                </a:effectLst>
              </a:rPr>
              <a:t>[2]</a:t>
            </a:r>
            <a:r>
              <a:rPr lang="en-US" sz="1600" dirty="0"/>
              <a:t> “Bushmeat hunting, deforestation, and prediction of zoonotic disease,” Emerging Infectious Diseases, vol. 11, no. 12.</a:t>
            </a:r>
            <a:endParaRPr lang="en-US" altLang="en-US" sz="1600" i="0" u="none" strike="noStrike" cap="none" normalizeH="0" baseline="0" dirty="0">
              <a:ln>
                <a:noFill/>
              </a:ln>
              <a:solidFill>
                <a:srgbClr val="333333"/>
              </a:solidFill>
              <a:effectLst/>
              <a:latin typeface="HelveticaNeue Regular"/>
            </a:endParaRPr>
          </a:p>
          <a:p>
            <a:pPr>
              <a:spcBef>
                <a:spcPct val="0"/>
              </a:spcBef>
              <a:spcAft>
                <a:spcPct val="0"/>
              </a:spcAft>
            </a:pPr>
            <a:r>
              <a:rPr lang="en-US" sz="1600" dirty="0">
                <a:hlinkClick r:id="rId4"/>
              </a:rPr>
              <a:t>https://wwwnc.cdc.gov/eid/article/11/12/04-0789_article</a:t>
            </a:r>
            <a:r>
              <a:rPr lang="en-US" sz="1600" dirty="0"/>
              <a:t> </a:t>
            </a:r>
          </a:p>
          <a:p>
            <a:endParaRPr lang="en-IN" sz="1600" dirty="0">
              <a:ln w="0"/>
              <a:solidFill>
                <a:srgbClr val="000000"/>
              </a:solidFill>
              <a:effectLst>
                <a:outerShdw blurRad="38100" dist="19050" dir="2700000" algn="tl" rotWithShape="0">
                  <a:prstClr val="black">
                    <a:alpha val="40000"/>
                  </a:prstClr>
                </a:outerShdw>
              </a:effectLst>
            </a:endParaRPr>
          </a:p>
          <a:p>
            <a:r>
              <a:rPr lang="en-IN" sz="1600" dirty="0">
                <a:ln w="0"/>
                <a:effectLst>
                  <a:outerShdw blurRad="38100" dist="19050" dir="2700000" algn="tl" rotWithShape="0">
                    <a:schemeClr val="dk1">
                      <a:alpha val="40000"/>
                    </a:schemeClr>
                  </a:outerShdw>
                </a:effectLst>
              </a:rPr>
              <a:t>[3] </a:t>
            </a:r>
            <a:r>
              <a:rPr lang="en-US" sz="1600" dirty="0"/>
              <a:t>“Situation analysis on the roles and risks of wildlife in the emergence of human infectious diseases,” IUCN Report. </a:t>
            </a:r>
            <a:endParaRPr lang="en-IN" sz="1600" dirty="0">
              <a:ln w="0"/>
              <a:effectLst>
                <a:outerShdw blurRad="38100" dist="19050" dir="2700000" algn="tl" rotWithShape="0">
                  <a:prstClr val="black">
                    <a:alpha val="40000"/>
                  </a:prstClr>
                </a:outerShdw>
              </a:effectLst>
            </a:endParaRPr>
          </a:p>
          <a:p>
            <a:r>
              <a:rPr lang="en-IN" sz="1600" dirty="0">
                <a:hlinkClick r:id="rId5"/>
              </a:rPr>
              <a:t>https://iucn.org/resources/publication/situation-analysis-roles-and-risks-wildlife-emergence-human-infectious</a:t>
            </a:r>
            <a:r>
              <a:rPr lang="en-IN" sz="1600" dirty="0"/>
              <a:t> </a:t>
            </a:r>
          </a:p>
          <a:p>
            <a:endParaRPr lang="en-IN" sz="1600" dirty="0">
              <a:ln w="0"/>
              <a:effectLst>
                <a:outerShdw blurRad="38100" dist="19050" dir="2700000" algn="tl" rotWithShape="0">
                  <a:schemeClr val="dk1">
                    <a:alpha val="40000"/>
                  </a:schemeClr>
                </a:outerShdw>
              </a:effectLst>
            </a:endParaRPr>
          </a:p>
          <a:p>
            <a:r>
              <a:rPr lang="en-IN" sz="1600" cap="none" spc="0" dirty="0">
                <a:ln w="0"/>
                <a:effectLst>
                  <a:outerShdw blurRad="38100" dist="19050" dir="2700000" algn="tl" rotWithShape="0">
                    <a:schemeClr val="dk1">
                      <a:alpha val="40000"/>
                    </a:schemeClr>
                  </a:outerShdw>
                </a:effectLst>
              </a:rPr>
              <a:t>[4] </a:t>
            </a:r>
            <a:r>
              <a:rPr lang="en-US" sz="1600" dirty="0"/>
              <a:t>Mathematically modeling spillover dynamics of emerging zoonoses with intermediate hosts.</a:t>
            </a:r>
            <a:endParaRPr lang="en-IN" sz="1600" dirty="0">
              <a:ln w="0"/>
              <a:effectLst>
                <a:outerShdw blurRad="38100" dist="19050" dir="2700000" algn="tl" rotWithShape="0">
                  <a:prstClr val="black">
                    <a:alpha val="40000"/>
                  </a:prstClr>
                </a:outerShdw>
              </a:effectLst>
            </a:endParaRPr>
          </a:p>
          <a:p>
            <a:r>
              <a:rPr lang="en-IN" sz="1600" dirty="0">
                <a:hlinkClick r:id="rId6"/>
              </a:rPr>
              <a:t>https://arxiv.org/abs/1908.10791</a:t>
            </a:r>
            <a:r>
              <a:rPr lang="en-IN" sz="1600" dirty="0"/>
              <a:t> </a:t>
            </a:r>
          </a:p>
          <a:p>
            <a:endParaRPr lang="en-IN" sz="1600" cap="none" spc="0" dirty="0">
              <a:ln w="0"/>
              <a:effectLst>
                <a:outerShdw blurRad="38100" dist="19050" dir="2700000" algn="tl" rotWithShape="0">
                  <a:schemeClr val="dk1">
                    <a:alpha val="40000"/>
                  </a:schemeClr>
                </a:outerShdw>
              </a:effectLst>
            </a:endParaRPr>
          </a:p>
          <a:p>
            <a:r>
              <a:rPr lang="en-IN" sz="1600" cap="none" spc="0" dirty="0">
                <a:ln w="0"/>
                <a:effectLst>
                  <a:outerShdw blurRad="38100" dist="19050" dir="2700000" algn="tl" rotWithShape="0">
                    <a:schemeClr val="dk1">
                      <a:alpha val="40000"/>
                    </a:schemeClr>
                  </a:outerShdw>
                </a:effectLst>
              </a:rPr>
              <a:t>[5]</a:t>
            </a:r>
            <a:r>
              <a:rPr lang="en-US" sz="1600" i="0" dirty="0">
                <a:solidFill>
                  <a:srgbClr val="333333"/>
                </a:solidFill>
                <a:effectLst/>
                <a:latin typeface="HelveticaNeue Regular"/>
              </a:rPr>
              <a:t> </a:t>
            </a:r>
            <a:r>
              <a:rPr lang="en-US" sz="1600" dirty="0"/>
              <a:t>Algorithmic bio-surveillance for precise </a:t>
            </a:r>
            <a:r>
              <a:rPr lang="en-US" sz="1600" dirty="0" err="1"/>
              <a:t>spatio</a:t>
            </a:r>
            <a:r>
              <a:rPr lang="en-US" sz="1600" dirty="0"/>
              <a:t>-temporal prediction of zoonotic emergence.</a:t>
            </a:r>
            <a:endParaRPr lang="en-US" sz="1600" i="0" dirty="0">
              <a:solidFill>
                <a:srgbClr val="333333"/>
              </a:solidFill>
              <a:effectLst/>
              <a:ea typeface="+mn-lt"/>
              <a:cs typeface="+mn-lt"/>
            </a:endParaRPr>
          </a:p>
          <a:p>
            <a:r>
              <a:rPr lang="en-US" sz="1600" dirty="0">
                <a:hlinkClick r:id="rId7"/>
              </a:rPr>
              <a:t>https://arxiv.org/abs/1801.07807</a:t>
            </a:r>
            <a:r>
              <a:rPr lang="en-US" sz="1600" dirty="0"/>
              <a:t> </a:t>
            </a:r>
          </a:p>
          <a:p>
            <a:endParaRPr lang="en-US" sz="1600" dirty="0"/>
          </a:p>
          <a:p>
            <a:r>
              <a:rPr lang="en-US" sz="1600" dirty="0">
                <a:ln w="0"/>
                <a:effectLst>
                  <a:outerShdw blurRad="38100" dist="19050" dir="2700000" algn="tl" rotWithShape="0">
                    <a:schemeClr val="dk1">
                      <a:alpha val="40000"/>
                    </a:schemeClr>
                  </a:outerShdw>
                </a:effectLst>
              </a:rPr>
              <a:t>[6] </a:t>
            </a:r>
            <a:r>
              <a:rPr lang="en-US" sz="1600" dirty="0"/>
              <a:t>United Nations Environment Program (UNEP), Preventing the Next Pandemic: Zoonotic diseases and how to break the chain of transmission, Convention on Biological Diversity, 2020. </a:t>
            </a:r>
            <a:endParaRPr lang="en-US" sz="1600" dirty="0">
              <a:ea typeface="+mn-lt"/>
              <a:cs typeface="+mn-lt"/>
            </a:endParaRPr>
          </a:p>
          <a:p>
            <a:r>
              <a:rPr lang="en-US" dirty="0">
                <a:hlinkClick r:id="rId8"/>
              </a:rPr>
              <a:t>h</a:t>
            </a:r>
            <a:r>
              <a:rPr lang="en-US" sz="1600" dirty="0">
                <a:hlinkClick r:id="rId8"/>
              </a:rPr>
              <a:t>ttps://wedocs.unep.org/handle/20.500.11822/32316</a:t>
            </a:r>
            <a:endParaRPr lang="en-US" sz="1600" dirty="0"/>
          </a:p>
          <a:p>
            <a:endParaRPr lang="en-US" dirty="0"/>
          </a:p>
          <a:p>
            <a:endParaRPr lang="en-IN" sz="1600" cap="none" spc="0" dirty="0">
              <a:ln w="0"/>
              <a:effectLst>
                <a:outerShdw blurRad="38100" dist="19050" dir="2700000" algn="tl" rotWithShape="0">
                  <a:schemeClr val="dk1">
                    <a:alpha val="40000"/>
                  </a:schemeClr>
                </a:outerShdw>
              </a:effectLst>
            </a:endParaRPr>
          </a:p>
        </p:txBody>
      </p:sp>
      <p:sp>
        <p:nvSpPr>
          <p:cNvPr id="5" name="Google Shape;234;p15">
            <a:extLst>
              <a:ext uri="{FF2B5EF4-FFF2-40B4-BE49-F238E27FC236}">
                <a16:creationId xmlns:a16="http://schemas.microsoft.com/office/drawing/2014/main" id="{E93C6AC8-E086-BC5B-FFEB-4AC061A60E2F}"/>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Tuesday, 2 December 2025</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
        <p:nvSpPr>
          <p:cNvPr id="2" name="Google Shape;234;p15">
            <a:extLst>
              <a:ext uri="{FF2B5EF4-FFF2-40B4-BE49-F238E27FC236}">
                <a16:creationId xmlns:a16="http://schemas.microsoft.com/office/drawing/2014/main" id="{459F4BA1-A85D-F386-B1AB-285E87637EE5}"/>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Tuesday, 2 December 2025</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359</TotalTime>
  <Words>1942</Words>
  <Application>Microsoft Office PowerPoint</Application>
  <PresentationFormat>Widescreen</PresentationFormat>
  <Paragraphs>155</Paragraphs>
  <Slides>14</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Bookman Old Style</vt:lpstr>
      <vt:lpstr>Britannic Bold</vt:lpstr>
      <vt:lpstr>Calibri</vt:lpstr>
      <vt:lpstr>Elephant</vt:lpstr>
      <vt:lpstr>ElsevierGulliver</vt:lpstr>
      <vt:lpstr>HelveticaNeue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Avyav Saraf</cp:lastModifiedBy>
  <cp:revision>7</cp:revision>
  <dcterms:created xsi:type="dcterms:W3CDTF">2021-06-02T13:10:21Z</dcterms:created>
  <dcterms:modified xsi:type="dcterms:W3CDTF">2026-06-07T16:24:43Z</dcterms:modified>
</cp:coreProperties>
</file>