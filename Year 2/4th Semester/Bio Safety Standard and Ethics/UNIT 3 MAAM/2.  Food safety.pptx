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6" r:id="rId6"/>
    <p:sldId id="261" r:id="rId7"/>
    <p:sldId id="273" r:id="rId8"/>
    <p:sldId id="264" r:id="rId9"/>
    <p:sldId id="269" r:id="rId10"/>
    <p:sldId id="270" r:id="rId11"/>
    <p:sldId id="271" r:id="rId12"/>
    <p:sldId id="272" r:id="rId13"/>
    <p:sldId id="301" r:id="rId14"/>
    <p:sldId id="258" r:id="rId15"/>
    <p:sldId id="265" r:id="rId16"/>
    <p:sldId id="302" r:id="rId17"/>
    <p:sldId id="303" r:id="rId18"/>
    <p:sldId id="262" r:id="rId19"/>
    <p:sldId id="275" r:id="rId20"/>
    <p:sldId id="288" r:id="rId21"/>
    <p:sldId id="289" r:id="rId22"/>
    <p:sldId id="290" r:id="rId23"/>
    <p:sldId id="296" r:id="rId24"/>
    <p:sldId id="292" r:id="rId25"/>
    <p:sldId id="297" r:id="rId26"/>
    <p:sldId id="298" r:id="rId27"/>
    <p:sldId id="299" r:id="rId28"/>
    <p:sldId id="300" r:id="rId29"/>
    <p:sldId id="286" r:id="rId30"/>
    <p:sldId id="305" r:id="rId31"/>
    <p:sldId id="267" r:id="rId32"/>
    <p:sldId id="268" r:id="rId33"/>
    <p:sldId id="306" r:id="rId34"/>
    <p:sldId id="307" r:id="rId35"/>
    <p:sldId id="274" r:id="rId36"/>
    <p:sldId id="308" r:id="rId37"/>
    <p:sldId id="309" r:id="rId38"/>
    <p:sldId id="279" r:id="rId39"/>
    <p:sldId id="278" r:id="rId40"/>
    <p:sldId id="277" r:id="rId41"/>
    <p:sldId id="276" r:id="rId42"/>
    <p:sldId id="310" r:id="rId43"/>
    <p:sldId id="280" r:id="rId44"/>
    <p:sldId id="281" r:id="rId45"/>
    <p:sldId id="282" r:id="rId46"/>
    <p:sldId id="283" r:id="rId47"/>
    <p:sldId id="284" r:id="rId48"/>
    <p:sldId id="285" r:id="rId49"/>
    <p:sldId id="291" r:id="rId50"/>
    <p:sldId id="311" r:id="rId51"/>
    <p:sldId id="293" r:id="rId52"/>
    <p:sldId id="312" r:id="rId53"/>
    <p:sldId id="287" r:id="rId54"/>
    <p:sldId id="313" r:id="rId55"/>
    <p:sldId id="314" r:id="rId56"/>
    <p:sldId id="294"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6F0"/>
    <a:srgbClr val="F0FAFE"/>
    <a:srgbClr val="D8F3FC"/>
    <a:srgbClr val="FFFFFF"/>
    <a:srgbClr val="00AA48"/>
    <a:srgbClr val="F3F8DC"/>
    <a:srgbClr val="F117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9A8C7-19D0-F71F-7937-444B4C9BDA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CF639DE-12CE-F25D-3C73-CA4CAD9455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4F2C78-0030-35E8-8CC8-188487F8A2CF}"/>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F7B0C0F2-028F-6DB3-42B0-346F659DBE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AA75A9-0ECB-EA69-BFF6-A8B1EE23D8E2}"/>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391198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86D74-0F57-99F6-0A50-87EDAF5CE9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628F9C-9A8B-050D-2445-9BB1C68B23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0F9CBB-0C84-7DDC-E337-7E0A0BDA3F24}"/>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790A8845-23E6-0C24-1EDF-AB5ECE06DC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E2553D-22BC-AEBE-3D34-029DAAE99BFF}"/>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1604646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7053F-E6A5-A408-77C0-1D73AAA510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A43DEE-F206-F749-C16D-ABC673ADCA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C80925-50F0-51C5-CC20-8EDDD210D905}"/>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FB12D04F-6D0C-C4E7-FE65-A58729A10C4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CA67E5-C1C2-634F-756B-C1B0DB9BB9D7}"/>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72974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F4378-012D-0B35-19C3-BFD50875E84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D8A36B-6D0A-210C-D9D1-D6302A2F96A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54CBB09-B9A3-EA47-8C11-37468FEF7A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0899A5-21E5-9CB4-F667-67D451DDD8BD}"/>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6" name="Footer Placeholder 5">
            <a:extLst>
              <a:ext uri="{FF2B5EF4-FFF2-40B4-BE49-F238E27FC236}">
                <a16:creationId xmlns:a16="http://schemas.microsoft.com/office/drawing/2014/main" id="{533E241C-7755-D972-CAB0-0ED5965E572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EC1CA9-2834-20AA-6069-74FD309EEEBF}"/>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303183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07894-AE22-132E-4BDF-E4626EB99D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F8BB90-0CDA-B410-C5F0-752B444514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FECB93-BAF7-980D-1AFD-11871DAF5A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675AA9-D6D4-7427-CF53-2B3148BEF7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8FEBA6B-27C5-5D09-21EE-9CC7A7F23BF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E5E5E8C-F283-3A81-0DD8-9583E32D5A20}"/>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8" name="Footer Placeholder 7">
            <a:extLst>
              <a:ext uri="{FF2B5EF4-FFF2-40B4-BE49-F238E27FC236}">
                <a16:creationId xmlns:a16="http://schemas.microsoft.com/office/drawing/2014/main" id="{FE15CB58-2A0F-C8E2-D25B-2DF46105240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F69EAA3-7617-FD4B-646D-801E61EC5D29}"/>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3959188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1EB7-E36C-19FB-4F15-769D01B362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3DBCA79-273C-EDE9-CF89-F3B3F4AD30A2}"/>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4" name="Footer Placeholder 3">
            <a:extLst>
              <a:ext uri="{FF2B5EF4-FFF2-40B4-BE49-F238E27FC236}">
                <a16:creationId xmlns:a16="http://schemas.microsoft.com/office/drawing/2014/main" id="{68EF008D-2698-997A-B39C-8C5848A114D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FD40984-2863-38FF-DFDF-E700CD61E84D}"/>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736342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2F8BA-DC35-BD24-53A8-92B2FA8D3647}"/>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3" name="Footer Placeholder 2">
            <a:extLst>
              <a:ext uri="{FF2B5EF4-FFF2-40B4-BE49-F238E27FC236}">
                <a16:creationId xmlns:a16="http://schemas.microsoft.com/office/drawing/2014/main" id="{097EC0D5-8E6A-B71C-9618-F3C98935553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2E5C5D6-8266-749B-D87B-A483AA3D8944}"/>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20845045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0ECCF-6BB3-9368-90EC-8ECD9FCF05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956F1DD-AA13-059E-0616-1DD0E6E855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578CC69-ACBF-59CC-9D1E-71796CBAF4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F3886B-E36C-9B32-E261-C33798384DC3}"/>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6" name="Footer Placeholder 5">
            <a:extLst>
              <a:ext uri="{FF2B5EF4-FFF2-40B4-BE49-F238E27FC236}">
                <a16:creationId xmlns:a16="http://schemas.microsoft.com/office/drawing/2014/main" id="{6377BD71-D8AC-6EE3-B901-A51A5021FC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4BCB9-4068-00BC-4310-6E87E9D7B658}"/>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41874616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D3C73-BC67-25AD-EAB1-325C85590B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1D583E5-CF74-C8BC-411A-670B9B74D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D382B2-E85F-4488-7345-D1B021957A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472717-4A89-504F-0730-DD5E8707B0F2}"/>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6" name="Footer Placeholder 5">
            <a:extLst>
              <a:ext uri="{FF2B5EF4-FFF2-40B4-BE49-F238E27FC236}">
                <a16:creationId xmlns:a16="http://schemas.microsoft.com/office/drawing/2014/main" id="{F8D232FA-6DAA-63C2-7010-5912F0B400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9E8BB5E-6747-674F-5353-6742EBF2F000}"/>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760154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F2BAD-31A4-5C01-4AD9-E350A86D508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282D5A-4158-09D7-F6AE-651297D316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BE0068-4C25-FE9A-F3BB-1E4558281FAB}"/>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AF346CF9-862A-05AE-0C95-BC8A1575DC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B3D736E-B37F-5D90-24C0-58C2C5AA5D46}"/>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3376852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AC6FE9-ADE6-867B-752C-F652003C4C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309BCE9-922B-910A-5DAE-1060B76354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ACF2D2-FC94-899F-D071-03117A5D1F92}"/>
              </a:ext>
            </a:extLst>
          </p:cNvPr>
          <p:cNvSpPr>
            <a:spLocks noGrp="1"/>
          </p:cNvSpPr>
          <p:nvPr>
            <p:ph type="dt" sz="half" idx="10"/>
          </p:nvPr>
        </p:nvSpPr>
        <p:spPr/>
        <p:txBody>
          <a:body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08FE348E-C668-2808-E8A5-CA42F674D7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66E6F3-F2E6-67D1-26DF-B951D197B532}"/>
              </a:ext>
            </a:extLst>
          </p:cNvPr>
          <p:cNvSpPr>
            <a:spLocks noGrp="1"/>
          </p:cNvSpPr>
          <p:nvPr>
            <p:ph type="sldNum" sz="quarter" idx="12"/>
          </p:nvPr>
        </p:nvSpPr>
        <p:spPr/>
        <p:txBody>
          <a:bodyPr/>
          <a:lstStyle/>
          <a:p>
            <a:fld id="{47A92C0D-301B-46D9-9ECD-FB0477BC1E9C}" type="slidenum">
              <a:rPr lang="en-IN" smtClean="0"/>
              <a:t>‹#›</a:t>
            </a:fld>
            <a:endParaRPr lang="en-IN"/>
          </a:p>
        </p:txBody>
      </p:sp>
    </p:spTree>
    <p:extLst>
      <p:ext uri="{BB962C8B-B14F-4D97-AF65-F5344CB8AC3E}">
        <p14:creationId xmlns:p14="http://schemas.microsoft.com/office/powerpoint/2010/main" val="1734884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BE8447-9AA7-192A-037D-AD56622E54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02DA85-7A14-5212-12E3-611D3F2B9D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73D2930-D644-BCF8-82A5-FEF66EFFF2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FB0FEE-C2E9-4D74-B119-7F734B6C74A2}" type="datetimeFigureOut">
              <a:rPr lang="en-IN" smtClean="0"/>
              <a:t>14-05-2026</a:t>
            </a:fld>
            <a:endParaRPr lang="en-IN"/>
          </a:p>
        </p:txBody>
      </p:sp>
      <p:sp>
        <p:nvSpPr>
          <p:cNvPr id="5" name="Footer Placeholder 4">
            <a:extLst>
              <a:ext uri="{FF2B5EF4-FFF2-40B4-BE49-F238E27FC236}">
                <a16:creationId xmlns:a16="http://schemas.microsoft.com/office/drawing/2014/main" id="{33CE144B-B62A-C6CB-1916-E55C7138C1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60C61F-468F-86CE-C580-34BA84E6E3C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A92C0D-301B-46D9-9ECD-FB0477BC1E9C}" type="slidenum">
              <a:rPr lang="en-IN" smtClean="0"/>
              <a:t>‹#›</a:t>
            </a:fld>
            <a:endParaRPr lang="en-IN"/>
          </a:p>
        </p:txBody>
      </p:sp>
    </p:spTree>
    <p:extLst>
      <p:ext uri="{BB962C8B-B14F-4D97-AF65-F5344CB8AC3E}">
        <p14:creationId xmlns:p14="http://schemas.microsoft.com/office/powerpoint/2010/main" val="2171674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slideshare.net/slideshow/hazards-in-foods/59460070#4"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https://www.taxadvisory.in/service/import-export" TargetMode="Externa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32AF8-2B28-8994-34E7-494A145AFC6E}"/>
              </a:ext>
            </a:extLst>
          </p:cNvPr>
          <p:cNvSpPr>
            <a:spLocks noGrp="1"/>
          </p:cNvSpPr>
          <p:nvPr>
            <p:ph type="ctrTitle"/>
          </p:nvPr>
        </p:nvSpPr>
        <p:spPr>
          <a:xfrm>
            <a:off x="0" y="507135"/>
            <a:ext cx="12192000" cy="745588"/>
          </a:xfrm>
        </p:spPr>
        <p:txBody>
          <a:bodyPr>
            <a:normAutofit fontScale="90000"/>
          </a:bodyPr>
          <a:lstStyle/>
          <a:p>
            <a:r>
              <a:rPr lang="en-US" sz="4900" dirty="0">
                <a:latin typeface="Times New Roman" panose="02020603050405020304" pitchFamily="18" charset="0"/>
                <a:cs typeface="Times New Roman" panose="02020603050405020304" pitchFamily="18" charset="0"/>
              </a:rPr>
              <a:t>Unit-3 </a:t>
            </a:r>
            <a:br>
              <a:rPr lang="en-US" sz="4900" dirty="0">
                <a:latin typeface="Times New Roman" panose="02020603050405020304" pitchFamily="18" charset="0"/>
                <a:cs typeface="Times New Roman" panose="02020603050405020304" pitchFamily="18" charset="0"/>
              </a:rPr>
            </a:br>
            <a:r>
              <a:rPr lang="en-US" sz="4900" dirty="0">
                <a:latin typeface="Times New Roman" panose="02020603050405020304" pitchFamily="18" charset="0"/>
                <a:cs typeface="Times New Roman" panose="02020603050405020304" pitchFamily="18" charset="0"/>
              </a:rPr>
              <a:t>Food safety standards: Food Hygiene</a:t>
            </a:r>
            <a:endParaRPr lang="en-IN" dirty="0"/>
          </a:p>
        </p:txBody>
      </p:sp>
      <p:sp>
        <p:nvSpPr>
          <p:cNvPr id="4" name="Rectangle 3">
            <a:extLst>
              <a:ext uri="{FF2B5EF4-FFF2-40B4-BE49-F238E27FC236}">
                <a16:creationId xmlns:a16="http://schemas.microsoft.com/office/drawing/2014/main" id="{93092ED4-6786-D815-9005-1879F797FC8C}"/>
              </a:ext>
            </a:extLst>
          </p:cNvPr>
          <p:cNvSpPr/>
          <p:nvPr/>
        </p:nvSpPr>
        <p:spPr>
          <a:xfrm>
            <a:off x="140678" y="1303257"/>
            <a:ext cx="11760590" cy="1012874"/>
          </a:xfrm>
          <a:prstGeom prst="rect">
            <a:avLst/>
          </a:prstGeom>
          <a:solidFill>
            <a:schemeClr val="bg2"/>
          </a:solidFill>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r>
              <a:rPr lang="en-US" sz="2400" b="1" dirty="0">
                <a:latin typeface="Times New Roman" panose="02020603050405020304" pitchFamily="18" charset="0"/>
                <a:cs typeface="Times New Roman" panose="02020603050405020304" pitchFamily="18" charset="0"/>
              </a:rPr>
              <a:t>Food </a:t>
            </a:r>
            <a:r>
              <a:rPr lang="en-US" sz="2400" b="1" dirty="0">
                <a:ln>
                  <a:solidFill>
                    <a:schemeClr val="accent2"/>
                  </a:solidFill>
                </a:ln>
                <a:latin typeface="Times New Roman" panose="02020603050405020304" pitchFamily="18" charset="0"/>
                <a:cs typeface="Times New Roman" panose="02020603050405020304" pitchFamily="18" charset="0"/>
              </a:rPr>
              <a:t>safety</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the prevention of food contamination prior to its being released to the consumer </a:t>
            </a:r>
          </a:p>
        </p:txBody>
      </p:sp>
      <p:sp>
        <p:nvSpPr>
          <p:cNvPr id="5" name="Rectangle: Rounded Corners 4">
            <a:extLst>
              <a:ext uri="{FF2B5EF4-FFF2-40B4-BE49-F238E27FC236}">
                <a16:creationId xmlns:a16="http://schemas.microsoft.com/office/drawing/2014/main" id="{B92C1AC0-D67C-BBF2-7EBA-E3B6991399C6}"/>
              </a:ext>
            </a:extLst>
          </p:cNvPr>
          <p:cNvSpPr/>
          <p:nvPr/>
        </p:nvSpPr>
        <p:spPr>
          <a:xfrm>
            <a:off x="239152" y="2222694"/>
            <a:ext cx="11662116" cy="4635305"/>
          </a:xfrm>
          <a:prstGeom prst="roundRect">
            <a:avLst/>
          </a:prstGeom>
          <a:solidFill>
            <a:srgbClr val="D8F3FC"/>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lnSpc>
                <a:spcPct val="107000"/>
              </a:lnSpc>
              <a:spcAft>
                <a:spcPts val="800"/>
              </a:spcAft>
            </a:pPr>
            <a:r>
              <a:rPr lang="en-IN" sz="2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Importances of food safety and hygiene</a:t>
            </a:r>
            <a:endParaRPr lang="en-IN"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n-IN" sz="2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Prevent food spoilage</a:t>
            </a:r>
            <a:r>
              <a:rPr lang="en-IN"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p>
          <a:p>
            <a:pPr marL="342900" lvl="0" indent="-342900" algn="just">
              <a:lnSpc>
                <a:spcPct val="107000"/>
              </a:lnSpc>
              <a:buFont typeface="Symbol" panose="05050102010706020507" pitchFamily="18" charset="2"/>
              <a:buChar char=""/>
            </a:pPr>
            <a:r>
              <a:rPr lang="en-IN" sz="28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Protect food from adulteration </a:t>
            </a:r>
            <a:r>
              <a:rPr lang="en-IN"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(intentional contamination).</a:t>
            </a: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Provide Clean, Safe, Healthful Food to Consumer</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Provide Clean, Safe, Healthful Food to Consumer</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Food Permits Growth</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Control of Microbial Growth</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Prevent Food Spoilage</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Prevent Food-borne Illnesses</a:t>
            </a:r>
          </a:p>
          <a:p>
            <a:pPr marL="342900" lvl="0" indent="-342900" algn="just">
              <a:lnSpc>
                <a:spcPct val="107000"/>
              </a:lnSpc>
              <a:buFont typeface="Symbol" panose="05050102010706020507" pitchFamily="18" charset="2"/>
              <a:buChar char=""/>
            </a:pPr>
            <a:r>
              <a:rPr lang="en-US" sz="2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Food Preservation and Production</a:t>
            </a:r>
          </a:p>
        </p:txBody>
      </p:sp>
    </p:spTree>
    <p:extLst>
      <p:ext uri="{BB962C8B-B14F-4D97-AF65-F5344CB8AC3E}">
        <p14:creationId xmlns:p14="http://schemas.microsoft.com/office/powerpoint/2010/main" val="1534662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8DF930F-8C92-3F5F-D131-CF6390BF3DBE}"/>
              </a:ext>
            </a:extLst>
          </p:cNvPr>
          <p:cNvSpPr txBox="1"/>
          <p:nvPr/>
        </p:nvSpPr>
        <p:spPr>
          <a:xfrm>
            <a:off x="422031" y="30620"/>
            <a:ext cx="11507371" cy="1078244"/>
          </a:xfrm>
          <a:prstGeom prst="rect">
            <a:avLst/>
          </a:prstGeom>
          <a:noFill/>
        </p:spPr>
        <p:txBody>
          <a:bodyPr wrap="square">
            <a:spAutoFit/>
          </a:bodyPr>
          <a:lstStyle/>
          <a:p>
            <a:pPr algn="just">
              <a:lnSpc>
                <a:spcPct val="107000"/>
              </a:lnSpc>
              <a:spcAft>
                <a:spcPts val="800"/>
              </a:spcAft>
            </a:pP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Food hazards</a:t>
            </a:r>
            <a:endParaRPr lang="en-IN" sz="1600" dirty="0">
              <a:effectLst/>
              <a:latin typeface="Calibri" panose="020F0502020204030204" pitchFamily="34" charset="0"/>
              <a:ea typeface="Calibri" panose="020F0502020204030204" pitchFamily="34"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rPr>
              <a:t>Food hazards refer to any biological, chemical, or physical agent in food that may cause harm to the consumer.</a:t>
            </a:r>
          </a:p>
          <a:p>
            <a:endParaRPr lang="en-IN" dirty="0"/>
          </a:p>
        </p:txBody>
      </p:sp>
      <p:pic>
        <p:nvPicPr>
          <p:cNvPr id="8" name="Picture 7">
            <a:extLst>
              <a:ext uri="{FF2B5EF4-FFF2-40B4-BE49-F238E27FC236}">
                <a16:creationId xmlns:a16="http://schemas.microsoft.com/office/drawing/2014/main" id="{E4388246-36A6-0315-B07E-4C0942C1B3A3}"/>
              </a:ext>
            </a:extLst>
          </p:cNvPr>
          <p:cNvPicPr>
            <a:picLocks noChangeAspect="1"/>
          </p:cNvPicPr>
          <p:nvPr/>
        </p:nvPicPr>
        <p:blipFill>
          <a:blip r:embed="rId2"/>
          <a:stretch>
            <a:fillRect/>
          </a:stretch>
        </p:blipFill>
        <p:spPr>
          <a:xfrm>
            <a:off x="667922" y="1266093"/>
            <a:ext cx="9672700" cy="5123418"/>
          </a:xfrm>
          <a:prstGeom prst="rect">
            <a:avLst/>
          </a:prstGeom>
        </p:spPr>
      </p:pic>
    </p:spTree>
    <p:extLst>
      <p:ext uri="{BB962C8B-B14F-4D97-AF65-F5344CB8AC3E}">
        <p14:creationId xmlns:p14="http://schemas.microsoft.com/office/powerpoint/2010/main" val="1331331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906111-0085-0410-CCA1-B485EB4D3C1B}"/>
              </a:ext>
            </a:extLst>
          </p:cNvPr>
          <p:cNvSpPr txBox="1"/>
          <p:nvPr/>
        </p:nvSpPr>
        <p:spPr>
          <a:xfrm>
            <a:off x="562708" y="670782"/>
            <a:ext cx="11071274" cy="2554545"/>
          </a:xfrm>
          <a:prstGeom prst="rect">
            <a:avLst/>
          </a:prstGeom>
          <a:noFill/>
        </p:spPr>
        <p:txBody>
          <a:bodyPr wrap="square">
            <a:spAutoFit/>
          </a:bodyPr>
          <a:lstStyle/>
          <a:p>
            <a:pPr algn="l">
              <a:buFont typeface="Arial" panose="020B0604020202020204" pitchFamily="34" charset="0"/>
              <a:buChar char="•"/>
            </a:pPr>
            <a:r>
              <a:rPr lang="en-US" b="1" i="0" u="none" strike="noStrike" dirty="0">
                <a:solidFill>
                  <a:srgbClr val="000000"/>
                </a:solidFill>
                <a:effectLst/>
                <a:latin typeface="__Source_Sans_3_a41172"/>
                <a:hlinkClick r:id="rId2"/>
              </a:rPr>
              <a:t> </a:t>
            </a:r>
            <a:r>
              <a:rPr lang="en-US" sz="3200" b="1" i="0" u="none" strike="noStrike" dirty="0">
                <a:solidFill>
                  <a:srgbClr val="000000"/>
                </a:solidFill>
                <a:effectLst/>
                <a:latin typeface="Times New Roman" panose="02020603050405020304" pitchFamily="18" charset="0"/>
                <a:cs typeface="Times New Roman" panose="02020603050405020304" pitchFamily="18" charset="0"/>
                <a:hlinkClick r:id="rId2"/>
              </a:rPr>
              <a:t>Physical Hazard means </a:t>
            </a:r>
            <a:r>
              <a:rPr lang="en-US" sz="3200" b="0" i="0" dirty="0">
                <a:solidFill>
                  <a:srgbClr val="000000"/>
                </a:solidFill>
                <a:effectLst/>
                <a:latin typeface="Times New Roman" panose="02020603050405020304" pitchFamily="18" charset="0"/>
                <a:cs typeface="Times New Roman" panose="02020603050405020304" pitchFamily="18" charset="0"/>
              </a:rPr>
              <a:t>the foreign objects that comes to food from raw, preparation and final stages of food manufacturing can cause illness to the humans.</a:t>
            </a:r>
          </a:p>
          <a:p>
            <a:pPr algn="l">
              <a:buFont typeface="Arial" panose="020B0604020202020204" pitchFamily="34" charset="0"/>
              <a:buChar char="•"/>
            </a:pPr>
            <a:r>
              <a:rPr lang="en-US" sz="3200" b="0" i="0" dirty="0">
                <a:solidFill>
                  <a:srgbClr val="000000"/>
                </a:solidFill>
                <a:effectLst/>
                <a:latin typeface="Times New Roman" panose="02020603050405020304" pitchFamily="18" charset="0"/>
                <a:cs typeface="Times New Roman" panose="02020603050405020304" pitchFamily="18" charset="0"/>
              </a:rPr>
              <a:t>Example : </a:t>
            </a:r>
            <a:r>
              <a:rPr lang="en-US" sz="3200" b="0" i="0" dirty="0" err="1">
                <a:solidFill>
                  <a:srgbClr val="000000"/>
                </a:solidFill>
                <a:effectLst/>
                <a:latin typeface="Times New Roman" panose="02020603050405020304" pitchFamily="18" charset="0"/>
                <a:cs typeface="Times New Roman" panose="02020603050405020304" pitchFamily="18" charset="0"/>
              </a:rPr>
              <a:t>stones,wood</a:t>
            </a:r>
            <a:r>
              <a:rPr lang="en-US" sz="3200" b="0" i="0" dirty="0">
                <a:solidFill>
                  <a:srgbClr val="000000"/>
                </a:solidFill>
                <a:effectLst/>
                <a:latin typeface="Times New Roman" panose="02020603050405020304" pitchFamily="18" charset="0"/>
                <a:cs typeface="Times New Roman" panose="02020603050405020304" pitchFamily="18" charset="0"/>
              </a:rPr>
              <a:t> and plastics, metallic pieces, glass pieces </a:t>
            </a:r>
            <a:r>
              <a:rPr lang="en-US" sz="3200" b="0" i="0" dirty="0" err="1">
                <a:solidFill>
                  <a:srgbClr val="000000"/>
                </a:solidFill>
                <a:effectLst/>
                <a:latin typeface="Times New Roman" panose="02020603050405020304" pitchFamily="18" charset="0"/>
                <a:cs typeface="Times New Roman" panose="02020603050405020304" pitchFamily="18" charset="0"/>
              </a:rPr>
              <a:t>etc</a:t>
            </a:r>
            <a:r>
              <a:rPr lang="en-US" sz="3200" b="0" i="0" dirty="0">
                <a:solidFill>
                  <a:srgbClr val="000000"/>
                </a:solidFill>
                <a:effectLst/>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1C4BF0CB-01C4-CC92-3DD8-AF909F0CEFF6}"/>
              </a:ext>
            </a:extLst>
          </p:cNvPr>
          <p:cNvPicPr>
            <a:picLocks noChangeAspect="1"/>
          </p:cNvPicPr>
          <p:nvPr/>
        </p:nvPicPr>
        <p:blipFill>
          <a:blip r:embed="rId3"/>
          <a:stretch>
            <a:fillRect/>
          </a:stretch>
        </p:blipFill>
        <p:spPr>
          <a:xfrm>
            <a:off x="1941341" y="3717770"/>
            <a:ext cx="8539089" cy="3046988"/>
          </a:xfrm>
          <a:prstGeom prst="rect">
            <a:avLst/>
          </a:prstGeom>
        </p:spPr>
      </p:pic>
    </p:spTree>
    <p:extLst>
      <p:ext uri="{BB962C8B-B14F-4D97-AF65-F5344CB8AC3E}">
        <p14:creationId xmlns:p14="http://schemas.microsoft.com/office/powerpoint/2010/main" val="26715472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E95D09-42EB-C951-5464-176524AA7AE9}"/>
              </a:ext>
            </a:extLst>
          </p:cNvPr>
          <p:cNvPicPr>
            <a:picLocks noChangeAspect="1"/>
          </p:cNvPicPr>
          <p:nvPr/>
        </p:nvPicPr>
        <p:blipFill>
          <a:blip r:embed="rId2"/>
          <a:stretch>
            <a:fillRect/>
          </a:stretch>
        </p:blipFill>
        <p:spPr>
          <a:xfrm>
            <a:off x="858130" y="3429000"/>
            <a:ext cx="9791114" cy="2987746"/>
          </a:xfrm>
          <a:prstGeom prst="rect">
            <a:avLst/>
          </a:prstGeom>
        </p:spPr>
      </p:pic>
      <p:sp>
        <p:nvSpPr>
          <p:cNvPr id="9" name="TextBox 8">
            <a:extLst>
              <a:ext uri="{FF2B5EF4-FFF2-40B4-BE49-F238E27FC236}">
                <a16:creationId xmlns:a16="http://schemas.microsoft.com/office/drawing/2014/main" id="{D2867E70-B324-B417-B68F-6F07EB63D962}"/>
              </a:ext>
            </a:extLst>
          </p:cNvPr>
          <p:cNvSpPr txBox="1"/>
          <p:nvPr/>
        </p:nvSpPr>
        <p:spPr>
          <a:xfrm>
            <a:off x="633047" y="441254"/>
            <a:ext cx="10916528" cy="2879058"/>
          </a:xfrm>
          <a:prstGeom prst="rect">
            <a:avLst/>
          </a:prstGeom>
          <a:noFill/>
        </p:spPr>
        <p:txBody>
          <a:bodyPr wrap="square">
            <a:spAutoFit/>
          </a:bodyPr>
          <a:lstStyle/>
          <a:p>
            <a:pPr algn="just">
              <a:lnSpc>
                <a:spcPct val="107000"/>
              </a:lnSpc>
              <a:spcAft>
                <a:spcPts val="800"/>
              </a:spcAft>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Chemical Hazards -  </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A chemical hazard is any chemical contaminant introduced in food system which may cause illness or injury to the individuals using the product. </a:t>
            </a:r>
          </a:p>
          <a:p>
            <a:pPr algn="just">
              <a:lnSpc>
                <a:spcPct val="107000"/>
              </a:lnSpc>
              <a:spcAft>
                <a:spcPts val="800"/>
              </a:spcAft>
            </a:pP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Chemical contaminants: </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Pesticides, herbicides</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and </a:t>
            </a:r>
            <a:r>
              <a:rPr lang="en-IN" sz="2800" dirty="0" err="1">
                <a:effectLst/>
                <a:latin typeface="Times New Roman" panose="02020603050405020304" pitchFamily="18" charset="0"/>
                <a:ea typeface="Calibri" panose="020F0502020204030204" pitchFamily="34" charset="0"/>
                <a:cs typeface="Times New Roman" panose="02020603050405020304" pitchFamily="18" charset="0"/>
              </a:rPr>
              <a:t>heavymetals</a:t>
            </a:r>
            <a:r>
              <a:rPr lang="en-IN" sz="2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Food additives such as artificial </a:t>
            </a:r>
            <a:r>
              <a:rPr lang="en-IN" sz="2800" b="1" dirty="0" err="1">
                <a:effectLst/>
                <a:latin typeface="Times New Roman" panose="02020603050405020304" pitchFamily="18" charset="0"/>
                <a:ea typeface="Calibri" panose="020F0502020204030204" pitchFamily="34" charset="0"/>
                <a:cs typeface="Times New Roman" panose="02020603050405020304" pitchFamily="18" charset="0"/>
              </a:rPr>
              <a:t>colors</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 preservatives, and </a:t>
            </a:r>
            <a:r>
              <a:rPr lang="en-IN" sz="2800" b="1" dirty="0" err="1">
                <a:effectLst/>
                <a:latin typeface="Times New Roman" panose="02020603050405020304" pitchFamily="18" charset="0"/>
                <a:ea typeface="Calibri" panose="020F0502020204030204" pitchFamily="34" charset="0"/>
                <a:cs typeface="Times New Roman" panose="02020603050405020304" pitchFamily="18" charset="0"/>
              </a:rPr>
              <a:t>flavor</a:t>
            </a: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 enhancers.</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556467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42C94AFB-93B8-4E2C-D475-DDC412442D4F}"/>
              </a:ext>
            </a:extLst>
          </p:cNvPr>
          <p:cNvSpPr>
            <a:spLocks noGrp="1"/>
          </p:cNvSpPr>
          <p:nvPr>
            <p:ph idx="1"/>
          </p:nvPr>
        </p:nvSpPr>
        <p:spPr>
          <a:xfrm>
            <a:off x="838200" y="633046"/>
            <a:ext cx="10515600" cy="5683348"/>
          </a:xfrm>
        </p:spPr>
        <p:txBody>
          <a:bodyPr>
            <a:normAutofit/>
          </a:bodyPr>
          <a:lstStyle/>
          <a:p>
            <a:pPr marL="0" indent="0" algn="just">
              <a:buNone/>
            </a:pPr>
            <a:r>
              <a:rPr lang="en-US" sz="2400" b="1" u="sng" dirty="0">
                <a:latin typeface="Times New Roman" panose="02020603050405020304" pitchFamily="18" charset="0"/>
                <a:cs typeface="Times New Roman" panose="02020603050405020304" pitchFamily="18" charset="0"/>
              </a:rPr>
              <a:t>Biological Hazard </a:t>
            </a:r>
          </a:p>
          <a:p>
            <a:pPr marL="0" indent="0" algn="just">
              <a:buNone/>
            </a:pPr>
            <a:r>
              <a:rPr lang="en-US" sz="2400" dirty="0">
                <a:latin typeface="Times New Roman" panose="02020603050405020304" pitchFamily="18" charset="0"/>
                <a:cs typeface="Times New Roman" panose="02020603050405020304" pitchFamily="18" charset="0"/>
              </a:rPr>
              <a:t>Biological hazards include bacterial, fungal, viral and parasitic organisms (</a:t>
            </a:r>
            <a:r>
              <a:rPr lang="en-US" sz="2400" dirty="0" err="1">
                <a:latin typeface="Times New Roman" panose="02020603050405020304" pitchFamily="18" charset="0"/>
                <a:cs typeface="Times New Roman" panose="02020603050405020304" pitchFamily="18" charset="0"/>
              </a:rPr>
              <a:t>protoz</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oa</a:t>
            </a:r>
            <a:r>
              <a:rPr lang="en-US" sz="2400" dirty="0">
                <a:latin typeface="Times New Roman" panose="02020603050405020304" pitchFamily="18" charset="0"/>
                <a:cs typeface="Times New Roman" panose="02020603050405020304" pitchFamily="18" charset="0"/>
              </a:rPr>
              <a:t> and worms) and/or their toxins. There are many microorganisms, which are pathogenic to humans, but relatively few are associated with foods. These microorganisms that cause diseases are termed as food-borne pathogens’.</a:t>
            </a: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 </a:t>
            </a:r>
            <a:endParaRPr lang="en-IN" dirty="0"/>
          </a:p>
        </p:txBody>
      </p:sp>
      <p:pic>
        <p:nvPicPr>
          <p:cNvPr id="3" name="Picture 2">
            <a:extLst>
              <a:ext uri="{FF2B5EF4-FFF2-40B4-BE49-F238E27FC236}">
                <a16:creationId xmlns:a16="http://schemas.microsoft.com/office/drawing/2014/main" id="{FDC6B065-39DF-FC03-AED8-C38C75DA1C04}"/>
              </a:ext>
            </a:extLst>
          </p:cNvPr>
          <p:cNvPicPr>
            <a:picLocks noChangeAspect="1"/>
          </p:cNvPicPr>
          <p:nvPr/>
        </p:nvPicPr>
        <p:blipFill>
          <a:blip r:embed="rId2"/>
          <a:stretch>
            <a:fillRect/>
          </a:stretch>
        </p:blipFill>
        <p:spPr>
          <a:xfrm>
            <a:off x="260252" y="2560320"/>
            <a:ext cx="11711354" cy="4107766"/>
          </a:xfrm>
          <a:prstGeom prst="rect">
            <a:avLst/>
          </a:prstGeom>
        </p:spPr>
      </p:pic>
    </p:spTree>
    <p:extLst>
      <p:ext uri="{BB962C8B-B14F-4D97-AF65-F5344CB8AC3E}">
        <p14:creationId xmlns:p14="http://schemas.microsoft.com/office/powerpoint/2010/main" val="674630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FE35D2-669C-3CA5-BCB7-265812B6F90D}"/>
              </a:ext>
            </a:extLst>
          </p:cNvPr>
          <p:cNvPicPr>
            <a:picLocks noChangeAspect="1"/>
          </p:cNvPicPr>
          <p:nvPr/>
        </p:nvPicPr>
        <p:blipFill>
          <a:blip r:embed="rId2"/>
          <a:stretch>
            <a:fillRect/>
          </a:stretch>
        </p:blipFill>
        <p:spPr>
          <a:xfrm>
            <a:off x="1463040" y="1803970"/>
            <a:ext cx="9467556" cy="4767781"/>
          </a:xfrm>
          <a:prstGeom prst="rect">
            <a:avLst/>
          </a:prstGeom>
        </p:spPr>
      </p:pic>
      <p:sp>
        <p:nvSpPr>
          <p:cNvPr id="9" name="TextBox 8">
            <a:extLst>
              <a:ext uri="{FF2B5EF4-FFF2-40B4-BE49-F238E27FC236}">
                <a16:creationId xmlns:a16="http://schemas.microsoft.com/office/drawing/2014/main" id="{22A2878B-6DE6-133E-8656-BD50B996800A}"/>
              </a:ext>
            </a:extLst>
          </p:cNvPr>
          <p:cNvSpPr txBox="1"/>
          <p:nvPr/>
        </p:nvSpPr>
        <p:spPr>
          <a:xfrm>
            <a:off x="1139483" y="286248"/>
            <a:ext cx="9791113" cy="1517723"/>
          </a:xfrm>
          <a:prstGeom prst="rect">
            <a:avLst/>
          </a:prstGeom>
          <a:noFill/>
        </p:spPr>
        <p:txBody>
          <a:bodyPr wrap="square">
            <a:spAutoFit/>
          </a:bodyPr>
          <a:lstStyle/>
          <a:p>
            <a:pPr algn="just">
              <a:lnSpc>
                <a:spcPct val="107000"/>
              </a:lnSpc>
              <a:spcAft>
                <a:spcPts val="800"/>
              </a:spcAft>
            </a:pPr>
            <a:r>
              <a:rPr lang="en-IN" sz="2800" b="1" dirty="0">
                <a:effectLst/>
                <a:latin typeface="Times New Roman" panose="02020603050405020304" pitchFamily="18" charset="0"/>
                <a:ea typeface="Calibri" panose="020F0502020204030204" pitchFamily="34" charset="0"/>
                <a:cs typeface="Times New Roman" panose="02020603050405020304" pitchFamily="18" charset="0"/>
              </a:rPr>
              <a:t>Allergenic Hazards:</a:t>
            </a:r>
            <a:endParaRPr lang="en-IN" sz="28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2800" dirty="0">
                <a:effectLst/>
                <a:latin typeface="Times New Roman" panose="02020603050405020304" pitchFamily="18" charset="0"/>
                <a:ea typeface="Calibri" panose="020F0502020204030204" pitchFamily="34" charset="0"/>
                <a:cs typeface="Times New Roman" panose="02020603050405020304" pitchFamily="18" charset="0"/>
              </a:rPr>
              <a:t>Certain foods and food ingredients can cause allergic reactions in susceptible individuals</a:t>
            </a:r>
            <a:r>
              <a:rPr lang="en-IN" sz="1800" dirty="0">
                <a:effectLst/>
                <a:latin typeface="Times New Roman" panose="02020603050405020304" pitchFamily="18" charset="0"/>
                <a:ea typeface="Calibri" panose="020F0502020204030204" pitchFamily="34" charset="0"/>
              </a:rPr>
              <a:t>. </a:t>
            </a:r>
            <a:endParaRPr lang="en-IN" dirty="0"/>
          </a:p>
        </p:txBody>
      </p:sp>
    </p:spTree>
    <p:extLst>
      <p:ext uri="{BB962C8B-B14F-4D97-AF65-F5344CB8AC3E}">
        <p14:creationId xmlns:p14="http://schemas.microsoft.com/office/powerpoint/2010/main" val="38411885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5DAFF43-57D1-16A9-CE13-63A219552667}"/>
              </a:ext>
            </a:extLst>
          </p:cNvPr>
          <p:cNvPicPr>
            <a:picLocks noGrp="1" noChangeAspect="1"/>
          </p:cNvPicPr>
          <p:nvPr>
            <p:ph idx="1"/>
          </p:nvPr>
        </p:nvPicPr>
        <p:blipFill>
          <a:blip r:embed="rId2"/>
          <a:stretch>
            <a:fillRect/>
          </a:stretch>
        </p:blipFill>
        <p:spPr>
          <a:xfrm>
            <a:off x="327378" y="2695838"/>
            <a:ext cx="11537244" cy="3953318"/>
          </a:xfrm>
        </p:spPr>
      </p:pic>
      <p:sp>
        <p:nvSpPr>
          <p:cNvPr id="2" name="Rectangle 1"/>
          <p:cNvSpPr/>
          <p:nvPr/>
        </p:nvSpPr>
        <p:spPr>
          <a:xfrm>
            <a:off x="948266" y="233625"/>
            <a:ext cx="11017956" cy="2031325"/>
          </a:xfrm>
          <a:prstGeom prst="rect">
            <a:avLst/>
          </a:prstGeom>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Food borne illness, - food poisoning</a:t>
            </a:r>
          </a:p>
          <a:p>
            <a:pPr algn="just"/>
            <a:r>
              <a:rPr lang="en-US" sz="2400" b="1" dirty="0">
                <a:latin typeface="Times New Roman" panose="02020603050405020304" pitchFamily="18" charset="0"/>
                <a:cs typeface="Times New Roman" panose="02020603050405020304" pitchFamily="18" charset="0"/>
              </a:rPr>
              <a:t>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Eating contaminated, spoiled, or toxic food such as poisonous mushrooms also..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 common symptoms of food poisoning include </a:t>
            </a:r>
            <a:r>
              <a:rPr lang="en-US" b="1" dirty="0">
                <a:latin typeface="Times New Roman" panose="02020603050405020304" pitchFamily="18" charset="0"/>
                <a:cs typeface="Times New Roman" panose="02020603050405020304" pitchFamily="18" charset="0"/>
              </a:rPr>
              <a:t>nausea, vomiting and diarrhea. </a:t>
            </a:r>
          </a:p>
          <a:p>
            <a:pPr marL="342900" indent="-34290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According to the centers for </a:t>
            </a:r>
            <a:r>
              <a:rPr lang="en-US" sz="2000" b="1" dirty="0">
                <a:latin typeface="Times New Roman" panose="02020603050405020304" pitchFamily="18" charset="0"/>
                <a:cs typeface="Times New Roman" panose="02020603050405020304" pitchFamily="18" charset="0"/>
              </a:rPr>
              <a:t>disease control and prevention (CDC) </a:t>
            </a:r>
            <a:r>
              <a:rPr lang="en-US" dirty="0">
                <a:latin typeface="Times New Roman" panose="02020603050405020304" pitchFamily="18" charset="0"/>
                <a:cs typeface="Times New Roman" panose="02020603050405020304" pitchFamily="18" charset="0"/>
              </a:rPr>
              <a:t>1 in 6 people will contract some form of food poisoning in every year</a:t>
            </a:r>
            <a:r>
              <a:rPr lang="en-US" dirty="0"/>
              <a:t>.</a:t>
            </a:r>
          </a:p>
        </p:txBody>
      </p:sp>
      <p:sp>
        <p:nvSpPr>
          <p:cNvPr id="3" name="Rectangle 2"/>
          <p:cNvSpPr/>
          <p:nvPr/>
        </p:nvSpPr>
        <p:spPr>
          <a:xfrm>
            <a:off x="903111" y="2138020"/>
            <a:ext cx="7298593" cy="523220"/>
          </a:xfrm>
          <a:prstGeom prst="rect">
            <a:avLst/>
          </a:prstGeom>
        </p:spPr>
        <p:txBody>
          <a:bodyPr wrap="square">
            <a:spAutoFit/>
          </a:bodyPr>
          <a:lstStyle/>
          <a:p>
            <a:r>
              <a:rPr lang="en-US" sz="2800" b="1" dirty="0">
                <a:latin typeface="Times New Roman" panose="02020603050405020304" pitchFamily="18" charset="0"/>
                <a:cs typeface="Times New Roman" panose="02020603050405020304" pitchFamily="18" charset="0"/>
              </a:rPr>
              <a:t>Factors that contribute to foodborne illness </a:t>
            </a:r>
            <a:endParaRPr lang="en-IN" sz="2800" b="1" dirty="0"/>
          </a:p>
        </p:txBody>
      </p:sp>
    </p:spTree>
    <p:extLst>
      <p:ext uri="{BB962C8B-B14F-4D97-AF65-F5344CB8AC3E}">
        <p14:creationId xmlns:p14="http://schemas.microsoft.com/office/powerpoint/2010/main" val="1638323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BF83795-9098-1121-5164-835C92A737B3}"/>
              </a:ext>
            </a:extLst>
          </p:cNvPr>
          <p:cNvSpPr/>
          <p:nvPr/>
        </p:nvSpPr>
        <p:spPr>
          <a:xfrm>
            <a:off x="838200" y="154740"/>
            <a:ext cx="8966982" cy="97067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latin typeface="Times New Roman" panose="02020603050405020304" pitchFamily="18" charset="0"/>
                <a:cs typeface="Times New Roman" panose="02020603050405020304" pitchFamily="18" charset="0"/>
              </a:rPr>
              <a:t>Factors that contribute to foodborne illness </a:t>
            </a:r>
            <a:endParaRPr lang="en-IN" sz="3600" dirty="0"/>
          </a:p>
        </p:txBody>
      </p:sp>
      <p:sp>
        <p:nvSpPr>
          <p:cNvPr id="5" name="Rectangle: Rounded Corners 4">
            <a:extLst>
              <a:ext uri="{FF2B5EF4-FFF2-40B4-BE49-F238E27FC236}">
                <a16:creationId xmlns:a16="http://schemas.microsoft.com/office/drawing/2014/main" id="{B447A92D-004F-A64B-2C20-F0A5051BE5E6}"/>
              </a:ext>
            </a:extLst>
          </p:cNvPr>
          <p:cNvSpPr/>
          <p:nvPr/>
        </p:nvSpPr>
        <p:spPr>
          <a:xfrm>
            <a:off x="351692" y="1294228"/>
            <a:ext cx="11633982" cy="5563772"/>
          </a:xfrm>
          <a:prstGeom prst="roundRect">
            <a:avLst/>
          </a:prstGeom>
          <a:solidFill>
            <a:srgbClr val="F3F8D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IN" sz="4400" b="1" dirty="0">
                <a:solidFill>
                  <a:schemeClr val="tx1"/>
                </a:solidFill>
                <a:latin typeface="Times New Roman" panose="02020603050405020304" pitchFamily="18" charset="0"/>
                <a:cs typeface="Times New Roman" panose="02020603050405020304" pitchFamily="18" charset="0"/>
              </a:rPr>
              <a:t>Microbial Contamination:</a:t>
            </a:r>
          </a:p>
          <a:p>
            <a:pPr algn="just"/>
            <a:r>
              <a:rPr lang="en-US" sz="4400" b="1" dirty="0">
                <a:solidFill>
                  <a:schemeClr val="tx1"/>
                </a:solidFill>
                <a:latin typeface="Times New Roman" panose="02020603050405020304" pitchFamily="18" charset="0"/>
                <a:cs typeface="Times New Roman" panose="02020603050405020304" pitchFamily="18" charset="0"/>
              </a:rPr>
              <a:t>Cross-Contamination</a:t>
            </a:r>
            <a:r>
              <a:rPr lang="en-US" sz="4400" dirty="0">
                <a:solidFill>
                  <a:schemeClr val="tx1"/>
                </a:solidFill>
                <a:latin typeface="Times New Roman" panose="02020603050405020304" pitchFamily="18" charset="0"/>
                <a:cs typeface="Times New Roman" panose="02020603050405020304" pitchFamily="18" charset="0"/>
              </a:rPr>
              <a:t>: </a:t>
            </a:r>
          </a:p>
          <a:p>
            <a:pPr algn="just"/>
            <a:r>
              <a:rPr lang="en-US" sz="4400" b="1" dirty="0">
                <a:solidFill>
                  <a:schemeClr val="tx1"/>
                </a:solidFill>
                <a:latin typeface="Times New Roman" panose="02020603050405020304" pitchFamily="18" charset="0"/>
                <a:cs typeface="Times New Roman" panose="02020603050405020304" pitchFamily="18" charset="0"/>
              </a:rPr>
              <a:t>Improper Food Handling and Storage:</a:t>
            </a:r>
          </a:p>
          <a:p>
            <a:pPr algn="just"/>
            <a:r>
              <a:rPr lang="en-IN" sz="4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Contaminated Water and Ice:</a:t>
            </a:r>
          </a:p>
          <a:p>
            <a:pPr algn="just"/>
            <a:r>
              <a:rPr lang="en-IN" sz="4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Inadequate Cooking or Heat Treatment:</a:t>
            </a:r>
          </a:p>
          <a:p>
            <a:pPr algn="just"/>
            <a:r>
              <a:rPr lang="en-IN" sz="44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Contaminated Equipment and Utensils:</a:t>
            </a:r>
          </a:p>
        </p:txBody>
      </p:sp>
    </p:spTree>
    <p:extLst>
      <p:ext uri="{BB962C8B-B14F-4D97-AF65-F5344CB8AC3E}">
        <p14:creationId xmlns:p14="http://schemas.microsoft.com/office/powerpoint/2010/main" val="3098811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BEA55D6-E433-F7EF-3FF1-F7313E7BBB7B}"/>
              </a:ext>
            </a:extLst>
          </p:cNvPr>
          <p:cNvPicPr>
            <a:picLocks noGrp="1" noChangeAspect="1"/>
          </p:cNvPicPr>
          <p:nvPr>
            <p:ph idx="1"/>
          </p:nvPr>
        </p:nvPicPr>
        <p:blipFill>
          <a:blip r:embed="rId2"/>
          <a:stretch>
            <a:fillRect/>
          </a:stretch>
        </p:blipFill>
        <p:spPr>
          <a:xfrm>
            <a:off x="844062" y="661182"/>
            <a:ext cx="9945857" cy="5627076"/>
          </a:xfrm>
        </p:spPr>
      </p:pic>
    </p:spTree>
    <p:extLst>
      <p:ext uri="{BB962C8B-B14F-4D97-AF65-F5344CB8AC3E}">
        <p14:creationId xmlns:p14="http://schemas.microsoft.com/office/powerpoint/2010/main" val="769534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9D0EB6-DD4A-D890-957D-30C41838AD93}"/>
              </a:ext>
            </a:extLst>
          </p:cNvPr>
          <p:cNvSpPr txBox="1"/>
          <p:nvPr/>
        </p:nvSpPr>
        <p:spPr>
          <a:xfrm>
            <a:off x="1645920" y="-199229"/>
            <a:ext cx="6639952" cy="1815882"/>
          </a:xfrm>
          <a:prstGeom prst="rect">
            <a:avLst/>
          </a:prstGeom>
          <a:noFill/>
        </p:spPr>
        <p:txBody>
          <a:bodyPr wrap="square">
            <a:spAutoFit/>
          </a:bodyPr>
          <a:lstStyle/>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a:p>
            <a:endParaRPr lang="en-IN" sz="2800" b="1" dirty="0">
              <a:latin typeface="Times New Roman" panose="02020603050405020304" pitchFamily="18"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6E242A3A-8366-0AFA-6F7B-CF06FD479201}"/>
              </a:ext>
            </a:extLst>
          </p:cNvPr>
          <p:cNvSpPr/>
          <p:nvPr/>
        </p:nvSpPr>
        <p:spPr>
          <a:xfrm>
            <a:off x="1645920" y="548639"/>
            <a:ext cx="9186203" cy="600690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4000" b="1" dirty="0">
                <a:solidFill>
                  <a:schemeClr val="tx1"/>
                </a:solidFill>
                <a:highlight>
                  <a:srgbClr val="FFFFFF"/>
                </a:highlight>
                <a:latin typeface="Times New Roman" panose="02020603050405020304" pitchFamily="18" charset="0"/>
                <a:cs typeface="Times New Roman" panose="02020603050405020304" pitchFamily="18" charset="0"/>
              </a:rPr>
              <a:t>Preventing Foodborne Illness</a:t>
            </a:r>
            <a:br>
              <a:rPr lang="en-IN" sz="4000" dirty="0">
                <a:solidFill>
                  <a:schemeClr val="tx1"/>
                </a:solidFill>
                <a:highlight>
                  <a:srgbClr val="FFFFFF"/>
                </a:highlight>
                <a:latin typeface="Times New Roman" panose="02020603050405020304" pitchFamily="18" charset="0"/>
                <a:cs typeface="Times New Roman" panose="02020603050405020304" pitchFamily="18" charset="0"/>
              </a:rPr>
            </a:br>
            <a:endParaRPr lang="en-US" sz="4000" b="0" i="0" dirty="0">
              <a:solidFill>
                <a:schemeClr val="tx1"/>
              </a:solidFill>
              <a:effectLst/>
              <a:highlight>
                <a:srgbClr val="FFFFFF"/>
              </a:highlight>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4000" b="0" i="0" dirty="0">
                <a:solidFill>
                  <a:schemeClr val="tx1"/>
                </a:solidFill>
                <a:effectLst/>
                <a:highlight>
                  <a:srgbClr val="FFFFFF"/>
                </a:highlight>
                <a:latin typeface="Times New Roman" panose="02020603050405020304" pitchFamily="18" charset="0"/>
                <a:cs typeface="Times New Roman" panose="02020603050405020304" pitchFamily="18" charset="0"/>
              </a:rPr>
              <a:t>well cooked food were eaten.</a:t>
            </a:r>
          </a:p>
          <a:p>
            <a:pPr marL="457200" indent="-457200">
              <a:buFont typeface="Arial" panose="020B0604020202020204" pitchFamily="34" charset="0"/>
              <a:buChar char="•"/>
            </a:pPr>
            <a:r>
              <a:rPr lang="en-US" sz="4000" b="0" i="0" dirty="0">
                <a:solidFill>
                  <a:schemeClr val="tx1"/>
                </a:solidFill>
                <a:effectLst/>
                <a:highlight>
                  <a:srgbClr val="FFFFFF"/>
                </a:highlight>
                <a:latin typeface="Times New Roman" panose="02020603050405020304" pitchFamily="18" charset="0"/>
                <a:cs typeface="Times New Roman" panose="02020603050405020304" pitchFamily="18" charset="0"/>
              </a:rPr>
              <a:t>Always wash your hand before and after cooking.</a:t>
            </a:r>
          </a:p>
          <a:p>
            <a:pPr marL="457200" indent="-457200">
              <a:buFont typeface="Arial" panose="020B0604020202020204" pitchFamily="34" charset="0"/>
              <a:buChar char="•"/>
            </a:pPr>
            <a:r>
              <a:rPr lang="en-US" sz="4000" b="0" i="0" dirty="0">
                <a:solidFill>
                  <a:schemeClr val="tx1"/>
                </a:solidFill>
                <a:effectLst/>
                <a:highlight>
                  <a:srgbClr val="FFFFFF"/>
                </a:highlight>
                <a:latin typeface="Times New Roman" panose="02020603050405020304" pitchFamily="18" charset="0"/>
                <a:cs typeface="Times New Roman" panose="02020603050405020304" pitchFamily="18" charset="0"/>
              </a:rPr>
              <a:t>Avoid contaminated water to drink.</a:t>
            </a:r>
          </a:p>
          <a:p>
            <a:pPr marL="457200" indent="-457200">
              <a:buFont typeface="Arial" panose="020B0604020202020204" pitchFamily="34" charset="0"/>
              <a:buChar char="•"/>
            </a:pPr>
            <a:r>
              <a:rPr lang="en-US" sz="4000" b="0" i="0" dirty="0">
                <a:solidFill>
                  <a:schemeClr val="tx1"/>
                </a:solidFill>
                <a:effectLst/>
                <a:highlight>
                  <a:srgbClr val="FFFFFF"/>
                </a:highlight>
                <a:latin typeface="Times New Roman" panose="02020603050405020304" pitchFamily="18" charset="0"/>
                <a:cs typeface="Times New Roman" panose="02020603050405020304" pitchFamily="18" charset="0"/>
              </a:rPr>
              <a:t>The fruits and vegetable were washed before use.</a:t>
            </a:r>
            <a:endParaRPr lang="en-IN" sz="4000" dirty="0">
              <a:solidFill>
                <a:schemeClr val="tx1"/>
              </a:solidFill>
              <a:highlight>
                <a:srgbClr val="FFFFFF"/>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58893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1D2F251-84E2-4682-2B36-D2875633FE32}"/>
              </a:ext>
            </a:extLst>
          </p:cNvPr>
          <p:cNvPicPr>
            <a:picLocks noGrp="1" noChangeAspect="1"/>
          </p:cNvPicPr>
          <p:nvPr>
            <p:ph idx="1"/>
          </p:nvPr>
        </p:nvPicPr>
        <p:blipFill>
          <a:blip r:embed="rId2"/>
          <a:stretch>
            <a:fillRect/>
          </a:stretch>
        </p:blipFill>
        <p:spPr>
          <a:xfrm>
            <a:off x="1012875" y="416817"/>
            <a:ext cx="9340948" cy="2733675"/>
          </a:xfrm>
        </p:spPr>
      </p:pic>
      <p:pic>
        <p:nvPicPr>
          <p:cNvPr id="7" name="Picture 6">
            <a:extLst>
              <a:ext uri="{FF2B5EF4-FFF2-40B4-BE49-F238E27FC236}">
                <a16:creationId xmlns:a16="http://schemas.microsoft.com/office/drawing/2014/main" id="{5D215373-2633-489A-4665-20D263F8D4B1}"/>
              </a:ext>
            </a:extLst>
          </p:cNvPr>
          <p:cNvPicPr>
            <a:picLocks noChangeAspect="1"/>
          </p:cNvPicPr>
          <p:nvPr/>
        </p:nvPicPr>
        <p:blipFill>
          <a:blip r:embed="rId3"/>
          <a:stretch>
            <a:fillRect/>
          </a:stretch>
        </p:blipFill>
        <p:spPr>
          <a:xfrm>
            <a:off x="1012875" y="3510562"/>
            <a:ext cx="9340948" cy="3198482"/>
          </a:xfrm>
          <a:prstGeom prst="rect">
            <a:avLst/>
          </a:prstGeom>
        </p:spPr>
      </p:pic>
    </p:spTree>
    <p:extLst>
      <p:ext uri="{BB962C8B-B14F-4D97-AF65-F5344CB8AC3E}">
        <p14:creationId xmlns:p14="http://schemas.microsoft.com/office/powerpoint/2010/main" val="1410320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6BFAC49-716F-52FC-902E-C647AA93EEFE}"/>
              </a:ext>
            </a:extLst>
          </p:cNvPr>
          <p:cNvPicPr>
            <a:picLocks noGrp="1" noChangeAspect="1"/>
          </p:cNvPicPr>
          <p:nvPr>
            <p:ph idx="1"/>
          </p:nvPr>
        </p:nvPicPr>
        <p:blipFill>
          <a:blip r:embed="rId2"/>
          <a:stretch>
            <a:fillRect/>
          </a:stretch>
        </p:blipFill>
        <p:spPr>
          <a:xfrm>
            <a:off x="295422" y="140677"/>
            <a:ext cx="11268221" cy="5853723"/>
          </a:xfrm>
        </p:spPr>
      </p:pic>
    </p:spTree>
    <p:extLst>
      <p:ext uri="{BB962C8B-B14F-4D97-AF65-F5344CB8AC3E}">
        <p14:creationId xmlns:p14="http://schemas.microsoft.com/office/powerpoint/2010/main" val="2994147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Food Microbiology</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114300" indent="0" algn="just">
              <a:buNone/>
            </a:pPr>
            <a:r>
              <a:rPr lang="en-IN" b="1" dirty="0"/>
              <a:t>Food microbiology </a:t>
            </a:r>
            <a:r>
              <a:rPr lang="en-IN" dirty="0"/>
              <a:t>is a branch of microbiology that deals with microorganisms present in food, their interactions, and their impact on food quality, safety, and shelf life. </a:t>
            </a:r>
          </a:p>
          <a:p>
            <a:endParaRPr lang="en-IN" dirty="0"/>
          </a:p>
        </p:txBody>
      </p:sp>
    </p:spTree>
    <p:extLst>
      <p:ext uri="{BB962C8B-B14F-4D97-AF65-F5344CB8AC3E}">
        <p14:creationId xmlns:p14="http://schemas.microsoft.com/office/powerpoint/2010/main" val="749056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200" b="1" dirty="0"/>
              <a:t>General principles of food microbiology</a:t>
            </a:r>
            <a:endParaRPr lang="en-IN" b="1" dirty="0"/>
          </a:p>
        </p:txBody>
      </p:sp>
      <p:sp>
        <p:nvSpPr>
          <p:cNvPr id="3" name="Content Placeholder 2"/>
          <p:cNvSpPr>
            <a:spLocks noGrp="1"/>
          </p:cNvSpPr>
          <p:nvPr>
            <p:ph idx="1"/>
          </p:nvPr>
        </p:nvSpPr>
        <p:spPr/>
        <p:txBody>
          <a:bodyPr>
            <a:normAutofit fontScale="92500" lnSpcReduction="20000"/>
          </a:bodyPr>
          <a:lstStyle/>
          <a:p>
            <a:pPr marL="114300" indent="0" algn="just">
              <a:buNone/>
            </a:pPr>
            <a:r>
              <a:rPr lang="en-IN" b="1" dirty="0"/>
              <a:t>1.Microbial Growth:  </a:t>
            </a:r>
            <a:r>
              <a:rPr lang="en-IN" dirty="0"/>
              <a:t>Microorganisms require specific conditions to grow and reproduce, including nutrients, pH, temperature, and water activity (aw). Understanding these factors helps in controlling microbial growth in food.</a:t>
            </a:r>
          </a:p>
          <a:p>
            <a:pPr marL="114300" indent="0" algn="just">
              <a:buNone/>
            </a:pPr>
            <a:endParaRPr lang="en-IN" dirty="0"/>
          </a:p>
          <a:p>
            <a:pPr marL="114300" indent="0" algn="just">
              <a:buNone/>
            </a:pPr>
            <a:r>
              <a:rPr lang="en-IN" b="1" dirty="0"/>
              <a:t>2.Types of Microorganisms:  </a:t>
            </a:r>
            <a:r>
              <a:rPr lang="en-IN" dirty="0"/>
              <a:t>Common types of microorganisms in food include bacteria, yeasts, </a:t>
            </a:r>
            <a:r>
              <a:rPr lang="en-IN" dirty="0" err="1"/>
              <a:t>molds</a:t>
            </a:r>
            <a:r>
              <a:rPr lang="en-IN" dirty="0"/>
              <a:t>, and viruses. Each has different growth requirements and impacts food differently.</a:t>
            </a:r>
          </a:p>
          <a:p>
            <a:pPr algn="just"/>
            <a:endParaRPr lang="en-IN" dirty="0"/>
          </a:p>
          <a:p>
            <a:pPr marL="114300" indent="0" algn="just">
              <a:buNone/>
            </a:pPr>
            <a:r>
              <a:rPr lang="en-IN" b="1" dirty="0"/>
              <a:t>3. Spoilage:  </a:t>
            </a:r>
            <a:r>
              <a:rPr lang="en-IN" dirty="0"/>
              <a:t>Microorganisms can cause food spoilage through various mechanisms, including production of enzymes, acids, and toxins, leading to changes in taste, texture, and appearance.</a:t>
            </a:r>
          </a:p>
          <a:p>
            <a:endParaRPr lang="en-IN" dirty="0"/>
          </a:p>
        </p:txBody>
      </p:sp>
    </p:spTree>
    <p:extLst>
      <p:ext uri="{BB962C8B-B14F-4D97-AF65-F5344CB8AC3E}">
        <p14:creationId xmlns:p14="http://schemas.microsoft.com/office/powerpoint/2010/main" val="3261877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200" b="1" dirty="0"/>
              <a:t>General principles of food microbiology</a:t>
            </a:r>
            <a:endParaRPr lang="en-IN" b="1" dirty="0"/>
          </a:p>
        </p:txBody>
      </p:sp>
      <p:sp>
        <p:nvSpPr>
          <p:cNvPr id="3" name="Content Placeholder 2"/>
          <p:cNvSpPr>
            <a:spLocks noGrp="1"/>
          </p:cNvSpPr>
          <p:nvPr>
            <p:ph idx="1"/>
          </p:nvPr>
        </p:nvSpPr>
        <p:spPr/>
        <p:txBody>
          <a:bodyPr>
            <a:normAutofit fontScale="92500" lnSpcReduction="20000"/>
          </a:bodyPr>
          <a:lstStyle/>
          <a:p>
            <a:pPr marL="114300" indent="0" algn="just">
              <a:buNone/>
            </a:pPr>
            <a:r>
              <a:rPr lang="en-IN" b="1" dirty="0"/>
              <a:t>1.Microbial Growth:  </a:t>
            </a:r>
            <a:r>
              <a:rPr lang="en-IN" dirty="0"/>
              <a:t>Microorganisms require specific conditions to grow and reproduce, including nutrients, pH, temperature, and water activity (aw). Understanding these factors helps in controlling microbial growth in food.</a:t>
            </a:r>
          </a:p>
          <a:p>
            <a:pPr marL="114300" indent="0" algn="just">
              <a:buNone/>
            </a:pPr>
            <a:endParaRPr lang="en-IN" dirty="0"/>
          </a:p>
          <a:p>
            <a:pPr marL="114300" indent="0" algn="just">
              <a:buNone/>
            </a:pPr>
            <a:r>
              <a:rPr lang="en-IN" b="1" dirty="0"/>
              <a:t>2.Types of Microorganisms:  </a:t>
            </a:r>
            <a:r>
              <a:rPr lang="en-IN" dirty="0"/>
              <a:t>Common types of microorganisms in food include bacteria, yeasts, </a:t>
            </a:r>
            <a:r>
              <a:rPr lang="en-IN" dirty="0" err="1"/>
              <a:t>molds</a:t>
            </a:r>
            <a:r>
              <a:rPr lang="en-IN" dirty="0"/>
              <a:t>, and viruses. Each has different growth requirements and impacts food differently.</a:t>
            </a:r>
          </a:p>
          <a:p>
            <a:pPr algn="just"/>
            <a:endParaRPr lang="en-IN" dirty="0"/>
          </a:p>
          <a:p>
            <a:pPr marL="114300" indent="0" algn="just">
              <a:buNone/>
            </a:pPr>
            <a:r>
              <a:rPr lang="en-IN" b="1" dirty="0"/>
              <a:t>3. Spoilage:  </a:t>
            </a:r>
            <a:r>
              <a:rPr lang="en-IN" dirty="0"/>
              <a:t>Microorganisms can cause food spoilage through various mechanisms, including production of enzymes, acids, and toxins, leading to changes in taste, texture, and appearance.</a:t>
            </a:r>
          </a:p>
          <a:p>
            <a:endParaRPr lang="en-IN" dirty="0"/>
          </a:p>
        </p:txBody>
      </p:sp>
    </p:spTree>
    <p:extLst>
      <p:ext uri="{BB962C8B-B14F-4D97-AF65-F5344CB8AC3E}">
        <p14:creationId xmlns:p14="http://schemas.microsoft.com/office/powerpoint/2010/main" val="3620991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200" b="1" dirty="0"/>
              <a:t>General principles of food microbiology</a:t>
            </a:r>
            <a:endParaRPr lang="en-IN" b="1" dirty="0"/>
          </a:p>
        </p:txBody>
      </p:sp>
      <p:sp>
        <p:nvSpPr>
          <p:cNvPr id="3" name="Content Placeholder 2"/>
          <p:cNvSpPr>
            <a:spLocks noGrp="1"/>
          </p:cNvSpPr>
          <p:nvPr>
            <p:ph idx="1"/>
          </p:nvPr>
        </p:nvSpPr>
        <p:spPr/>
        <p:txBody>
          <a:bodyPr>
            <a:normAutofit fontScale="92500" lnSpcReduction="20000"/>
          </a:bodyPr>
          <a:lstStyle/>
          <a:p>
            <a:pPr marL="114300" indent="0" algn="just">
              <a:buNone/>
            </a:pPr>
            <a:r>
              <a:rPr lang="en-IN" b="1" dirty="0"/>
              <a:t>4. Food Safety:  </a:t>
            </a:r>
            <a:r>
              <a:rPr lang="en-IN" dirty="0"/>
              <a:t>Some microorganisms can cause foodborne illnesses (food poisoning) by producing toxins or by infecting the consumer. Pathogenic bacteria like Salmonella, Listeria, and E. coli are significant concerns.</a:t>
            </a:r>
          </a:p>
          <a:p>
            <a:pPr marL="114300" indent="0" algn="just">
              <a:buNone/>
            </a:pPr>
            <a:endParaRPr lang="en-IN" dirty="0"/>
          </a:p>
          <a:p>
            <a:pPr marL="114300" indent="0" algn="just">
              <a:buNone/>
            </a:pPr>
            <a:r>
              <a:rPr lang="en-IN" b="1" dirty="0"/>
              <a:t>5. Food Preservation:  </a:t>
            </a:r>
            <a:r>
              <a:rPr lang="en-IN" dirty="0"/>
              <a:t>Techniques such as heat processing (e.g., pasteurization, sterilization), refrigeration, freezing, drying, fermentation, and use of preservatives are used to control microbial growth and extend shelf life.</a:t>
            </a:r>
          </a:p>
          <a:p>
            <a:pPr algn="just"/>
            <a:endParaRPr lang="en-IN" dirty="0"/>
          </a:p>
          <a:p>
            <a:pPr marL="114300" indent="0" algn="just">
              <a:buNone/>
            </a:pPr>
            <a:r>
              <a:rPr lang="en-IN" b="1" dirty="0"/>
              <a:t>6. HACCP (Hazard Analysis Critical Control Points):  </a:t>
            </a:r>
            <a:r>
              <a:rPr lang="en-IN" dirty="0"/>
              <a:t>A systematic preventive approach to food safety that identifies, evaluates, and controls hazards throughout the food production process.</a:t>
            </a:r>
          </a:p>
        </p:txBody>
      </p:sp>
    </p:spTree>
    <p:extLst>
      <p:ext uri="{BB962C8B-B14F-4D97-AF65-F5344CB8AC3E}">
        <p14:creationId xmlns:p14="http://schemas.microsoft.com/office/powerpoint/2010/main" val="1862227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200" dirty="0"/>
              <a:t>General principles of food microbiology</a:t>
            </a:r>
            <a:endParaRPr lang="en-IN" dirty="0"/>
          </a:p>
        </p:txBody>
      </p:sp>
      <p:sp>
        <p:nvSpPr>
          <p:cNvPr id="3" name="Content Placeholder 2"/>
          <p:cNvSpPr>
            <a:spLocks noGrp="1"/>
          </p:cNvSpPr>
          <p:nvPr>
            <p:ph idx="1"/>
          </p:nvPr>
        </p:nvSpPr>
        <p:spPr/>
        <p:txBody>
          <a:bodyPr>
            <a:normAutofit fontScale="70000" lnSpcReduction="20000"/>
          </a:bodyPr>
          <a:lstStyle/>
          <a:p>
            <a:pPr marL="114300" indent="0">
              <a:buNone/>
            </a:pPr>
            <a:r>
              <a:rPr lang="en-IN" b="1" dirty="0"/>
              <a:t>7. Quality Control:  </a:t>
            </a:r>
            <a:r>
              <a:rPr lang="en-IN" dirty="0"/>
              <a:t>Microbiological testing and monitoring are essential for ensuring food safety and quality. This includes testing for pathogens, spoilage organisms, and indicators of hygiene and cleanliness.</a:t>
            </a:r>
          </a:p>
          <a:p>
            <a:endParaRPr lang="en-IN" dirty="0"/>
          </a:p>
          <a:p>
            <a:pPr marL="114300" indent="0">
              <a:buNone/>
            </a:pPr>
            <a:r>
              <a:rPr lang="en-IN" b="1" dirty="0"/>
              <a:t>8. Regulatory Standards:  </a:t>
            </a:r>
            <a:r>
              <a:rPr lang="en-IN" dirty="0"/>
              <a:t>Food microbiology is guided by national and international regulations and standards that specify acceptable levels of microorganisms, hygiene practices, and safety measures in food production and handling.</a:t>
            </a:r>
          </a:p>
          <a:p>
            <a:pPr marL="114300" indent="0">
              <a:buNone/>
            </a:pPr>
            <a:r>
              <a:rPr lang="en-IN" b="1" dirty="0"/>
              <a:t> </a:t>
            </a:r>
          </a:p>
          <a:p>
            <a:pPr marL="114300" indent="0">
              <a:buNone/>
            </a:pPr>
            <a:r>
              <a:rPr lang="en-IN" b="1" dirty="0"/>
              <a:t>9. Emerging Issues:  </a:t>
            </a:r>
            <a:r>
              <a:rPr lang="en-IN" dirty="0"/>
              <a:t>Changes in food production practices, global food trade, and consumer preferences continuously influence food microbiology. Issues such as antimicrobial resistance and novel food technologies are also areas of concern.</a:t>
            </a:r>
          </a:p>
          <a:p>
            <a:pPr marL="114300" indent="0">
              <a:buNone/>
            </a:pPr>
            <a:endParaRPr lang="en-IN" dirty="0"/>
          </a:p>
          <a:p>
            <a:pPr marL="114300" indent="0">
              <a:buNone/>
            </a:pPr>
            <a:r>
              <a:rPr lang="en-IN" b="1" dirty="0"/>
              <a:t>10.  Education and Research:  </a:t>
            </a:r>
            <a:r>
              <a:rPr lang="en-IN" dirty="0"/>
              <a:t>Ongoing research in food microbiology focuses on understanding microbial behavior, developing new preservation techniques, and improving food safety measures.</a:t>
            </a:r>
          </a:p>
          <a:p>
            <a:pPr marL="114300" indent="0">
              <a:buNone/>
            </a:pPr>
            <a:endParaRPr lang="en-IN" dirty="0"/>
          </a:p>
        </p:txBody>
      </p:sp>
    </p:spTree>
    <p:extLst>
      <p:ext uri="{BB962C8B-B14F-4D97-AF65-F5344CB8AC3E}">
        <p14:creationId xmlns:p14="http://schemas.microsoft.com/office/powerpoint/2010/main" val="33753483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Why these principles?</a:t>
            </a:r>
            <a:endParaRPr lang="en-IN" sz="2800" b="1" dirty="0"/>
          </a:p>
        </p:txBody>
      </p:sp>
      <p:sp>
        <p:nvSpPr>
          <p:cNvPr id="3" name="Content Placeholder 2"/>
          <p:cNvSpPr>
            <a:spLocks noGrp="1"/>
          </p:cNvSpPr>
          <p:nvPr>
            <p:ph idx="1"/>
          </p:nvPr>
        </p:nvSpPr>
        <p:spPr/>
        <p:txBody>
          <a:bodyPr>
            <a:normAutofit lnSpcReduction="10000"/>
          </a:bodyPr>
          <a:lstStyle/>
          <a:p>
            <a:pPr marL="114300" indent="0" algn="just">
              <a:buNone/>
            </a:pPr>
            <a:r>
              <a:rPr lang="en-US" sz="3200" dirty="0"/>
              <a:t>Understanding these principles helps food scientists, producers, and regulators ensure that food is :</a:t>
            </a:r>
          </a:p>
          <a:p>
            <a:pPr marL="114300" indent="0" algn="just">
              <a:buNone/>
            </a:pPr>
            <a:r>
              <a:rPr lang="en-US" sz="3200" b="1" dirty="0"/>
              <a:t>safe,</a:t>
            </a:r>
          </a:p>
          <a:p>
            <a:pPr marL="114300" indent="0" algn="just">
              <a:buNone/>
            </a:pPr>
            <a:r>
              <a:rPr lang="en-US" sz="3200" b="1" dirty="0"/>
              <a:t>nutritious, </a:t>
            </a:r>
          </a:p>
          <a:p>
            <a:pPr marL="114300" indent="0" algn="just">
              <a:buNone/>
            </a:pPr>
            <a:r>
              <a:rPr lang="en-US" sz="3200" b="1" dirty="0"/>
              <a:t>and of high quality </a:t>
            </a:r>
          </a:p>
          <a:p>
            <a:pPr marL="114300" indent="0" algn="just">
              <a:buNone/>
            </a:pPr>
            <a:r>
              <a:rPr lang="en-US" sz="3200" b="1" dirty="0"/>
              <a:t>throughout its production, </a:t>
            </a:r>
          </a:p>
          <a:p>
            <a:pPr marL="114300" indent="0" algn="just">
              <a:buNone/>
            </a:pPr>
            <a:r>
              <a:rPr lang="en-US" sz="3200" b="1" dirty="0"/>
              <a:t>distribution,</a:t>
            </a:r>
          </a:p>
          <a:p>
            <a:pPr marL="114300" indent="0" algn="just">
              <a:buNone/>
            </a:pPr>
            <a:r>
              <a:rPr lang="en-US" sz="3200" b="1" dirty="0"/>
              <a:t>and consumption.</a:t>
            </a:r>
            <a:endParaRPr lang="en-IN" sz="3200" b="1" dirty="0"/>
          </a:p>
        </p:txBody>
      </p:sp>
    </p:spTree>
    <p:extLst>
      <p:ext uri="{BB962C8B-B14F-4D97-AF65-F5344CB8AC3E}">
        <p14:creationId xmlns:p14="http://schemas.microsoft.com/office/powerpoint/2010/main" val="789842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FAAF4-5D21-D6CC-0C0D-144B84CCF292}"/>
              </a:ext>
            </a:extLst>
          </p:cNvPr>
          <p:cNvSpPr>
            <a:spLocks noGrp="1"/>
          </p:cNvSpPr>
          <p:nvPr>
            <p:ph type="title"/>
          </p:nvPr>
        </p:nvSpPr>
        <p:spPr/>
        <p:txBody>
          <a:bodyPr>
            <a:normAutofit/>
          </a:bodyPr>
          <a:lstStyle/>
          <a:p>
            <a:r>
              <a:rPr lang="en-IN" sz="4000" b="1" i="0" u="none" strike="noStrike" dirty="0">
                <a:solidFill>
                  <a:srgbClr val="000000"/>
                </a:solidFill>
                <a:effectLst/>
                <a:latin typeface="Times New Roman" panose="02020603050405020304" pitchFamily="18" charset="0"/>
              </a:rPr>
              <a:t>Food Safety Regulations</a:t>
            </a:r>
            <a:br>
              <a:rPr lang="en-IN" sz="4000" b="1" i="0" u="none" strike="noStrike" dirty="0">
                <a:solidFill>
                  <a:srgbClr val="000000"/>
                </a:solidFill>
                <a:effectLst/>
                <a:latin typeface="Times New Roman" panose="02020603050405020304" pitchFamily="18" charset="0"/>
              </a:rPr>
            </a:br>
            <a:r>
              <a:rPr lang="en-US" sz="4000" b="0" i="0" u="none" strike="noStrike" dirty="0">
                <a:solidFill>
                  <a:srgbClr val="000000"/>
                </a:solidFill>
                <a:effectLst/>
                <a:latin typeface="Times New Roman" panose="02020603050405020304" pitchFamily="18" charset="0"/>
              </a:rPr>
              <a:t>A basic food safety plan uses the HACCP method.</a:t>
            </a:r>
            <a:endParaRPr lang="en-IN" sz="4000" dirty="0"/>
          </a:p>
        </p:txBody>
      </p:sp>
      <p:pic>
        <p:nvPicPr>
          <p:cNvPr id="1026" name="Picture 2" descr="HACCP ;Definition, and principles ">
            <a:extLst>
              <a:ext uri="{FF2B5EF4-FFF2-40B4-BE49-F238E27FC236}">
                <a16:creationId xmlns:a16="http://schemas.microsoft.com/office/drawing/2014/main" id="{40DF1C9D-4627-6A97-84F7-421D96AF40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50831" y="1690688"/>
            <a:ext cx="7906043" cy="4442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4976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 The Food Safety tool&#10;• Hazard – food contamination / spoilage&#10;• Analysis – finding out the source&#10;• Critical – the level of danger&#10;• Control – the remedial actions&#10;• Point – the stage for corrective action&#10;HACCP&#10; ">
            <a:extLst>
              <a:ext uri="{FF2B5EF4-FFF2-40B4-BE49-F238E27FC236}">
                <a16:creationId xmlns:a16="http://schemas.microsoft.com/office/drawing/2014/main" id="{1273F880-EB32-6DB3-35BE-6BA096CA669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70671" y="633045"/>
            <a:ext cx="10128738" cy="5542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5947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 Definition&#10;HACCP is a systematic approach to&#10;identify, evaluate and control food safety&#10;hazards that are caused by biological,&#10;chemical or physical agents. These&#10;agents can cause illness if not controlled.&#10;HACCP&#10; ">
            <a:extLst>
              <a:ext uri="{FF2B5EF4-FFF2-40B4-BE49-F238E27FC236}">
                <a16:creationId xmlns:a16="http://schemas.microsoft.com/office/drawing/2014/main" id="{786439FE-8A7A-731D-7631-400896B92A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92368" y="717452"/>
            <a:ext cx="10930598" cy="5331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128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 its objective&#10;• To ensure that the food served to the guest is&#10;safe for human consumption.&#10;• Awareness to food handling techniques.&#10;• Understanding the faults and taking corrective&#10;action.&#10;• Better knowledge to food handlers for longer&#10;shelf life of cooked and raw food.&#10;• This methods also has other benefits of&#10;maintaining food quality and managing food&#10;cost.&#10;HACCP&#10; ">
            <a:extLst>
              <a:ext uri="{FF2B5EF4-FFF2-40B4-BE49-F238E27FC236}">
                <a16:creationId xmlns:a16="http://schemas.microsoft.com/office/drawing/2014/main" id="{060E6666-23B1-6919-C310-B6E3D2F2A8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2489" y="337624"/>
            <a:ext cx="10724444" cy="6231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283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888067" y="677333"/>
            <a:ext cx="6173178" cy="1013354"/>
          </a:xfrm>
          <a:prstGeom prst="rect">
            <a:avLst/>
          </a:prstGeom>
        </p:spPr>
      </p:pic>
      <p:pic>
        <p:nvPicPr>
          <p:cNvPr id="5" name="Picture 2" descr="• A forerunner of HACCP was developed during&#10;the World War II.&#10;• Jointly developed by the Pilsbury Company,&#10;and the National Aeronautics and Space&#10;Administration (NASA), to prevents&#10;astronauts from getting food poisoning.&#10;Their goal was to produce 100% safe food.&#10;HACCP – the beginning&#10; ">
            <a:extLst>
              <a:ext uri="{FF2B5EF4-FFF2-40B4-BE49-F238E27FC236}">
                <a16:creationId xmlns:a16="http://schemas.microsoft.com/office/drawing/2014/main" id="{BE3DC2E5-D4C0-CAE7-F51B-CE908535825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39439"/>
          <a:stretch/>
        </p:blipFill>
        <p:spPr bwMode="auto">
          <a:xfrm>
            <a:off x="1049867" y="2720621"/>
            <a:ext cx="8952090" cy="3160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3062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 All food handlers – proper&#10;implementation of food safety&#10;standards.&#10;• Only achieved by proper&#10;training and constant&#10;demonstration.&#10;• Commitment to food safety&#10;standards are required.&#10;HACCP – who’s responsibility?&#10; ">
            <a:extLst>
              <a:ext uri="{FF2B5EF4-FFF2-40B4-BE49-F238E27FC236}">
                <a16:creationId xmlns:a16="http://schemas.microsoft.com/office/drawing/2014/main" id="{B99D86F8-2093-B4EB-403C-1A8EBA24E7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20505" y="337625"/>
            <a:ext cx="11085341" cy="6035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6431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2287C-0899-DF40-5144-4DC8945FCFD9}"/>
              </a:ext>
            </a:extLst>
          </p:cNvPr>
          <p:cNvSpPr>
            <a:spLocks noGrp="1"/>
          </p:cNvSpPr>
          <p:nvPr>
            <p:ph type="title"/>
          </p:nvPr>
        </p:nvSpPr>
        <p:spPr>
          <a:xfrm>
            <a:off x="838200" y="365125"/>
            <a:ext cx="10515600" cy="647749"/>
          </a:xfrm>
          <a:solidFill>
            <a:schemeClr val="accent2">
              <a:lumMod val="20000"/>
              <a:lumOff val="80000"/>
            </a:schemeClr>
          </a:solidFill>
        </p:spPr>
        <p:txBody>
          <a:bodyPr>
            <a:normAutofit fontScale="90000"/>
          </a:bodyPr>
          <a:lstStyle/>
          <a:p>
            <a:pPr algn="ctr"/>
            <a:r>
              <a:rPr lang="en-US" dirty="0">
                <a:latin typeface="Times New Roman" panose="02020603050405020304" pitchFamily="18" charset="0"/>
                <a:cs typeface="Times New Roman" panose="02020603050405020304" pitchFamily="18" charset="0"/>
              </a:rPr>
              <a:t>7 </a:t>
            </a:r>
            <a:r>
              <a:rPr lang="en-IN" b="1" dirty="0">
                <a:latin typeface="Times New Roman" panose="02020603050405020304" pitchFamily="18" charset="0"/>
                <a:cs typeface="Times New Roman" panose="02020603050405020304" pitchFamily="18" charset="0"/>
              </a:rPr>
              <a:t>Principles of HACCP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C50BD0D-3D4C-8576-D329-4F54446351E7}"/>
              </a:ext>
            </a:extLst>
          </p:cNvPr>
          <p:cNvSpPr>
            <a:spLocks noGrp="1"/>
          </p:cNvSpPr>
          <p:nvPr>
            <p:ph idx="1"/>
          </p:nvPr>
        </p:nvSpPr>
        <p:spPr>
          <a:xfrm>
            <a:off x="225083" y="1209822"/>
            <a:ext cx="11830929" cy="5458264"/>
          </a:xfrm>
          <a:solidFill>
            <a:srgbClr val="F0FAFE"/>
          </a:solidFill>
        </p:spPr>
        <p:txBody>
          <a:bodyPr>
            <a:normAutofit lnSpcReduction="10000"/>
          </a:bodyPr>
          <a:lstStyle/>
          <a:p>
            <a:pPr marL="0" indent="0" algn="just">
              <a:buNone/>
            </a:pPr>
            <a:r>
              <a:rPr lang="en-IN" sz="3200" b="1" dirty="0">
                <a:latin typeface="Times New Roman" panose="02020603050405020304" pitchFamily="18" charset="0"/>
                <a:cs typeface="Times New Roman" panose="02020603050405020304" pitchFamily="18" charset="0"/>
              </a:rPr>
              <a:t>Principle 1: Conduct a Hazard analysis</a:t>
            </a:r>
            <a:endParaRPr lang="en-IN"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List all the steps in the food process and identify the possible hazards.</a:t>
            </a:r>
          </a:p>
          <a:p>
            <a:pPr marL="0" indent="0">
              <a:buNone/>
            </a:pPr>
            <a:r>
              <a:rPr lang="en-US" sz="3200" dirty="0">
                <a:latin typeface="Times New Roman" panose="02020603050405020304" pitchFamily="18" charset="0"/>
                <a:cs typeface="Times New Roman" panose="02020603050405020304" pitchFamily="18" charset="0"/>
              </a:rPr>
              <a:t>Example–Cooking step</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Danger: </a:t>
            </a:r>
            <a:r>
              <a:rPr lang="en-US" sz="3200" i="1" dirty="0">
                <a:latin typeface="Times New Roman" panose="02020603050405020304" pitchFamily="18" charset="0"/>
                <a:cs typeface="Times New Roman" panose="02020603050405020304" pitchFamily="18" charset="0"/>
              </a:rPr>
              <a:t>Harmful bacteria may survive if food is not cooked properly.</a:t>
            </a:r>
          </a:p>
          <a:p>
            <a:pPr marL="0" indent="0" algn="just">
              <a:buNone/>
            </a:pPr>
            <a:endParaRPr lang="en-US" sz="3200" i="1" dirty="0">
              <a:latin typeface="Times New Roman" panose="02020603050405020304" pitchFamily="18" charset="0"/>
              <a:cs typeface="Times New Roman" panose="02020603050405020304" pitchFamily="18" charset="0"/>
            </a:endParaRPr>
          </a:p>
          <a:p>
            <a:pPr marL="0" indent="0" algn="just">
              <a:buNone/>
            </a:pPr>
            <a:endParaRPr lang="en-US" sz="3200" i="1" dirty="0">
              <a:latin typeface="Times New Roman" panose="02020603050405020304" pitchFamily="18" charset="0"/>
              <a:cs typeface="Times New Roman" panose="02020603050405020304" pitchFamily="18" charset="0"/>
            </a:endParaRPr>
          </a:p>
          <a:p>
            <a:pPr marL="0" indent="0" algn="just">
              <a:buNone/>
            </a:pPr>
            <a:r>
              <a:rPr lang="en-IN" sz="3200" b="1" dirty="0">
                <a:latin typeface="Times New Roman" panose="02020603050405020304" pitchFamily="18" charset="0"/>
                <a:cs typeface="Times New Roman" panose="02020603050405020304" pitchFamily="18" charset="0"/>
              </a:rPr>
              <a:t>Principle 2: Identifying critical control points</a:t>
            </a:r>
          </a:p>
          <a:p>
            <a:pPr marL="0" indent="0" algn="just">
              <a:buNone/>
            </a:pPr>
            <a:r>
              <a:rPr lang="en-US" sz="3200" dirty="0">
                <a:latin typeface="Times New Roman" panose="02020603050405020304" pitchFamily="18" charset="0"/>
                <a:cs typeface="Times New Roman" panose="02020603050405020304" pitchFamily="18" charset="0"/>
              </a:rPr>
              <a:t>A CCP is the step where a hazard must be checked and controlled.</a:t>
            </a:r>
            <a:endParaRPr lang="en-IN"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Example – Cooking step</a:t>
            </a:r>
          </a:p>
          <a:p>
            <a:pPr marL="0" indent="0" algn="just">
              <a:buNone/>
            </a:pPr>
            <a:r>
              <a:rPr lang="en-US" sz="3200" dirty="0">
                <a:latin typeface="Times New Roman" panose="02020603050405020304" pitchFamily="18" charset="0"/>
                <a:cs typeface="Times New Roman" panose="02020603050405020304" pitchFamily="18" charset="0"/>
              </a:rPr>
              <a:t>Cooking is a CCP because correct heating kills dangerous bacteria.</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767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387992-017D-02E6-8710-94FF23AEB627}"/>
              </a:ext>
            </a:extLst>
          </p:cNvPr>
          <p:cNvSpPr>
            <a:spLocks noGrp="1"/>
          </p:cNvSpPr>
          <p:nvPr>
            <p:ph idx="1"/>
          </p:nvPr>
        </p:nvSpPr>
        <p:spPr>
          <a:xfrm>
            <a:off x="562707" y="168812"/>
            <a:ext cx="11099409" cy="6527410"/>
          </a:xfrm>
          <a:solidFill>
            <a:srgbClr val="FEF6F0"/>
          </a:solidFill>
        </p:spPr>
        <p:txBody>
          <a:bodyPr>
            <a:normAutofit/>
          </a:bodyPr>
          <a:lstStyle/>
          <a:p>
            <a:pPr marL="0" indent="0" algn="just">
              <a:buNone/>
            </a:pPr>
            <a:r>
              <a:rPr lang="en-US" sz="3200" b="1" dirty="0">
                <a:latin typeface="Times New Roman" panose="02020603050405020304" pitchFamily="18" charset="0"/>
                <a:cs typeface="Times New Roman" panose="02020603050405020304" pitchFamily="18" charset="0"/>
              </a:rPr>
              <a:t>Principle 3: Establishing critical limits for each critical control point</a:t>
            </a:r>
          </a:p>
          <a:p>
            <a:pPr algn="just"/>
            <a:r>
              <a:rPr lang="en-US" sz="3200" dirty="0">
                <a:latin typeface="Times New Roman" panose="02020603050405020304" pitchFamily="18" charset="0"/>
                <a:cs typeface="Times New Roman" panose="02020603050405020304" pitchFamily="18" charset="0"/>
              </a:rPr>
              <a:t>Decide the minimum or maximum values (time, temperature, pH, etc.) required to keep food safe.</a:t>
            </a:r>
          </a:p>
          <a:p>
            <a:pPr marL="0" indent="0" algn="just">
              <a:buNone/>
            </a:pPr>
            <a:endParaRPr lang="en-IN" sz="3200" b="1" dirty="0">
              <a:latin typeface="Times New Roman" panose="02020603050405020304" pitchFamily="18" charset="0"/>
              <a:cs typeface="Times New Roman" panose="02020603050405020304" pitchFamily="18" charset="0"/>
            </a:endParaRPr>
          </a:p>
          <a:p>
            <a:pPr marL="0" indent="0" algn="just">
              <a:buNone/>
            </a:pPr>
            <a:endParaRPr lang="en-IN" sz="3200" b="1" dirty="0">
              <a:latin typeface="Times New Roman" panose="02020603050405020304" pitchFamily="18" charset="0"/>
              <a:cs typeface="Times New Roman" panose="02020603050405020304" pitchFamily="18" charset="0"/>
            </a:endParaRPr>
          </a:p>
          <a:p>
            <a:pPr marL="0" indent="0" algn="just">
              <a:buNone/>
            </a:pPr>
            <a:r>
              <a:rPr lang="en-IN" sz="3200" b="1" dirty="0">
                <a:latin typeface="Times New Roman" panose="02020603050405020304" pitchFamily="18" charset="0"/>
                <a:cs typeface="Times New Roman" panose="02020603050405020304" pitchFamily="18" charset="0"/>
              </a:rPr>
              <a:t>Principle 4: Establishing monitoring procedures for critical control points</a:t>
            </a:r>
            <a:r>
              <a:rPr lang="en-IN" sz="3200" dirty="0">
                <a:latin typeface="Times New Roman" panose="02020603050405020304" pitchFamily="18" charset="0"/>
                <a:cs typeface="Times New Roman" panose="02020603050405020304" pitchFamily="18" charset="0"/>
              </a:rPr>
              <a:t> </a:t>
            </a:r>
          </a:p>
          <a:p>
            <a:pPr algn="just"/>
            <a:r>
              <a:rPr lang="en-US" sz="3200" dirty="0">
                <a:latin typeface="Times New Roman" panose="02020603050405020304" pitchFamily="18" charset="0"/>
                <a:cs typeface="Times New Roman" panose="02020603050405020304" pitchFamily="18" charset="0"/>
              </a:rPr>
              <a:t>measure the critical limit. </a:t>
            </a:r>
          </a:p>
          <a:p>
            <a:pPr algn="just"/>
            <a:r>
              <a:rPr lang="en-US" sz="3200" dirty="0">
                <a:latin typeface="Times New Roman" panose="02020603050405020304" pitchFamily="18" charset="0"/>
                <a:cs typeface="Times New Roman" panose="02020603050405020304" pitchFamily="18" charset="0"/>
              </a:rPr>
              <a:t>Check if the internal temperature using a food thermometer</a:t>
            </a:r>
          </a:p>
        </p:txBody>
      </p:sp>
    </p:spTree>
    <p:extLst>
      <p:ext uri="{BB962C8B-B14F-4D97-AF65-F5344CB8AC3E}">
        <p14:creationId xmlns:p14="http://schemas.microsoft.com/office/powerpoint/2010/main" val="4015140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500E047-CEF1-16DC-9E4A-F0FC981EB1E6}"/>
              </a:ext>
            </a:extLst>
          </p:cNvPr>
          <p:cNvSpPr>
            <a:spLocks noGrp="1"/>
          </p:cNvSpPr>
          <p:nvPr>
            <p:ph idx="1"/>
          </p:nvPr>
        </p:nvSpPr>
        <p:spPr>
          <a:xfrm>
            <a:off x="211015" y="253218"/>
            <a:ext cx="11760591" cy="6604782"/>
          </a:xfrm>
          <a:solidFill>
            <a:srgbClr val="FEF6F0"/>
          </a:solidFill>
        </p:spPr>
        <p:txBody>
          <a:bodyPr>
            <a:normAutofit/>
          </a:bodyPr>
          <a:lstStyle/>
          <a:p>
            <a:pPr marL="0" indent="0" algn="just">
              <a:buNone/>
            </a:pPr>
            <a:r>
              <a:rPr lang="en-IN" sz="3200" b="1" dirty="0">
                <a:latin typeface="Times New Roman" panose="02020603050405020304" pitchFamily="18" charset="0"/>
                <a:cs typeface="Times New Roman" panose="02020603050405020304" pitchFamily="18" charset="0"/>
              </a:rPr>
              <a:t>Principle 5: Establishing corrective actions </a:t>
            </a:r>
            <a:endParaRPr lang="en-IN"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Decide what to do when the limit is not reached.</a:t>
            </a:r>
          </a:p>
          <a:p>
            <a:pPr marL="0" indent="0">
              <a:buNone/>
            </a:pPr>
            <a:r>
              <a:rPr lang="en-US" sz="3200" dirty="0">
                <a:latin typeface="Times New Roman" panose="02020603050405020304" pitchFamily="18" charset="0"/>
                <a:cs typeface="Times New Roman" panose="02020603050405020304" pitchFamily="18" charset="0"/>
              </a:rPr>
              <a:t>Example: If the food temperature is only 5</a:t>
            </a:r>
            <a:r>
              <a:rPr lang="en-US" sz="3200" b="1" dirty="0">
                <a:latin typeface="Times New Roman" panose="02020603050405020304" pitchFamily="18" charset="0"/>
                <a:cs typeface="Times New Roman" panose="02020603050405020304" pitchFamily="18" charset="0"/>
              </a:rPr>
              <a:t>5°C</a:t>
            </a:r>
            <a:r>
              <a:rPr lang="en-US" sz="3200" dirty="0">
                <a:latin typeface="Times New Roman" panose="02020603050405020304" pitchFamily="18" charset="0"/>
                <a:cs typeface="Times New Roman" panose="02020603050405020304" pitchFamily="18" charset="0"/>
              </a:rPr>
              <a:t>:</a:t>
            </a:r>
          </a:p>
          <a:p>
            <a:pPr algn="just"/>
            <a:r>
              <a:rPr lang="en-US" sz="3200" dirty="0">
                <a:latin typeface="Times New Roman" panose="02020603050405020304" pitchFamily="18" charset="0"/>
                <a:cs typeface="Times New Roman" panose="02020603050405020304" pitchFamily="18" charset="0"/>
              </a:rPr>
              <a:t>Continue cooking until it reaches </a:t>
            </a:r>
            <a:r>
              <a:rPr lang="en-US" sz="3200" b="1" dirty="0">
                <a:latin typeface="Times New Roman" panose="02020603050405020304" pitchFamily="18" charset="0"/>
                <a:cs typeface="Times New Roman" panose="02020603050405020304" pitchFamily="18" charset="0"/>
              </a:rPr>
              <a:t>≥65°C</a:t>
            </a: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Check why the temperature dropped (equipment issue, wrong settings, etc.)</a:t>
            </a:r>
          </a:p>
          <a:p>
            <a:pPr algn="just"/>
            <a:r>
              <a:rPr lang="en-US" sz="3200" dirty="0">
                <a:latin typeface="Times New Roman" panose="02020603050405020304" pitchFamily="18" charset="0"/>
                <a:cs typeface="Times New Roman" panose="02020603050405020304" pitchFamily="18" charset="0"/>
              </a:rPr>
              <a:t>Fix the cause so it does not happen again</a:t>
            </a:r>
          </a:p>
          <a:p>
            <a:pPr marL="0" indent="0">
              <a:buNone/>
            </a:pPr>
            <a:r>
              <a:rPr lang="en-IN" sz="3200" b="1" dirty="0">
                <a:latin typeface="Times New Roman" panose="02020603050405020304" pitchFamily="18" charset="0"/>
                <a:cs typeface="Times New Roman" panose="02020603050405020304" pitchFamily="18" charset="0"/>
              </a:rPr>
              <a:t>Principle 6: Establishing verification procedure</a:t>
            </a:r>
            <a:endParaRPr lang="en-IN" sz="3200" dirty="0">
              <a:latin typeface="Times New Roman" panose="02020603050405020304" pitchFamily="18" charset="0"/>
              <a:cs typeface="Times New Roman" panose="02020603050405020304" pitchFamily="18" charset="0"/>
            </a:endParaRPr>
          </a:p>
          <a:p>
            <a:r>
              <a:rPr lang="en-US" sz="3200" dirty="0">
                <a:latin typeface="Times New Roman" panose="02020603050405020304" pitchFamily="18" charset="0"/>
                <a:cs typeface="Times New Roman" panose="02020603050405020304" pitchFamily="18" charset="0"/>
              </a:rPr>
              <a:t>To ensures everything is working correctly</a:t>
            </a:r>
          </a:p>
          <a:p>
            <a:pPr marL="0" indent="0">
              <a:buNone/>
            </a:pPr>
            <a:r>
              <a:rPr lang="en-US" sz="3200" dirty="0">
                <a:latin typeface="Times New Roman" panose="02020603050405020304" pitchFamily="18" charset="0"/>
                <a:cs typeface="Times New Roman" panose="02020603050405020304" pitchFamily="18" charset="0"/>
              </a:rPr>
              <a:t>Example: Check thermometer accuracy </a:t>
            </a:r>
          </a:p>
          <a:p>
            <a:r>
              <a:rPr lang="en-US" sz="3200" dirty="0">
                <a:latin typeface="Times New Roman" panose="02020603050405020304" pitchFamily="18" charset="0"/>
                <a:cs typeface="Times New Roman" panose="02020603050405020304" pitchFamily="18" charset="0"/>
              </a:rPr>
              <a:t>Measure temperature, It should read correct required temperature, if not, adjust it, Review cooking log sheets, Audit CCP steps</a:t>
            </a:r>
          </a:p>
          <a:p>
            <a:pPr algn="just"/>
            <a:endParaRPr lang="en-US"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759053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65CE8-EBF6-8D32-2666-1668AD430A5A}"/>
              </a:ext>
            </a:extLst>
          </p:cNvPr>
          <p:cNvSpPr>
            <a:spLocks noGrp="1"/>
          </p:cNvSpPr>
          <p:nvPr>
            <p:ph idx="1"/>
          </p:nvPr>
        </p:nvSpPr>
        <p:spPr>
          <a:xfrm>
            <a:off x="239151" y="126608"/>
            <a:ext cx="11952849" cy="6555545"/>
          </a:xfrm>
          <a:solidFill>
            <a:srgbClr val="F0FAFE"/>
          </a:solidFill>
        </p:spPr>
        <p:txBody>
          <a:bodyPr>
            <a:normAutofit/>
          </a:bodyPr>
          <a:lstStyle/>
          <a:p>
            <a:pPr marL="0" indent="0" algn="just">
              <a:buNone/>
            </a:pPr>
            <a:r>
              <a:rPr lang="en-IN" sz="3600" b="1" dirty="0">
                <a:latin typeface="Times New Roman" panose="02020603050405020304" pitchFamily="18" charset="0"/>
                <a:cs typeface="Times New Roman" panose="02020603050405020304" pitchFamily="18" charset="0"/>
              </a:rPr>
              <a:t>Principle 7: Record Keeping</a:t>
            </a:r>
          </a:p>
          <a:p>
            <a:pPr algn="just"/>
            <a:r>
              <a:rPr lang="en-IN" sz="3600" b="1"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Keep written proof of all HACCP activities.</a:t>
            </a:r>
          </a:p>
          <a:p>
            <a:pPr marL="0" indent="0" algn="just">
              <a:buNone/>
            </a:pPr>
            <a:r>
              <a:rPr lang="en-US" sz="3600" b="1" dirty="0">
                <a:latin typeface="Times New Roman" panose="02020603050405020304" pitchFamily="18" charset="0"/>
                <a:cs typeface="Times New Roman" panose="02020603050405020304" pitchFamily="18" charset="0"/>
              </a:rPr>
              <a:t> Example – Cooking temperature records</a:t>
            </a:r>
            <a:endParaRPr lang="en-US" sz="3600" dirty="0">
              <a:latin typeface="Times New Roman" panose="02020603050405020304" pitchFamily="18" charset="0"/>
              <a:cs typeface="Times New Roman" panose="02020603050405020304" pitchFamily="18" charset="0"/>
            </a:endParaRPr>
          </a:p>
          <a:p>
            <a:pPr marL="0" indent="0" algn="just">
              <a:buNone/>
            </a:pPr>
            <a:r>
              <a:rPr lang="en-US" sz="3600" dirty="0">
                <a:latin typeface="Times New Roman" panose="02020603050405020304" pitchFamily="18" charset="0"/>
                <a:cs typeface="Times New Roman" panose="02020603050405020304" pitchFamily="18" charset="0"/>
              </a:rPr>
              <a:t>Cooking log sheet with:</a:t>
            </a:r>
          </a:p>
          <a:p>
            <a:pPr lvl="1" algn="just"/>
            <a:r>
              <a:rPr lang="en-US" sz="3600" dirty="0">
                <a:latin typeface="Times New Roman" panose="02020603050405020304" pitchFamily="18" charset="0"/>
                <a:cs typeface="Times New Roman" panose="02020603050405020304" pitchFamily="18" charset="0"/>
              </a:rPr>
              <a:t>Date</a:t>
            </a:r>
          </a:p>
          <a:p>
            <a:pPr lvl="1" algn="just"/>
            <a:r>
              <a:rPr lang="en-US" sz="3600" dirty="0">
                <a:latin typeface="Times New Roman" panose="02020603050405020304" pitchFamily="18" charset="0"/>
                <a:cs typeface="Times New Roman" panose="02020603050405020304" pitchFamily="18" charset="0"/>
              </a:rPr>
              <a:t>Batch time</a:t>
            </a:r>
          </a:p>
          <a:p>
            <a:pPr lvl="1" algn="just"/>
            <a:r>
              <a:rPr lang="en-US" sz="3600" dirty="0">
                <a:latin typeface="Times New Roman" panose="02020603050405020304" pitchFamily="18" charset="0"/>
                <a:cs typeface="Times New Roman" panose="02020603050405020304" pitchFamily="18" charset="0"/>
              </a:rPr>
              <a:t>Temperature reading</a:t>
            </a:r>
          </a:p>
          <a:p>
            <a:pPr lvl="1" algn="just"/>
            <a:r>
              <a:rPr lang="en-US" sz="3600" dirty="0">
                <a:latin typeface="Times New Roman" panose="02020603050405020304" pitchFamily="18" charset="0"/>
                <a:cs typeface="Times New Roman" panose="02020603050405020304" pitchFamily="18" charset="0"/>
              </a:rPr>
              <a:t>Employee signature</a:t>
            </a:r>
          </a:p>
          <a:p>
            <a:pPr algn="just"/>
            <a:r>
              <a:rPr lang="en-US" sz="3600" dirty="0">
                <a:latin typeface="Times New Roman" panose="02020603050405020304" pitchFamily="18" charset="0"/>
                <a:cs typeface="Times New Roman" panose="02020603050405020304" pitchFamily="18" charset="0"/>
              </a:rPr>
              <a:t>Deviation log (if temperature was too low)</a:t>
            </a:r>
          </a:p>
          <a:p>
            <a:pPr algn="just"/>
            <a:r>
              <a:rPr lang="en-US" sz="3600" dirty="0">
                <a:latin typeface="Times New Roman" panose="02020603050405020304" pitchFamily="18" charset="0"/>
                <a:cs typeface="Times New Roman" panose="02020603050405020304" pitchFamily="18" charset="0"/>
              </a:rPr>
              <a:t>Calibration record for thermometer</a:t>
            </a:r>
          </a:p>
          <a:p>
            <a:pPr algn="just"/>
            <a:r>
              <a:rPr lang="en-US" sz="3600" dirty="0">
                <a:latin typeface="Times New Roman" panose="02020603050405020304" pitchFamily="18" charset="0"/>
                <a:cs typeface="Times New Roman" panose="02020603050405020304" pitchFamily="18" charset="0"/>
              </a:rPr>
              <a:t>These records show auditors that food was cooked safely.</a:t>
            </a:r>
          </a:p>
          <a:p>
            <a:pPr algn="just"/>
            <a:endParaRPr lang="en-IN" sz="3600" dirty="0">
              <a:latin typeface="Times New Roman" panose="02020603050405020304" pitchFamily="18" charset="0"/>
              <a:cs typeface="Times New Roman" panose="02020603050405020304" pitchFamily="18" charset="0"/>
            </a:endParaRPr>
          </a:p>
          <a:p>
            <a:pPr algn="just"/>
            <a:endParaRPr lang="en-US" sz="3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38496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Benefits&#10;• There are clear benefits of implementing HACCP for all sectors:&#10;government, food industry and consumers alike. The following&#10;benefits should encourage businesses and governments to implement&#10;HACCP:&#10;• I) Benefits to consumers&#10;• Reduced risk of food borne disease&#10;• Increased awareness of basic hygiene&#10;• Increased confidence in the food supply&#10;• Improved quality of life (health and socio-economic).&#10;• II) Benefits to industry&#10;• Increased consumer and/or government confidence;&#10;• Reduced legal and insurance costs;&#10;• Increased market access;&#10;• Reduction in production costs (reduced recall/wastage of food);&#10;• Improved product consistency;&#10;• Improved staff-management commitment to food safety&#10;• Decreased business risk&#10; ">
            <a:extLst>
              <a:ext uri="{FF2B5EF4-FFF2-40B4-BE49-F238E27FC236}">
                <a16:creationId xmlns:a16="http://schemas.microsoft.com/office/drawing/2014/main" id="{F43F6166-3304-043B-AF2B-8AF27ECBCFA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50498" y="492369"/>
            <a:ext cx="9622302" cy="611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1158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10107" y="408372"/>
            <a:ext cx="8878381" cy="6332996"/>
          </a:xfrm>
          <a:prstGeom prst="rect">
            <a:avLst/>
          </a:prstGeom>
        </p:spPr>
      </p:pic>
    </p:spTree>
    <p:extLst>
      <p:ext uri="{BB962C8B-B14F-4D97-AF65-F5344CB8AC3E}">
        <p14:creationId xmlns:p14="http://schemas.microsoft.com/office/powerpoint/2010/main" val="24388975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23558" y="116632"/>
            <a:ext cx="11493304" cy="6597352"/>
          </a:xfrm>
          <a:prstGeom prst="rect">
            <a:avLst/>
          </a:prstGeom>
        </p:spPr>
      </p:pic>
    </p:spTree>
    <p:extLst>
      <p:ext uri="{BB962C8B-B14F-4D97-AF65-F5344CB8AC3E}">
        <p14:creationId xmlns:p14="http://schemas.microsoft.com/office/powerpoint/2010/main" val="24024324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33046" y="188640"/>
            <a:ext cx="9855442" cy="6552728"/>
          </a:xfrm>
          <a:prstGeom prst="rect">
            <a:avLst/>
          </a:prstGeom>
        </p:spPr>
      </p:pic>
    </p:spTree>
    <p:extLst>
      <p:ext uri="{BB962C8B-B14F-4D97-AF65-F5344CB8AC3E}">
        <p14:creationId xmlns:p14="http://schemas.microsoft.com/office/powerpoint/2010/main" val="970780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808760" y="260648"/>
            <a:ext cx="8701055" cy="6480720"/>
          </a:xfrm>
          <a:prstGeom prst="rect">
            <a:avLst/>
          </a:prstGeom>
        </p:spPr>
      </p:pic>
    </p:spTree>
    <p:extLst>
      <p:ext uri="{BB962C8B-B14F-4D97-AF65-F5344CB8AC3E}">
        <p14:creationId xmlns:p14="http://schemas.microsoft.com/office/powerpoint/2010/main" val="32742051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703512" y="168802"/>
            <a:ext cx="8856984" cy="6689199"/>
          </a:xfrm>
          <a:prstGeom prst="rect">
            <a:avLst/>
          </a:prstGeom>
        </p:spPr>
      </p:pic>
    </p:spTree>
    <p:extLst>
      <p:ext uri="{BB962C8B-B14F-4D97-AF65-F5344CB8AC3E}">
        <p14:creationId xmlns:p14="http://schemas.microsoft.com/office/powerpoint/2010/main" val="6951866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590127" y="188640"/>
            <a:ext cx="8857945" cy="6408712"/>
          </a:xfrm>
          <a:prstGeom prst="rect">
            <a:avLst/>
          </a:prstGeom>
        </p:spPr>
      </p:pic>
    </p:spTree>
    <p:extLst>
      <p:ext uri="{BB962C8B-B14F-4D97-AF65-F5344CB8AC3E}">
        <p14:creationId xmlns:p14="http://schemas.microsoft.com/office/powerpoint/2010/main" val="8245995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47528" y="332656"/>
            <a:ext cx="8424936" cy="3816424"/>
          </a:xfrm>
          <a:prstGeom prst="rect">
            <a:avLst/>
          </a:prstGeom>
        </p:spPr>
      </p:pic>
      <p:sp>
        <p:nvSpPr>
          <p:cNvPr id="4" name="Rectangle 3"/>
          <p:cNvSpPr/>
          <p:nvPr/>
        </p:nvSpPr>
        <p:spPr>
          <a:xfrm>
            <a:off x="2279576" y="4365104"/>
            <a:ext cx="7200800" cy="923330"/>
          </a:xfrm>
          <a:prstGeom prst="rect">
            <a:avLst/>
          </a:prstGeom>
        </p:spPr>
        <p:txBody>
          <a:bodyPr wrap="square">
            <a:spAutoFit/>
          </a:bodyPr>
          <a:lstStyle/>
          <a:p>
            <a:r>
              <a:rPr lang="en-US" dirty="0"/>
              <a:t>As of October 2024, </a:t>
            </a:r>
            <a:r>
              <a:rPr lang="en-US" b="1" dirty="0"/>
              <a:t>Shri </a:t>
            </a:r>
            <a:r>
              <a:rPr lang="en-US" b="1" dirty="0" err="1"/>
              <a:t>Sudhansh</a:t>
            </a:r>
            <a:r>
              <a:rPr lang="en-US" b="1" dirty="0"/>
              <a:t> Pant </a:t>
            </a:r>
            <a:r>
              <a:rPr lang="en-US" dirty="0"/>
              <a:t>is the Chairman of the Food Safety and Standards Authority of India (FSSAI). He is also the Secretary of the Ministry of Health and Family Welfare, Government of India</a:t>
            </a:r>
            <a:endParaRPr lang="en-IN" dirty="0"/>
          </a:p>
        </p:txBody>
      </p:sp>
    </p:spTree>
    <p:extLst>
      <p:ext uri="{BB962C8B-B14F-4D97-AF65-F5344CB8AC3E}">
        <p14:creationId xmlns:p14="http://schemas.microsoft.com/office/powerpoint/2010/main" val="1850981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p:cNvGraphicFramePr>
            <a:graphicFrameLocks noGrp="1"/>
          </p:cNvGraphicFramePr>
          <p:nvPr>
            <p:ph idx="1"/>
          </p:nvPr>
        </p:nvGraphicFramePr>
        <p:xfrm>
          <a:off x="1847528" y="404814"/>
          <a:ext cx="8496944" cy="6120530"/>
        </p:xfrm>
        <a:graphic>
          <a:graphicData uri="http://schemas.openxmlformats.org/drawingml/2006/table">
            <a:tbl>
              <a:tblPr/>
              <a:tblGrid>
                <a:gridCol w="2124237">
                  <a:extLst>
                    <a:ext uri="{9D8B030D-6E8A-4147-A177-3AD203B41FA5}">
                      <a16:colId xmlns:a16="http://schemas.microsoft.com/office/drawing/2014/main" val="1537186313"/>
                    </a:ext>
                  </a:extLst>
                </a:gridCol>
                <a:gridCol w="6372707">
                  <a:extLst>
                    <a:ext uri="{9D8B030D-6E8A-4147-A177-3AD203B41FA5}">
                      <a16:colId xmlns:a16="http://schemas.microsoft.com/office/drawing/2014/main" val="2004163734"/>
                    </a:ext>
                  </a:extLst>
                </a:gridCol>
              </a:tblGrid>
              <a:tr h="1950169">
                <a:tc>
                  <a:txBody>
                    <a:bodyPr/>
                    <a:lstStyle/>
                    <a:p>
                      <a:pPr fontAlgn="t"/>
                      <a:r>
                        <a:rPr lang="en-IN" sz="2000" kern="1200" dirty="0">
                          <a:solidFill>
                            <a:srgbClr val="00B050"/>
                          </a:solidFill>
                          <a:effectLst/>
                          <a:latin typeface="+mj-lt"/>
                          <a:ea typeface="+mn-ea"/>
                          <a:cs typeface="+mn-cs"/>
                        </a:rPr>
                        <a:t>Appointment</a:t>
                      </a:r>
                    </a:p>
                  </a:txBody>
                  <a:tcPr marL="56092" marR="58429" marT="70115" marB="70115">
                    <a:lnL>
                      <a:noFill/>
                    </a:lnL>
                    <a:lnR>
                      <a:noFill/>
                    </a:lnR>
                    <a:lnT>
                      <a:noFill/>
                    </a:lnT>
                    <a:lnB>
                      <a:noFill/>
                    </a:lnB>
                    <a:solidFill>
                      <a:srgbClr val="FFFFFF"/>
                    </a:solidFill>
                  </a:tcPr>
                </a:tc>
                <a:tc>
                  <a:txBody>
                    <a:bodyPr/>
                    <a:lstStyle/>
                    <a:p>
                      <a:pPr fontAlgn="t"/>
                      <a:r>
                        <a:rPr lang="en-US" sz="2000" kern="1200" dirty="0">
                          <a:solidFill>
                            <a:srgbClr val="00B0F0"/>
                          </a:solidFill>
                          <a:effectLst/>
                          <a:latin typeface="+mj-lt"/>
                          <a:ea typeface="+mn-ea"/>
                          <a:cs typeface="+mn-cs"/>
                        </a:rPr>
                        <a:t>The central government appoints the chairperson, who is a non-executive member. The chairperson must have held or currently hold the position of Secretary to the Government of India or higher.</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2397085080"/>
                  </a:ext>
                </a:extLst>
              </a:tr>
              <a:tr h="870075">
                <a:tc>
                  <a:txBody>
                    <a:bodyPr/>
                    <a:lstStyle/>
                    <a:p>
                      <a:pPr fontAlgn="t"/>
                      <a:r>
                        <a:rPr lang="en-IN" sz="2000" kern="1200" dirty="0">
                          <a:solidFill>
                            <a:srgbClr val="00B050"/>
                          </a:solidFill>
                          <a:effectLst/>
                          <a:latin typeface="+mj-lt"/>
                          <a:ea typeface="+mn-ea"/>
                          <a:cs typeface="+mn-cs"/>
                        </a:rPr>
                        <a:t>Other members</a:t>
                      </a:r>
                    </a:p>
                  </a:txBody>
                  <a:tcPr marL="56092" marR="58429" marT="70115" marB="70115">
                    <a:lnL>
                      <a:noFill/>
                    </a:lnL>
                    <a:lnR>
                      <a:noFill/>
                    </a:lnR>
                    <a:lnT>
                      <a:noFill/>
                    </a:lnT>
                    <a:lnB>
                      <a:noFill/>
                    </a:lnB>
                    <a:solidFill>
                      <a:srgbClr val="FFFFFF"/>
                    </a:solidFill>
                  </a:tcPr>
                </a:tc>
                <a:tc>
                  <a:txBody>
                    <a:bodyPr/>
                    <a:lstStyle/>
                    <a:p>
                      <a:pPr fontAlgn="t"/>
                      <a:r>
                        <a:rPr lang="en-US" sz="2000" kern="1200" dirty="0">
                          <a:solidFill>
                            <a:srgbClr val="00B0F0"/>
                          </a:solidFill>
                          <a:effectLst/>
                          <a:latin typeface="+mj-lt"/>
                          <a:ea typeface="+mn-ea"/>
                          <a:cs typeface="+mn-cs"/>
                        </a:rPr>
                        <a:t>The FSSAI also has 22 other members, including at least one-third women.</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870135346"/>
                  </a:ext>
                </a:extLst>
              </a:tr>
              <a:tr h="690060">
                <a:tc>
                  <a:txBody>
                    <a:bodyPr/>
                    <a:lstStyle/>
                    <a:p>
                      <a:pPr fontAlgn="t"/>
                      <a:r>
                        <a:rPr lang="en-IN" sz="2000" kern="1200" dirty="0">
                          <a:solidFill>
                            <a:srgbClr val="00B050"/>
                          </a:solidFill>
                          <a:effectLst/>
                          <a:latin typeface="+mj-lt"/>
                          <a:ea typeface="+mn-ea"/>
                          <a:cs typeface="+mn-cs"/>
                        </a:rPr>
                        <a:t>Headquarters</a:t>
                      </a:r>
                    </a:p>
                  </a:txBody>
                  <a:tcPr marL="56092" marR="58429" marT="70115" marB="70115">
                    <a:lnL>
                      <a:noFill/>
                    </a:lnL>
                    <a:lnR>
                      <a:noFill/>
                    </a:lnR>
                    <a:lnT>
                      <a:noFill/>
                    </a:lnT>
                    <a:lnB>
                      <a:noFill/>
                    </a:lnB>
                    <a:solidFill>
                      <a:srgbClr val="FFFFFF"/>
                    </a:solidFill>
                  </a:tcPr>
                </a:tc>
                <a:tc>
                  <a:txBody>
                    <a:bodyPr/>
                    <a:lstStyle/>
                    <a:p>
                      <a:pPr fontAlgn="t"/>
                      <a:r>
                        <a:rPr lang="en-US" sz="2000" kern="1200">
                          <a:solidFill>
                            <a:srgbClr val="00B0F0"/>
                          </a:solidFill>
                          <a:effectLst/>
                          <a:latin typeface="+mj-lt"/>
                          <a:ea typeface="+mn-ea"/>
                          <a:cs typeface="+mn-cs"/>
                        </a:rPr>
                        <a:t>The FSSAI is headquartered in New Delhi.</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1922245742"/>
                  </a:ext>
                </a:extLst>
              </a:tr>
              <a:tr h="1050091">
                <a:tc>
                  <a:txBody>
                    <a:bodyPr/>
                    <a:lstStyle/>
                    <a:p>
                      <a:pPr fontAlgn="t"/>
                      <a:r>
                        <a:rPr lang="en-IN" sz="2000" kern="1200" dirty="0">
                          <a:solidFill>
                            <a:srgbClr val="00B050"/>
                          </a:solidFill>
                          <a:effectLst/>
                          <a:latin typeface="+mj-lt"/>
                          <a:ea typeface="+mn-ea"/>
                          <a:cs typeface="+mn-cs"/>
                        </a:rPr>
                        <a:t>Regional offices</a:t>
                      </a:r>
                    </a:p>
                  </a:txBody>
                  <a:tcPr marL="56092" marR="58429" marT="70115" marB="70115">
                    <a:lnL>
                      <a:noFill/>
                    </a:lnL>
                    <a:lnR>
                      <a:noFill/>
                    </a:lnR>
                    <a:lnT>
                      <a:noFill/>
                    </a:lnT>
                    <a:lnB>
                      <a:noFill/>
                    </a:lnB>
                    <a:solidFill>
                      <a:srgbClr val="FFFFFF"/>
                    </a:solidFill>
                  </a:tcPr>
                </a:tc>
                <a:tc>
                  <a:txBody>
                    <a:bodyPr/>
                    <a:lstStyle/>
                    <a:p>
                      <a:pPr fontAlgn="t"/>
                      <a:r>
                        <a:rPr lang="en-IN" sz="2000" kern="1200" dirty="0">
                          <a:solidFill>
                            <a:srgbClr val="00B0F0"/>
                          </a:solidFill>
                          <a:effectLst/>
                          <a:latin typeface="+mj-lt"/>
                          <a:ea typeface="+mn-ea"/>
                          <a:cs typeface="+mn-cs"/>
                        </a:rPr>
                        <a:t>The FSSAI has regional offices in Delhi, Guwahati, Mumbai, Kolkata, Cochin, and Chennai.</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3991481587"/>
                  </a:ext>
                </a:extLst>
              </a:tr>
              <a:tr h="1050091">
                <a:tc>
                  <a:txBody>
                    <a:bodyPr/>
                    <a:lstStyle/>
                    <a:p>
                      <a:pPr fontAlgn="t"/>
                      <a:r>
                        <a:rPr lang="en-IN" sz="2000" kern="1200" dirty="0">
                          <a:solidFill>
                            <a:srgbClr val="00B050"/>
                          </a:solidFill>
                          <a:effectLst/>
                          <a:latin typeface="+mj-lt"/>
                          <a:ea typeface="+mn-ea"/>
                          <a:cs typeface="+mn-cs"/>
                        </a:rPr>
                        <a:t>Laboratories</a:t>
                      </a:r>
                    </a:p>
                  </a:txBody>
                  <a:tcPr marL="56092" marR="58429" marT="70115" marB="70115">
                    <a:lnL>
                      <a:noFill/>
                    </a:lnL>
                    <a:lnR>
                      <a:noFill/>
                    </a:lnR>
                    <a:lnT>
                      <a:noFill/>
                    </a:lnT>
                    <a:lnB>
                      <a:noFill/>
                    </a:lnB>
                    <a:solidFill>
                      <a:srgbClr val="FFFFFF"/>
                    </a:solidFill>
                  </a:tcPr>
                </a:tc>
                <a:tc>
                  <a:txBody>
                    <a:bodyPr/>
                    <a:lstStyle/>
                    <a:p>
                      <a:pPr fontAlgn="t"/>
                      <a:r>
                        <a:rPr lang="en-US" sz="2000" kern="1200" dirty="0">
                          <a:solidFill>
                            <a:srgbClr val="00B0F0"/>
                          </a:solidFill>
                          <a:effectLst/>
                          <a:latin typeface="+mj-lt"/>
                          <a:ea typeface="+mn-ea"/>
                          <a:cs typeface="+mn-cs"/>
                        </a:rPr>
                        <a:t>The FSSAI has 22 referral laboratories, 72 state/UT laboratories, and 112 NABL accredited private laboratories.</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405006606"/>
                  </a:ext>
                </a:extLst>
              </a:tr>
              <a:tr h="510044">
                <a:tc>
                  <a:txBody>
                    <a:bodyPr/>
                    <a:lstStyle/>
                    <a:p>
                      <a:pPr fontAlgn="t"/>
                      <a:r>
                        <a:rPr lang="en-IN" sz="2000" kern="1200" dirty="0">
                          <a:solidFill>
                            <a:srgbClr val="00B050"/>
                          </a:solidFill>
                          <a:effectLst/>
                          <a:latin typeface="+mj-lt"/>
                          <a:ea typeface="+mn-ea"/>
                          <a:cs typeface="+mn-cs"/>
                        </a:rPr>
                        <a:t>Enforcement</a:t>
                      </a:r>
                    </a:p>
                  </a:txBody>
                  <a:tcPr marL="56092" marR="58429" marT="70115" marB="70115">
                    <a:lnL>
                      <a:noFill/>
                    </a:lnL>
                    <a:lnR>
                      <a:noFill/>
                    </a:lnR>
                    <a:lnT>
                      <a:noFill/>
                    </a:lnT>
                    <a:lnB>
                      <a:noFill/>
                    </a:lnB>
                    <a:solidFill>
                      <a:srgbClr val="FFFFFF"/>
                    </a:solidFill>
                  </a:tcPr>
                </a:tc>
                <a:tc>
                  <a:txBody>
                    <a:bodyPr/>
                    <a:lstStyle/>
                    <a:p>
                      <a:pPr fontAlgn="t"/>
                      <a:r>
                        <a:rPr lang="en-US" sz="2000" kern="1200" dirty="0">
                          <a:solidFill>
                            <a:srgbClr val="00B0F0"/>
                          </a:solidFill>
                          <a:effectLst/>
                          <a:latin typeface="+mj-lt"/>
                          <a:ea typeface="+mn-ea"/>
                          <a:cs typeface="+mn-cs"/>
                        </a:rPr>
                        <a:t>Food Safety Officers enforce FSSAI provisions.</a:t>
                      </a:r>
                    </a:p>
                  </a:txBody>
                  <a:tcPr marL="58429" marR="56092" marT="70115" marB="70115">
                    <a:lnL>
                      <a:noFill/>
                    </a:lnL>
                    <a:lnR>
                      <a:noFill/>
                    </a:lnR>
                    <a:lnT>
                      <a:noFill/>
                    </a:lnT>
                    <a:lnB>
                      <a:noFill/>
                    </a:lnB>
                    <a:solidFill>
                      <a:srgbClr val="FFFFFF"/>
                    </a:solidFill>
                  </a:tcPr>
                </a:tc>
                <a:extLst>
                  <a:ext uri="{0D108BD9-81ED-4DB2-BD59-A6C34878D82A}">
                    <a16:rowId xmlns:a16="http://schemas.microsoft.com/office/drawing/2014/main" val="2929889284"/>
                  </a:ext>
                </a:extLst>
              </a:tr>
            </a:tbl>
          </a:graphicData>
        </a:graphic>
      </p:graphicFrame>
    </p:spTree>
    <p:extLst>
      <p:ext uri="{BB962C8B-B14F-4D97-AF65-F5344CB8AC3E}">
        <p14:creationId xmlns:p14="http://schemas.microsoft.com/office/powerpoint/2010/main" val="27591902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47528" y="2564904"/>
            <a:ext cx="8229600" cy="2520280"/>
          </a:xfrm>
        </p:spPr>
        <p:txBody>
          <a:bodyPr/>
          <a:lstStyle/>
          <a:p>
            <a:pPr algn="just"/>
            <a:r>
              <a:rPr lang="en-US" dirty="0">
                <a:solidFill>
                  <a:srgbClr val="00B050"/>
                </a:solidFill>
              </a:rPr>
              <a:t>The FSSAI is a statutory body established under the Food Safety and Standards Act, 2006. It's responsible for protecting and promoting public health through the regulation and supervision of food safety.</a:t>
            </a:r>
            <a:endParaRPr lang="en-IN" dirty="0">
              <a:solidFill>
                <a:srgbClr val="00B050"/>
              </a:solidFill>
            </a:endParaRPr>
          </a:p>
        </p:txBody>
      </p:sp>
    </p:spTree>
    <p:extLst>
      <p:ext uri="{BB962C8B-B14F-4D97-AF65-F5344CB8AC3E}">
        <p14:creationId xmlns:p14="http://schemas.microsoft.com/office/powerpoint/2010/main" val="26827292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32943" y="332656"/>
            <a:ext cx="8645727" cy="6307556"/>
          </a:xfrm>
          <a:prstGeom prst="rect">
            <a:avLst/>
          </a:prstGeom>
        </p:spPr>
      </p:pic>
    </p:spTree>
    <p:extLst>
      <p:ext uri="{BB962C8B-B14F-4D97-AF65-F5344CB8AC3E}">
        <p14:creationId xmlns:p14="http://schemas.microsoft.com/office/powerpoint/2010/main" val="2967266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81146" y="404664"/>
            <a:ext cx="8463326" cy="6185956"/>
          </a:xfrm>
          <a:prstGeom prst="rect">
            <a:avLst/>
          </a:prstGeom>
        </p:spPr>
      </p:pic>
    </p:spTree>
    <p:extLst>
      <p:ext uri="{BB962C8B-B14F-4D97-AF65-F5344CB8AC3E}">
        <p14:creationId xmlns:p14="http://schemas.microsoft.com/office/powerpoint/2010/main" val="22208315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676317" y="260648"/>
            <a:ext cx="8830651" cy="6455494"/>
          </a:xfrm>
          <a:prstGeom prst="rect">
            <a:avLst/>
          </a:prstGeom>
        </p:spPr>
      </p:pic>
    </p:spTree>
    <p:extLst>
      <p:ext uri="{BB962C8B-B14F-4D97-AF65-F5344CB8AC3E}">
        <p14:creationId xmlns:p14="http://schemas.microsoft.com/office/powerpoint/2010/main" val="3402685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47529" y="332657"/>
            <a:ext cx="8631981" cy="6410943"/>
          </a:xfrm>
          <a:prstGeom prst="rect">
            <a:avLst/>
          </a:prstGeom>
        </p:spPr>
      </p:pic>
    </p:spTree>
    <p:extLst>
      <p:ext uri="{BB962C8B-B14F-4D97-AF65-F5344CB8AC3E}">
        <p14:creationId xmlns:p14="http://schemas.microsoft.com/office/powerpoint/2010/main" val="37269918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75521" y="260649"/>
            <a:ext cx="8691381" cy="6369757"/>
          </a:xfrm>
          <a:prstGeom prst="rect">
            <a:avLst/>
          </a:prstGeom>
        </p:spPr>
      </p:pic>
    </p:spTree>
    <p:extLst>
      <p:ext uri="{BB962C8B-B14F-4D97-AF65-F5344CB8AC3E}">
        <p14:creationId xmlns:p14="http://schemas.microsoft.com/office/powerpoint/2010/main" val="2850239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16398" y="188641"/>
            <a:ext cx="8624724" cy="6523299"/>
          </a:xfrm>
          <a:prstGeom prst="rect">
            <a:avLst/>
          </a:prstGeom>
        </p:spPr>
      </p:pic>
    </p:spTree>
    <p:extLst>
      <p:ext uri="{BB962C8B-B14F-4D97-AF65-F5344CB8AC3E}">
        <p14:creationId xmlns:p14="http://schemas.microsoft.com/office/powerpoint/2010/main" val="37120932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819870" y="260649"/>
            <a:ext cx="8679814" cy="6475667"/>
          </a:xfrm>
          <a:prstGeom prst="rect">
            <a:avLst/>
          </a:prstGeom>
        </p:spPr>
      </p:pic>
    </p:spTree>
    <p:extLst>
      <p:ext uri="{BB962C8B-B14F-4D97-AF65-F5344CB8AC3E}">
        <p14:creationId xmlns:p14="http://schemas.microsoft.com/office/powerpoint/2010/main" val="18224273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t="29300"/>
          <a:stretch/>
        </p:blipFill>
        <p:spPr>
          <a:xfrm>
            <a:off x="1703512" y="260649"/>
            <a:ext cx="8665802" cy="6389787"/>
          </a:xfrm>
          <a:prstGeom prst="rect">
            <a:avLst/>
          </a:prstGeom>
        </p:spPr>
      </p:pic>
    </p:spTree>
    <p:extLst>
      <p:ext uri="{BB962C8B-B14F-4D97-AF65-F5344CB8AC3E}">
        <p14:creationId xmlns:p14="http://schemas.microsoft.com/office/powerpoint/2010/main" val="3368868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723898" y="332657"/>
            <a:ext cx="8692582" cy="6501775"/>
          </a:xfrm>
          <a:prstGeom prst="rect">
            <a:avLst/>
          </a:prstGeom>
        </p:spPr>
      </p:pic>
    </p:spTree>
    <p:extLst>
      <p:ext uri="{BB962C8B-B14F-4D97-AF65-F5344CB8AC3E}">
        <p14:creationId xmlns:p14="http://schemas.microsoft.com/office/powerpoint/2010/main" val="13154992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775520" y="260648"/>
            <a:ext cx="8604242" cy="6395254"/>
          </a:xfrm>
          <a:prstGeom prst="rect">
            <a:avLst/>
          </a:prstGeom>
        </p:spPr>
      </p:pic>
    </p:spTree>
    <p:extLst>
      <p:ext uri="{BB962C8B-B14F-4D97-AF65-F5344CB8AC3E}">
        <p14:creationId xmlns:p14="http://schemas.microsoft.com/office/powerpoint/2010/main" val="1864445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TYPES OF LICENSES</a:t>
            </a:r>
          </a:p>
        </p:txBody>
      </p:sp>
      <p:sp>
        <p:nvSpPr>
          <p:cNvPr id="4" name="Content Placeholder 3"/>
          <p:cNvSpPr>
            <a:spLocks noGrp="1"/>
          </p:cNvSpPr>
          <p:nvPr>
            <p:ph idx="1"/>
          </p:nvPr>
        </p:nvSpPr>
        <p:spPr>
          <a:xfrm>
            <a:off x="211015" y="1690687"/>
            <a:ext cx="11549576" cy="4486275"/>
          </a:xfrm>
        </p:spPr>
        <p:txBody>
          <a:bodyPr>
            <a:normAutofit fontScale="32500" lnSpcReduction="20000"/>
          </a:bodyPr>
          <a:lstStyle/>
          <a:p>
            <a:pPr algn="just"/>
            <a:r>
              <a:rPr lang="en-US" sz="8600" dirty="0">
                <a:latin typeface="Times New Roman" panose="02020603050405020304" pitchFamily="18" charset="0"/>
                <a:cs typeface="Times New Roman" panose="02020603050405020304" pitchFamily="18" charset="0"/>
              </a:rPr>
              <a:t>If you want to know How To Get FSSAI License in India, then you must know these three types of licenses.</a:t>
            </a:r>
          </a:p>
          <a:p>
            <a:pPr algn="just"/>
            <a:r>
              <a:rPr lang="en-US" sz="8600" dirty="0">
                <a:latin typeface="Times New Roman" panose="02020603050405020304" pitchFamily="18" charset="0"/>
                <a:cs typeface="Times New Roman" panose="02020603050405020304" pitchFamily="18" charset="0"/>
              </a:rPr>
              <a:t>Generally, FSSAI Registration or License is based on business volume and business establishment. Depending on different factors like Installed capacity, Turnover and Location the Applicants establishments can be eligible for three different Licenses.</a:t>
            </a:r>
          </a:p>
          <a:p>
            <a:pPr algn="just"/>
            <a:r>
              <a:rPr lang="en-US" sz="8600" b="1" dirty="0">
                <a:latin typeface="Times New Roman" panose="02020603050405020304" pitchFamily="18" charset="0"/>
                <a:cs typeface="Times New Roman" panose="02020603050405020304" pitchFamily="18" charset="0"/>
              </a:rPr>
              <a:t>Basic</a:t>
            </a:r>
            <a:r>
              <a:rPr lang="en-US" sz="8600" dirty="0">
                <a:latin typeface="Times New Roman" panose="02020603050405020304" pitchFamily="18" charset="0"/>
                <a:cs typeface="Times New Roman" panose="02020603050405020304" pitchFamily="18" charset="0"/>
              </a:rPr>
              <a:t> </a:t>
            </a:r>
            <a:r>
              <a:rPr lang="en-US" sz="8600" b="1" dirty="0">
                <a:latin typeface="Times New Roman" panose="02020603050405020304" pitchFamily="18" charset="0"/>
                <a:cs typeface="Times New Roman" panose="02020603050405020304" pitchFamily="18" charset="0"/>
              </a:rPr>
              <a:t>License: </a:t>
            </a:r>
            <a:r>
              <a:rPr lang="en-US" sz="8600" dirty="0">
                <a:latin typeface="Times New Roman" panose="02020603050405020304" pitchFamily="18" charset="0"/>
                <a:cs typeface="Times New Roman" panose="02020603050405020304" pitchFamily="18" charset="0"/>
              </a:rPr>
              <a:t>Basic License is issued by the State Government to the small (manufacturers, storage units, transporters, marketers, and distributors). This License is generally issued to a company with an annual yield of not more than </a:t>
            </a:r>
            <a:r>
              <a:rPr lang="en-US" sz="8600" dirty="0" err="1">
                <a:latin typeface="Times New Roman" panose="02020603050405020304" pitchFamily="18" charset="0"/>
                <a:cs typeface="Times New Roman" panose="02020603050405020304" pitchFamily="18" charset="0"/>
              </a:rPr>
              <a:t>Rs</a:t>
            </a:r>
            <a:r>
              <a:rPr lang="en-US" sz="8600" dirty="0">
                <a:latin typeface="Times New Roman" panose="02020603050405020304" pitchFamily="18" charset="0"/>
                <a:cs typeface="Times New Roman" panose="02020603050405020304" pitchFamily="18" charset="0"/>
              </a:rPr>
              <a:t> 12,00,000.</a:t>
            </a:r>
          </a:p>
          <a:p>
            <a:pPr algn="just"/>
            <a:r>
              <a:rPr lang="en-US" sz="8600" b="1" dirty="0">
                <a:latin typeface="Times New Roman" panose="02020603050405020304" pitchFamily="18" charset="0"/>
                <a:cs typeface="Times New Roman" panose="02020603050405020304" pitchFamily="18" charset="0"/>
              </a:rPr>
              <a:t>Note</a:t>
            </a:r>
            <a:r>
              <a:rPr lang="en-US" sz="8600" dirty="0">
                <a:latin typeface="Times New Roman" panose="02020603050405020304" pitchFamily="18" charset="0"/>
                <a:cs typeface="Times New Roman" panose="02020603050405020304" pitchFamily="18" charset="0"/>
              </a:rPr>
              <a:t>: This License is issued for a period of a minimum of 1 year and a maximum of 5 years.</a:t>
            </a:r>
          </a:p>
          <a:p>
            <a:endParaRPr lang="en-US" dirty="0"/>
          </a:p>
          <a:p>
            <a:pPr marL="114300" indent="0">
              <a:buNone/>
            </a:pPr>
            <a:endParaRPr lang="en-US" dirty="0"/>
          </a:p>
          <a:p>
            <a:endParaRPr lang="en-IN" dirty="0"/>
          </a:p>
        </p:txBody>
      </p:sp>
    </p:spTree>
    <p:extLst>
      <p:ext uri="{BB962C8B-B14F-4D97-AF65-F5344CB8AC3E}">
        <p14:creationId xmlns:p14="http://schemas.microsoft.com/office/powerpoint/2010/main" val="42668093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404665"/>
            <a:ext cx="8229600" cy="5721499"/>
          </a:xfrm>
        </p:spPr>
        <p:txBody>
          <a:bodyPr>
            <a:normAutofit/>
          </a:bodyPr>
          <a:lstStyle/>
          <a:p>
            <a:pPr algn="just"/>
            <a:r>
              <a:rPr lang="en-US" b="1" dirty="0">
                <a:latin typeface="Times New Roman" panose="02020603050405020304" pitchFamily="18" charset="0"/>
                <a:cs typeface="Times New Roman" panose="02020603050405020304" pitchFamily="18" charset="0"/>
              </a:rPr>
              <a:t>State</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License: </a:t>
            </a:r>
            <a:r>
              <a:rPr lang="en-US" dirty="0">
                <a:latin typeface="Times New Roman" panose="02020603050405020304" pitchFamily="18" charset="0"/>
                <a:cs typeface="Times New Roman" panose="02020603050405020304" pitchFamily="18" charset="0"/>
              </a:rPr>
              <a:t>This License is generally issued for SMEs like Transporters, Storage Houses, Distributors, and Marketers, etc. The company involved in the food business must have its business operations in one state. The company should have an annual yield of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12, 00,000.</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This License is issued by the state government for a minimum of 1 year and a maximum of 5 years.</a:t>
            </a:r>
          </a:p>
          <a:p>
            <a:pPr algn="just"/>
            <a:r>
              <a:rPr lang="en-US"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1699392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0843" y="404665"/>
            <a:ext cx="10986868" cy="5721499"/>
          </a:xfrm>
        </p:spPr>
        <p:txBody>
          <a:bodyPr>
            <a:normAutofit/>
          </a:bodyPr>
          <a:lstStyle/>
          <a:p>
            <a:pPr algn="just"/>
            <a:r>
              <a:rPr lang="en-US" b="1" dirty="0">
                <a:latin typeface="Times New Roman" panose="02020603050405020304" pitchFamily="18" charset="0"/>
                <a:cs typeface="Times New Roman" panose="02020603050405020304" pitchFamily="18" charset="0"/>
              </a:rPr>
              <a:t>Central</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License: </a:t>
            </a:r>
            <a:r>
              <a:rPr lang="en-US" dirty="0">
                <a:latin typeface="Times New Roman" panose="02020603050405020304" pitchFamily="18" charset="0"/>
                <a:cs typeface="Times New Roman" panose="02020603050405020304" pitchFamily="18" charset="0"/>
              </a:rPr>
              <a:t>This License is generally issued by the Central Government, to the food business operators operating in more than one state or city, companies operating as</a:t>
            </a:r>
            <a:r>
              <a:rPr lang="en-US" b="1" dirty="0">
                <a:solidFill>
                  <a:srgbClr val="002060"/>
                </a:solidFill>
                <a:latin typeface="Times New Roman" panose="02020603050405020304" pitchFamily="18" charset="0"/>
                <a:cs typeface="Times New Roman" panose="02020603050405020304" pitchFamily="18" charset="0"/>
              </a:rPr>
              <a:t> </a:t>
            </a:r>
            <a:r>
              <a:rPr lang="en-US" b="1" dirty="0">
                <a:solidFill>
                  <a:srgbClr val="002060"/>
                </a:solidFill>
                <a:latin typeface="Times New Roman" panose="02020603050405020304" pitchFamily="18" charset="0"/>
                <a:cs typeface="Times New Roman" panose="02020603050405020304" pitchFamily="18" charset="0"/>
                <a:hlinkClick r:id="rId2"/>
              </a:rPr>
              <a:t>importers or exporters</a:t>
            </a:r>
            <a:r>
              <a:rPr lang="en-US" dirty="0">
                <a:latin typeface="Times New Roman" panose="02020603050405020304" pitchFamily="18" charset="0"/>
                <a:cs typeface="Times New Roman" panose="02020603050405020304" pitchFamily="18" charset="0"/>
              </a:rPr>
              <a:t> in food-related business, big manufacturers in the food and processed food-related business, food business operators working with central government agencies, ports, and airports, etc.</a:t>
            </a:r>
          </a:p>
          <a:p>
            <a:pPr algn="just"/>
            <a:r>
              <a:rPr lang="en-US" b="1" dirty="0">
                <a:latin typeface="Times New Roman" panose="02020603050405020304" pitchFamily="18" charset="0"/>
                <a:cs typeface="Times New Roman" panose="02020603050405020304" pitchFamily="18" charset="0"/>
              </a:rPr>
              <a:t>Note</a:t>
            </a:r>
            <a:r>
              <a:rPr lang="en-US" dirty="0">
                <a:latin typeface="Times New Roman" panose="02020603050405020304" pitchFamily="18" charset="0"/>
                <a:cs typeface="Times New Roman" panose="02020603050405020304" pitchFamily="18" charset="0"/>
              </a:rPr>
              <a:t>: If a company involved in food or food-related business (Nutrition Supplement) is operational in different states or cities then it is essential for its head office, to apply for a central License. Along with this Central License is mandatory for a Food Business operator having an annual yield of </a:t>
            </a:r>
            <a:r>
              <a:rPr lang="en-US" dirty="0" err="1">
                <a:latin typeface="Times New Roman" panose="02020603050405020304" pitchFamily="18" charset="0"/>
                <a:cs typeface="Times New Roman" panose="02020603050405020304" pitchFamily="18" charset="0"/>
              </a:rPr>
              <a:t>Rs</a:t>
            </a:r>
            <a:r>
              <a:rPr lang="en-US" dirty="0">
                <a:latin typeface="Times New Roman" panose="02020603050405020304" pitchFamily="18" charset="0"/>
                <a:cs typeface="Times New Roman" panose="02020603050405020304" pitchFamily="18" charset="0"/>
              </a:rPr>
              <a:t> 20 Crores. </a:t>
            </a:r>
          </a:p>
          <a:p>
            <a:r>
              <a:rPr lang="en-US" dirty="0"/>
              <a:t> </a:t>
            </a:r>
          </a:p>
          <a:p>
            <a:endParaRPr lang="en-IN" dirty="0"/>
          </a:p>
        </p:txBody>
      </p:sp>
    </p:spTree>
    <p:extLst>
      <p:ext uri="{BB962C8B-B14F-4D97-AF65-F5344CB8AC3E}">
        <p14:creationId xmlns:p14="http://schemas.microsoft.com/office/powerpoint/2010/main" val="1971825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604911" y="548680"/>
            <a:ext cx="10944664" cy="5832648"/>
          </a:xfrm>
          <a:prstGeom prst="rect">
            <a:avLst/>
          </a:prstGeom>
        </p:spPr>
      </p:pic>
    </p:spTree>
    <p:extLst>
      <p:ext uri="{BB962C8B-B14F-4D97-AF65-F5344CB8AC3E}">
        <p14:creationId xmlns:p14="http://schemas.microsoft.com/office/powerpoint/2010/main" val="4236126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heck FSSAI License Number Online | Know FSSAI Status"/>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248128" y="4284825"/>
            <a:ext cx="2736304" cy="202449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3"/>
          <a:stretch>
            <a:fillRect/>
          </a:stretch>
        </p:blipFill>
        <p:spPr>
          <a:xfrm>
            <a:off x="379829" y="301723"/>
            <a:ext cx="11633980" cy="6408566"/>
          </a:xfrm>
          <a:prstGeom prst="rect">
            <a:avLst/>
          </a:prstGeom>
        </p:spPr>
      </p:pic>
    </p:spTree>
    <p:extLst>
      <p:ext uri="{BB962C8B-B14F-4D97-AF65-F5344CB8AC3E}">
        <p14:creationId xmlns:p14="http://schemas.microsoft.com/office/powerpoint/2010/main" val="2439525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rotWithShape="1">
          <a:blip r:embed="rId2"/>
          <a:srcRect t="17710" b="18007"/>
          <a:stretch/>
        </p:blipFill>
        <p:spPr>
          <a:xfrm>
            <a:off x="464234" y="260648"/>
            <a:ext cx="10958732" cy="1884622"/>
          </a:xfrm>
          <a:prstGeom prst="rect">
            <a:avLst/>
          </a:prstGeom>
        </p:spPr>
      </p:pic>
      <p:pic>
        <p:nvPicPr>
          <p:cNvPr id="4" name="Picture 3"/>
          <p:cNvPicPr>
            <a:picLocks noChangeAspect="1"/>
          </p:cNvPicPr>
          <p:nvPr/>
        </p:nvPicPr>
        <p:blipFill>
          <a:blip r:embed="rId3"/>
          <a:stretch>
            <a:fillRect/>
          </a:stretch>
        </p:blipFill>
        <p:spPr>
          <a:xfrm>
            <a:off x="253218" y="2045796"/>
            <a:ext cx="11169748" cy="4781550"/>
          </a:xfrm>
          <a:prstGeom prst="rect">
            <a:avLst/>
          </a:prstGeom>
        </p:spPr>
      </p:pic>
    </p:spTree>
    <p:extLst>
      <p:ext uri="{BB962C8B-B14F-4D97-AF65-F5344CB8AC3E}">
        <p14:creationId xmlns:p14="http://schemas.microsoft.com/office/powerpoint/2010/main" val="2923329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1" y="404664"/>
            <a:ext cx="6935372" cy="6453336"/>
          </a:xfrm>
          <a:prstGeom prst="rect">
            <a:avLst/>
          </a:prstGeom>
        </p:spPr>
      </p:pic>
      <p:sp>
        <p:nvSpPr>
          <p:cNvPr id="4" name="TextBox 3"/>
          <p:cNvSpPr txBox="1"/>
          <p:nvPr/>
        </p:nvSpPr>
        <p:spPr>
          <a:xfrm>
            <a:off x="515815" y="-60277"/>
            <a:ext cx="4860105"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Sample FSSAI  license</a:t>
            </a:r>
          </a:p>
        </p:txBody>
      </p:sp>
    </p:spTree>
    <p:extLst>
      <p:ext uri="{BB962C8B-B14F-4D97-AF65-F5344CB8AC3E}">
        <p14:creationId xmlns:p14="http://schemas.microsoft.com/office/powerpoint/2010/main" val="851563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6600" dirty="0"/>
              <a:t>THANK YOU </a:t>
            </a:r>
          </a:p>
        </p:txBody>
      </p:sp>
      <p:pic>
        <p:nvPicPr>
          <p:cNvPr id="3074" name="Picture 2" descr="FSSAI State License for Food Businesses | Compliance in Indi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0128" y="1447800"/>
            <a:ext cx="8260672" cy="4573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30568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1772</Words>
  <Application>Microsoft Office PowerPoint</Application>
  <PresentationFormat>Widescreen</PresentationFormat>
  <Paragraphs>149</Paragraphs>
  <Slides>56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__Source_Sans_3_a41172</vt:lpstr>
      <vt:lpstr>Arial</vt:lpstr>
      <vt:lpstr>Calibri</vt:lpstr>
      <vt:lpstr>Calibri Light</vt:lpstr>
      <vt:lpstr>Symbol</vt:lpstr>
      <vt:lpstr>Times New Roman</vt:lpstr>
      <vt:lpstr>Office Theme</vt:lpstr>
      <vt:lpstr>Unit-3  Food safety standards: Food Hygiene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Food Microbiology</vt:lpstr>
      <vt:lpstr>General principles of food microbiology</vt:lpstr>
      <vt:lpstr>General principles of food microbiology</vt:lpstr>
      <vt:lpstr>General principles of food microbiology</vt:lpstr>
      <vt:lpstr>General principles of food microbiology</vt:lpstr>
      <vt:lpstr>Why these principles?</vt:lpstr>
      <vt:lpstr>Food Safety Regulations A basic food safety plan uses the HACCP method.</vt:lpstr>
      <vt:lpstr>PowerPoint Presentation</vt:lpstr>
      <vt:lpstr>PowerPoint Presentation</vt:lpstr>
      <vt:lpstr>PowerPoint Presentation</vt:lpstr>
      <vt:lpstr>PowerPoint Presentation</vt:lpstr>
      <vt:lpstr>PowerPoint Presentation</vt:lpstr>
      <vt:lpstr>7 Principles of HACCP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LICENSES</vt:lpstr>
      <vt:lpstr>PowerPoint Presentation</vt:lpstr>
      <vt:lpstr>PowerPoint Presentation</vt:lpstr>
      <vt:lpstr>PowerPoint Presentation</vt:lpstr>
      <vt:lpstr>PowerPoint Presentation</vt:lpstr>
      <vt:lpstr>PowerPoint Presentation</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Unit-3 Food safety standards: Food Hygiene</dc:title>
  <dc:creator>Rajeshwari M.</dc:creator>
  <cp:lastModifiedBy>Rajeshwari M.</cp:lastModifiedBy>
  <cp:revision>96</cp:revision>
  <dcterms:created xsi:type="dcterms:W3CDTF">2024-06-25T00:44:38Z</dcterms:created>
  <dcterms:modified xsi:type="dcterms:W3CDTF">2026-05-14T07:03:34Z</dcterms:modified>
</cp:coreProperties>
</file>