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7" r:id="rId2"/>
    <p:sldId id="256" r:id="rId3"/>
    <p:sldId id="259" r:id="rId4"/>
    <p:sldId id="262" r:id="rId5"/>
    <p:sldId id="264" r:id="rId6"/>
    <p:sldId id="267" r:id="rId7"/>
    <p:sldId id="268" r:id="rId8"/>
    <p:sldId id="269" r:id="rId9"/>
    <p:sldId id="270" r:id="rId10"/>
    <p:sldId id="271" r:id="rId11"/>
    <p:sldId id="272" r:id="rId12"/>
    <p:sldId id="274" r:id="rId13"/>
    <p:sldId id="275" r:id="rId14"/>
    <p:sldId id="278" r:id="rId15"/>
    <p:sldId id="284" r:id="rId16"/>
    <p:sldId id="286" r:id="rId17"/>
    <p:sldId id="289" r:id="rId18"/>
    <p:sldId id="290" r:id="rId19"/>
    <p:sldId id="293" r:id="rId20"/>
    <p:sldId id="294" r:id="rId21"/>
    <p:sldId id="295" r:id="rId22"/>
    <p:sldId id="300" r:id="rId23"/>
    <p:sldId id="296" r:id="rId24"/>
    <p:sldId id="298" r:id="rId25"/>
    <p:sldId id="299" r:id="rId26"/>
    <p:sldId id="302" r:id="rId27"/>
    <p:sldId id="303" r:id="rId28"/>
    <p:sldId id="305" r:id="rId29"/>
    <p:sldId id="306" r:id="rId30"/>
    <p:sldId id="307" r:id="rId31"/>
    <p:sldId id="304" r:id="rId32"/>
    <p:sldId id="291" r:id="rId33"/>
    <p:sldId id="29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024434-F5FF-4FE8-A61D-963088701A52}" type="doc">
      <dgm:prSet loTypeId="urn:microsoft.com/office/officeart/2005/8/layout/orgChart1" loCatId="hierarchy" qsTypeId="urn:microsoft.com/office/officeart/2005/8/quickstyle/simple1" qsCatId="simple" csTypeId="urn:microsoft.com/office/officeart/2005/8/colors/accent1_2" csCatId="accent1" phldr="1"/>
      <dgm:spPr/>
    </dgm:pt>
    <dgm:pt modelId="{CD58778C-89B1-43A9-BB97-5E7764E52722}">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Two main categories</a:t>
          </a:r>
        </a:p>
      </dgm:t>
    </dgm:pt>
    <dgm:pt modelId="{9A3B8F6F-E132-4FCD-8E81-DA230FB70FB6}" type="parTrans" cxnId="{23311C95-D83D-4BD0-B142-ACB7BD9FA7F1}">
      <dgm:prSet/>
      <dgm:spPr/>
    </dgm:pt>
    <dgm:pt modelId="{AB21F9B4-67D0-4FC8-B07C-7D603D6C07E6}" type="sibTrans" cxnId="{23311C95-D83D-4BD0-B142-ACB7BD9FA7F1}">
      <dgm:prSet/>
      <dgm:spPr/>
    </dgm:pt>
    <dgm:pt modelId="{0FDB1E1C-9804-4874-8997-734060D701BB}">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a:ln>
                <a:noFill/>
              </a:ln>
              <a:solidFill>
                <a:schemeClr val="tx1"/>
              </a:solidFill>
              <a:effectLst/>
              <a:latin typeface="Arial" panose="020B0604020202020204" pitchFamily="34" charset="0"/>
            </a:rPr>
            <a:t>Chemical</a:t>
          </a:r>
        </a:p>
      </dgm:t>
    </dgm:pt>
    <dgm:pt modelId="{BBF084F0-1D1B-4219-BFA2-E626C5B02884}" type="parTrans" cxnId="{6441A6A1-EB80-4C35-ABCB-5EF4B60DAEEF}">
      <dgm:prSet/>
      <dgm:spPr/>
    </dgm:pt>
    <dgm:pt modelId="{28AA7988-58E1-498A-99DD-0E96E1C8A839}" type="sibTrans" cxnId="{6441A6A1-EB80-4C35-ABCB-5EF4B60DAEEF}">
      <dgm:prSet/>
      <dgm:spPr/>
    </dgm:pt>
    <dgm:pt modelId="{BBF7D331-B4FB-432F-83B7-F09873AAAC96}">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a:ln>
                <a:noFill/>
              </a:ln>
              <a:solidFill>
                <a:schemeClr val="tx1"/>
              </a:solidFill>
              <a:effectLst/>
              <a:latin typeface="Arial" panose="020B0604020202020204" pitchFamily="34" charset="0"/>
            </a:rPr>
            <a:t>Physical</a:t>
          </a:r>
        </a:p>
      </dgm:t>
    </dgm:pt>
    <dgm:pt modelId="{60F11F13-851B-488D-888F-98A2155F686C}" type="parTrans" cxnId="{2A7B0303-0322-4588-AFDE-0F7ACB803CE1}">
      <dgm:prSet/>
      <dgm:spPr/>
    </dgm:pt>
    <dgm:pt modelId="{69278881-9E14-4C54-8FE1-C27FAF0083B9}" type="sibTrans" cxnId="{2A7B0303-0322-4588-AFDE-0F7ACB803CE1}">
      <dgm:prSet/>
      <dgm:spPr/>
    </dgm:pt>
    <dgm:pt modelId="{470BCC18-6064-4E50-AAE0-205D43C96239}" type="pres">
      <dgm:prSet presAssocID="{86024434-F5FF-4FE8-A61D-963088701A52}" presName="hierChild1" presStyleCnt="0">
        <dgm:presLayoutVars>
          <dgm:orgChart val="1"/>
          <dgm:chPref val="1"/>
          <dgm:dir/>
          <dgm:animOne val="branch"/>
          <dgm:animLvl val="lvl"/>
          <dgm:resizeHandles/>
        </dgm:presLayoutVars>
      </dgm:prSet>
      <dgm:spPr/>
    </dgm:pt>
    <dgm:pt modelId="{67F441F4-8FE9-4995-A49C-9B4F0E30A3FE}" type="pres">
      <dgm:prSet presAssocID="{CD58778C-89B1-43A9-BB97-5E7764E52722}" presName="hierRoot1" presStyleCnt="0">
        <dgm:presLayoutVars>
          <dgm:hierBranch/>
        </dgm:presLayoutVars>
      </dgm:prSet>
      <dgm:spPr/>
    </dgm:pt>
    <dgm:pt modelId="{6D237240-1066-4872-801C-5CE7C4D42868}" type="pres">
      <dgm:prSet presAssocID="{CD58778C-89B1-43A9-BB97-5E7764E52722}" presName="rootComposite1" presStyleCnt="0"/>
      <dgm:spPr/>
    </dgm:pt>
    <dgm:pt modelId="{F761A4EB-1956-46B9-B70A-E1B635836029}" type="pres">
      <dgm:prSet presAssocID="{CD58778C-89B1-43A9-BB97-5E7764E52722}" presName="rootText1" presStyleLbl="node0" presStyleIdx="0" presStyleCnt="1" custScaleX="133498">
        <dgm:presLayoutVars>
          <dgm:chPref val="3"/>
        </dgm:presLayoutVars>
      </dgm:prSet>
      <dgm:spPr/>
    </dgm:pt>
    <dgm:pt modelId="{977FE10F-A48C-4C9C-9445-0AF849415DF7}" type="pres">
      <dgm:prSet presAssocID="{CD58778C-89B1-43A9-BB97-5E7764E52722}" presName="rootConnector1" presStyleLbl="node1" presStyleIdx="0" presStyleCnt="0"/>
      <dgm:spPr/>
    </dgm:pt>
    <dgm:pt modelId="{3D7C1EF2-D656-4B16-A6FF-B86C5B29227D}" type="pres">
      <dgm:prSet presAssocID="{CD58778C-89B1-43A9-BB97-5E7764E52722}" presName="hierChild2" presStyleCnt="0"/>
      <dgm:spPr/>
    </dgm:pt>
    <dgm:pt modelId="{E183188B-1618-4319-B54B-B54B506641C1}" type="pres">
      <dgm:prSet presAssocID="{BBF084F0-1D1B-4219-BFA2-E626C5B02884}" presName="Name35" presStyleLbl="parChTrans1D2" presStyleIdx="0" presStyleCnt="2"/>
      <dgm:spPr/>
    </dgm:pt>
    <dgm:pt modelId="{8090EA06-DA7B-4C78-A2C1-4D50504016B0}" type="pres">
      <dgm:prSet presAssocID="{0FDB1E1C-9804-4874-8997-734060D701BB}" presName="hierRoot2" presStyleCnt="0">
        <dgm:presLayoutVars>
          <dgm:hierBranch/>
        </dgm:presLayoutVars>
      </dgm:prSet>
      <dgm:spPr/>
    </dgm:pt>
    <dgm:pt modelId="{712EBFEE-4505-431C-B374-1E28F9586A4B}" type="pres">
      <dgm:prSet presAssocID="{0FDB1E1C-9804-4874-8997-734060D701BB}" presName="rootComposite" presStyleCnt="0"/>
      <dgm:spPr/>
    </dgm:pt>
    <dgm:pt modelId="{CF6520F4-9F7D-41DE-B04E-03F6E56EB28E}" type="pres">
      <dgm:prSet presAssocID="{0FDB1E1C-9804-4874-8997-734060D701BB}" presName="rootText" presStyleLbl="node2" presStyleIdx="0" presStyleCnt="2">
        <dgm:presLayoutVars>
          <dgm:chPref val="3"/>
        </dgm:presLayoutVars>
      </dgm:prSet>
      <dgm:spPr/>
    </dgm:pt>
    <dgm:pt modelId="{6A58177B-D900-4844-9875-0D62183D188B}" type="pres">
      <dgm:prSet presAssocID="{0FDB1E1C-9804-4874-8997-734060D701BB}" presName="rootConnector" presStyleLbl="node2" presStyleIdx="0" presStyleCnt="2"/>
      <dgm:spPr/>
    </dgm:pt>
    <dgm:pt modelId="{397C0A44-20F7-481F-B73E-68B8A23CD5AD}" type="pres">
      <dgm:prSet presAssocID="{0FDB1E1C-9804-4874-8997-734060D701BB}" presName="hierChild4" presStyleCnt="0"/>
      <dgm:spPr/>
    </dgm:pt>
    <dgm:pt modelId="{A6DB086A-6319-42C0-B246-37C94BF43F26}" type="pres">
      <dgm:prSet presAssocID="{0FDB1E1C-9804-4874-8997-734060D701BB}" presName="hierChild5" presStyleCnt="0"/>
      <dgm:spPr/>
    </dgm:pt>
    <dgm:pt modelId="{D8C46801-8471-4509-AFD9-EDFC33F8C3F0}" type="pres">
      <dgm:prSet presAssocID="{60F11F13-851B-488D-888F-98A2155F686C}" presName="Name35" presStyleLbl="parChTrans1D2" presStyleIdx="1" presStyleCnt="2"/>
      <dgm:spPr/>
    </dgm:pt>
    <dgm:pt modelId="{00A843DD-4A15-46C5-A986-C82002B83F1A}" type="pres">
      <dgm:prSet presAssocID="{BBF7D331-B4FB-432F-83B7-F09873AAAC96}" presName="hierRoot2" presStyleCnt="0">
        <dgm:presLayoutVars>
          <dgm:hierBranch/>
        </dgm:presLayoutVars>
      </dgm:prSet>
      <dgm:spPr/>
    </dgm:pt>
    <dgm:pt modelId="{F6101C5B-60D7-4E87-9D94-7883E5E1153E}" type="pres">
      <dgm:prSet presAssocID="{BBF7D331-B4FB-432F-83B7-F09873AAAC96}" presName="rootComposite" presStyleCnt="0"/>
      <dgm:spPr/>
    </dgm:pt>
    <dgm:pt modelId="{8BD81350-F90E-49B1-ABA6-C1BBD5F2643C}" type="pres">
      <dgm:prSet presAssocID="{BBF7D331-B4FB-432F-83B7-F09873AAAC96}" presName="rootText" presStyleLbl="node2" presStyleIdx="1" presStyleCnt="2">
        <dgm:presLayoutVars>
          <dgm:chPref val="3"/>
        </dgm:presLayoutVars>
      </dgm:prSet>
      <dgm:spPr/>
    </dgm:pt>
    <dgm:pt modelId="{59052662-0D07-4AF3-A223-5AEE6366D458}" type="pres">
      <dgm:prSet presAssocID="{BBF7D331-B4FB-432F-83B7-F09873AAAC96}" presName="rootConnector" presStyleLbl="node2" presStyleIdx="1" presStyleCnt="2"/>
      <dgm:spPr/>
    </dgm:pt>
    <dgm:pt modelId="{457BFC46-21A9-4CBB-9A89-6846FCB1BD15}" type="pres">
      <dgm:prSet presAssocID="{BBF7D331-B4FB-432F-83B7-F09873AAAC96}" presName="hierChild4" presStyleCnt="0"/>
      <dgm:spPr/>
    </dgm:pt>
    <dgm:pt modelId="{77140ADE-FF10-430F-A1C8-59C35B46BBE3}" type="pres">
      <dgm:prSet presAssocID="{BBF7D331-B4FB-432F-83B7-F09873AAAC96}" presName="hierChild5" presStyleCnt="0"/>
      <dgm:spPr/>
    </dgm:pt>
    <dgm:pt modelId="{8F75E5B7-2290-4CBE-A804-38D9B64D42B9}" type="pres">
      <dgm:prSet presAssocID="{CD58778C-89B1-43A9-BB97-5E7764E52722}" presName="hierChild3" presStyleCnt="0"/>
      <dgm:spPr/>
    </dgm:pt>
  </dgm:ptLst>
  <dgm:cxnLst>
    <dgm:cxn modelId="{2A7B0303-0322-4588-AFDE-0F7ACB803CE1}" srcId="{CD58778C-89B1-43A9-BB97-5E7764E52722}" destId="{BBF7D331-B4FB-432F-83B7-F09873AAAC96}" srcOrd="1" destOrd="0" parTransId="{60F11F13-851B-488D-888F-98A2155F686C}" sibTransId="{69278881-9E14-4C54-8FE1-C27FAF0083B9}"/>
    <dgm:cxn modelId="{35C64108-337E-4B0B-A929-999EF5576B70}" type="presOf" srcId="{60F11F13-851B-488D-888F-98A2155F686C}" destId="{D8C46801-8471-4509-AFD9-EDFC33F8C3F0}" srcOrd="0" destOrd="0" presId="urn:microsoft.com/office/officeart/2005/8/layout/orgChart1"/>
    <dgm:cxn modelId="{BF962110-D77D-4C5B-88C6-1F36E3BB7AC7}" type="presOf" srcId="{0FDB1E1C-9804-4874-8997-734060D701BB}" destId="{CF6520F4-9F7D-41DE-B04E-03F6E56EB28E}" srcOrd="0" destOrd="0" presId="urn:microsoft.com/office/officeart/2005/8/layout/orgChart1"/>
    <dgm:cxn modelId="{D815801B-B55C-415F-A636-9913CE28CA60}" type="presOf" srcId="{86024434-F5FF-4FE8-A61D-963088701A52}" destId="{470BCC18-6064-4E50-AAE0-205D43C96239}" srcOrd="0" destOrd="0" presId="urn:microsoft.com/office/officeart/2005/8/layout/orgChart1"/>
    <dgm:cxn modelId="{A314B426-4C75-48AF-8A49-A7FFB51ABEA8}" type="presOf" srcId="{BBF7D331-B4FB-432F-83B7-F09873AAAC96}" destId="{59052662-0D07-4AF3-A223-5AEE6366D458}" srcOrd="1" destOrd="0" presId="urn:microsoft.com/office/officeart/2005/8/layout/orgChart1"/>
    <dgm:cxn modelId="{28767D28-AF9C-42FF-8CFC-DC332F7C0322}" type="presOf" srcId="{BBF7D331-B4FB-432F-83B7-F09873AAAC96}" destId="{8BD81350-F90E-49B1-ABA6-C1BBD5F2643C}" srcOrd="0" destOrd="0" presId="urn:microsoft.com/office/officeart/2005/8/layout/orgChart1"/>
    <dgm:cxn modelId="{138A6572-74C9-41C3-97D3-F93E6BDD247D}" type="presOf" srcId="{CD58778C-89B1-43A9-BB97-5E7764E52722}" destId="{F761A4EB-1956-46B9-B70A-E1B635836029}" srcOrd="0" destOrd="0" presId="urn:microsoft.com/office/officeart/2005/8/layout/orgChart1"/>
    <dgm:cxn modelId="{22F9C958-7423-448A-B9EF-F501275C49B0}" type="presOf" srcId="{BBF084F0-1D1B-4219-BFA2-E626C5B02884}" destId="{E183188B-1618-4319-B54B-B54B506641C1}" srcOrd="0" destOrd="0" presId="urn:microsoft.com/office/officeart/2005/8/layout/orgChart1"/>
    <dgm:cxn modelId="{23311C95-D83D-4BD0-B142-ACB7BD9FA7F1}" srcId="{86024434-F5FF-4FE8-A61D-963088701A52}" destId="{CD58778C-89B1-43A9-BB97-5E7764E52722}" srcOrd="0" destOrd="0" parTransId="{9A3B8F6F-E132-4FCD-8E81-DA230FB70FB6}" sibTransId="{AB21F9B4-67D0-4FC8-B07C-7D603D6C07E6}"/>
    <dgm:cxn modelId="{6441A6A1-EB80-4C35-ABCB-5EF4B60DAEEF}" srcId="{CD58778C-89B1-43A9-BB97-5E7764E52722}" destId="{0FDB1E1C-9804-4874-8997-734060D701BB}" srcOrd="0" destOrd="0" parTransId="{BBF084F0-1D1B-4219-BFA2-E626C5B02884}" sibTransId="{28AA7988-58E1-498A-99DD-0E96E1C8A839}"/>
    <dgm:cxn modelId="{E14826C5-12C8-4653-B75E-9E3D65865031}" type="presOf" srcId="{CD58778C-89B1-43A9-BB97-5E7764E52722}" destId="{977FE10F-A48C-4C9C-9445-0AF849415DF7}" srcOrd="1" destOrd="0" presId="urn:microsoft.com/office/officeart/2005/8/layout/orgChart1"/>
    <dgm:cxn modelId="{AC2337E1-44CB-4A96-8357-8F8C41F50993}" type="presOf" srcId="{0FDB1E1C-9804-4874-8997-734060D701BB}" destId="{6A58177B-D900-4844-9875-0D62183D188B}" srcOrd="1" destOrd="0" presId="urn:microsoft.com/office/officeart/2005/8/layout/orgChart1"/>
    <dgm:cxn modelId="{8D454A80-CEF4-447E-AE2B-FBCEDB6F0C9C}" type="presParOf" srcId="{470BCC18-6064-4E50-AAE0-205D43C96239}" destId="{67F441F4-8FE9-4995-A49C-9B4F0E30A3FE}" srcOrd="0" destOrd="0" presId="urn:microsoft.com/office/officeart/2005/8/layout/orgChart1"/>
    <dgm:cxn modelId="{F7E87F3C-91E6-4B2B-9CA2-7806C1F68640}" type="presParOf" srcId="{67F441F4-8FE9-4995-A49C-9B4F0E30A3FE}" destId="{6D237240-1066-4872-801C-5CE7C4D42868}" srcOrd="0" destOrd="0" presId="urn:microsoft.com/office/officeart/2005/8/layout/orgChart1"/>
    <dgm:cxn modelId="{15A817F7-47C8-41FE-8E4A-6BAD87861E7A}" type="presParOf" srcId="{6D237240-1066-4872-801C-5CE7C4D42868}" destId="{F761A4EB-1956-46B9-B70A-E1B635836029}" srcOrd="0" destOrd="0" presId="urn:microsoft.com/office/officeart/2005/8/layout/orgChart1"/>
    <dgm:cxn modelId="{3BC889DF-4954-4BD1-BB41-C4CE5227FFA5}" type="presParOf" srcId="{6D237240-1066-4872-801C-5CE7C4D42868}" destId="{977FE10F-A48C-4C9C-9445-0AF849415DF7}" srcOrd="1" destOrd="0" presId="urn:microsoft.com/office/officeart/2005/8/layout/orgChart1"/>
    <dgm:cxn modelId="{5202845F-40D5-4A1E-B978-8A38F401E4C6}" type="presParOf" srcId="{67F441F4-8FE9-4995-A49C-9B4F0E30A3FE}" destId="{3D7C1EF2-D656-4B16-A6FF-B86C5B29227D}" srcOrd="1" destOrd="0" presId="urn:microsoft.com/office/officeart/2005/8/layout/orgChart1"/>
    <dgm:cxn modelId="{DA31D801-73BE-4D95-896E-BC9EAF9032EC}" type="presParOf" srcId="{3D7C1EF2-D656-4B16-A6FF-B86C5B29227D}" destId="{E183188B-1618-4319-B54B-B54B506641C1}" srcOrd="0" destOrd="0" presId="urn:microsoft.com/office/officeart/2005/8/layout/orgChart1"/>
    <dgm:cxn modelId="{E2E092C3-376D-4016-82E2-E410150666E8}" type="presParOf" srcId="{3D7C1EF2-D656-4B16-A6FF-B86C5B29227D}" destId="{8090EA06-DA7B-4C78-A2C1-4D50504016B0}" srcOrd="1" destOrd="0" presId="urn:microsoft.com/office/officeart/2005/8/layout/orgChart1"/>
    <dgm:cxn modelId="{6B2B752B-D0B1-40A8-B074-F805FDE72E6A}" type="presParOf" srcId="{8090EA06-DA7B-4C78-A2C1-4D50504016B0}" destId="{712EBFEE-4505-431C-B374-1E28F9586A4B}" srcOrd="0" destOrd="0" presId="urn:microsoft.com/office/officeart/2005/8/layout/orgChart1"/>
    <dgm:cxn modelId="{64BA7B1C-2332-460A-977A-82E45968DE44}" type="presParOf" srcId="{712EBFEE-4505-431C-B374-1E28F9586A4B}" destId="{CF6520F4-9F7D-41DE-B04E-03F6E56EB28E}" srcOrd="0" destOrd="0" presId="urn:microsoft.com/office/officeart/2005/8/layout/orgChart1"/>
    <dgm:cxn modelId="{9A0AC470-AA35-4B47-B938-8B9E4F97E7F2}" type="presParOf" srcId="{712EBFEE-4505-431C-B374-1E28F9586A4B}" destId="{6A58177B-D900-4844-9875-0D62183D188B}" srcOrd="1" destOrd="0" presId="urn:microsoft.com/office/officeart/2005/8/layout/orgChart1"/>
    <dgm:cxn modelId="{896BCEF1-A2C5-45C7-9607-D423EEB64F56}" type="presParOf" srcId="{8090EA06-DA7B-4C78-A2C1-4D50504016B0}" destId="{397C0A44-20F7-481F-B73E-68B8A23CD5AD}" srcOrd="1" destOrd="0" presId="urn:microsoft.com/office/officeart/2005/8/layout/orgChart1"/>
    <dgm:cxn modelId="{C912F412-FED7-439D-957F-98B913B2506D}" type="presParOf" srcId="{8090EA06-DA7B-4C78-A2C1-4D50504016B0}" destId="{A6DB086A-6319-42C0-B246-37C94BF43F26}" srcOrd="2" destOrd="0" presId="urn:microsoft.com/office/officeart/2005/8/layout/orgChart1"/>
    <dgm:cxn modelId="{D789C92F-DE42-4ABC-A970-E6001CC9A2A1}" type="presParOf" srcId="{3D7C1EF2-D656-4B16-A6FF-B86C5B29227D}" destId="{D8C46801-8471-4509-AFD9-EDFC33F8C3F0}" srcOrd="2" destOrd="0" presId="urn:microsoft.com/office/officeart/2005/8/layout/orgChart1"/>
    <dgm:cxn modelId="{A3F7AEC9-D4DE-4298-A059-F00A1BA1F484}" type="presParOf" srcId="{3D7C1EF2-D656-4B16-A6FF-B86C5B29227D}" destId="{00A843DD-4A15-46C5-A986-C82002B83F1A}" srcOrd="3" destOrd="0" presId="urn:microsoft.com/office/officeart/2005/8/layout/orgChart1"/>
    <dgm:cxn modelId="{6A105909-C984-4207-AC64-85EF9D603E51}" type="presParOf" srcId="{00A843DD-4A15-46C5-A986-C82002B83F1A}" destId="{F6101C5B-60D7-4E87-9D94-7883E5E1153E}" srcOrd="0" destOrd="0" presId="urn:microsoft.com/office/officeart/2005/8/layout/orgChart1"/>
    <dgm:cxn modelId="{1BCAAA5B-690E-4D16-95C9-602C54703182}" type="presParOf" srcId="{F6101C5B-60D7-4E87-9D94-7883E5E1153E}" destId="{8BD81350-F90E-49B1-ABA6-C1BBD5F2643C}" srcOrd="0" destOrd="0" presId="urn:microsoft.com/office/officeart/2005/8/layout/orgChart1"/>
    <dgm:cxn modelId="{BC7B3B32-F1AC-4D32-B567-8EC841077111}" type="presParOf" srcId="{F6101C5B-60D7-4E87-9D94-7883E5E1153E}" destId="{59052662-0D07-4AF3-A223-5AEE6366D458}" srcOrd="1" destOrd="0" presId="urn:microsoft.com/office/officeart/2005/8/layout/orgChart1"/>
    <dgm:cxn modelId="{D0C79409-3778-42E9-9F74-F83EAFB37EFD}" type="presParOf" srcId="{00A843DD-4A15-46C5-A986-C82002B83F1A}" destId="{457BFC46-21A9-4CBB-9A89-6846FCB1BD15}" srcOrd="1" destOrd="0" presId="urn:microsoft.com/office/officeart/2005/8/layout/orgChart1"/>
    <dgm:cxn modelId="{23E38100-D513-440F-9E3F-992EB127BD05}" type="presParOf" srcId="{00A843DD-4A15-46C5-A986-C82002B83F1A}" destId="{77140ADE-FF10-430F-A1C8-59C35B46BBE3}" srcOrd="2" destOrd="0" presId="urn:microsoft.com/office/officeart/2005/8/layout/orgChart1"/>
    <dgm:cxn modelId="{53FDDA75-EAD6-428A-923F-EC58711AA6D5}" type="presParOf" srcId="{67F441F4-8FE9-4995-A49C-9B4F0E30A3FE}" destId="{8F75E5B7-2290-4CBE-A804-38D9B64D42B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C46801-8471-4509-AFD9-EDFC33F8C3F0}">
      <dsp:nvSpPr>
        <dsp:cNvPr id="0" name=""/>
        <dsp:cNvSpPr/>
      </dsp:nvSpPr>
      <dsp:spPr>
        <a:xfrm>
          <a:off x="4038599" y="2016726"/>
          <a:ext cx="2210113" cy="767146"/>
        </a:xfrm>
        <a:custGeom>
          <a:avLst/>
          <a:gdLst/>
          <a:ahLst/>
          <a:cxnLst/>
          <a:rect l="0" t="0" r="0" b="0"/>
          <a:pathLst>
            <a:path>
              <a:moveTo>
                <a:pt x="0" y="0"/>
              </a:moveTo>
              <a:lnTo>
                <a:pt x="0" y="383573"/>
              </a:lnTo>
              <a:lnTo>
                <a:pt x="2210113" y="383573"/>
              </a:lnTo>
              <a:lnTo>
                <a:pt x="2210113" y="7671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83188B-1618-4319-B54B-B54B506641C1}">
      <dsp:nvSpPr>
        <dsp:cNvPr id="0" name=""/>
        <dsp:cNvSpPr/>
      </dsp:nvSpPr>
      <dsp:spPr>
        <a:xfrm>
          <a:off x="1828486" y="2016726"/>
          <a:ext cx="2210113" cy="767146"/>
        </a:xfrm>
        <a:custGeom>
          <a:avLst/>
          <a:gdLst/>
          <a:ahLst/>
          <a:cxnLst/>
          <a:rect l="0" t="0" r="0" b="0"/>
          <a:pathLst>
            <a:path>
              <a:moveTo>
                <a:pt x="2210113" y="0"/>
              </a:moveTo>
              <a:lnTo>
                <a:pt x="2210113" y="383573"/>
              </a:lnTo>
              <a:lnTo>
                <a:pt x="0" y="383573"/>
              </a:lnTo>
              <a:lnTo>
                <a:pt x="0" y="7671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61A4EB-1956-46B9-B70A-E1B635836029}">
      <dsp:nvSpPr>
        <dsp:cNvPr id="0" name=""/>
        <dsp:cNvSpPr/>
      </dsp:nvSpPr>
      <dsp:spPr>
        <a:xfrm>
          <a:off x="1600206" y="190186"/>
          <a:ext cx="4876787" cy="18265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465" tIns="37465" rIns="37465" bIns="37465"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5900" b="1" i="0" u="none" strike="noStrike" kern="1200" cap="none" normalizeH="0" baseline="0" dirty="0">
              <a:ln>
                <a:noFill/>
              </a:ln>
              <a:solidFill>
                <a:schemeClr val="tx1"/>
              </a:solidFill>
              <a:effectLst/>
              <a:latin typeface="Arial" panose="020B0604020202020204" pitchFamily="34" charset="0"/>
            </a:rPr>
            <a:t>Two main categories</a:t>
          </a:r>
        </a:p>
      </dsp:txBody>
      <dsp:txXfrm>
        <a:off x="1600206" y="190186"/>
        <a:ext cx="4876787" cy="1826539"/>
      </dsp:txXfrm>
    </dsp:sp>
    <dsp:sp modelId="{CF6520F4-9F7D-41DE-B04E-03F6E56EB28E}">
      <dsp:nvSpPr>
        <dsp:cNvPr id="0" name=""/>
        <dsp:cNvSpPr/>
      </dsp:nvSpPr>
      <dsp:spPr>
        <a:xfrm>
          <a:off x="1947" y="2783873"/>
          <a:ext cx="3653079" cy="18265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465" tIns="37465" rIns="37465" bIns="37465"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5900" b="1" i="0" u="none" strike="noStrike" kern="1200" cap="none" normalizeH="0" baseline="0">
              <a:ln>
                <a:noFill/>
              </a:ln>
              <a:solidFill>
                <a:schemeClr val="tx1"/>
              </a:solidFill>
              <a:effectLst/>
              <a:latin typeface="Arial" panose="020B0604020202020204" pitchFamily="34" charset="0"/>
            </a:rPr>
            <a:t>Chemical</a:t>
          </a:r>
        </a:p>
      </dsp:txBody>
      <dsp:txXfrm>
        <a:off x="1947" y="2783873"/>
        <a:ext cx="3653079" cy="1826539"/>
      </dsp:txXfrm>
    </dsp:sp>
    <dsp:sp modelId="{8BD81350-F90E-49B1-ABA6-C1BBD5F2643C}">
      <dsp:nvSpPr>
        <dsp:cNvPr id="0" name=""/>
        <dsp:cNvSpPr/>
      </dsp:nvSpPr>
      <dsp:spPr>
        <a:xfrm>
          <a:off x="4422173" y="2783873"/>
          <a:ext cx="3653079" cy="18265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465" tIns="37465" rIns="37465" bIns="37465"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5900" b="1" i="0" u="none" strike="noStrike" kern="1200" cap="none" normalizeH="0" baseline="0">
              <a:ln>
                <a:noFill/>
              </a:ln>
              <a:solidFill>
                <a:schemeClr val="tx1"/>
              </a:solidFill>
              <a:effectLst/>
              <a:latin typeface="Arial" panose="020B0604020202020204" pitchFamily="34" charset="0"/>
            </a:rPr>
            <a:t>Physical</a:t>
          </a:r>
        </a:p>
      </dsp:txBody>
      <dsp:txXfrm>
        <a:off x="4422173" y="2783873"/>
        <a:ext cx="3653079" cy="182653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65F10-7AD2-F2A8-75C5-4B387825F0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DFEF04E-F410-50EA-E674-728181404E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9C74516-2BDD-8A76-BE13-47C8C9D6D13E}"/>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5" name="Footer Placeholder 4">
            <a:extLst>
              <a:ext uri="{FF2B5EF4-FFF2-40B4-BE49-F238E27FC236}">
                <a16:creationId xmlns:a16="http://schemas.microsoft.com/office/drawing/2014/main" id="{56D0342F-AC88-44CE-0E8F-12506EFEC0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BE35DE-1A09-E1F5-2E77-BBD61E02D8EC}"/>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4141100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871E-DD99-74ED-DD0F-C35C8A4748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84D8EA-64A5-230B-EBB5-2776F751D3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0A945C-802C-65FD-89FE-159071A1690E}"/>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5" name="Footer Placeholder 4">
            <a:extLst>
              <a:ext uri="{FF2B5EF4-FFF2-40B4-BE49-F238E27FC236}">
                <a16:creationId xmlns:a16="http://schemas.microsoft.com/office/drawing/2014/main" id="{63EE4AE1-2024-93BA-AE97-6EB370CE6D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471B60-3CE2-B868-87C0-5CB6C0C74B52}"/>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703806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FE0A7-7205-3F52-4F33-1602C816DB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FECC24A-E103-BCFE-62B2-59FB45A840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632786-1AE6-67AA-D340-8A9F6DD1D4BA}"/>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5" name="Footer Placeholder 4">
            <a:extLst>
              <a:ext uri="{FF2B5EF4-FFF2-40B4-BE49-F238E27FC236}">
                <a16:creationId xmlns:a16="http://schemas.microsoft.com/office/drawing/2014/main" id="{7A63361A-B1E0-AF98-DE05-9E7CBC22DD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C1904E-9012-C05C-C205-F5B580D668EB}"/>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2348656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ADA26-52EC-7F40-69D2-5BE484CE36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C1E245-0FAF-F7FA-CA36-0F81B9C9BC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BD0F5DE-FED8-CE86-47F0-00E141978B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9AC223-6A60-FBD5-F767-B4E08D83CB41}"/>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6" name="Footer Placeholder 5">
            <a:extLst>
              <a:ext uri="{FF2B5EF4-FFF2-40B4-BE49-F238E27FC236}">
                <a16:creationId xmlns:a16="http://schemas.microsoft.com/office/drawing/2014/main" id="{7F4E5325-6EB9-6171-C53D-18482980EA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613D88-781F-D617-2C10-BCB970B4E47A}"/>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1733238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2A3C2-33A9-25F0-DCBE-77CD1CC1C9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1E4C03-5A06-077F-CA01-5F1C74D040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DA5587-52CB-5523-023D-B3DFAE0140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E4C91A-A7EE-4CC4-2DA6-FDABB69BD8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A77727-152A-EDB9-D6C5-329F0BB8A4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87A536-134C-7DBE-22E8-D2FDE88A9BD9}"/>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8" name="Footer Placeholder 7">
            <a:extLst>
              <a:ext uri="{FF2B5EF4-FFF2-40B4-BE49-F238E27FC236}">
                <a16:creationId xmlns:a16="http://schemas.microsoft.com/office/drawing/2014/main" id="{4BECDFB3-B1EB-5803-53D0-3894D13D154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DD589E5-905F-77FA-CEFD-75CFB92C9C63}"/>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3407708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3133D-9F0D-DB2B-D1AD-34298869DF0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4539569-DBF6-108C-C655-32F3821248E6}"/>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4" name="Footer Placeholder 3">
            <a:extLst>
              <a:ext uri="{FF2B5EF4-FFF2-40B4-BE49-F238E27FC236}">
                <a16:creationId xmlns:a16="http://schemas.microsoft.com/office/drawing/2014/main" id="{353DE505-3CFA-BD7D-1E66-3A95BBFF7F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63BB309-A678-8BD8-B582-693DC8B9B509}"/>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1980792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F4040F-80CB-CE80-7BA5-C19B2D6D6E3D}"/>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3" name="Footer Placeholder 2">
            <a:extLst>
              <a:ext uri="{FF2B5EF4-FFF2-40B4-BE49-F238E27FC236}">
                <a16:creationId xmlns:a16="http://schemas.microsoft.com/office/drawing/2014/main" id="{D1F88A31-92CF-F2FA-6CEB-D07BC04B2A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8B4EAE2-78DF-6E9F-D917-F7F3D4BD8530}"/>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4232015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9A878-9A4A-84FC-33D6-7E76766A7A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FC6B73-FCD6-5012-F4F4-C46EDBC325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502EBE-9AAE-34F2-F096-9A07B244A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38B43E-F3CE-9650-8500-2ACF7F4FA05C}"/>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6" name="Footer Placeholder 5">
            <a:extLst>
              <a:ext uri="{FF2B5EF4-FFF2-40B4-BE49-F238E27FC236}">
                <a16:creationId xmlns:a16="http://schemas.microsoft.com/office/drawing/2014/main" id="{480204C4-A8AC-8BD4-C32B-A793D8B02F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10B8B7-72B6-F2E4-BCBC-9C2227D5D68D}"/>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4042521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25B89-AC12-2094-7529-8108475CAA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0F6C2E4-AC5D-972B-1283-F061FC1F28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169B51-3A1B-7AE8-B472-A78EE311F2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7C80E8-3D13-1D49-48A6-F42BF69B2442}"/>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6" name="Footer Placeholder 5">
            <a:extLst>
              <a:ext uri="{FF2B5EF4-FFF2-40B4-BE49-F238E27FC236}">
                <a16:creationId xmlns:a16="http://schemas.microsoft.com/office/drawing/2014/main" id="{D1C92E89-5080-909A-ABF3-D9AEA1F9CE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258107-E7FF-B681-3FCE-0A75B23A3D74}"/>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2097942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38070-432F-B4C3-09F1-97AC8EE4AD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3CD977-99FE-CCBE-D892-0C48F83057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3D8B12-A7B5-AB29-55F1-3F2A571BC56D}"/>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5" name="Footer Placeholder 4">
            <a:extLst>
              <a:ext uri="{FF2B5EF4-FFF2-40B4-BE49-F238E27FC236}">
                <a16:creationId xmlns:a16="http://schemas.microsoft.com/office/drawing/2014/main" id="{E54D78D5-D6C9-3412-9A7D-D684A80088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73D683-D7C0-6953-D976-614A29677F3C}"/>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2360598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FD26EB-9CA7-E027-82ED-776E63AC9A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BF2DF1-1E57-77A6-A816-C9218CADBA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033FC8-364E-6B4C-63E0-C528B5C485AF}"/>
              </a:ext>
            </a:extLst>
          </p:cNvPr>
          <p:cNvSpPr>
            <a:spLocks noGrp="1"/>
          </p:cNvSpPr>
          <p:nvPr>
            <p:ph type="dt" sz="half" idx="10"/>
          </p:nvPr>
        </p:nvSpPr>
        <p:spPr/>
        <p:txBody>
          <a:bodyPr/>
          <a:lstStyle/>
          <a:p>
            <a:fld id="{E0D1B7DA-2C1E-4900-BDB9-93940D84A16B}" type="datetimeFigureOut">
              <a:rPr lang="en-IN" smtClean="0"/>
              <a:t>24-11-2025</a:t>
            </a:fld>
            <a:endParaRPr lang="en-IN"/>
          </a:p>
        </p:txBody>
      </p:sp>
      <p:sp>
        <p:nvSpPr>
          <p:cNvPr id="5" name="Footer Placeholder 4">
            <a:extLst>
              <a:ext uri="{FF2B5EF4-FFF2-40B4-BE49-F238E27FC236}">
                <a16:creationId xmlns:a16="http://schemas.microsoft.com/office/drawing/2014/main" id="{FC66CADF-355F-8204-4511-5A25D06722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0187D4-6741-B5B6-8056-8CD2F861BD80}"/>
              </a:ext>
            </a:extLst>
          </p:cNvPr>
          <p:cNvSpPr>
            <a:spLocks noGrp="1"/>
          </p:cNvSpPr>
          <p:nvPr>
            <p:ph type="sldNum" sz="quarter" idx="12"/>
          </p:nvPr>
        </p:nvSpPr>
        <p:spPr/>
        <p:txBody>
          <a:bodyPr/>
          <a:lstStyle/>
          <a:p>
            <a:fld id="{20637E2C-5623-468A-A7F3-ADC54B12FF2A}" type="slidenum">
              <a:rPr lang="en-IN" smtClean="0"/>
              <a:t>‹#›</a:t>
            </a:fld>
            <a:endParaRPr lang="en-IN"/>
          </a:p>
        </p:txBody>
      </p:sp>
    </p:spTree>
    <p:extLst>
      <p:ext uri="{BB962C8B-B14F-4D97-AF65-F5344CB8AC3E}">
        <p14:creationId xmlns:p14="http://schemas.microsoft.com/office/powerpoint/2010/main" val="2327042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2363D4-DB62-42E3-9831-413488E48A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729F6A-E20F-DE4F-968B-15F5AB64BD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7B399C-5CE5-AA92-BD96-BB538D9782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D1B7DA-2C1E-4900-BDB9-93940D84A16B}" type="datetimeFigureOut">
              <a:rPr lang="en-IN" smtClean="0"/>
              <a:t>24-11-2025</a:t>
            </a:fld>
            <a:endParaRPr lang="en-IN"/>
          </a:p>
        </p:txBody>
      </p:sp>
      <p:sp>
        <p:nvSpPr>
          <p:cNvPr id="5" name="Footer Placeholder 4">
            <a:extLst>
              <a:ext uri="{FF2B5EF4-FFF2-40B4-BE49-F238E27FC236}">
                <a16:creationId xmlns:a16="http://schemas.microsoft.com/office/drawing/2014/main" id="{C53DBC98-23EF-D0F4-50BC-8F781B9243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CC274A-EDF3-AA03-8EC6-9B1D27DCEB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637E2C-5623-468A-A7F3-ADC54B12FF2A}" type="slidenum">
              <a:rPr lang="en-IN" smtClean="0"/>
              <a:t>‹#›</a:t>
            </a:fld>
            <a:endParaRPr lang="en-IN"/>
          </a:p>
        </p:txBody>
      </p:sp>
    </p:spTree>
    <p:extLst>
      <p:ext uri="{BB962C8B-B14F-4D97-AF65-F5344CB8AC3E}">
        <p14:creationId xmlns:p14="http://schemas.microsoft.com/office/powerpoint/2010/main" val="3002254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www.slideshare.net/slideshow/spray-drying-54159904/54159904#24" TargetMode="External"/><Relationship Id="rId2" Type="http://schemas.openxmlformats.org/officeDocument/2006/relationships/hyperlink" Target="https://www.slideshare.net/slideshow/spray-drying-54159904/54159904#1" TargetMode="External"/><Relationship Id="rId1" Type="http://schemas.openxmlformats.org/officeDocument/2006/relationships/slideLayout" Target="../slideLayouts/slideLayout6.xml"/><Relationship Id="rId4" Type="http://schemas.openxmlformats.org/officeDocument/2006/relationships/hyperlink" Target="https://www.slideshare.net/slideshow/spray-drying-54159904/54159904#2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hyperlink" Target="https://www.slideshare.net/slideshow/freeze-dryer-1pptx/253594690#4" TargetMode="External"/><Relationship Id="rId2" Type="http://schemas.openxmlformats.org/officeDocument/2006/relationships/hyperlink" Target="https://www.slideshare.net/slideshow/freeze-dryer-1pptx/253594690#3" TargetMode="Externa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https://www.slideshare.net/slideshow/freeze-dryer-1pptx/253594690#16" TargetMode="External"/><Relationship Id="rId2" Type="http://schemas.openxmlformats.org/officeDocument/2006/relationships/hyperlink" Target="https://www.slideshare.net/slideshow/freeze-dryer-1pptx/253594690#11" TargetMode="Externa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9905"/>
            <a:chOff x="0" y="0"/>
            <a:chExt cx="12192000" cy="6859905"/>
          </a:xfrm>
        </p:grpSpPr>
        <p:pic>
          <p:nvPicPr>
            <p:cNvPr id="3" name="object 3"/>
            <p:cNvPicPr/>
            <p:nvPr/>
          </p:nvPicPr>
          <p:blipFill>
            <a:blip r:embed="rId2" cstate="print"/>
            <a:stretch>
              <a:fillRect/>
            </a:stretch>
          </p:blipFill>
          <p:spPr>
            <a:xfrm>
              <a:off x="0" y="0"/>
              <a:ext cx="12192000" cy="6858000"/>
            </a:xfrm>
            <a:prstGeom prst="rect">
              <a:avLst/>
            </a:prstGeom>
          </p:spPr>
        </p:pic>
        <p:pic>
          <p:nvPicPr>
            <p:cNvPr id="4" name="object 4"/>
            <p:cNvPicPr/>
            <p:nvPr/>
          </p:nvPicPr>
          <p:blipFill>
            <a:blip r:embed="rId3" cstate="print"/>
            <a:stretch>
              <a:fillRect/>
            </a:stretch>
          </p:blipFill>
          <p:spPr>
            <a:xfrm>
              <a:off x="0" y="0"/>
              <a:ext cx="2851404" cy="6859522"/>
            </a:xfrm>
            <a:prstGeom prst="rect">
              <a:avLst/>
            </a:prstGeom>
          </p:spPr>
        </p:pic>
        <p:sp>
          <p:nvSpPr>
            <p:cNvPr id="5" name="object 5"/>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766E53"/>
            </a:solidFill>
          </p:spPr>
          <p:txBody>
            <a:bodyPr wrap="square" lIns="0" tIns="0" rIns="0" bIns="0" rtlCol="0"/>
            <a:lstStyle/>
            <a:p>
              <a:endParaRPr/>
            </a:p>
          </p:txBody>
        </p:sp>
      </p:grpSp>
      <p:sp>
        <p:nvSpPr>
          <p:cNvPr id="6" name="object 6"/>
          <p:cNvSpPr/>
          <p:nvPr/>
        </p:nvSpPr>
        <p:spPr>
          <a:xfrm>
            <a:off x="0" y="4323588"/>
            <a:ext cx="1743075" cy="779145"/>
          </a:xfrm>
          <a:custGeom>
            <a:avLst/>
            <a:gdLst/>
            <a:ahLst/>
            <a:cxnLst/>
            <a:rect l="l" t="t" r="r" b="b"/>
            <a:pathLst>
              <a:path w="1743075" h="779145">
                <a:moveTo>
                  <a:pt x="1346200" y="0"/>
                </a:moveTo>
                <a:lnTo>
                  <a:pt x="0" y="0"/>
                </a:lnTo>
                <a:lnTo>
                  <a:pt x="0" y="778763"/>
                </a:lnTo>
                <a:lnTo>
                  <a:pt x="1346200" y="778763"/>
                </a:lnTo>
                <a:lnTo>
                  <a:pt x="1355891" y="777956"/>
                </a:lnTo>
                <a:lnTo>
                  <a:pt x="1363821" y="775827"/>
                </a:lnTo>
                <a:lnTo>
                  <a:pt x="1369988" y="772816"/>
                </a:lnTo>
                <a:lnTo>
                  <a:pt x="1374394" y="769366"/>
                </a:lnTo>
                <a:lnTo>
                  <a:pt x="1374394" y="764667"/>
                </a:lnTo>
                <a:lnTo>
                  <a:pt x="1379093" y="764667"/>
                </a:lnTo>
                <a:lnTo>
                  <a:pt x="1735582" y="408178"/>
                </a:lnTo>
                <a:lnTo>
                  <a:pt x="1740868" y="399587"/>
                </a:lnTo>
                <a:lnTo>
                  <a:pt x="1742630" y="388794"/>
                </a:lnTo>
                <a:lnTo>
                  <a:pt x="1740868" y="377120"/>
                </a:lnTo>
                <a:lnTo>
                  <a:pt x="1735582" y="365887"/>
                </a:lnTo>
                <a:lnTo>
                  <a:pt x="1379093" y="14097"/>
                </a:lnTo>
                <a:lnTo>
                  <a:pt x="1379093" y="9398"/>
                </a:lnTo>
                <a:lnTo>
                  <a:pt x="1374394" y="9398"/>
                </a:lnTo>
                <a:lnTo>
                  <a:pt x="1369988" y="5947"/>
                </a:lnTo>
                <a:lnTo>
                  <a:pt x="1363821" y="2936"/>
                </a:lnTo>
                <a:lnTo>
                  <a:pt x="1355891" y="807"/>
                </a:lnTo>
                <a:lnTo>
                  <a:pt x="1346200" y="0"/>
                </a:lnTo>
                <a:close/>
              </a:path>
            </a:pathLst>
          </a:custGeom>
          <a:solidFill>
            <a:srgbClr val="A42F0F"/>
          </a:solidFill>
        </p:spPr>
        <p:txBody>
          <a:bodyPr wrap="square" lIns="0" tIns="0" rIns="0" bIns="0" rtlCol="0"/>
          <a:lstStyle/>
          <a:p>
            <a:endParaRPr/>
          </a:p>
        </p:txBody>
      </p:sp>
      <p:sp>
        <p:nvSpPr>
          <p:cNvPr id="7" name="object 7"/>
          <p:cNvSpPr txBox="1">
            <a:spLocks noGrp="1"/>
          </p:cNvSpPr>
          <p:nvPr>
            <p:ph type="title"/>
          </p:nvPr>
        </p:nvSpPr>
        <p:spPr>
          <a:xfrm>
            <a:off x="2668270" y="3881754"/>
            <a:ext cx="5418455" cy="848360"/>
          </a:xfrm>
          <a:prstGeom prst="rect">
            <a:avLst/>
          </a:prstGeom>
        </p:spPr>
        <p:txBody>
          <a:bodyPr vert="horz" wrap="square" lIns="0" tIns="12700" rIns="0" bIns="0" rtlCol="0">
            <a:spAutoFit/>
          </a:bodyPr>
          <a:lstStyle/>
          <a:p>
            <a:pPr marL="12700">
              <a:lnSpc>
                <a:spcPct val="100000"/>
              </a:lnSpc>
              <a:spcBef>
                <a:spcPts val="100"/>
              </a:spcBef>
            </a:pPr>
            <a:r>
              <a:rPr sz="5400" spc="90" dirty="0"/>
              <a:t>Food</a:t>
            </a:r>
            <a:r>
              <a:rPr sz="5400" spc="-405" dirty="0"/>
              <a:t> </a:t>
            </a:r>
            <a:r>
              <a:rPr sz="5400" spc="-120" dirty="0"/>
              <a:t>Processing</a:t>
            </a:r>
            <a:endParaRPr sz="5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2EE54-B7F9-8020-33A0-80506F322E09}"/>
              </a:ext>
            </a:extLst>
          </p:cNvPr>
          <p:cNvSpPr>
            <a:spLocks noGrp="1"/>
          </p:cNvSpPr>
          <p:nvPr>
            <p:ph type="ctrTitle"/>
          </p:nvPr>
        </p:nvSpPr>
        <p:spPr>
          <a:xfrm>
            <a:off x="1524000" y="393895"/>
            <a:ext cx="9144000" cy="787791"/>
          </a:xfrm>
        </p:spPr>
        <p:txBody>
          <a:bodyPr>
            <a:normAutofit fontScale="90000"/>
          </a:bodyPr>
          <a:lstStyle/>
          <a:p>
            <a:r>
              <a:rPr lang="en-IN" dirty="0"/>
              <a:t>Food Processing </a:t>
            </a:r>
          </a:p>
        </p:txBody>
      </p:sp>
      <p:sp>
        <p:nvSpPr>
          <p:cNvPr id="3" name="Subtitle 2">
            <a:extLst>
              <a:ext uri="{FF2B5EF4-FFF2-40B4-BE49-F238E27FC236}">
                <a16:creationId xmlns:a16="http://schemas.microsoft.com/office/drawing/2014/main" id="{1A70A3B8-D030-B864-A0A8-0447B1296CEA}"/>
              </a:ext>
            </a:extLst>
          </p:cNvPr>
          <p:cNvSpPr>
            <a:spLocks noGrp="1"/>
          </p:cNvSpPr>
          <p:nvPr>
            <p:ph type="subTitle" idx="1"/>
          </p:nvPr>
        </p:nvSpPr>
        <p:spPr>
          <a:xfrm>
            <a:off x="1524000" y="1364566"/>
            <a:ext cx="9144000" cy="3893234"/>
          </a:xfrm>
        </p:spPr>
        <p:txBody>
          <a:bodyPr>
            <a:noAutofit/>
          </a:bodyPr>
          <a:lstStyle/>
          <a:p>
            <a:pPr algn="just"/>
            <a:r>
              <a:rPr lang="en-US" dirty="0">
                <a:latin typeface="Times New Roman" panose="02020603050405020304" pitchFamily="18" charset="0"/>
                <a:cs typeface="Times New Roman" panose="02020603050405020304" pitchFamily="18" charset="0"/>
              </a:rPr>
              <a:t>Operations by which  raw foodstuffs are made suitable  for consumption, cooking, or storage.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Food processing generally includes </a:t>
            </a:r>
          </a:p>
          <a:p>
            <a:pPr marL="342900" indent="-34290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Basic preparation of foods, </a:t>
            </a:r>
          </a:p>
          <a:p>
            <a:pPr marL="342900" indent="-34290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Alteration of a food product into another form (as in making preserves from fruit), a</a:t>
            </a:r>
          </a:p>
          <a:p>
            <a:pPr marL="342900" indent="-34290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Preservation and packaging technique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6225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7C65F-0BD8-9EAB-6553-10CF567F009B}"/>
              </a:ext>
            </a:extLst>
          </p:cNvPr>
          <p:cNvSpPr>
            <a:spLocks noGrp="1"/>
          </p:cNvSpPr>
          <p:nvPr>
            <p:ph type="title"/>
          </p:nvPr>
        </p:nvSpPr>
        <p:spPr/>
        <p:txBody>
          <a:bodyPr>
            <a:normAutofit/>
          </a:bodyPr>
          <a:lstStyle/>
          <a:p>
            <a:pPr algn="just"/>
            <a:r>
              <a:rPr lang="en-US" sz="3600" b="1" dirty="0">
                <a:latin typeface="Times New Roman" panose="02020603050405020304" pitchFamily="18" charset="0"/>
                <a:cs typeface="Times New Roman" panose="02020603050405020304" pitchFamily="18" charset="0"/>
              </a:rPr>
              <a:t>The Role of Food Preservation in Food Safety</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D57D94-0D5D-DAF8-5CC2-8C3A54E22944}"/>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The primary goal of food preservation is to extend the </a:t>
            </a:r>
            <a:r>
              <a:rPr lang="en-US" sz="3200" b="1" dirty="0">
                <a:latin typeface="Times New Roman" panose="02020603050405020304" pitchFamily="18" charset="0"/>
                <a:cs typeface="Times New Roman" panose="02020603050405020304" pitchFamily="18" charset="0"/>
              </a:rPr>
              <a:t>shelf life </a:t>
            </a:r>
            <a:r>
              <a:rPr lang="en-US" sz="3200" dirty="0">
                <a:latin typeface="Times New Roman" panose="02020603050405020304" pitchFamily="18" charset="0"/>
                <a:cs typeface="Times New Roman" panose="02020603050405020304" pitchFamily="18" charset="0"/>
              </a:rPr>
              <a:t>of food products while maintaining their </a:t>
            </a:r>
            <a:r>
              <a:rPr lang="en-US" sz="3200" b="1" dirty="0">
                <a:latin typeface="Times New Roman" panose="02020603050405020304" pitchFamily="18" charset="0"/>
                <a:cs typeface="Times New Roman" panose="02020603050405020304" pitchFamily="18" charset="0"/>
              </a:rPr>
              <a:t>nutritional value, flavor, and quality. </a:t>
            </a:r>
          </a:p>
          <a:p>
            <a:pPr algn="just"/>
            <a:r>
              <a:rPr lang="en-US" sz="3200" dirty="0">
                <a:latin typeface="Times New Roman" panose="02020603050405020304" pitchFamily="18" charset="0"/>
                <a:cs typeface="Times New Roman" panose="02020603050405020304" pitchFamily="18" charset="0"/>
              </a:rPr>
              <a:t>preventing the growth of microorganisms, </a:t>
            </a:r>
          </a:p>
          <a:p>
            <a:pPr algn="just"/>
            <a:r>
              <a:rPr lang="en-US" sz="3200" dirty="0">
                <a:latin typeface="Times New Roman" panose="02020603050405020304" pitchFamily="18" charset="0"/>
                <a:cs typeface="Times New Roman" panose="02020603050405020304" pitchFamily="18" charset="0"/>
              </a:rPr>
              <a:t>inhibiting the activity of enzymes that can lead to spoilage.</a:t>
            </a:r>
          </a:p>
          <a:p>
            <a:pPr algn="just"/>
            <a:r>
              <a:rPr lang="en-US" sz="3200" b="1" dirty="0">
                <a:latin typeface="Times New Roman" panose="02020603050405020304" pitchFamily="18" charset="0"/>
                <a:cs typeface="Times New Roman" panose="02020603050405020304" pitchFamily="18" charset="0"/>
              </a:rPr>
              <a:t> </a:t>
            </a:r>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reduce food cost</a:t>
            </a: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 </a:t>
            </a:r>
          </a:p>
          <a:p>
            <a:pPr algn="just"/>
            <a:r>
              <a:rPr lang="en-IN" sz="3200" dirty="0">
                <a:effectLst/>
                <a:latin typeface="Times New Roman" panose="02020603050405020304" pitchFamily="18" charset="0"/>
                <a:ea typeface="Calibri" panose="020F0502020204030204" pitchFamily="34" charset="0"/>
                <a:cs typeface="Times New Roman" panose="02020603050405020304" pitchFamily="18" charset="0"/>
              </a:rPr>
              <a:t>improve convenience, </a:t>
            </a:r>
          </a:p>
          <a:p>
            <a:pPr algn="just"/>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lengthen shelf life </a:t>
            </a: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and </a:t>
            </a:r>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reduce food waste.</a:t>
            </a:r>
          </a:p>
          <a:p>
            <a:pPr algn="just"/>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173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Rectangle 4">
            <a:extLst>
              <a:ext uri="{FF2B5EF4-FFF2-40B4-BE49-F238E27FC236}">
                <a16:creationId xmlns:a16="http://schemas.microsoft.com/office/drawing/2014/main" id="{12F9D86A-DD84-7395-FAF5-50024B22E15C}"/>
              </a:ext>
            </a:extLst>
          </p:cNvPr>
          <p:cNvSpPr>
            <a:spLocks noGrp="1" noChangeArrowheads="1"/>
          </p:cNvSpPr>
          <p:nvPr>
            <p:ph type="ctrTitle"/>
          </p:nvPr>
        </p:nvSpPr>
        <p:spPr>
          <a:xfrm>
            <a:off x="2209800" y="685800"/>
            <a:ext cx="7772400" cy="609600"/>
          </a:xfrm>
        </p:spPr>
        <p:txBody>
          <a:bodyPr/>
          <a:lstStyle/>
          <a:p>
            <a:r>
              <a:rPr lang="en-US" altLang="en-US" sz="2800" b="1">
                <a:solidFill>
                  <a:srgbClr val="FF0000"/>
                </a:solidFill>
                <a:latin typeface="Arial Rounded MT Bold" panose="020F0704030504030204" pitchFamily="34" charset="0"/>
              </a:rPr>
              <a:t>Processing Methods</a:t>
            </a:r>
          </a:p>
        </p:txBody>
      </p:sp>
      <p:sp>
        <p:nvSpPr>
          <p:cNvPr id="1034" name="Slide Number Placeholder 3">
            <a:extLst>
              <a:ext uri="{FF2B5EF4-FFF2-40B4-BE49-F238E27FC236}">
                <a16:creationId xmlns:a16="http://schemas.microsoft.com/office/drawing/2014/main" id="{1504B169-2A9D-8B1D-3350-46B6C647D873}"/>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0747A1B-E001-42ED-8C7F-7AEF5596E0A9}" type="slidenum">
              <a:rPr lang="en-US" altLang="en-US"/>
              <a:pPr/>
              <a:t>4</a:t>
            </a:fld>
            <a:endParaRPr lang="en-US" altLang="en-US"/>
          </a:p>
        </p:txBody>
      </p:sp>
      <p:graphicFrame>
        <p:nvGraphicFramePr>
          <p:cNvPr id="2" name="Diagram 1">
            <a:extLst>
              <a:ext uri="{FF2B5EF4-FFF2-40B4-BE49-F238E27FC236}">
                <a16:creationId xmlns:a16="http://schemas.microsoft.com/office/drawing/2014/main" id="{9CDBFDFE-B47B-8144-5F87-4569285B8A98}"/>
              </a:ext>
            </a:extLst>
          </p:cNvPr>
          <p:cNvGraphicFramePr/>
          <p:nvPr>
            <p:extLst>
              <p:ext uri="{D42A27DB-BD31-4B8C-83A1-F6EECF244321}">
                <p14:modId xmlns:p14="http://schemas.microsoft.com/office/powerpoint/2010/main" val="449959312"/>
              </p:ext>
            </p:extLst>
          </p:nvPr>
        </p:nvGraphicFramePr>
        <p:xfrm>
          <a:off x="2057400" y="1371600"/>
          <a:ext cx="80772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a:extLst>
              <a:ext uri="{FF2B5EF4-FFF2-40B4-BE49-F238E27FC236}">
                <a16:creationId xmlns:a16="http://schemas.microsoft.com/office/drawing/2014/main" id="{4BFF06E2-D1E0-CFF8-BAF9-3164180ABC1F}"/>
              </a:ext>
            </a:extLst>
          </p:cNvPr>
          <p:cNvSpPr>
            <a:spLocks noGrp="1" noChangeArrowheads="1"/>
          </p:cNvSpPr>
          <p:nvPr>
            <p:ph type="title"/>
          </p:nvPr>
        </p:nvSpPr>
        <p:spPr>
          <a:xfrm>
            <a:off x="2590800" y="1157068"/>
            <a:ext cx="6553200" cy="2271932"/>
          </a:xfrm>
        </p:spPr>
        <p:txBody>
          <a:bodyPr>
            <a:normAutofit/>
          </a:bodyPr>
          <a:lstStyle/>
          <a:p>
            <a:pPr marL="457200" indent="-457200">
              <a:buFont typeface="Arial" panose="020B0604020202020204" pitchFamily="34" charset="0"/>
              <a:buChar char="•"/>
            </a:pPr>
            <a:r>
              <a:rPr lang="en-IN" sz="2800" u="sng" dirty="0">
                <a:solidFill>
                  <a:srgbClr val="FF0000"/>
                </a:solidFill>
                <a:effectLst/>
                <a:latin typeface="Arial Rounded MT Bold" panose="020F0704030504030204" pitchFamily="34" charset="0"/>
                <a:ea typeface="Calibri" panose="020F0502020204030204" pitchFamily="34" charset="0"/>
              </a:rPr>
              <a:t>Physical preservation</a:t>
            </a:r>
            <a:br>
              <a:rPr lang="en-IN" sz="2800" dirty="0">
                <a:solidFill>
                  <a:srgbClr val="FF0000"/>
                </a:solidFill>
                <a:effectLst/>
                <a:latin typeface="Arial Rounded MT Bold" panose="020F0704030504030204" pitchFamily="34" charset="0"/>
                <a:ea typeface="Calibri" panose="020F0502020204030204" pitchFamily="34" charset="0"/>
              </a:rPr>
            </a:br>
            <a:br>
              <a:rPr lang="en-IN" sz="2800" dirty="0">
                <a:solidFill>
                  <a:srgbClr val="FF0000"/>
                </a:solidFill>
                <a:effectLst/>
                <a:latin typeface="Arial Rounded MT Bold" panose="020F0704030504030204" pitchFamily="34" charset="0"/>
                <a:ea typeface="Calibri" panose="020F0502020204030204" pitchFamily="34" charset="0"/>
              </a:rPr>
            </a:br>
            <a:r>
              <a:rPr lang="en-IN" sz="2800" dirty="0">
                <a:solidFill>
                  <a:srgbClr val="FF0000"/>
                </a:solidFill>
                <a:effectLst/>
                <a:latin typeface="Arial Rounded MT Bold" panose="020F0704030504030204" pitchFamily="34" charset="0"/>
                <a:ea typeface="Calibri" panose="020F0502020204030204" pitchFamily="34" charset="0"/>
              </a:rPr>
              <a:t>Refrigeration  </a:t>
            </a:r>
            <a:br>
              <a:rPr lang="en-IN" sz="2800" dirty="0">
                <a:solidFill>
                  <a:srgbClr val="FF0000"/>
                </a:solidFill>
                <a:effectLst/>
                <a:latin typeface="Arial Rounded MT Bold" panose="020F0704030504030204" pitchFamily="34" charset="0"/>
                <a:ea typeface="Calibri" panose="020F0502020204030204" pitchFamily="34" charset="0"/>
              </a:rPr>
            </a:br>
            <a:br>
              <a:rPr lang="en-IN" sz="2800" dirty="0">
                <a:solidFill>
                  <a:srgbClr val="FF0000"/>
                </a:solidFill>
                <a:effectLst/>
                <a:latin typeface="Arial Rounded MT Bold" panose="020F0704030504030204" pitchFamily="34" charset="0"/>
                <a:ea typeface="Calibri" panose="020F0502020204030204" pitchFamily="34" charset="0"/>
              </a:rPr>
            </a:br>
            <a:r>
              <a:rPr lang="en-IN" sz="2800" dirty="0">
                <a:solidFill>
                  <a:srgbClr val="FF0000"/>
                </a:solidFill>
                <a:effectLst/>
                <a:latin typeface="Arial Rounded MT Bold" panose="020F0704030504030204" pitchFamily="34" charset="0"/>
                <a:ea typeface="Calibri" panose="020F0502020204030204" pitchFamily="34" charset="0"/>
              </a:rPr>
              <a:t>Drying.</a:t>
            </a:r>
            <a:endParaRPr lang="en-US" altLang="en-US" sz="2800" dirty="0">
              <a:solidFill>
                <a:srgbClr val="FF0000"/>
              </a:solidFill>
              <a:latin typeface="Arial Rounded MT Bold" panose="020F0704030504030204" pitchFamily="34" charset="0"/>
            </a:endParaRPr>
          </a:p>
        </p:txBody>
      </p:sp>
      <p:sp>
        <p:nvSpPr>
          <p:cNvPr id="10243" name="Rectangle 6">
            <a:extLst>
              <a:ext uri="{FF2B5EF4-FFF2-40B4-BE49-F238E27FC236}">
                <a16:creationId xmlns:a16="http://schemas.microsoft.com/office/drawing/2014/main" id="{88AA7DBE-EAA5-EEF4-AB71-307B14AF5487}"/>
              </a:ext>
            </a:extLst>
          </p:cNvPr>
          <p:cNvSpPr>
            <a:spLocks noGrp="1" noChangeArrowheads="1"/>
          </p:cNvSpPr>
          <p:nvPr>
            <p:ph idx="1"/>
          </p:nvPr>
        </p:nvSpPr>
        <p:spPr>
          <a:xfrm>
            <a:off x="2590800" y="3641188"/>
            <a:ext cx="6553200" cy="2281311"/>
          </a:xfrm>
        </p:spPr>
        <p:txBody>
          <a:bodyPr>
            <a:normAutofit fontScale="92500" lnSpcReduction="10000"/>
          </a:bodyPr>
          <a:lstStyle/>
          <a:p>
            <a:pPr marL="0" indent="0">
              <a:buNone/>
            </a:pPr>
            <a:r>
              <a:rPr lang="en-US" altLang="en-US" b="1" u="sng" dirty="0">
                <a:latin typeface="Arial Rounded MT Bold" panose="020F0704030504030204" pitchFamily="34" charset="0"/>
              </a:rPr>
              <a:t>Chemical Processing Methods </a:t>
            </a:r>
          </a:p>
          <a:p>
            <a:pPr marL="0" indent="0">
              <a:buNone/>
            </a:pPr>
            <a:endParaRPr lang="en-US" altLang="en-US" b="1" dirty="0">
              <a:latin typeface="Arial Rounded MT Bold" panose="020F0704030504030204" pitchFamily="34" charset="0"/>
            </a:endParaRPr>
          </a:p>
          <a:p>
            <a:r>
              <a:rPr lang="en-US" altLang="en-US" b="1" dirty="0">
                <a:solidFill>
                  <a:srgbClr val="0070C0"/>
                </a:solidFill>
                <a:latin typeface="Arial Rounded MT Bold" panose="020F0704030504030204" pitchFamily="34" charset="0"/>
              </a:rPr>
              <a:t>Addition of Chemicals</a:t>
            </a:r>
          </a:p>
          <a:p>
            <a:endParaRPr lang="en-US" altLang="en-US" b="1" dirty="0">
              <a:latin typeface="Arial Rounded MT Bold" panose="020F0704030504030204" pitchFamily="34" charset="0"/>
            </a:endParaRPr>
          </a:p>
          <a:p>
            <a:r>
              <a:rPr lang="en-US" altLang="en-US" b="1" dirty="0">
                <a:solidFill>
                  <a:srgbClr val="00B050"/>
                </a:solidFill>
                <a:latin typeface="Arial Rounded MT Bold" panose="020F0704030504030204" pitchFamily="34" charset="0"/>
              </a:rPr>
              <a:t>PH Control</a:t>
            </a:r>
          </a:p>
        </p:txBody>
      </p:sp>
      <p:sp>
        <p:nvSpPr>
          <p:cNvPr id="10244" name="Slide Number Placeholder 5">
            <a:extLst>
              <a:ext uri="{FF2B5EF4-FFF2-40B4-BE49-F238E27FC236}">
                <a16:creationId xmlns:a16="http://schemas.microsoft.com/office/drawing/2014/main" id="{ECF3BBE4-D3D3-CEB7-3FC1-1DBBAD370F3C}"/>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1935E7F-461B-495A-8640-B86D3CCEC66B}" type="slidenum">
              <a:rPr lang="en-US" altLang="en-US"/>
              <a:pPr/>
              <a:t>5</a:t>
            </a:fld>
            <a:endParaRPr lang="en-US" altLang="en-US"/>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4860EA2-57C3-471B-21C8-24728732097E}"/>
              </a:ext>
            </a:extLst>
          </p:cNvPr>
          <p:cNvSpPr>
            <a:spLocks noGrp="1" noChangeArrowheads="1"/>
          </p:cNvSpPr>
          <p:nvPr>
            <p:ph type="ctrTitle" idx="4294967295"/>
          </p:nvPr>
        </p:nvSpPr>
        <p:spPr>
          <a:xfrm>
            <a:off x="1752600" y="990601"/>
            <a:ext cx="7772400" cy="384175"/>
          </a:xfrm>
        </p:spPr>
        <p:txBody>
          <a:bodyPr>
            <a:normAutofit fontScale="90000"/>
          </a:bodyPr>
          <a:lstStyle/>
          <a:p>
            <a:r>
              <a:rPr lang="en-US" altLang="en-US" sz="2800" b="1" u="sng" dirty="0">
                <a:solidFill>
                  <a:srgbClr val="0070C0"/>
                </a:solidFill>
                <a:latin typeface="Arial Rounded MT Bold" panose="020F0704030504030204" pitchFamily="34" charset="0"/>
              </a:rPr>
              <a:t>pH Control</a:t>
            </a:r>
          </a:p>
        </p:txBody>
      </p:sp>
      <p:sp>
        <p:nvSpPr>
          <p:cNvPr id="14339" name="Rectangle 4">
            <a:extLst>
              <a:ext uri="{FF2B5EF4-FFF2-40B4-BE49-F238E27FC236}">
                <a16:creationId xmlns:a16="http://schemas.microsoft.com/office/drawing/2014/main" id="{5AF64FFF-8BD7-B653-85A3-1F530E7F7193}"/>
              </a:ext>
            </a:extLst>
          </p:cNvPr>
          <p:cNvSpPr>
            <a:spLocks noGrp="1" noChangeArrowheads="1"/>
          </p:cNvSpPr>
          <p:nvPr>
            <p:ph type="subTitle" idx="4294967295"/>
          </p:nvPr>
        </p:nvSpPr>
        <p:spPr>
          <a:xfrm>
            <a:off x="2667000" y="2133600"/>
            <a:ext cx="7010400" cy="4419600"/>
          </a:xfrm>
        </p:spPr>
        <p:txBody>
          <a:bodyPr/>
          <a:lstStyle/>
          <a:p>
            <a:pPr marL="0" indent="0">
              <a:lnSpc>
                <a:spcPct val="80000"/>
              </a:lnSpc>
              <a:buNone/>
            </a:pPr>
            <a:r>
              <a:rPr lang="en-US" altLang="en-US" b="1" dirty="0">
                <a:solidFill>
                  <a:srgbClr val="FF0000"/>
                </a:solidFill>
                <a:latin typeface="Arial Rounded MT Bold" panose="020F0704030504030204" pitchFamily="34" charset="0"/>
              </a:rPr>
              <a:t>Almost every food, with the exception of egg whites and soda crackers, has a pH value of less than 7. </a:t>
            </a:r>
          </a:p>
          <a:p>
            <a:pPr marL="0" indent="0">
              <a:lnSpc>
                <a:spcPct val="80000"/>
              </a:lnSpc>
              <a:buNone/>
            </a:pPr>
            <a:endParaRPr lang="en-US" altLang="en-US" b="1" dirty="0">
              <a:latin typeface="Arial Rounded MT Bold" panose="020F0704030504030204" pitchFamily="34" charset="0"/>
            </a:endParaRPr>
          </a:p>
          <a:p>
            <a:pPr marL="0" indent="0">
              <a:lnSpc>
                <a:spcPct val="80000"/>
              </a:lnSpc>
              <a:buNone/>
            </a:pPr>
            <a:endParaRPr lang="en-US" altLang="en-US" b="1" dirty="0">
              <a:solidFill>
                <a:srgbClr val="002060"/>
              </a:solidFill>
              <a:latin typeface="Arial Rounded MT Bold" panose="020F0704030504030204" pitchFamily="34" charset="0"/>
            </a:endParaRPr>
          </a:p>
          <a:p>
            <a:pPr marL="0" indent="0">
              <a:lnSpc>
                <a:spcPct val="80000"/>
              </a:lnSpc>
              <a:buNone/>
            </a:pPr>
            <a:r>
              <a:rPr lang="en-US" altLang="en-US" b="1" dirty="0">
                <a:solidFill>
                  <a:srgbClr val="002060"/>
                </a:solidFill>
                <a:latin typeface="Arial Rounded MT Bold" panose="020F0704030504030204" pitchFamily="34" charset="0"/>
              </a:rPr>
              <a:t>Foods can be broadly categorized on the basis of their pH as high acid, acid, medium acid or low acid.</a:t>
            </a:r>
          </a:p>
          <a:p>
            <a:pPr marL="0" indent="0">
              <a:lnSpc>
                <a:spcPct val="80000"/>
              </a:lnSpc>
              <a:buNone/>
            </a:pPr>
            <a:endParaRPr lang="en-US" altLang="en-US" b="1" dirty="0">
              <a:latin typeface="Arial Rounded MT Bold" panose="020F0704030504030204" pitchFamily="34" charset="0"/>
            </a:endParaRPr>
          </a:p>
          <a:p>
            <a:pPr marL="0" indent="0">
              <a:lnSpc>
                <a:spcPct val="80000"/>
              </a:lnSpc>
              <a:buNone/>
            </a:pPr>
            <a:r>
              <a:rPr lang="en-US" altLang="en-US" b="1" dirty="0">
                <a:latin typeface="Arial Rounded MT Bold" panose="020F0704030504030204" pitchFamily="34" charset="0"/>
              </a:rPr>
              <a:t> </a:t>
            </a:r>
          </a:p>
        </p:txBody>
      </p:sp>
      <p:sp>
        <p:nvSpPr>
          <p:cNvPr id="14340" name="Slide Number Placeholder 3">
            <a:extLst>
              <a:ext uri="{FF2B5EF4-FFF2-40B4-BE49-F238E27FC236}">
                <a16:creationId xmlns:a16="http://schemas.microsoft.com/office/drawing/2014/main" id="{DFB7D613-0534-1EAD-2E8E-700BCE124504}"/>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1C1C74C-13DC-4742-A1C9-B982FD3D5324}" type="slidenum">
              <a:rPr lang="en-US" altLang="en-US"/>
              <a:pPr/>
              <a:t>6</a:t>
            </a:fld>
            <a:endParaRPr lang="en-US" altLang="en-US"/>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a:extLst>
              <a:ext uri="{FF2B5EF4-FFF2-40B4-BE49-F238E27FC236}">
                <a16:creationId xmlns:a16="http://schemas.microsoft.com/office/drawing/2014/main" id="{743D5A3A-41A4-637C-4DE0-976BA22FB655}"/>
              </a:ext>
            </a:extLst>
          </p:cNvPr>
          <p:cNvSpPr>
            <a:spLocks noGrp="1" noChangeArrowheads="1"/>
          </p:cNvSpPr>
          <p:nvPr>
            <p:ph idx="1"/>
          </p:nvPr>
        </p:nvSpPr>
        <p:spPr>
          <a:xfrm>
            <a:off x="2438400" y="685800"/>
            <a:ext cx="7162800" cy="6172200"/>
          </a:xfrm>
        </p:spPr>
        <p:txBody>
          <a:bodyPr/>
          <a:lstStyle/>
          <a:p>
            <a:pPr algn="ctr">
              <a:lnSpc>
                <a:spcPct val="80000"/>
              </a:lnSpc>
              <a:buFontTx/>
              <a:buNone/>
            </a:pPr>
            <a:r>
              <a:rPr lang="en-US" altLang="en-US" b="1">
                <a:solidFill>
                  <a:srgbClr val="002060"/>
                </a:solidFill>
                <a:latin typeface="Arial Rounded MT Bold" panose="020F0704030504030204" pitchFamily="34" charset="0"/>
              </a:rPr>
              <a:t>Examples of each category include:</a:t>
            </a:r>
          </a:p>
          <a:p>
            <a:pPr>
              <a:lnSpc>
                <a:spcPct val="80000"/>
              </a:lnSpc>
              <a:buFontTx/>
              <a:buNone/>
            </a:pPr>
            <a:endParaRPr lang="en-US" altLang="en-US" b="1"/>
          </a:p>
          <a:p>
            <a:pPr>
              <a:lnSpc>
                <a:spcPct val="80000"/>
              </a:lnSpc>
            </a:pPr>
            <a:r>
              <a:rPr lang="en-US" altLang="en-US" b="1">
                <a:solidFill>
                  <a:srgbClr val="00B050"/>
                </a:solidFill>
                <a:latin typeface="Arial Rounded MT Bold" panose="020F0704030504030204" pitchFamily="34" charset="0"/>
              </a:rPr>
              <a:t>high acid (3.7) : apples, lemons, raspberries</a:t>
            </a:r>
          </a:p>
          <a:p>
            <a:pPr>
              <a:lnSpc>
                <a:spcPct val="80000"/>
              </a:lnSpc>
            </a:pPr>
            <a:endParaRPr lang="en-US" altLang="en-US" b="1">
              <a:latin typeface="Arial Rounded MT Bold" panose="020F0704030504030204" pitchFamily="34" charset="0"/>
            </a:endParaRPr>
          </a:p>
          <a:p>
            <a:pPr>
              <a:lnSpc>
                <a:spcPct val="80000"/>
              </a:lnSpc>
            </a:pPr>
            <a:r>
              <a:rPr lang="en-US" altLang="en-US" b="1">
                <a:solidFill>
                  <a:srgbClr val="FF0000"/>
                </a:solidFill>
                <a:latin typeface="Arial Rounded MT Bold" panose="020F0704030504030204" pitchFamily="34" charset="0"/>
              </a:rPr>
              <a:t>acid (3.7 to 4.6) : oranges, olives, tomatoes (some)</a:t>
            </a:r>
          </a:p>
          <a:p>
            <a:pPr>
              <a:lnSpc>
                <a:spcPct val="80000"/>
              </a:lnSpc>
            </a:pPr>
            <a:endParaRPr lang="en-US" altLang="en-US" b="1">
              <a:latin typeface="Arial Rounded MT Bold" panose="020F0704030504030204" pitchFamily="34" charset="0"/>
            </a:endParaRPr>
          </a:p>
          <a:p>
            <a:pPr>
              <a:lnSpc>
                <a:spcPct val="80000"/>
              </a:lnSpc>
            </a:pPr>
            <a:r>
              <a:rPr lang="en-US" altLang="en-US" b="1">
                <a:solidFill>
                  <a:srgbClr val="00B050"/>
                </a:solidFill>
                <a:latin typeface="Arial Rounded MT Bold" panose="020F0704030504030204" pitchFamily="34" charset="0"/>
              </a:rPr>
              <a:t>medium acid (4.6 to 5.3) : bread, cheese, carrots</a:t>
            </a:r>
          </a:p>
          <a:p>
            <a:pPr>
              <a:lnSpc>
                <a:spcPct val="80000"/>
              </a:lnSpc>
            </a:pPr>
            <a:endParaRPr lang="en-US" altLang="en-US" b="1">
              <a:solidFill>
                <a:srgbClr val="FF0000"/>
              </a:solidFill>
              <a:latin typeface="Arial Rounded MT Bold" panose="020F0704030504030204" pitchFamily="34" charset="0"/>
            </a:endParaRPr>
          </a:p>
          <a:p>
            <a:pPr>
              <a:lnSpc>
                <a:spcPct val="80000"/>
              </a:lnSpc>
            </a:pPr>
            <a:r>
              <a:rPr lang="en-US" altLang="en-US" b="1">
                <a:solidFill>
                  <a:srgbClr val="FF0000"/>
                </a:solidFill>
                <a:latin typeface="Arial Rounded MT Bold" panose="020F0704030504030204" pitchFamily="34" charset="0"/>
              </a:rPr>
              <a:t>low acid (over 5.3) : meat, fish, most vegetables</a:t>
            </a:r>
          </a:p>
          <a:p>
            <a:pPr>
              <a:lnSpc>
                <a:spcPct val="80000"/>
              </a:lnSpc>
            </a:pPr>
            <a:endParaRPr lang="en-US" altLang="en-US" b="1">
              <a:latin typeface="Arial Rounded MT Bold" panose="020F0704030504030204" pitchFamily="34" charset="0"/>
            </a:endParaRPr>
          </a:p>
        </p:txBody>
      </p:sp>
      <p:sp>
        <p:nvSpPr>
          <p:cNvPr id="15363" name="Slide Number Placeholder 5">
            <a:extLst>
              <a:ext uri="{FF2B5EF4-FFF2-40B4-BE49-F238E27FC236}">
                <a16:creationId xmlns:a16="http://schemas.microsoft.com/office/drawing/2014/main" id="{5C060FC4-DEEF-C646-F1CD-1531D008E7E8}"/>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E7FB3D4-592D-4205-B3B5-9E0430803B44}" type="slidenum">
              <a:rPr lang="en-US" altLang="en-US"/>
              <a:pPr/>
              <a:t>7</a:t>
            </a:fld>
            <a:endParaRPr lang="en-US" altLang="en-US"/>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FC5B8A26-6A63-F049-3A94-97121631269C}"/>
              </a:ext>
            </a:extLst>
          </p:cNvPr>
          <p:cNvSpPr>
            <a:spLocks noGrp="1" noChangeArrowheads="1"/>
          </p:cNvSpPr>
          <p:nvPr>
            <p:ph type="title"/>
          </p:nvPr>
        </p:nvSpPr>
        <p:spPr>
          <a:xfrm>
            <a:off x="2590800" y="3657600"/>
            <a:ext cx="7086600" cy="1575582"/>
          </a:xfrm>
        </p:spPr>
        <p:txBody>
          <a:bodyPr>
            <a:normAutofit fontScale="90000"/>
          </a:bodyPr>
          <a:lstStyle/>
          <a:p>
            <a:pPr algn="l"/>
            <a:r>
              <a:rPr lang="en-US" altLang="en-US" sz="2800" b="1" dirty="0">
                <a:solidFill>
                  <a:srgbClr val="00B050"/>
                </a:solidFill>
                <a:latin typeface="Arial Rounded MT Bold" panose="020F0704030504030204" pitchFamily="34" charset="0"/>
              </a:rPr>
              <a:t>Most micro-organisms grow best in the pH range of </a:t>
            </a:r>
            <a:r>
              <a:rPr lang="en-US" altLang="en-US" sz="2800" b="1" dirty="0">
                <a:solidFill>
                  <a:srgbClr val="00B050"/>
                </a:solidFill>
                <a:highlight>
                  <a:srgbClr val="FFFF00"/>
                </a:highlight>
                <a:latin typeface="Arial Rounded MT Bold" panose="020F0704030504030204" pitchFamily="34" charset="0"/>
              </a:rPr>
              <a:t>6.5 to 7.5. </a:t>
            </a:r>
            <a:br>
              <a:rPr lang="en-US" altLang="en-US" sz="2800" b="1" dirty="0">
                <a:solidFill>
                  <a:srgbClr val="00B050"/>
                </a:solidFill>
                <a:highlight>
                  <a:srgbClr val="FFFF00"/>
                </a:highlight>
                <a:latin typeface="Arial Rounded MT Bold" panose="020F0704030504030204" pitchFamily="34" charset="0"/>
              </a:rPr>
            </a:br>
            <a:br>
              <a:rPr lang="en-US" altLang="en-US" sz="2800" b="1" dirty="0">
                <a:solidFill>
                  <a:srgbClr val="00B050"/>
                </a:solidFill>
                <a:latin typeface="Arial Rounded MT Bold" panose="020F0704030504030204" pitchFamily="34" charset="0"/>
              </a:rPr>
            </a:br>
            <a:r>
              <a:rPr lang="en-US" altLang="en-US" sz="2800" b="1" dirty="0">
                <a:solidFill>
                  <a:srgbClr val="FF0000"/>
                </a:solidFill>
                <a:latin typeface="Arial Rounded MT Bold" panose="020F0704030504030204" pitchFamily="34" charset="0"/>
              </a:rPr>
              <a:t>Yeasts and </a:t>
            </a:r>
            <a:r>
              <a:rPr lang="en-US" altLang="en-US" sz="2800" b="1" dirty="0" err="1">
                <a:solidFill>
                  <a:srgbClr val="FF0000"/>
                </a:solidFill>
                <a:latin typeface="Arial Rounded MT Bold" panose="020F0704030504030204" pitchFamily="34" charset="0"/>
              </a:rPr>
              <a:t>moulds</a:t>
            </a:r>
            <a:r>
              <a:rPr lang="en-US" altLang="en-US" sz="2800" b="1" dirty="0">
                <a:solidFill>
                  <a:srgbClr val="FF0000"/>
                </a:solidFill>
                <a:latin typeface="Arial Rounded MT Bold" panose="020F0704030504030204" pitchFamily="34" charset="0"/>
              </a:rPr>
              <a:t> are capable of growing over a much broader pH range than bacteria. </a:t>
            </a:r>
            <a:br>
              <a:rPr lang="en-US" altLang="en-US" sz="2800" b="1" dirty="0">
                <a:solidFill>
                  <a:srgbClr val="00B050"/>
                </a:solidFill>
                <a:latin typeface="Arial Rounded MT Bold" panose="020F0704030504030204" pitchFamily="34" charset="0"/>
              </a:rPr>
            </a:br>
            <a:br>
              <a:rPr lang="en-US" altLang="en-US" sz="2800" b="1" dirty="0">
                <a:solidFill>
                  <a:srgbClr val="00B050"/>
                </a:solidFill>
                <a:latin typeface="Arial Rounded MT Bold" panose="020F0704030504030204" pitchFamily="34" charset="0"/>
              </a:rPr>
            </a:br>
            <a:r>
              <a:rPr lang="en-US" altLang="en-US" sz="2800" b="1" dirty="0">
                <a:solidFill>
                  <a:srgbClr val="00B050"/>
                </a:solidFill>
                <a:latin typeface="Arial Rounded MT Bold" panose="020F0704030504030204" pitchFamily="34" charset="0"/>
              </a:rPr>
              <a:t>Few pathogens will grow below pH 4.0. (Lactic acid bacteria)</a:t>
            </a:r>
            <a:br>
              <a:rPr lang="en-US" altLang="en-US" sz="2800" b="1" dirty="0">
                <a:solidFill>
                  <a:srgbClr val="00B050"/>
                </a:solidFill>
                <a:latin typeface="Arial Rounded MT Bold" panose="020F0704030504030204" pitchFamily="34" charset="0"/>
              </a:rPr>
            </a:br>
            <a:br>
              <a:rPr lang="en-US" altLang="en-US" sz="2800" b="1" dirty="0">
                <a:solidFill>
                  <a:srgbClr val="00B050"/>
                </a:solidFill>
                <a:latin typeface="Arial Rounded MT Bold" panose="020F0704030504030204" pitchFamily="34" charset="0"/>
              </a:rPr>
            </a:br>
            <a:br>
              <a:rPr lang="en-US" altLang="en-US" sz="2800" b="1" dirty="0">
                <a:solidFill>
                  <a:srgbClr val="00B050"/>
                </a:solidFill>
                <a:latin typeface="Arial Rounded MT Bold" panose="020F0704030504030204" pitchFamily="34" charset="0"/>
              </a:rPr>
            </a:br>
            <a:br>
              <a:rPr lang="en-US" altLang="en-US" b="1" dirty="0"/>
            </a:br>
            <a:endParaRPr lang="en-US" altLang="en-US" b="1" dirty="0"/>
          </a:p>
        </p:txBody>
      </p:sp>
      <p:sp>
        <p:nvSpPr>
          <p:cNvPr id="16387" name="Slide Number Placeholder 4">
            <a:extLst>
              <a:ext uri="{FF2B5EF4-FFF2-40B4-BE49-F238E27FC236}">
                <a16:creationId xmlns:a16="http://schemas.microsoft.com/office/drawing/2014/main" id="{EFC559B6-C184-F5CB-F7EE-7FBEE6ECA459}"/>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506924A-4E50-47E8-A931-5C872A3FBE61}" type="slidenum">
              <a:rPr lang="en-US" altLang="en-US"/>
              <a:pPr/>
              <a:t>8</a:t>
            </a:fld>
            <a:endParaRPr lang="en-US" altLang="en-US"/>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a:extLst>
              <a:ext uri="{FF2B5EF4-FFF2-40B4-BE49-F238E27FC236}">
                <a16:creationId xmlns:a16="http://schemas.microsoft.com/office/drawing/2014/main" id="{A544166E-7D58-8A38-4C65-A93CD96017C7}"/>
              </a:ext>
            </a:extLst>
          </p:cNvPr>
          <p:cNvSpPr>
            <a:spLocks noGrp="1" noChangeArrowheads="1"/>
          </p:cNvSpPr>
          <p:nvPr>
            <p:ph type="title"/>
          </p:nvPr>
        </p:nvSpPr>
        <p:spPr>
          <a:xfrm>
            <a:off x="1981200" y="457201"/>
            <a:ext cx="8229600" cy="563563"/>
          </a:xfrm>
        </p:spPr>
        <p:txBody>
          <a:bodyPr/>
          <a:lstStyle/>
          <a:p>
            <a:r>
              <a:rPr lang="en-US" altLang="en-US" sz="2800" b="1">
                <a:solidFill>
                  <a:srgbClr val="FF0000"/>
                </a:solidFill>
                <a:latin typeface="Arial Rounded MT Bold" panose="020F0704030504030204" pitchFamily="34" charset="0"/>
              </a:rPr>
              <a:t>Physical Processing Methods</a:t>
            </a:r>
          </a:p>
        </p:txBody>
      </p:sp>
      <p:sp>
        <p:nvSpPr>
          <p:cNvPr id="17411" name="Rectangle 7">
            <a:extLst>
              <a:ext uri="{FF2B5EF4-FFF2-40B4-BE49-F238E27FC236}">
                <a16:creationId xmlns:a16="http://schemas.microsoft.com/office/drawing/2014/main" id="{965D3FDD-CBE6-7952-66AC-368AE23CEB98}"/>
              </a:ext>
            </a:extLst>
          </p:cNvPr>
          <p:cNvSpPr>
            <a:spLocks noGrp="1" noChangeArrowheads="1"/>
          </p:cNvSpPr>
          <p:nvPr>
            <p:ph sz="half" idx="1"/>
          </p:nvPr>
        </p:nvSpPr>
        <p:spPr>
          <a:xfrm>
            <a:off x="2895600" y="1143001"/>
            <a:ext cx="2743200" cy="4525963"/>
          </a:xfrm>
        </p:spPr>
        <p:txBody>
          <a:bodyPr>
            <a:normAutofit fontScale="85000" lnSpcReduction="20000"/>
          </a:bodyPr>
          <a:lstStyle/>
          <a:p>
            <a:pPr>
              <a:lnSpc>
                <a:spcPct val="90000"/>
              </a:lnSpc>
            </a:pPr>
            <a:r>
              <a:rPr lang="en-US" altLang="en-US" sz="2400" b="1" dirty="0">
                <a:solidFill>
                  <a:srgbClr val="FF0000"/>
                </a:solidFill>
                <a:latin typeface="Arial Rounded MT Bold" panose="020F0704030504030204" pitchFamily="34" charset="0"/>
              </a:rPr>
              <a:t>Sterilization </a:t>
            </a:r>
          </a:p>
          <a:p>
            <a:pPr>
              <a:lnSpc>
                <a:spcPct val="90000"/>
              </a:lnSpc>
            </a:pPr>
            <a:endParaRPr lang="en-US" altLang="en-US" sz="2400" b="1" dirty="0">
              <a:solidFill>
                <a:srgbClr val="FF0000"/>
              </a:solidFill>
              <a:latin typeface="Arial Rounded MT Bold" panose="020F0704030504030204" pitchFamily="34" charset="0"/>
            </a:endParaRPr>
          </a:p>
          <a:p>
            <a:pPr>
              <a:lnSpc>
                <a:spcPct val="90000"/>
              </a:lnSpc>
            </a:pPr>
            <a:r>
              <a:rPr lang="en-US" altLang="en-US" sz="2400" b="1" dirty="0">
                <a:solidFill>
                  <a:srgbClr val="00B050"/>
                </a:solidFill>
                <a:latin typeface="Arial Rounded MT Bold" panose="020F0704030504030204" pitchFamily="34" charset="0"/>
              </a:rPr>
              <a:t>Pasteurization</a:t>
            </a:r>
          </a:p>
          <a:p>
            <a:pPr>
              <a:lnSpc>
                <a:spcPct val="90000"/>
              </a:lnSpc>
            </a:pPr>
            <a:endParaRPr lang="en-US" altLang="en-US" sz="2400" b="1" dirty="0">
              <a:latin typeface="Arial Rounded MT Bold" panose="020F0704030504030204" pitchFamily="34" charset="0"/>
            </a:endParaRPr>
          </a:p>
          <a:p>
            <a:pPr>
              <a:lnSpc>
                <a:spcPct val="90000"/>
              </a:lnSpc>
            </a:pPr>
            <a:r>
              <a:rPr lang="en-US" altLang="en-US" sz="2400" b="1" dirty="0">
                <a:solidFill>
                  <a:srgbClr val="FF0000"/>
                </a:solidFill>
                <a:latin typeface="Arial Rounded MT Bold" panose="020F0704030504030204" pitchFamily="34" charset="0"/>
              </a:rPr>
              <a:t>Blanching</a:t>
            </a:r>
          </a:p>
          <a:p>
            <a:pPr>
              <a:lnSpc>
                <a:spcPct val="90000"/>
              </a:lnSpc>
            </a:pPr>
            <a:endParaRPr lang="en-US" altLang="en-US" sz="2400" b="1" dirty="0">
              <a:latin typeface="Arial Rounded MT Bold" panose="020F0704030504030204" pitchFamily="34" charset="0"/>
            </a:endParaRPr>
          </a:p>
          <a:p>
            <a:pPr>
              <a:lnSpc>
                <a:spcPct val="90000"/>
              </a:lnSpc>
            </a:pPr>
            <a:r>
              <a:rPr lang="en-US" altLang="en-US" sz="2400" b="1" dirty="0">
                <a:solidFill>
                  <a:srgbClr val="00B050"/>
                </a:solidFill>
                <a:latin typeface="Arial Rounded MT Bold" panose="020F0704030504030204" pitchFamily="34" charset="0"/>
              </a:rPr>
              <a:t>Microwaving</a:t>
            </a:r>
          </a:p>
          <a:p>
            <a:pPr>
              <a:lnSpc>
                <a:spcPct val="90000"/>
              </a:lnSpc>
            </a:pPr>
            <a:endParaRPr lang="en-US" altLang="en-US" sz="2400" b="1" dirty="0">
              <a:latin typeface="Arial Rounded MT Bold" panose="020F0704030504030204" pitchFamily="34" charset="0"/>
            </a:endParaRPr>
          </a:p>
          <a:p>
            <a:pPr>
              <a:lnSpc>
                <a:spcPct val="90000"/>
              </a:lnSpc>
            </a:pPr>
            <a:r>
              <a:rPr lang="en-US" altLang="en-US" sz="2400" b="1" dirty="0">
                <a:solidFill>
                  <a:srgbClr val="FF0000"/>
                </a:solidFill>
                <a:latin typeface="Arial Rounded MT Bold" panose="020F0704030504030204" pitchFamily="34" charset="0"/>
              </a:rPr>
              <a:t>Frying</a:t>
            </a:r>
          </a:p>
          <a:p>
            <a:pPr>
              <a:lnSpc>
                <a:spcPct val="90000"/>
              </a:lnSpc>
            </a:pPr>
            <a:endParaRPr lang="en-US" altLang="en-US" sz="2400" b="1" dirty="0">
              <a:solidFill>
                <a:srgbClr val="00B050"/>
              </a:solidFill>
              <a:latin typeface="Arial Rounded MT Bold" panose="020F0704030504030204" pitchFamily="34" charset="0"/>
            </a:endParaRPr>
          </a:p>
          <a:p>
            <a:pPr>
              <a:lnSpc>
                <a:spcPct val="90000"/>
              </a:lnSpc>
            </a:pPr>
            <a:r>
              <a:rPr lang="en-US" altLang="en-US" sz="2400" b="1" dirty="0">
                <a:solidFill>
                  <a:srgbClr val="00B050"/>
                </a:solidFill>
                <a:latin typeface="Arial Rounded MT Bold" panose="020F0704030504030204" pitchFamily="34" charset="0"/>
              </a:rPr>
              <a:t>Refrigeration</a:t>
            </a:r>
          </a:p>
          <a:p>
            <a:pPr>
              <a:lnSpc>
                <a:spcPct val="90000"/>
              </a:lnSpc>
            </a:pPr>
            <a:endParaRPr lang="en-US" altLang="en-US" sz="2400" b="1" dirty="0">
              <a:latin typeface="Arial Rounded MT Bold" panose="020F0704030504030204" pitchFamily="34" charset="0"/>
            </a:endParaRPr>
          </a:p>
        </p:txBody>
      </p:sp>
      <p:sp>
        <p:nvSpPr>
          <p:cNvPr id="17412" name="Rectangle 8">
            <a:extLst>
              <a:ext uri="{FF2B5EF4-FFF2-40B4-BE49-F238E27FC236}">
                <a16:creationId xmlns:a16="http://schemas.microsoft.com/office/drawing/2014/main" id="{1E651411-4AA2-7DDC-04D8-C072FD85B3B3}"/>
              </a:ext>
            </a:extLst>
          </p:cNvPr>
          <p:cNvSpPr>
            <a:spLocks noGrp="1" noChangeArrowheads="1"/>
          </p:cNvSpPr>
          <p:nvPr>
            <p:ph sz="half" idx="2"/>
          </p:nvPr>
        </p:nvSpPr>
        <p:spPr>
          <a:xfrm>
            <a:off x="6248400" y="1219201"/>
            <a:ext cx="3505200" cy="4525963"/>
          </a:xfrm>
        </p:spPr>
        <p:txBody>
          <a:bodyPr>
            <a:normAutofit fontScale="85000" lnSpcReduction="20000"/>
          </a:bodyPr>
          <a:lstStyle/>
          <a:p>
            <a:pPr>
              <a:lnSpc>
                <a:spcPct val="90000"/>
              </a:lnSpc>
            </a:pPr>
            <a:r>
              <a:rPr lang="en-US" altLang="en-US" sz="2400" b="1" dirty="0">
                <a:solidFill>
                  <a:srgbClr val="00B050"/>
                </a:solidFill>
                <a:latin typeface="Arial Rounded MT Bold" panose="020F0704030504030204" pitchFamily="34" charset="0"/>
              </a:rPr>
              <a:t>Freezing</a:t>
            </a:r>
          </a:p>
          <a:p>
            <a:pPr>
              <a:lnSpc>
                <a:spcPct val="90000"/>
              </a:lnSpc>
            </a:pPr>
            <a:endParaRPr lang="en-US" altLang="en-US" sz="2400" b="1" dirty="0">
              <a:latin typeface="Arial Rounded MT Bold" panose="020F0704030504030204" pitchFamily="34" charset="0"/>
            </a:endParaRPr>
          </a:p>
          <a:p>
            <a:pPr>
              <a:lnSpc>
                <a:spcPct val="90000"/>
              </a:lnSpc>
            </a:pPr>
            <a:r>
              <a:rPr lang="en-US" altLang="en-US" sz="2400" b="1" dirty="0">
                <a:solidFill>
                  <a:srgbClr val="FF0000"/>
                </a:solidFill>
                <a:latin typeface="Arial Rounded MT Bold" panose="020F0704030504030204" pitchFamily="34" charset="0"/>
              </a:rPr>
              <a:t>Irradiation </a:t>
            </a:r>
          </a:p>
          <a:p>
            <a:pPr>
              <a:lnSpc>
                <a:spcPct val="90000"/>
              </a:lnSpc>
            </a:pPr>
            <a:endParaRPr lang="en-US" altLang="en-US" sz="2400" b="1" dirty="0">
              <a:latin typeface="Arial Rounded MT Bold" panose="020F0704030504030204" pitchFamily="34" charset="0"/>
            </a:endParaRPr>
          </a:p>
          <a:p>
            <a:pPr>
              <a:lnSpc>
                <a:spcPct val="90000"/>
              </a:lnSpc>
            </a:pPr>
            <a:r>
              <a:rPr lang="en-US" altLang="en-US" sz="2400" b="1" dirty="0">
                <a:solidFill>
                  <a:srgbClr val="00B050"/>
                </a:solidFill>
                <a:latin typeface="Arial Rounded MT Bold" panose="020F0704030504030204" pitchFamily="34" charset="0"/>
              </a:rPr>
              <a:t>Evaporation</a:t>
            </a:r>
          </a:p>
          <a:p>
            <a:pPr>
              <a:lnSpc>
                <a:spcPct val="90000"/>
              </a:lnSpc>
            </a:pPr>
            <a:endParaRPr lang="en-US" altLang="en-US" sz="2400" b="1" dirty="0">
              <a:solidFill>
                <a:srgbClr val="FF0000"/>
              </a:solidFill>
              <a:latin typeface="Arial Rounded MT Bold" panose="020F0704030504030204" pitchFamily="34" charset="0"/>
            </a:endParaRPr>
          </a:p>
          <a:p>
            <a:pPr>
              <a:lnSpc>
                <a:spcPct val="90000"/>
              </a:lnSpc>
            </a:pPr>
            <a:r>
              <a:rPr lang="en-US" altLang="en-US" sz="2400" b="1" dirty="0">
                <a:solidFill>
                  <a:srgbClr val="FF0000"/>
                </a:solidFill>
                <a:latin typeface="Arial Rounded MT Bold" panose="020F0704030504030204" pitchFamily="34" charset="0"/>
              </a:rPr>
              <a:t>Dehydration</a:t>
            </a:r>
          </a:p>
          <a:p>
            <a:pPr>
              <a:lnSpc>
                <a:spcPct val="90000"/>
              </a:lnSpc>
            </a:pPr>
            <a:endParaRPr lang="en-US" altLang="en-US" sz="2400" b="1" dirty="0">
              <a:latin typeface="Arial Rounded MT Bold" panose="020F0704030504030204" pitchFamily="34" charset="0"/>
            </a:endParaRPr>
          </a:p>
          <a:p>
            <a:pPr>
              <a:lnSpc>
                <a:spcPct val="90000"/>
              </a:lnSpc>
            </a:pPr>
            <a:r>
              <a:rPr lang="en-US" altLang="en-US" sz="2400" b="1" dirty="0">
                <a:solidFill>
                  <a:srgbClr val="00B050"/>
                </a:solidFill>
                <a:latin typeface="Arial Rounded MT Bold" panose="020F0704030504030204" pitchFamily="34" charset="0"/>
              </a:rPr>
              <a:t>Emulsions</a:t>
            </a:r>
          </a:p>
          <a:p>
            <a:pPr>
              <a:lnSpc>
                <a:spcPct val="90000"/>
              </a:lnSpc>
            </a:pPr>
            <a:endParaRPr lang="en-US" altLang="en-US" sz="2400" b="1" dirty="0">
              <a:latin typeface="Arial Rounded MT Bold" panose="020F0704030504030204" pitchFamily="34" charset="0"/>
            </a:endParaRPr>
          </a:p>
          <a:p>
            <a:pPr>
              <a:lnSpc>
                <a:spcPct val="90000"/>
              </a:lnSpc>
            </a:pPr>
            <a:r>
              <a:rPr lang="en-US" altLang="en-US" sz="2400" b="1" dirty="0">
                <a:solidFill>
                  <a:srgbClr val="FF0000"/>
                </a:solidFill>
                <a:latin typeface="Arial Rounded MT Bold" panose="020F0704030504030204" pitchFamily="34" charset="0"/>
              </a:rPr>
              <a:t>Homogenization</a:t>
            </a:r>
          </a:p>
          <a:p>
            <a:pPr>
              <a:lnSpc>
                <a:spcPct val="90000"/>
              </a:lnSpc>
            </a:pPr>
            <a:endParaRPr lang="en-US" altLang="en-US" sz="2400" b="1" dirty="0">
              <a:latin typeface="Arial Rounded MT Bold" panose="020F0704030504030204" pitchFamily="34" charset="0"/>
            </a:endParaRPr>
          </a:p>
          <a:p>
            <a:pPr>
              <a:lnSpc>
                <a:spcPct val="90000"/>
              </a:lnSpc>
            </a:pPr>
            <a:r>
              <a:rPr lang="en-US" altLang="en-US" sz="2400" b="1" dirty="0">
                <a:solidFill>
                  <a:srgbClr val="00B050"/>
                </a:solidFill>
                <a:latin typeface="Arial Rounded MT Bold" panose="020F0704030504030204" pitchFamily="34" charset="0"/>
              </a:rPr>
              <a:t>Extrusion</a:t>
            </a:r>
          </a:p>
          <a:p>
            <a:pPr>
              <a:lnSpc>
                <a:spcPct val="90000"/>
              </a:lnSpc>
            </a:pPr>
            <a:endParaRPr lang="en-US" altLang="en-US" sz="2000" b="1" dirty="0"/>
          </a:p>
        </p:txBody>
      </p:sp>
      <p:sp>
        <p:nvSpPr>
          <p:cNvPr id="17413" name="Slide Number Placeholder 6">
            <a:extLst>
              <a:ext uri="{FF2B5EF4-FFF2-40B4-BE49-F238E27FC236}">
                <a16:creationId xmlns:a16="http://schemas.microsoft.com/office/drawing/2014/main" id="{BB793002-FCE8-CEBF-BB57-F3D7E69DB5A7}"/>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D7F6EB0-C65E-456A-9A02-5C2547253C0E}" type="slidenum">
              <a:rPr lang="en-US" altLang="en-US"/>
              <a:pPr/>
              <a:t>9</a:t>
            </a:fld>
            <a:endParaRPr lang="en-US" altLang="en-US"/>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a:extLst>
              <a:ext uri="{FF2B5EF4-FFF2-40B4-BE49-F238E27FC236}">
                <a16:creationId xmlns:a16="http://schemas.microsoft.com/office/drawing/2014/main" id="{86C83518-4C81-2F1D-A527-F41EB9A088D7}"/>
              </a:ext>
            </a:extLst>
          </p:cNvPr>
          <p:cNvSpPr>
            <a:spLocks noGrp="1" noChangeArrowheads="1"/>
          </p:cNvSpPr>
          <p:nvPr>
            <p:ph type="title"/>
          </p:nvPr>
        </p:nvSpPr>
        <p:spPr>
          <a:xfrm>
            <a:off x="2895600" y="381000"/>
            <a:ext cx="6096000" cy="762000"/>
          </a:xfrm>
        </p:spPr>
        <p:txBody>
          <a:bodyPr>
            <a:normAutofit/>
          </a:bodyPr>
          <a:lstStyle/>
          <a:p>
            <a:r>
              <a:rPr lang="en-US" altLang="en-US" sz="3200" b="1" dirty="0">
                <a:solidFill>
                  <a:srgbClr val="FF0000"/>
                </a:solidFill>
                <a:latin typeface="Arial Rounded MT Bold" panose="020F0704030504030204" pitchFamily="34" charset="0"/>
              </a:rPr>
              <a:t>Sterilization</a:t>
            </a:r>
          </a:p>
        </p:txBody>
      </p:sp>
      <p:sp>
        <p:nvSpPr>
          <p:cNvPr id="18435" name="Slide Number Placeholder 5">
            <a:extLst>
              <a:ext uri="{FF2B5EF4-FFF2-40B4-BE49-F238E27FC236}">
                <a16:creationId xmlns:a16="http://schemas.microsoft.com/office/drawing/2014/main" id="{92AC9C65-5C2F-D79F-F900-F980BB409511}"/>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2B9613F-BF6A-4321-83DE-6F7C0D400CC8}" type="slidenum">
              <a:rPr lang="en-US" altLang="en-US"/>
              <a:pPr/>
              <a:t>10</a:t>
            </a:fld>
            <a:endParaRPr lang="en-US" altLang="en-US"/>
          </a:p>
        </p:txBody>
      </p:sp>
      <p:sp>
        <p:nvSpPr>
          <p:cNvPr id="18436" name="Rectangle 5">
            <a:extLst>
              <a:ext uri="{FF2B5EF4-FFF2-40B4-BE49-F238E27FC236}">
                <a16:creationId xmlns:a16="http://schemas.microsoft.com/office/drawing/2014/main" id="{CE8364FB-B199-2981-C025-3AC2ACD06506}"/>
              </a:ext>
            </a:extLst>
          </p:cNvPr>
          <p:cNvSpPr>
            <a:spLocks noGrp="1" noChangeArrowheads="1"/>
          </p:cNvSpPr>
          <p:nvPr>
            <p:ph type="body" idx="4294967295"/>
          </p:nvPr>
        </p:nvSpPr>
        <p:spPr>
          <a:xfrm>
            <a:off x="2438400" y="1219200"/>
            <a:ext cx="7391400" cy="1500188"/>
          </a:xfrm>
        </p:spPr>
        <p:txBody>
          <a:bodyPr>
            <a:noAutofit/>
          </a:bodyPr>
          <a:lstStyle/>
          <a:p>
            <a:pPr algn="just">
              <a:lnSpc>
                <a:spcPct val="90000"/>
              </a:lnSpc>
            </a:pPr>
            <a:r>
              <a:rPr lang="en-US" altLang="en-US" sz="3200" dirty="0">
                <a:solidFill>
                  <a:srgbClr val="7030A0"/>
                </a:solidFill>
                <a:latin typeface="Arial Rounded MT Bold" panose="020F0704030504030204" pitchFamily="34" charset="0"/>
              </a:rPr>
              <a:t>Sterilization destroys all pathogenic and spoilage micro-organisms in foods and inactivates enzymes by heating. </a:t>
            </a:r>
          </a:p>
          <a:p>
            <a:pPr algn="just">
              <a:lnSpc>
                <a:spcPct val="90000"/>
              </a:lnSpc>
            </a:pPr>
            <a:endParaRPr lang="en-US" altLang="en-US" sz="3200" dirty="0">
              <a:latin typeface="Arial Rounded MT Bold" panose="020F0704030504030204" pitchFamily="34" charset="0"/>
            </a:endParaRPr>
          </a:p>
          <a:p>
            <a:pPr algn="just">
              <a:lnSpc>
                <a:spcPct val="90000"/>
              </a:lnSpc>
            </a:pPr>
            <a:r>
              <a:rPr lang="en-US" altLang="en-US" sz="3200" dirty="0">
                <a:solidFill>
                  <a:srgbClr val="00B0F0"/>
                </a:solidFill>
                <a:latin typeface="Arial Rounded MT Bold" panose="020F0704030504030204" pitchFamily="34" charset="0"/>
              </a:rPr>
              <a:t>All canned foods are sterilized in a retort (a large pressure cooker). </a:t>
            </a:r>
          </a:p>
          <a:p>
            <a:pPr algn="just">
              <a:lnSpc>
                <a:spcPct val="90000"/>
              </a:lnSpc>
            </a:pPr>
            <a:endParaRPr lang="en-US" altLang="en-US" sz="3200" dirty="0">
              <a:latin typeface="Arial Rounded MT Bold" panose="020F0704030504030204" pitchFamily="34" charset="0"/>
            </a:endParaRPr>
          </a:p>
          <a:p>
            <a:pPr algn="just">
              <a:lnSpc>
                <a:spcPct val="90000"/>
              </a:lnSpc>
            </a:pPr>
            <a:r>
              <a:rPr lang="en-US" altLang="en-US" sz="3200" dirty="0">
                <a:solidFill>
                  <a:srgbClr val="7030A0"/>
                </a:solidFill>
                <a:latin typeface="Arial Rounded MT Bold" panose="020F0704030504030204" pitchFamily="34" charset="0"/>
              </a:rPr>
              <a:t>This process enables food to have a shelf life of more than two years.</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a:extLst>
              <a:ext uri="{FF2B5EF4-FFF2-40B4-BE49-F238E27FC236}">
                <a16:creationId xmlns:a16="http://schemas.microsoft.com/office/drawing/2014/main" id="{56A232D4-F557-F087-6CEC-A87919F95AEB}"/>
              </a:ext>
            </a:extLst>
          </p:cNvPr>
          <p:cNvSpPr>
            <a:spLocks noGrp="1" noChangeArrowheads="1"/>
          </p:cNvSpPr>
          <p:nvPr>
            <p:ph type="title"/>
          </p:nvPr>
        </p:nvSpPr>
        <p:spPr>
          <a:xfrm>
            <a:off x="2590800" y="2667000"/>
            <a:ext cx="7010400" cy="1143000"/>
          </a:xfrm>
        </p:spPr>
        <p:txBody>
          <a:bodyPr>
            <a:noAutofit/>
          </a:bodyPr>
          <a:lstStyle/>
          <a:p>
            <a:pPr algn="just"/>
            <a:r>
              <a:rPr lang="en-US" altLang="en-US" sz="4000" dirty="0">
                <a:solidFill>
                  <a:srgbClr val="00B0F0"/>
                </a:solidFill>
                <a:latin typeface="Arial Rounded MT Bold" panose="020F0704030504030204" pitchFamily="34" charset="0"/>
              </a:rPr>
              <a:t>Foods that have a pH of more than 4.6, such as meat and most vegetables, must undergo severe heating conditions to destroy all pathogens. </a:t>
            </a:r>
            <a:br>
              <a:rPr lang="en-US" altLang="en-US" sz="4000" dirty="0">
                <a:solidFill>
                  <a:srgbClr val="00B0F0"/>
                </a:solidFill>
                <a:latin typeface="Arial Rounded MT Bold" panose="020F0704030504030204" pitchFamily="34" charset="0"/>
              </a:rPr>
            </a:br>
            <a:br>
              <a:rPr lang="en-US" altLang="en-US" sz="4000" dirty="0">
                <a:latin typeface="Arial Rounded MT Bold" panose="020F0704030504030204" pitchFamily="34" charset="0"/>
              </a:rPr>
            </a:br>
            <a:br>
              <a:rPr lang="en-US" altLang="en-US" sz="4000" dirty="0">
                <a:latin typeface="Arial Rounded MT Bold" panose="020F0704030504030204" pitchFamily="34" charset="0"/>
              </a:rPr>
            </a:br>
            <a:r>
              <a:rPr lang="en-US" altLang="en-US" sz="4000" dirty="0">
                <a:solidFill>
                  <a:srgbClr val="00B050"/>
                </a:solidFill>
                <a:latin typeface="Arial Rounded MT Bold" panose="020F0704030504030204" pitchFamily="34" charset="0"/>
              </a:rPr>
              <a:t>These foods are heated under pressure to 121°C for varying times.</a:t>
            </a:r>
          </a:p>
        </p:txBody>
      </p:sp>
      <p:sp>
        <p:nvSpPr>
          <p:cNvPr id="19459" name="Slide Number Placeholder 4">
            <a:extLst>
              <a:ext uri="{FF2B5EF4-FFF2-40B4-BE49-F238E27FC236}">
                <a16:creationId xmlns:a16="http://schemas.microsoft.com/office/drawing/2014/main" id="{7E8D0A9E-27A8-2279-516C-6F2F6ED8B24B}"/>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CA71C8-8522-4AC3-A958-C54FAAC74DB7}" type="slidenum">
              <a:rPr lang="en-US" altLang="en-US"/>
              <a:pPr/>
              <a:t>11</a:t>
            </a:fld>
            <a:endParaRPr lang="en-US" altLang="en-US"/>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a:extLst>
              <a:ext uri="{FF2B5EF4-FFF2-40B4-BE49-F238E27FC236}">
                <a16:creationId xmlns:a16="http://schemas.microsoft.com/office/drawing/2014/main" id="{E915501D-826F-EACF-7C43-AE75EDDD5921}"/>
              </a:ext>
            </a:extLst>
          </p:cNvPr>
          <p:cNvSpPr>
            <a:spLocks noGrp="1" noChangeArrowheads="1"/>
          </p:cNvSpPr>
          <p:nvPr>
            <p:ph type="title"/>
          </p:nvPr>
        </p:nvSpPr>
        <p:spPr>
          <a:xfrm>
            <a:off x="2819400" y="609600"/>
            <a:ext cx="6096000" cy="381000"/>
          </a:xfrm>
        </p:spPr>
        <p:txBody>
          <a:bodyPr>
            <a:noAutofit/>
          </a:bodyPr>
          <a:lstStyle/>
          <a:p>
            <a:r>
              <a:rPr lang="en-US" altLang="en-US" sz="3600" b="1" dirty="0">
                <a:solidFill>
                  <a:srgbClr val="7030A0"/>
                </a:solidFill>
                <a:latin typeface="Arial Rounded MT Bold" panose="020F0704030504030204" pitchFamily="34" charset="0"/>
              </a:rPr>
              <a:t>Pasteurization</a:t>
            </a:r>
          </a:p>
        </p:txBody>
      </p:sp>
      <p:sp>
        <p:nvSpPr>
          <p:cNvPr id="21507" name="Slide Number Placeholder 5">
            <a:extLst>
              <a:ext uri="{FF2B5EF4-FFF2-40B4-BE49-F238E27FC236}">
                <a16:creationId xmlns:a16="http://schemas.microsoft.com/office/drawing/2014/main" id="{E877A62E-400C-44A1-CFC1-BE14447D1444}"/>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AFF0D08-3FB4-4746-927B-158DC246039F}" type="slidenum">
              <a:rPr lang="en-US" altLang="en-US"/>
              <a:pPr/>
              <a:t>12</a:t>
            </a:fld>
            <a:endParaRPr lang="en-US" altLang="en-US"/>
          </a:p>
        </p:txBody>
      </p:sp>
      <p:sp>
        <p:nvSpPr>
          <p:cNvPr id="21508" name="Rectangle 6">
            <a:extLst>
              <a:ext uri="{FF2B5EF4-FFF2-40B4-BE49-F238E27FC236}">
                <a16:creationId xmlns:a16="http://schemas.microsoft.com/office/drawing/2014/main" id="{2A4DB4DA-EB06-AC38-6934-12B8BA7DBB68}"/>
              </a:ext>
            </a:extLst>
          </p:cNvPr>
          <p:cNvSpPr>
            <a:spLocks noGrp="1" noChangeArrowheads="1"/>
          </p:cNvSpPr>
          <p:nvPr>
            <p:ph type="subTitle" idx="4294967295"/>
          </p:nvPr>
        </p:nvSpPr>
        <p:spPr>
          <a:xfrm>
            <a:off x="2590800" y="1181686"/>
            <a:ext cx="7355058" cy="5247249"/>
          </a:xfrm>
        </p:spPr>
        <p:txBody>
          <a:bodyPr>
            <a:normAutofit fontScale="62500" lnSpcReduction="20000"/>
          </a:bodyPr>
          <a:lstStyle/>
          <a:p>
            <a:pPr algn="just">
              <a:lnSpc>
                <a:spcPct val="90000"/>
              </a:lnSpc>
            </a:pPr>
            <a:r>
              <a:rPr lang="en-US" altLang="en-US" sz="4500" dirty="0">
                <a:solidFill>
                  <a:srgbClr val="FF0000"/>
                </a:solidFill>
                <a:latin typeface="Arial Rounded MT Bold" panose="020F0704030504030204" pitchFamily="34" charset="0"/>
              </a:rPr>
              <a:t>Pasteurization is the process of heating a food-usually a liquid-to or below its boiling point for a defined period of time. </a:t>
            </a:r>
          </a:p>
          <a:p>
            <a:pPr algn="just">
              <a:lnSpc>
                <a:spcPct val="90000"/>
              </a:lnSpc>
            </a:pPr>
            <a:r>
              <a:rPr lang="en-US" altLang="en-US" sz="4500" dirty="0">
                <a:solidFill>
                  <a:srgbClr val="FF0000"/>
                </a:solidFill>
                <a:latin typeface="Arial Rounded MT Bold" panose="020F0704030504030204" pitchFamily="34" charset="0"/>
              </a:rPr>
              <a:t>Ex Pasteurization of milk requires 63 °C and   30 minutes</a:t>
            </a:r>
          </a:p>
          <a:p>
            <a:pPr algn="just">
              <a:lnSpc>
                <a:spcPct val="90000"/>
              </a:lnSpc>
            </a:pPr>
            <a:endParaRPr lang="en-US" altLang="en-US" sz="3000" dirty="0">
              <a:latin typeface="Arial Rounded MT Bold" panose="020F0704030504030204" pitchFamily="34" charset="0"/>
            </a:endParaRPr>
          </a:p>
          <a:p>
            <a:pPr algn="just">
              <a:lnSpc>
                <a:spcPct val="90000"/>
              </a:lnSpc>
            </a:pPr>
            <a:endParaRPr lang="en-US" altLang="en-US" sz="3000" dirty="0">
              <a:latin typeface="Arial Rounded MT Bold" panose="020F0704030504030204" pitchFamily="34" charset="0"/>
            </a:endParaRPr>
          </a:p>
          <a:p>
            <a:pPr marL="0" indent="0">
              <a:lnSpc>
                <a:spcPct val="90000"/>
              </a:lnSpc>
              <a:buNone/>
            </a:pPr>
            <a:r>
              <a:rPr lang="en-US" altLang="en-US" sz="3800" dirty="0">
                <a:solidFill>
                  <a:srgbClr val="0070C0"/>
                </a:solidFill>
                <a:latin typeface="Arial Rounded MT Bold" panose="020F0704030504030204" pitchFamily="34" charset="0"/>
              </a:rPr>
              <a:t>The purpose of Pasteurization</a:t>
            </a:r>
          </a:p>
          <a:p>
            <a:pPr marL="0" indent="0">
              <a:lnSpc>
                <a:spcPct val="90000"/>
              </a:lnSpc>
              <a:buNone/>
            </a:pPr>
            <a:endParaRPr lang="en-US" altLang="en-US" sz="3000" dirty="0">
              <a:solidFill>
                <a:srgbClr val="0070C0"/>
              </a:solidFill>
              <a:latin typeface="Arial Rounded MT Bold" panose="020F0704030504030204" pitchFamily="34" charset="0"/>
            </a:endParaRPr>
          </a:p>
          <a:p>
            <a:pPr>
              <a:lnSpc>
                <a:spcPct val="90000"/>
              </a:lnSpc>
            </a:pPr>
            <a:r>
              <a:rPr lang="en-US" altLang="en-US" sz="3800" dirty="0">
                <a:solidFill>
                  <a:srgbClr val="0070C0"/>
                </a:solidFill>
                <a:latin typeface="Arial Rounded MT Bold" panose="020F0704030504030204" pitchFamily="34" charset="0"/>
              </a:rPr>
              <a:t>to destroy all pathogens, </a:t>
            </a:r>
          </a:p>
          <a:p>
            <a:pPr>
              <a:lnSpc>
                <a:spcPct val="90000"/>
              </a:lnSpc>
            </a:pPr>
            <a:r>
              <a:rPr lang="en-US" altLang="en-US" sz="3800" dirty="0">
                <a:solidFill>
                  <a:srgbClr val="0070C0"/>
                </a:solidFill>
                <a:latin typeface="Arial Rounded MT Bold" panose="020F0704030504030204" pitchFamily="34" charset="0"/>
              </a:rPr>
              <a:t>reduce the number of bacteria, </a:t>
            </a:r>
          </a:p>
          <a:p>
            <a:pPr>
              <a:lnSpc>
                <a:spcPct val="90000"/>
              </a:lnSpc>
            </a:pPr>
            <a:r>
              <a:rPr lang="en-US" altLang="en-US" sz="3800" dirty="0">
                <a:solidFill>
                  <a:srgbClr val="0070C0"/>
                </a:solidFill>
                <a:latin typeface="Arial Rounded MT Bold" panose="020F0704030504030204" pitchFamily="34" charset="0"/>
              </a:rPr>
              <a:t>inactivate enzymes and extend the shelf life of a food product. </a:t>
            </a:r>
            <a:br>
              <a:rPr lang="en-US" altLang="en-US" sz="3800" dirty="0">
                <a:solidFill>
                  <a:srgbClr val="0070C0"/>
                </a:solidFill>
                <a:latin typeface="Arial Rounded MT Bold" panose="020F0704030504030204" pitchFamily="34" charset="0"/>
              </a:rPr>
            </a:br>
            <a:br>
              <a:rPr lang="en-US" altLang="en-US" dirty="0"/>
            </a:br>
            <a:endParaRPr lang="en-US" altLang="en-US"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a:extLst>
              <a:ext uri="{FF2B5EF4-FFF2-40B4-BE49-F238E27FC236}">
                <a16:creationId xmlns:a16="http://schemas.microsoft.com/office/drawing/2014/main" id="{497E8985-739E-4020-9AE3-D0491DF113AC}"/>
              </a:ext>
            </a:extLst>
          </p:cNvPr>
          <p:cNvSpPr>
            <a:spLocks noGrp="1" noChangeArrowheads="1"/>
          </p:cNvSpPr>
          <p:nvPr>
            <p:ph type="title"/>
          </p:nvPr>
        </p:nvSpPr>
        <p:spPr>
          <a:xfrm>
            <a:off x="2514600" y="3200400"/>
            <a:ext cx="7086600" cy="1143000"/>
          </a:xfrm>
        </p:spPr>
        <p:txBody>
          <a:bodyPr>
            <a:normAutofit fontScale="90000"/>
          </a:bodyPr>
          <a:lstStyle/>
          <a:p>
            <a:pPr algn="l"/>
            <a:r>
              <a:rPr lang="en-US" altLang="en-US" sz="4000" dirty="0">
                <a:solidFill>
                  <a:srgbClr val="002060"/>
                </a:solidFill>
                <a:latin typeface="Arial Rounded MT Bold" panose="020F0704030504030204" pitchFamily="34" charset="0"/>
              </a:rPr>
              <a:t>Foods with a pH of less than 4.6, such as milk and spaghetti sauce, can be pasteurized. </a:t>
            </a:r>
            <a:br>
              <a:rPr lang="en-US" altLang="en-US" sz="2800" dirty="0">
                <a:latin typeface="Arial Rounded MT Bold" panose="020F0704030504030204" pitchFamily="34" charset="0"/>
              </a:rPr>
            </a:br>
            <a:br>
              <a:rPr lang="en-US" altLang="en-US" sz="2800" dirty="0">
                <a:latin typeface="Arial Rounded MT Bold" panose="020F0704030504030204" pitchFamily="34" charset="0"/>
              </a:rPr>
            </a:br>
            <a:br>
              <a:rPr lang="en-US" altLang="en-US" sz="2800" dirty="0">
                <a:latin typeface="Arial Rounded MT Bold" panose="020F0704030504030204" pitchFamily="34" charset="0"/>
              </a:rPr>
            </a:br>
            <a:br>
              <a:rPr lang="en-US" altLang="en-US" sz="2800" dirty="0">
                <a:latin typeface="Arial Rounded MT Bold" panose="020F0704030504030204" pitchFamily="34" charset="0"/>
              </a:rPr>
            </a:br>
            <a:r>
              <a:rPr lang="en-US" altLang="en-US" sz="4000" dirty="0">
                <a:solidFill>
                  <a:srgbClr val="00B050"/>
                </a:solidFill>
                <a:latin typeface="Arial Rounded MT Bold" panose="020F0704030504030204" pitchFamily="34" charset="0"/>
              </a:rPr>
              <a:t>Permanent stability-that is, shelf life of about two years-is obtained with foods that can withstand prolonged heating, such as bottled juices. </a:t>
            </a:r>
            <a:br>
              <a:rPr lang="en-US" altLang="en-US" sz="2800" dirty="0">
                <a:solidFill>
                  <a:srgbClr val="00B050"/>
                </a:solidFill>
                <a:latin typeface="Arial Rounded MT Bold" panose="020F0704030504030204" pitchFamily="34" charset="0"/>
              </a:rPr>
            </a:br>
            <a:br>
              <a:rPr lang="en-US" altLang="en-US" sz="2800" dirty="0">
                <a:solidFill>
                  <a:srgbClr val="00B050"/>
                </a:solidFill>
              </a:rPr>
            </a:br>
            <a:br>
              <a:rPr lang="en-US" altLang="en-US" sz="2800" dirty="0"/>
            </a:br>
            <a:endParaRPr lang="en-US" altLang="en-US" sz="2800" dirty="0"/>
          </a:p>
        </p:txBody>
      </p:sp>
      <p:sp>
        <p:nvSpPr>
          <p:cNvPr id="22531" name="Slide Number Placeholder 4">
            <a:extLst>
              <a:ext uri="{FF2B5EF4-FFF2-40B4-BE49-F238E27FC236}">
                <a16:creationId xmlns:a16="http://schemas.microsoft.com/office/drawing/2014/main" id="{FECBC62B-8E14-8E8B-E19E-868025BE3D5D}"/>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815A05A-D8F4-46DF-A5D9-1E3EC40EC891}" type="slidenum">
              <a:rPr lang="en-US" altLang="en-US"/>
              <a:pPr/>
              <a:t>13</a:t>
            </a:fld>
            <a:endParaRPr lang="en-US" altLang="en-US"/>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a:extLst>
              <a:ext uri="{FF2B5EF4-FFF2-40B4-BE49-F238E27FC236}">
                <a16:creationId xmlns:a16="http://schemas.microsoft.com/office/drawing/2014/main" id="{D4096E63-4988-C286-C91D-3637B4E16172}"/>
              </a:ext>
            </a:extLst>
          </p:cNvPr>
          <p:cNvSpPr>
            <a:spLocks noGrp="1" noChangeArrowheads="1"/>
          </p:cNvSpPr>
          <p:nvPr>
            <p:ph type="title"/>
          </p:nvPr>
        </p:nvSpPr>
        <p:spPr>
          <a:xfrm>
            <a:off x="3048000" y="533400"/>
            <a:ext cx="6096000" cy="457200"/>
          </a:xfrm>
        </p:spPr>
        <p:txBody>
          <a:bodyPr>
            <a:noAutofit/>
          </a:bodyPr>
          <a:lstStyle/>
          <a:p>
            <a:r>
              <a:rPr lang="en-US" altLang="en-US" sz="3200" b="1" dirty="0">
                <a:solidFill>
                  <a:srgbClr val="00B0F0"/>
                </a:solidFill>
                <a:latin typeface="Arial Rounded MT Bold" panose="020F0704030504030204" pitchFamily="34" charset="0"/>
              </a:rPr>
              <a:t>Blanching</a:t>
            </a:r>
          </a:p>
        </p:txBody>
      </p:sp>
      <p:sp>
        <p:nvSpPr>
          <p:cNvPr id="25603" name="Slide Number Placeholder 5">
            <a:extLst>
              <a:ext uri="{FF2B5EF4-FFF2-40B4-BE49-F238E27FC236}">
                <a16:creationId xmlns:a16="http://schemas.microsoft.com/office/drawing/2014/main" id="{D09B4775-8710-72C2-417A-0BC51A691EE3}"/>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92BA8E3-E00F-48D8-9BE9-3C567B0CF25E}" type="slidenum">
              <a:rPr lang="en-US" altLang="en-US"/>
              <a:pPr/>
              <a:t>14</a:t>
            </a:fld>
            <a:endParaRPr lang="en-US" altLang="en-US"/>
          </a:p>
        </p:txBody>
      </p:sp>
      <p:sp>
        <p:nvSpPr>
          <p:cNvPr id="25604" name="Rectangle 6">
            <a:extLst>
              <a:ext uri="{FF2B5EF4-FFF2-40B4-BE49-F238E27FC236}">
                <a16:creationId xmlns:a16="http://schemas.microsoft.com/office/drawing/2014/main" id="{D9FAD7C0-E1BF-4C2C-61EF-A072DB4C40BC}"/>
              </a:ext>
            </a:extLst>
          </p:cNvPr>
          <p:cNvSpPr>
            <a:spLocks noGrp="1" noChangeArrowheads="1"/>
          </p:cNvSpPr>
          <p:nvPr>
            <p:ph type="subTitle" idx="4294967295"/>
          </p:nvPr>
        </p:nvSpPr>
        <p:spPr>
          <a:xfrm>
            <a:off x="2590800" y="1143000"/>
            <a:ext cx="7010400" cy="4800600"/>
          </a:xfrm>
        </p:spPr>
        <p:txBody>
          <a:bodyPr>
            <a:noAutofit/>
          </a:bodyPr>
          <a:lstStyle/>
          <a:p>
            <a:pPr>
              <a:lnSpc>
                <a:spcPct val="80000"/>
              </a:lnSpc>
            </a:pPr>
            <a:r>
              <a:rPr lang="en-US" altLang="en-US" dirty="0">
                <a:solidFill>
                  <a:srgbClr val="00B0F0"/>
                </a:solidFill>
                <a:latin typeface="Arial Rounded MT Bold" panose="020F0704030504030204" pitchFamily="34" charset="0"/>
              </a:rPr>
              <a:t>Blanching is a slight heat treatment, using hot water or steam, that is applied mostly to vegetables before canning or freezing. </a:t>
            </a:r>
            <a:br>
              <a:rPr lang="en-US" altLang="en-US" dirty="0">
                <a:latin typeface="Arial Rounded MT Bold" panose="020F0704030504030204" pitchFamily="34" charset="0"/>
              </a:rPr>
            </a:br>
            <a:br>
              <a:rPr lang="en-US" altLang="en-US" dirty="0">
                <a:latin typeface="Arial Rounded MT Bold" panose="020F0704030504030204" pitchFamily="34" charset="0"/>
              </a:rPr>
            </a:br>
            <a:r>
              <a:rPr lang="en-US" altLang="en-US" dirty="0">
                <a:solidFill>
                  <a:srgbClr val="FF0000"/>
                </a:solidFill>
                <a:latin typeface="Arial Rounded MT Bold" panose="020F0704030504030204" pitchFamily="34" charset="0"/>
              </a:rPr>
              <a:t>Blanching is used before freezing to inactivate enzymes present that cause deteriorative reactions to foods during frozen storage. </a:t>
            </a:r>
          </a:p>
          <a:p>
            <a:pPr>
              <a:lnSpc>
                <a:spcPct val="80000"/>
              </a:lnSpc>
            </a:pPr>
            <a:endParaRPr lang="en-US" altLang="en-US" dirty="0">
              <a:latin typeface="Arial Rounded MT Bold" panose="020F0704030504030204" pitchFamily="34" charset="0"/>
            </a:endParaRPr>
          </a:p>
          <a:p>
            <a:pPr marL="0" indent="0">
              <a:lnSpc>
                <a:spcPct val="80000"/>
              </a:lnSpc>
              <a:buNone/>
            </a:pPr>
            <a:r>
              <a:rPr lang="en-US" altLang="en-US" dirty="0">
                <a:solidFill>
                  <a:srgbClr val="00B0F0"/>
                </a:solidFill>
                <a:latin typeface="Arial Rounded MT Bold" panose="020F0704030504030204" pitchFamily="34" charset="0"/>
              </a:rPr>
              <a:t>These reactions include </a:t>
            </a:r>
          </a:p>
          <a:p>
            <a:pPr>
              <a:lnSpc>
                <a:spcPct val="80000"/>
              </a:lnSpc>
            </a:pPr>
            <a:r>
              <a:rPr lang="en-US" altLang="en-US" dirty="0">
                <a:solidFill>
                  <a:srgbClr val="00B0F0"/>
                </a:solidFill>
                <a:latin typeface="Arial Rounded MT Bold" panose="020F0704030504030204" pitchFamily="34" charset="0"/>
              </a:rPr>
              <a:t>colour and texture changes, </a:t>
            </a:r>
          </a:p>
          <a:p>
            <a:pPr>
              <a:lnSpc>
                <a:spcPct val="80000"/>
              </a:lnSpc>
            </a:pPr>
            <a:r>
              <a:rPr lang="en-US" altLang="en-US" dirty="0">
                <a:solidFill>
                  <a:srgbClr val="00B0F0"/>
                </a:solidFill>
                <a:latin typeface="Arial Rounded MT Bold" panose="020F0704030504030204" pitchFamily="34" charset="0"/>
              </a:rPr>
              <a:t>off-</a:t>
            </a:r>
            <a:r>
              <a:rPr lang="en-US" altLang="en-US" dirty="0" err="1">
                <a:solidFill>
                  <a:srgbClr val="00B0F0"/>
                </a:solidFill>
                <a:latin typeface="Arial Rounded MT Bold" panose="020F0704030504030204" pitchFamily="34" charset="0"/>
              </a:rPr>
              <a:t>flavours</a:t>
            </a:r>
            <a:r>
              <a:rPr lang="en-US" altLang="en-US" dirty="0">
                <a:solidFill>
                  <a:srgbClr val="00B0F0"/>
                </a:solidFill>
                <a:latin typeface="Arial Rounded MT Bold" panose="020F0704030504030204" pitchFamily="34" charset="0"/>
              </a:rPr>
              <a:t> and </a:t>
            </a:r>
          </a:p>
          <a:p>
            <a:pPr>
              <a:lnSpc>
                <a:spcPct val="80000"/>
              </a:lnSpc>
            </a:pPr>
            <a:r>
              <a:rPr lang="en-US" altLang="en-US" dirty="0">
                <a:solidFill>
                  <a:srgbClr val="00B0F0"/>
                </a:solidFill>
                <a:latin typeface="Arial Rounded MT Bold" panose="020F0704030504030204" pitchFamily="34" charset="0"/>
              </a:rPr>
              <a:t>a decrease in nutritional value. </a:t>
            </a:r>
            <a:br>
              <a:rPr lang="en-US" altLang="en-US" dirty="0">
                <a:solidFill>
                  <a:srgbClr val="00B0F0"/>
                </a:solidFill>
                <a:latin typeface="Arial Rounded MT Bold" panose="020F0704030504030204" pitchFamily="34" charset="0"/>
              </a:rPr>
            </a:br>
            <a:br>
              <a:rPr lang="en-US" altLang="en-US" dirty="0">
                <a:solidFill>
                  <a:srgbClr val="00B0F0"/>
                </a:solidFill>
                <a:latin typeface="Arial Rounded MT Bold" panose="020F0704030504030204" pitchFamily="34" charset="0"/>
              </a:rPr>
            </a:br>
            <a:endParaRPr lang="en-US" altLang="en-US" dirty="0">
              <a:solidFill>
                <a:srgbClr val="00B0F0"/>
              </a:solidFill>
              <a:latin typeface="Arial Rounded MT Bold" panose="020F0704030504030204" pitchFamily="34"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a:extLst>
              <a:ext uri="{FF2B5EF4-FFF2-40B4-BE49-F238E27FC236}">
                <a16:creationId xmlns:a16="http://schemas.microsoft.com/office/drawing/2014/main" id="{3FCD94CC-BFB6-5800-7866-AE2F6DF12AC3}"/>
              </a:ext>
            </a:extLst>
          </p:cNvPr>
          <p:cNvSpPr>
            <a:spLocks noGrp="1" noChangeArrowheads="1"/>
          </p:cNvSpPr>
          <p:nvPr>
            <p:ph type="title"/>
          </p:nvPr>
        </p:nvSpPr>
        <p:spPr>
          <a:xfrm>
            <a:off x="2971800" y="533400"/>
            <a:ext cx="6096000" cy="457200"/>
          </a:xfrm>
        </p:spPr>
        <p:txBody>
          <a:bodyPr>
            <a:noAutofit/>
          </a:bodyPr>
          <a:lstStyle/>
          <a:p>
            <a:r>
              <a:rPr lang="en-US" altLang="en-US" sz="2800" b="1" dirty="0">
                <a:solidFill>
                  <a:srgbClr val="7030A0"/>
                </a:solidFill>
                <a:latin typeface="Arial Rounded MT Bold" panose="020F0704030504030204" pitchFamily="34" charset="0"/>
              </a:rPr>
              <a:t>Refrigeration</a:t>
            </a:r>
          </a:p>
        </p:txBody>
      </p:sp>
      <p:sp>
        <p:nvSpPr>
          <p:cNvPr id="31747" name="Slide Number Placeholder 5">
            <a:extLst>
              <a:ext uri="{FF2B5EF4-FFF2-40B4-BE49-F238E27FC236}">
                <a16:creationId xmlns:a16="http://schemas.microsoft.com/office/drawing/2014/main" id="{3CAE0125-2EA8-C05A-6867-8B703B91D7B9}"/>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989B27-136B-445C-9A42-3E765509482F}" type="slidenum">
              <a:rPr lang="en-US" altLang="en-US"/>
              <a:pPr/>
              <a:t>15</a:t>
            </a:fld>
            <a:endParaRPr lang="en-US" altLang="en-US"/>
          </a:p>
        </p:txBody>
      </p:sp>
      <p:sp>
        <p:nvSpPr>
          <p:cNvPr id="31748" name="Rectangle 6">
            <a:extLst>
              <a:ext uri="{FF2B5EF4-FFF2-40B4-BE49-F238E27FC236}">
                <a16:creationId xmlns:a16="http://schemas.microsoft.com/office/drawing/2014/main" id="{9E73A198-84E0-FC5F-A318-07599EC76D4A}"/>
              </a:ext>
            </a:extLst>
          </p:cNvPr>
          <p:cNvSpPr>
            <a:spLocks noGrp="1" noChangeArrowheads="1"/>
          </p:cNvSpPr>
          <p:nvPr>
            <p:ph type="subTitle" idx="4294967295"/>
          </p:nvPr>
        </p:nvSpPr>
        <p:spPr>
          <a:xfrm>
            <a:off x="2514600" y="1676400"/>
            <a:ext cx="6934200" cy="3505200"/>
          </a:xfrm>
        </p:spPr>
        <p:txBody>
          <a:bodyPr>
            <a:noAutofit/>
          </a:bodyPr>
          <a:lstStyle/>
          <a:p>
            <a:pPr>
              <a:lnSpc>
                <a:spcPct val="90000"/>
              </a:lnSpc>
            </a:pPr>
            <a:r>
              <a:rPr lang="en-US" altLang="en-US" sz="3200" dirty="0">
                <a:solidFill>
                  <a:srgbClr val="FF0000"/>
                </a:solidFill>
                <a:latin typeface="Arial Rounded MT Bold" panose="020F0704030504030204" pitchFamily="34" charset="0"/>
              </a:rPr>
              <a:t>Refrigerators should be set to below 4°C to control the growth of micro-organisms in foods. </a:t>
            </a:r>
          </a:p>
          <a:p>
            <a:pPr>
              <a:lnSpc>
                <a:spcPct val="90000"/>
              </a:lnSpc>
            </a:pPr>
            <a:endParaRPr lang="en-US" altLang="en-US" sz="3200" dirty="0">
              <a:latin typeface="Arial Rounded MT Bold" panose="020F0704030504030204" pitchFamily="34" charset="0"/>
            </a:endParaRPr>
          </a:p>
          <a:p>
            <a:pPr>
              <a:lnSpc>
                <a:spcPct val="90000"/>
              </a:lnSpc>
            </a:pPr>
            <a:r>
              <a:rPr lang="en-US" altLang="en-US" sz="3200" dirty="0">
                <a:solidFill>
                  <a:srgbClr val="00B0F0"/>
                </a:solidFill>
                <a:latin typeface="Arial Rounded MT Bold" panose="020F0704030504030204" pitchFamily="34" charset="0"/>
              </a:rPr>
              <a:t>This lowered temperature also reduces the respiration rate of fruits and vegetables, which retards reactions that promote spoilage. </a:t>
            </a:r>
            <a:br>
              <a:rPr lang="en-US" altLang="en-US" sz="3200" dirty="0">
                <a:solidFill>
                  <a:srgbClr val="00B0F0"/>
                </a:solidFill>
                <a:latin typeface="Arial Rounded MT Bold" panose="020F0704030504030204" pitchFamily="34" charset="0"/>
              </a:rPr>
            </a:br>
            <a:br>
              <a:rPr lang="en-US" altLang="en-US" sz="3200" dirty="0">
                <a:solidFill>
                  <a:srgbClr val="00B0F0"/>
                </a:solidFill>
              </a:rPr>
            </a:br>
            <a:endParaRPr lang="en-US" altLang="en-US" sz="3200" dirty="0">
              <a:solidFill>
                <a:srgbClr val="00B0F0"/>
              </a:solidFill>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a:extLst>
              <a:ext uri="{FF2B5EF4-FFF2-40B4-BE49-F238E27FC236}">
                <a16:creationId xmlns:a16="http://schemas.microsoft.com/office/drawing/2014/main" id="{E4250396-2244-0652-72AA-D339F52CAB70}"/>
              </a:ext>
            </a:extLst>
          </p:cNvPr>
          <p:cNvSpPr>
            <a:spLocks noGrp="1" noChangeArrowheads="1"/>
          </p:cNvSpPr>
          <p:nvPr>
            <p:ph type="title"/>
          </p:nvPr>
        </p:nvSpPr>
        <p:spPr>
          <a:xfrm>
            <a:off x="2819400" y="609600"/>
            <a:ext cx="6096000" cy="304800"/>
          </a:xfrm>
        </p:spPr>
        <p:txBody>
          <a:bodyPr>
            <a:noAutofit/>
          </a:bodyPr>
          <a:lstStyle/>
          <a:p>
            <a:r>
              <a:rPr lang="en-US" altLang="en-US" sz="2800" b="1" dirty="0">
                <a:solidFill>
                  <a:srgbClr val="00B050"/>
                </a:solidFill>
                <a:latin typeface="Arial Rounded MT Bold" panose="020F0704030504030204" pitchFamily="34" charset="0"/>
              </a:rPr>
              <a:t>Freezing</a:t>
            </a:r>
          </a:p>
        </p:txBody>
      </p:sp>
      <p:sp>
        <p:nvSpPr>
          <p:cNvPr id="33795" name="Rectangle 7">
            <a:extLst>
              <a:ext uri="{FF2B5EF4-FFF2-40B4-BE49-F238E27FC236}">
                <a16:creationId xmlns:a16="http://schemas.microsoft.com/office/drawing/2014/main" id="{F5FA194F-0C5D-B24A-69D1-D62932FF9C48}"/>
              </a:ext>
            </a:extLst>
          </p:cNvPr>
          <p:cNvSpPr>
            <a:spLocks noGrp="1" noChangeArrowheads="1"/>
          </p:cNvSpPr>
          <p:nvPr>
            <p:ph idx="1"/>
          </p:nvPr>
        </p:nvSpPr>
        <p:spPr>
          <a:xfrm>
            <a:off x="2438400" y="1066800"/>
            <a:ext cx="7086600" cy="4800600"/>
          </a:xfrm>
        </p:spPr>
        <p:txBody>
          <a:bodyPr>
            <a:normAutofit fontScale="92500" lnSpcReduction="10000"/>
          </a:bodyPr>
          <a:lstStyle/>
          <a:p>
            <a:pPr>
              <a:lnSpc>
                <a:spcPct val="80000"/>
              </a:lnSpc>
            </a:pPr>
            <a:r>
              <a:rPr lang="en-US" altLang="en-US" dirty="0">
                <a:solidFill>
                  <a:srgbClr val="00B050"/>
                </a:solidFill>
                <a:latin typeface="Arial Rounded MT Bold" panose="020F0704030504030204" pitchFamily="34" charset="0"/>
              </a:rPr>
              <a:t>While many home freezers are held at        -10°C, commercial freezers are under        -18°C. At this temperature, the growth of micro-organisms is almost stopped. Deteriorative microbial reactions will still occur, but over a much longer time. </a:t>
            </a:r>
            <a:br>
              <a:rPr lang="en-US" altLang="en-US" dirty="0">
                <a:solidFill>
                  <a:srgbClr val="00B050"/>
                </a:solidFill>
                <a:latin typeface="Arial Rounded MT Bold" panose="020F0704030504030204" pitchFamily="34" charset="0"/>
              </a:rPr>
            </a:br>
            <a:endParaRPr lang="en-US" altLang="en-US" dirty="0">
              <a:solidFill>
                <a:srgbClr val="00B050"/>
              </a:solidFill>
              <a:latin typeface="Arial Rounded MT Bold" panose="020F0704030504030204" pitchFamily="34" charset="0"/>
            </a:endParaRPr>
          </a:p>
          <a:p>
            <a:pPr>
              <a:lnSpc>
                <a:spcPct val="80000"/>
              </a:lnSpc>
            </a:pPr>
            <a:r>
              <a:rPr lang="en-US" altLang="en-US" dirty="0">
                <a:solidFill>
                  <a:srgbClr val="7030A0"/>
                </a:solidFill>
                <a:latin typeface="Arial Rounded MT Bold" panose="020F0704030504030204" pitchFamily="34" charset="0"/>
              </a:rPr>
              <a:t>In addition, deteriorative enzymatic reactions will still take place during frozen storage. Uncooked fruits and vegetables must be blanched before freezing to prevent these reactions. </a:t>
            </a:r>
            <a:br>
              <a:rPr lang="en-US" altLang="en-US" dirty="0">
                <a:solidFill>
                  <a:srgbClr val="7030A0"/>
                </a:solidFill>
                <a:latin typeface="Arial Rounded MT Bold" panose="020F0704030504030204" pitchFamily="34" charset="0"/>
              </a:rPr>
            </a:br>
            <a:br>
              <a:rPr lang="en-US" altLang="en-US" dirty="0">
                <a:latin typeface="Arial Rounded MT Bold" panose="020F0704030504030204" pitchFamily="34" charset="0"/>
              </a:rPr>
            </a:br>
            <a:br>
              <a:rPr lang="en-US" altLang="en-US" dirty="0"/>
            </a:br>
            <a:endParaRPr lang="en-US" altLang="en-US" dirty="0"/>
          </a:p>
        </p:txBody>
      </p:sp>
      <p:sp>
        <p:nvSpPr>
          <p:cNvPr id="33796" name="Slide Number Placeholder 5">
            <a:extLst>
              <a:ext uri="{FF2B5EF4-FFF2-40B4-BE49-F238E27FC236}">
                <a16:creationId xmlns:a16="http://schemas.microsoft.com/office/drawing/2014/main" id="{5AAD87AF-FC2E-3A18-9E4C-A6C0E52947F5}"/>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44F733A-0916-4076-A86B-4D71C4347767}" type="slidenum">
              <a:rPr lang="en-US" altLang="en-US"/>
              <a:pPr/>
              <a:t>16</a:t>
            </a:fld>
            <a:endParaRPr lang="en-US" altLang="en-US"/>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a:extLst>
              <a:ext uri="{FF2B5EF4-FFF2-40B4-BE49-F238E27FC236}">
                <a16:creationId xmlns:a16="http://schemas.microsoft.com/office/drawing/2014/main" id="{7BBD2EC3-8E65-0725-AD2E-11818088084A}"/>
              </a:ext>
            </a:extLst>
          </p:cNvPr>
          <p:cNvSpPr>
            <a:spLocks noGrp="1" noChangeArrowheads="1"/>
          </p:cNvSpPr>
          <p:nvPr>
            <p:ph type="title"/>
          </p:nvPr>
        </p:nvSpPr>
        <p:spPr>
          <a:xfrm>
            <a:off x="2971800" y="1143000"/>
            <a:ext cx="6096000" cy="457200"/>
          </a:xfrm>
        </p:spPr>
        <p:txBody>
          <a:bodyPr>
            <a:normAutofit fontScale="90000"/>
          </a:bodyPr>
          <a:lstStyle/>
          <a:p>
            <a:r>
              <a:rPr lang="en-US" altLang="en-US" sz="2800" b="1">
                <a:solidFill>
                  <a:srgbClr val="7030A0"/>
                </a:solidFill>
                <a:latin typeface="Arial Rounded MT Bold" panose="020F0704030504030204" pitchFamily="34" charset="0"/>
              </a:rPr>
              <a:t>Irradiation</a:t>
            </a:r>
          </a:p>
        </p:txBody>
      </p:sp>
      <p:sp>
        <p:nvSpPr>
          <p:cNvPr id="37891" name="Slide Number Placeholder 5">
            <a:extLst>
              <a:ext uri="{FF2B5EF4-FFF2-40B4-BE49-F238E27FC236}">
                <a16:creationId xmlns:a16="http://schemas.microsoft.com/office/drawing/2014/main" id="{7EA8BAC8-59E4-ED1A-54DD-066F23F878CA}"/>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8A73C70-42CF-4F4A-8642-4296DE0645F5}" type="slidenum">
              <a:rPr lang="en-US" altLang="en-US"/>
              <a:pPr/>
              <a:t>17</a:t>
            </a:fld>
            <a:endParaRPr lang="en-US" altLang="en-US"/>
          </a:p>
        </p:txBody>
      </p:sp>
      <p:sp>
        <p:nvSpPr>
          <p:cNvPr id="37892" name="Rectangle 6">
            <a:extLst>
              <a:ext uri="{FF2B5EF4-FFF2-40B4-BE49-F238E27FC236}">
                <a16:creationId xmlns:a16="http://schemas.microsoft.com/office/drawing/2014/main" id="{DFF9D5B9-7310-3333-D886-38DC9260329B}"/>
              </a:ext>
            </a:extLst>
          </p:cNvPr>
          <p:cNvSpPr>
            <a:spLocks noGrp="1" noChangeArrowheads="1"/>
          </p:cNvSpPr>
          <p:nvPr>
            <p:ph type="subTitle" idx="4294967295"/>
          </p:nvPr>
        </p:nvSpPr>
        <p:spPr>
          <a:xfrm>
            <a:off x="2667000" y="2514600"/>
            <a:ext cx="6858000" cy="1752600"/>
          </a:xfrm>
        </p:spPr>
        <p:txBody>
          <a:bodyPr/>
          <a:lstStyle/>
          <a:p>
            <a:r>
              <a:rPr lang="en-US" altLang="en-US">
                <a:solidFill>
                  <a:srgbClr val="00B0F0"/>
                </a:solidFill>
                <a:latin typeface="Arial Rounded MT Bold" panose="020F0704030504030204" pitchFamily="34" charset="0"/>
              </a:rPr>
              <a:t>Irradiation is the controversial process of applying low doses of gamma radiation to food products. </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323607F-1557-A667-C75B-EC12CC2DD1FA}"/>
              </a:ext>
            </a:extLst>
          </p:cNvPr>
          <p:cNvSpPr>
            <a:spLocks noGrp="1" noChangeArrowheads="1"/>
          </p:cNvSpPr>
          <p:nvPr>
            <p:ph type="title"/>
          </p:nvPr>
        </p:nvSpPr>
        <p:spPr>
          <a:xfrm>
            <a:off x="1981200" y="457201"/>
            <a:ext cx="8229600" cy="639763"/>
          </a:xfrm>
        </p:spPr>
        <p:txBody>
          <a:bodyPr/>
          <a:lstStyle/>
          <a:p>
            <a:r>
              <a:rPr lang="en-US" altLang="en-US" sz="2800">
                <a:solidFill>
                  <a:srgbClr val="00B0F0"/>
                </a:solidFill>
                <a:latin typeface="Arial Rounded MT Bold" panose="020F0704030504030204" pitchFamily="34" charset="0"/>
              </a:rPr>
              <a:t>Irradiation is generally used for:</a:t>
            </a:r>
          </a:p>
        </p:txBody>
      </p:sp>
      <p:sp>
        <p:nvSpPr>
          <p:cNvPr id="38915" name="Rectangle 3">
            <a:extLst>
              <a:ext uri="{FF2B5EF4-FFF2-40B4-BE49-F238E27FC236}">
                <a16:creationId xmlns:a16="http://schemas.microsoft.com/office/drawing/2014/main" id="{19F78E7A-C419-4E44-490D-29F664360A02}"/>
              </a:ext>
            </a:extLst>
          </p:cNvPr>
          <p:cNvSpPr>
            <a:spLocks noGrp="1" noChangeArrowheads="1"/>
          </p:cNvSpPr>
          <p:nvPr>
            <p:ph idx="1"/>
          </p:nvPr>
        </p:nvSpPr>
        <p:spPr>
          <a:xfrm>
            <a:off x="2590800" y="1371600"/>
            <a:ext cx="7010400" cy="4419600"/>
          </a:xfrm>
        </p:spPr>
        <p:txBody>
          <a:bodyPr/>
          <a:lstStyle/>
          <a:p>
            <a:pPr>
              <a:lnSpc>
                <a:spcPct val="90000"/>
              </a:lnSpc>
            </a:pPr>
            <a:r>
              <a:rPr lang="en-US" altLang="en-US" dirty="0">
                <a:solidFill>
                  <a:srgbClr val="FF0000"/>
                </a:solidFill>
                <a:latin typeface="Arial Rounded MT Bold" panose="020F0704030504030204" pitchFamily="34" charset="0"/>
              </a:rPr>
              <a:t>prevent sprouting in potatoes and onions;</a:t>
            </a:r>
          </a:p>
          <a:p>
            <a:pPr>
              <a:lnSpc>
                <a:spcPct val="90000"/>
              </a:lnSpc>
            </a:pPr>
            <a:endParaRPr lang="en-US" altLang="en-US" dirty="0">
              <a:latin typeface="Arial Rounded MT Bold" panose="020F0704030504030204" pitchFamily="34" charset="0"/>
            </a:endParaRPr>
          </a:p>
          <a:p>
            <a:pPr>
              <a:lnSpc>
                <a:spcPct val="90000"/>
              </a:lnSpc>
            </a:pPr>
            <a:r>
              <a:rPr lang="en-US" altLang="en-US" dirty="0">
                <a:solidFill>
                  <a:srgbClr val="00B050"/>
                </a:solidFill>
                <a:latin typeface="Arial Rounded MT Bold" panose="020F0704030504030204" pitchFamily="34" charset="0"/>
              </a:rPr>
              <a:t>control insect growth in  wheat flour and</a:t>
            </a:r>
          </a:p>
          <a:p>
            <a:pPr>
              <a:lnSpc>
                <a:spcPct val="90000"/>
              </a:lnSpc>
              <a:buFontTx/>
              <a:buNone/>
            </a:pPr>
            <a:endParaRPr lang="en-US" altLang="en-US" dirty="0">
              <a:latin typeface="Arial Rounded MT Bold" panose="020F0704030504030204" pitchFamily="34" charset="0"/>
            </a:endParaRPr>
          </a:p>
          <a:p>
            <a:pPr>
              <a:lnSpc>
                <a:spcPct val="90000"/>
              </a:lnSpc>
            </a:pPr>
            <a:r>
              <a:rPr lang="en-US" altLang="en-US" dirty="0">
                <a:solidFill>
                  <a:srgbClr val="FF0000"/>
                </a:solidFill>
                <a:latin typeface="Arial Rounded MT Bold" panose="020F0704030504030204" pitchFamily="34" charset="0"/>
              </a:rPr>
              <a:t>reduce the microbial load of ground spices such as cumin, turmeric, coriander </a:t>
            </a:r>
            <a:r>
              <a:rPr lang="en-US" altLang="en-US" dirty="0" err="1">
                <a:solidFill>
                  <a:srgbClr val="FF0000"/>
                </a:solidFill>
                <a:latin typeface="Arial Rounded MT Bold" panose="020F0704030504030204" pitchFamily="34" charset="0"/>
              </a:rPr>
              <a:t>etc</a:t>
            </a:r>
            <a:endParaRPr lang="en-US" altLang="en-US" dirty="0">
              <a:solidFill>
                <a:srgbClr val="FF0000"/>
              </a:solidFill>
              <a:latin typeface="Arial Rounded MT Bold" panose="020F0704030504030204" pitchFamily="34" charset="0"/>
            </a:endParaRPr>
          </a:p>
          <a:p>
            <a:pPr>
              <a:lnSpc>
                <a:spcPct val="90000"/>
              </a:lnSpc>
              <a:buFont typeface="Wingdings" panose="05000000000000000000" pitchFamily="2" charset="2"/>
              <a:buNone/>
            </a:pPr>
            <a:endParaRPr lang="en-US" altLang="en-US" dirty="0">
              <a:solidFill>
                <a:srgbClr val="FF0000"/>
              </a:solidFill>
              <a:latin typeface="Arial Rounded MT Bold" panose="020F0704030504030204" pitchFamily="34" charset="0"/>
            </a:endParaRPr>
          </a:p>
        </p:txBody>
      </p:sp>
      <p:sp>
        <p:nvSpPr>
          <p:cNvPr id="38916" name="Slide Number Placeholder 5">
            <a:extLst>
              <a:ext uri="{FF2B5EF4-FFF2-40B4-BE49-F238E27FC236}">
                <a16:creationId xmlns:a16="http://schemas.microsoft.com/office/drawing/2014/main" id="{15059B10-447B-2D46-3911-45D534AEF239}"/>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DC92F56-06BC-4097-9D32-FCEABEE61304}" type="slidenum">
              <a:rPr lang="en-US" altLang="en-US"/>
              <a:pPr/>
              <a:t>18</a:t>
            </a:fld>
            <a:endParaRPr lang="en-US" altLang="en-US"/>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a:extLst>
              <a:ext uri="{FF2B5EF4-FFF2-40B4-BE49-F238E27FC236}">
                <a16:creationId xmlns:a16="http://schemas.microsoft.com/office/drawing/2014/main" id="{9A18CA49-B9EF-29AA-2A5E-79AE9DC6B648}"/>
              </a:ext>
            </a:extLst>
          </p:cNvPr>
          <p:cNvSpPr>
            <a:spLocks noGrp="1" noChangeArrowheads="1"/>
          </p:cNvSpPr>
          <p:nvPr>
            <p:ph type="title"/>
          </p:nvPr>
        </p:nvSpPr>
        <p:spPr>
          <a:xfrm>
            <a:off x="2819400" y="990600"/>
            <a:ext cx="6096000" cy="457200"/>
          </a:xfrm>
        </p:spPr>
        <p:txBody>
          <a:bodyPr>
            <a:normAutofit fontScale="90000"/>
          </a:bodyPr>
          <a:lstStyle/>
          <a:p>
            <a:r>
              <a:rPr lang="en-US" altLang="en-US" sz="2800" b="1">
                <a:solidFill>
                  <a:srgbClr val="FF0000"/>
                </a:solidFill>
              </a:rPr>
              <a:t>Evaporation</a:t>
            </a:r>
          </a:p>
        </p:txBody>
      </p:sp>
      <p:sp>
        <p:nvSpPr>
          <p:cNvPr id="43011" name="Slide Number Placeholder 5">
            <a:extLst>
              <a:ext uri="{FF2B5EF4-FFF2-40B4-BE49-F238E27FC236}">
                <a16:creationId xmlns:a16="http://schemas.microsoft.com/office/drawing/2014/main" id="{C63D63CE-80E3-3425-2DF9-1D8590B302F3}"/>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F23B474-C8EE-4296-BB2F-C116DB90125D}" type="slidenum">
              <a:rPr lang="en-US" altLang="en-US"/>
              <a:pPr/>
              <a:t>19</a:t>
            </a:fld>
            <a:endParaRPr lang="en-US" altLang="en-US"/>
          </a:p>
        </p:txBody>
      </p:sp>
      <p:sp>
        <p:nvSpPr>
          <p:cNvPr id="43012" name="Rectangle 5">
            <a:extLst>
              <a:ext uri="{FF2B5EF4-FFF2-40B4-BE49-F238E27FC236}">
                <a16:creationId xmlns:a16="http://schemas.microsoft.com/office/drawing/2014/main" id="{838E3062-3AEA-D6C9-176C-9AD7BDAF811A}"/>
              </a:ext>
            </a:extLst>
          </p:cNvPr>
          <p:cNvSpPr>
            <a:spLocks noGrp="1" noChangeArrowheads="1"/>
          </p:cNvSpPr>
          <p:nvPr>
            <p:ph type="subTitle" idx="4294967295"/>
          </p:nvPr>
        </p:nvSpPr>
        <p:spPr>
          <a:xfrm>
            <a:off x="2514600" y="1828800"/>
            <a:ext cx="6934200" cy="4800600"/>
          </a:xfrm>
        </p:spPr>
        <p:txBody>
          <a:bodyPr/>
          <a:lstStyle/>
          <a:p>
            <a:r>
              <a:rPr lang="en-US" altLang="en-US" sz="2400">
                <a:solidFill>
                  <a:srgbClr val="7030A0"/>
                </a:solidFill>
                <a:latin typeface="Arial Rounded MT Bold" panose="020F0704030504030204" pitchFamily="34" charset="0"/>
              </a:rPr>
              <a:t>Evaporation is the partial removal of water from liquid foods by boiling. When the operation is done under vacuum, boiling is avoided and the food's flavour qualities are retained. </a:t>
            </a:r>
            <a:br>
              <a:rPr lang="en-US" altLang="en-US" sz="2400">
                <a:solidFill>
                  <a:srgbClr val="7030A0"/>
                </a:solidFill>
                <a:latin typeface="Arial Rounded MT Bold" panose="020F0704030504030204" pitchFamily="34" charset="0"/>
              </a:rPr>
            </a:br>
            <a:endParaRPr lang="en-US" altLang="en-US" sz="2400">
              <a:solidFill>
                <a:srgbClr val="7030A0"/>
              </a:solidFill>
              <a:latin typeface="Arial Rounded MT Bold" panose="020F0704030504030204" pitchFamily="34" charset="0"/>
            </a:endParaRPr>
          </a:p>
          <a:p>
            <a:br>
              <a:rPr lang="en-US" altLang="en-US" sz="2400">
                <a:latin typeface="Arial Rounded MT Bold" panose="020F0704030504030204" pitchFamily="34" charset="0"/>
              </a:rPr>
            </a:br>
            <a:r>
              <a:rPr lang="en-US" altLang="en-US" sz="2400">
                <a:solidFill>
                  <a:srgbClr val="00B050"/>
                </a:solidFill>
                <a:latin typeface="Arial Rounded MT Bold" panose="020F0704030504030204" pitchFamily="34" charset="0"/>
              </a:rPr>
              <a:t>Some of the foods that have undergone evaporation are evaporated milk, tomato paste and juice concentrates.</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a:extLst>
              <a:ext uri="{FF2B5EF4-FFF2-40B4-BE49-F238E27FC236}">
                <a16:creationId xmlns:a16="http://schemas.microsoft.com/office/drawing/2014/main" id="{AAA0A633-5C14-C381-C825-CAD8CAA3C47F}"/>
              </a:ext>
            </a:extLst>
          </p:cNvPr>
          <p:cNvSpPr>
            <a:spLocks noGrp="1" noChangeArrowheads="1"/>
          </p:cNvSpPr>
          <p:nvPr>
            <p:ph type="title"/>
          </p:nvPr>
        </p:nvSpPr>
        <p:spPr>
          <a:xfrm>
            <a:off x="1981200" y="838200"/>
            <a:ext cx="8229600" cy="609600"/>
          </a:xfrm>
        </p:spPr>
        <p:txBody>
          <a:bodyPr>
            <a:normAutofit fontScale="90000"/>
          </a:bodyPr>
          <a:lstStyle/>
          <a:p>
            <a:r>
              <a:rPr lang="en-US" altLang="en-US" sz="2800">
                <a:solidFill>
                  <a:srgbClr val="00B050"/>
                </a:solidFill>
                <a:latin typeface="Arial Rounded MT Bold" panose="020F0704030504030204" pitchFamily="34" charset="0"/>
              </a:rPr>
              <a:t>This process is carried out for three main reasons:</a:t>
            </a:r>
          </a:p>
        </p:txBody>
      </p:sp>
      <p:sp>
        <p:nvSpPr>
          <p:cNvPr id="44035" name="Rectangle 6">
            <a:extLst>
              <a:ext uri="{FF2B5EF4-FFF2-40B4-BE49-F238E27FC236}">
                <a16:creationId xmlns:a16="http://schemas.microsoft.com/office/drawing/2014/main" id="{C532F1A4-A355-67F7-0BEB-2D3C43200D56}"/>
              </a:ext>
            </a:extLst>
          </p:cNvPr>
          <p:cNvSpPr>
            <a:spLocks noGrp="1" noChangeArrowheads="1"/>
          </p:cNvSpPr>
          <p:nvPr>
            <p:ph idx="1"/>
          </p:nvPr>
        </p:nvSpPr>
        <p:spPr>
          <a:xfrm>
            <a:off x="2590800" y="1676400"/>
            <a:ext cx="7010400" cy="4572000"/>
          </a:xfrm>
        </p:spPr>
        <p:txBody>
          <a:bodyPr/>
          <a:lstStyle/>
          <a:p>
            <a:r>
              <a:rPr lang="en-US" altLang="en-US" sz="2400">
                <a:solidFill>
                  <a:srgbClr val="C00000"/>
                </a:solidFill>
                <a:latin typeface="Arial Rounded MT Bold" panose="020F0704030504030204" pitchFamily="34" charset="0"/>
              </a:rPr>
              <a:t>to reduce the weight and, therefore, </a:t>
            </a:r>
          </a:p>
          <a:p>
            <a:endParaRPr lang="en-US" altLang="en-US" sz="2400">
              <a:latin typeface="Arial Rounded MT Bold" panose="020F0704030504030204" pitchFamily="34" charset="0"/>
            </a:endParaRPr>
          </a:p>
          <a:p>
            <a:r>
              <a:rPr lang="en-US" altLang="en-US" sz="2400">
                <a:solidFill>
                  <a:srgbClr val="00B0F0"/>
                </a:solidFill>
                <a:latin typeface="Arial Rounded MT Bold" panose="020F0704030504030204" pitchFamily="34" charset="0"/>
              </a:rPr>
              <a:t>reduce storage and transport costs;</a:t>
            </a:r>
          </a:p>
          <a:p>
            <a:endParaRPr lang="en-US" altLang="en-US" sz="2400">
              <a:latin typeface="Arial Rounded MT Bold" panose="020F0704030504030204" pitchFamily="34" charset="0"/>
            </a:endParaRPr>
          </a:p>
          <a:p>
            <a:r>
              <a:rPr lang="en-US" altLang="en-US" sz="2400">
                <a:solidFill>
                  <a:srgbClr val="C00000"/>
                </a:solidFill>
                <a:latin typeface="Arial Rounded MT Bold" panose="020F0704030504030204" pitchFamily="34" charset="0"/>
              </a:rPr>
              <a:t>to preserve foods by decreasing the water activity and increasing the solids content; and</a:t>
            </a:r>
          </a:p>
          <a:p>
            <a:endParaRPr lang="en-US" altLang="en-US" sz="2400">
              <a:latin typeface="Arial Rounded MT Bold" panose="020F0704030504030204" pitchFamily="34" charset="0"/>
            </a:endParaRPr>
          </a:p>
          <a:p>
            <a:r>
              <a:rPr lang="en-US" altLang="en-US" sz="2400">
                <a:solidFill>
                  <a:srgbClr val="00B0F0"/>
                </a:solidFill>
                <a:latin typeface="Arial Rounded MT Bold" panose="020F0704030504030204" pitchFamily="34" charset="0"/>
              </a:rPr>
              <a:t>to provide consumers with convenient foods.</a:t>
            </a:r>
          </a:p>
        </p:txBody>
      </p:sp>
      <p:sp>
        <p:nvSpPr>
          <p:cNvPr id="44036" name="Slide Number Placeholder 5">
            <a:extLst>
              <a:ext uri="{FF2B5EF4-FFF2-40B4-BE49-F238E27FC236}">
                <a16:creationId xmlns:a16="http://schemas.microsoft.com/office/drawing/2014/main" id="{C9A1043E-D04F-3BB7-331D-02EBBECA1226}"/>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8566DC3-1957-4F60-B58B-0A50C2A02FDD}" type="slidenum">
              <a:rPr lang="en-US" altLang="en-US"/>
              <a:pPr/>
              <a:t>20</a:t>
            </a:fld>
            <a:endParaRPr lang="en-US" altLang="en-US"/>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a:extLst>
              <a:ext uri="{FF2B5EF4-FFF2-40B4-BE49-F238E27FC236}">
                <a16:creationId xmlns:a16="http://schemas.microsoft.com/office/drawing/2014/main" id="{F9485210-DFA7-4BAA-5A89-316E0D7CE8F4}"/>
              </a:ext>
            </a:extLst>
          </p:cNvPr>
          <p:cNvSpPr>
            <a:spLocks noGrp="1" noChangeArrowheads="1"/>
          </p:cNvSpPr>
          <p:nvPr>
            <p:ph type="title"/>
          </p:nvPr>
        </p:nvSpPr>
        <p:spPr>
          <a:xfrm>
            <a:off x="3048000" y="457200"/>
            <a:ext cx="6096000" cy="457200"/>
          </a:xfrm>
        </p:spPr>
        <p:txBody>
          <a:bodyPr>
            <a:normAutofit fontScale="90000"/>
          </a:bodyPr>
          <a:lstStyle/>
          <a:p>
            <a:r>
              <a:rPr lang="en-US" altLang="en-US" sz="2800" b="1">
                <a:solidFill>
                  <a:srgbClr val="00B0F0"/>
                </a:solidFill>
                <a:latin typeface="Arial Rounded MT Bold" panose="020F0704030504030204" pitchFamily="34" charset="0"/>
              </a:rPr>
              <a:t>Dehydration</a:t>
            </a:r>
          </a:p>
        </p:txBody>
      </p:sp>
      <p:sp>
        <p:nvSpPr>
          <p:cNvPr id="45059" name="Slide Number Placeholder 5">
            <a:extLst>
              <a:ext uri="{FF2B5EF4-FFF2-40B4-BE49-F238E27FC236}">
                <a16:creationId xmlns:a16="http://schemas.microsoft.com/office/drawing/2014/main" id="{2E374698-195E-6557-7C87-860A4EE0A20A}"/>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ACDD46-44B9-4F95-80DA-20FA805CBB17}" type="slidenum">
              <a:rPr lang="en-US" altLang="en-US"/>
              <a:pPr/>
              <a:t>21</a:t>
            </a:fld>
            <a:endParaRPr lang="en-US" altLang="en-US"/>
          </a:p>
        </p:txBody>
      </p:sp>
      <p:sp>
        <p:nvSpPr>
          <p:cNvPr id="45060" name="Rectangle 6">
            <a:extLst>
              <a:ext uri="{FF2B5EF4-FFF2-40B4-BE49-F238E27FC236}">
                <a16:creationId xmlns:a16="http://schemas.microsoft.com/office/drawing/2014/main" id="{AD6A79C2-F451-CEBF-870F-182A3CC3DB76}"/>
              </a:ext>
            </a:extLst>
          </p:cNvPr>
          <p:cNvSpPr>
            <a:spLocks noGrp="1" noChangeArrowheads="1"/>
          </p:cNvSpPr>
          <p:nvPr>
            <p:ph type="subTitle" idx="4294967295"/>
          </p:nvPr>
        </p:nvSpPr>
        <p:spPr>
          <a:xfrm>
            <a:off x="2362200" y="1143000"/>
            <a:ext cx="7239000" cy="5410200"/>
          </a:xfrm>
        </p:spPr>
        <p:txBody>
          <a:bodyPr/>
          <a:lstStyle/>
          <a:p>
            <a:pPr>
              <a:lnSpc>
                <a:spcPct val="80000"/>
              </a:lnSpc>
            </a:pPr>
            <a:r>
              <a:rPr lang="en-US" altLang="en-US" sz="2400">
                <a:solidFill>
                  <a:srgbClr val="7030A0"/>
                </a:solidFill>
                <a:latin typeface="Arial Rounded MT Bold" panose="020F0704030504030204" pitchFamily="34" charset="0"/>
              </a:rPr>
              <a:t>Dehydration-or drying-is the nearly complete removal of water from solid foods. </a:t>
            </a:r>
          </a:p>
          <a:p>
            <a:pPr>
              <a:lnSpc>
                <a:spcPct val="80000"/>
              </a:lnSpc>
            </a:pPr>
            <a:endParaRPr lang="en-US" altLang="en-US" sz="2400">
              <a:latin typeface="Arial Rounded MT Bold" panose="020F0704030504030204" pitchFamily="34" charset="0"/>
            </a:endParaRPr>
          </a:p>
          <a:p>
            <a:pPr>
              <a:lnSpc>
                <a:spcPct val="80000"/>
              </a:lnSpc>
            </a:pPr>
            <a:r>
              <a:rPr lang="en-US" altLang="en-US" sz="2400">
                <a:solidFill>
                  <a:srgbClr val="FF0000"/>
                </a:solidFill>
                <a:latin typeface="Arial Rounded MT Bold" panose="020F0704030504030204" pitchFamily="34" charset="0"/>
              </a:rPr>
              <a:t>One of the oldest methods of food preservation, it was traditionally carried out by the sun.</a:t>
            </a:r>
            <a:r>
              <a:rPr lang="en-US" altLang="en-US" sz="2400">
                <a:latin typeface="Arial Rounded MT Bold" panose="020F0704030504030204" pitchFamily="34" charset="0"/>
              </a:rPr>
              <a:t> </a:t>
            </a:r>
            <a:br>
              <a:rPr lang="en-US" altLang="en-US" sz="2400">
                <a:latin typeface="Arial Rounded MT Bold" panose="020F0704030504030204" pitchFamily="34" charset="0"/>
              </a:rPr>
            </a:br>
            <a:endParaRPr lang="en-US" altLang="en-US" sz="2400">
              <a:latin typeface="Arial Rounded MT Bold" panose="020F0704030504030204" pitchFamily="34" charset="0"/>
            </a:endParaRPr>
          </a:p>
          <a:p>
            <a:pPr>
              <a:lnSpc>
                <a:spcPct val="80000"/>
              </a:lnSpc>
            </a:pPr>
            <a:br>
              <a:rPr lang="en-US" altLang="en-US" sz="2400">
                <a:latin typeface="Arial Rounded MT Bold" panose="020F0704030504030204" pitchFamily="34" charset="0"/>
              </a:rPr>
            </a:br>
            <a:r>
              <a:rPr lang="en-US" altLang="en-US" sz="2400">
                <a:solidFill>
                  <a:srgbClr val="7030A0"/>
                </a:solidFill>
                <a:latin typeface="Arial Rounded MT Bold" panose="020F0704030504030204" pitchFamily="34" charset="0"/>
              </a:rPr>
              <a:t>This application is used for the same reasons that liquid foods undergo evaporation-preservation, convenience and cost savings.</a:t>
            </a:r>
          </a:p>
          <a:p>
            <a:pPr>
              <a:lnSpc>
                <a:spcPct val="80000"/>
              </a:lnSpc>
            </a:pPr>
            <a:endParaRPr lang="en-US" altLang="en-US" sz="2400">
              <a:latin typeface="Arial Rounded MT Bold" panose="020F0704030504030204" pitchFamily="34" charset="0"/>
            </a:endParaRPr>
          </a:p>
          <a:p>
            <a:pPr>
              <a:lnSpc>
                <a:spcPct val="80000"/>
              </a:lnSpc>
            </a:pPr>
            <a:r>
              <a:rPr lang="en-US" altLang="en-US" sz="2400">
                <a:solidFill>
                  <a:srgbClr val="FF0000"/>
                </a:solidFill>
                <a:latin typeface="Arial Rounded MT Bold" panose="020F0704030504030204" pitchFamily="34" charset="0"/>
              </a:rPr>
              <a:t> Dried soup mixes, dried fruit, powdered milk and spices are just a few examples of dehydrated foods.</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60BE4-C143-D677-C785-F87AAB8DC664}"/>
              </a:ext>
            </a:extLst>
          </p:cNvPr>
          <p:cNvSpPr>
            <a:spLocks noGrp="1"/>
          </p:cNvSpPr>
          <p:nvPr>
            <p:ph type="title"/>
          </p:nvPr>
        </p:nvSpPr>
        <p:spPr>
          <a:xfrm>
            <a:off x="838200" y="365126"/>
            <a:ext cx="10515600" cy="6063810"/>
          </a:xfrm>
        </p:spPr>
        <p:txBody>
          <a:bodyPr>
            <a:normAutofit fontScale="90000"/>
          </a:bodyPr>
          <a:lstStyle/>
          <a:p>
            <a:r>
              <a:rPr lang="en-US" sz="4000" b="1" i="0" strike="noStrike" dirty="0">
                <a:effectLst/>
                <a:highlight>
                  <a:srgbClr val="FFFFFF"/>
                </a:highlight>
                <a:latin typeface="Times New Roman" panose="02020603050405020304" pitchFamily="18" charset="0"/>
                <a:cs typeface="Times New Roman" panose="02020603050405020304" pitchFamily="18" charset="0"/>
                <a:hlinkClick r:id="rId2"/>
              </a:rPr>
              <a:t>DRYING</a:t>
            </a:r>
            <a:br>
              <a:rPr lang="en-US" sz="4000" b="1" i="0" strike="noStrike" dirty="0">
                <a:effectLst/>
                <a:highlight>
                  <a:srgbClr val="FFFFFF"/>
                </a:highlight>
                <a:latin typeface="Times New Roman" panose="02020603050405020304" pitchFamily="18" charset="0"/>
                <a:cs typeface="Times New Roman" panose="02020603050405020304" pitchFamily="18" charset="0"/>
                <a:hlinkClick r:id="rId2"/>
              </a:rPr>
            </a:br>
            <a:r>
              <a:rPr lang="en-US" sz="4000" b="1" i="0" strike="noStrike" dirty="0">
                <a:effectLst/>
                <a:highlight>
                  <a:srgbClr val="FFFFFF"/>
                </a:highlight>
                <a:latin typeface="Times New Roman" panose="02020603050405020304" pitchFamily="18" charset="0"/>
                <a:cs typeface="Times New Roman" panose="02020603050405020304" pitchFamily="18" charset="0"/>
                <a:hlinkClick r:id="rId2"/>
              </a:rPr>
              <a:t>Drying is </a:t>
            </a:r>
            <a:r>
              <a:rPr lang="en-US" sz="4000" b="0" i="0" dirty="0">
                <a:solidFill>
                  <a:srgbClr val="000000"/>
                </a:solidFill>
                <a:effectLst/>
                <a:highlight>
                  <a:srgbClr val="FFFFFF"/>
                </a:highlight>
                <a:latin typeface="Times New Roman" panose="02020603050405020304" pitchFamily="18" charset="0"/>
                <a:cs typeface="Times New Roman" panose="02020603050405020304" pitchFamily="18" charset="0"/>
              </a:rPr>
              <a:t>the process of removing liquid from solids by evaporation</a:t>
            </a:r>
            <a:br>
              <a:rPr lang="en-US" sz="4000" b="0" i="0" dirty="0">
                <a:solidFill>
                  <a:srgbClr val="000000"/>
                </a:solidFill>
                <a:effectLst/>
                <a:highlight>
                  <a:srgbClr val="FFFFFF"/>
                </a:highlight>
                <a:latin typeface="Times New Roman" panose="02020603050405020304" pitchFamily="18" charset="0"/>
                <a:cs typeface="Times New Roman" panose="02020603050405020304" pitchFamily="18" charset="0"/>
              </a:rPr>
            </a:br>
            <a:br>
              <a:rPr lang="en-US" sz="4000" b="0" i="0" dirty="0">
                <a:solidFill>
                  <a:srgbClr val="000000"/>
                </a:solidFill>
                <a:effectLst/>
                <a:highlight>
                  <a:srgbClr val="FFFFFF"/>
                </a:highlight>
                <a:latin typeface="Times New Roman" panose="02020603050405020304" pitchFamily="18" charset="0"/>
                <a:cs typeface="Times New Roman" panose="02020603050405020304" pitchFamily="18" charset="0"/>
              </a:rPr>
            </a:br>
            <a:r>
              <a:rPr lang="en-US" sz="4000" b="1" i="0" dirty="0">
                <a:solidFill>
                  <a:srgbClr val="000000"/>
                </a:solidFill>
                <a:effectLst/>
                <a:highlight>
                  <a:srgbClr val="FFFFFF"/>
                </a:highlight>
                <a:latin typeface="Times New Roman" panose="02020603050405020304" pitchFamily="18" charset="0"/>
                <a:cs typeface="Times New Roman" panose="02020603050405020304" pitchFamily="18" charset="0"/>
              </a:rPr>
              <a:t> Spray drying </a:t>
            </a:r>
            <a:r>
              <a:rPr lang="en-US" sz="4000" b="0" i="0" dirty="0">
                <a:solidFill>
                  <a:srgbClr val="000000"/>
                </a:solidFill>
                <a:effectLst/>
                <a:highlight>
                  <a:srgbClr val="FFFFFF"/>
                </a:highlight>
                <a:latin typeface="Times New Roman" panose="02020603050405020304" pitchFamily="18" charset="0"/>
                <a:cs typeface="Times New Roman" panose="02020603050405020304" pitchFamily="18" charset="0"/>
              </a:rPr>
              <a:t>is a method of producing a dry powder from a liquid or slurry by rapidly drying with a hot gas</a:t>
            </a:r>
            <a:r>
              <a:rPr lang="en-IN" sz="4000" b="0" i="0" dirty="0">
                <a:solidFill>
                  <a:srgbClr val="000000"/>
                </a:solidFill>
                <a:effectLst/>
                <a:highlight>
                  <a:srgbClr val="FFFFFF"/>
                </a:highlight>
                <a:latin typeface="Times New Roman" panose="02020603050405020304" pitchFamily="18" charset="0"/>
                <a:cs typeface="Times New Roman" panose="02020603050405020304" pitchFamily="18" charset="0"/>
              </a:rPr>
              <a:t>. </a:t>
            </a:r>
            <a:br>
              <a:rPr lang="en-IN" sz="4000" dirty="0">
                <a:solidFill>
                  <a:srgbClr val="000000"/>
                </a:solidFill>
                <a:highlight>
                  <a:srgbClr val="FFFFFF"/>
                </a:highlight>
                <a:latin typeface="Times New Roman" panose="02020603050405020304" pitchFamily="18" charset="0"/>
                <a:cs typeface="Times New Roman" panose="02020603050405020304" pitchFamily="18" charset="0"/>
              </a:rPr>
            </a:br>
            <a:r>
              <a:rPr lang="en-IN" sz="4000" b="1" i="0" strike="noStrike" dirty="0">
                <a:solidFill>
                  <a:srgbClr val="0563C1"/>
                </a:solidFill>
                <a:effectLst/>
                <a:highlight>
                  <a:srgbClr val="FFFFFF"/>
                </a:highligh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APPLICATIONS </a:t>
            </a:r>
            <a:br>
              <a:rPr lang="en-IN" sz="4000" b="1" i="0" strike="noStrike" dirty="0">
                <a:solidFill>
                  <a:srgbClr val="0563C1"/>
                </a:solidFill>
                <a:effectLst/>
                <a:highlight>
                  <a:srgbClr val="FFFFFF"/>
                </a:highligh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br>
            <a:r>
              <a:rPr lang="en-IN" sz="4000" b="1" i="0" strike="noStrike" dirty="0">
                <a:solidFill>
                  <a:srgbClr val="0563C1"/>
                </a:solidFill>
                <a:effectLst/>
                <a:highlight>
                  <a:srgbClr val="FFFFFF"/>
                </a:highligh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1. </a:t>
            </a:r>
            <a:r>
              <a:rPr lang="en-IN" sz="4000" i="0" strike="noStrike" dirty="0">
                <a:effectLst/>
                <a:highlight>
                  <a:srgbClr val="FFFFFF"/>
                </a:highligh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Milk Products </a:t>
            </a:r>
            <a:br>
              <a:rPr lang="en-IN" sz="4000" b="1" i="0" strike="noStrike" dirty="0">
                <a:effectLst/>
                <a:highlight>
                  <a:srgbClr val="FFFFFF"/>
                </a:highlight>
                <a:latin typeface="Times New Roman" panose="02020603050405020304" pitchFamily="18" charset="0"/>
                <a:cs typeface="Times New Roman" panose="02020603050405020304" pitchFamily="18" charset="0"/>
              </a:rPr>
            </a:br>
            <a:r>
              <a:rPr lang="en-IN" sz="4000" b="1" i="0" strike="noStrike" dirty="0">
                <a:effectLst/>
                <a:highlight>
                  <a:srgbClr val="FFFFFF"/>
                </a:highlight>
                <a:latin typeface="Times New Roman" panose="02020603050405020304" pitchFamily="18" charset="0"/>
                <a:cs typeface="Times New Roman" panose="02020603050405020304" pitchFamily="18" charset="0"/>
              </a:rPr>
              <a:t>2. </a:t>
            </a:r>
            <a:r>
              <a:rPr lang="en-IN" sz="4000" b="0" i="0" dirty="0">
                <a:solidFill>
                  <a:srgbClr val="000000"/>
                </a:solidFill>
                <a:effectLst/>
                <a:highlight>
                  <a:srgbClr val="FFFFFF"/>
                </a:highlight>
                <a:latin typeface="Times New Roman" panose="02020603050405020304" pitchFamily="18" charset="0"/>
                <a:cs typeface="Times New Roman" panose="02020603050405020304" pitchFamily="18" charset="0"/>
              </a:rPr>
              <a:t>Instant coffee powders</a:t>
            </a:r>
            <a:br>
              <a:rPr lang="en-IN" sz="4000" b="0" i="0" dirty="0">
                <a:solidFill>
                  <a:srgbClr val="000000"/>
                </a:solidFill>
                <a:effectLst/>
                <a:highlight>
                  <a:srgbClr val="FFFFFF"/>
                </a:highlight>
                <a:latin typeface="Times New Roman" panose="02020603050405020304" pitchFamily="18" charset="0"/>
                <a:cs typeface="Times New Roman" panose="02020603050405020304" pitchFamily="18" charset="0"/>
              </a:rPr>
            </a:br>
            <a:r>
              <a:rPr lang="en-IN" sz="4000" b="0" i="0" dirty="0">
                <a:solidFill>
                  <a:srgbClr val="000000"/>
                </a:solidFill>
                <a:effectLst/>
                <a:highlight>
                  <a:srgbClr val="FFFFFF"/>
                </a:highlight>
                <a:latin typeface="Times New Roman" panose="02020603050405020304" pitchFamily="18" charset="0"/>
                <a:cs typeface="Times New Roman" panose="02020603050405020304" pitchFamily="18" charset="0"/>
              </a:rPr>
              <a:t>3. F</a:t>
            </a:r>
            <a:r>
              <a:rPr lang="en-US" sz="4000" b="0" i="0" dirty="0">
                <a:solidFill>
                  <a:srgbClr val="000000"/>
                </a:solidFill>
                <a:effectLst/>
                <a:highlight>
                  <a:srgbClr val="FFFFFF"/>
                </a:highlight>
                <a:latin typeface="Times New Roman" panose="02020603050405020304" pitchFamily="18" charset="0"/>
                <a:cs typeface="Times New Roman" panose="02020603050405020304" pitchFamily="18" charset="0"/>
              </a:rPr>
              <a:t>ruit pulps, juices and pastes can be spray dried.</a:t>
            </a:r>
            <a:r>
              <a:rPr lang="en-IN" sz="4000" b="0" i="0" dirty="0">
                <a:solidFill>
                  <a:srgbClr val="000000"/>
                </a:solidFill>
                <a:effectLst/>
                <a:highlight>
                  <a:srgbClr val="FFFFFF"/>
                </a:highlight>
                <a:latin typeface="Times New Roman" panose="02020603050405020304" pitchFamily="18" charset="0"/>
                <a:cs typeface="Times New Roman" panose="02020603050405020304" pitchFamily="18" charset="0"/>
              </a:rPr>
              <a:t> . </a:t>
            </a:r>
            <a:br>
              <a:rPr lang="en-IN" sz="4000" b="0" i="0" dirty="0">
                <a:solidFill>
                  <a:srgbClr val="000000"/>
                </a:solidFill>
                <a:effectLst/>
                <a:highlight>
                  <a:srgbClr val="FFFFFF"/>
                </a:highlight>
                <a:latin typeface="Times New Roman" panose="02020603050405020304" pitchFamily="18" charset="0"/>
                <a:cs typeface="Times New Roman" panose="02020603050405020304" pitchFamily="18" charset="0"/>
              </a:rPr>
            </a:br>
            <a:r>
              <a:rPr lang="en-IN" sz="4000" b="0" i="0" dirty="0">
                <a:solidFill>
                  <a:srgbClr val="000000"/>
                </a:solidFill>
                <a:effectLst/>
                <a:highlight>
                  <a:srgbClr val="FFFFFF"/>
                </a:highlight>
                <a:latin typeface="Times New Roman" panose="02020603050405020304" pitchFamily="18" charset="0"/>
                <a:cs typeface="Times New Roman" panose="02020603050405020304" pitchFamily="18" charset="0"/>
              </a:rPr>
              <a:t>4. </a:t>
            </a:r>
            <a:r>
              <a:rPr lang="en-IN" sz="4000" i="0" u="sng" strike="noStrike" dirty="0">
                <a:effectLst/>
                <a:highlight>
                  <a:srgbClr val="FFFFFF"/>
                </a:highligh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Pharmaceutical products:- Algae </a:t>
            </a:r>
            <a:r>
              <a:rPr lang="en-IN" sz="4000" b="0" i="0" dirty="0">
                <a:solidFill>
                  <a:srgbClr val="000000"/>
                </a:solidFill>
                <a:effectLst/>
                <a:highlight>
                  <a:srgbClr val="FFFFFF"/>
                </a:highlight>
                <a:latin typeface="Times New Roman" panose="02020603050405020304" pitchFamily="18" charset="0"/>
                <a:cs typeface="Times New Roman" panose="02020603050405020304" pitchFamily="18" charset="0"/>
              </a:rPr>
              <a:t>, Antibiotics and moulds, Bacitracin ,Penicillin , Streptomycin</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4111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48FEB4D8-946C-F51B-4EEE-535773A8ABF1}"/>
              </a:ext>
            </a:extLst>
          </p:cNvPr>
          <p:cNvSpPr>
            <a:spLocks noGrp="1" noChangeArrowheads="1"/>
          </p:cNvSpPr>
          <p:nvPr>
            <p:ph type="title"/>
          </p:nvPr>
        </p:nvSpPr>
        <p:spPr>
          <a:xfrm>
            <a:off x="2590800" y="2743200"/>
            <a:ext cx="7010400" cy="1143000"/>
          </a:xfrm>
        </p:spPr>
        <p:txBody>
          <a:bodyPr>
            <a:normAutofit fontScale="90000"/>
          </a:bodyPr>
          <a:lstStyle/>
          <a:p>
            <a:pPr algn="l"/>
            <a:r>
              <a:rPr lang="en-US" altLang="en-US" sz="2400">
                <a:solidFill>
                  <a:srgbClr val="FF0000"/>
                </a:solidFill>
                <a:latin typeface="Arial Rounded MT Bold" panose="020F0704030504030204" pitchFamily="34" charset="0"/>
              </a:rPr>
              <a:t>Spray drying and freeze drying are two drying methods used widely today. </a:t>
            </a:r>
            <a:br>
              <a:rPr lang="en-US" altLang="en-US" sz="2400">
                <a:solidFill>
                  <a:srgbClr val="FF0000"/>
                </a:solidFill>
                <a:latin typeface="Arial Rounded MT Bold" panose="020F0704030504030204" pitchFamily="34" charset="0"/>
              </a:rPr>
            </a:br>
            <a:br>
              <a:rPr lang="en-US" altLang="en-US" sz="2400">
                <a:latin typeface="Arial Rounded MT Bold" panose="020F0704030504030204" pitchFamily="34" charset="0"/>
              </a:rPr>
            </a:br>
            <a:r>
              <a:rPr lang="en-US" altLang="en-US" sz="2400">
                <a:solidFill>
                  <a:srgbClr val="00B050"/>
                </a:solidFill>
                <a:latin typeface="Arial Rounded MT Bold" panose="020F0704030504030204" pitchFamily="34" charset="0"/>
              </a:rPr>
              <a:t>Spray drying is when a liquid food is atomized into a fine, dry powder</a:t>
            </a:r>
            <a:r>
              <a:rPr lang="en-US" altLang="en-US" sz="2400">
                <a:latin typeface="Arial Rounded MT Bold" panose="020F0704030504030204" pitchFamily="34" charset="0"/>
              </a:rPr>
              <a:t>. </a:t>
            </a:r>
            <a:br>
              <a:rPr lang="en-US" altLang="en-US" sz="2400">
                <a:latin typeface="Arial Rounded MT Bold" panose="020F0704030504030204" pitchFamily="34" charset="0"/>
              </a:rPr>
            </a:br>
            <a:br>
              <a:rPr lang="en-US" altLang="en-US" sz="2400">
                <a:latin typeface="Arial Rounded MT Bold" panose="020F0704030504030204" pitchFamily="34" charset="0"/>
              </a:rPr>
            </a:br>
            <a:r>
              <a:rPr lang="en-US" altLang="en-US" sz="2400">
                <a:solidFill>
                  <a:srgbClr val="FF0000"/>
                </a:solidFill>
                <a:latin typeface="Arial Rounded MT Bold" panose="020F0704030504030204" pitchFamily="34" charset="0"/>
              </a:rPr>
              <a:t>Examples include natural and artificial flavours and milk powders. </a:t>
            </a:r>
            <a:br>
              <a:rPr lang="en-US" altLang="en-US" sz="2400">
                <a:latin typeface="Arial Rounded MT Bold" panose="020F0704030504030204" pitchFamily="34" charset="0"/>
              </a:rPr>
            </a:br>
            <a:br>
              <a:rPr lang="en-US" altLang="en-US" sz="2400">
                <a:latin typeface="Arial Rounded MT Bold" panose="020F0704030504030204" pitchFamily="34" charset="0"/>
              </a:rPr>
            </a:br>
            <a:r>
              <a:rPr lang="en-US" altLang="en-US" sz="2400">
                <a:solidFill>
                  <a:srgbClr val="00B050"/>
                </a:solidFill>
                <a:latin typeface="Arial Rounded MT Bold" panose="020F0704030504030204" pitchFamily="34" charset="0"/>
              </a:rPr>
              <a:t>Freeze drying involves first freezing the food and then driving off the ice, leaving a high quality, porous dried food such as instant coffee.</a:t>
            </a:r>
          </a:p>
        </p:txBody>
      </p:sp>
      <p:sp>
        <p:nvSpPr>
          <p:cNvPr id="46083" name="Slide Number Placeholder 4">
            <a:extLst>
              <a:ext uri="{FF2B5EF4-FFF2-40B4-BE49-F238E27FC236}">
                <a16:creationId xmlns:a16="http://schemas.microsoft.com/office/drawing/2014/main" id="{CF9D4EC1-F787-33B5-3F3D-FAF22509A083}"/>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568AF3-E5C5-4B87-A75F-49669E236496}" type="slidenum">
              <a:rPr lang="en-US" altLang="en-US"/>
              <a:pPr/>
              <a:t>23</a:t>
            </a:fld>
            <a:endParaRPr lang="en-US" altLang="en-US"/>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211A2C-B312-F2EB-E8F9-14965E28FB85}"/>
              </a:ext>
            </a:extLst>
          </p:cNvPr>
          <p:cNvPicPr>
            <a:picLocks noChangeAspect="1"/>
          </p:cNvPicPr>
          <p:nvPr/>
        </p:nvPicPr>
        <p:blipFill>
          <a:blip r:embed="rId2"/>
          <a:stretch>
            <a:fillRect/>
          </a:stretch>
        </p:blipFill>
        <p:spPr>
          <a:xfrm>
            <a:off x="829994" y="738187"/>
            <a:ext cx="10128738" cy="5381625"/>
          </a:xfrm>
          <a:prstGeom prst="rect">
            <a:avLst/>
          </a:prstGeom>
        </p:spPr>
      </p:pic>
    </p:spTree>
    <p:extLst>
      <p:ext uri="{BB962C8B-B14F-4D97-AF65-F5344CB8AC3E}">
        <p14:creationId xmlns:p14="http://schemas.microsoft.com/office/powerpoint/2010/main" val="1936479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ENERAL PROCESS INVOLVED&#10;CONCENTRATION&#10;ATOMIZATION&#10;DROPLET AIR CONTACT&#10;DROPLET DRYING&#10;SEPERATION&#10; ">
            <a:extLst>
              <a:ext uri="{FF2B5EF4-FFF2-40B4-BE49-F238E27FC236}">
                <a16:creationId xmlns:a16="http://schemas.microsoft.com/office/drawing/2014/main" id="{5C3EA720-402B-3D5C-5946-E660CF1CF2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466" r="31734" b="14883"/>
          <a:stretch/>
        </p:blipFill>
        <p:spPr bwMode="auto">
          <a:xfrm>
            <a:off x="2067952" y="562708"/>
            <a:ext cx="7469944" cy="6295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6937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F3AB3E-0474-C81E-944D-82CEEB6168F3}"/>
              </a:ext>
            </a:extLst>
          </p:cNvPr>
          <p:cNvSpPr txBox="1"/>
          <p:nvPr/>
        </p:nvSpPr>
        <p:spPr>
          <a:xfrm>
            <a:off x="506437" y="213083"/>
            <a:ext cx="10930597" cy="5570756"/>
          </a:xfrm>
          <a:prstGeom prst="rect">
            <a:avLst/>
          </a:prstGeom>
          <a:noFill/>
        </p:spPr>
        <p:txBody>
          <a:bodyPr wrap="square">
            <a:spAutoFit/>
          </a:bodyPr>
          <a:lstStyle/>
          <a:p>
            <a:pPr algn="just"/>
            <a:endParaRPr lang="en-US" sz="3200" b="1" i="0" u="none" strike="noStrike" dirty="0">
              <a:solidFill>
                <a:srgbClr val="0563C1"/>
              </a:solidFill>
              <a:effectLst/>
              <a:highlight>
                <a:srgbClr val="FFFFFF"/>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endParaRPr>
          </a:p>
          <a:p>
            <a:pPr algn="ctr"/>
            <a:r>
              <a:rPr lang="en-US" sz="3600" b="1" i="0" u="none" strike="noStrike" dirty="0">
                <a:solidFill>
                  <a:srgbClr val="0563C1"/>
                </a:solidFill>
                <a:effectLst/>
                <a:highlight>
                  <a:srgbClr val="FFFFFF"/>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Freeze drying </a:t>
            </a:r>
            <a:endParaRPr lang="en-US" sz="3600" b="1" dirty="0">
              <a:solidFill>
                <a:srgbClr val="0563C1"/>
              </a:solidFill>
              <a:highlight>
                <a:srgbClr val="FFFFFF"/>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endParaRPr>
          </a:p>
          <a:p>
            <a:pPr algn="just"/>
            <a:endParaRPr lang="en-US" sz="3200" b="1" i="0" u="none" strike="noStrike" dirty="0">
              <a:solidFill>
                <a:srgbClr val="0563C1"/>
              </a:solidFill>
              <a:effectLst/>
              <a:highlight>
                <a:srgbClr val="FFFFFF"/>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endParaRPr>
          </a:p>
          <a:p>
            <a:pPr algn="just"/>
            <a:r>
              <a:rPr lang="en-US" sz="3200" b="1" i="0"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Freeze drying </a:t>
            </a:r>
            <a:r>
              <a:rPr lang="en-US" sz="3200" b="0" i="0" dirty="0">
                <a:effectLst/>
                <a:latin typeface="Times New Roman" panose="02020603050405020304" pitchFamily="18" charset="0"/>
                <a:cs typeface="Times New Roman" panose="02020603050405020304" pitchFamily="18" charset="0"/>
              </a:rPr>
              <a:t>is also known as lyophilization </a:t>
            </a:r>
          </a:p>
          <a:p>
            <a:pPr algn="just"/>
            <a:r>
              <a:rPr lang="en-US" sz="3200" b="0" i="0" dirty="0">
                <a:effectLst/>
                <a:latin typeface="Times New Roman" panose="02020603050405020304" pitchFamily="18" charset="0"/>
                <a:cs typeface="Times New Roman" panose="02020603050405020304" pitchFamily="18" charset="0"/>
              </a:rPr>
              <a:t>lyophilization is carried out using a simple principle of physics, sublimation </a:t>
            </a:r>
          </a:p>
          <a:p>
            <a:pPr algn="just"/>
            <a:endParaRPr lang="en-US" sz="3200" b="1" i="0" strike="noStrike"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endParaRPr>
          </a:p>
          <a:p>
            <a:pPr algn="just"/>
            <a:r>
              <a:rPr lang="en-US" sz="3200" b="1" i="0" strike="noStrike"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Principle </a:t>
            </a:r>
          </a:p>
          <a:p>
            <a:pPr algn="just"/>
            <a:r>
              <a:rPr lang="en-US" sz="3200" i="0" strike="noStrike"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The entire </a:t>
            </a:r>
            <a:r>
              <a:rPr lang="en-US" sz="3200" i="0" dirty="0">
                <a:effectLst/>
                <a:latin typeface="Times New Roman" panose="02020603050405020304" pitchFamily="18" charset="0"/>
                <a:cs typeface="Times New Roman" panose="02020603050405020304" pitchFamily="18" charset="0"/>
              </a:rPr>
              <a:t>process </a:t>
            </a:r>
            <a:r>
              <a:rPr lang="en-US" sz="3200" b="0" i="0" dirty="0">
                <a:effectLst/>
                <a:latin typeface="Times New Roman" panose="02020603050405020304" pitchFamily="18" charset="0"/>
                <a:cs typeface="Times New Roman" panose="02020603050405020304" pitchFamily="18" charset="0"/>
              </a:rPr>
              <a:t>is performed at a low temperature and pressure by applying vacuum, hence it is suited for drying of thermal  sensitive  compounds</a:t>
            </a:r>
            <a:endParaRPr lang="en-IN" sz="3200" dirty="0"/>
          </a:p>
        </p:txBody>
      </p:sp>
    </p:spTree>
    <p:extLst>
      <p:ext uri="{BB962C8B-B14F-4D97-AF65-F5344CB8AC3E}">
        <p14:creationId xmlns:p14="http://schemas.microsoft.com/office/powerpoint/2010/main" val="3602582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006CD2-B79A-E29A-70B9-1440E00F4101}"/>
              </a:ext>
            </a:extLst>
          </p:cNvPr>
          <p:cNvSpPr txBox="1"/>
          <p:nvPr/>
        </p:nvSpPr>
        <p:spPr>
          <a:xfrm>
            <a:off x="450166" y="108073"/>
            <a:ext cx="10494499" cy="6494085"/>
          </a:xfrm>
          <a:prstGeom prst="rect">
            <a:avLst/>
          </a:prstGeom>
          <a:noFill/>
        </p:spPr>
        <p:txBody>
          <a:bodyPr wrap="square">
            <a:spAutoFit/>
          </a:bodyPr>
          <a:lstStyle/>
          <a:p>
            <a:r>
              <a:rPr lang="en-US" sz="3200" b="1" dirty="0">
                <a:solidFill>
                  <a:srgbClr val="000000"/>
                </a:solidFill>
                <a:highlight>
                  <a:srgbClr val="FFFFFF"/>
                </a:highlight>
                <a:latin typeface="Times New Roman" panose="02020603050405020304" pitchFamily="18" charset="0"/>
                <a:cs typeface="Times New Roman" panose="02020603050405020304" pitchFamily="18" charset="0"/>
              </a:rPr>
              <a:t>Procedure </a:t>
            </a:r>
          </a:p>
          <a:p>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 First food products are freezed</a:t>
            </a:r>
          </a:p>
          <a:p>
            <a:r>
              <a:rPr lang="en-US" sz="3200" b="1" dirty="0">
                <a:solidFill>
                  <a:srgbClr val="0563C1"/>
                </a:solidFill>
                <a:highlight>
                  <a:srgbClr val="FFFFFF"/>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 . </a:t>
            </a:r>
            <a:r>
              <a:rPr lang="en-US" sz="3200" dirty="0">
                <a:highlight>
                  <a:srgbClr val="FFFFFF"/>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After </a:t>
            </a:r>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freezing, the product is placed under vacuum. </a:t>
            </a:r>
          </a:p>
          <a:p>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 Heat is applied to frozen product to accelerate sublimation </a:t>
            </a:r>
          </a:p>
          <a:p>
            <a:r>
              <a:rPr lang="en-US" sz="3200" b="1" u="sng" dirty="0">
                <a:highlight>
                  <a:srgbClr val="FFFFFF"/>
                </a:highligh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Characteristics of freeze </a:t>
            </a:r>
            <a:r>
              <a:rPr lang="en-US" sz="3200" b="1" u="sng" dirty="0">
                <a:solidFill>
                  <a:srgbClr val="000000"/>
                </a:solidFill>
                <a:highlight>
                  <a:srgbClr val="FFFFFF"/>
                </a:highlight>
                <a:latin typeface="Times New Roman" panose="02020603050405020304" pitchFamily="18" charset="0"/>
                <a:cs typeface="Times New Roman" panose="02020603050405020304" pitchFamily="18" charset="0"/>
              </a:rPr>
              <a:t>dried product </a:t>
            </a:r>
          </a:p>
          <a:p>
            <a:r>
              <a:rPr lang="en-US" sz="3200" b="1" u="sng" dirty="0">
                <a:solidFill>
                  <a:srgbClr val="000000"/>
                </a:solidFill>
                <a:highlight>
                  <a:srgbClr val="FFFFFF"/>
                </a:highlight>
                <a:latin typeface="Times New Roman" panose="02020603050405020304" pitchFamily="18" charset="0"/>
                <a:cs typeface="Times New Roman" panose="02020603050405020304" pitchFamily="18" charset="0"/>
              </a:rPr>
              <a:t>•</a:t>
            </a:r>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 Sufficient strength </a:t>
            </a:r>
          </a:p>
          <a:p>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 Uniform color </a:t>
            </a:r>
          </a:p>
          <a:p>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 Sufficiently dry </a:t>
            </a:r>
          </a:p>
          <a:p>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 Sufficiently porous</a:t>
            </a:r>
          </a:p>
          <a:p>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 Sterile</a:t>
            </a:r>
          </a:p>
          <a:p>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 Free of pyrogens and particulates </a:t>
            </a:r>
          </a:p>
          <a:p>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 Chemically stable</a:t>
            </a:r>
          </a:p>
          <a:p>
            <a:r>
              <a:rPr lang="en-US" sz="3200" dirty="0">
                <a:solidFill>
                  <a:srgbClr val="000000"/>
                </a:solidFill>
                <a:highlight>
                  <a:srgbClr val="FFFFFF"/>
                </a:highlight>
                <a:latin typeface="Times New Roman" panose="02020603050405020304" pitchFamily="18" charset="0"/>
                <a:cs typeface="Times New Roman" panose="02020603050405020304" pitchFamily="18" charset="0"/>
              </a:rPr>
              <a:t>Preservation of Nutrients in food:</a:t>
            </a:r>
          </a:p>
        </p:txBody>
      </p:sp>
    </p:spTree>
    <p:extLst>
      <p:ext uri="{BB962C8B-B14F-4D97-AF65-F5344CB8AC3E}">
        <p14:creationId xmlns:p14="http://schemas.microsoft.com/office/powerpoint/2010/main" val="2763722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65B9F-5B01-E3C3-A93E-15094280BF8A}"/>
              </a:ext>
            </a:extLst>
          </p:cNvPr>
          <p:cNvSpPr>
            <a:spLocks noGrp="1"/>
          </p:cNvSpPr>
          <p:nvPr>
            <p:ph type="title"/>
          </p:nvPr>
        </p:nvSpPr>
        <p:spPr>
          <a:xfrm>
            <a:off x="838199" y="365126"/>
            <a:ext cx="11105271" cy="6274826"/>
          </a:xfrm>
        </p:spPr>
        <p:txBody>
          <a:bodyPr>
            <a:normAutofit fontScale="90000"/>
          </a:bodyPr>
          <a:lstStyle/>
          <a:p>
            <a:pPr>
              <a:lnSpc>
                <a:spcPct val="107000"/>
              </a:lnSpc>
              <a:spcAft>
                <a:spcPts val="800"/>
              </a:spcAft>
            </a:pPr>
            <a:r>
              <a:rPr lang="en-IN" sz="3200" b="1" dirty="0">
                <a:solidFill>
                  <a:srgbClr val="F9332B"/>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Chemical method of food preservation</a:t>
            </a:r>
            <a:br>
              <a:rPr lang="en-IN" sz="3200" b="1" dirty="0">
                <a:solidFill>
                  <a:srgbClr val="F9332B"/>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br>
              <a:rPr lang="en-IN" sz="3200" b="1" dirty="0">
                <a:solidFill>
                  <a:srgbClr val="F9332B"/>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b="1" dirty="0">
                <a:solidFill>
                  <a:srgbClr val="F9332B"/>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Using chemical preservatives</a:t>
            </a:r>
            <a:br>
              <a:rPr lang="en-IN" sz="28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br>
            <a:r>
              <a:rPr lang="en-IN" sz="28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1</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Benzoic acid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(including benzoates) Sodium benzoate is a salt of benzoic acid and is used in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preservation of coloured fruit juices</a:t>
            </a:r>
            <a:b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t>
            </a:r>
            <a:b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2.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Sulphur dioxide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(including sulphites):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Potassium meta-bi­-sulphite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is used as a source of sulphur dioxide when it is added to the juice.</a:t>
            </a:r>
            <a:r>
              <a:rPr lang="en-IN" sz="3200" dirty="0">
                <a:solidFill>
                  <a:srgbClr val="333333"/>
                </a:solidFill>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When used in fruits with deep colours like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blue grapes, jamun, watermelon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it bleaches the colour and hence in such cases benzoic acid is desirable.</a:t>
            </a:r>
            <a:br>
              <a:rPr lang="en-IN" sz="32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8070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E0E7-A404-7A42-212A-56514530D49F}"/>
              </a:ext>
            </a:extLst>
          </p:cNvPr>
          <p:cNvSpPr>
            <a:spLocks noGrp="1"/>
          </p:cNvSpPr>
          <p:nvPr>
            <p:ph type="title"/>
          </p:nvPr>
        </p:nvSpPr>
        <p:spPr>
          <a:xfrm>
            <a:off x="520505" y="98474"/>
            <a:ext cx="11408898" cy="6597748"/>
          </a:xfrm>
        </p:spPr>
        <p:txBody>
          <a:bodyPr>
            <a:normAutofit fontScale="90000"/>
          </a:bodyPr>
          <a:lstStyle/>
          <a:p>
            <a:pPr>
              <a:lnSpc>
                <a:spcPct val="107000"/>
              </a:lnSpc>
              <a:spcAft>
                <a:spcPts val="800"/>
              </a:spcAft>
            </a:pPr>
            <a:b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3</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Organic acids and their salts:</a:t>
            </a:r>
            <a:br>
              <a:rPr lang="en-US"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Foods can be preserved by adding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lactic, acetic, propionic, citric acids and their salts. </a:t>
            </a:r>
            <a:b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Nitrates and nitrite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compounds are used to preserve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meat and fish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products.</a:t>
            </a:r>
            <a:b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It gives desirable colour, flavour </a:t>
            </a:r>
            <a:b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Discourages the growth of microorganisms. </a:t>
            </a:r>
            <a:b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It also prevents toxin formation by the microorganisms in food.</a:t>
            </a:r>
            <a:br>
              <a:rPr lang="en-IN" sz="32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b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Salting and Pickling</a:t>
            </a:r>
            <a:br>
              <a:rPr lang="en-IN" sz="32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b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Salting</a:t>
            </a:r>
            <a:br>
              <a:rPr lang="en-IN" sz="32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b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Salt is added to enhance taste </a:t>
            </a:r>
            <a:b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Extend shelf life in foods such as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butter, cheese, vegetables, bread and meat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products. </a:t>
            </a:r>
            <a:b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Dry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salting is used for meat, mango, amla and fish. </a:t>
            </a:r>
            <a:br>
              <a:rPr lang="en-IN" sz="32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201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1BDA915-478C-4923-983E-86AD1A927A7D}"/>
              </a:ext>
            </a:extLst>
          </p:cNvPr>
          <p:cNvSpPr txBox="1"/>
          <p:nvPr/>
        </p:nvSpPr>
        <p:spPr>
          <a:xfrm>
            <a:off x="407963" y="52851"/>
            <a:ext cx="11577711" cy="6366102"/>
          </a:xfrm>
          <a:prstGeom prst="rect">
            <a:avLst/>
          </a:prstGeom>
          <a:noFill/>
        </p:spPr>
        <p:txBody>
          <a:bodyPr wrap="square">
            <a:spAutoFit/>
          </a:bodyPr>
          <a:lstStyle/>
          <a:p>
            <a:pPr algn="just">
              <a:lnSpc>
                <a:spcPct val="107000"/>
              </a:lnSpc>
              <a:spcAft>
                <a:spcPts val="800"/>
              </a:spcAft>
            </a:pPr>
            <a:r>
              <a:rPr lang="en-IN" sz="3200" b="1" dirty="0">
                <a:solidFill>
                  <a:srgbClr val="F9332B"/>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Pickling</a:t>
            </a:r>
            <a:endParaRPr lang="en-IN" sz="32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It is also an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ancient preservation technique. </a:t>
            </a:r>
          </a:p>
          <a:p>
            <a:pPr algn="just">
              <a:lnSpc>
                <a:spcPct val="107000"/>
              </a:lnSpc>
              <a:spcAft>
                <a:spcPts val="800"/>
              </a:spcAft>
            </a:pP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The preservation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of fruits and vegetables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using common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salt, vinegar, oil and spices are referred to as pickling. </a:t>
            </a:r>
          </a:p>
          <a:p>
            <a:pPr algn="just">
              <a:lnSpc>
                <a:spcPct val="107000"/>
              </a:lnSpc>
              <a:spcAft>
                <a:spcPts val="800"/>
              </a:spcAft>
            </a:pP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The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layer of oil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that floats on the top of pickles prevents the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entry and growth of microorganisms</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like moulds and yeast. Spices like turmeric, pepper, chilli ­powder retard the growth of ­bacteria. </a:t>
            </a:r>
          </a:p>
          <a:p>
            <a:pPr algn="just">
              <a:lnSpc>
                <a:spcPct val="107000"/>
              </a:lnSpc>
              <a:spcAft>
                <a:spcPts val="800"/>
              </a:spcAft>
            </a:pP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Vinegar</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provides an unfavourable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acidic environment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for microbial growth. </a:t>
            </a:r>
          </a:p>
          <a:p>
            <a:pPr algn="just">
              <a:lnSpc>
                <a:spcPct val="107000"/>
              </a:lnSpc>
              <a:spcAft>
                <a:spcPts val="800"/>
              </a:spcAft>
            </a:pP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The </a:t>
            </a:r>
            <a:r>
              <a:rPr lang="en-IN" sz="3200" b="1"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salt added absorbs water </a:t>
            </a:r>
            <a:r>
              <a:rPr lang="en-IN" sz="32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and prevents the growth of micro-organisms</a:t>
            </a:r>
            <a:r>
              <a:rPr lang="en-IN" sz="1800" dirty="0">
                <a:solidFill>
                  <a:srgbClr val="333333"/>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6919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178EF-75A5-8681-77B1-2674CFFCF6C4}"/>
              </a:ext>
            </a:extLst>
          </p:cNvPr>
          <p:cNvSpPr>
            <a:spLocks noGrp="1"/>
          </p:cNvSpPr>
          <p:nvPr>
            <p:ph type="title"/>
          </p:nvPr>
        </p:nvSpPr>
        <p:spPr>
          <a:xfrm>
            <a:off x="838200" y="365125"/>
            <a:ext cx="10515600" cy="6106013"/>
          </a:xfrm>
        </p:spPr>
        <p:txBody>
          <a:bodyPr>
            <a:noAutofit/>
          </a:bodyPr>
          <a:lstStyle/>
          <a:p>
            <a:pPr marL="457200" indent="-457200">
              <a:lnSpc>
                <a:spcPct val="107000"/>
              </a:lnSpc>
              <a:spcAft>
                <a:spcPts val="800"/>
              </a:spcAft>
              <a:buFont typeface="Arial" panose="020B0604020202020204" pitchFamily="34" charset="0"/>
              <a:buChar char="•"/>
            </a:pPr>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Fermentation:</a:t>
            </a:r>
            <a:br>
              <a:rPr lang="en-IN" sz="3200" dirty="0">
                <a:effectLst/>
                <a:latin typeface="Times New Roman" panose="02020603050405020304" pitchFamily="18" charset="0"/>
                <a:ea typeface="Calibri" panose="020F0502020204030204" pitchFamily="34" charset="0"/>
                <a:cs typeface="Times New Roman" panose="02020603050405020304" pitchFamily="18" charset="0"/>
              </a:rPr>
            </a:b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fermentation is a process in which an </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microorganism </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converts a </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carbohydrate</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such as starch or sugar, into an </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alcohol or an acid. </a:t>
            </a:r>
            <a:br>
              <a:rPr lang="en-US" sz="3200" b="1" dirty="0">
                <a:effectLst/>
                <a:latin typeface="Times New Roman" panose="02020603050405020304" pitchFamily="18" charset="0"/>
                <a:ea typeface="Calibri" panose="020F0502020204030204" pitchFamily="34" charset="0"/>
                <a:cs typeface="Times New Roman" panose="02020603050405020304" pitchFamily="18" charset="0"/>
              </a:rPr>
            </a:br>
            <a:br>
              <a:rPr lang="en-US" sz="32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Advantages</a:t>
            </a:r>
            <a:br>
              <a:rPr lang="en-US" sz="3200" b="1" dirty="0">
                <a:effectLst/>
                <a:latin typeface="Times New Roman" panose="02020603050405020304" pitchFamily="18" charset="0"/>
                <a:ea typeface="Calibri" panose="020F0502020204030204" pitchFamily="34" charset="0"/>
                <a:cs typeface="Times New Roman" panose="02020603050405020304" pitchFamily="18" charset="0"/>
              </a:rPr>
            </a:b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Fermentation preserves food </a:t>
            </a:r>
            <a:br>
              <a:rPr lang="en-IN" sz="3200">
                <a:effectLst/>
                <a:latin typeface="Times New Roman" panose="02020603050405020304" pitchFamily="18" charset="0"/>
                <a:ea typeface="Calibri" panose="020F0502020204030204" pitchFamily="34" charset="0"/>
                <a:cs typeface="Times New Roman" panose="02020603050405020304" pitchFamily="18" charset="0"/>
              </a:rPr>
            </a:br>
            <a:r>
              <a:rPr lang="en-IN" sz="3200">
                <a:effectLst/>
                <a:latin typeface="Times New Roman" panose="02020603050405020304" pitchFamily="18" charset="0"/>
                <a:ea typeface="Calibri" panose="020F0502020204030204" pitchFamily="34" charset="0"/>
                <a:cs typeface="Times New Roman" panose="02020603050405020304" pitchFamily="18" charset="0"/>
              </a:rPr>
              <a:t>promotes </a:t>
            </a: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the growth of beneficial microorganisms, such as </a:t>
            </a:r>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probiotics </a:t>
            </a: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fermented probiotic foods — such as yogurt</a:t>
            </a:r>
            <a:r>
              <a:rPr lang="en-IN" sz="3200" dirty="0">
                <a:effectLst/>
                <a:latin typeface="Times New Roman" panose="02020603050405020304" pitchFamily="18" charset="0"/>
                <a:ea typeface="Calibri" panose="020F0502020204030204" pitchFamily="34" charset="0"/>
                <a:cs typeface="Times New Roman" panose="02020603050405020304" pitchFamily="18" charset="0"/>
              </a:rPr>
              <a:t>), which can contribute to gut health and enhance overall food safety.</a:t>
            </a:r>
            <a:br>
              <a:rPr lang="en-IN" sz="32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4150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a:extLst>
              <a:ext uri="{FF2B5EF4-FFF2-40B4-BE49-F238E27FC236}">
                <a16:creationId xmlns:a16="http://schemas.microsoft.com/office/drawing/2014/main" id="{43316C8A-9E1F-9DB4-D588-F949AD2700E0}"/>
              </a:ext>
            </a:extLst>
          </p:cNvPr>
          <p:cNvSpPr>
            <a:spLocks noGrp="1" noChangeArrowheads="1"/>
          </p:cNvSpPr>
          <p:nvPr>
            <p:ph type="title"/>
          </p:nvPr>
        </p:nvSpPr>
        <p:spPr>
          <a:xfrm>
            <a:off x="3048000" y="990600"/>
            <a:ext cx="6096000" cy="457200"/>
          </a:xfrm>
        </p:spPr>
        <p:txBody>
          <a:bodyPr>
            <a:normAutofit fontScale="90000"/>
          </a:bodyPr>
          <a:lstStyle/>
          <a:p>
            <a:r>
              <a:rPr lang="en-US" altLang="en-US" sz="2800" b="1">
                <a:solidFill>
                  <a:srgbClr val="00B0F0"/>
                </a:solidFill>
                <a:latin typeface="Arial Rounded MT Bold" panose="020F0704030504030204" pitchFamily="34" charset="0"/>
              </a:rPr>
              <a:t>Batch vs. Continuous Processing</a:t>
            </a:r>
          </a:p>
        </p:txBody>
      </p:sp>
      <p:sp>
        <p:nvSpPr>
          <p:cNvPr id="40963" name="Slide Number Placeholder 5">
            <a:extLst>
              <a:ext uri="{FF2B5EF4-FFF2-40B4-BE49-F238E27FC236}">
                <a16:creationId xmlns:a16="http://schemas.microsoft.com/office/drawing/2014/main" id="{3605E8D2-4667-C60B-C197-B629DD601FB1}"/>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6B9169-CA5D-410C-B327-DA02A02CED06}" type="slidenum">
              <a:rPr lang="en-US" altLang="en-US"/>
              <a:pPr/>
              <a:t>32</a:t>
            </a:fld>
            <a:endParaRPr lang="en-US" altLang="en-US"/>
          </a:p>
        </p:txBody>
      </p:sp>
      <p:sp>
        <p:nvSpPr>
          <p:cNvPr id="40964" name="Rectangle 5">
            <a:extLst>
              <a:ext uri="{FF2B5EF4-FFF2-40B4-BE49-F238E27FC236}">
                <a16:creationId xmlns:a16="http://schemas.microsoft.com/office/drawing/2014/main" id="{E63A6212-AFA8-3B6C-D929-DD0E6241F793}"/>
              </a:ext>
            </a:extLst>
          </p:cNvPr>
          <p:cNvSpPr>
            <a:spLocks noGrp="1" noChangeArrowheads="1"/>
          </p:cNvSpPr>
          <p:nvPr>
            <p:ph type="subTitle" idx="4294967295"/>
          </p:nvPr>
        </p:nvSpPr>
        <p:spPr>
          <a:xfrm>
            <a:off x="2590800" y="1295400"/>
            <a:ext cx="6934200" cy="4343400"/>
          </a:xfrm>
        </p:spPr>
        <p:txBody>
          <a:bodyPr/>
          <a:lstStyle/>
          <a:p>
            <a:pPr>
              <a:buFont typeface="Wingdings" panose="05000000000000000000" pitchFamily="2" charset="2"/>
              <a:buNone/>
            </a:pPr>
            <a:endParaRPr lang="en-US" altLang="en-US" dirty="0">
              <a:solidFill>
                <a:srgbClr val="7030A0"/>
              </a:solidFill>
              <a:latin typeface="Arial Rounded MT Bold" panose="020F0704030504030204" pitchFamily="34" charset="0"/>
            </a:endParaRPr>
          </a:p>
          <a:p>
            <a:r>
              <a:rPr lang="en-US" altLang="en-US" dirty="0">
                <a:solidFill>
                  <a:srgbClr val="7030A0"/>
                </a:solidFill>
                <a:latin typeface="Arial Rounded MT Bold" panose="020F0704030504030204" pitchFamily="34" charset="0"/>
              </a:rPr>
              <a:t>Food is processed in either </a:t>
            </a:r>
          </a:p>
          <a:p>
            <a:r>
              <a:rPr lang="en-US" altLang="en-US" dirty="0">
                <a:solidFill>
                  <a:srgbClr val="7030A0"/>
                </a:solidFill>
                <a:latin typeface="Arial Rounded MT Bold" panose="020F0704030504030204" pitchFamily="34" charset="0"/>
              </a:rPr>
              <a:t>batches </a:t>
            </a:r>
          </a:p>
          <a:p>
            <a:r>
              <a:rPr lang="en-US" altLang="en-US" dirty="0">
                <a:solidFill>
                  <a:srgbClr val="7030A0"/>
                </a:solidFill>
                <a:latin typeface="Arial Rounded MT Bold" panose="020F0704030504030204" pitchFamily="34" charset="0"/>
              </a:rPr>
              <a:t>or a continuous system. </a:t>
            </a:r>
          </a:p>
          <a:p>
            <a:pPr>
              <a:buFont typeface="Wingdings" panose="05000000000000000000" pitchFamily="2" charset="2"/>
              <a:buNone/>
            </a:pPr>
            <a:endParaRPr lang="en-US" altLang="en-US" dirty="0">
              <a:latin typeface="Arial Rounded MT Bold" panose="020F0704030504030204" pitchFamily="34" charset="0"/>
            </a:endParaRPr>
          </a:p>
          <a:p>
            <a:r>
              <a:rPr lang="en-US" altLang="en-US" dirty="0">
                <a:solidFill>
                  <a:srgbClr val="FF0000"/>
                </a:solidFill>
                <a:latin typeface="Arial Rounded MT Bold" panose="020F0704030504030204" pitchFamily="34" charset="0"/>
              </a:rPr>
              <a:t>Generally, batch systems are used to produce small quantities of food,</a:t>
            </a:r>
          </a:p>
          <a:p>
            <a:r>
              <a:rPr lang="en-US" altLang="en-US" dirty="0">
                <a:solidFill>
                  <a:srgbClr val="FF0000"/>
                </a:solidFill>
                <a:latin typeface="Arial Rounded MT Bold" panose="020F0704030504030204" pitchFamily="34" charset="0"/>
              </a:rPr>
              <a:t> whereas larger volumes are required for continuous systems.</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B818BC1E-5F9D-A064-25C3-3EDDF651F1A9}"/>
              </a:ext>
            </a:extLst>
          </p:cNvPr>
          <p:cNvSpPr>
            <a:spLocks noGrp="1"/>
          </p:cNvSpPr>
          <p:nvPr>
            <p:ph type="sldNum" sz="quarter" idx="4294967295"/>
          </p:nvPr>
        </p:nvSpPr>
        <p:spPr bwMode="auto">
          <a:xfrm>
            <a:off x="8534400" y="6245225"/>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D0EC522-7B08-42DC-B9E9-D15DD3B71B96}" type="slidenum">
              <a:rPr lang="en-US" altLang="en-US"/>
              <a:pPr/>
              <a:t>33</a:t>
            </a:fld>
            <a:endParaRPr lang="en-US" altLang="en-US"/>
          </a:p>
        </p:txBody>
      </p:sp>
      <p:sp>
        <p:nvSpPr>
          <p:cNvPr id="41987" name="Rectangle 5">
            <a:extLst>
              <a:ext uri="{FF2B5EF4-FFF2-40B4-BE49-F238E27FC236}">
                <a16:creationId xmlns:a16="http://schemas.microsoft.com/office/drawing/2014/main" id="{6454B939-B366-3186-B931-48F86F4B4878}"/>
              </a:ext>
            </a:extLst>
          </p:cNvPr>
          <p:cNvSpPr>
            <a:spLocks noChangeArrowheads="1"/>
          </p:cNvSpPr>
          <p:nvPr/>
        </p:nvSpPr>
        <p:spPr bwMode="auto">
          <a:xfrm>
            <a:off x="2209801" y="2679184"/>
            <a:ext cx="184731" cy="3693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graphicFrame>
        <p:nvGraphicFramePr>
          <p:cNvPr id="97335" name="Group 55">
            <a:extLst>
              <a:ext uri="{FF2B5EF4-FFF2-40B4-BE49-F238E27FC236}">
                <a16:creationId xmlns:a16="http://schemas.microsoft.com/office/drawing/2014/main" id="{B3849485-FBA6-DADE-54DB-56D6F3E7FF67}"/>
              </a:ext>
            </a:extLst>
          </p:cNvPr>
          <p:cNvGraphicFramePr>
            <a:graphicFrameLocks noGrp="1"/>
          </p:cNvGraphicFramePr>
          <p:nvPr/>
        </p:nvGraphicFramePr>
        <p:xfrm>
          <a:off x="1280160" y="304801"/>
          <a:ext cx="9083040" cy="6172201"/>
        </p:xfrm>
        <a:graphic>
          <a:graphicData uri="http://schemas.openxmlformats.org/drawingml/2006/table">
            <a:tbl>
              <a:tblPr/>
              <a:tblGrid>
                <a:gridCol w="4541520">
                  <a:extLst>
                    <a:ext uri="{9D8B030D-6E8A-4147-A177-3AD203B41FA5}">
                      <a16:colId xmlns:a16="http://schemas.microsoft.com/office/drawing/2014/main" val="20000"/>
                    </a:ext>
                  </a:extLst>
                </a:gridCol>
                <a:gridCol w="4541520">
                  <a:extLst>
                    <a:ext uri="{9D8B030D-6E8A-4147-A177-3AD203B41FA5}">
                      <a16:colId xmlns:a16="http://schemas.microsoft.com/office/drawing/2014/main" val="20001"/>
                    </a:ext>
                  </a:extLst>
                </a:gridCol>
              </a:tblGrid>
              <a:tr h="13350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00B050"/>
                          </a:solidFill>
                          <a:effectLst/>
                          <a:latin typeface="Arial Rounded MT Bold" pitchFamily="34" charset="0"/>
                          <a:cs typeface="Times New Roman" pitchFamily="18" charset="0"/>
                        </a:rPr>
                        <a:t>Advantages of Batch Processing</a:t>
                      </a:r>
                      <a:endParaRPr kumimoji="0" lang="en-US" sz="2400" b="1" i="0" u="none" strike="noStrike" cap="none" normalizeH="0" baseline="0" dirty="0">
                        <a:ln>
                          <a:noFill/>
                        </a:ln>
                        <a:solidFill>
                          <a:srgbClr val="00B050"/>
                        </a:solidFill>
                        <a:effectLst/>
                        <a:latin typeface="Arial Rounded MT Bold"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00B0F0"/>
                          </a:solidFill>
                          <a:effectLst/>
                          <a:latin typeface="Arial Rounded MT Bold" pitchFamily="34" charset="0"/>
                          <a:cs typeface="Times New Roman" pitchFamily="18" charset="0"/>
                        </a:rPr>
                        <a:t>Advantages of Continuous Processing</a:t>
                      </a:r>
                      <a:endParaRPr kumimoji="0" lang="en-US" sz="2400" b="1" i="0" u="none" strike="noStrike" cap="none" normalizeH="0" baseline="0" dirty="0">
                        <a:ln>
                          <a:noFill/>
                        </a:ln>
                        <a:solidFill>
                          <a:srgbClr val="00B0F0"/>
                        </a:solidFill>
                        <a:effectLst/>
                        <a:latin typeface="Arial Rounded MT Bold"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21669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00B050"/>
                          </a:solidFill>
                          <a:effectLst/>
                          <a:latin typeface="Arial Rounded MT Bold" pitchFamily="34" charset="0"/>
                          <a:cs typeface="Times New Roman" pitchFamily="18" charset="0"/>
                        </a:rPr>
                        <a:t>Greater flexibility to change product formulation and rates</a:t>
                      </a:r>
                      <a:endParaRPr kumimoji="0" lang="en-US" sz="2400" b="1" i="0" u="none" strike="noStrike" cap="none" normalizeH="0" baseline="0" dirty="0">
                        <a:ln>
                          <a:noFill/>
                        </a:ln>
                        <a:solidFill>
                          <a:srgbClr val="00B050"/>
                        </a:solidFill>
                        <a:effectLst/>
                        <a:latin typeface="Arial Rounded MT Bold"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00B0F0"/>
                          </a:solidFill>
                          <a:effectLst/>
                          <a:latin typeface="Arial Rounded MT Bold" pitchFamily="34" charset="0"/>
                          <a:cs typeface="Times New Roman" pitchFamily="18" charset="0"/>
                        </a:rPr>
                        <a:t>Lower operation and </a:t>
                      </a:r>
                      <a:r>
                        <a:rPr kumimoji="0" lang="en-US" sz="2400" b="1" i="0" u="none" strike="noStrike" cap="none" normalizeH="0" baseline="0" dirty="0" err="1">
                          <a:ln>
                            <a:noFill/>
                          </a:ln>
                          <a:solidFill>
                            <a:srgbClr val="00B0F0"/>
                          </a:solidFill>
                          <a:effectLst/>
                          <a:latin typeface="Arial Rounded MT Bold" pitchFamily="34" charset="0"/>
                          <a:cs typeface="Times New Roman" pitchFamily="18" charset="0"/>
                        </a:rPr>
                        <a:t>labour</a:t>
                      </a:r>
                      <a:r>
                        <a:rPr kumimoji="0" lang="en-US" sz="2400" b="1" i="0" u="none" strike="noStrike" cap="none" normalizeH="0" baseline="0" dirty="0">
                          <a:ln>
                            <a:noFill/>
                          </a:ln>
                          <a:solidFill>
                            <a:srgbClr val="00B0F0"/>
                          </a:solidFill>
                          <a:effectLst/>
                          <a:latin typeface="Arial Rounded MT Bold" pitchFamily="34" charset="0"/>
                          <a:cs typeface="Times New Roman" pitchFamily="18" charset="0"/>
                        </a:rPr>
                        <a:t> costs</a:t>
                      </a:r>
                      <a:endParaRPr kumimoji="0" lang="en-US" sz="2400" b="1" i="0" u="none" strike="noStrike" cap="none" normalizeH="0" baseline="0" dirty="0">
                        <a:ln>
                          <a:noFill/>
                        </a:ln>
                        <a:solidFill>
                          <a:srgbClr val="00B0F0"/>
                        </a:solidFill>
                        <a:effectLst/>
                        <a:latin typeface="Arial Rounded MT Bold"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1"/>
                  </a:ext>
                </a:extLst>
              </a:tr>
              <a:tr h="13350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00B050"/>
                          </a:solidFill>
                          <a:effectLst/>
                          <a:latin typeface="Arial Rounded MT Bold" pitchFamily="34" charset="0"/>
                          <a:cs typeface="Times New Roman" pitchFamily="18" charset="0"/>
                        </a:rPr>
                        <a:t>Lower equipment costs</a:t>
                      </a:r>
                      <a:endParaRPr kumimoji="0" lang="en-US" sz="2400" b="1" i="0" u="none" strike="noStrike" cap="none" normalizeH="0" baseline="0" dirty="0">
                        <a:ln>
                          <a:noFill/>
                        </a:ln>
                        <a:solidFill>
                          <a:srgbClr val="00B050"/>
                        </a:solidFill>
                        <a:effectLst/>
                        <a:latin typeface="Arial Rounded MT Bold"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00B0F0"/>
                          </a:solidFill>
                          <a:effectLst/>
                          <a:latin typeface="Arial Rounded MT Bold" pitchFamily="34" charset="0"/>
                          <a:cs typeface="Times New Roman" pitchFamily="18" charset="0"/>
                        </a:rPr>
                        <a:t>Less floor space required</a:t>
                      </a:r>
                      <a:endParaRPr kumimoji="0" lang="en-US" sz="2400" b="1" i="0" u="none" strike="noStrike" cap="none" normalizeH="0" baseline="0" dirty="0">
                        <a:ln>
                          <a:noFill/>
                        </a:ln>
                        <a:solidFill>
                          <a:srgbClr val="00B0F0"/>
                        </a:solidFill>
                        <a:effectLst/>
                        <a:latin typeface="Arial Rounded MT Bold"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13350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00B050"/>
                          </a:solidFill>
                          <a:effectLst/>
                          <a:latin typeface="Arial Rounded MT Bold" pitchFamily="34" charset="0"/>
                          <a:cs typeface="Times New Roman" pitchFamily="18" charset="0"/>
                        </a:rPr>
                        <a:t>Easier operation and control</a:t>
                      </a:r>
                      <a:endParaRPr kumimoji="0" lang="en-US" sz="2400" b="1" i="0" u="none" strike="noStrike" cap="none" normalizeH="0" baseline="0" dirty="0">
                        <a:ln>
                          <a:noFill/>
                        </a:ln>
                        <a:solidFill>
                          <a:srgbClr val="00B050"/>
                        </a:solidFill>
                        <a:effectLst/>
                        <a:latin typeface="Arial Rounded MT Bold"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00B0F0"/>
                          </a:solidFill>
                          <a:effectLst/>
                          <a:latin typeface="Arial Rounded MT Bold" pitchFamily="34" charset="0"/>
                          <a:cs typeface="Times New Roman" pitchFamily="18" charset="0"/>
                        </a:rPr>
                        <a:t>Greater product uniformity</a:t>
                      </a:r>
                      <a:endParaRPr kumimoji="0" lang="en-US" sz="2400" b="1" i="0" u="none" strike="noStrike" cap="none" normalizeH="0" baseline="0" dirty="0">
                        <a:ln>
                          <a:noFill/>
                        </a:ln>
                        <a:solidFill>
                          <a:srgbClr val="00B0F0"/>
                        </a:solidFill>
                        <a:effectLst/>
                        <a:latin typeface="Arial Rounded MT Bold"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30988278"/>
      </p:ext>
    </p:extLst>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1661</Words>
  <Application>Microsoft Office PowerPoint</Application>
  <PresentationFormat>Widescreen</PresentationFormat>
  <Paragraphs>194</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Arial Rounded MT Bold</vt:lpstr>
      <vt:lpstr>Calibri</vt:lpstr>
      <vt:lpstr>Calibri Light</vt:lpstr>
      <vt:lpstr>Times New Roman</vt:lpstr>
      <vt:lpstr>Wingdings</vt:lpstr>
      <vt:lpstr>Office Theme</vt:lpstr>
      <vt:lpstr>Food Processing</vt:lpstr>
      <vt:lpstr>Food Processing </vt:lpstr>
      <vt:lpstr>The Role of Food Preservation in Food Safety</vt:lpstr>
      <vt:lpstr>Processing Methods</vt:lpstr>
      <vt:lpstr>Physical preservation  Refrigeration    Drying.</vt:lpstr>
      <vt:lpstr>pH Control</vt:lpstr>
      <vt:lpstr>PowerPoint Presentation</vt:lpstr>
      <vt:lpstr>Most micro-organisms grow best in the pH range of 6.5 to 7.5.   Yeasts and moulds are capable of growing over a much broader pH range than bacteria.   Few pathogens will grow below pH 4.0. (Lactic acid bacteria)    </vt:lpstr>
      <vt:lpstr>Physical Processing Methods</vt:lpstr>
      <vt:lpstr>Sterilization</vt:lpstr>
      <vt:lpstr>Foods that have a pH of more than 4.6, such as meat and most vegetables, must undergo severe heating conditions to destroy all pathogens.    These foods are heated under pressure to 121°C for varying times.</vt:lpstr>
      <vt:lpstr>Pasteurization</vt:lpstr>
      <vt:lpstr>Foods with a pH of less than 4.6, such as milk and spaghetti sauce, can be pasteurized.     Permanent stability-that is, shelf life of about two years-is obtained with foods that can withstand prolonged heating, such as bottled juices.    </vt:lpstr>
      <vt:lpstr>Blanching</vt:lpstr>
      <vt:lpstr>Refrigeration</vt:lpstr>
      <vt:lpstr>Freezing</vt:lpstr>
      <vt:lpstr>Irradiation</vt:lpstr>
      <vt:lpstr>Irradiation is generally used for:</vt:lpstr>
      <vt:lpstr>Evaporation</vt:lpstr>
      <vt:lpstr>This process is carried out for three main reasons:</vt:lpstr>
      <vt:lpstr>Dehydration</vt:lpstr>
      <vt:lpstr>DRYING Drying is the process of removing liquid from solids by evaporation   Spray drying is a method of producing a dry powder from a liquid or slurry by rapidly drying with a hot gas.  APPLICATIONS  1. Milk Products  2. Instant coffee powders 3. Fruit pulps, juices and pastes can be spray dried. .  4. Pharmaceutical products:- Algae , Antibiotics and moulds, Bacitracin ,Penicillin , Streptomycin</vt:lpstr>
      <vt:lpstr>Spray drying and freeze drying are two drying methods used widely today.   Spray drying is when a liquid food is atomized into a fine, dry powder.   Examples include natural and artificial flavours and milk powders.   Freeze drying involves first freezing the food and then driving off the ice, leaving a high quality, porous dried food such as instant coffee.</vt:lpstr>
      <vt:lpstr>PowerPoint Presentation</vt:lpstr>
      <vt:lpstr>PowerPoint Presentation</vt:lpstr>
      <vt:lpstr>PowerPoint Presentation</vt:lpstr>
      <vt:lpstr>PowerPoint Presentation</vt:lpstr>
      <vt:lpstr>Chemical method of food preservation  Using chemical preservatives   1. Benzoic acid (including benzoates) Sodium benzoate is a salt of benzoic acid and is used in preservation of coloured fruit juices   2. Sulphur dioxide (including sulphites): Potassium meta-bi­-sulphite is used as a source of sulphur dioxide when it is added to the juice. When used in fruits with deep colours like blue grapes, jamun, watermelon it bleaches the colour and hence in such cases benzoic acid is desirable. </vt:lpstr>
      <vt:lpstr> 3. Organic acids and their salts: Foods can be preserved by adding lactic, acetic, propionic, citric acids and their salts.  Nitrates and nitrite compounds are used to preserve meat and fish products. It gives desirable colour, flavour  Discourages the growth of microorganisms.  It also prevents toxin formation by the microorganisms in food. Salting and Pickling  Salting Salt is added to enhance taste  Extend shelf life in foods such as butter, cheese, vegetables, bread and meat products.  Dry salting is used for meat, mango, amla and fish.  </vt:lpstr>
      <vt:lpstr>PowerPoint Presentation</vt:lpstr>
      <vt:lpstr>Fermentation: fermentation is a process in which an microorganism converts a carbohydrate, such as starch or sugar, into an alcohol or an acid.   Advantages Fermentation preserves food  promotes the growth of beneficial microorganisms, such as probiotics (fermented probiotic foods — such as yogurt), which can contribute to gut health and enhance overall food safety. </vt:lpstr>
      <vt:lpstr>Batch vs. Continuous Processing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Rajeshwari M.</dc:creator>
  <cp:lastModifiedBy>Rajeshwari M.</cp:lastModifiedBy>
  <cp:revision>89</cp:revision>
  <dcterms:created xsi:type="dcterms:W3CDTF">2024-07-26T07:19:14Z</dcterms:created>
  <dcterms:modified xsi:type="dcterms:W3CDTF">2025-11-24T15:12:08Z</dcterms:modified>
</cp:coreProperties>
</file>