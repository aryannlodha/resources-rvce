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437" r:id="rId3"/>
    <p:sldId id="258" r:id="rId4"/>
    <p:sldId id="259" r:id="rId5"/>
    <p:sldId id="444" r:id="rId6"/>
    <p:sldId id="440" r:id="rId7"/>
    <p:sldId id="441" r:id="rId8"/>
    <p:sldId id="423" r:id="rId9"/>
    <p:sldId id="429" r:id="rId10"/>
    <p:sldId id="448" r:id="rId11"/>
    <p:sldId id="464" r:id="rId12"/>
    <p:sldId id="462" r:id="rId13"/>
    <p:sldId id="463" r:id="rId14"/>
    <p:sldId id="469" r:id="rId15"/>
    <p:sldId id="470" r:id="rId16"/>
    <p:sldId id="471" r:id="rId17"/>
    <p:sldId id="431" r:id="rId18"/>
    <p:sldId id="451" r:id="rId19"/>
    <p:sldId id="465" r:id="rId20"/>
    <p:sldId id="432" r:id="rId21"/>
    <p:sldId id="433" r:id="rId22"/>
    <p:sldId id="270" r:id="rId23"/>
  </p:sldIdLst>
  <p:sldSz cx="12192000" cy="6858000"/>
  <p:notesSz cx="6761163" cy="99425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9" roundtripDataSignature="AMtx7miRs8jnCq7dUwYbkcHa2SHPnCa0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29837" cy="498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29761" y="0"/>
            <a:ext cx="2929837" cy="498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9968058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592024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223E4C-C78F-4806-9F29-9550DE44BB4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55415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689406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9582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223E4C-C78F-4806-9F29-9550DE44BB40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5909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223E4C-C78F-4806-9F29-9550DE44BB40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06909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6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87746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body" idx="1"/>
          </p:nvPr>
        </p:nvSpPr>
        <p:spPr>
          <a:xfrm>
            <a:off x="174813" y="1258282"/>
            <a:ext cx="11842377" cy="491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  <a:defRPr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000"/>
              <a:buChar char="•"/>
              <a:defRPr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/>
          <p:nvPr/>
        </p:nvSpPr>
        <p:spPr>
          <a:xfrm>
            <a:off x="5055596" y="6405140"/>
            <a:ext cx="2080806" cy="2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700" rIns="0" bIns="0" anchor="t" anchorCtr="0">
            <a:spAutoFit/>
          </a:bodyPr>
          <a:lstStyle/>
          <a:p>
            <a:pPr marL="7701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1" u="none" strike="noStrike" cap="none">
                <a:solidFill>
                  <a:srgbClr val="422C7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Go, change the world</a:t>
            </a:r>
            <a:endParaRPr sz="1400" b="1" i="0" u="none" strike="noStrike" cap="non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174812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18"/>
          <p:cNvPicPr preferRelativeResize="0"/>
          <p:nvPr/>
        </p:nvPicPr>
        <p:blipFill rotWithShape="1">
          <a:blip r:embed="rId2">
            <a:alphaModFix/>
          </a:blip>
          <a:srcRect t="13833"/>
          <a:stretch/>
        </p:blipFill>
        <p:spPr>
          <a:xfrm>
            <a:off x="-1" y="76427"/>
            <a:ext cx="2207505" cy="997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ctrTitle"/>
          </p:nvPr>
        </p:nvSpPr>
        <p:spPr>
          <a:xfrm>
            <a:off x="1524000" y="1195310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6000"/>
              <a:buFont typeface="Bookman Old Style"/>
              <a:buNone/>
              <a:defRPr sz="6000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400"/>
              <a:buNone/>
              <a:defRPr sz="2400">
                <a:solidFill>
                  <a:srgbClr val="C0000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6" name="Google Shape;26;p19"/>
          <p:cNvSpPr txBox="1"/>
          <p:nvPr/>
        </p:nvSpPr>
        <p:spPr>
          <a:xfrm>
            <a:off x="4541263" y="6344368"/>
            <a:ext cx="3498933" cy="3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700" rIns="0" bIns="0" anchor="t" anchorCtr="0">
            <a:spAutoFit/>
          </a:bodyPr>
          <a:lstStyle/>
          <a:p>
            <a:pPr marL="7701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1">
                <a:solidFill>
                  <a:srgbClr val="422C7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Go, change the world</a:t>
            </a:r>
            <a:endParaRPr sz="2400" b="1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27" name="Google Shape;27;p19"/>
          <p:cNvPicPr preferRelativeResize="0"/>
          <p:nvPr/>
        </p:nvPicPr>
        <p:blipFill rotWithShape="1">
          <a:blip r:embed="rId2">
            <a:alphaModFix/>
          </a:blip>
          <a:srcRect t="13833"/>
          <a:stretch/>
        </p:blipFill>
        <p:spPr>
          <a:xfrm>
            <a:off x="0" y="0"/>
            <a:ext cx="2207505" cy="997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>
            <a:spLocks noGrp="1"/>
          </p:cNvSpPr>
          <p:nvPr>
            <p:ph type="body" idx="1"/>
          </p:nvPr>
        </p:nvSpPr>
        <p:spPr>
          <a:xfrm>
            <a:off x="268942" y="1258282"/>
            <a:ext cx="5750859" cy="4918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2"/>
          </p:nvPr>
        </p:nvSpPr>
        <p:spPr>
          <a:xfrm>
            <a:off x="6172202" y="1258280"/>
            <a:ext cx="5795682" cy="4918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dt" idx="10"/>
          </p:nvPr>
        </p:nvSpPr>
        <p:spPr>
          <a:xfrm>
            <a:off x="26894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sldNum" idx="12"/>
          </p:nvPr>
        </p:nvSpPr>
        <p:spPr>
          <a:xfrm>
            <a:off x="9224683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33" name="Google Shape;33;p20"/>
          <p:cNvGrpSpPr/>
          <p:nvPr/>
        </p:nvGrpSpPr>
        <p:grpSpPr>
          <a:xfrm>
            <a:off x="4862837" y="6212514"/>
            <a:ext cx="2313924" cy="600635"/>
            <a:chOff x="9682912" y="8965"/>
            <a:chExt cx="2402541" cy="600635"/>
          </a:xfrm>
        </p:grpSpPr>
        <p:sp>
          <p:nvSpPr>
            <p:cNvPr id="34" name="Google Shape;34;p20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rgbClr val="00206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20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700" rIns="0" bIns="0" anchor="t" anchorCtr="0">
              <a:spAutoFit/>
            </a:bodyPr>
            <a:lstStyle/>
            <a:p>
              <a:pPr marL="7701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400" b="1" i="1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sz="1400" b="1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  <p:pic>
        <p:nvPicPr>
          <p:cNvPr id="36" name="Google Shape;36;p20"/>
          <p:cNvPicPr preferRelativeResize="0"/>
          <p:nvPr/>
        </p:nvPicPr>
        <p:blipFill rotWithShape="1">
          <a:blip r:embed="rId2">
            <a:alphaModFix/>
          </a:blip>
          <a:srcRect t="13833"/>
          <a:stretch/>
        </p:blipFill>
        <p:spPr>
          <a:xfrm>
            <a:off x="224117" y="81266"/>
            <a:ext cx="2207505" cy="997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 txBox="1"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Bookman Old Style"/>
              <a:buNone/>
              <a:defRPr sz="54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  <a:defRPr sz="2400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1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43" name="Google Shape;43;p21"/>
          <p:cNvGrpSpPr/>
          <p:nvPr/>
        </p:nvGrpSpPr>
        <p:grpSpPr>
          <a:xfrm>
            <a:off x="9842217" y="17838"/>
            <a:ext cx="2313924" cy="600635"/>
            <a:chOff x="9682912" y="8965"/>
            <a:chExt cx="2402541" cy="600635"/>
          </a:xfrm>
        </p:grpSpPr>
        <p:sp>
          <p:nvSpPr>
            <p:cNvPr id="44" name="Google Shape;44;p21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rgbClr val="00206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21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700" rIns="0" bIns="0" anchor="t" anchorCtr="0">
              <a:spAutoFit/>
            </a:bodyPr>
            <a:lstStyle/>
            <a:p>
              <a:pPr marL="7701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400" b="1" i="1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sz="1400" b="1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47;p22"/>
          <p:cNvGrpSpPr/>
          <p:nvPr/>
        </p:nvGrpSpPr>
        <p:grpSpPr>
          <a:xfrm>
            <a:off x="-35002" y="0"/>
            <a:ext cx="12191145" cy="6858000"/>
            <a:chOff x="-35003" y="-1"/>
            <a:chExt cx="12191144" cy="6858000"/>
          </a:xfrm>
        </p:grpSpPr>
        <p:sp>
          <p:nvSpPr>
            <p:cNvPr id="48" name="Google Shape;48;p22"/>
            <p:cNvSpPr/>
            <p:nvPr/>
          </p:nvSpPr>
          <p:spPr>
            <a:xfrm>
              <a:off x="-35003" y="-1"/>
              <a:ext cx="12191144" cy="6858000"/>
            </a:xfrm>
            <a:prstGeom prst="rect">
              <a:avLst/>
            </a:prstGeom>
            <a:solidFill>
              <a:schemeClr val="lt1">
                <a:alpha val="98823"/>
              </a:schemeClr>
            </a:solidFill>
            <a:ln w="76200" cap="flat" cmpd="sng">
              <a:solidFill>
                <a:srgbClr val="00589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9" name="Google Shape;49;p22"/>
            <p:cNvGrpSpPr/>
            <p:nvPr/>
          </p:nvGrpSpPr>
          <p:grpSpPr>
            <a:xfrm>
              <a:off x="0" y="-1"/>
              <a:ext cx="1174375" cy="932329"/>
              <a:chOff x="1" y="0"/>
              <a:chExt cx="995082" cy="663388"/>
            </a:xfrm>
          </p:grpSpPr>
          <p:sp>
            <p:nvSpPr>
              <p:cNvPr id="50" name="Google Shape;50;p22"/>
              <p:cNvSpPr/>
              <p:nvPr/>
            </p:nvSpPr>
            <p:spPr>
              <a:xfrm>
                <a:off x="1" y="0"/>
                <a:ext cx="995082" cy="663388"/>
              </a:xfrm>
              <a:custGeom>
                <a:avLst/>
                <a:gdLst/>
                <a:ahLst/>
                <a:cxnLst/>
                <a:rect l="l" t="t" r="r" b="b"/>
                <a:pathLst>
                  <a:path w="7436484" h="5134610" extrusionOk="0">
                    <a:moveTo>
                      <a:pt x="7435941" y="0"/>
                    </a:moveTo>
                    <a:lnTo>
                      <a:pt x="0" y="0"/>
                    </a:lnTo>
                    <a:lnTo>
                      <a:pt x="0" y="5134513"/>
                    </a:lnTo>
                    <a:lnTo>
                      <a:pt x="7435941" y="0"/>
                    </a:lnTo>
                    <a:close/>
                  </a:path>
                </a:pathLst>
              </a:custGeom>
              <a:solidFill>
                <a:srgbClr val="005893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92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51;p22"/>
              <p:cNvSpPr/>
              <p:nvPr/>
            </p:nvSpPr>
            <p:spPr>
              <a:xfrm>
                <a:off x="73957" y="36743"/>
                <a:ext cx="383242" cy="310714"/>
              </a:xfrm>
              <a:prstGeom prst="rect">
                <a:avLst/>
              </a:prstGeom>
              <a:blipFill rotWithShape="1">
                <a:blip r:embed="rId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92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2" name="Google Shape;52;p22"/>
          <p:cNvSpPr txBox="1"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body" idx="2"/>
          </p:nvPr>
        </p:nvSpPr>
        <p:spPr>
          <a:xfrm>
            <a:off x="839789" y="2505076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body" idx="3"/>
          </p:nvPr>
        </p:nvSpPr>
        <p:spPr>
          <a:xfrm>
            <a:off x="6172202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body" idx="4"/>
          </p:nvPr>
        </p:nvSpPr>
        <p:spPr>
          <a:xfrm>
            <a:off x="6172202" y="2505076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60" name="Google Shape;60;p22"/>
          <p:cNvGrpSpPr/>
          <p:nvPr/>
        </p:nvGrpSpPr>
        <p:grpSpPr>
          <a:xfrm>
            <a:off x="9842217" y="17838"/>
            <a:ext cx="2313924" cy="600635"/>
            <a:chOff x="9682912" y="8965"/>
            <a:chExt cx="2402541" cy="600635"/>
          </a:xfrm>
        </p:grpSpPr>
        <p:sp>
          <p:nvSpPr>
            <p:cNvPr id="61" name="Google Shape;61;p22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rgbClr val="00206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22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700" rIns="0" bIns="0" anchor="t" anchorCtr="0">
              <a:spAutoFit/>
            </a:bodyPr>
            <a:lstStyle/>
            <a:p>
              <a:pPr marL="7701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400" b="1" i="1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sz="1400" b="1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3"/>
          <p:cNvSpPr/>
          <p:nvPr/>
        </p:nvSpPr>
        <p:spPr>
          <a:xfrm>
            <a:off x="856" y="0"/>
            <a:ext cx="12191145" cy="6858000"/>
          </a:xfrm>
          <a:prstGeom prst="rect">
            <a:avLst/>
          </a:prstGeom>
          <a:solidFill>
            <a:schemeClr val="lt1">
              <a:alpha val="98823"/>
            </a:schemeClr>
          </a:solidFill>
          <a:ln w="76200" cap="flat" cmpd="sng">
            <a:solidFill>
              <a:srgbClr val="0058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92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3"/>
          <p:cNvSpPr txBox="1"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69" name="Google Shape;69;p23"/>
          <p:cNvGrpSpPr/>
          <p:nvPr/>
        </p:nvGrpSpPr>
        <p:grpSpPr>
          <a:xfrm>
            <a:off x="0" y="1"/>
            <a:ext cx="1174375" cy="932329"/>
            <a:chOff x="1" y="0"/>
            <a:chExt cx="995082" cy="663388"/>
          </a:xfrm>
        </p:grpSpPr>
        <p:sp>
          <p:nvSpPr>
            <p:cNvPr id="70" name="Google Shape;70;p23"/>
            <p:cNvSpPr/>
            <p:nvPr/>
          </p:nvSpPr>
          <p:spPr>
            <a:xfrm>
              <a:off x="1" y="0"/>
              <a:ext cx="995082" cy="663388"/>
            </a:xfrm>
            <a:custGeom>
              <a:avLst/>
              <a:gdLst/>
              <a:ahLst/>
              <a:cxnLst/>
              <a:rect l="l" t="t" r="r" b="b"/>
              <a:pathLst>
                <a:path w="7436484" h="5134610" extrusionOk="0">
                  <a:moveTo>
                    <a:pt x="7435941" y="0"/>
                  </a:moveTo>
                  <a:lnTo>
                    <a:pt x="0" y="0"/>
                  </a:lnTo>
                  <a:lnTo>
                    <a:pt x="0" y="5134513"/>
                  </a:lnTo>
                  <a:lnTo>
                    <a:pt x="7435941" y="0"/>
                  </a:lnTo>
                  <a:close/>
                </a:path>
              </a:pathLst>
            </a:custGeom>
            <a:solidFill>
              <a:srgbClr val="00589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23"/>
            <p:cNvSpPr/>
            <p:nvPr/>
          </p:nvSpPr>
          <p:spPr>
            <a:xfrm>
              <a:off x="73957" y="36743"/>
              <a:ext cx="383242" cy="310714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" name="Google Shape;72;p23"/>
          <p:cNvGrpSpPr/>
          <p:nvPr/>
        </p:nvGrpSpPr>
        <p:grpSpPr>
          <a:xfrm>
            <a:off x="9842217" y="17838"/>
            <a:ext cx="2313924" cy="600635"/>
            <a:chOff x="9682912" y="8965"/>
            <a:chExt cx="2402541" cy="600635"/>
          </a:xfrm>
        </p:grpSpPr>
        <p:sp>
          <p:nvSpPr>
            <p:cNvPr id="73" name="Google Shape;73;p23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rgbClr val="00206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23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700" rIns="0" bIns="0" anchor="t" anchorCtr="0">
              <a:spAutoFit/>
            </a:bodyPr>
            <a:lstStyle/>
            <a:p>
              <a:pPr marL="7701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400" b="1" i="1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sz="1400" b="1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4"/>
          <p:cNvSpPr/>
          <p:nvPr/>
        </p:nvSpPr>
        <p:spPr>
          <a:xfrm>
            <a:off x="856" y="0"/>
            <a:ext cx="12191145" cy="6858000"/>
          </a:xfrm>
          <a:prstGeom prst="rect">
            <a:avLst/>
          </a:prstGeom>
          <a:solidFill>
            <a:schemeClr val="lt1">
              <a:alpha val="98823"/>
            </a:schemeClr>
          </a:solidFill>
          <a:ln w="76200" cap="flat" cmpd="sng">
            <a:solidFill>
              <a:srgbClr val="0058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92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4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80" name="Google Shape;80;p24"/>
          <p:cNvGrpSpPr/>
          <p:nvPr/>
        </p:nvGrpSpPr>
        <p:grpSpPr>
          <a:xfrm>
            <a:off x="9842217" y="17838"/>
            <a:ext cx="2313924" cy="600635"/>
            <a:chOff x="9682912" y="8965"/>
            <a:chExt cx="2402541" cy="600635"/>
          </a:xfrm>
        </p:grpSpPr>
        <p:sp>
          <p:nvSpPr>
            <p:cNvPr id="81" name="Google Shape;81;p24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rgbClr val="00206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24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700" rIns="0" bIns="0" anchor="t" anchorCtr="0">
              <a:spAutoFit/>
            </a:bodyPr>
            <a:lstStyle/>
            <a:p>
              <a:pPr marL="7701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400" b="1" i="1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sz="1400" b="1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  <p:grpSp>
        <p:nvGrpSpPr>
          <p:cNvPr id="83" name="Google Shape;83;p24"/>
          <p:cNvGrpSpPr/>
          <p:nvPr/>
        </p:nvGrpSpPr>
        <p:grpSpPr>
          <a:xfrm>
            <a:off x="0" y="1"/>
            <a:ext cx="1174375" cy="932329"/>
            <a:chOff x="1" y="0"/>
            <a:chExt cx="995082" cy="663388"/>
          </a:xfrm>
        </p:grpSpPr>
        <p:sp>
          <p:nvSpPr>
            <p:cNvPr id="84" name="Google Shape;84;p24"/>
            <p:cNvSpPr/>
            <p:nvPr/>
          </p:nvSpPr>
          <p:spPr>
            <a:xfrm>
              <a:off x="1" y="0"/>
              <a:ext cx="995082" cy="663388"/>
            </a:xfrm>
            <a:custGeom>
              <a:avLst/>
              <a:gdLst/>
              <a:ahLst/>
              <a:cxnLst/>
              <a:rect l="l" t="t" r="r" b="b"/>
              <a:pathLst>
                <a:path w="7436484" h="5134610" extrusionOk="0">
                  <a:moveTo>
                    <a:pt x="7435941" y="0"/>
                  </a:moveTo>
                  <a:lnTo>
                    <a:pt x="0" y="0"/>
                  </a:lnTo>
                  <a:lnTo>
                    <a:pt x="0" y="5134513"/>
                  </a:lnTo>
                  <a:lnTo>
                    <a:pt x="7435941" y="0"/>
                  </a:lnTo>
                  <a:close/>
                </a:path>
              </a:pathLst>
            </a:custGeom>
            <a:solidFill>
              <a:srgbClr val="00589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24"/>
            <p:cNvSpPr/>
            <p:nvPr/>
          </p:nvSpPr>
          <p:spPr>
            <a:xfrm>
              <a:off x="73957" y="36743"/>
              <a:ext cx="383242" cy="310714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6" name="Google Shape;86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51096" y="1605964"/>
            <a:ext cx="5889812" cy="3646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5"/>
          <p:cNvGrpSpPr/>
          <p:nvPr/>
        </p:nvGrpSpPr>
        <p:grpSpPr>
          <a:xfrm>
            <a:off x="-35002" y="0"/>
            <a:ext cx="12191145" cy="6858000"/>
            <a:chOff x="-35003" y="-1"/>
            <a:chExt cx="12191144" cy="6858000"/>
          </a:xfrm>
        </p:grpSpPr>
        <p:sp>
          <p:nvSpPr>
            <p:cNvPr id="89" name="Google Shape;89;p25"/>
            <p:cNvSpPr/>
            <p:nvPr/>
          </p:nvSpPr>
          <p:spPr>
            <a:xfrm>
              <a:off x="-35003" y="-1"/>
              <a:ext cx="12191144" cy="6858000"/>
            </a:xfrm>
            <a:prstGeom prst="rect">
              <a:avLst/>
            </a:prstGeom>
            <a:solidFill>
              <a:schemeClr val="lt1">
                <a:alpha val="98823"/>
              </a:schemeClr>
            </a:solidFill>
            <a:ln w="76200" cap="flat" cmpd="sng">
              <a:solidFill>
                <a:srgbClr val="00589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" name="Google Shape;90;p25"/>
            <p:cNvGrpSpPr/>
            <p:nvPr/>
          </p:nvGrpSpPr>
          <p:grpSpPr>
            <a:xfrm>
              <a:off x="0" y="-1"/>
              <a:ext cx="1174375" cy="932329"/>
              <a:chOff x="1" y="0"/>
              <a:chExt cx="995082" cy="663388"/>
            </a:xfrm>
          </p:grpSpPr>
          <p:sp>
            <p:nvSpPr>
              <p:cNvPr id="91" name="Google Shape;91;p25"/>
              <p:cNvSpPr/>
              <p:nvPr/>
            </p:nvSpPr>
            <p:spPr>
              <a:xfrm>
                <a:off x="1" y="0"/>
                <a:ext cx="995082" cy="663388"/>
              </a:xfrm>
              <a:custGeom>
                <a:avLst/>
                <a:gdLst/>
                <a:ahLst/>
                <a:cxnLst/>
                <a:rect l="l" t="t" r="r" b="b"/>
                <a:pathLst>
                  <a:path w="7436484" h="5134610" extrusionOk="0">
                    <a:moveTo>
                      <a:pt x="7435941" y="0"/>
                    </a:moveTo>
                    <a:lnTo>
                      <a:pt x="0" y="0"/>
                    </a:lnTo>
                    <a:lnTo>
                      <a:pt x="0" y="5134513"/>
                    </a:lnTo>
                    <a:lnTo>
                      <a:pt x="7435941" y="0"/>
                    </a:lnTo>
                    <a:close/>
                  </a:path>
                </a:pathLst>
              </a:custGeom>
              <a:solidFill>
                <a:srgbClr val="005893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92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25"/>
              <p:cNvSpPr/>
              <p:nvPr/>
            </p:nvSpPr>
            <p:spPr>
              <a:xfrm>
                <a:off x="73957" y="36743"/>
                <a:ext cx="383242" cy="310714"/>
              </a:xfrm>
              <a:prstGeom prst="rect">
                <a:avLst/>
              </a:prstGeom>
              <a:blipFill rotWithShape="1">
                <a:blip r:embed="rId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92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3" name="Google Shape;93;p25"/>
          <p:cNvSpPr txBox="1"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1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95" name="Google Shape;95;p25"/>
          <p:cNvSpPr txBox="1">
            <a:spLocks noGrp="1"/>
          </p:cNvSpPr>
          <p:nvPr>
            <p:ph type="body" idx="2"/>
          </p:nvPr>
        </p:nvSpPr>
        <p:spPr>
          <a:xfrm>
            <a:off x="839790" y="2057400"/>
            <a:ext cx="3932236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6" name="Google Shape;96;p25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5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99" name="Google Shape;99;p25"/>
          <p:cNvGrpSpPr/>
          <p:nvPr/>
        </p:nvGrpSpPr>
        <p:grpSpPr>
          <a:xfrm>
            <a:off x="9842217" y="17838"/>
            <a:ext cx="2313924" cy="600635"/>
            <a:chOff x="9682912" y="8965"/>
            <a:chExt cx="2402541" cy="600635"/>
          </a:xfrm>
        </p:grpSpPr>
        <p:sp>
          <p:nvSpPr>
            <p:cNvPr id="100" name="Google Shape;100;p25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rgbClr val="00206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25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700" rIns="0" bIns="0" anchor="t" anchorCtr="0">
              <a:spAutoFit/>
            </a:bodyPr>
            <a:lstStyle/>
            <a:p>
              <a:pPr marL="7701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400" b="1" i="1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sz="1400" b="1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6"/>
          <p:cNvSpPr txBox="1"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1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26"/>
          <p:cNvSpPr txBox="1">
            <a:spLocks noGrp="1"/>
          </p:cNvSpPr>
          <p:nvPr>
            <p:ph type="body" idx="1"/>
          </p:nvPr>
        </p:nvSpPr>
        <p:spPr>
          <a:xfrm>
            <a:off x="839790" y="2057400"/>
            <a:ext cx="3932236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6" name="Google Shape;106;p26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6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6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7"/>
          <p:cNvSpPr txBox="1">
            <a:spLocks noGrp="1"/>
          </p:cNvSpPr>
          <p:nvPr>
            <p:ph type="body" idx="1"/>
          </p:nvPr>
        </p:nvSpPr>
        <p:spPr>
          <a:xfrm rot="5400000">
            <a:off x="3920333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27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7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7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8"/>
          <p:cNvSpPr txBox="1">
            <a:spLocks noGrp="1"/>
          </p:cNvSpPr>
          <p:nvPr>
            <p:ph type="title"/>
          </p:nvPr>
        </p:nvSpPr>
        <p:spPr>
          <a:xfrm rot="5400000">
            <a:off x="7133430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8"/>
          <p:cNvSpPr txBox="1">
            <a:spLocks noGrp="1"/>
          </p:cNvSpPr>
          <p:nvPr>
            <p:ph type="body" idx="1"/>
          </p:nvPr>
        </p:nvSpPr>
        <p:spPr>
          <a:xfrm rot="5400000">
            <a:off x="1799430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28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8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8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</a:t>
            </a:fld>
            <a:endParaRPr/>
          </a:p>
        </p:txBody>
      </p:sp>
      <p:pic>
        <p:nvPicPr>
          <p:cNvPr id="127" name="Google Shape;127;p1" descr="A building with a roof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21879" y="1067010"/>
            <a:ext cx="11421075" cy="3894085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28" name="Google Shape;128;p1"/>
          <p:cNvSpPr/>
          <p:nvPr/>
        </p:nvSpPr>
        <p:spPr>
          <a:xfrm>
            <a:off x="349046" y="4221512"/>
            <a:ext cx="11493908" cy="1162490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4400" b="1" dirty="0">
                <a:solidFill>
                  <a:srgbClr val="FF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FLYWHEEL AND CRANK MECHANISM</a:t>
            </a:r>
            <a:endParaRPr sz="4400" dirty="0"/>
          </a:p>
        </p:txBody>
      </p:sp>
      <p:sp>
        <p:nvSpPr>
          <p:cNvPr id="129" name="Google Shape;129;p1"/>
          <p:cNvSpPr/>
          <p:nvPr/>
        </p:nvSpPr>
        <p:spPr>
          <a:xfrm>
            <a:off x="349046" y="5495812"/>
            <a:ext cx="11842954" cy="797585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1" dirty="0">
                <a:solidFill>
                  <a:srgbClr val="FF0000"/>
                </a:solidFill>
                <a:latin typeface="Bookman Old Style"/>
                <a:sym typeface="Bookman Old Style"/>
              </a:rPr>
              <a:t>Manufacturing Process – Project Based Learning</a:t>
            </a:r>
            <a:endParaRPr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811D0B-A497-CCEB-18F3-DF0DC6D16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pPr/>
              <a:t>2</a:t>
            </a:fld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7D65D47-7027-ADE3-D340-A4D5404FDE4B}"/>
              </a:ext>
            </a:extLst>
          </p:cNvPr>
          <p:cNvSpPr txBox="1">
            <a:spLocks/>
          </p:cNvSpPr>
          <p:nvPr/>
        </p:nvSpPr>
        <p:spPr>
          <a:xfrm>
            <a:off x="2260414" y="132522"/>
            <a:ext cx="9535245" cy="82465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3200" dirty="0"/>
              <a:t>TEAM GRAVITECH</a:t>
            </a:r>
            <a:endParaRPr lang="en-IN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573A078-BA93-071D-8183-CC619DC9A598}"/>
              </a:ext>
            </a:extLst>
          </p:cNvPr>
          <p:cNvSpPr txBox="1">
            <a:spLocks/>
          </p:cNvSpPr>
          <p:nvPr/>
        </p:nvSpPr>
        <p:spPr>
          <a:xfrm>
            <a:off x="1156822" y="1480531"/>
            <a:ext cx="4001246" cy="16761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dirty="0"/>
              <a:t>Prof. Shruthi M N</a:t>
            </a:r>
          </a:p>
          <a:p>
            <a:r>
              <a:rPr lang="en-IN" sz="1800" b="0" dirty="0"/>
              <a:t>Assistant Professor,</a:t>
            </a:r>
            <a:endParaRPr lang="en-IN" sz="1800" dirty="0"/>
          </a:p>
          <a:p>
            <a:r>
              <a:rPr lang="en-IN" sz="2000" dirty="0"/>
              <a:t>Industrial Engineering Dept.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E62022-EAB9-4EAB-AC9D-1A2F6B2D6BAD}"/>
              </a:ext>
            </a:extLst>
          </p:cNvPr>
          <p:cNvSpPr txBox="1"/>
          <p:nvPr/>
        </p:nvSpPr>
        <p:spPr>
          <a:xfrm>
            <a:off x="3157445" y="4105225"/>
            <a:ext cx="63835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422C75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Team Members :-</a:t>
            </a:r>
          </a:p>
          <a:p>
            <a:r>
              <a:rPr lang="en-US" sz="2400" b="1" dirty="0">
                <a:solidFill>
                  <a:srgbClr val="422C75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1. Aryan Lodha       - 1RV24IM064</a:t>
            </a:r>
          </a:p>
          <a:p>
            <a:r>
              <a:rPr lang="en-US" sz="2400" b="1" dirty="0">
                <a:solidFill>
                  <a:srgbClr val="422C75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2. Yashveer Singh  - 1RV24IM061</a:t>
            </a:r>
          </a:p>
          <a:p>
            <a:r>
              <a:rPr lang="en-US" sz="2400" b="1" dirty="0">
                <a:solidFill>
                  <a:srgbClr val="422C75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3. Vivek </a:t>
            </a:r>
            <a:r>
              <a:rPr lang="en-US" sz="2400" b="1" dirty="0" err="1">
                <a:solidFill>
                  <a:srgbClr val="422C75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Bainsla</a:t>
            </a:r>
            <a:r>
              <a:rPr lang="en-US" sz="2400" b="1" dirty="0">
                <a:solidFill>
                  <a:srgbClr val="422C75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     - 1RV24IM059</a:t>
            </a:r>
            <a:endParaRPr lang="en-US" sz="2400" b="1" dirty="0">
              <a:solidFill>
                <a:schemeClr val="accent3">
                  <a:lumMod val="40000"/>
                  <a:lumOff val="60000"/>
                </a:schemeClr>
              </a:solidFill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3172D-288E-2303-E431-6935224085FF}"/>
              </a:ext>
            </a:extLst>
          </p:cNvPr>
          <p:cNvSpPr txBox="1">
            <a:spLocks/>
          </p:cNvSpPr>
          <p:nvPr/>
        </p:nvSpPr>
        <p:spPr>
          <a:xfrm>
            <a:off x="6349234" y="1487517"/>
            <a:ext cx="4975886" cy="16761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dirty="0"/>
              <a:t>Dr. </a:t>
            </a:r>
            <a:r>
              <a:rPr lang="en-IN" dirty="0" err="1"/>
              <a:t>Rajeswara</a:t>
            </a:r>
            <a:r>
              <a:rPr lang="en-IN" dirty="0"/>
              <a:t> Rao K V S</a:t>
            </a:r>
          </a:p>
          <a:p>
            <a:r>
              <a:rPr lang="en-IN" sz="1800" b="0" dirty="0"/>
              <a:t>Head of Department,</a:t>
            </a:r>
            <a:endParaRPr lang="en-IN" sz="1800" dirty="0"/>
          </a:p>
          <a:p>
            <a:r>
              <a:rPr lang="en-IN" sz="2000" dirty="0"/>
              <a:t>Industrial Engineering Dept.</a:t>
            </a:r>
          </a:p>
        </p:txBody>
      </p:sp>
    </p:spTree>
    <p:extLst>
      <p:ext uri="{BB962C8B-B14F-4D97-AF65-F5344CB8AC3E}">
        <p14:creationId xmlns:p14="http://schemas.microsoft.com/office/powerpoint/2010/main" val="1353094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  <p:sp>
        <p:nvSpPr>
          <p:cNvPr id="143" name="Google Shape;143;p4"/>
          <p:cNvSpPr txBox="1"/>
          <p:nvPr/>
        </p:nvSpPr>
        <p:spPr>
          <a:xfrm>
            <a:off x="2339498" y="178833"/>
            <a:ext cx="8551282" cy="638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endParaRPr sz="3200" b="1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2182762" y="89747"/>
            <a:ext cx="8151863" cy="131995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 dirty="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EL Phase-II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 dirty="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Presentation Outline</a:t>
            </a:r>
            <a:endParaRPr dirty="0"/>
          </a:p>
        </p:txBody>
      </p:sp>
      <p:sp>
        <p:nvSpPr>
          <p:cNvPr id="145" name="Google Shape;145;p4"/>
          <p:cNvSpPr txBox="1">
            <a:spLocks noGrp="1"/>
          </p:cNvSpPr>
          <p:nvPr>
            <p:ph type="body" idx="1"/>
          </p:nvPr>
        </p:nvSpPr>
        <p:spPr>
          <a:xfrm>
            <a:off x="575733" y="1666874"/>
            <a:ext cx="11441457" cy="4510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dirty="0">
                <a:solidFill>
                  <a:srgbClr val="FF0000"/>
                </a:solidFill>
              </a:rPr>
              <a:t>Introduction</a:t>
            </a:r>
            <a:endParaRPr dirty="0">
              <a:solidFill>
                <a:srgbClr val="FF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dirty="0">
                <a:solidFill>
                  <a:srgbClr val="FF0000"/>
                </a:solidFill>
              </a:rPr>
              <a:t>Literature Review</a:t>
            </a:r>
            <a:endParaRPr dirty="0">
              <a:solidFill>
                <a:srgbClr val="FF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dirty="0">
                <a:solidFill>
                  <a:srgbClr val="FF0000"/>
                </a:solidFill>
              </a:rPr>
              <a:t>Problem Definition</a:t>
            </a:r>
            <a:endParaRPr dirty="0">
              <a:solidFill>
                <a:srgbClr val="FF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dirty="0">
                <a:solidFill>
                  <a:srgbClr val="FF0000"/>
                </a:solidFill>
              </a:rPr>
              <a:t>Objectives</a:t>
            </a:r>
            <a:endParaRPr dirty="0">
              <a:solidFill>
                <a:srgbClr val="FF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dirty="0">
                <a:solidFill>
                  <a:srgbClr val="FF0000"/>
                </a:solidFill>
              </a:rPr>
              <a:t>Methodology</a:t>
            </a:r>
            <a:endParaRPr dirty="0">
              <a:solidFill>
                <a:srgbClr val="FF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dirty="0">
                <a:solidFill>
                  <a:srgbClr val="FF0000"/>
                </a:solidFill>
              </a:rPr>
              <a:t>Proposed Outcomes</a:t>
            </a:r>
            <a:endParaRPr dirty="0">
              <a:solidFill>
                <a:srgbClr val="FF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dirty="0">
                <a:solidFill>
                  <a:srgbClr val="FF0000"/>
                </a:solidFill>
              </a:rPr>
              <a:t>Timeline of the project</a:t>
            </a:r>
            <a:endParaRPr dirty="0">
              <a:solidFill>
                <a:srgbClr val="FF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dirty="0">
                <a:solidFill>
                  <a:srgbClr val="FF0000"/>
                </a:solidFill>
              </a:rPr>
              <a:t>Conclusion</a:t>
            </a:r>
            <a:endParaRPr dirty="0">
              <a:solidFill>
                <a:srgbClr val="FF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IN" dirty="0">
                <a:solidFill>
                  <a:srgbClr val="FF0000"/>
                </a:solidFill>
              </a:rPr>
              <a:t>References</a:t>
            </a:r>
            <a:endParaRPr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"/>
          <p:cNvSpPr txBox="1">
            <a:spLocks noGrp="1"/>
          </p:cNvSpPr>
          <p:nvPr>
            <p:ph type="body" idx="1"/>
          </p:nvPr>
        </p:nvSpPr>
        <p:spPr>
          <a:xfrm>
            <a:off x="174813" y="1258282"/>
            <a:ext cx="11842377" cy="491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n-IN" b="1" dirty="0"/>
              <a:t>Overview</a:t>
            </a:r>
          </a:p>
          <a:p>
            <a:pPr marL="0" lvl="0" indent="0">
              <a:spcBef>
                <a:spcPts val="0"/>
              </a:spcBef>
              <a:buNone/>
            </a:pPr>
            <a:endParaRPr lang="en-IN" b="1" dirty="0"/>
          </a:p>
          <a:p>
            <a:pPr indent="-457200">
              <a:spcBef>
                <a:spcPts val="0"/>
              </a:spcBef>
            </a:pPr>
            <a:r>
              <a:rPr lang="en-US" dirty="0"/>
              <a:t>Flywheel and crank mechanism is a fundamental mechanical system.    </a:t>
            </a:r>
          </a:p>
          <a:p>
            <a:pPr indent="-457200">
              <a:spcBef>
                <a:spcPts val="0"/>
              </a:spcBef>
            </a:pPr>
            <a:r>
              <a:rPr lang="en-US" dirty="0"/>
              <a:t>It converts </a:t>
            </a:r>
            <a:r>
              <a:rPr lang="en-US" b="1" dirty="0"/>
              <a:t>rotary motion into reciprocating motion</a:t>
            </a:r>
            <a:r>
              <a:rPr lang="en-US" dirty="0"/>
              <a:t> and vice versa.    </a:t>
            </a:r>
          </a:p>
          <a:p>
            <a:pPr indent="-457200">
              <a:spcBef>
                <a:spcPts val="0"/>
              </a:spcBef>
            </a:pPr>
            <a:r>
              <a:rPr lang="en-US" dirty="0"/>
              <a:t>Commonly used in engines, pumps, compressors, and machine tools.    </a:t>
            </a:r>
          </a:p>
          <a:p>
            <a:pPr indent="-457200">
              <a:spcBef>
                <a:spcPts val="0"/>
              </a:spcBef>
            </a:pPr>
            <a:r>
              <a:rPr lang="en-US" dirty="0"/>
              <a:t>Ensures smooth and continuous power transmission.    </a:t>
            </a:r>
          </a:p>
          <a:p>
            <a:pPr indent="-457200">
              <a:spcBef>
                <a:spcPts val="0"/>
              </a:spcBef>
            </a:pPr>
            <a:r>
              <a:rPr lang="en-US" dirty="0"/>
              <a:t>Plays a key role in speed regulation and energy storage</a:t>
            </a:r>
            <a:endParaRPr lang="en-US" b="1" dirty="0"/>
          </a:p>
        </p:txBody>
      </p:sp>
      <p:sp>
        <p:nvSpPr>
          <p:cNvPr id="152" name="Google Shape;152;p5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Slide No. </a:t>
            </a:r>
            <a:fld id="{00000000-1234-1234-1234-123412341234}" type="slidenum">
              <a:rPr lang="en-IN"/>
              <a:t>4</a:t>
            </a:fld>
            <a:endParaRPr dirty="0"/>
          </a:p>
        </p:txBody>
      </p:sp>
      <p:sp>
        <p:nvSpPr>
          <p:cNvPr id="153" name="Google Shape;153;p5"/>
          <p:cNvSpPr txBox="1"/>
          <p:nvPr/>
        </p:nvSpPr>
        <p:spPr>
          <a:xfrm>
            <a:off x="1386895" y="145670"/>
            <a:ext cx="9834426" cy="83940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Introduction</a:t>
            </a:r>
            <a:endParaRPr sz="4000" b="1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4DFEBE-E15D-B9A0-A2E5-15D6147FF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pPr/>
              <a:t>5</a:t>
            </a:fld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2F029EF-F97C-2942-1FF3-C4B6DFE8CA0E}"/>
              </a:ext>
            </a:extLst>
          </p:cNvPr>
          <p:cNvSpPr txBox="1">
            <a:spLocks/>
          </p:cNvSpPr>
          <p:nvPr/>
        </p:nvSpPr>
        <p:spPr>
          <a:xfrm>
            <a:off x="1503705" y="0"/>
            <a:ext cx="10227733" cy="1076325"/>
          </a:xfrm>
          <a:prstGeom prst="rect">
            <a:avLst/>
          </a:prstGeom>
          <a:noFill/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3600" dirty="0"/>
              <a:t>Problem Definition</a:t>
            </a:r>
            <a:endParaRPr lang="en-IN" sz="3600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4BEEB73-F33B-459F-B08D-BE7BC7FC1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643" y="1166843"/>
            <a:ext cx="11210714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à"/>
            </a:pPr>
            <a:r>
              <a:rPr lang="en-US" sz="3600" dirty="0">
                <a:solidFill>
                  <a:srgbClr val="422C75"/>
                </a:solidFill>
                <a:latin typeface="Bookman Old Style" panose="02050604050505020204" pitchFamily="18" charset="0"/>
              </a:rPr>
              <a:t>Direct conversion of motion causes uneven speed and vibration.   </a:t>
            </a:r>
          </a:p>
          <a:p>
            <a:pPr marL="342900" indent="-342900" algn="just">
              <a:buFont typeface="Wingdings" panose="05000000000000000000" pitchFamily="2" charset="2"/>
              <a:buChar char="à"/>
            </a:pPr>
            <a:r>
              <a:rPr lang="en-US" sz="3600" dirty="0">
                <a:solidFill>
                  <a:srgbClr val="422C75"/>
                </a:solidFill>
                <a:latin typeface="Bookman Old Style" panose="02050604050505020204" pitchFamily="18" charset="0"/>
              </a:rPr>
              <a:t>Lack of energy storage leads to fluctuating output.    </a:t>
            </a:r>
          </a:p>
          <a:p>
            <a:pPr marL="342900" indent="-342900" algn="just">
              <a:buFont typeface="Wingdings" panose="05000000000000000000" pitchFamily="2" charset="2"/>
              <a:buChar char="à"/>
            </a:pPr>
            <a:r>
              <a:rPr lang="en-US" sz="3600" dirty="0">
                <a:solidFill>
                  <a:srgbClr val="422C75"/>
                </a:solidFill>
                <a:latin typeface="Bookman Old Style" panose="02050604050505020204" pitchFamily="18" charset="0"/>
              </a:rPr>
              <a:t>Mechanical systems require smooth and continuous motion transfer.    </a:t>
            </a:r>
          </a:p>
          <a:p>
            <a:pPr marL="342900" indent="-342900" algn="just">
              <a:buFont typeface="Wingdings" panose="05000000000000000000" pitchFamily="2" charset="2"/>
              <a:buChar char="à"/>
            </a:pPr>
            <a:r>
              <a:rPr lang="en-US" sz="3600" dirty="0">
                <a:solidFill>
                  <a:srgbClr val="422C75"/>
                </a:solidFill>
                <a:latin typeface="Bookman Old Style" panose="02050604050505020204" pitchFamily="18" charset="0"/>
              </a:rPr>
              <a:t>A reliable mechanism is needed to reduce speed variation and shocks</a:t>
            </a:r>
            <a:r>
              <a:rPr 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rgbClr val="422C75"/>
              </a:solidFill>
              <a:effectLst/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5408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0C888C-4575-335B-FA8F-F2C2631CF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655" y="1032933"/>
            <a:ext cx="11842377" cy="53836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en-US" sz="3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Relevance to current research:</a:t>
            </a:r>
            <a:endParaRPr lang="en-IN" sz="3200" b="1" dirty="0">
              <a:solidFill>
                <a:srgbClr val="422C75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892E3-118C-9755-60CE-3C3C2B20E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pPr/>
              <a:t>6</a:t>
            </a:fld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93DD6B8-40A1-00CF-B2F1-ED5905311783}"/>
              </a:ext>
            </a:extLst>
          </p:cNvPr>
          <p:cNvSpPr txBox="1">
            <a:spLocks/>
          </p:cNvSpPr>
          <p:nvPr/>
        </p:nvSpPr>
        <p:spPr>
          <a:xfrm>
            <a:off x="1710268" y="89747"/>
            <a:ext cx="9939866" cy="943186"/>
          </a:xfrm>
          <a:prstGeom prst="rect">
            <a:avLst/>
          </a:prstGeom>
          <a:noFill/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4000" b="1" dirty="0"/>
              <a:t>Literature Review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17DC324-93EC-4541-9547-9DDAA8AE3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3811" y="2190117"/>
            <a:ext cx="10756323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Supports the continued use of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mechanical mechanisms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 for reliable motion conversion in engineering systems.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 Validates the effectiveness of the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flywheel–crank mechanism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 in reducing speed fluctuations and vibration.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 Aligns with industrial requirements for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smooth, continuous, and energy-efficient motion transmission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Our project contributes by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designing and fabricating a laboratory-scale flywheel and crank mechanism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 to demonstrate practical manufacturing and kinematic concepts.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422C75"/>
              </a:solidFill>
              <a:effectLst/>
              <a:latin typeface="Bookman Old Style" panose="0205060405050502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422C75"/>
              </a:solidFill>
              <a:effectLst/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3278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0C888C-4575-335B-FA8F-F2C2631CF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812" y="1127353"/>
            <a:ext cx="11842377" cy="58040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3200" b="1" dirty="0"/>
              <a:t>Theoretical Framework:</a:t>
            </a:r>
            <a:endParaRPr lang="en-I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892E3-118C-9755-60CE-3C3C2B20E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pPr/>
              <a:t>7</a:t>
            </a:fld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93DD6B8-40A1-00CF-B2F1-ED5905311783}"/>
              </a:ext>
            </a:extLst>
          </p:cNvPr>
          <p:cNvSpPr txBox="1">
            <a:spLocks/>
          </p:cNvSpPr>
          <p:nvPr/>
        </p:nvSpPr>
        <p:spPr>
          <a:xfrm>
            <a:off x="1710268" y="89747"/>
            <a:ext cx="9939866" cy="943186"/>
          </a:xfrm>
          <a:prstGeom prst="rect">
            <a:avLst/>
          </a:prstGeom>
          <a:noFill/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4000" b="1" dirty="0"/>
              <a:t>Literature Review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D047A0-5F35-45B2-B4BB-0AF1E270FCA9}"/>
              </a:ext>
            </a:extLst>
          </p:cNvPr>
          <p:cNvSpPr/>
          <p:nvPr/>
        </p:nvSpPr>
        <p:spPr>
          <a:xfrm>
            <a:off x="956553" y="1896772"/>
            <a:ext cx="10693581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à"/>
            </a:pPr>
            <a:r>
              <a:rPr 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Principle:</a:t>
            </a:r>
            <a:r>
              <a:rPr 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 Conversion between </a:t>
            </a:r>
            <a:r>
              <a:rPr 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rotary motion and reciprocating motion</a:t>
            </a:r>
            <a:r>
              <a:rPr 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 with energy regulation using a flywheel.</a:t>
            </a:r>
          </a:p>
          <a:p>
            <a:pPr marL="342900" indent="-342900" algn="just">
              <a:buFont typeface="Wingdings" panose="05000000000000000000" pitchFamily="2" charset="2"/>
              <a:buChar char="à"/>
            </a:pPr>
            <a:endParaRPr lang="en-US" sz="2200" dirty="0">
              <a:solidFill>
                <a:srgbClr val="422C75"/>
              </a:solidFill>
              <a:latin typeface="Bookman Old Style" panose="02050604050505020204" pitchFamily="18" charset="0"/>
            </a:endParaRPr>
          </a:p>
          <a:p>
            <a:pPr algn="just"/>
            <a:r>
              <a:rPr lang="en-US" sz="2200" b="1" dirty="0">
                <a:solidFill>
                  <a:srgbClr val="422C75"/>
                </a:solidFill>
                <a:latin typeface="Bookman Old Style" panose="02050604050505020204" pitchFamily="18" charset="0"/>
                <a:sym typeface="Wingdings" panose="05000000000000000000" pitchFamily="2" charset="2"/>
              </a:rPr>
              <a:t> </a:t>
            </a:r>
            <a:r>
              <a:rPr 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Mechanism:</a:t>
            </a:r>
            <a:endParaRPr lang="en-US" sz="2200" dirty="0">
              <a:solidFill>
                <a:srgbClr val="422C75"/>
              </a:solidFill>
              <a:latin typeface="Bookman Old Style" panose="020506040505050202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Flywheel stores rotational energy during power stroke.   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Stored energy is released during non-power stroke to maintain uniform speed.</a:t>
            </a:r>
          </a:p>
          <a:p>
            <a:pPr marL="342900" indent="-342900" algn="just">
              <a:buFont typeface="Wingdings" panose="05000000000000000000" pitchFamily="2" charset="2"/>
              <a:buChar char="à"/>
            </a:pPr>
            <a:r>
              <a:rPr lang="en-US" sz="22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Relevance:</a:t>
            </a:r>
            <a:r>
              <a:rPr lang="en-US" sz="2200" dirty="0">
                <a:solidFill>
                  <a:srgbClr val="422C75"/>
                </a:solidFill>
                <a:latin typeface="Bookman Old Style" panose="02050604050505020204" pitchFamily="18" charset="0"/>
              </a:rPr>
              <a:t> Forms the core working principle of the fabricated flywheel and crank mechanism model.</a:t>
            </a:r>
          </a:p>
        </p:txBody>
      </p:sp>
    </p:spTree>
    <p:extLst>
      <p:ext uri="{BB962C8B-B14F-4D97-AF65-F5344CB8AC3E}">
        <p14:creationId xmlns:p14="http://schemas.microsoft.com/office/powerpoint/2010/main" val="3076664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892E3-118C-9755-60CE-3C3C2B20E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pPr/>
              <a:t>8</a:t>
            </a:fld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93DD6B8-40A1-00CF-B2F1-ED5905311783}"/>
              </a:ext>
            </a:extLst>
          </p:cNvPr>
          <p:cNvSpPr txBox="1">
            <a:spLocks/>
          </p:cNvSpPr>
          <p:nvPr/>
        </p:nvSpPr>
        <p:spPr>
          <a:xfrm>
            <a:off x="2191229" y="0"/>
            <a:ext cx="8146571" cy="10329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4000" dirty="0"/>
              <a:t>Objectives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29144A-E251-4F90-89ED-B9616ACD4485}"/>
              </a:ext>
            </a:extLst>
          </p:cNvPr>
          <p:cNvSpPr/>
          <p:nvPr/>
        </p:nvSpPr>
        <p:spPr>
          <a:xfrm>
            <a:off x="404139" y="1427911"/>
            <a:ext cx="1117826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à"/>
            </a:pPr>
            <a:r>
              <a:rPr 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To design and fabricate a flywheel and crank mechanism.    </a:t>
            </a:r>
          </a:p>
          <a:p>
            <a:pPr marL="342900" indent="-342900" algn="just">
              <a:buFont typeface="Wingdings" panose="05000000000000000000" pitchFamily="2" charset="2"/>
              <a:buChar char="à"/>
            </a:pPr>
            <a:r>
              <a:rPr 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To understand the working principle of the mechanism.    </a:t>
            </a:r>
          </a:p>
          <a:p>
            <a:pPr marL="342900" indent="-342900" algn="just">
              <a:buFont typeface="Wingdings" panose="05000000000000000000" pitchFamily="2" charset="2"/>
              <a:buChar char="à"/>
            </a:pPr>
            <a:r>
              <a:rPr 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To study conversion between rotary and reciprocating motion.    </a:t>
            </a:r>
          </a:p>
          <a:p>
            <a:pPr marL="342900" indent="-342900" algn="just">
              <a:buFont typeface="Wingdings" panose="05000000000000000000" pitchFamily="2" charset="2"/>
              <a:buChar char="à"/>
            </a:pPr>
            <a:r>
              <a:rPr 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To gain hands-on experience with manufacturing processes.    </a:t>
            </a:r>
          </a:p>
          <a:p>
            <a:pPr marL="342900" indent="-342900" algn="just">
              <a:buFont typeface="Wingdings" panose="05000000000000000000" pitchFamily="2" charset="2"/>
              <a:buChar char="à"/>
            </a:pPr>
            <a:r>
              <a:rPr 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To improve understanding of alignment, balance, and inertia effects.</a:t>
            </a:r>
            <a:endParaRPr lang="en-IN" sz="2400" dirty="0">
              <a:solidFill>
                <a:srgbClr val="422C75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868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892E3-118C-9755-60CE-3C3C2B20E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pPr/>
              <a:t>9</a:t>
            </a:fld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93DD6B8-40A1-00CF-B2F1-ED5905311783}"/>
              </a:ext>
            </a:extLst>
          </p:cNvPr>
          <p:cNvSpPr txBox="1">
            <a:spLocks/>
          </p:cNvSpPr>
          <p:nvPr/>
        </p:nvSpPr>
        <p:spPr>
          <a:xfrm>
            <a:off x="2284362" y="0"/>
            <a:ext cx="8146571" cy="83940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4000" dirty="0"/>
              <a:t>Methodology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61F389-BB3D-494D-A366-214AC55C2A56}"/>
              </a:ext>
            </a:extLst>
          </p:cNvPr>
          <p:cNvSpPr txBox="1"/>
          <p:nvPr/>
        </p:nvSpPr>
        <p:spPr>
          <a:xfrm>
            <a:off x="4392648" y="5779102"/>
            <a:ext cx="34067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Flowchart:</a:t>
            </a:r>
            <a:r>
              <a:rPr lang="en-IN" sz="2000" dirty="0">
                <a:solidFill>
                  <a:srgbClr val="422C75"/>
                </a:solidFill>
                <a:latin typeface="Bookman Old Style" panose="02050604050505020204" pitchFamily="18" charset="0"/>
              </a:rPr>
              <a:t> Flow of Work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91DEC8-2116-C726-BC10-0967A8795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362" y="839401"/>
            <a:ext cx="7960851" cy="587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07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892E3-118C-9755-60CE-3C3C2B20E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pPr/>
              <a:t>10</a:t>
            </a:fld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93DD6B8-40A1-00CF-B2F1-ED5905311783}"/>
              </a:ext>
            </a:extLst>
          </p:cNvPr>
          <p:cNvSpPr txBox="1">
            <a:spLocks/>
          </p:cNvSpPr>
          <p:nvPr/>
        </p:nvSpPr>
        <p:spPr>
          <a:xfrm>
            <a:off x="2022714" y="145670"/>
            <a:ext cx="8146571" cy="83940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4000" dirty="0"/>
              <a:t>Working Principle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9795467-326F-4023-A45D-85EBAAFB7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812" y="2594310"/>
            <a:ext cx="1185947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Crank rotates about a fixed axis.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Connecting rod transfers motion to the slider.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Slider moves linearly in a guideway.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Flywheel stores excess energy during power stroke.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Stored energy is released during non-power stroke for smooth motion.</a:t>
            </a:r>
            <a:endParaRPr lang="en-US" altLang="en-US" sz="2200" dirty="0">
              <a:solidFill>
                <a:srgbClr val="422C75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5415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55587-590D-EA35-A181-476AA5AEC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D90FED-4C60-05FB-4B4F-59BB4B1C7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pPr/>
              <a:t>11</a:t>
            </a:fld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6477CBC-DC23-D4BC-C7D4-D6A7AEFFB25F}"/>
              </a:ext>
            </a:extLst>
          </p:cNvPr>
          <p:cNvSpPr txBox="1">
            <a:spLocks/>
          </p:cNvSpPr>
          <p:nvPr/>
        </p:nvSpPr>
        <p:spPr>
          <a:xfrm>
            <a:off x="2022714" y="145670"/>
            <a:ext cx="8146571" cy="83940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4000" dirty="0"/>
              <a:t>Main Components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82FA7B2-65BE-C307-03B8-B3F4CBC633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812" y="2224980"/>
            <a:ext cx="11859472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8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Flywheel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8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Crankshaft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8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Connecting rod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8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Slider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8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Base and guideways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8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Fasteners and joints</a:t>
            </a:r>
            <a:endParaRPr lang="en-US" altLang="en-US" sz="2400" dirty="0">
              <a:solidFill>
                <a:srgbClr val="422C75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3534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6CD2C-B83E-6369-F680-A02D77C7D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890586-D077-ECFC-A9A6-4D949F200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pPr/>
              <a:t>12</a:t>
            </a:fld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B78D91F-EBF0-E8C5-2009-4AA917BE8D87}"/>
              </a:ext>
            </a:extLst>
          </p:cNvPr>
          <p:cNvSpPr txBox="1">
            <a:spLocks/>
          </p:cNvSpPr>
          <p:nvPr/>
        </p:nvSpPr>
        <p:spPr>
          <a:xfrm>
            <a:off x="2022714" y="145670"/>
            <a:ext cx="8146571" cy="83940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4000" dirty="0"/>
              <a:t>Material Selection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6A28793-D5DB-FB04-01BA-DC7D92FC5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960" y="2309179"/>
            <a:ext cx="1147207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Wood selected as primary material.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Easy to machine and shape.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Suitable for demonstrating working principle clearly.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Provides sufficient strength for laboratory-scale model.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Cost-effective and safe for student fabrication.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422C75"/>
              </a:solidFill>
              <a:effectLst/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9226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68E6A-4F8C-6EAC-E258-27864B2A7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903EDC-07CB-4FFD-667F-B38D93522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pPr/>
              <a:t>13</a:t>
            </a:fld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B83E806-3B64-8620-C048-4C68ADFD198B}"/>
              </a:ext>
            </a:extLst>
          </p:cNvPr>
          <p:cNvSpPr txBox="1">
            <a:spLocks/>
          </p:cNvSpPr>
          <p:nvPr/>
        </p:nvSpPr>
        <p:spPr>
          <a:xfrm>
            <a:off x="2022714" y="145670"/>
            <a:ext cx="8146571" cy="83940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4000" dirty="0"/>
              <a:t>Machines Used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70BE373-43F6-2BF1-AE86-8EF4E28A29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960" y="2360488"/>
            <a:ext cx="1147207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Power hacksaw / Band saw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Lathe machine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Drilling machine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Milling machine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Grinding machine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Bench grinder</a:t>
            </a: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rgbClr val="422C75"/>
              </a:solidFill>
              <a:effectLst/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3928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757A8-B91F-3F9D-465D-EC910B20D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C45B44-8B45-0A48-9B75-C42D8F64D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pPr/>
              <a:t>14</a:t>
            </a:fld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3D06831-FAFD-5AE7-4674-5AE47BEB00D8}"/>
              </a:ext>
            </a:extLst>
          </p:cNvPr>
          <p:cNvSpPr txBox="1">
            <a:spLocks/>
          </p:cNvSpPr>
          <p:nvPr/>
        </p:nvSpPr>
        <p:spPr>
          <a:xfrm>
            <a:off x="2022714" y="145670"/>
            <a:ext cx="9579351" cy="83940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4000" dirty="0"/>
              <a:t>Measuring and Assembly Tools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F22B732-631C-00AF-0AC8-8C7BF5E8E2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960" y="2360488"/>
            <a:ext cx="1147207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Vernier caliper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Micrometer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Steel rule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Dial gauge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Spanners, Allen keys, screwdrivers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Lubricating oil and grease</a:t>
            </a: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rgbClr val="422C75"/>
              </a:solidFill>
              <a:effectLst/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9226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1937E-49A8-82E0-A257-97B26D8F1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BA364D-7097-93B6-9505-8ACCDDC4A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pPr/>
              <a:t>15</a:t>
            </a:fld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8023297-5D53-5EEC-19A4-247BFB872EA7}"/>
              </a:ext>
            </a:extLst>
          </p:cNvPr>
          <p:cNvSpPr txBox="1">
            <a:spLocks/>
          </p:cNvSpPr>
          <p:nvPr/>
        </p:nvSpPr>
        <p:spPr>
          <a:xfrm>
            <a:off x="2022714" y="145670"/>
            <a:ext cx="9579351" cy="83940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4000" dirty="0"/>
              <a:t>Operations Performed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865D93B-6DA2-6F9A-E998-612423386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960" y="2175822"/>
            <a:ext cx="11472077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Cutting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Facing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Turning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Drilling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Milling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Grinding and finishing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Assembly and testing</a:t>
            </a: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rgbClr val="422C75"/>
              </a:solidFill>
              <a:effectLst/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46971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62C1E-1B50-1DF1-8592-6AF512221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7273B3-FA1E-ED47-3841-60778C20F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pPr/>
              <a:t>16</a:t>
            </a:fld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270635B-AF6B-F267-216E-32C6C2665F96}"/>
              </a:ext>
            </a:extLst>
          </p:cNvPr>
          <p:cNvSpPr txBox="1">
            <a:spLocks/>
          </p:cNvSpPr>
          <p:nvPr/>
        </p:nvSpPr>
        <p:spPr>
          <a:xfrm>
            <a:off x="2022714" y="145670"/>
            <a:ext cx="9579351" cy="83940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4000" dirty="0"/>
              <a:t>Manufacturing Details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575E5FB-EF73-2B88-5793-483D82D62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4464" y="788427"/>
            <a:ext cx="3710595" cy="5755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Flywheel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-"/>
            </a:pPr>
            <a:r>
              <a:rPr lang="en-US" altLang="en-US" sz="20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Radius: 100 mm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-"/>
            </a:pPr>
            <a:r>
              <a:rPr lang="en-US" altLang="en-US" sz="20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Thickness: 18 mm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-"/>
            </a:pPr>
            <a:r>
              <a:rPr lang="en-US" altLang="en-US" sz="20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Operations:    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rgbClr val="422C75"/>
                </a:solidFill>
                <a:latin typeface="Bookman Old Style" panose="02050604050505020204" pitchFamily="18" charset="0"/>
              </a:rPr>
              <a:t>Cutting        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rgbClr val="422C75"/>
                </a:solidFill>
                <a:latin typeface="Bookman Old Style" panose="02050604050505020204" pitchFamily="18" charset="0"/>
              </a:rPr>
              <a:t>Facing        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rgbClr val="422C75"/>
                </a:solidFill>
                <a:latin typeface="Bookman Old Style" panose="02050604050505020204" pitchFamily="18" charset="0"/>
              </a:rPr>
              <a:t>Turning        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rgbClr val="422C75"/>
                </a:solidFill>
                <a:latin typeface="Bookman Old Style" panose="02050604050505020204" pitchFamily="18" charset="0"/>
              </a:rPr>
              <a:t>Drilling    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Connecting Rod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-"/>
            </a:pPr>
            <a:r>
              <a:rPr lang="en-US" altLang="en-US" sz="20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Length: 330 mm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-"/>
            </a:pPr>
            <a:r>
              <a:rPr lang="en-US" altLang="en-US" sz="20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Thickness: 20 mm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-"/>
            </a:pPr>
            <a:r>
              <a:rPr lang="en-US" altLang="en-US" sz="20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Operations:    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rgbClr val="422C75"/>
                </a:solidFill>
                <a:latin typeface="Bookman Old Style" panose="02050604050505020204" pitchFamily="18" charset="0"/>
              </a:rPr>
              <a:t>Cutting        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rgbClr val="422C75"/>
                </a:solidFill>
                <a:latin typeface="Bookman Old Style" panose="02050604050505020204" pitchFamily="18" charset="0"/>
              </a:rPr>
              <a:t>Facing        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rgbClr val="422C75"/>
                </a:solidFill>
                <a:latin typeface="Bookman Old Style" panose="02050604050505020204" pitchFamily="18" charset="0"/>
              </a:rPr>
              <a:t>Turning        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rgbClr val="422C75"/>
                </a:solidFill>
                <a:latin typeface="Bookman Old Style" panose="02050604050505020204" pitchFamily="18" charset="0"/>
              </a:rPr>
              <a:t>Drilling        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rgbClr val="422C75"/>
                </a:solidFill>
                <a:latin typeface="Bookman Old Style" panose="02050604050505020204" pitchFamily="18" charset="0"/>
              </a:rPr>
              <a:t>Milling        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rgbClr val="422C75"/>
                </a:solidFill>
                <a:latin typeface="Bookman Old Style" panose="02050604050505020204" pitchFamily="18" charset="0"/>
              </a:rPr>
              <a:t>Grinding        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rgbClr val="422C75"/>
              </a:solidFill>
              <a:effectLst/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CEC8E8-AE53-B733-BBC3-5B546D94CE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2389" y="944715"/>
            <a:ext cx="6136415" cy="5139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Slider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-   Length: 330 mm   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-"/>
            </a:pPr>
            <a:r>
              <a:rPr lang="en-US" altLang="en-US" sz="20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Operations:       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rgbClr val="422C75"/>
                </a:solidFill>
                <a:latin typeface="Bookman Old Style" panose="02050604050505020204" pitchFamily="18" charset="0"/>
              </a:rPr>
              <a:t>Cutting           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rgbClr val="422C75"/>
                </a:solidFill>
                <a:latin typeface="Bookman Old Style" panose="02050604050505020204" pitchFamily="18" charset="0"/>
              </a:rPr>
              <a:t>Facing           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rgbClr val="422C75"/>
                </a:solidFill>
                <a:latin typeface="Bookman Old Style" panose="02050604050505020204" pitchFamily="18" charset="0"/>
              </a:rPr>
              <a:t>Turning           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rgbClr val="422C75"/>
                </a:solidFill>
                <a:latin typeface="Bookman Old Style" panose="02050604050505020204" pitchFamily="18" charset="0"/>
              </a:rPr>
              <a:t>Drilling           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Slider Block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-"/>
            </a:pPr>
            <a:r>
              <a:rPr lang="en-US" altLang="en-US" sz="20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Height: 40 mm   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-"/>
            </a:pPr>
            <a:r>
              <a:rPr lang="en-US" altLang="en-US" sz="20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Length: 48 mm   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-"/>
            </a:pPr>
            <a:r>
              <a:rPr lang="en-US" altLang="en-US" sz="20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Breadth: 36 mm   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-"/>
            </a:pPr>
            <a:r>
              <a:rPr lang="en-US" altLang="en-US" sz="20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Operations:       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rgbClr val="422C75"/>
                </a:solidFill>
                <a:latin typeface="Bookman Old Style" panose="02050604050505020204" pitchFamily="18" charset="0"/>
              </a:rPr>
              <a:t>Cutting           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rgbClr val="422C75"/>
                </a:solidFill>
                <a:latin typeface="Bookman Old Style" panose="02050604050505020204" pitchFamily="18" charset="0"/>
              </a:rPr>
              <a:t>Facing                      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rgbClr val="422C75"/>
                </a:solidFill>
                <a:latin typeface="Bookman Old Style" panose="02050604050505020204" pitchFamily="18" charset="0"/>
              </a:rPr>
              <a:t>Milling           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rgbClr val="422C75"/>
                </a:solidFill>
                <a:latin typeface="Bookman Old Style" panose="02050604050505020204" pitchFamily="18" charset="0"/>
              </a:rPr>
              <a:t>Grinding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rgbClr val="422C75"/>
              </a:solidFill>
              <a:effectLst/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3335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892E3-118C-9755-60CE-3C3C2B20E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pPr/>
              <a:t>17</a:t>
            </a:fld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93DD6B8-40A1-00CF-B2F1-ED5905311783}"/>
              </a:ext>
            </a:extLst>
          </p:cNvPr>
          <p:cNvSpPr txBox="1">
            <a:spLocks/>
          </p:cNvSpPr>
          <p:nvPr/>
        </p:nvSpPr>
        <p:spPr>
          <a:xfrm>
            <a:off x="2284362" y="0"/>
            <a:ext cx="8146571" cy="83940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4000" dirty="0"/>
              <a:t>Outcomes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C77C514-B54A-4C1A-A914-B3341C41F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303" y="1648368"/>
            <a:ext cx="11641393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Successfully designed and fabricated a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working flywheel and crank mechanism model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.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Achieved smooth conversion between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rotary and reciprocating motion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.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Observed effective reduction in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speed fluctuation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 due to flywheel action.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Gained practical exposure to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lathe, milling, drilling, and grinding operations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.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Improved understanding of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mechanism kinematics, balance, and alignment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.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Developed skills in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precision manufacturing, assembly, and teamwork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.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à"/>
            </a:pP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Enhanced confidence in handling real-world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manufacturing challenges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rgbClr val="422C75"/>
              </a:solidFill>
              <a:effectLst/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7276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892E3-118C-9755-60CE-3C3C2B20E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pPr/>
              <a:t>18</a:t>
            </a:fld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93DD6B8-40A1-00CF-B2F1-ED5905311783}"/>
              </a:ext>
            </a:extLst>
          </p:cNvPr>
          <p:cNvSpPr txBox="1">
            <a:spLocks/>
          </p:cNvSpPr>
          <p:nvPr/>
        </p:nvSpPr>
        <p:spPr>
          <a:xfrm>
            <a:off x="2284362" y="0"/>
            <a:ext cx="8146571" cy="83940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4000" dirty="0"/>
              <a:t>2D and 3D Images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A0606F-AB41-EF09-37AB-79BEFA919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472" y="1087693"/>
            <a:ext cx="4675238" cy="468261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1D3E4FE-B172-8DC2-984D-919918AC8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647" y="1333828"/>
            <a:ext cx="5300815" cy="3533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2505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27B59-625E-DA7E-76A9-AE7546F70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3B73A1-2529-D26C-8087-E09D0240E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pPr/>
              <a:t>19</a:t>
            </a:fld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A221680-2051-674D-51A2-5500EF535D6D}"/>
              </a:ext>
            </a:extLst>
          </p:cNvPr>
          <p:cNvSpPr txBox="1">
            <a:spLocks/>
          </p:cNvSpPr>
          <p:nvPr/>
        </p:nvSpPr>
        <p:spPr>
          <a:xfrm>
            <a:off x="2284362" y="0"/>
            <a:ext cx="8146571" cy="83940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4000" dirty="0"/>
              <a:t>Visuals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9AAA08-9C8E-929E-5D48-71FB759FB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3475"/>
            <a:ext cx="12192000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0253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892E3-118C-9755-60CE-3C3C2B20E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pPr/>
              <a:t>20</a:t>
            </a:fld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93DD6B8-40A1-00CF-B2F1-ED5905311783}"/>
              </a:ext>
            </a:extLst>
          </p:cNvPr>
          <p:cNvSpPr txBox="1">
            <a:spLocks/>
          </p:cNvSpPr>
          <p:nvPr/>
        </p:nvSpPr>
        <p:spPr>
          <a:xfrm>
            <a:off x="2284362" y="145670"/>
            <a:ext cx="8146571" cy="83940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4000" dirty="0"/>
              <a:t>Conclusion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411BF38-EB79-471D-AFC3-3561DCAE65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942" y="1373202"/>
            <a:ext cx="10925806" cy="4585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-"/>
            </a:pP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The flywheel and crank mechanism was successfully fabricated and tested under laboratory conditions.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-"/>
            </a:pP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The project demonstrated the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practical application of theoretical concepts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 learned in manufacturing processes.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-"/>
            </a:pP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Flywheel action ensured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smooth and continuous motion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, validating its role in energy storage and speed regulation.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-"/>
            </a:pP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Accurate machining and proper assembly proved critical for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efficient and vibration-free operation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.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-"/>
            </a:pP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The project strengthened understanding of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mechanical design, machining accuracy, and motion transmission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.   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-"/>
            </a:pP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Overall, this PBL activity effectively bridged the gap between </a:t>
            </a:r>
            <a:r>
              <a:rPr lang="en-US" altLang="en-US" sz="2400" b="1" dirty="0">
                <a:solidFill>
                  <a:srgbClr val="422C75"/>
                </a:solidFill>
                <a:latin typeface="Bookman Old Style" panose="02050604050505020204" pitchFamily="18" charset="0"/>
              </a:rPr>
              <a:t>theory and hands-on engineering practice</a:t>
            </a:r>
            <a:r>
              <a:rPr lang="en-US" altLang="en-US" sz="2400" dirty="0">
                <a:solidFill>
                  <a:srgbClr val="422C75"/>
                </a:solidFill>
                <a:latin typeface="Bookman Old Style" panose="02050604050505020204" pitchFamily="18" charset="0"/>
              </a:rPr>
              <a:t>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rgbClr val="422C75"/>
              </a:solidFill>
              <a:effectLst/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72722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0C888C-4575-335B-FA8F-F2C2631CF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467" y="1117601"/>
            <a:ext cx="11192933" cy="543034"/>
          </a:xfrm>
        </p:spPr>
        <p:txBody>
          <a:bodyPr>
            <a:normAutofit fontScale="92500" lnSpcReduction="20000"/>
          </a:bodyPr>
          <a:lstStyle/>
          <a:p>
            <a:r>
              <a:rPr lang="en-IN" sz="3200" b="1" dirty="0"/>
              <a:t>List of References:</a:t>
            </a:r>
            <a:endParaRPr lang="en-I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892E3-118C-9755-60CE-3C3C2B20E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pPr/>
              <a:t>21</a:t>
            </a:fld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93DD6B8-40A1-00CF-B2F1-ED5905311783}"/>
              </a:ext>
            </a:extLst>
          </p:cNvPr>
          <p:cNvSpPr txBox="1">
            <a:spLocks/>
          </p:cNvSpPr>
          <p:nvPr/>
        </p:nvSpPr>
        <p:spPr>
          <a:xfrm>
            <a:off x="2284362" y="145670"/>
            <a:ext cx="8146571" cy="83940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IN" sz="4000" dirty="0"/>
              <a:t>References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19C2256-8063-4EA5-B1DA-2A02413A3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508" y="1599099"/>
            <a:ext cx="11192933" cy="504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Mechanism Theory &amp; Kinematics</a:t>
            </a:r>
          </a:p>
          <a:p>
            <a:r>
              <a:rPr lang="en-US" dirty="0" err="1">
                <a:solidFill>
                  <a:srgbClr val="002060"/>
                </a:solidFill>
                <a:latin typeface="Bookman Old Style" panose="02050604050505020204" pitchFamily="18" charset="0"/>
              </a:rPr>
              <a:t>Raghuwanshi</a:t>
            </a:r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, N. </a:t>
            </a:r>
            <a:r>
              <a:rPr lang="en-US" i="1" dirty="0">
                <a:solidFill>
                  <a:srgbClr val="002060"/>
                </a:solidFill>
                <a:latin typeface="Bookman Old Style" panose="02050604050505020204" pitchFamily="18" charset="0"/>
              </a:rPr>
              <a:t>Theory of Machines</a:t>
            </a:r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. Laxmi Publications.</a:t>
            </a:r>
          </a:p>
          <a:p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Shigley, J. E., &amp; </a:t>
            </a:r>
            <a:r>
              <a:rPr lang="en-US" dirty="0" err="1">
                <a:solidFill>
                  <a:srgbClr val="002060"/>
                </a:solidFill>
                <a:latin typeface="Bookman Old Style" panose="02050604050505020204" pitchFamily="18" charset="0"/>
              </a:rPr>
              <a:t>Uicker</a:t>
            </a:r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, J. J. </a:t>
            </a:r>
            <a:r>
              <a:rPr lang="en-US" i="1" dirty="0">
                <a:solidFill>
                  <a:srgbClr val="002060"/>
                </a:solidFill>
                <a:latin typeface="Bookman Old Style" panose="02050604050505020204" pitchFamily="18" charset="0"/>
              </a:rPr>
              <a:t>Theory of Machines and Mechanisms</a:t>
            </a:r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. McGraw-Hill.</a:t>
            </a:r>
          </a:p>
          <a:p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Norton, R. L. </a:t>
            </a:r>
            <a:r>
              <a:rPr lang="en-US" i="1" dirty="0">
                <a:solidFill>
                  <a:srgbClr val="002060"/>
                </a:solidFill>
                <a:latin typeface="Bookman Old Style" panose="02050604050505020204" pitchFamily="18" charset="0"/>
              </a:rPr>
              <a:t>Design of Machinery</a:t>
            </a:r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. McGraw-Hill Education.</a:t>
            </a:r>
          </a:p>
          <a:p>
            <a:b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</a:br>
            <a:endParaRPr lang="en-US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r>
              <a:rPr lang="en-US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Flywheel &amp; Energy Storage Studies</a:t>
            </a:r>
          </a:p>
          <a:p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Bhandari, V. B. </a:t>
            </a:r>
            <a:r>
              <a:rPr lang="en-US" i="1" dirty="0">
                <a:solidFill>
                  <a:srgbClr val="002060"/>
                </a:solidFill>
                <a:latin typeface="Bookman Old Style" panose="02050604050505020204" pitchFamily="18" charset="0"/>
              </a:rPr>
              <a:t>Design of Machine Elements</a:t>
            </a:r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. Tata McGraw-Hill.</a:t>
            </a:r>
          </a:p>
          <a:p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Khurmi, R. S., &amp; Gupta, J. K. </a:t>
            </a:r>
            <a:r>
              <a:rPr lang="en-US" i="1" dirty="0">
                <a:solidFill>
                  <a:srgbClr val="002060"/>
                </a:solidFill>
                <a:latin typeface="Bookman Old Style" panose="02050604050505020204" pitchFamily="18" charset="0"/>
              </a:rPr>
              <a:t>A Textbook of Machine Design</a:t>
            </a:r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. S. Chand Publications.</a:t>
            </a:r>
          </a:p>
          <a:p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Spotts, M. F. </a:t>
            </a:r>
            <a:r>
              <a:rPr lang="en-US" i="1" dirty="0">
                <a:solidFill>
                  <a:srgbClr val="002060"/>
                </a:solidFill>
                <a:latin typeface="Bookman Old Style" panose="02050604050505020204" pitchFamily="18" charset="0"/>
              </a:rPr>
              <a:t>Design of Machine Elements</a:t>
            </a:r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. Prentice Hall.</a:t>
            </a:r>
          </a:p>
          <a:p>
            <a:b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</a:br>
            <a:endParaRPr lang="en-US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r>
              <a:rPr lang="en-US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Manufacturing Processes</a:t>
            </a:r>
          </a:p>
          <a:p>
            <a:r>
              <a:rPr lang="en-US" dirty="0" err="1">
                <a:solidFill>
                  <a:srgbClr val="002060"/>
                </a:solidFill>
                <a:latin typeface="Bookman Old Style" panose="02050604050505020204" pitchFamily="18" charset="0"/>
              </a:rPr>
              <a:t>Kalpakjian</a:t>
            </a:r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, S., &amp; Schmid, S. </a:t>
            </a:r>
            <a:r>
              <a:rPr lang="en-US" i="1" dirty="0">
                <a:solidFill>
                  <a:srgbClr val="002060"/>
                </a:solidFill>
                <a:latin typeface="Bookman Old Style" panose="02050604050505020204" pitchFamily="18" charset="0"/>
              </a:rPr>
              <a:t>Manufacturing Engineering and Technology</a:t>
            </a:r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. Pearson Education.</a:t>
            </a:r>
          </a:p>
          <a:p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Rao, P. N. </a:t>
            </a:r>
            <a:r>
              <a:rPr lang="en-US" i="1" dirty="0">
                <a:solidFill>
                  <a:srgbClr val="002060"/>
                </a:solidFill>
                <a:latin typeface="Bookman Old Style" panose="02050604050505020204" pitchFamily="18" charset="0"/>
              </a:rPr>
              <a:t>Manufacturing Technology: Metal Cutting and Machine Tools</a:t>
            </a:r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. McGraw-Hill.</a:t>
            </a:r>
          </a:p>
          <a:p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Groover, M. P. </a:t>
            </a:r>
            <a:r>
              <a:rPr lang="en-US" i="1" dirty="0">
                <a:solidFill>
                  <a:srgbClr val="002060"/>
                </a:solidFill>
                <a:latin typeface="Bookman Old Style" panose="02050604050505020204" pitchFamily="18" charset="0"/>
              </a:rPr>
              <a:t>Fundamentals of Modern Manufacturing</a:t>
            </a:r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. Wiley.</a:t>
            </a:r>
          </a:p>
          <a:p>
            <a:b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</a:br>
            <a:endParaRPr lang="en-US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r>
              <a:rPr lang="en-US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Laboratory &amp; Academic Resources</a:t>
            </a:r>
          </a:p>
          <a:p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Manufacturing Process Laboratory Manual, RV College of Engineering.</a:t>
            </a:r>
          </a:p>
          <a:p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Lecture notes and course material provided by the department.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AutoNum type="arabicPeriod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422C75"/>
              </a:solidFill>
              <a:effectLst/>
              <a:latin typeface="Bookman Old Style" panose="020506040505050202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422C75"/>
              </a:solidFill>
              <a:effectLst/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13760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6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22</a:t>
            </a:fld>
            <a:endParaRPr/>
          </a:p>
        </p:txBody>
      </p:sp>
      <p:pic>
        <p:nvPicPr>
          <p:cNvPr id="243" name="Google Shape;243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51096" y="1605964"/>
            <a:ext cx="5889812" cy="3646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</TotalTime>
  <Words>961</Words>
  <Application>Microsoft Office PowerPoint</Application>
  <PresentationFormat>Widescreen</PresentationFormat>
  <Paragraphs>197</Paragraphs>
  <Slides>22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Adobe Gothic Std B</vt:lpstr>
      <vt:lpstr>Arial</vt:lpstr>
      <vt:lpstr>Bookman Old Style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Shanmukha</dc:creator>
  <cp:lastModifiedBy>aryannlodha@gmail.com</cp:lastModifiedBy>
  <cp:revision>15</cp:revision>
  <dcterms:created xsi:type="dcterms:W3CDTF">2021-06-02T13:10:21Z</dcterms:created>
  <dcterms:modified xsi:type="dcterms:W3CDTF">2026-02-10T04:35:24Z</dcterms:modified>
</cp:coreProperties>
</file>