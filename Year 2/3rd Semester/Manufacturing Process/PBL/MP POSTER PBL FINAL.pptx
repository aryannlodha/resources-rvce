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Comic Sans MS" panose="030F0702030302020204" pitchFamily="66" charset="0"/>
      <p:regular r:id="rId4"/>
      <p:bold r:id="rId5"/>
      <p:italic r:id="rId6"/>
      <p:boldItalic r:id="rId7"/>
    </p:embeddedFont>
    <p:embeddedFont>
      <p:font typeface="Georgia" panose="02040502050405020303" pitchFamily="18" charset="0"/>
      <p:regular r:id="rId8"/>
      <p:bold r:id="rId9"/>
      <p:italic r:id="rId10"/>
      <p:boldItalic r:id="rId11"/>
    </p:embeddedFont>
    <p:embeddedFont>
      <p:font typeface="Playfair Display" panose="00000500000000000000" pitchFamily="2" charset="0"/>
      <p:regular r:id="rId12"/>
      <p:bold r:id="rId13"/>
      <p:italic r:id="rId14"/>
      <p:boldItalic r:id="rId15"/>
    </p:embeddedFont>
    <p:embeddedFont>
      <p:font typeface="Tahoma" panose="020B0604030504040204" pitchFamily="34" charset="0"/>
      <p:regular r:id="rId16"/>
      <p:bold r:id="rId17"/>
    </p:embeddedFont>
    <p:embeddedFont>
      <p:font typeface="Trebuchet MS" panose="020B0603020202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50" d="100"/>
          <a:sy n="50" d="100"/>
        </p:scale>
        <p:origin x="1445" y="-1411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theme" Target="theme/theme1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viewProps" Target="viewProp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YC" userId="bf6a1185fec05998" providerId="LiveId" clId="{AED80743-3B51-4EE3-8F58-7A29A231DBBF}"/>
    <pc:docChg chg="undo custSel modSld">
      <pc:chgData name="Keshavamurthy YC" userId="bf6a1185fec05998" providerId="LiveId" clId="{AED80743-3B51-4EE3-8F58-7A29A231DBBF}" dt="2025-01-03T10:15:28.552" v="58"/>
      <pc:docMkLst>
        <pc:docMk/>
      </pc:docMkLst>
      <pc:sldChg chg="addSp delSp modSp mod">
        <pc:chgData name="Keshavamurthy YC" userId="bf6a1185fec05998" providerId="LiveId" clId="{AED80743-3B51-4EE3-8F58-7A29A231DBBF}" dt="2025-01-03T10:15:28.552" v="58"/>
        <pc:sldMkLst>
          <pc:docMk/>
          <pc:sldMk cId="0" sldId="256"/>
        </pc:sldMkLst>
        <pc:spChg chg="add mod">
          <ac:chgData name="Keshavamurthy YC" userId="bf6a1185fec05998" providerId="LiveId" clId="{AED80743-3B51-4EE3-8F58-7A29A231DBBF}" dt="2025-01-03T10:15:28.552" v="58"/>
          <ac:spMkLst>
            <pc:docMk/>
            <pc:sldMk cId="0" sldId="256"/>
            <ac:spMk id="9" creationId="{2F547D69-D0D0-C594-CD7F-F9B90CF1C02A}"/>
          </ac:spMkLst>
        </pc:spChg>
        <pc:spChg chg="del mod">
          <ac:chgData name="Keshavamurthy YC" userId="bf6a1185fec05998" providerId="LiveId" clId="{AED80743-3B51-4EE3-8F58-7A29A231DBBF}" dt="2025-01-03T10:14:11.877" v="3" actId="478"/>
          <ac:spMkLst>
            <pc:docMk/>
            <pc:sldMk cId="0" sldId="256"/>
            <ac:spMk id="10" creationId="{F5BD3962-3D08-292D-5F38-37E5A5B1CC5C}"/>
          </ac:spMkLst>
        </pc:spChg>
        <pc:spChg chg="mod">
          <ac:chgData name="Keshavamurthy YC" userId="bf6a1185fec05998" providerId="LiveId" clId="{AED80743-3B51-4EE3-8F58-7A29A231DBBF}" dt="2025-01-03T10:14:04.011" v="0" actId="1076"/>
          <ac:spMkLst>
            <pc:docMk/>
            <pc:sldMk cId="0" sldId="256"/>
            <ac:spMk id="13" creationId="{4D62BE2B-B35B-D625-2122-05FD6EFD4E3C}"/>
          </ac:spMkLst>
        </pc:spChg>
        <pc:spChg chg="mod">
          <ac:chgData name="Keshavamurthy YC" userId="bf6a1185fec05998" providerId="LiveId" clId="{AED80743-3B51-4EE3-8F58-7A29A231DBBF}" dt="2025-01-03T10:14:18.296" v="4" actId="1076"/>
          <ac:spMkLst>
            <pc:docMk/>
            <pc:sldMk cId="0" sldId="256"/>
            <ac:spMk id="174" creationId="{00000000-0000-0000-0000-000000000000}"/>
          </ac:spMkLst>
        </pc:spChg>
      </pc:sldChg>
    </pc:docChg>
  </pc:docChgLst>
  <pc:docChgLst>
    <pc:chgData name="Keshavamurthy YC" userId="bf6a1185fec05998" providerId="LiveId" clId="{DFF3F985-E1C4-4C93-9341-E6091D18B275}"/>
    <pc:docChg chg="undo custSel modSld">
      <pc:chgData name="Keshavamurthy YC" userId="bf6a1185fec05998" providerId="LiveId" clId="{DFF3F985-E1C4-4C93-9341-E6091D18B275}" dt="2024-07-03T07:33:03.824" v="78" actId="20577"/>
      <pc:docMkLst>
        <pc:docMk/>
      </pc:docMkLst>
      <pc:sldChg chg="modSp mod">
        <pc:chgData name="Keshavamurthy YC" userId="bf6a1185fec05998" providerId="LiveId" clId="{DFF3F985-E1C4-4C93-9341-E6091D18B275}" dt="2024-07-03T07:33:03.824" v="78" actId="20577"/>
        <pc:sldMkLst>
          <pc:docMk/>
          <pc:sldMk cId="0" sldId="256"/>
        </pc:sldMkLst>
      </pc:sldChg>
    </pc:docChg>
  </pc:docChgLst>
  <pc:docChgLst>
    <pc:chgData name="Keshavamurthy YC" userId="bf6a1185fec05998" providerId="LiveId" clId="{8355D0B3-71DD-40A6-96C8-8B12F51E2007}"/>
    <pc:docChg chg="undo custSel modSld">
      <pc:chgData name="Keshavamurthy YC" userId="bf6a1185fec05998" providerId="LiveId" clId="{8355D0B3-71DD-40A6-96C8-8B12F51E2007}" dt="2024-04-04T09:32:51.772" v="163" actId="14100"/>
      <pc:docMkLst>
        <pc:docMk/>
      </pc:docMkLst>
      <pc:sldChg chg="addSp delSp modSp mod">
        <pc:chgData name="Keshavamurthy YC" userId="bf6a1185fec05998" providerId="LiveId" clId="{8355D0B3-71DD-40A6-96C8-8B12F51E2007}" dt="2024-04-04T09:32:51.772" v="163" actId="1410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695017" y="2371033"/>
            <a:ext cx="7316458" cy="18907544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endParaRPr sz="1172" dirty="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89"/>
            <a:ext cx="14861445" cy="224057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</a:t>
            </a:r>
          </a:p>
          <a:p>
            <a:pPr algn="ctr">
              <a:buClr>
                <a:schemeClr val="dk1"/>
              </a:buClr>
              <a:buSzPts val="4000"/>
            </a:pPr>
            <a:r>
              <a:rPr lang="en-IN" sz="22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III Semester Odd 2025-2026| Manufacturing Process | IM233AI</a:t>
            </a:r>
          </a:p>
          <a:p>
            <a:pPr algn="ctr">
              <a:buClr>
                <a:schemeClr val="dk1"/>
              </a:buClr>
              <a:buSzPts val="4000"/>
            </a:pPr>
            <a:r>
              <a:rPr lang="en-IN" sz="22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Dr. Vivekanand S Gogi| </a:t>
            </a:r>
            <a:r>
              <a:rPr lang="en-IN" sz="2200" b="1" dirty="0" err="1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Prof.Shruthi</a:t>
            </a:r>
            <a:r>
              <a:rPr lang="en-IN" sz="22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M N | Dr. </a:t>
            </a:r>
            <a:r>
              <a:rPr lang="en-IN" sz="2200" b="1" dirty="0" err="1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Rajeswara</a:t>
            </a:r>
            <a:r>
              <a:rPr lang="en-IN" sz="22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 Rao K V S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21186" y="1185961"/>
            <a:ext cx="12120998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Title: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FLYWHEEL + CRANKSHAFT</a:t>
            </a:r>
            <a:endParaRPr sz="2400" b="1" dirty="0">
              <a:solidFill>
                <a:schemeClr val="accent2">
                  <a:lumMod val="50000"/>
                </a:schemeClr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787155" y="1537645"/>
            <a:ext cx="9427544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Aryan Lodha | Yashveer Singh | Vivek </a:t>
            </a:r>
            <a:r>
              <a:rPr lang="en-US" sz="2000" dirty="0" err="1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Bainsla</a:t>
            </a:r>
            <a:endParaRPr lang="en-US" sz="2000" dirty="0">
              <a:solidFill>
                <a:srgbClr val="00206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1RV24IM064 | 1RV24IM0XX | 1RV24IM0XX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86319" y="2365037"/>
            <a:ext cx="7519803" cy="18907543"/>
            <a:chOff x="26239879" y="8633719"/>
            <a:chExt cx="17964396" cy="28277704"/>
          </a:xfrm>
        </p:grpSpPr>
        <p:sp>
          <p:nvSpPr>
            <p:cNvPr id="131" name="Google Shape;131;p1"/>
            <p:cNvSpPr/>
            <p:nvPr/>
          </p:nvSpPr>
          <p:spPr>
            <a:xfrm>
              <a:off x="26239879" y="8633719"/>
              <a:ext cx="17964396" cy="28277704"/>
            </a:xfrm>
            <a:prstGeom prst="roundRect">
              <a:avLst>
                <a:gd name="adj" fmla="val 2556"/>
              </a:avLst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spcFirstLastPara="1" wrap="square" lIns="38271" tIns="19130" rIns="38271" bIns="19130" anchor="ctr" anchorCtr="0">
              <a:noAutofit/>
            </a:bodyPr>
            <a:lstStyle/>
            <a:p>
              <a:pPr>
                <a:buClr>
                  <a:schemeClr val="dk1"/>
                </a:buClr>
                <a:buSzPts val="3600"/>
              </a:pPr>
              <a:endParaRPr lang="en-IN" sz="1507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>
                <a:buClr>
                  <a:schemeClr val="dk1"/>
                </a:buClr>
                <a:buSzPts val="3600"/>
              </a:pPr>
              <a:r>
                <a:rPr lang="en-IN" sz="1507" dirty="0">
                  <a:latin typeface="Arial" panose="020B0604020202020204"/>
                  <a:ea typeface="Arial" panose="020B0604020202020204"/>
                  <a:cs typeface="Arial" panose="020B0604020202020204"/>
                </a:rPr>
                <a:t>              </a:t>
              </a:r>
              <a:endParaRPr sz="1507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50" name="Google Shape;150;p1"/>
            <p:cNvSpPr txBox="1"/>
            <p:nvPr/>
          </p:nvSpPr>
          <p:spPr>
            <a:xfrm>
              <a:off x="26608632" y="8760734"/>
              <a:ext cx="17344338" cy="564114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</a:t>
              </a:r>
              <a:r>
                <a:rPr lang="en-IN" sz="2200" b="1" dirty="0">
                  <a:solidFill>
                    <a:srgbClr val="002060"/>
                  </a:solidFill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Introduction</a:t>
              </a:r>
              <a:endParaRPr sz="2200" b="1" dirty="0">
                <a:solidFill>
                  <a:srgbClr val="002060"/>
                </a:solidFill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7956" y="16165421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124897" y="13355213"/>
            <a:ext cx="7397264" cy="37718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</a:t>
            </a:r>
            <a:r>
              <a:rPr lang="en-IN" sz="2200" b="1" dirty="0">
                <a:solidFill>
                  <a:srgbClr val="002060"/>
                </a:solidFill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Methodology</a:t>
            </a:r>
            <a:endParaRPr sz="2200" b="1" dirty="0">
              <a:solidFill>
                <a:srgbClr val="002060"/>
              </a:solidFill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781177" y="2458588"/>
            <a:ext cx="7097496" cy="37718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2200" b="1" dirty="0">
                <a:solidFill>
                  <a:srgbClr val="002060"/>
                </a:solidFill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2200" b="1" dirty="0">
              <a:solidFill>
                <a:srgbClr val="002060"/>
              </a:solidFill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822661" y="9712330"/>
            <a:ext cx="7097496" cy="37718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2200" b="1" dirty="0">
                <a:solidFill>
                  <a:srgbClr val="002060"/>
                </a:solidFill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</a:t>
            </a:r>
            <a:r>
              <a:rPr lang="en-US" sz="2200" b="1" dirty="0">
                <a:solidFill>
                  <a:srgbClr val="002060"/>
                </a:solidFill>
                <a:latin typeface="+mj-lt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and Discussions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762764" y="17054710"/>
            <a:ext cx="7097496" cy="37718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200" b="1" i="0" dirty="0">
                <a:effectLst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12911" y="9280651"/>
            <a:ext cx="7260250" cy="37718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</a:t>
            </a:r>
            <a:r>
              <a:rPr lang="en-IN" sz="2200" b="1" dirty="0">
                <a:solidFill>
                  <a:srgbClr val="002060"/>
                </a:solidFill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Objectives</a:t>
            </a:r>
            <a:endParaRPr sz="2200" b="1" dirty="0">
              <a:solidFill>
                <a:srgbClr val="002060"/>
              </a:solidFill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3483" y="5463704"/>
            <a:ext cx="7260250" cy="37718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2200" b="1" dirty="0">
                <a:solidFill>
                  <a:srgbClr val="002060"/>
                </a:solidFill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Problem Definition</a:t>
            </a:r>
            <a:endParaRPr sz="2200" b="1" dirty="0">
              <a:solidFill>
                <a:srgbClr val="002060"/>
              </a:solidFill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798572" y="13757041"/>
            <a:ext cx="7097496" cy="377188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2200" b="1" dirty="0">
                <a:solidFill>
                  <a:srgbClr val="002060"/>
                </a:solidFill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2200" b="1" dirty="0">
              <a:solidFill>
                <a:srgbClr val="002060"/>
              </a:solidFill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70" name="Rectangle 48" hidden="1">
            <a:extLst>
              <a:ext uri="{FF2B5EF4-FFF2-40B4-BE49-F238E27FC236}">
                <a16:creationId xmlns:a16="http://schemas.microsoft.com/office/drawing/2014/main" id="{D8EA3AE9-C772-77AB-97B6-86EF8539B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5119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and repeatable energy generation observed during every descent cycle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increased with mass up to an optimum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performance obtained at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 ≈ 1 kg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values achieved: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Imax⁡≈0.72 A,Pmax⁡≈0.74 W,ηmax⁡≈17.9%I_{\max} \approx 0.72\ \text{A}, \quad P_{\max} \approx 0.74\ \text{W}, \quad \eta_{\max} \approx 17.9\%Imax​≈0.72 A,Pmax​≈0.74 W,ηmax​≈17.9%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Beyond the optimum mass, performance reduced due to frictional and mechanical losses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sensing using Arduino + INA219 validated system behavior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628</TotalTime>
  <Words>197</Words>
  <Application>Microsoft Office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Times New Roman</vt:lpstr>
      <vt:lpstr>Comic Sans MS</vt:lpstr>
      <vt:lpstr>Georgia</vt:lpstr>
      <vt:lpstr>Trebuchet MS</vt:lpstr>
      <vt:lpstr>Calibri Light</vt:lpstr>
      <vt:lpstr>Tahoma</vt:lpstr>
      <vt:lpstr>Calibri</vt:lpstr>
      <vt:lpstr>Arial</vt:lpstr>
      <vt:lpstr>Playfair Display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aryannlodha@gmail.com</cp:lastModifiedBy>
  <cp:revision>29</cp:revision>
  <cp:lastPrinted>2024-01-29T05:31:42Z</cp:lastPrinted>
  <dcterms:created xsi:type="dcterms:W3CDTF">2020-07-26T16:54:19Z</dcterms:created>
  <dcterms:modified xsi:type="dcterms:W3CDTF">2026-01-27T18:22:47Z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