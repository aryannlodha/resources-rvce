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3"/>
  </p:notesMasterIdLst>
  <p:sldIdLst>
    <p:sldId id="256" r:id="rId2"/>
  </p:sldIdLst>
  <p:sldSz cx="15119350" cy="21383625"/>
  <p:notesSz cx="6858000" cy="9144000"/>
  <p:embeddedFontLst>
    <p:embeddedFont>
      <p:font typeface="Bookman Old Style" panose="02050604050505020204" pitchFamily="18" charset="0"/>
      <p:regular r:id="rId4"/>
      <p:bold r:id="rId5"/>
      <p:italic r:id="rId6"/>
      <p:boldItalic r:id="rId7"/>
    </p:embeddedFont>
    <p:embeddedFont>
      <p:font typeface="Comic Sans MS" panose="030F0702030302020204" pitchFamily="66" charset="0"/>
      <p:regular r:id="rId8"/>
      <p:bold r:id="rId9"/>
      <p:italic r:id="rId10"/>
      <p:boldItalic r:id="rId11"/>
    </p:embeddedFont>
    <p:embeddedFont>
      <p:font typeface="Georgia" panose="02040502050405020303" pitchFamily="18" charset="0"/>
      <p:regular r:id="rId12"/>
      <p:bold r:id="rId13"/>
      <p:italic r:id="rId14"/>
      <p:boldItalic r:id="rId15"/>
    </p:embeddedFont>
    <p:embeddedFont>
      <p:font typeface="Playfair Display" panose="00000500000000000000" pitchFamily="2" charset="0"/>
      <p:regular r:id="rId16"/>
      <p:bold r:id="rId17"/>
      <p:italic r:id="rId18"/>
      <p:boldItalic r:id="rId19"/>
    </p:embeddedFont>
    <p:embeddedFont>
      <p:font typeface="Tahoma" panose="020B0604030504040204" pitchFamily="34" charset="0"/>
      <p:regular r:id="rId20"/>
      <p:bold r:id="rId21"/>
    </p:embeddedFont>
    <p:embeddedFont>
      <p:font typeface="Trebuchet MS" panose="020B0603020202020204" pitchFamily="34" charset="0"/>
      <p:regular r:id="rId22"/>
      <p:bold r:id="rId23"/>
      <p:italic r:id="rId24"/>
      <p:boldItalic r:id="rId2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735" userDrawn="1">
          <p15:clr>
            <a:srgbClr val="A4A3A4"/>
          </p15:clr>
        </p15:guide>
        <p15:guide id="2" pos="476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158" autoAdjust="0"/>
  </p:normalViewPr>
  <p:slideViewPr>
    <p:cSldViewPr snapToGrid="0">
      <p:cViewPr>
        <p:scale>
          <a:sx n="33" d="100"/>
          <a:sy n="33" d="100"/>
        </p:scale>
        <p:origin x="2280" y="-317"/>
      </p:cViewPr>
      <p:guideLst>
        <p:guide orient="horz" pos="6735"/>
        <p:guide pos="476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font" Target="fonts/font10.fntdata"/><Relationship Id="rId18" Type="http://schemas.openxmlformats.org/officeDocument/2006/relationships/font" Target="fonts/font15.fntdata"/><Relationship Id="rId26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font" Target="fonts/font18.fntdata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17" Type="http://schemas.openxmlformats.org/officeDocument/2006/relationships/font" Target="fonts/font14.fntdata"/><Relationship Id="rId25" Type="http://schemas.openxmlformats.org/officeDocument/2006/relationships/font" Target="fonts/font22.fntdata"/><Relationship Id="rId2" Type="http://schemas.openxmlformats.org/officeDocument/2006/relationships/slide" Target="slides/slide1.xml"/><Relationship Id="rId16" Type="http://schemas.openxmlformats.org/officeDocument/2006/relationships/font" Target="fonts/font13.fntdata"/><Relationship Id="rId20" Type="http://schemas.openxmlformats.org/officeDocument/2006/relationships/font" Target="fonts/font17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24" Type="http://schemas.openxmlformats.org/officeDocument/2006/relationships/font" Target="fonts/font21.fntdata"/><Relationship Id="rId5" Type="http://schemas.openxmlformats.org/officeDocument/2006/relationships/font" Target="fonts/font2.fntdata"/><Relationship Id="rId15" Type="http://schemas.openxmlformats.org/officeDocument/2006/relationships/font" Target="fonts/font12.fntdata"/><Relationship Id="rId23" Type="http://schemas.openxmlformats.org/officeDocument/2006/relationships/font" Target="fonts/font20.fntdata"/><Relationship Id="rId28" Type="http://schemas.openxmlformats.org/officeDocument/2006/relationships/theme" Target="theme/theme1.xml"/><Relationship Id="rId10" Type="http://schemas.openxmlformats.org/officeDocument/2006/relationships/font" Target="fonts/font7.fntdata"/><Relationship Id="rId19" Type="http://schemas.openxmlformats.org/officeDocument/2006/relationships/font" Target="fonts/font16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font" Target="fonts/font11.fntdata"/><Relationship Id="rId22" Type="http://schemas.openxmlformats.org/officeDocument/2006/relationships/font" Target="fonts/font19.fntdata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shavamurthy YC" userId="bf6a1185fec05998" providerId="LiveId" clId="{AED80743-3B51-4EE3-8F58-7A29A231DBBF}"/>
    <pc:docChg chg="undo custSel modSld">
      <pc:chgData name="Keshavamurthy YC" userId="bf6a1185fec05998" providerId="LiveId" clId="{AED80743-3B51-4EE3-8F58-7A29A231DBBF}" dt="2025-01-03T10:15:28.552" v="58"/>
      <pc:docMkLst>
        <pc:docMk/>
      </pc:docMkLst>
      <pc:sldChg chg="addSp delSp modSp mod">
        <pc:chgData name="Keshavamurthy YC" userId="bf6a1185fec05998" providerId="LiveId" clId="{AED80743-3B51-4EE3-8F58-7A29A231DBBF}" dt="2025-01-03T10:15:28.552" v="58"/>
        <pc:sldMkLst>
          <pc:docMk/>
          <pc:sldMk cId="0" sldId="256"/>
        </pc:sldMkLst>
        <pc:spChg chg="add mod">
          <ac:chgData name="Keshavamurthy YC" userId="bf6a1185fec05998" providerId="LiveId" clId="{AED80743-3B51-4EE3-8F58-7A29A231DBBF}" dt="2025-01-03T10:15:28.552" v="58"/>
          <ac:spMkLst>
            <pc:docMk/>
            <pc:sldMk cId="0" sldId="256"/>
            <ac:spMk id="9" creationId="{2F547D69-D0D0-C594-CD7F-F9B90CF1C02A}"/>
          </ac:spMkLst>
        </pc:spChg>
        <pc:spChg chg="del mod">
          <ac:chgData name="Keshavamurthy YC" userId="bf6a1185fec05998" providerId="LiveId" clId="{AED80743-3B51-4EE3-8F58-7A29A231DBBF}" dt="2025-01-03T10:14:11.877" v="3" actId="478"/>
          <ac:spMkLst>
            <pc:docMk/>
            <pc:sldMk cId="0" sldId="256"/>
            <ac:spMk id="10" creationId="{F5BD3962-3D08-292D-5F38-37E5A5B1CC5C}"/>
          </ac:spMkLst>
        </pc:spChg>
        <pc:spChg chg="mod">
          <ac:chgData name="Keshavamurthy YC" userId="bf6a1185fec05998" providerId="LiveId" clId="{AED80743-3B51-4EE3-8F58-7A29A231DBBF}" dt="2025-01-03T10:14:04.011" v="0" actId="1076"/>
          <ac:spMkLst>
            <pc:docMk/>
            <pc:sldMk cId="0" sldId="256"/>
            <ac:spMk id="13" creationId="{4D62BE2B-B35B-D625-2122-05FD6EFD4E3C}"/>
          </ac:spMkLst>
        </pc:spChg>
        <pc:spChg chg="mod">
          <ac:chgData name="Keshavamurthy YC" userId="bf6a1185fec05998" providerId="LiveId" clId="{AED80743-3B51-4EE3-8F58-7A29A231DBBF}" dt="2025-01-03T10:14:18.296" v="4" actId="1076"/>
          <ac:spMkLst>
            <pc:docMk/>
            <pc:sldMk cId="0" sldId="256"/>
            <ac:spMk id="174" creationId="{00000000-0000-0000-0000-000000000000}"/>
          </ac:spMkLst>
        </pc:spChg>
      </pc:sldChg>
    </pc:docChg>
  </pc:docChgLst>
  <pc:docChgLst>
    <pc:chgData name="Keshavamurthy YC" userId="bf6a1185fec05998" providerId="LiveId" clId="{DFF3F985-E1C4-4C93-9341-E6091D18B275}"/>
    <pc:docChg chg="undo custSel modSld">
      <pc:chgData name="Keshavamurthy YC" userId="bf6a1185fec05998" providerId="LiveId" clId="{DFF3F985-E1C4-4C93-9341-E6091D18B275}" dt="2024-07-03T07:33:03.824" v="78" actId="20577"/>
      <pc:docMkLst>
        <pc:docMk/>
      </pc:docMkLst>
      <pc:sldChg chg="modSp mod">
        <pc:chgData name="Keshavamurthy YC" userId="bf6a1185fec05998" providerId="LiveId" clId="{DFF3F985-E1C4-4C93-9341-E6091D18B275}" dt="2024-07-03T07:33:03.824" v="78" actId="20577"/>
        <pc:sldMkLst>
          <pc:docMk/>
          <pc:sldMk cId="0" sldId="256"/>
        </pc:sldMkLst>
      </pc:sldChg>
    </pc:docChg>
  </pc:docChgLst>
  <pc:docChgLst>
    <pc:chgData name="Keshavamurthy YC" userId="bf6a1185fec05998" providerId="LiveId" clId="{8355D0B3-71DD-40A6-96C8-8B12F51E2007}"/>
    <pc:docChg chg="undo custSel modSld">
      <pc:chgData name="Keshavamurthy YC" userId="bf6a1185fec05998" providerId="LiveId" clId="{8355D0B3-71DD-40A6-96C8-8B12F51E2007}" dt="2024-04-04T09:32:51.772" v="163" actId="14100"/>
      <pc:docMkLst>
        <pc:docMk/>
      </pc:docMkLst>
      <pc:sldChg chg="addSp delSp modSp mod">
        <pc:chgData name="Keshavamurthy YC" userId="bf6a1185fec05998" providerId="LiveId" clId="{8355D0B3-71DD-40A6-96C8-8B12F51E2007}" dt="2024-04-04T09:32:51.772" v="163" actId="14100"/>
        <pc:sldMkLst>
          <pc:docMk/>
          <pc:sldMk cId="0" sldId="25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217738" y="685800"/>
            <a:ext cx="24241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707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707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707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707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707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707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707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707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707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</a:t>
            </a:fld>
            <a:endParaRPr sz="12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17738" y="685800"/>
            <a:ext cx="24241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" name="Google Shape;8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3951" y="3499590"/>
            <a:ext cx="12851448" cy="7444669"/>
          </a:xfrm>
        </p:spPr>
        <p:txBody>
          <a:bodyPr anchor="b"/>
          <a:lstStyle>
            <a:lvl1pPr algn="ctr">
              <a:defRPr sz="992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89919" y="11231355"/>
            <a:ext cx="11339513" cy="5162758"/>
          </a:xfrm>
        </p:spPr>
        <p:txBody>
          <a:bodyPr/>
          <a:lstStyle>
            <a:lvl1pPr marL="0" indent="0" algn="ctr">
              <a:buNone/>
              <a:defRPr sz="3968"/>
            </a:lvl1pPr>
            <a:lvl2pPr marL="755980" indent="0" algn="ctr">
              <a:buNone/>
              <a:defRPr sz="3307"/>
            </a:lvl2pPr>
            <a:lvl3pPr marL="1511960" indent="0" algn="ctr">
              <a:buNone/>
              <a:defRPr sz="2976"/>
            </a:lvl3pPr>
            <a:lvl4pPr marL="2267941" indent="0" algn="ctr">
              <a:buNone/>
              <a:defRPr sz="2646"/>
            </a:lvl4pPr>
            <a:lvl5pPr marL="3023921" indent="0" algn="ctr">
              <a:buNone/>
              <a:defRPr sz="2646"/>
            </a:lvl5pPr>
            <a:lvl6pPr marL="3779901" indent="0" algn="ctr">
              <a:buNone/>
              <a:defRPr sz="2646"/>
            </a:lvl6pPr>
            <a:lvl7pPr marL="4535881" indent="0" algn="ctr">
              <a:buNone/>
              <a:defRPr sz="2646"/>
            </a:lvl7pPr>
            <a:lvl8pPr marL="5291861" indent="0" algn="ctr">
              <a:buNone/>
              <a:defRPr sz="2646"/>
            </a:lvl8pPr>
            <a:lvl9pPr marL="6047842" indent="0" algn="ctr">
              <a:buNone/>
              <a:defRPr sz="264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35847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5096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582" y="5331063"/>
            <a:ext cx="13040439" cy="8894992"/>
          </a:xfrm>
        </p:spPr>
        <p:txBody>
          <a:bodyPr anchor="b"/>
          <a:lstStyle>
            <a:lvl1pPr>
              <a:defRPr sz="992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1582" y="14310205"/>
            <a:ext cx="13040439" cy="4677666"/>
          </a:xfrm>
        </p:spPr>
        <p:txBody>
          <a:bodyPr/>
          <a:lstStyle>
            <a:lvl1pPr marL="0" indent="0">
              <a:buNone/>
              <a:defRPr sz="3968">
                <a:solidFill>
                  <a:schemeClr val="tx1"/>
                </a:solidFill>
              </a:defRPr>
            </a:lvl1pPr>
            <a:lvl2pPr marL="755980" indent="0">
              <a:buNone/>
              <a:defRPr sz="3307">
                <a:solidFill>
                  <a:schemeClr val="tx1">
                    <a:tint val="75000"/>
                  </a:schemeClr>
                </a:solidFill>
              </a:defRPr>
            </a:lvl2pPr>
            <a:lvl3pPr marL="1511960" indent="0">
              <a:buNone/>
              <a:defRPr sz="2976">
                <a:solidFill>
                  <a:schemeClr val="tx1">
                    <a:tint val="75000"/>
                  </a:schemeClr>
                </a:solidFill>
              </a:defRPr>
            </a:lvl3pPr>
            <a:lvl4pPr marL="2267941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4pPr>
            <a:lvl5pPr marL="3023921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5pPr>
            <a:lvl6pPr marL="3779901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6pPr>
            <a:lvl7pPr marL="4535881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7pPr>
            <a:lvl8pPr marL="5291861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8pPr>
            <a:lvl9pPr marL="6047842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20144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9455" y="5692400"/>
            <a:ext cx="6425724" cy="13567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54171" y="5692400"/>
            <a:ext cx="6425724" cy="13567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1878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1138485"/>
            <a:ext cx="13040439" cy="41331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1426" y="5241960"/>
            <a:ext cx="6396193" cy="2569003"/>
          </a:xfrm>
        </p:spPr>
        <p:txBody>
          <a:bodyPr anchor="b"/>
          <a:lstStyle>
            <a:lvl1pPr marL="0" indent="0">
              <a:buNone/>
              <a:defRPr sz="3968" b="1"/>
            </a:lvl1pPr>
            <a:lvl2pPr marL="755980" indent="0">
              <a:buNone/>
              <a:defRPr sz="3307" b="1"/>
            </a:lvl2pPr>
            <a:lvl3pPr marL="1511960" indent="0">
              <a:buNone/>
              <a:defRPr sz="2976" b="1"/>
            </a:lvl3pPr>
            <a:lvl4pPr marL="2267941" indent="0">
              <a:buNone/>
              <a:defRPr sz="2646" b="1"/>
            </a:lvl4pPr>
            <a:lvl5pPr marL="3023921" indent="0">
              <a:buNone/>
              <a:defRPr sz="2646" b="1"/>
            </a:lvl5pPr>
            <a:lvl6pPr marL="3779901" indent="0">
              <a:buNone/>
              <a:defRPr sz="2646" b="1"/>
            </a:lvl6pPr>
            <a:lvl7pPr marL="4535881" indent="0">
              <a:buNone/>
              <a:defRPr sz="2646" b="1"/>
            </a:lvl7pPr>
            <a:lvl8pPr marL="5291861" indent="0">
              <a:buNone/>
              <a:defRPr sz="2646" b="1"/>
            </a:lvl8pPr>
            <a:lvl9pPr marL="6047842" indent="0">
              <a:buNone/>
              <a:defRPr sz="264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426" y="7810963"/>
            <a:ext cx="6396193" cy="11488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54172" y="5241960"/>
            <a:ext cx="6427693" cy="2569003"/>
          </a:xfrm>
        </p:spPr>
        <p:txBody>
          <a:bodyPr anchor="b"/>
          <a:lstStyle>
            <a:lvl1pPr marL="0" indent="0">
              <a:buNone/>
              <a:defRPr sz="3968" b="1"/>
            </a:lvl1pPr>
            <a:lvl2pPr marL="755980" indent="0">
              <a:buNone/>
              <a:defRPr sz="3307" b="1"/>
            </a:lvl2pPr>
            <a:lvl3pPr marL="1511960" indent="0">
              <a:buNone/>
              <a:defRPr sz="2976" b="1"/>
            </a:lvl3pPr>
            <a:lvl4pPr marL="2267941" indent="0">
              <a:buNone/>
              <a:defRPr sz="2646" b="1"/>
            </a:lvl4pPr>
            <a:lvl5pPr marL="3023921" indent="0">
              <a:buNone/>
              <a:defRPr sz="2646" b="1"/>
            </a:lvl5pPr>
            <a:lvl6pPr marL="3779901" indent="0">
              <a:buNone/>
              <a:defRPr sz="2646" b="1"/>
            </a:lvl6pPr>
            <a:lvl7pPr marL="4535881" indent="0">
              <a:buNone/>
              <a:defRPr sz="2646" b="1"/>
            </a:lvl7pPr>
            <a:lvl8pPr marL="5291861" indent="0">
              <a:buNone/>
              <a:defRPr sz="2646" b="1"/>
            </a:lvl8pPr>
            <a:lvl9pPr marL="6047842" indent="0">
              <a:buNone/>
              <a:defRPr sz="264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54172" y="7810963"/>
            <a:ext cx="6427693" cy="11488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29576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5749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6989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1425575"/>
            <a:ext cx="4876384" cy="4989513"/>
          </a:xfrm>
        </p:spPr>
        <p:txBody>
          <a:bodyPr anchor="b"/>
          <a:lstStyle>
            <a:lvl1pPr>
              <a:defRPr sz="529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27693" y="3078850"/>
            <a:ext cx="7654171" cy="15196234"/>
          </a:xfrm>
        </p:spPr>
        <p:txBody>
          <a:bodyPr/>
          <a:lstStyle>
            <a:lvl1pPr>
              <a:defRPr sz="5291"/>
            </a:lvl1pPr>
            <a:lvl2pPr>
              <a:defRPr sz="4630"/>
            </a:lvl2pPr>
            <a:lvl3pPr>
              <a:defRPr sz="3968"/>
            </a:lvl3pPr>
            <a:lvl4pPr>
              <a:defRPr sz="3307"/>
            </a:lvl4pPr>
            <a:lvl5pPr>
              <a:defRPr sz="3307"/>
            </a:lvl5pPr>
            <a:lvl6pPr>
              <a:defRPr sz="3307"/>
            </a:lvl6pPr>
            <a:lvl7pPr>
              <a:defRPr sz="3307"/>
            </a:lvl7pPr>
            <a:lvl8pPr>
              <a:defRPr sz="3307"/>
            </a:lvl8pPr>
            <a:lvl9pPr>
              <a:defRPr sz="330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6415088"/>
            <a:ext cx="4876384" cy="11884743"/>
          </a:xfrm>
        </p:spPr>
        <p:txBody>
          <a:bodyPr/>
          <a:lstStyle>
            <a:lvl1pPr marL="0" indent="0">
              <a:buNone/>
              <a:defRPr sz="2646"/>
            </a:lvl1pPr>
            <a:lvl2pPr marL="755980" indent="0">
              <a:buNone/>
              <a:defRPr sz="2315"/>
            </a:lvl2pPr>
            <a:lvl3pPr marL="1511960" indent="0">
              <a:buNone/>
              <a:defRPr sz="1984"/>
            </a:lvl3pPr>
            <a:lvl4pPr marL="2267941" indent="0">
              <a:buNone/>
              <a:defRPr sz="1654"/>
            </a:lvl4pPr>
            <a:lvl5pPr marL="3023921" indent="0">
              <a:buNone/>
              <a:defRPr sz="1654"/>
            </a:lvl5pPr>
            <a:lvl6pPr marL="3779901" indent="0">
              <a:buNone/>
              <a:defRPr sz="1654"/>
            </a:lvl6pPr>
            <a:lvl7pPr marL="4535881" indent="0">
              <a:buNone/>
              <a:defRPr sz="1654"/>
            </a:lvl7pPr>
            <a:lvl8pPr marL="5291861" indent="0">
              <a:buNone/>
              <a:defRPr sz="1654"/>
            </a:lvl8pPr>
            <a:lvl9pPr marL="6047842" indent="0">
              <a:buNone/>
              <a:defRPr sz="165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19249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1425575"/>
            <a:ext cx="4876384" cy="4989513"/>
          </a:xfrm>
        </p:spPr>
        <p:txBody>
          <a:bodyPr anchor="b"/>
          <a:lstStyle>
            <a:lvl1pPr>
              <a:defRPr sz="529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427693" y="3078850"/>
            <a:ext cx="7654171" cy="15196234"/>
          </a:xfrm>
        </p:spPr>
        <p:txBody>
          <a:bodyPr anchor="t"/>
          <a:lstStyle>
            <a:lvl1pPr marL="0" indent="0">
              <a:buNone/>
              <a:defRPr sz="5291"/>
            </a:lvl1pPr>
            <a:lvl2pPr marL="755980" indent="0">
              <a:buNone/>
              <a:defRPr sz="4630"/>
            </a:lvl2pPr>
            <a:lvl3pPr marL="1511960" indent="0">
              <a:buNone/>
              <a:defRPr sz="3968"/>
            </a:lvl3pPr>
            <a:lvl4pPr marL="2267941" indent="0">
              <a:buNone/>
              <a:defRPr sz="3307"/>
            </a:lvl4pPr>
            <a:lvl5pPr marL="3023921" indent="0">
              <a:buNone/>
              <a:defRPr sz="3307"/>
            </a:lvl5pPr>
            <a:lvl6pPr marL="3779901" indent="0">
              <a:buNone/>
              <a:defRPr sz="3307"/>
            </a:lvl6pPr>
            <a:lvl7pPr marL="4535881" indent="0">
              <a:buNone/>
              <a:defRPr sz="3307"/>
            </a:lvl7pPr>
            <a:lvl8pPr marL="5291861" indent="0">
              <a:buNone/>
              <a:defRPr sz="3307"/>
            </a:lvl8pPr>
            <a:lvl9pPr marL="6047842" indent="0">
              <a:buNone/>
              <a:defRPr sz="330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6415088"/>
            <a:ext cx="4876384" cy="11884743"/>
          </a:xfrm>
        </p:spPr>
        <p:txBody>
          <a:bodyPr/>
          <a:lstStyle>
            <a:lvl1pPr marL="0" indent="0">
              <a:buNone/>
              <a:defRPr sz="2646"/>
            </a:lvl1pPr>
            <a:lvl2pPr marL="755980" indent="0">
              <a:buNone/>
              <a:defRPr sz="2315"/>
            </a:lvl2pPr>
            <a:lvl3pPr marL="1511960" indent="0">
              <a:buNone/>
              <a:defRPr sz="1984"/>
            </a:lvl3pPr>
            <a:lvl4pPr marL="2267941" indent="0">
              <a:buNone/>
              <a:defRPr sz="1654"/>
            </a:lvl4pPr>
            <a:lvl5pPr marL="3023921" indent="0">
              <a:buNone/>
              <a:defRPr sz="1654"/>
            </a:lvl5pPr>
            <a:lvl6pPr marL="3779901" indent="0">
              <a:buNone/>
              <a:defRPr sz="1654"/>
            </a:lvl6pPr>
            <a:lvl7pPr marL="4535881" indent="0">
              <a:buNone/>
              <a:defRPr sz="1654"/>
            </a:lvl7pPr>
            <a:lvl8pPr marL="5291861" indent="0">
              <a:buNone/>
              <a:defRPr sz="1654"/>
            </a:lvl8pPr>
            <a:lvl9pPr marL="6047842" indent="0">
              <a:buNone/>
              <a:defRPr sz="165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2012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3668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819786" y="1138480"/>
            <a:ext cx="3260110" cy="1812163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39456" y="1138480"/>
            <a:ext cx="9591338" cy="181216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60875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39456" y="1138485"/>
            <a:ext cx="13040439" cy="41331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9456" y="5692400"/>
            <a:ext cx="13040439" cy="13567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9455" y="19819457"/>
            <a:ext cx="3401854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9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08285" y="19819457"/>
            <a:ext cx="5102781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9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041" y="19819457"/>
            <a:ext cx="3401854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9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2505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1511960" rtl="0" eaLnBrk="1" latinLnBrk="0" hangingPunct="1">
        <a:lnSpc>
          <a:spcPct val="90000"/>
        </a:lnSpc>
        <a:spcBef>
          <a:spcPct val="0"/>
        </a:spcBef>
        <a:buNone/>
        <a:defRPr sz="72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7990" indent="-377990" algn="l" defTabSz="1511960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4630" kern="1200">
          <a:solidFill>
            <a:schemeClr val="tx1"/>
          </a:solidFill>
          <a:latin typeface="+mn-lt"/>
          <a:ea typeface="+mn-ea"/>
          <a:cs typeface="+mn-cs"/>
        </a:defRPr>
      </a:lvl1pPr>
      <a:lvl2pPr marL="1133970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3968" kern="1200">
          <a:solidFill>
            <a:schemeClr val="tx1"/>
          </a:solidFill>
          <a:latin typeface="+mn-lt"/>
          <a:ea typeface="+mn-ea"/>
          <a:cs typeface="+mn-cs"/>
        </a:defRPr>
      </a:lvl2pPr>
      <a:lvl3pPr marL="188995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3307" kern="1200">
          <a:solidFill>
            <a:schemeClr val="tx1"/>
          </a:solidFill>
          <a:latin typeface="+mn-lt"/>
          <a:ea typeface="+mn-ea"/>
          <a:cs typeface="+mn-cs"/>
        </a:defRPr>
      </a:lvl3pPr>
      <a:lvl4pPr marL="264593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4pPr>
      <a:lvl5pPr marL="340191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5pPr>
      <a:lvl6pPr marL="415789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6pPr>
      <a:lvl7pPr marL="4913871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7pPr>
      <a:lvl8pPr marL="5669852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8pPr>
      <a:lvl9pPr marL="6425832" indent="-377990" algn="l" defTabSz="151196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1pPr>
      <a:lvl2pPr marL="755980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2pPr>
      <a:lvl3pPr marL="1511960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3pPr>
      <a:lvl4pPr marL="226794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4pPr>
      <a:lvl5pPr marL="302392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5pPr>
      <a:lvl6pPr marL="377990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6pPr>
      <a:lvl7pPr marL="453588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7pPr>
      <a:lvl8pPr marL="5291861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8pPr>
      <a:lvl9pPr marL="6047842" algn="l" defTabSz="1511960" rtl="0" eaLnBrk="1" latinLnBrk="0" hangingPunct="1">
        <a:defRPr sz="29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.jpe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/>
          <p:nvPr/>
        </p:nvSpPr>
        <p:spPr>
          <a:xfrm>
            <a:off x="7720867" y="1962856"/>
            <a:ext cx="7316458" cy="19230332"/>
          </a:xfrm>
          <a:prstGeom prst="roundRect">
            <a:avLst>
              <a:gd name="adj" fmla="val 2556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271" tIns="19130" rIns="38271" bIns="19130" anchor="ctr" anchorCtr="0">
            <a:noAutofit/>
          </a:bodyPr>
          <a:lstStyle/>
          <a:p>
            <a:pPr>
              <a:buClr>
                <a:schemeClr val="dk1"/>
              </a:buClr>
              <a:buSzPts val="2800"/>
            </a:pPr>
            <a:endParaRPr sz="1172" dirty="0">
              <a:solidFill>
                <a:schemeClr val="dk1"/>
              </a:solidFill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91439" y="41090"/>
            <a:ext cx="14935940" cy="179583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8271" tIns="19130" rIns="38271" bIns="19130" anchor="ctr" anchorCtr="0">
            <a:noAutofit/>
          </a:bodyPr>
          <a:lstStyle/>
          <a:p>
            <a:pPr algn="ctr">
              <a:buClr>
                <a:schemeClr val="dk1"/>
              </a:buClr>
              <a:buSzPts val="4000"/>
            </a:pPr>
            <a:r>
              <a:rPr lang="en-IN" sz="2400" b="1" dirty="0">
                <a:solidFill>
                  <a:srgbClr val="002060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rPr>
              <a:t>RV College of Engineering, Bengaluru – 560059.</a:t>
            </a:r>
          </a:p>
          <a:p>
            <a:pPr algn="ctr">
              <a:buClr>
                <a:schemeClr val="dk1"/>
              </a:buClr>
              <a:buSzPts val="4000"/>
            </a:pPr>
            <a:endParaRPr lang="en-IN" sz="3600" b="1" dirty="0">
              <a:solidFill>
                <a:schemeClr val="dk1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  <a:p>
            <a:pPr algn="ctr">
              <a:buClr>
                <a:schemeClr val="dk1"/>
              </a:buClr>
              <a:buSzPts val="4000"/>
            </a:pPr>
            <a:endParaRPr lang="en-IN" sz="3600" b="1" dirty="0">
              <a:solidFill>
                <a:schemeClr val="dk1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3004457" y="694056"/>
            <a:ext cx="8069943" cy="407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 algn="ctr">
              <a:buClr>
                <a:srgbClr val="990000"/>
              </a:buClr>
              <a:buSzPts val="6000"/>
            </a:pPr>
            <a:r>
              <a:rPr lang="en-IN" sz="2400" b="1" dirty="0">
                <a:solidFill>
                  <a:schemeClr val="accent2">
                    <a:lumMod val="50000"/>
                  </a:schemeClr>
                </a:solidFill>
                <a:latin typeface="Trebuchet MS" panose="020B0603020202020204"/>
                <a:ea typeface="Tahoma" panose="020B0604030504040204"/>
                <a:cs typeface="Tahoma" panose="020B0604030504040204"/>
                <a:sym typeface="Trebuchet MS" panose="020B0603020202020204"/>
              </a:rPr>
              <a:t>PHOTOGRAPHY &amp; FILM MAKING (HS237LH) </a:t>
            </a:r>
            <a:endParaRPr sz="2512" b="1" dirty="0">
              <a:solidFill>
                <a:srgbClr val="527050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2075543" y="1114989"/>
            <a:ext cx="9724571" cy="65418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 algn="ctr">
              <a:buClr>
                <a:srgbClr val="0000FF"/>
              </a:buClr>
              <a:buSzPts val="4400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charset="0"/>
                <a:cs typeface="Times New Roman" panose="02020603050405020304" charset="0"/>
              </a:rPr>
              <a:t>Aryan Lodha | Arnav Jain | Arush Jain | Veeral Jain</a:t>
            </a:r>
          </a:p>
          <a:p>
            <a:pPr algn="ctr">
              <a:buClr>
                <a:srgbClr val="0000FF"/>
              </a:buClr>
              <a:buSzPts val="4400"/>
            </a:pPr>
            <a:r>
              <a:rPr lang="en-US" sz="2000" dirty="0">
                <a:solidFill>
                  <a:srgbClr val="002060"/>
                </a:solidFill>
                <a:latin typeface="Times New Roman" panose="02020603050405020304" charset="0"/>
                <a:cs typeface="Times New Roman" panose="02020603050405020304" charset="0"/>
              </a:rPr>
              <a:t>1RV24IM064 | 1RV24EC033 | 1RV24EC034 | 1RV24ME123 </a:t>
            </a:r>
            <a:endParaRPr lang="en-US" sz="2000" dirty="0">
              <a:solidFill>
                <a:srgbClr val="975329"/>
              </a:solidFill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7846751" y="14774675"/>
            <a:ext cx="7049317" cy="1084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noAutofit/>
          </a:bodyPr>
          <a:lstStyle/>
          <a:p>
            <a:pPr marL="143538" indent="-74427">
              <a:lnSpc>
                <a:spcPct val="110000"/>
              </a:lnSpc>
              <a:buClr>
                <a:schemeClr val="dk1"/>
              </a:buClr>
              <a:buSzPts val="2600"/>
            </a:pPr>
            <a:endParaRPr sz="1088">
              <a:solidFill>
                <a:srgbClr val="003300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96" name="Google Shape;96;p1"/>
          <p:cNvSpPr/>
          <p:nvPr/>
        </p:nvSpPr>
        <p:spPr>
          <a:xfrm>
            <a:off x="-350871" y="2851916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>
              <a:solidFill>
                <a:schemeClr val="dk1"/>
              </a:solidFill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350871" y="11322617"/>
            <a:ext cx="77085" cy="154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1800"/>
            </a:pPr>
            <a:endParaRPr sz="753">
              <a:solidFill>
                <a:schemeClr val="dk1"/>
              </a:solidFill>
            </a:endParaRPr>
          </a:p>
        </p:txBody>
      </p:sp>
      <p:sp>
        <p:nvSpPr>
          <p:cNvPr id="101" name="Google Shape;101;p1"/>
          <p:cNvSpPr/>
          <p:nvPr/>
        </p:nvSpPr>
        <p:spPr>
          <a:xfrm>
            <a:off x="0" y="2851916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>
              <a:solidFill>
                <a:schemeClr val="dk1"/>
              </a:solidFill>
            </a:endParaRPr>
          </a:p>
        </p:txBody>
      </p:sp>
      <p:sp>
        <p:nvSpPr>
          <p:cNvPr id="102" name="Google Shape;102;p1"/>
          <p:cNvSpPr/>
          <p:nvPr/>
        </p:nvSpPr>
        <p:spPr>
          <a:xfrm>
            <a:off x="0" y="10361751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>
              <a:solidFill>
                <a:schemeClr val="dk1"/>
              </a:solidFill>
            </a:endParaRPr>
          </a:p>
        </p:txBody>
      </p:sp>
      <p:sp>
        <p:nvSpPr>
          <p:cNvPr id="103" name="Google Shape;103;p1"/>
          <p:cNvSpPr/>
          <p:nvPr/>
        </p:nvSpPr>
        <p:spPr>
          <a:xfrm>
            <a:off x="0" y="10309918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>
              <a:solidFill>
                <a:schemeClr val="dk1"/>
              </a:solidFill>
            </a:endParaRPr>
          </a:p>
        </p:txBody>
      </p:sp>
      <p:sp>
        <p:nvSpPr>
          <p:cNvPr id="104" name="Google Shape;104;p1"/>
          <p:cNvSpPr/>
          <p:nvPr/>
        </p:nvSpPr>
        <p:spPr>
          <a:xfrm>
            <a:off x="0" y="10309918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>
              <a:solidFill>
                <a:schemeClr val="dk1"/>
              </a:solidFill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7846751" y="16146261"/>
            <a:ext cx="5837217" cy="154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>
              <a:buClr>
                <a:schemeClr val="dk1"/>
              </a:buClr>
              <a:buSzPts val="1800"/>
            </a:pPr>
            <a:endParaRPr sz="753">
              <a:solidFill>
                <a:schemeClr val="accent2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106" name="Google Shape;106;p1"/>
          <p:cNvSpPr txBox="1"/>
          <p:nvPr/>
        </p:nvSpPr>
        <p:spPr>
          <a:xfrm>
            <a:off x="4210452" y="16241953"/>
            <a:ext cx="988818" cy="20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>
              <a:buClr>
                <a:schemeClr val="dk1"/>
              </a:buClr>
              <a:buSzPts val="2600"/>
            </a:pPr>
            <a:endParaRPr sz="1088">
              <a:solidFill>
                <a:schemeClr val="lt2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107" name="Google Shape;107;p1"/>
          <p:cNvSpPr/>
          <p:nvPr/>
        </p:nvSpPr>
        <p:spPr>
          <a:xfrm>
            <a:off x="0" y="10361751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>
              <a:solidFill>
                <a:schemeClr val="dk1"/>
              </a:solidFill>
            </a:endParaRPr>
          </a:p>
        </p:txBody>
      </p:sp>
      <p:sp>
        <p:nvSpPr>
          <p:cNvPr id="108" name="Google Shape;108;p1"/>
          <p:cNvSpPr/>
          <p:nvPr/>
        </p:nvSpPr>
        <p:spPr>
          <a:xfrm>
            <a:off x="0" y="10361751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>
              <a:solidFill>
                <a:schemeClr val="dk1"/>
              </a:solidFill>
            </a:endParaRPr>
          </a:p>
        </p:txBody>
      </p:sp>
      <p:sp>
        <p:nvSpPr>
          <p:cNvPr id="109" name="Google Shape;109;p1"/>
          <p:cNvSpPr txBox="1"/>
          <p:nvPr/>
        </p:nvSpPr>
        <p:spPr>
          <a:xfrm>
            <a:off x="9345927" y="6340480"/>
            <a:ext cx="988818" cy="20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>
              <a:buClr>
                <a:schemeClr val="dk1"/>
              </a:buClr>
              <a:buSzPts val="2600"/>
            </a:pPr>
            <a:endParaRPr sz="1088">
              <a:solidFill>
                <a:schemeClr val="lt2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110" name="Google Shape;110;p1"/>
          <p:cNvSpPr txBox="1"/>
          <p:nvPr/>
        </p:nvSpPr>
        <p:spPr>
          <a:xfrm>
            <a:off x="12057203" y="6353771"/>
            <a:ext cx="988818" cy="20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>
              <a:buClr>
                <a:schemeClr val="dk1"/>
              </a:buClr>
              <a:buSzPts val="2600"/>
            </a:pPr>
            <a:endParaRPr sz="1088">
              <a:solidFill>
                <a:schemeClr val="lt2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111" name="Google Shape;111;p1"/>
          <p:cNvSpPr/>
          <p:nvPr/>
        </p:nvSpPr>
        <p:spPr>
          <a:xfrm>
            <a:off x="0" y="2851916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>
              <a:solidFill>
                <a:schemeClr val="dk1"/>
              </a:solidFill>
            </a:endParaRPr>
          </a:p>
        </p:txBody>
      </p:sp>
      <p:sp>
        <p:nvSpPr>
          <p:cNvPr id="113" name="Google Shape;113;p1"/>
          <p:cNvSpPr/>
          <p:nvPr/>
        </p:nvSpPr>
        <p:spPr>
          <a:xfrm>
            <a:off x="0" y="2947608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>
              <a:solidFill>
                <a:schemeClr val="dk1"/>
              </a:solidFill>
            </a:endParaRPr>
          </a:p>
        </p:txBody>
      </p:sp>
      <p:sp>
        <p:nvSpPr>
          <p:cNvPr id="114" name="Google Shape;114;p1"/>
          <p:cNvSpPr/>
          <p:nvPr/>
        </p:nvSpPr>
        <p:spPr>
          <a:xfrm>
            <a:off x="0" y="4231476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>
              <a:solidFill>
                <a:schemeClr val="dk1"/>
              </a:solidFill>
            </a:endParaRPr>
          </a:p>
        </p:txBody>
      </p:sp>
      <p:sp>
        <p:nvSpPr>
          <p:cNvPr id="115" name="Google Shape;115;p1"/>
          <p:cNvSpPr/>
          <p:nvPr/>
        </p:nvSpPr>
        <p:spPr>
          <a:xfrm>
            <a:off x="191385" y="3828772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>
              <a:solidFill>
                <a:schemeClr val="dk1"/>
              </a:solidFill>
            </a:endParaRPr>
          </a:p>
        </p:txBody>
      </p:sp>
      <p:sp>
        <p:nvSpPr>
          <p:cNvPr id="116" name="Google Shape;116;p1"/>
          <p:cNvSpPr/>
          <p:nvPr/>
        </p:nvSpPr>
        <p:spPr>
          <a:xfrm>
            <a:off x="191385" y="4542476"/>
            <a:ext cx="15119350" cy="560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ctr" anchorCtr="0">
            <a:spAutoFit/>
          </a:bodyPr>
          <a:lstStyle/>
          <a:p>
            <a:pPr>
              <a:buClr>
                <a:schemeClr val="dk1"/>
              </a:buClr>
              <a:buSzPts val="8100"/>
            </a:pPr>
            <a:endParaRPr sz="3391">
              <a:solidFill>
                <a:schemeClr val="dk1"/>
              </a:solidFill>
            </a:endParaRPr>
          </a:p>
        </p:txBody>
      </p:sp>
      <p:grpSp>
        <p:nvGrpSpPr>
          <p:cNvPr id="127" name="Google Shape;127;p1"/>
          <p:cNvGrpSpPr/>
          <p:nvPr/>
        </p:nvGrpSpPr>
        <p:grpSpPr>
          <a:xfrm>
            <a:off x="142752" y="1968997"/>
            <a:ext cx="7519803" cy="19230333"/>
            <a:chOff x="26374694" y="8524168"/>
            <a:chExt cx="17964396" cy="28277704"/>
          </a:xfrm>
        </p:grpSpPr>
        <p:grpSp>
          <p:nvGrpSpPr>
            <p:cNvPr id="128" name="Google Shape;128;p1"/>
            <p:cNvGrpSpPr/>
            <p:nvPr/>
          </p:nvGrpSpPr>
          <p:grpSpPr>
            <a:xfrm>
              <a:off x="26374694" y="8524168"/>
              <a:ext cx="17964396" cy="28277704"/>
              <a:chOff x="26287382" y="8000294"/>
              <a:chExt cx="17964396" cy="28277704"/>
            </a:xfrm>
          </p:grpSpPr>
          <p:sp>
            <p:nvSpPr>
              <p:cNvPr id="131" name="Google Shape;131;p1"/>
              <p:cNvSpPr/>
              <p:nvPr/>
            </p:nvSpPr>
            <p:spPr>
              <a:xfrm>
                <a:off x="26287382" y="8000294"/>
                <a:ext cx="17964396" cy="28277704"/>
              </a:xfrm>
              <a:prstGeom prst="roundRect">
                <a:avLst>
                  <a:gd name="adj" fmla="val 2556"/>
                </a:avLst>
              </a:prstGeom>
              <a:ln>
                <a:headEnd type="none" w="sm" len="sm"/>
                <a:tailEnd type="none" w="sm" len="sm"/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spcFirstLastPara="1" wrap="square" lIns="38271" tIns="19130" rIns="38271" bIns="19130" anchor="ctr" anchorCtr="0">
                <a:noAutofit/>
              </a:bodyPr>
              <a:lstStyle/>
              <a:p>
                <a:pPr>
                  <a:buClr>
                    <a:schemeClr val="dk1"/>
                  </a:buClr>
                  <a:buSzPts val="3600"/>
                </a:pPr>
                <a:endParaRPr lang="en-IN" sz="1507" b="1"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  <a:p>
                <a:pPr>
                  <a:buClr>
                    <a:schemeClr val="dk1"/>
                  </a:buClr>
                  <a:buSzPts val="3600"/>
                </a:pPr>
                <a:r>
                  <a:rPr lang="en-IN" sz="1507" b="1"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              </a:t>
                </a:r>
                <a:endParaRPr sz="1507" b="1"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49" name="Google Shape;149;p1"/>
              <p:cNvSpPr txBox="1"/>
              <p:nvPr/>
            </p:nvSpPr>
            <p:spPr>
              <a:xfrm>
                <a:off x="26662279" y="18874586"/>
                <a:ext cx="16741775" cy="57592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8271" tIns="19130" rIns="38271" bIns="19130" anchor="t" anchorCtr="0">
                <a:spAutoFit/>
              </a:bodyPr>
              <a:lstStyle/>
              <a:p>
                <a:r>
                  <a:rPr lang="en-US" b="1" dirty="0"/>
                  <a:t>Optimizing Exposure and Focus in Smartphone Photography</a:t>
                </a:r>
              </a:p>
              <a:p>
                <a:r>
                  <a:rPr lang="en-US" dirty="0"/>
                  <a:t>Smartphone cameras are equipped with </a:t>
                </a:r>
                <a:r>
                  <a:rPr lang="en-US" b="1" dirty="0"/>
                  <a:t>advanced imaging capabilities </a:t>
                </a:r>
                <a:r>
                  <a:rPr lang="en-US" dirty="0"/>
                  <a:t>that allow precise control over </a:t>
                </a:r>
                <a:r>
                  <a:rPr lang="en-US" b="1" dirty="0"/>
                  <a:t>exposure and focus</a:t>
                </a:r>
                <a:r>
                  <a:rPr lang="en-US" dirty="0"/>
                  <a:t>. When used effectively, these features enable the creation of sharp, </a:t>
                </a:r>
                <a:r>
                  <a:rPr lang="en-US" b="1" dirty="0"/>
                  <a:t>well-exposed images </a:t>
                </a:r>
                <a:r>
                  <a:rPr lang="en-US" dirty="0"/>
                  <a:t>suitable for professional and academic use.</a:t>
                </a:r>
              </a:p>
              <a:p>
                <a:r>
                  <a:rPr lang="en-US" b="1" dirty="0"/>
                  <a:t>Practical techniques applied:</a:t>
                </a:r>
                <a:endParaRPr lang="en-US" dirty="0"/>
              </a:p>
              <a:p>
                <a:pPr marL="285750" indent="-285750">
                  <a:buFont typeface="Wingdings" panose="05000000000000000000" pitchFamily="2" charset="2"/>
                  <a:buChar char="v"/>
                </a:pPr>
                <a:r>
                  <a:rPr lang="en-US" dirty="0"/>
                  <a:t>Manual adjustment of </a:t>
                </a:r>
                <a:r>
                  <a:rPr lang="en-US" b="1" dirty="0"/>
                  <a:t>exposure</a:t>
                </a:r>
                <a:r>
                  <a:rPr lang="en-US" dirty="0"/>
                  <a:t> and </a:t>
                </a:r>
                <a:r>
                  <a:rPr lang="en-US" b="1" dirty="0"/>
                  <a:t>focus parameters</a:t>
                </a:r>
              </a:p>
              <a:p>
                <a:pPr marL="285750" indent="-285750">
                  <a:buFont typeface="Wingdings" panose="05000000000000000000" pitchFamily="2" charset="2"/>
                  <a:buChar char="v"/>
                </a:pPr>
                <a:r>
                  <a:rPr lang="en-US" dirty="0"/>
                  <a:t>Focus locking for </a:t>
                </a:r>
                <a:r>
                  <a:rPr lang="en-US" b="1" dirty="0"/>
                  <a:t>consistent image sharpness</a:t>
                </a:r>
              </a:p>
              <a:p>
                <a:pPr marL="285750" indent="-285750">
                  <a:buFont typeface="Wingdings" panose="05000000000000000000" pitchFamily="2" charset="2"/>
                  <a:buChar char="v"/>
                </a:pPr>
                <a:r>
                  <a:rPr lang="en-US" b="1" dirty="0"/>
                  <a:t>Control of highlights </a:t>
                </a:r>
                <a:r>
                  <a:rPr lang="en-US" dirty="0"/>
                  <a:t>and shadows for balanced lighting</a:t>
                </a:r>
              </a:p>
              <a:p>
                <a:pPr marL="285750" indent="-285750">
                  <a:buFont typeface="Wingdings" panose="05000000000000000000" pitchFamily="2" charset="2"/>
                  <a:buChar char="v"/>
                </a:pPr>
                <a:r>
                  <a:rPr lang="en-US" dirty="0"/>
                  <a:t>Intelligent use of HDR for </a:t>
                </a:r>
                <a:r>
                  <a:rPr lang="en-US" b="1" dirty="0"/>
                  <a:t>dynamic range enhancement</a:t>
                </a:r>
              </a:p>
              <a:p>
                <a:pPr marL="285750" indent="-285750">
                  <a:buFont typeface="Wingdings" panose="05000000000000000000" pitchFamily="2" charset="2"/>
                  <a:buChar char="v"/>
                </a:pPr>
                <a:r>
                  <a:rPr lang="en-US" dirty="0"/>
                  <a:t>Improving image quality in low-light environments</a:t>
                </a:r>
              </a:p>
              <a:p>
                <a:pPr lvl="0" algn="just">
                  <a:buClr>
                    <a:schemeClr val="dk1"/>
                  </a:buClr>
                  <a:buSzPts val="4000"/>
                </a:pPr>
                <a:endParaRPr lang="en-US" dirty="0">
                  <a:solidFill>
                    <a:schemeClr val="dk1"/>
                  </a:solidFill>
                  <a:latin typeface="Bookman Old Style" panose="02050604050505020204" pitchFamily="18" charset="0"/>
                  <a:sym typeface="Georgia" panose="02040502050405020303"/>
                </a:endParaRPr>
              </a:p>
              <a:p>
                <a:pPr lvl="0" algn="just">
                  <a:buClr>
                    <a:schemeClr val="dk1"/>
                  </a:buClr>
                  <a:buSzPts val="4000"/>
                </a:pPr>
                <a:endParaRPr lang="en-US" dirty="0">
                  <a:solidFill>
                    <a:schemeClr val="dk1"/>
                  </a:solidFill>
                  <a:latin typeface="Bookman Old Style" panose="02050604050505020204" pitchFamily="18" charset="0"/>
                  <a:sym typeface="Georgia" panose="02040502050405020303"/>
                </a:endParaRPr>
              </a:p>
              <a:p>
                <a:pPr lvl="0" algn="just">
                  <a:buClr>
                    <a:schemeClr val="dk1"/>
                  </a:buClr>
                  <a:buSzPts val="4000"/>
                </a:pPr>
                <a:endParaRPr lang="en-US" dirty="0">
                  <a:solidFill>
                    <a:schemeClr val="dk1"/>
                  </a:solidFill>
                  <a:latin typeface="Bookman Old Style" panose="02050604050505020204" pitchFamily="18" charset="0"/>
                  <a:sym typeface="Georgia" panose="02040502050405020303"/>
                </a:endParaRPr>
              </a:p>
            </p:txBody>
          </p:sp>
        </p:grpSp>
        <p:sp>
          <p:nvSpPr>
            <p:cNvPr id="150" name="Google Shape;150;p1"/>
            <p:cNvSpPr txBox="1"/>
            <p:nvPr/>
          </p:nvSpPr>
          <p:spPr>
            <a:xfrm>
              <a:off x="26650065" y="8801932"/>
              <a:ext cx="17344338" cy="473653"/>
            </a:xfrm>
            <a:prstGeom prst="rect">
              <a:avLst/>
            </a:prstGeom>
            <a:solidFill>
              <a:srgbClr val="FFC000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38271" tIns="19130" rIns="38271" bIns="19130" anchor="t" anchorCtr="0">
              <a:spAutoFit/>
            </a:bodyPr>
            <a:lstStyle/>
            <a:p>
              <a:pPr>
                <a:buClr>
                  <a:srgbClr val="002060"/>
                </a:buClr>
                <a:buSzPts val="4400"/>
              </a:pPr>
              <a:r>
                <a:rPr lang="en-IN" sz="1842" b="1" dirty="0">
                  <a:solidFill>
                    <a:srgbClr val="002060"/>
                  </a:solidFill>
                  <a:latin typeface="Comic Sans MS" panose="030F0702030302020204"/>
                  <a:ea typeface="Comic Sans MS" panose="030F0702030302020204"/>
                  <a:cs typeface="Comic Sans MS" panose="030F0702030302020204"/>
                  <a:sym typeface="Comic Sans MS" panose="030F0702030302020204"/>
                </a:rPr>
                <a:t>                    Introduction to Photography</a:t>
              </a:r>
              <a:endParaRPr sz="1842" b="1" dirty="0">
                <a:solidFill>
                  <a:srgbClr val="00206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endParaRPr>
            </a:p>
          </p:txBody>
        </p:sp>
      </p:grpSp>
      <p:sp>
        <p:nvSpPr>
          <p:cNvPr id="161" name="Google Shape;161;p1"/>
          <p:cNvSpPr txBox="1"/>
          <p:nvPr/>
        </p:nvSpPr>
        <p:spPr>
          <a:xfrm>
            <a:off x="424665" y="16214823"/>
            <a:ext cx="6830161" cy="270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 marL="239230" indent="-143538">
              <a:buClr>
                <a:schemeClr val="dk1"/>
              </a:buClr>
              <a:buSzPts val="3600"/>
            </a:pPr>
            <a:endParaRPr sz="1507">
              <a:solidFill>
                <a:schemeClr val="dk1"/>
              </a:solidFill>
            </a:endParaRPr>
          </a:p>
        </p:txBody>
      </p:sp>
      <p:sp>
        <p:nvSpPr>
          <p:cNvPr id="171" name="Google Shape;171;p1"/>
          <p:cNvSpPr txBox="1"/>
          <p:nvPr/>
        </p:nvSpPr>
        <p:spPr>
          <a:xfrm>
            <a:off x="220060" y="12577126"/>
            <a:ext cx="7397264" cy="322109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>
              <a:buClr>
                <a:srgbClr val="002060"/>
              </a:buClr>
              <a:buSzPts val="4400"/>
            </a:pPr>
            <a:r>
              <a:rPr lang="en-IN" sz="1842" b="1" dirty="0">
                <a:solidFill>
                  <a:srgbClr val="00206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                     Video Editing Techniques</a:t>
            </a:r>
            <a:endParaRPr sz="1842" b="1" dirty="0">
              <a:solidFill>
                <a:srgbClr val="002060"/>
              </a:solidFill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</p:txBody>
      </p:sp>
      <p:sp>
        <p:nvSpPr>
          <p:cNvPr id="172" name="Google Shape;172;p1"/>
          <p:cNvSpPr txBox="1"/>
          <p:nvPr/>
        </p:nvSpPr>
        <p:spPr>
          <a:xfrm>
            <a:off x="7801192" y="2145342"/>
            <a:ext cx="7097496" cy="322109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 algn="ctr">
              <a:buClr>
                <a:srgbClr val="002060"/>
              </a:buClr>
              <a:buSzPts val="4400"/>
            </a:pPr>
            <a:r>
              <a:rPr lang="en-IN" sz="1842" b="1" dirty="0">
                <a:solidFill>
                  <a:srgbClr val="00206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Description of Software tools used</a:t>
            </a:r>
            <a:endParaRPr sz="1842" b="1" dirty="0">
              <a:solidFill>
                <a:srgbClr val="002060"/>
              </a:solidFill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</p:txBody>
      </p:sp>
      <p:sp>
        <p:nvSpPr>
          <p:cNvPr id="173" name="Google Shape;173;p1"/>
          <p:cNvSpPr txBox="1"/>
          <p:nvPr/>
        </p:nvSpPr>
        <p:spPr>
          <a:xfrm>
            <a:off x="7806628" y="7802525"/>
            <a:ext cx="7097496" cy="605584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 algn="ctr">
              <a:buClr>
                <a:srgbClr val="002060"/>
              </a:buClr>
              <a:buSzPts val="4400"/>
            </a:pPr>
            <a:r>
              <a:rPr lang="en-US" sz="1842" b="1" dirty="0">
                <a:solidFill>
                  <a:srgbClr val="00206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Course Learning Outcomes with few photographs and demonstration</a:t>
            </a:r>
          </a:p>
        </p:txBody>
      </p:sp>
      <p:sp>
        <p:nvSpPr>
          <p:cNvPr id="174" name="Google Shape;174;p1"/>
          <p:cNvSpPr txBox="1"/>
          <p:nvPr/>
        </p:nvSpPr>
        <p:spPr>
          <a:xfrm>
            <a:off x="7838482" y="16587836"/>
            <a:ext cx="7097496" cy="346410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 algn="ctr"/>
            <a:r>
              <a:rPr lang="en-IN" sz="2000" b="1" i="0" dirty="0">
                <a:effectLst/>
                <a:latin typeface="Söhne"/>
              </a:rPr>
              <a:t>References</a:t>
            </a:r>
          </a:p>
        </p:txBody>
      </p:sp>
      <p:sp>
        <p:nvSpPr>
          <p:cNvPr id="179" name="Google Shape;179;p1"/>
          <p:cNvSpPr txBox="1"/>
          <p:nvPr/>
        </p:nvSpPr>
        <p:spPr>
          <a:xfrm>
            <a:off x="12921869" y="111045"/>
            <a:ext cx="2207895" cy="2630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316" rIns="0" bIns="0" anchor="t" anchorCtr="0">
            <a:spAutoFit/>
          </a:bodyPr>
          <a:lstStyle/>
          <a:p>
            <a:pPr marL="5316"/>
            <a:r>
              <a:rPr lang="en-IN" sz="1674" i="1" dirty="0">
                <a:solidFill>
                  <a:srgbClr val="422C7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Go, change the world</a:t>
            </a:r>
            <a:endParaRPr sz="1674" dirty="0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2" name="Google Shape;150;p1">
            <a:extLst>
              <a:ext uri="{FF2B5EF4-FFF2-40B4-BE49-F238E27FC236}">
                <a16:creationId xmlns:a16="http://schemas.microsoft.com/office/drawing/2014/main" id="{96549883-8540-6668-D479-B7068ACA60DE}"/>
              </a:ext>
            </a:extLst>
          </p:cNvPr>
          <p:cNvSpPr txBox="1"/>
          <p:nvPr/>
        </p:nvSpPr>
        <p:spPr>
          <a:xfrm>
            <a:off x="272528" y="8952501"/>
            <a:ext cx="7260250" cy="322109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>
              <a:buClr>
                <a:srgbClr val="002060"/>
              </a:buClr>
              <a:buSzPts val="4400"/>
            </a:pPr>
            <a:r>
              <a:rPr lang="en-IN" sz="1842" b="1" dirty="0">
                <a:solidFill>
                  <a:srgbClr val="00206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           Innovative techniques of Mobile Photography</a:t>
            </a:r>
            <a:endParaRPr sz="1842" b="1" dirty="0">
              <a:solidFill>
                <a:srgbClr val="002060"/>
              </a:solidFill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</p:txBody>
      </p:sp>
      <p:sp>
        <p:nvSpPr>
          <p:cNvPr id="3" name="Google Shape;149;p1">
            <a:extLst>
              <a:ext uri="{FF2B5EF4-FFF2-40B4-BE49-F238E27FC236}">
                <a16:creationId xmlns:a16="http://schemas.microsoft.com/office/drawing/2014/main" id="{D84E6594-496A-649E-D408-EC8C95C89896}"/>
              </a:ext>
            </a:extLst>
          </p:cNvPr>
          <p:cNvSpPr txBox="1"/>
          <p:nvPr/>
        </p:nvSpPr>
        <p:spPr>
          <a:xfrm>
            <a:off x="246806" y="2596470"/>
            <a:ext cx="7008020" cy="253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 algn="just">
              <a:buClr>
                <a:schemeClr val="dk1"/>
              </a:buClr>
              <a:buSzPts val="4000"/>
            </a:pPr>
            <a:r>
              <a:rPr lang="en-US" dirty="0"/>
              <a:t>Visual media has become one of the most </a:t>
            </a:r>
            <a:r>
              <a:rPr lang="en-US" b="1" dirty="0"/>
              <a:t>powerful tools </a:t>
            </a:r>
            <a:r>
              <a:rPr lang="en-US" dirty="0"/>
              <a:t>for </a:t>
            </a:r>
            <a:r>
              <a:rPr lang="en-US" b="1" dirty="0"/>
              <a:t>communication</a:t>
            </a:r>
            <a:r>
              <a:rPr lang="en-US" dirty="0"/>
              <a:t> in the </a:t>
            </a:r>
            <a:r>
              <a:rPr lang="en-US" b="1" dirty="0"/>
              <a:t>digital</a:t>
            </a:r>
            <a:r>
              <a:rPr lang="en-US" dirty="0"/>
              <a:t> </a:t>
            </a:r>
            <a:r>
              <a:rPr lang="en-US" b="1" dirty="0"/>
              <a:t>age</a:t>
            </a:r>
            <a:r>
              <a:rPr lang="en-US" dirty="0"/>
              <a:t>. Photography and video are no longer limited to professionals with </a:t>
            </a:r>
            <a:r>
              <a:rPr lang="en-US" b="1" dirty="0"/>
              <a:t>high-end equipment</a:t>
            </a:r>
            <a:r>
              <a:rPr lang="en-US" dirty="0"/>
              <a:t>; they are now accessible to anyone with a smartphone and </a:t>
            </a:r>
            <a:r>
              <a:rPr lang="en-US" b="1" dirty="0"/>
              <a:t>creative</a:t>
            </a:r>
            <a:r>
              <a:rPr lang="en-US" dirty="0"/>
              <a:t> </a:t>
            </a:r>
            <a:r>
              <a:rPr lang="en-US" b="1" dirty="0"/>
              <a:t>vision</a:t>
            </a:r>
            <a:r>
              <a:rPr lang="en-US" dirty="0"/>
              <a:t>. This poster explores how </a:t>
            </a:r>
            <a:r>
              <a:rPr lang="en-US" b="1" dirty="0"/>
              <a:t>fundamental</a:t>
            </a:r>
            <a:r>
              <a:rPr lang="en-US" dirty="0"/>
              <a:t> </a:t>
            </a:r>
            <a:r>
              <a:rPr lang="en-US" b="1" dirty="0"/>
              <a:t>photography</a:t>
            </a:r>
            <a:r>
              <a:rPr lang="en-US" dirty="0"/>
              <a:t> </a:t>
            </a:r>
            <a:r>
              <a:rPr lang="en-US" b="1" dirty="0"/>
              <a:t>principles</a:t>
            </a:r>
            <a:r>
              <a:rPr lang="en-US" dirty="0"/>
              <a:t>, mobile-based techniques, and </a:t>
            </a:r>
            <a:r>
              <a:rPr lang="en-US" b="1" dirty="0"/>
              <a:t>modern editing software </a:t>
            </a:r>
            <a:r>
              <a:rPr lang="en-US" dirty="0"/>
              <a:t>combine to create impactful </a:t>
            </a:r>
            <a:r>
              <a:rPr lang="en-US" b="1" dirty="0"/>
              <a:t>visual</a:t>
            </a:r>
            <a:r>
              <a:rPr lang="en-US" dirty="0"/>
              <a:t> </a:t>
            </a:r>
            <a:r>
              <a:rPr lang="en-US" b="1" dirty="0"/>
              <a:t>storytelling</a:t>
            </a:r>
            <a:r>
              <a:rPr lang="en-US" dirty="0"/>
              <a:t>.</a:t>
            </a:r>
          </a:p>
          <a:p>
            <a:pPr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</a:endParaRPr>
          </a:p>
          <a:p>
            <a:pPr algn="just">
              <a:buClr>
                <a:schemeClr val="dk1"/>
              </a:buClr>
              <a:buSzPts val="4000"/>
            </a:pPr>
            <a:r>
              <a:rPr lang="en-US" b="1" dirty="0"/>
              <a:t>“Big stories begin with simple frames.” - Anonymous</a:t>
            </a:r>
            <a:endParaRPr lang="en-US" b="1" dirty="0">
              <a:solidFill>
                <a:schemeClr val="dk1"/>
              </a:solidFill>
            </a:endParaRPr>
          </a:p>
        </p:txBody>
      </p:sp>
      <p:sp>
        <p:nvSpPr>
          <p:cNvPr id="4" name="Google Shape;150;p1">
            <a:extLst>
              <a:ext uri="{FF2B5EF4-FFF2-40B4-BE49-F238E27FC236}">
                <a16:creationId xmlns:a16="http://schemas.microsoft.com/office/drawing/2014/main" id="{6F6964B9-9CEB-4BB5-CA66-443F445C218E}"/>
              </a:ext>
            </a:extLst>
          </p:cNvPr>
          <p:cNvSpPr txBox="1"/>
          <p:nvPr/>
        </p:nvSpPr>
        <p:spPr>
          <a:xfrm>
            <a:off x="243629" y="5304852"/>
            <a:ext cx="7260250" cy="322109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>
              <a:buClr>
                <a:srgbClr val="002060"/>
              </a:buClr>
              <a:buSzPts val="4400"/>
            </a:pPr>
            <a:r>
              <a:rPr lang="en-IN" sz="1842" b="1" dirty="0">
                <a:solidFill>
                  <a:srgbClr val="00206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                  Fundamentals of Still Photography</a:t>
            </a:r>
            <a:endParaRPr sz="1842" b="1" dirty="0">
              <a:solidFill>
                <a:srgbClr val="002060"/>
              </a:solidFill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</p:txBody>
      </p:sp>
      <p:sp>
        <p:nvSpPr>
          <p:cNvPr id="5" name="Google Shape;149;p1">
            <a:extLst>
              <a:ext uri="{FF2B5EF4-FFF2-40B4-BE49-F238E27FC236}">
                <a16:creationId xmlns:a16="http://schemas.microsoft.com/office/drawing/2014/main" id="{0AD56C33-8595-63E3-6908-627CBDAC131B}"/>
              </a:ext>
            </a:extLst>
          </p:cNvPr>
          <p:cNvSpPr txBox="1"/>
          <p:nvPr/>
        </p:nvSpPr>
        <p:spPr>
          <a:xfrm>
            <a:off x="292559" y="5678701"/>
            <a:ext cx="7008020" cy="5024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r>
              <a:rPr lang="en-US" b="1" dirty="0"/>
              <a:t>Composition Techniques for Effective Visual Communication</a:t>
            </a:r>
          </a:p>
          <a:p>
            <a:r>
              <a:rPr lang="en-US" b="1" dirty="0"/>
              <a:t>Composition</a:t>
            </a:r>
            <a:r>
              <a:rPr lang="en-US" dirty="0"/>
              <a:t> plays a critical role in shaping how a photograph is perceived. It involves </a:t>
            </a:r>
            <a:r>
              <a:rPr lang="en-US" b="1" dirty="0"/>
              <a:t>the deliberate arrangement </a:t>
            </a:r>
            <a:r>
              <a:rPr lang="en-US" dirty="0"/>
              <a:t>of visual elements to establish balance, focus, and meaning. </a:t>
            </a:r>
            <a:r>
              <a:rPr lang="en-US" b="1" dirty="0"/>
              <a:t>Strong compositional choices </a:t>
            </a:r>
            <a:r>
              <a:rPr lang="en-US" dirty="0"/>
              <a:t>help transform simple scenes into </a:t>
            </a:r>
            <a:r>
              <a:rPr lang="en-US" b="1" dirty="0"/>
              <a:t>clear</a:t>
            </a:r>
            <a:r>
              <a:rPr lang="en-US" dirty="0"/>
              <a:t> and </a:t>
            </a:r>
            <a:r>
              <a:rPr lang="en-US" b="1" dirty="0"/>
              <a:t>engaging visual messages</a:t>
            </a:r>
            <a:r>
              <a:rPr lang="en-US" dirty="0"/>
              <a:t>.</a:t>
            </a:r>
          </a:p>
          <a:p>
            <a:r>
              <a:rPr lang="en-US" b="1" dirty="0"/>
              <a:t>Concepts explored include: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Balanced framing using the </a:t>
            </a:r>
            <a:r>
              <a:rPr lang="en-US" b="1" dirty="0"/>
              <a:t>Rule of Thirds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/>
              <a:t>Visual direction </a:t>
            </a:r>
            <a:r>
              <a:rPr lang="en-US" dirty="0"/>
              <a:t>through leading lines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Use of natural frames to </a:t>
            </a:r>
            <a:r>
              <a:rPr lang="en-US" b="1" dirty="0"/>
              <a:t>enhance subject focus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/>
              <a:t>Symmetry</a:t>
            </a:r>
            <a:r>
              <a:rPr lang="en-US" dirty="0"/>
              <a:t> and </a:t>
            </a:r>
            <a:r>
              <a:rPr lang="en-US" b="1" dirty="0"/>
              <a:t>patterns</a:t>
            </a:r>
            <a:r>
              <a:rPr lang="en-US" dirty="0"/>
              <a:t> for </a:t>
            </a:r>
            <a:r>
              <a:rPr lang="en-US" b="1" dirty="0"/>
              <a:t>structured aesthetics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/>
              <a:t>Strategic</a:t>
            </a:r>
            <a:r>
              <a:rPr lang="en-US" dirty="0"/>
              <a:t> subject placement for </a:t>
            </a:r>
            <a:r>
              <a:rPr lang="en-US" b="1" dirty="0"/>
              <a:t>visual clarity</a:t>
            </a: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</a:endParaRPr>
          </a:p>
          <a:p>
            <a:pPr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sym typeface="Georgia" panose="02040502050405020303"/>
            </a:endParaRPr>
          </a:p>
          <a:p>
            <a:pPr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sym typeface="Georgia" panose="02040502050405020303"/>
            </a:endParaRPr>
          </a:p>
          <a:p>
            <a:pPr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sym typeface="Georgia" panose="02040502050405020303"/>
            </a:endParaRPr>
          </a:p>
          <a:p>
            <a:pPr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sym typeface="Georgia" panose="02040502050405020303"/>
            </a:endParaRPr>
          </a:p>
          <a:p>
            <a:pPr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latin typeface="Bookman Old Style" panose="02050604050505020204" pitchFamily="18" charset="0"/>
              <a:sym typeface="Georgia" panose="02040502050405020303"/>
            </a:endParaRPr>
          </a:p>
        </p:txBody>
      </p:sp>
      <p:pic>
        <p:nvPicPr>
          <p:cNvPr id="11" name="Picture 2" descr="May be an image of text that says &quot;R RASHTREEYA R SIKSHANA SAMITHI SAMAITHI V TRUST INSTITUTIONS&quot;">
            <a:extLst>
              <a:ext uri="{FF2B5EF4-FFF2-40B4-BE49-F238E27FC236}">
                <a16:creationId xmlns:a16="http://schemas.microsoft.com/office/drawing/2014/main" id="{7C2EFEC0-42F0-B598-C59C-701CF1C973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992" y="111045"/>
            <a:ext cx="1655508" cy="1655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92;p1">
            <a:extLst>
              <a:ext uri="{FF2B5EF4-FFF2-40B4-BE49-F238E27FC236}">
                <a16:creationId xmlns:a16="http://schemas.microsoft.com/office/drawing/2014/main" id="{C3C138E0-EC15-F332-8FAA-6F2D3C197756}"/>
              </a:ext>
            </a:extLst>
          </p:cNvPr>
          <p:cNvSpPr txBox="1"/>
          <p:nvPr/>
        </p:nvSpPr>
        <p:spPr>
          <a:xfrm>
            <a:off x="11684000" y="946227"/>
            <a:ext cx="3148735" cy="654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>
              <a:buClr>
                <a:srgbClr val="990000"/>
              </a:buClr>
              <a:buSzPts val="6000"/>
            </a:pPr>
            <a:r>
              <a:rPr lang="en-IN" sz="2000" b="1" dirty="0">
                <a:solidFill>
                  <a:schemeClr val="accent2">
                    <a:lumMod val="50000"/>
                  </a:schemeClr>
                </a:solidFill>
                <a:latin typeface="Trebuchet MS" panose="020B0603020202020204"/>
                <a:ea typeface="Tahoma" panose="020B0604030504040204"/>
                <a:cs typeface="Tahoma" panose="020B0604030504040204"/>
                <a:sym typeface="Trebuchet MS" panose="020B0603020202020204"/>
              </a:rPr>
              <a:t>Mentor: </a:t>
            </a:r>
          </a:p>
          <a:p>
            <a:pPr>
              <a:buClr>
                <a:srgbClr val="990000"/>
              </a:buClr>
              <a:buSzPts val="6000"/>
            </a:pPr>
            <a:r>
              <a:rPr lang="en-IN" sz="2000" b="1" dirty="0">
                <a:solidFill>
                  <a:schemeClr val="accent2">
                    <a:lumMod val="50000"/>
                  </a:schemeClr>
                </a:solidFill>
                <a:latin typeface="Trebuchet MS" panose="020B0603020202020204"/>
                <a:ea typeface="Tahoma" panose="020B0604030504040204"/>
                <a:cs typeface="Tahoma" panose="020B0604030504040204"/>
                <a:sym typeface="Trebuchet MS" panose="020B0603020202020204"/>
              </a:rPr>
              <a:t>Prof. </a:t>
            </a:r>
            <a:r>
              <a:rPr lang="en-IN" sz="2000" b="1" dirty="0" err="1">
                <a:solidFill>
                  <a:schemeClr val="accent2">
                    <a:lumMod val="50000"/>
                  </a:schemeClr>
                </a:solidFill>
                <a:latin typeface="Trebuchet MS" panose="020B0603020202020204"/>
                <a:ea typeface="Tahoma" panose="020B0604030504040204"/>
                <a:cs typeface="Tahoma" panose="020B0604030504040204"/>
                <a:sym typeface="Trebuchet MS" panose="020B0603020202020204"/>
              </a:rPr>
              <a:t>Shanmukha</a:t>
            </a:r>
            <a:r>
              <a:rPr lang="en-IN" sz="2000" b="1" dirty="0">
                <a:solidFill>
                  <a:schemeClr val="accent2">
                    <a:lumMod val="50000"/>
                  </a:schemeClr>
                </a:solidFill>
                <a:latin typeface="Trebuchet MS" panose="020B0603020202020204"/>
                <a:ea typeface="Tahoma" panose="020B0604030504040204"/>
                <a:cs typeface="Tahoma" panose="020B0604030504040204"/>
                <a:sym typeface="Trebuchet MS" panose="020B0603020202020204"/>
              </a:rPr>
              <a:t> Nagaraj</a:t>
            </a:r>
            <a:endParaRPr sz="2400" b="1" dirty="0">
              <a:solidFill>
                <a:srgbClr val="527050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  <p:sp>
        <p:nvSpPr>
          <p:cNvPr id="13" name="Google Shape;173;p1">
            <a:extLst>
              <a:ext uri="{FF2B5EF4-FFF2-40B4-BE49-F238E27FC236}">
                <a16:creationId xmlns:a16="http://schemas.microsoft.com/office/drawing/2014/main" id="{4D62BE2B-B35B-D625-2122-05FD6EFD4E3C}"/>
              </a:ext>
            </a:extLst>
          </p:cNvPr>
          <p:cNvSpPr txBox="1"/>
          <p:nvPr/>
        </p:nvSpPr>
        <p:spPr>
          <a:xfrm>
            <a:off x="7838482" y="13658162"/>
            <a:ext cx="7097496" cy="322109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 algn="ctr">
              <a:buClr>
                <a:srgbClr val="002060"/>
              </a:buClr>
              <a:buSzPts val="4400"/>
            </a:pPr>
            <a:r>
              <a:rPr lang="en-US" sz="1842" b="1" dirty="0">
                <a:solidFill>
                  <a:srgbClr val="00206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Conclusions</a:t>
            </a:r>
            <a:endParaRPr sz="1842" b="1" dirty="0">
              <a:solidFill>
                <a:srgbClr val="002060"/>
              </a:solidFill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</p:txBody>
      </p:sp>
      <p:sp>
        <p:nvSpPr>
          <p:cNvPr id="14" name="Google Shape;149;p1">
            <a:extLst>
              <a:ext uri="{FF2B5EF4-FFF2-40B4-BE49-F238E27FC236}">
                <a16:creationId xmlns:a16="http://schemas.microsoft.com/office/drawing/2014/main" id="{54A8FCE1-366B-E6EE-3D88-A2A7CAABDFD2}"/>
              </a:ext>
            </a:extLst>
          </p:cNvPr>
          <p:cNvSpPr txBox="1"/>
          <p:nvPr/>
        </p:nvSpPr>
        <p:spPr>
          <a:xfrm>
            <a:off x="7822661" y="14972782"/>
            <a:ext cx="7008020" cy="2346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sz="3200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sz="3200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sz="3200" dirty="0">
              <a:solidFill>
                <a:schemeClr val="dk1"/>
              </a:solidFill>
              <a:latin typeface="Bookman Old Style" panose="02050604050505020204" pitchFamily="18" charset="0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9" name="Google Shape;174;p1">
            <a:extLst>
              <a:ext uri="{FF2B5EF4-FFF2-40B4-BE49-F238E27FC236}">
                <a16:creationId xmlns:a16="http://schemas.microsoft.com/office/drawing/2014/main" id="{2F547D69-D0D0-C594-CD7F-F9B90CF1C02A}"/>
              </a:ext>
            </a:extLst>
          </p:cNvPr>
          <p:cNvSpPr txBox="1"/>
          <p:nvPr/>
        </p:nvSpPr>
        <p:spPr>
          <a:xfrm>
            <a:off x="7846751" y="18851493"/>
            <a:ext cx="7097496" cy="346410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 algn="ctr"/>
            <a:r>
              <a:rPr lang="en-US" sz="2000" b="1" i="0" dirty="0">
                <a:effectLst/>
                <a:latin typeface="Söhne"/>
              </a:rPr>
              <a:t>QR Code of the Demonstration Video</a:t>
            </a:r>
            <a:endParaRPr lang="en-IN" sz="2000" b="1" i="0" dirty="0">
              <a:effectLst/>
              <a:latin typeface="Söhne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24381F3-E040-FCA3-FB28-4DB758ABE5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5927" y="19238283"/>
            <a:ext cx="1621954" cy="162195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BC9FDB5-F371-BB2B-5004-626DB2B2B8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36413" y="19297966"/>
            <a:ext cx="1621954" cy="1621954"/>
          </a:xfrm>
          <a:prstGeom prst="rect">
            <a:avLst/>
          </a:prstGeom>
        </p:spPr>
      </p:pic>
      <p:sp>
        <p:nvSpPr>
          <p:cNvPr id="17" name="Google Shape;149;p1">
            <a:extLst>
              <a:ext uri="{FF2B5EF4-FFF2-40B4-BE49-F238E27FC236}">
                <a16:creationId xmlns:a16="http://schemas.microsoft.com/office/drawing/2014/main" id="{C671F898-241E-32CD-0D0D-D78F3AD145FE}"/>
              </a:ext>
            </a:extLst>
          </p:cNvPr>
          <p:cNvSpPr txBox="1"/>
          <p:nvPr/>
        </p:nvSpPr>
        <p:spPr>
          <a:xfrm>
            <a:off x="9346508" y="20859340"/>
            <a:ext cx="7008020" cy="869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pPr lvl="0" algn="just">
              <a:buClr>
                <a:schemeClr val="dk1"/>
              </a:buClr>
              <a:buSzPts val="4000"/>
            </a:pPr>
            <a:r>
              <a:rPr lang="en-US" dirty="0">
                <a:solidFill>
                  <a:schemeClr val="dk1"/>
                </a:solidFill>
                <a:latin typeface="Bookman Old Style" panose="02050604050505020204" pitchFamily="18" charset="0"/>
                <a:sym typeface="Georgia" panose="02040502050405020303"/>
              </a:rPr>
              <a:t>FILM MAKING    STILL PHOTOGRAPHY</a:t>
            </a: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sym typeface="Georgia" panose="02040502050405020303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E5786488-7BFE-1ED9-483F-6CAC39F59B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5148" y="13043695"/>
            <a:ext cx="7135010" cy="3953427"/>
          </a:xfrm>
          <a:prstGeom prst="rect">
            <a:avLst/>
          </a:prstGeom>
        </p:spPr>
      </p:pic>
      <p:sp>
        <p:nvSpPr>
          <p:cNvPr id="24" name="Google Shape;149;p1">
            <a:extLst>
              <a:ext uri="{FF2B5EF4-FFF2-40B4-BE49-F238E27FC236}">
                <a16:creationId xmlns:a16="http://schemas.microsoft.com/office/drawing/2014/main" id="{C3F36432-C19E-170F-AFE9-7ED0EC8EE613}"/>
              </a:ext>
            </a:extLst>
          </p:cNvPr>
          <p:cNvSpPr txBox="1"/>
          <p:nvPr/>
        </p:nvSpPr>
        <p:spPr>
          <a:xfrm>
            <a:off x="292559" y="17086602"/>
            <a:ext cx="7008020" cy="4470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271" tIns="19130" rIns="38271" bIns="19130" anchor="t" anchorCtr="0">
            <a:spAutoFit/>
          </a:bodyPr>
          <a:lstStyle/>
          <a:p>
            <a:r>
              <a:rPr lang="en-US" b="1" dirty="0"/>
              <a:t>Color Correction and Color Grading for Cinematic Output</a:t>
            </a:r>
            <a:endParaRPr lang="en-US" dirty="0"/>
          </a:p>
          <a:p>
            <a:r>
              <a:rPr lang="en-US" dirty="0"/>
              <a:t>Color correction and color grading are essential stages of video post-production that enhance </a:t>
            </a:r>
            <a:r>
              <a:rPr lang="en-US" b="1" dirty="0"/>
              <a:t>visual quality </a:t>
            </a:r>
            <a:r>
              <a:rPr lang="en-US" dirty="0"/>
              <a:t>and </a:t>
            </a:r>
            <a:r>
              <a:rPr lang="en-US" b="1" dirty="0"/>
              <a:t>storytelling</a:t>
            </a:r>
            <a:r>
              <a:rPr lang="en-US" dirty="0"/>
              <a:t>. These processes ensure consistency across clips while establishing mood, tone, and </a:t>
            </a:r>
            <a:r>
              <a:rPr lang="en-US" b="1" dirty="0"/>
              <a:t>emotional</a:t>
            </a:r>
            <a:r>
              <a:rPr lang="en-US" dirty="0"/>
              <a:t> </a:t>
            </a:r>
            <a:r>
              <a:rPr lang="en-US" b="1" dirty="0"/>
              <a:t>depth</a:t>
            </a:r>
            <a:r>
              <a:rPr lang="en-US" dirty="0"/>
              <a:t>. Proper color treatment helps maintain realism while giving the video a </a:t>
            </a:r>
            <a:r>
              <a:rPr lang="en-US" b="1" dirty="0"/>
              <a:t>polished</a:t>
            </a:r>
            <a:r>
              <a:rPr lang="en-US" dirty="0"/>
              <a:t>, </a:t>
            </a:r>
            <a:r>
              <a:rPr lang="en-US" b="1" dirty="0"/>
              <a:t>cinematic</a:t>
            </a:r>
            <a:r>
              <a:rPr lang="en-US" dirty="0"/>
              <a:t> </a:t>
            </a:r>
            <a:r>
              <a:rPr lang="en-US" b="1" dirty="0"/>
              <a:t>appearance</a:t>
            </a:r>
            <a:r>
              <a:rPr lang="en-US" dirty="0"/>
              <a:t> suitable for </a:t>
            </a:r>
            <a:r>
              <a:rPr lang="en-US" b="1" dirty="0"/>
              <a:t>professional presentation.</a:t>
            </a:r>
          </a:p>
          <a:p>
            <a:r>
              <a:rPr lang="en-US" b="1" dirty="0"/>
              <a:t>Editing principles implemented: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Exposure and </a:t>
            </a:r>
            <a:r>
              <a:rPr lang="en-US" b="1" dirty="0"/>
              <a:t>white balance normalization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/>
              <a:t>Maintaining color continuity </a:t>
            </a:r>
            <a:r>
              <a:rPr lang="en-US" dirty="0"/>
              <a:t>across scenes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Contrast and </a:t>
            </a:r>
            <a:r>
              <a:rPr lang="en-US" b="1" dirty="0"/>
              <a:t>saturation refinement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Mood enhancement through </a:t>
            </a:r>
            <a:r>
              <a:rPr lang="en-US" b="1" dirty="0"/>
              <a:t>color grading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Achieving a</a:t>
            </a:r>
            <a:r>
              <a:rPr lang="en-US" b="1" dirty="0"/>
              <a:t> professional cinematic </a:t>
            </a:r>
            <a:r>
              <a:rPr lang="en-US" dirty="0"/>
              <a:t>visual style</a:t>
            </a: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sym typeface="Georgia" panose="02040502050405020303"/>
            </a:endParaRPr>
          </a:p>
          <a:p>
            <a:pPr lvl="0" algn="just">
              <a:buClr>
                <a:schemeClr val="dk1"/>
              </a:buClr>
              <a:buSzPts val="4000"/>
            </a:pPr>
            <a:endParaRPr lang="en-US" dirty="0">
              <a:solidFill>
                <a:schemeClr val="dk1"/>
              </a:solidFill>
              <a:latin typeface="Bookman Old Style" panose="02050604050505020204" pitchFamily="18" charset="0"/>
              <a:sym typeface="Georgia" panose="02040502050405020303"/>
            </a:endParaRPr>
          </a:p>
        </p:txBody>
      </p:sp>
      <p:sp>
        <p:nvSpPr>
          <p:cNvPr id="26" name="Rectangle 1">
            <a:extLst>
              <a:ext uri="{FF2B5EF4-FFF2-40B4-BE49-F238E27FC236}">
                <a16:creationId xmlns:a16="http://schemas.microsoft.com/office/drawing/2014/main" id="{24D4ECF2-F7CB-C4D5-9087-91EC7FE78C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90078" y="17012506"/>
            <a:ext cx="700802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Course Material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–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Photography &amp; Film Making (HS237LH)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Blackmagic Design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  <a:r>
              <a:rPr kumimoji="0" lang="en-US" altLang="en-US" sz="1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DaVinci Resolve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Official Documentation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Adobe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Systems.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Lightroom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and </a:t>
            </a:r>
            <a:r>
              <a:rPr kumimoji="0" lang="en-US" altLang="en-US" sz="1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Premiere Pro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Learning Resources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Canva Design School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– Visual Communication Guidelines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Online tutorials and educational resources on photography and video editing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699179C-DCE2-D23B-6438-30BAF6DAE9E7}"/>
              </a:ext>
            </a:extLst>
          </p:cNvPr>
          <p:cNvSpPr txBox="1"/>
          <p:nvPr/>
        </p:nvSpPr>
        <p:spPr>
          <a:xfrm>
            <a:off x="7912137" y="13978827"/>
            <a:ext cx="704793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project demonstrates that </a:t>
            </a:r>
            <a:r>
              <a:rPr lang="en-US" b="1" dirty="0"/>
              <a:t>effective visual storytelling </a:t>
            </a:r>
            <a:r>
              <a:rPr lang="en-US" dirty="0"/>
              <a:t>is achieved through a </a:t>
            </a:r>
            <a:r>
              <a:rPr lang="en-US" b="1" dirty="0"/>
              <a:t>strong</a:t>
            </a:r>
            <a:r>
              <a:rPr lang="en-US" dirty="0"/>
              <a:t> understanding of </a:t>
            </a:r>
            <a:r>
              <a:rPr lang="en-US" b="1" dirty="0"/>
              <a:t>fundamentals</a:t>
            </a:r>
            <a:r>
              <a:rPr lang="en-US" dirty="0"/>
              <a:t> rather than </a:t>
            </a:r>
            <a:r>
              <a:rPr lang="en-US" b="1" dirty="0"/>
              <a:t>reliance</a:t>
            </a:r>
            <a:r>
              <a:rPr lang="en-US" dirty="0"/>
              <a:t> on </a:t>
            </a:r>
            <a:r>
              <a:rPr lang="en-US" b="1" dirty="0"/>
              <a:t>expensive</a:t>
            </a:r>
            <a:r>
              <a:rPr lang="en-US" dirty="0"/>
              <a:t> </a:t>
            </a:r>
            <a:r>
              <a:rPr lang="en-US" b="1" dirty="0"/>
              <a:t>equipment</a:t>
            </a:r>
            <a:r>
              <a:rPr lang="en-US" dirty="0"/>
              <a:t>. By applying </a:t>
            </a:r>
            <a:r>
              <a:rPr lang="en-US" b="1" dirty="0"/>
              <a:t>principles of composition</a:t>
            </a:r>
            <a:r>
              <a:rPr lang="en-US" dirty="0"/>
              <a:t>, mastering mobile camera controls, and using professional video editing software, </a:t>
            </a:r>
            <a:r>
              <a:rPr lang="en-US" b="1" dirty="0"/>
              <a:t>high-quality photographs </a:t>
            </a:r>
            <a:r>
              <a:rPr lang="en-US" dirty="0"/>
              <a:t>and </a:t>
            </a:r>
            <a:r>
              <a:rPr lang="en-US" b="1" dirty="0"/>
              <a:t>cinematic</a:t>
            </a:r>
            <a:r>
              <a:rPr lang="en-US" dirty="0"/>
              <a:t> </a:t>
            </a:r>
            <a:r>
              <a:rPr lang="en-US" b="1" dirty="0"/>
              <a:t>videos</a:t>
            </a:r>
            <a:r>
              <a:rPr lang="en-US" dirty="0"/>
              <a:t> can be produced with accessible tools.</a:t>
            </a:r>
          </a:p>
          <a:p>
            <a:r>
              <a:rPr lang="en-US" dirty="0"/>
              <a:t>Overall, the project highlights how </a:t>
            </a:r>
            <a:r>
              <a:rPr lang="en-US" b="1" dirty="0"/>
              <a:t>modern</a:t>
            </a:r>
            <a:r>
              <a:rPr lang="en-US" dirty="0"/>
              <a:t> </a:t>
            </a:r>
            <a:r>
              <a:rPr lang="en-US" b="1" dirty="0"/>
              <a:t>tools</a:t>
            </a:r>
            <a:r>
              <a:rPr lang="en-US" dirty="0"/>
              <a:t>, when combined with </a:t>
            </a:r>
            <a:r>
              <a:rPr lang="en-US" b="1" dirty="0"/>
              <a:t>strong foundational knowledge</a:t>
            </a:r>
            <a:r>
              <a:rPr lang="en-US" dirty="0"/>
              <a:t>, </a:t>
            </a:r>
            <a:r>
              <a:rPr lang="en-US" b="1" dirty="0"/>
              <a:t>enable</a:t>
            </a:r>
            <a:r>
              <a:rPr lang="en-US" dirty="0"/>
              <a:t> </a:t>
            </a:r>
            <a:r>
              <a:rPr lang="en-US" b="1" dirty="0"/>
              <a:t>impactful</a:t>
            </a:r>
            <a:r>
              <a:rPr lang="en-US" dirty="0"/>
              <a:t> and </a:t>
            </a:r>
            <a:r>
              <a:rPr lang="en-US" b="1" dirty="0"/>
              <a:t>professional</a:t>
            </a:r>
            <a:r>
              <a:rPr lang="en-US" dirty="0"/>
              <a:t> </a:t>
            </a:r>
            <a:r>
              <a:rPr lang="en-US" b="1" dirty="0"/>
              <a:t>visual</a:t>
            </a:r>
            <a:r>
              <a:rPr lang="en-US" dirty="0"/>
              <a:t> </a:t>
            </a:r>
            <a:r>
              <a:rPr lang="en-US" b="1" dirty="0"/>
              <a:t>communication</a:t>
            </a:r>
            <a:r>
              <a:rPr lang="en-US" dirty="0"/>
              <a:t>.</a:t>
            </a:r>
          </a:p>
          <a:p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08390B8-29A1-D388-70F4-35DFC51DA78A}"/>
              </a:ext>
            </a:extLst>
          </p:cNvPr>
          <p:cNvSpPr txBox="1"/>
          <p:nvPr/>
        </p:nvSpPr>
        <p:spPr>
          <a:xfrm>
            <a:off x="7769705" y="2447039"/>
            <a:ext cx="7214336" cy="58007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DaVinci Resolve</a:t>
            </a:r>
            <a:br>
              <a:rPr lang="en-US" dirty="0"/>
            </a:br>
            <a:r>
              <a:rPr lang="en-US" dirty="0"/>
              <a:t>A professional video editing and color grading software widely used in the film industry for advanced color correction, visual consistency, and cinematic output.</a:t>
            </a:r>
          </a:p>
          <a:p>
            <a:r>
              <a:rPr lang="en-US" b="1" dirty="0"/>
              <a:t>Adobe Premiere Pro</a:t>
            </a:r>
            <a:br>
              <a:rPr lang="en-US" dirty="0"/>
            </a:br>
            <a:r>
              <a:rPr lang="en-US" dirty="0"/>
              <a:t>A non-linear video editing application used for professional video editing, sequencing, transitions, and post-production workflows.</a:t>
            </a:r>
          </a:p>
          <a:p>
            <a:r>
              <a:rPr lang="en-US" b="1" dirty="0"/>
              <a:t>Adobe Lightroom</a:t>
            </a:r>
            <a:br>
              <a:rPr lang="en-US" dirty="0"/>
            </a:br>
            <a:r>
              <a:rPr lang="en-US" dirty="0"/>
              <a:t>A photo editing and color correction tool used for enhancing images, adjusting tones, and maintaining visual consistency across photographs.</a:t>
            </a:r>
          </a:p>
          <a:p>
            <a:r>
              <a:rPr lang="en-US" b="1" dirty="0"/>
              <a:t>Canva</a:t>
            </a:r>
            <a:br>
              <a:rPr lang="en-US" dirty="0"/>
            </a:br>
            <a:r>
              <a:rPr lang="en-US" dirty="0"/>
              <a:t>A graphic design platform used for creating posters, layouts, titles, and visual presentations with a clean and structured design approach.</a:t>
            </a:r>
          </a:p>
          <a:p>
            <a:r>
              <a:rPr lang="en-US" b="1" dirty="0" err="1"/>
              <a:t>CapCut</a:t>
            </a:r>
            <a:br>
              <a:rPr lang="en-US" dirty="0"/>
            </a:br>
            <a:r>
              <a:rPr lang="en-US" dirty="0"/>
              <a:t>A mobile-based video editing application used for quick edits, transitions, effects, and exporting content optimized for digital platforms.</a:t>
            </a:r>
          </a:p>
          <a:p>
            <a:r>
              <a:rPr lang="en-US" b="1" dirty="0"/>
              <a:t>VN Video Editor</a:t>
            </a:r>
            <a:br>
              <a:rPr lang="en-US" dirty="0"/>
            </a:br>
            <a:r>
              <a:rPr lang="en-US" dirty="0"/>
              <a:t>A lightweight video editing tool offering precise trimming, transitions, and basic color adjustments, suitable for mobile video editing.</a:t>
            </a: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FC8D8EB-F4D0-F0F9-B829-6659B87C509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76411" y="8439803"/>
            <a:ext cx="1809684" cy="237464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9E9424D-CD03-2B27-B73C-A41FE4160F3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76411" y="10882231"/>
            <a:ext cx="1809684" cy="271701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59E454B3-44C6-249E-D914-46A4D9DDBE7B}"/>
              </a:ext>
            </a:extLst>
          </p:cNvPr>
          <p:cNvSpPr txBox="1"/>
          <p:nvPr/>
        </p:nvSpPr>
        <p:spPr>
          <a:xfrm>
            <a:off x="9724376" y="8405518"/>
            <a:ext cx="510241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photograph demonstrates the use of the </a:t>
            </a:r>
            <a:r>
              <a:rPr lang="en-US" b="1" dirty="0"/>
              <a:t>Rule of Thirds</a:t>
            </a:r>
            <a:r>
              <a:rPr lang="en-US" dirty="0"/>
              <a:t> and </a:t>
            </a:r>
            <a:r>
              <a:rPr lang="en-US" b="1" dirty="0"/>
              <a:t>natural framing</a:t>
            </a:r>
            <a:r>
              <a:rPr lang="en-US" dirty="0"/>
              <a:t> to emphasize the main subject. A shallow depth of field helps isolate the flower from the background, while </a:t>
            </a:r>
            <a:r>
              <a:rPr lang="en-US" b="1" dirty="0"/>
              <a:t>soft natural lighting</a:t>
            </a:r>
            <a:r>
              <a:rPr lang="en-US" dirty="0"/>
              <a:t> enhances texture and visual clarity. The composition draws the viewer’s attention directly to the subject, creating a balanced and </a:t>
            </a:r>
            <a:r>
              <a:rPr lang="en-US" b="1" dirty="0"/>
              <a:t>aesthetically pleasing image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2000F73-6693-85A9-5826-765613A80674}"/>
              </a:ext>
            </a:extLst>
          </p:cNvPr>
          <p:cNvSpPr txBox="1"/>
          <p:nvPr/>
        </p:nvSpPr>
        <p:spPr>
          <a:xfrm>
            <a:off x="9724376" y="10814451"/>
            <a:ext cx="517169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Captured with </a:t>
            </a:r>
            <a:r>
              <a:rPr lang="en-US" b="1" dirty="0"/>
              <a:t>ISO 200, 14 mm focal length, f/2.2 aperture, and a shutter speed of 1/50 s</a:t>
            </a:r>
            <a:r>
              <a:rPr lang="en-US" dirty="0"/>
              <a:t>, this image highlights the effective use of </a:t>
            </a:r>
            <a:r>
              <a:rPr lang="en-US" b="1" dirty="0"/>
              <a:t>color contrast, repetition, and pattern</a:t>
            </a:r>
            <a:r>
              <a:rPr lang="en-US" dirty="0"/>
              <a:t> in still photography. The organized arrangement of flowers creates strong </a:t>
            </a:r>
            <a:r>
              <a:rPr lang="en-US" b="1" dirty="0"/>
              <a:t>visual rhythm </a:t>
            </a:r>
            <a:r>
              <a:rPr lang="en-US" dirty="0"/>
              <a:t>and </a:t>
            </a:r>
            <a:r>
              <a:rPr lang="en-US" b="1" dirty="0"/>
              <a:t>balance</a:t>
            </a:r>
            <a:r>
              <a:rPr lang="en-US" dirty="0"/>
              <a:t> across the </a:t>
            </a:r>
            <a:r>
              <a:rPr lang="en-US" b="1" dirty="0"/>
              <a:t>frame</a:t>
            </a:r>
            <a:r>
              <a:rPr lang="en-US" dirty="0"/>
              <a:t>. Clear separation of colors guides the viewer’s eye smoothly through the image, demonstrating how </a:t>
            </a:r>
            <a:r>
              <a:rPr lang="en-US" b="1" dirty="0"/>
              <a:t>composition</a:t>
            </a:r>
            <a:r>
              <a:rPr lang="en-US" dirty="0"/>
              <a:t> and </a:t>
            </a:r>
            <a:r>
              <a:rPr lang="en-US" b="1" dirty="0"/>
              <a:t>color harmony enhance visual appeal</a:t>
            </a:r>
            <a:r>
              <a:rPr lang="en-US" dirty="0"/>
              <a:t> and </a:t>
            </a:r>
            <a:r>
              <a:rPr lang="en-US" b="1" dirty="0"/>
              <a:t>impact</a:t>
            </a:r>
            <a:r>
              <a:rPr lang="en-US" dirty="0"/>
              <a:t>.</a:t>
            </a:r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1285</TotalTime>
  <Words>840</Words>
  <Application>Microsoft Office PowerPoint</Application>
  <PresentationFormat>Custom</PresentationFormat>
  <Paragraphs>73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4" baseType="lpstr">
      <vt:lpstr>Tahoma</vt:lpstr>
      <vt:lpstr>Calibri</vt:lpstr>
      <vt:lpstr>Söhne</vt:lpstr>
      <vt:lpstr>Georgia</vt:lpstr>
      <vt:lpstr>Bookman Old Style</vt:lpstr>
      <vt:lpstr>Playfair Display</vt:lpstr>
      <vt:lpstr>Times New Roman</vt:lpstr>
      <vt:lpstr>Arial</vt:lpstr>
      <vt:lpstr>Trebuchet MS</vt:lpstr>
      <vt:lpstr>Comic Sans MS</vt:lpstr>
      <vt:lpstr>Wingdings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india</dc:creator>
  <cp:lastModifiedBy>aryannlodha@gmail.com</cp:lastModifiedBy>
  <cp:revision>32</cp:revision>
  <cp:lastPrinted>2024-01-29T05:31:42Z</cp:lastPrinted>
  <dcterms:created xsi:type="dcterms:W3CDTF">2020-07-26T16:54:19Z</dcterms:created>
  <dcterms:modified xsi:type="dcterms:W3CDTF">2026-02-04T07:58:50Z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1033-11.2.0.9453</vt:lpwstr>
  </property>
</Properties>
</file>