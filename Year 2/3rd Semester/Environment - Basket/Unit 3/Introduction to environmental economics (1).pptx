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1" r:id="rId2"/>
    <p:sldMasterId id="2147483695" r:id="rId3"/>
    <p:sldMasterId id="2147483708" r:id="rId4"/>
  </p:sldMasterIdLst>
  <p:sldIdLst>
    <p:sldId id="402" r:id="rId5"/>
    <p:sldId id="259" r:id="rId6"/>
    <p:sldId id="262" r:id="rId7"/>
    <p:sldId id="265" r:id="rId8"/>
    <p:sldId id="268" r:id="rId9"/>
    <p:sldId id="271" r:id="rId10"/>
    <p:sldId id="274" r:id="rId11"/>
    <p:sldId id="277" r:id="rId12"/>
    <p:sldId id="280" r:id="rId13"/>
    <p:sldId id="283" r:id="rId14"/>
    <p:sldId id="286" r:id="rId15"/>
    <p:sldId id="289" r:id="rId16"/>
    <p:sldId id="292" r:id="rId17"/>
    <p:sldId id="295" r:id="rId18"/>
    <p:sldId id="298" r:id="rId19"/>
    <p:sldId id="301" r:id="rId20"/>
    <p:sldId id="304" r:id="rId21"/>
    <p:sldId id="307" r:id="rId22"/>
    <p:sldId id="310" r:id="rId23"/>
    <p:sldId id="313" r:id="rId24"/>
    <p:sldId id="316" r:id="rId25"/>
    <p:sldId id="319" r:id="rId26"/>
    <p:sldId id="322" r:id="rId27"/>
    <p:sldId id="325" r:id="rId28"/>
    <p:sldId id="400" r:id="rId29"/>
    <p:sldId id="328" r:id="rId30"/>
    <p:sldId id="331" r:id="rId31"/>
    <p:sldId id="334" r:id="rId32"/>
    <p:sldId id="337" r:id="rId33"/>
    <p:sldId id="340" r:id="rId34"/>
    <p:sldId id="343" r:id="rId35"/>
    <p:sldId id="399" r:id="rId36"/>
    <p:sldId id="346" r:id="rId37"/>
    <p:sldId id="349" r:id="rId38"/>
    <p:sldId id="397" r:id="rId39"/>
    <p:sldId id="352" r:id="rId40"/>
    <p:sldId id="355" r:id="rId41"/>
    <p:sldId id="358" r:id="rId42"/>
    <p:sldId id="373" r:id="rId43"/>
    <p:sldId id="376" r:id="rId44"/>
    <p:sldId id="379" r:id="rId45"/>
    <p:sldId id="382" r:id="rId46"/>
    <p:sldId id="383" r:id="rId47"/>
    <p:sldId id="384" r:id="rId48"/>
    <p:sldId id="385" r:id="rId49"/>
    <p:sldId id="386" r:id="rId50"/>
    <p:sldId id="387" r:id="rId51"/>
    <p:sldId id="388" r:id="rId52"/>
    <p:sldId id="389" r:id="rId53"/>
    <p:sldId id="390" r:id="rId54"/>
    <p:sldId id="391" r:id="rId55"/>
    <p:sldId id="392" r:id="rId56"/>
    <p:sldId id="393" r:id="rId57"/>
    <p:sldId id="394" r:id="rId58"/>
    <p:sldId id="395" r:id="rId59"/>
    <p:sldId id="396" r:id="rId60"/>
    <p:sldId id="361" r:id="rId61"/>
    <p:sldId id="364" r:id="rId62"/>
    <p:sldId id="367" r:id="rId63"/>
    <p:sldId id="370" r:id="rId64"/>
    <p:sldId id="401" r:id="rId65"/>
  </p:sldIdLst>
  <p:sldSz cx="12192000" cy="6858000"/>
  <p:notesSz cx="6858000" cy="9144000"/>
  <p:custDataLst>
    <p:tags r:id="rId6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p:restoredTop sz="0"/>
  </p:normalViewPr>
  <p:slideViewPr>
    <p:cSldViewPr>
      <p:cViewPr varScale="1">
        <p:scale>
          <a:sx n="82" d="100"/>
          <a:sy n="82" d="100"/>
        </p:scale>
        <p:origin x="672" y="72"/>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ags" Target="tags/tag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7B5DFF90-0051-41C4-9440-FE180F318D4A}" type="datetimeFigureOut">
              <a:rPr lang="en-US" smtClean="0"/>
              <a:t>1/11/2024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B9F7193F-EC81-425C-8E97-37B45973D332}" type="datetimeFigureOut">
              <a:rPr lang="en-US" smtClean="0"/>
              <a:t>1/11/2024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B9E4C538-4512-4BE6-B18F-1C880F203C0A}" type="datetimeFigureOut">
              <a:rPr lang="en-US" smtClean="0"/>
              <a:t>1/11/2024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315550BF-3C95-4356-A93B-9F33E0EDF149}" type="datetimeFigureOut">
              <a:rPr lang="en-US" smtClean="0"/>
              <a:t>1/11/2024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7BA283A6-9818-484E-920F-5A24E4E7E1BE}" type="datetimeFigureOut">
              <a:rPr lang="en-US" smtClean="0"/>
              <a:t>1/11/2024</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09542342-C53C-4F9C-9103-E05CD9A3174A}" type="datetimeFigureOut">
              <a:rPr lang="en-US" smtClean="0"/>
              <a:t>1/11/2024</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F385D7E7-FD99-4AAC-9CA9-7F8748AD6E8A}" type="datetimeFigureOut">
              <a:rPr lang="en-US" smtClean="0"/>
              <a:t>1/11/2024</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FD82C99F-F631-49EA-98FC-19C9E1D8EE7E}" type="datetimeFigureOut">
              <a:rPr lang="en-US" smtClean="0"/>
              <a:t>1/11/2024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BD8F5B07-70C4-4791-B093-9DB9A739C9C6}" type="datetimeFigureOut">
              <a:rPr lang="en-US" smtClean="0"/>
              <a:t>1/11/2024</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6B7062E2-A0A6-40E7-B208-DF5F1067011A}" type="datetimeFigureOut">
              <a:rPr lang="en-US" smtClean="0"/>
              <a:t>1/11/2024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4C815891-BCF7-4C42-901C-FAC15F07E00E}" type="datetimeFigureOut">
              <a:rPr lang="en-US" smtClean="0"/>
              <a:t>1/11/2024</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10440-CEFA-86E3-3002-4A5D470A42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71B53-9F05-15E0-9BDD-41FC261AF6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932BE2-E66D-7956-6B42-B3DB66CE723F}"/>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a:extLst>
              <a:ext uri="{FF2B5EF4-FFF2-40B4-BE49-F238E27FC236}">
                <a16:creationId xmlns:a16="http://schemas.microsoft.com/office/drawing/2014/main" id="{F164A172-8037-0F44-7EDD-BD977F4DD2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02BE5B-7801-7940-C31C-DFF5BA1396A2}"/>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300341843"/>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479E1-C4C1-D892-B241-1CC49876E6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41683A-D701-C6E8-CA3F-4C36A9110A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F68685E-8560-A456-F581-CCE1FCDBB926}"/>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a:extLst>
              <a:ext uri="{FF2B5EF4-FFF2-40B4-BE49-F238E27FC236}">
                <a16:creationId xmlns:a16="http://schemas.microsoft.com/office/drawing/2014/main" id="{14E2ED66-F1BB-76BD-6A1B-443499EC14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FC3AC7-3F2D-B336-26A9-BAC36C932BB0}"/>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7615419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C0148-162F-7A77-BBEF-39640CF82F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5EF450A-99AE-5F9F-B1A6-3868F4CFBC8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1DC5270-1311-6DBF-B265-B2147915DBB6}"/>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a:extLst>
              <a:ext uri="{FF2B5EF4-FFF2-40B4-BE49-F238E27FC236}">
                <a16:creationId xmlns:a16="http://schemas.microsoft.com/office/drawing/2014/main" id="{3541CBE3-455D-2D5E-46A6-D70D7C241E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2F8264B-9F2C-2080-9124-F31A1A391BEE}"/>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42865491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6ABBB-2BFF-6CCF-8E58-431FC6273CD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1423D8-2023-3D52-339E-8FC731CB54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0F5AEF-E9A0-DDDC-4F61-B39DD20FBA8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B1683FB-4868-119E-ABB2-B5E68414F1ED}"/>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a:extLst>
              <a:ext uri="{FF2B5EF4-FFF2-40B4-BE49-F238E27FC236}">
                <a16:creationId xmlns:a16="http://schemas.microsoft.com/office/drawing/2014/main" id="{00AC263C-5340-E8B1-9BEC-77DAA0F2813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0D38084-2BA2-CF24-8E60-CBCC781C6B85}"/>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1402556763"/>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82E00-0A1D-817C-822C-7DEE1F65B45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9545B3-322A-3468-7A8D-3D5841107E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D1CF65-E1EE-B037-C133-E0AE673B905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D4B225E-3B5F-1F98-349B-70C7D46AE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547D4A0-74F5-91E6-651A-39BE9B0A14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A095B94-910C-C99E-DBF4-D61DF7907106}"/>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8" name="Footer Placeholder 7">
            <a:extLst>
              <a:ext uri="{FF2B5EF4-FFF2-40B4-BE49-F238E27FC236}">
                <a16:creationId xmlns:a16="http://schemas.microsoft.com/office/drawing/2014/main" id="{BE416B38-DA44-3AD4-CD74-D47BC0875BA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39C59D-44E3-5AB1-0BBA-FC0B4240184E}"/>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540915283"/>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B80B-B2B5-B766-6925-B8334EB4A2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44215CF-7EBA-210C-1B70-F6329DDE8154}"/>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4" name="Footer Placeholder 3">
            <a:extLst>
              <a:ext uri="{FF2B5EF4-FFF2-40B4-BE49-F238E27FC236}">
                <a16:creationId xmlns:a16="http://schemas.microsoft.com/office/drawing/2014/main" id="{887DFE05-DFF4-2A6F-8A49-D272D50922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C14FD4-DE82-5A97-8FBF-B2C65F637FF7}"/>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64286347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F12737A-3BF9-3535-067D-F96ADDDD4ABA}"/>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3" name="Footer Placeholder 2">
            <a:extLst>
              <a:ext uri="{FF2B5EF4-FFF2-40B4-BE49-F238E27FC236}">
                <a16:creationId xmlns:a16="http://schemas.microsoft.com/office/drawing/2014/main" id="{F28F8E74-7E2E-FD36-8AD0-2C8C912F12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39BC88E-D003-E95D-F9A2-1B567BC224D8}"/>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73290802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6049F-E06C-2A0F-0646-F85F0C3A69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1D05A91-6EF5-D77E-BC89-BAD6CA9EC8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A1605A0-BF36-1315-F2CD-4047363EA3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B63DA5-B04B-0521-F51A-7DC1C5F388CA}"/>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a:extLst>
              <a:ext uri="{FF2B5EF4-FFF2-40B4-BE49-F238E27FC236}">
                <a16:creationId xmlns:a16="http://schemas.microsoft.com/office/drawing/2014/main" id="{48532769-4E4A-FDB5-1DCF-A40E696B95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7DD9990-1777-D5CE-B51D-BD82A55E8B0D}"/>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05866470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606E4-B6B5-C492-93EB-931BBF1EED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23DF14A-909E-33CD-D6B6-0BCBC86CD4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63B01DB-8A42-0820-D8D7-648863B3B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E69012-1039-04E1-9C60-EE8EC9645D6C}"/>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a:extLst>
              <a:ext uri="{FF2B5EF4-FFF2-40B4-BE49-F238E27FC236}">
                <a16:creationId xmlns:a16="http://schemas.microsoft.com/office/drawing/2014/main" id="{BCF5D34F-1E5D-E433-9942-5069E66E9FA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85798B7-7695-A46F-836E-66C0B69854F9}"/>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608469869"/>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C296C-AA7F-EBE7-8CD9-A3B59C9A22F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738013-B321-1F63-17E2-B9FC1542FB4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9A79DD6-17ED-3561-4612-66869112040A}"/>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a:extLst>
              <a:ext uri="{FF2B5EF4-FFF2-40B4-BE49-F238E27FC236}">
                <a16:creationId xmlns:a16="http://schemas.microsoft.com/office/drawing/2014/main" id="{DFE7609A-1DCA-48D5-B900-A8DB8CBE67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DC8BAD-95D6-5738-865A-F00E3A39AF1C}"/>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161755883"/>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A0A43B8-1618-8509-697A-69EB7612872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4C60FC4-A64B-C828-8F5A-14877B0706F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2BB87A-22CC-91B3-1688-D111D6B2CEA9}"/>
              </a:ext>
            </a:extLst>
          </p:cNvPr>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a:extLst>
              <a:ext uri="{FF2B5EF4-FFF2-40B4-BE49-F238E27FC236}">
                <a16:creationId xmlns:a16="http://schemas.microsoft.com/office/drawing/2014/main" id="{BEFE396B-F2EC-B697-F45C-3A45FC5E38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7B4FD8-FD86-8028-F173-4BF01E62A56D}"/>
              </a:ext>
            </a:extLst>
          </p:cNvPr>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890883395"/>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0D571E-3A93-B832-6407-073165ED21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F4B5311-905D-44EE-0B94-15A59DB124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7BC524-7B9B-608F-2F5B-421A4456CDFD}"/>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5" name="Footer Placeholder 4">
            <a:extLst>
              <a:ext uri="{FF2B5EF4-FFF2-40B4-BE49-F238E27FC236}">
                <a16:creationId xmlns:a16="http://schemas.microsoft.com/office/drawing/2014/main" id="{2DB5856A-0AC9-4892-47F8-998541C54E3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61FBFB-01CA-5605-FEC9-C7BC04AD1922}"/>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330057349"/>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3E31C-73B8-5B69-C8E9-1A9FF777B9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8F0440-DE74-1E69-8492-D2B419BF8C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346BC5-9917-515A-CE9B-84D3DA47CFAF}"/>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5" name="Footer Placeholder 4">
            <a:extLst>
              <a:ext uri="{FF2B5EF4-FFF2-40B4-BE49-F238E27FC236}">
                <a16:creationId xmlns:a16="http://schemas.microsoft.com/office/drawing/2014/main" id="{10FFFFD6-8A33-9046-3583-F035056770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2755183-27FF-BF07-F274-F790F8A43EB7}"/>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2914800610"/>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7EBE1-F6A9-91E7-F863-47BB575F03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AABF66-E5D0-FD21-5FB5-B658F87122B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22246EA-6269-FFF4-E85D-D3AE23BDB335}"/>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5" name="Footer Placeholder 4">
            <a:extLst>
              <a:ext uri="{FF2B5EF4-FFF2-40B4-BE49-F238E27FC236}">
                <a16:creationId xmlns:a16="http://schemas.microsoft.com/office/drawing/2014/main" id="{58C42EBB-3D78-2710-0388-E6417AF5E7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913347A-2504-3734-AB87-2DCF04B2C5D7}"/>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219544401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C1FBA-D0C5-34DA-5C21-A83EE5B0CCB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5E19B13-4686-687A-D671-B1722111EE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46F874B-ACE3-B13E-C495-2770667D84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BDB637F-A0B0-FF96-84E6-DFEA4212AB84}"/>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6" name="Footer Placeholder 5">
            <a:extLst>
              <a:ext uri="{FF2B5EF4-FFF2-40B4-BE49-F238E27FC236}">
                <a16:creationId xmlns:a16="http://schemas.microsoft.com/office/drawing/2014/main" id="{46A4CCD8-BB51-38DF-DCFA-A9A10E0F5C8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8519AA-5AF4-8324-0B8D-7BF3C3B456D6}"/>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2133318451"/>
      </p:ext>
    </p:extLst>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84DA9-DE7E-634B-ED3C-1F145ED9A6C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6A2E931-2585-BCF7-94FE-B608F56F349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A01D5-7D6F-D9FA-FF47-025D36ED994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2516745-1162-5285-5C15-3A8DE53845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73593FF-49BB-35DE-4F71-90F7BA4AD1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776822B-F1C1-D590-3AF9-91604319C2E0}"/>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8" name="Footer Placeholder 7">
            <a:extLst>
              <a:ext uri="{FF2B5EF4-FFF2-40B4-BE49-F238E27FC236}">
                <a16:creationId xmlns:a16="http://schemas.microsoft.com/office/drawing/2014/main" id="{42E563D1-34BB-A1C4-A8F2-BB1A98BE7EF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1BDDEA4-AC6A-A6DA-8758-86B30472E30D}"/>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4155249670"/>
      </p:ext>
    </p:extLst>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DA21CD-B779-2C10-2CC4-9A4FE22DE79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DCB5BD-F749-CC91-B545-1E44920EE9CD}"/>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4" name="Footer Placeholder 3">
            <a:extLst>
              <a:ext uri="{FF2B5EF4-FFF2-40B4-BE49-F238E27FC236}">
                <a16:creationId xmlns:a16="http://schemas.microsoft.com/office/drawing/2014/main" id="{2A21478F-B2E6-371C-559A-52EC583DFEA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9E49A35-9601-45AB-3444-8C92F016457C}"/>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2212392162"/>
      </p:ext>
    </p:extLst>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0C19E89-60B9-412C-A025-4B3A522D88E6}"/>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3" name="Footer Placeholder 2">
            <a:extLst>
              <a:ext uri="{FF2B5EF4-FFF2-40B4-BE49-F238E27FC236}">
                <a16:creationId xmlns:a16="http://schemas.microsoft.com/office/drawing/2014/main" id="{73BBF616-F5EC-9EA8-9C66-253D43E7DBB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941C98A-E050-8076-90DC-CD71A16EFC06}"/>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3874598998"/>
      </p:ext>
    </p:extLst>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59519-87DD-EC73-D02A-B5C4177D45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AF5187-7752-74F1-A33F-BDBD9C492A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581FC6-08E4-AF75-F738-FD1BFC72A18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BA4EEF-71E7-01F0-8A1A-B9641D30EEE3}"/>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6" name="Footer Placeholder 5">
            <a:extLst>
              <a:ext uri="{FF2B5EF4-FFF2-40B4-BE49-F238E27FC236}">
                <a16:creationId xmlns:a16="http://schemas.microsoft.com/office/drawing/2014/main" id="{BE448FB4-FB27-4419-A5CF-2B34A704F4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7975F08-7B21-909E-0257-34EF0FDBF058}"/>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1258196704"/>
      </p:ext>
    </p:extLst>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4E0304-942A-DC17-82A6-902C9280CF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EB95214-4E56-24EC-A80F-5E9FEDCBE2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C8F048E-1F65-BC05-7001-D766443139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9A03A6-95A1-1B65-C308-5EB685A62DEB}"/>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6" name="Footer Placeholder 5">
            <a:extLst>
              <a:ext uri="{FF2B5EF4-FFF2-40B4-BE49-F238E27FC236}">
                <a16:creationId xmlns:a16="http://schemas.microsoft.com/office/drawing/2014/main" id="{F8D605D1-E046-117E-D471-1BC5DBD750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225753-EF50-9DE0-696F-B6600AF13392}"/>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2349614763"/>
      </p:ext>
    </p:extLst>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E21270-8416-AFA7-BD67-0C64760177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03103D8-95DD-EA22-97D5-604B18AE037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8B15323-CC0D-30F7-E9AE-0D8EE376B9B8}"/>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5" name="Footer Placeholder 4">
            <a:extLst>
              <a:ext uri="{FF2B5EF4-FFF2-40B4-BE49-F238E27FC236}">
                <a16:creationId xmlns:a16="http://schemas.microsoft.com/office/drawing/2014/main" id="{961F94B5-1BCE-E3DA-EAC4-603C7FBC77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CCF1557-395C-925F-AF2A-ABEB44F45362}"/>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3353419740"/>
      </p:ext>
    </p:extLst>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5F0D376-511B-6732-4744-34FC34F27D3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B7864DE-07C7-6F24-5BE2-FB426DBD52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060C24-7EAE-A752-62C6-33E1C5D5EACB}"/>
              </a:ext>
            </a:extLst>
          </p:cNvPr>
          <p:cNvSpPr>
            <a:spLocks noGrp="1"/>
          </p:cNvSpPr>
          <p:nvPr>
            <p:ph type="dt" sz="half" idx="10"/>
          </p:nvPr>
        </p:nvSpPr>
        <p:spPr/>
        <p:txBody>
          <a:bodyPr/>
          <a:lstStyle/>
          <a:p>
            <a:fld id="{18E23043-02CB-4E8B-8B4E-D718486A0C5C}" type="datetimeFigureOut">
              <a:rPr lang="en-IN" smtClean="0"/>
              <a:t>11-01-2024</a:t>
            </a:fld>
            <a:endParaRPr lang="en-IN"/>
          </a:p>
        </p:txBody>
      </p:sp>
      <p:sp>
        <p:nvSpPr>
          <p:cNvPr id="5" name="Footer Placeholder 4">
            <a:extLst>
              <a:ext uri="{FF2B5EF4-FFF2-40B4-BE49-F238E27FC236}">
                <a16:creationId xmlns:a16="http://schemas.microsoft.com/office/drawing/2014/main" id="{1844D13A-90CC-0BCE-3641-0B694CEB01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8DD6BE2-D2B3-DFAF-EFDF-D49EA0E50284}"/>
              </a:ext>
            </a:extLst>
          </p:cNvPr>
          <p:cNvSpPr>
            <a:spLocks noGrp="1"/>
          </p:cNvSpPr>
          <p:nvPr>
            <p:ph type="sldNum" sz="quarter" idx="12"/>
          </p:nvPr>
        </p:nvSpPr>
        <p:spPr/>
        <p:txBody>
          <a:bodyPr/>
          <a:lstStyle/>
          <a:p>
            <a:fld id="{4D08E39F-92A5-48C4-8D8C-DBB87F6D004F}" type="slidenum">
              <a:rPr lang="en-IN" smtClean="0"/>
              <a:t>‹#›</a:t>
            </a:fld>
            <a:endParaRPr lang="en-IN"/>
          </a:p>
        </p:txBody>
      </p:sp>
    </p:spTree>
    <p:extLst>
      <p:ext uri="{BB962C8B-B14F-4D97-AF65-F5344CB8AC3E}">
        <p14:creationId xmlns:p14="http://schemas.microsoft.com/office/powerpoint/2010/main" val="4194186040"/>
      </p:ext>
    </p:extLst>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2396181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9350338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20623226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82737886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B648F84-38E6-409A-B08C-71ECC216A177}" type="datetimeFigureOut">
              <a:rPr lang="en-IN" smtClean="0"/>
              <a:t>11-01-2024</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428620320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B648F84-38E6-409A-B08C-71ECC216A177}" type="datetimeFigureOut">
              <a:rPr lang="en-IN" smtClean="0"/>
              <a:t>11-01-2024</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24582016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B648F84-38E6-409A-B08C-71ECC216A177}" type="datetimeFigureOut">
              <a:rPr lang="en-IN" smtClean="0"/>
              <a:t>11-01-2024</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0622078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370109419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42346485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13789803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733BEE5-B890-4160-9965-24BAFB323AF5}"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81059456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10772944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33BEE5-B890-4160-9965-24BAFB323AF5}"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6229281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AB648F84-38E6-409A-B08C-71ECC216A177}" type="datetimeFigureOut">
              <a:rPr lang="en-IN" smtClean="0"/>
              <a:t>11-01-2024</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204483886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251169779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B648F84-38E6-409A-B08C-71ECC216A177}" type="datetimeFigureOut">
              <a:rPr lang="en-IN" smtClean="0"/>
              <a:t>11-01-2024</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733BEE5-B890-4160-9965-24BAFB323AF5}" type="slidenum">
              <a:rPr lang="en-IN" smtClean="0"/>
              <a:t>‹#›</a:t>
            </a:fld>
            <a:endParaRPr lang="en-IN"/>
          </a:p>
        </p:txBody>
      </p:sp>
    </p:spTree>
    <p:extLst>
      <p:ext uri="{BB962C8B-B14F-4D97-AF65-F5344CB8AC3E}">
        <p14:creationId xmlns:p14="http://schemas.microsoft.com/office/powerpoint/2010/main" val="40009747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theme" Target="../theme/theme4.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1/11/2024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B42317-1F66-EAF5-0A46-7704B7C765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714BBB2-6190-4A23-1744-B806E2FAAD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14909F-7659-EAC4-2916-C7E66AED1E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B648F84-38E6-409A-B08C-71ECC216A177}" type="datetimeFigureOut">
              <a:rPr lang="en-IN" smtClean="0"/>
              <a:t>11-01-2024</a:t>
            </a:fld>
            <a:endParaRPr lang="en-IN"/>
          </a:p>
        </p:txBody>
      </p:sp>
      <p:sp>
        <p:nvSpPr>
          <p:cNvPr id="5" name="Footer Placeholder 4">
            <a:extLst>
              <a:ext uri="{FF2B5EF4-FFF2-40B4-BE49-F238E27FC236}">
                <a16:creationId xmlns:a16="http://schemas.microsoft.com/office/drawing/2014/main" id="{44C2A8F7-AB01-C0EC-4780-C972164202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6" name="Slide Number Placeholder 5">
            <a:extLst>
              <a:ext uri="{FF2B5EF4-FFF2-40B4-BE49-F238E27FC236}">
                <a16:creationId xmlns:a16="http://schemas.microsoft.com/office/drawing/2014/main" id="{FE235BD2-917F-7335-F309-2166A0B9C8A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33BEE5-B890-4160-9965-24BAFB323AF5}" type="slidenum">
              <a:rPr lang="en-IN" smtClean="0"/>
              <a:t>‹#›</a:t>
            </a:fld>
            <a:endParaRPr lang="en-IN"/>
          </a:p>
        </p:txBody>
      </p:sp>
    </p:spTree>
    <p:extLst>
      <p:ext uri="{BB962C8B-B14F-4D97-AF65-F5344CB8AC3E}">
        <p14:creationId xmlns:p14="http://schemas.microsoft.com/office/powerpoint/2010/main" val="617190237"/>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0F7879-411A-CF16-81AD-392ECD59CD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CC69D40-92C1-0B75-3DC5-036F1012FA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243B6B5-F5B9-0A5E-C3AE-C74996CDAE6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8E23043-02CB-4E8B-8B4E-D718486A0C5C}" type="datetimeFigureOut">
              <a:rPr lang="en-IN" smtClean="0"/>
              <a:t>11-01-2024</a:t>
            </a:fld>
            <a:endParaRPr lang="en-IN"/>
          </a:p>
        </p:txBody>
      </p:sp>
      <p:sp>
        <p:nvSpPr>
          <p:cNvPr id="5" name="Footer Placeholder 4">
            <a:extLst>
              <a:ext uri="{FF2B5EF4-FFF2-40B4-BE49-F238E27FC236}">
                <a16:creationId xmlns:a16="http://schemas.microsoft.com/office/drawing/2014/main" id="{524100F8-BE6B-CCC8-D3EE-5F9AD20DDE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a:p>
        </p:txBody>
      </p:sp>
      <p:sp>
        <p:nvSpPr>
          <p:cNvPr id="6" name="Slide Number Placeholder 5">
            <a:extLst>
              <a:ext uri="{FF2B5EF4-FFF2-40B4-BE49-F238E27FC236}">
                <a16:creationId xmlns:a16="http://schemas.microsoft.com/office/drawing/2014/main" id="{FFFF84B1-7C87-1853-850F-8CA3A92038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4D08E39F-92A5-48C4-8D8C-DBB87F6D004F}" type="slidenum">
              <a:rPr lang="en-IN" smtClean="0"/>
              <a:t>‹#›</a:t>
            </a:fld>
            <a:endParaRPr lang="en-IN"/>
          </a:p>
        </p:txBody>
      </p:sp>
    </p:spTree>
    <p:extLst>
      <p:ext uri="{BB962C8B-B14F-4D97-AF65-F5344CB8AC3E}">
        <p14:creationId xmlns:p14="http://schemas.microsoft.com/office/powerpoint/2010/main" val="804535049"/>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FD0B7A-F5DD-4F40-B4CB-3B2C354B893A}" type="datetimeFigureOut">
              <a:rPr lang="en-US" smtClean="0"/>
              <a:t>1/11/2024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3AE1883-0942-4AA3-9DB2-9C7C3A0314B1}" type="slidenum">
              <a:rPr lang="en-US" smtClean="0"/>
              <a:t>‹#›</a:t>
            </a:fld>
            <a:endParaRPr lang="en-US"/>
          </a:p>
        </p:txBody>
      </p:sp>
    </p:spTree>
    <p:extLst>
      <p:ext uri="{BB962C8B-B14F-4D97-AF65-F5344CB8AC3E}">
        <p14:creationId xmlns:p14="http://schemas.microsoft.com/office/powerpoint/2010/main" val="28305537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4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3">
            <a:extLst>
              <a:ext uri="{FF2B5EF4-FFF2-40B4-BE49-F238E27FC236}">
                <a16:creationId xmlns:a16="http://schemas.microsoft.com/office/drawing/2014/main" id="{32AC74B8-596A-6D6E-88EB-24A137017999}"/>
              </a:ext>
            </a:extLst>
          </p:cNvPr>
          <p:cNvSpPr>
            <a:spLocks/>
          </p:cNvSpPr>
          <p:nvPr/>
        </p:nvSpPr>
        <p:spPr bwMode="auto">
          <a:xfrm>
            <a:off x="0" y="-43853"/>
            <a:ext cx="5784979" cy="3695343"/>
          </a:xfrm>
          <a:custGeom>
            <a:avLst/>
            <a:gdLst>
              <a:gd name="T0" fmla="*/ 23708284 w 7436484"/>
              <a:gd name="T1" fmla="*/ 0 h 5134610"/>
              <a:gd name="T2" fmla="*/ 0 w 7436484"/>
              <a:gd name="T3" fmla="*/ 0 h 5134610"/>
              <a:gd name="T4" fmla="*/ 0 w 7436484"/>
              <a:gd name="T5" fmla="*/ 16402574 h 5134610"/>
              <a:gd name="T6" fmla="*/ 23708284 w 7436484"/>
              <a:gd name="T7" fmla="*/ 0 h 513461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7436484" h="5134610">
                <a:moveTo>
                  <a:pt x="7435941" y="0"/>
                </a:moveTo>
                <a:lnTo>
                  <a:pt x="0" y="0"/>
                </a:lnTo>
                <a:lnTo>
                  <a:pt x="0" y="5134513"/>
                </a:lnTo>
                <a:lnTo>
                  <a:pt x="7435941" y="0"/>
                </a:lnTo>
                <a:close/>
              </a:path>
            </a:pathLst>
          </a:custGeom>
          <a:solidFill>
            <a:srgbClr val="005893"/>
          </a:solidFill>
          <a:ln>
            <a:noFill/>
          </a:ln>
          <a:extLst>
            <a:ext uri="{91240B29-F687-4F45-9708-019B960494DF}">
              <a14:hiddenLine xmlns:a14="http://schemas.microsoft.com/office/drawing/2010/main" w="9525">
                <a:solidFill>
                  <a:srgbClr val="000000"/>
                </a:solidFill>
                <a:round/>
                <a:headEnd/>
                <a:tailEnd/>
              </a14:hiddenLine>
            </a:ext>
          </a:extLst>
        </p:spPr>
        <p:txBody>
          <a:bodyPr lIns="0" tIns="0" rIns="0" bIns="0"/>
          <a:lstStyle>
            <a:defPPr>
              <a:defRPr lang="en-US"/>
            </a:defPPr>
            <a:lvl1pPr marL="0" algn="l" defTabSz="1795059" rtl="0" eaLnBrk="1" latinLnBrk="0" hangingPunct="1">
              <a:defRPr sz="3500" kern="1200">
                <a:solidFill>
                  <a:schemeClr val="tx1"/>
                </a:solidFill>
                <a:latin typeface="+mn-lt"/>
                <a:ea typeface="+mn-ea"/>
                <a:cs typeface="+mn-cs"/>
              </a:defRPr>
            </a:lvl1pPr>
            <a:lvl2pPr marL="897529" algn="l" defTabSz="1795059" rtl="0" eaLnBrk="1" latinLnBrk="0" hangingPunct="1">
              <a:defRPr sz="3500" kern="1200">
                <a:solidFill>
                  <a:schemeClr val="tx1"/>
                </a:solidFill>
                <a:latin typeface="+mn-lt"/>
                <a:ea typeface="+mn-ea"/>
                <a:cs typeface="+mn-cs"/>
              </a:defRPr>
            </a:lvl2pPr>
            <a:lvl3pPr marL="1795059" algn="l" defTabSz="1795059" rtl="0" eaLnBrk="1" latinLnBrk="0" hangingPunct="1">
              <a:defRPr sz="3500" kern="1200">
                <a:solidFill>
                  <a:schemeClr val="tx1"/>
                </a:solidFill>
                <a:latin typeface="+mn-lt"/>
                <a:ea typeface="+mn-ea"/>
                <a:cs typeface="+mn-cs"/>
              </a:defRPr>
            </a:lvl3pPr>
            <a:lvl4pPr marL="2692588" algn="l" defTabSz="1795059" rtl="0" eaLnBrk="1" latinLnBrk="0" hangingPunct="1">
              <a:defRPr sz="3500" kern="1200">
                <a:solidFill>
                  <a:schemeClr val="tx1"/>
                </a:solidFill>
                <a:latin typeface="+mn-lt"/>
                <a:ea typeface="+mn-ea"/>
                <a:cs typeface="+mn-cs"/>
              </a:defRPr>
            </a:lvl4pPr>
            <a:lvl5pPr marL="3590117" algn="l" defTabSz="1795059" rtl="0" eaLnBrk="1" latinLnBrk="0" hangingPunct="1">
              <a:defRPr sz="3500" kern="1200">
                <a:solidFill>
                  <a:schemeClr val="tx1"/>
                </a:solidFill>
                <a:latin typeface="+mn-lt"/>
                <a:ea typeface="+mn-ea"/>
                <a:cs typeface="+mn-cs"/>
              </a:defRPr>
            </a:lvl5pPr>
            <a:lvl6pPr marL="4487647" algn="l" defTabSz="1795059" rtl="0" eaLnBrk="1" latinLnBrk="0" hangingPunct="1">
              <a:defRPr sz="3500" kern="1200">
                <a:solidFill>
                  <a:schemeClr val="tx1"/>
                </a:solidFill>
                <a:latin typeface="+mn-lt"/>
                <a:ea typeface="+mn-ea"/>
                <a:cs typeface="+mn-cs"/>
              </a:defRPr>
            </a:lvl6pPr>
            <a:lvl7pPr marL="5385176" algn="l" defTabSz="1795059" rtl="0" eaLnBrk="1" latinLnBrk="0" hangingPunct="1">
              <a:defRPr sz="3500" kern="1200">
                <a:solidFill>
                  <a:schemeClr val="tx1"/>
                </a:solidFill>
                <a:latin typeface="+mn-lt"/>
                <a:ea typeface="+mn-ea"/>
                <a:cs typeface="+mn-cs"/>
              </a:defRPr>
            </a:lvl7pPr>
            <a:lvl8pPr marL="6282705" algn="l" defTabSz="1795059" rtl="0" eaLnBrk="1" latinLnBrk="0" hangingPunct="1">
              <a:defRPr sz="3500" kern="1200">
                <a:solidFill>
                  <a:schemeClr val="tx1"/>
                </a:solidFill>
                <a:latin typeface="+mn-lt"/>
                <a:ea typeface="+mn-ea"/>
                <a:cs typeface="+mn-cs"/>
              </a:defRPr>
            </a:lvl8pPr>
            <a:lvl9pPr marL="7180235" algn="l" defTabSz="1795059" rtl="0" eaLnBrk="1" latinLnBrk="0" hangingPunct="1">
              <a:defRPr sz="3500" kern="1200">
                <a:solidFill>
                  <a:schemeClr val="tx1"/>
                </a:solidFill>
                <a:latin typeface="+mn-lt"/>
                <a:ea typeface="+mn-ea"/>
                <a:cs typeface="+mn-cs"/>
              </a:defRPr>
            </a:lvl9pPr>
          </a:lstStyle>
          <a:p>
            <a:endParaRPr lang="en-US" dirty="0"/>
          </a:p>
        </p:txBody>
      </p:sp>
      <p:sp>
        <p:nvSpPr>
          <p:cNvPr id="3" name="object 4">
            <a:extLst>
              <a:ext uri="{FF2B5EF4-FFF2-40B4-BE49-F238E27FC236}">
                <a16:creationId xmlns:a16="http://schemas.microsoft.com/office/drawing/2014/main" id="{35BA9B54-E9A7-07F8-4184-5569D7C00CD7}"/>
              </a:ext>
            </a:extLst>
          </p:cNvPr>
          <p:cNvSpPr>
            <a:spLocks noChangeArrowheads="1"/>
          </p:cNvSpPr>
          <p:nvPr/>
        </p:nvSpPr>
        <p:spPr bwMode="auto">
          <a:xfrm>
            <a:off x="130153" y="324604"/>
            <a:ext cx="1138810" cy="1006189"/>
          </a:xfrm>
          <a:prstGeom prst="rect">
            <a:avLst/>
          </a:prstGeom>
          <a:blipFill dpi="0" rotWithShape="1">
            <a:blip r:embed="rId2"/>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defPPr>
              <a:defRPr lang="en-US"/>
            </a:defPPr>
            <a:lvl1pPr marL="0" algn="l" defTabSz="1795059" rtl="0" eaLnBrk="1" latinLnBrk="0" hangingPunct="1">
              <a:defRPr sz="3500" kern="1200">
                <a:solidFill>
                  <a:schemeClr val="tx1"/>
                </a:solidFill>
                <a:latin typeface="+mn-lt"/>
                <a:ea typeface="+mn-ea"/>
                <a:cs typeface="+mn-cs"/>
              </a:defRPr>
            </a:lvl1pPr>
            <a:lvl2pPr marL="897529" algn="l" defTabSz="1795059" rtl="0" eaLnBrk="1" latinLnBrk="0" hangingPunct="1">
              <a:defRPr sz="3500" kern="1200">
                <a:solidFill>
                  <a:schemeClr val="tx1"/>
                </a:solidFill>
                <a:latin typeface="+mn-lt"/>
                <a:ea typeface="+mn-ea"/>
                <a:cs typeface="+mn-cs"/>
              </a:defRPr>
            </a:lvl2pPr>
            <a:lvl3pPr marL="1795059" algn="l" defTabSz="1795059" rtl="0" eaLnBrk="1" latinLnBrk="0" hangingPunct="1">
              <a:defRPr sz="3500" kern="1200">
                <a:solidFill>
                  <a:schemeClr val="tx1"/>
                </a:solidFill>
                <a:latin typeface="+mn-lt"/>
                <a:ea typeface="+mn-ea"/>
                <a:cs typeface="+mn-cs"/>
              </a:defRPr>
            </a:lvl3pPr>
            <a:lvl4pPr marL="2692588" algn="l" defTabSz="1795059" rtl="0" eaLnBrk="1" latinLnBrk="0" hangingPunct="1">
              <a:defRPr sz="3500" kern="1200">
                <a:solidFill>
                  <a:schemeClr val="tx1"/>
                </a:solidFill>
                <a:latin typeface="+mn-lt"/>
                <a:ea typeface="+mn-ea"/>
                <a:cs typeface="+mn-cs"/>
              </a:defRPr>
            </a:lvl4pPr>
            <a:lvl5pPr marL="3590117" algn="l" defTabSz="1795059" rtl="0" eaLnBrk="1" latinLnBrk="0" hangingPunct="1">
              <a:defRPr sz="3500" kern="1200">
                <a:solidFill>
                  <a:schemeClr val="tx1"/>
                </a:solidFill>
                <a:latin typeface="+mn-lt"/>
                <a:ea typeface="+mn-ea"/>
                <a:cs typeface="+mn-cs"/>
              </a:defRPr>
            </a:lvl5pPr>
            <a:lvl6pPr marL="4487647" algn="l" defTabSz="1795059" rtl="0" eaLnBrk="1" latinLnBrk="0" hangingPunct="1">
              <a:defRPr sz="3500" kern="1200">
                <a:solidFill>
                  <a:schemeClr val="tx1"/>
                </a:solidFill>
                <a:latin typeface="+mn-lt"/>
                <a:ea typeface="+mn-ea"/>
                <a:cs typeface="+mn-cs"/>
              </a:defRPr>
            </a:lvl6pPr>
            <a:lvl7pPr marL="5385176" algn="l" defTabSz="1795059" rtl="0" eaLnBrk="1" latinLnBrk="0" hangingPunct="1">
              <a:defRPr sz="3500" kern="1200">
                <a:solidFill>
                  <a:schemeClr val="tx1"/>
                </a:solidFill>
                <a:latin typeface="+mn-lt"/>
                <a:ea typeface="+mn-ea"/>
                <a:cs typeface="+mn-cs"/>
              </a:defRPr>
            </a:lvl7pPr>
            <a:lvl8pPr marL="6282705" algn="l" defTabSz="1795059" rtl="0" eaLnBrk="1" latinLnBrk="0" hangingPunct="1">
              <a:defRPr sz="3500" kern="1200">
                <a:solidFill>
                  <a:schemeClr val="tx1"/>
                </a:solidFill>
                <a:latin typeface="+mn-lt"/>
                <a:ea typeface="+mn-ea"/>
                <a:cs typeface="+mn-cs"/>
              </a:defRPr>
            </a:lvl8pPr>
            <a:lvl9pPr marL="7180235" algn="l" defTabSz="1795059" rtl="0" eaLnBrk="1" latinLnBrk="0" hangingPunct="1">
              <a:defRPr sz="3500" kern="1200">
                <a:solidFill>
                  <a:schemeClr val="tx1"/>
                </a:solidFill>
                <a:latin typeface="+mn-lt"/>
                <a:ea typeface="+mn-ea"/>
                <a:cs typeface="+mn-cs"/>
              </a:defRPr>
            </a:lvl9pPr>
          </a:lstStyle>
          <a:p>
            <a:pPr eaLnBrk="1" hangingPunct="1">
              <a:spcBef>
                <a:spcPct val="0"/>
              </a:spcBef>
            </a:pPr>
            <a:endParaRPr lang="en-US" altLang="en-US" dirty="0"/>
          </a:p>
        </p:txBody>
      </p:sp>
      <p:sp>
        <p:nvSpPr>
          <p:cNvPr id="4" name="object 6">
            <a:extLst>
              <a:ext uri="{FF2B5EF4-FFF2-40B4-BE49-F238E27FC236}">
                <a16:creationId xmlns:a16="http://schemas.microsoft.com/office/drawing/2014/main" id="{1F767300-0BDC-3BE8-5D14-E5608AF76E5C}"/>
              </a:ext>
            </a:extLst>
          </p:cNvPr>
          <p:cNvSpPr txBox="1"/>
          <p:nvPr/>
        </p:nvSpPr>
        <p:spPr>
          <a:xfrm>
            <a:off x="1524000" y="324603"/>
            <a:ext cx="3312367" cy="913856"/>
          </a:xfrm>
          <a:prstGeom prst="rect">
            <a:avLst/>
          </a:prstGeom>
        </p:spPr>
        <p:txBody>
          <a:bodyPr wrap="square" lIns="0" tIns="26178" rIns="0" bIns="0">
            <a:spAutoFit/>
          </a:bodyPr>
          <a:lstStyle>
            <a:defPPr>
              <a:defRPr lang="en-US"/>
            </a:defPPr>
            <a:lvl1pPr marL="0" algn="l" defTabSz="1795059" rtl="0" eaLnBrk="1" latinLnBrk="0" hangingPunct="1">
              <a:defRPr sz="3500" kern="1200">
                <a:solidFill>
                  <a:schemeClr val="tx1"/>
                </a:solidFill>
                <a:latin typeface="+mn-lt"/>
                <a:ea typeface="+mn-ea"/>
                <a:cs typeface="+mn-cs"/>
              </a:defRPr>
            </a:lvl1pPr>
            <a:lvl2pPr marL="897529" algn="l" defTabSz="1795059" rtl="0" eaLnBrk="1" latinLnBrk="0" hangingPunct="1">
              <a:defRPr sz="3500" kern="1200">
                <a:solidFill>
                  <a:schemeClr val="tx1"/>
                </a:solidFill>
                <a:latin typeface="+mn-lt"/>
                <a:ea typeface="+mn-ea"/>
                <a:cs typeface="+mn-cs"/>
              </a:defRPr>
            </a:lvl2pPr>
            <a:lvl3pPr marL="1795059" algn="l" defTabSz="1795059" rtl="0" eaLnBrk="1" latinLnBrk="0" hangingPunct="1">
              <a:defRPr sz="3500" kern="1200">
                <a:solidFill>
                  <a:schemeClr val="tx1"/>
                </a:solidFill>
                <a:latin typeface="+mn-lt"/>
                <a:ea typeface="+mn-ea"/>
                <a:cs typeface="+mn-cs"/>
              </a:defRPr>
            </a:lvl3pPr>
            <a:lvl4pPr marL="2692588" algn="l" defTabSz="1795059" rtl="0" eaLnBrk="1" latinLnBrk="0" hangingPunct="1">
              <a:defRPr sz="3500" kern="1200">
                <a:solidFill>
                  <a:schemeClr val="tx1"/>
                </a:solidFill>
                <a:latin typeface="+mn-lt"/>
                <a:ea typeface="+mn-ea"/>
                <a:cs typeface="+mn-cs"/>
              </a:defRPr>
            </a:lvl4pPr>
            <a:lvl5pPr marL="3590117" algn="l" defTabSz="1795059" rtl="0" eaLnBrk="1" latinLnBrk="0" hangingPunct="1">
              <a:defRPr sz="3500" kern="1200">
                <a:solidFill>
                  <a:schemeClr val="tx1"/>
                </a:solidFill>
                <a:latin typeface="+mn-lt"/>
                <a:ea typeface="+mn-ea"/>
                <a:cs typeface="+mn-cs"/>
              </a:defRPr>
            </a:lvl5pPr>
            <a:lvl6pPr marL="4487647" algn="l" defTabSz="1795059" rtl="0" eaLnBrk="1" latinLnBrk="0" hangingPunct="1">
              <a:defRPr sz="3500" kern="1200">
                <a:solidFill>
                  <a:schemeClr val="tx1"/>
                </a:solidFill>
                <a:latin typeface="+mn-lt"/>
                <a:ea typeface="+mn-ea"/>
                <a:cs typeface="+mn-cs"/>
              </a:defRPr>
            </a:lvl6pPr>
            <a:lvl7pPr marL="5385176" algn="l" defTabSz="1795059" rtl="0" eaLnBrk="1" latinLnBrk="0" hangingPunct="1">
              <a:defRPr sz="3500" kern="1200">
                <a:solidFill>
                  <a:schemeClr val="tx1"/>
                </a:solidFill>
                <a:latin typeface="+mn-lt"/>
                <a:ea typeface="+mn-ea"/>
                <a:cs typeface="+mn-cs"/>
              </a:defRPr>
            </a:lvl7pPr>
            <a:lvl8pPr marL="6282705" algn="l" defTabSz="1795059" rtl="0" eaLnBrk="1" latinLnBrk="0" hangingPunct="1">
              <a:defRPr sz="3500" kern="1200">
                <a:solidFill>
                  <a:schemeClr val="tx1"/>
                </a:solidFill>
                <a:latin typeface="+mn-lt"/>
                <a:ea typeface="+mn-ea"/>
                <a:cs typeface="+mn-cs"/>
              </a:defRPr>
            </a:lvl8pPr>
            <a:lvl9pPr marL="7180235" algn="l" defTabSz="1795059" rtl="0" eaLnBrk="1" latinLnBrk="0" hangingPunct="1">
              <a:defRPr sz="3500" kern="1200">
                <a:solidFill>
                  <a:schemeClr val="tx1"/>
                </a:solidFill>
                <a:latin typeface="+mn-lt"/>
                <a:ea typeface="+mn-ea"/>
                <a:cs typeface="+mn-cs"/>
              </a:defRPr>
            </a:lvl9pPr>
          </a:lstStyle>
          <a:p>
            <a:pPr marL="24931">
              <a:spcBef>
                <a:spcPts val="206"/>
              </a:spcBef>
              <a:defRPr/>
            </a:pPr>
            <a:r>
              <a:rPr lang="en-IN" sz="2800" b="1" spc="-69" dirty="0">
                <a:solidFill>
                  <a:srgbClr val="FFFFFF"/>
                </a:solidFill>
                <a:latin typeface="Helvetica-Bold"/>
                <a:ea typeface="ＭＳ Ｐゴシック" charset="0"/>
                <a:cs typeface="Helvetica-Bold"/>
              </a:rPr>
              <a:t>RV College of </a:t>
            </a:r>
          </a:p>
          <a:p>
            <a:pPr marL="24931">
              <a:spcBef>
                <a:spcPts val="206"/>
              </a:spcBef>
              <a:defRPr/>
            </a:pPr>
            <a:r>
              <a:rPr lang="en-IN" sz="2800" b="1" spc="-69" dirty="0">
                <a:solidFill>
                  <a:srgbClr val="FFFFFF"/>
                </a:solidFill>
                <a:latin typeface="Helvetica-Bold"/>
                <a:ea typeface="ＭＳ Ｐゴシック" charset="0"/>
                <a:cs typeface="Helvetica-Bold"/>
              </a:rPr>
              <a:t>Engineering</a:t>
            </a:r>
            <a:endParaRPr sz="2800" dirty="0">
              <a:latin typeface="Helvetica-Bold"/>
              <a:ea typeface="ＭＳ Ｐゴシック" charset="0"/>
              <a:cs typeface="Helvetica-Bold"/>
            </a:endParaRPr>
          </a:p>
        </p:txBody>
      </p:sp>
      <p:sp>
        <p:nvSpPr>
          <p:cNvPr id="5" name="Title 10">
            <a:extLst>
              <a:ext uri="{FF2B5EF4-FFF2-40B4-BE49-F238E27FC236}">
                <a16:creationId xmlns:a16="http://schemas.microsoft.com/office/drawing/2014/main" id="{077E4A8C-7042-09AD-E80B-9799297A3F19}"/>
              </a:ext>
            </a:extLst>
          </p:cNvPr>
          <p:cNvSpPr txBox="1">
            <a:spLocks/>
          </p:cNvSpPr>
          <p:nvPr/>
        </p:nvSpPr>
        <p:spPr>
          <a:xfrm>
            <a:off x="7053528" y="182744"/>
            <a:ext cx="4747000" cy="446276"/>
          </a:xfrm>
          <a:prstGeom prst="rect">
            <a:avLst/>
          </a:prstGeom>
        </p:spPr>
        <p:txBody>
          <a:bodyPr vert="horz" lIns="179506" tIns="89753" rIns="179506" bIns="89753" rtlCol="0" anchor="ctr">
            <a:noAutofit/>
          </a:bodyPr>
          <a:lstStyle>
            <a:defPPr>
              <a:defRPr lang="en-US"/>
            </a:defPPr>
            <a:lvl1pPr marL="0" algn="l" defTabSz="1795059" rtl="0" eaLnBrk="1" latinLnBrk="0" hangingPunct="1">
              <a:defRPr sz="3500" kern="1200">
                <a:solidFill>
                  <a:schemeClr val="tx1"/>
                </a:solidFill>
                <a:latin typeface="+mn-lt"/>
                <a:ea typeface="+mn-ea"/>
                <a:cs typeface="+mn-cs"/>
              </a:defRPr>
            </a:lvl1pPr>
            <a:lvl2pPr marL="897529" algn="l" defTabSz="1795059" rtl="0" eaLnBrk="1" latinLnBrk="0" hangingPunct="1">
              <a:defRPr sz="3500" kern="1200">
                <a:solidFill>
                  <a:schemeClr val="tx1"/>
                </a:solidFill>
                <a:latin typeface="+mn-lt"/>
                <a:ea typeface="+mn-ea"/>
                <a:cs typeface="+mn-cs"/>
              </a:defRPr>
            </a:lvl2pPr>
            <a:lvl3pPr marL="1795059" algn="l" defTabSz="1795059" rtl="0" eaLnBrk="1" latinLnBrk="0" hangingPunct="1">
              <a:defRPr sz="3500" kern="1200">
                <a:solidFill>
                  <a:schemeClr val="tx1"/>
                </a:solidFill>
                <a:latin typeface="+mn-lt"/>
                <a:ea typeface="+mn-ea"/>
                <a:cs typeface="+mn-cs"/>
              </a:defRPr>
            </a:lvl3pPr>
            <a:lvl4pPr marL="2692588" algn="l" defTabSz="1795059" rtl="0" eaLnBrk="1" latinLnBrk="0" hangingPunct="1">
              <a:defRPr sz="3500" kern="1200">
                <a:solidFill>
                  <a:schemeClr val="tx1"/>
                </a:solidFill>
                <a:latin typeface="+mn-lt"/>
                <a:ea typeface="+mn-ea"/>
                <a:cs typeface="+mn-cs"/>
              </a:defRPr>
            </a:lvl4pPr>
            <a:lvl5pPr marL="3590117" algn="l" defTabSz="1795059" rtl="0" eaLnBrk="1" latinLnBrk="0" hangingPunct="1">
              <a:defRPr sz="3500" kern="1200">
                <a:solidFill>
                  <a:schemeClr val="tx1"/>
                </a:solidFill>
                <a:latin typeface="+mn-lt"/>
                <a:ea typeface="+mn-ea"/>
                <a:cs typeface="+mn-cs"/>
              </a:defRPr>
            </a:lvl5pPr>
            <a:lvl6pPr marL="4487647" algn="l" defTabSz="1795059" rtl="0" eaLnBrk="1" latinLnBrk="0" hangingPunct="1">
              <a:defRPr sz="3500" kern="1200">
                <a:solidFill>
                  <a:schemeClr val="tx1"/>
                </a:solidFill>
                <a:latin typeface="+mn-lt"/>
                <a:ea typeface="+mn-ea"/>
                <a:cs typeface="+mn-cs"/>
              </a:defRPr>
            </a:lvl6pPr>
            <a:lvl7pPr marL="5385176" algn="l" defTabSz="1795059" rtl="0" eaLnBrk="1" latinLnBrk="0" hangingPunct="1">
              <a:defRPr sz="3500" kern="1200">
                <a:solidFill>
                  <a:schemeClr val="tx1"/>
                </a:solidFill>
                <a:latin typeface="+mn-lt"/>
                <a:ea typeface="+mn-ea"/>
                <a:cs typeface="+mn-cs"/>
              </a:defRPr>
            </a:lvl7pPr>
            <a:lvl8pPr marL="6282705" algn="l" defTabSz="1795059" rtl="0" eaLnBrk="1" latinLnBrk="0" hangingPunct="1">
              <a:defRPr sz="3500" kern="1200">
                <a:solidFill>
                  <a:schemeClr val="tx1"/>
                </a:solidFill>
                <a:latin typeface="+mn-lt"/>
                <a:ea typeface="+mn-ea"/>
                <a:cs typeface="+mn-cs"/>
              </a:defRPr>
            </a:lvl8pPr>
            <a:lvl9pPr marL="7180235" algn="l" defTabSz="1795059" rtl="0" eaLnBrk="1" latinLnBrk="0" hangingPunct="1">
              <a:defRPr sz="3500" kern="1200">
                <a:solidFill>
                  <a:schemeClr val="tx1"/>
                </a:solidFill>
                <a:latin typeface="+mn-lt"/>
                <a:ea typeface="+mn-ea"/>
                <a:cs typeface="+mn-cs"/>
              </a:defRPr>
            </a:lvl9pPr>
          </a:lstStyle>
          <a:p>
            <a:pPr algn="r"/>
            <a:r>
              <a:rPr lang="en-US" altLang="en-US" sz="2400" i="1" dirty="0">
                <a:latin typeface="Playfair Display" charset="0"/>
                <a:ea typeface="ＭＳ Ｐゴシック" panose="020B0600070205080204" pitchFamily="34" charset="-128"/>
              </a:rPr>
              <a:t>Go, change the world</a:t>
            </a:r>
          </a:p>
        </p:txBody>
      </p:sp>
      <p:sp>
        <p:nvSpPr>
          <p:cNvPr id="6" name="Title 1">
            <a:extLst>
              <a:ext uri="{FF2B5EF4-FFF2-40B4-BE49-F238E27FC236}">
                <a16:creationId xmlns:a16="http://schemas.microsoft.com/office/drawing/2014/main" id="{0519131D-EA62-B86C-8760-DFFD66597441}"/>
              </a:ext>
            </a:extLst>
          </p:cNvPr>
          <p:cNvSpPr txBox="1">
            <a:spLocks/>
          </p:cNvSpPr>
          <p:nvPr/>
        </p:nvSpPr>
        <p:spPr>
          <a:xfrm>
            <a:off x="2351584" y="1268760"/>
            <a:ext cx="9144000" cy="2382730"/>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n-US" b="1">
                <a:latin typeface="+mn-lt"/>
                <a:cs typeface="Times New Roman" panose="02020603050405020304" pitchFamily="18" charset="0"/>
              </a:rPr>
            </a:br>
            <a:br>
              <a:rPr lang="en-IN" sz="5400" b="1">
                <a:latin typeface="+mn-lt"/>
              </a:rPr>
            </a:br>
            <a:endParaRPr lang="en-IN" sz="2700" dirty="0">
              <a:latin typeface="+mn-lt"/>
              <a:cs typeface="Times New Roman" panose="02020603050405020304" pitchFamily="18" charset="0"/>
            </a:endParaRPr>
          </a:p>
        </p:txBody>
      </p:sp>
      <p:sp>
        <p:nvSpPr>
          <p:cNvPr id="8" name="TextBox 7">
            <a:extLst>
              <a:ext uri="{FF2B5EF4-FFF2-40B4-BE49-F238E27FC236}">
                <a16:creationId xmlns:a16="http://schemas.microsoft.com/office/drawing/2014/main" id="{486084B8-36F3-7217-B952-749C468BE5A3}"/>
              </a:ext>
            </a:extLst>
          </p:cNvPr>
          <p:cNvSpPr txBox="1"/>
          <p:nvPr/>
        </p:nvSpPr>
        <p:spPr>
          <a:xfrm>
            <a:off x="3252001" y="1096031"/>
            <a:ext cx="8207267" cy="1446550"/>
          </a:xfrm>
          <a:prstGeom prst="rect">
            <a:avLst/>
          </a:prstGeom>
          <a:noFill/>
        </p:spPr>
        <p:txBody>
          <a:bodyPr wrap="square">
            <a:spAutoFit/>
          </a:bodyPr>
          <a:lstStyle/>
          <a:p>
            <a:r>
              <a:rPr lang="en-US" sz="20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ENVIRONMENT AND SUSTAINABILITY</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br>
              <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US"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br>
              <a:rPr lang="en-IN" sz="2200" b="1" dirty="0">
                <a:latin typeface="Times New Roman" panose="02020603050405020304" pitchFamily="18" charset="0"/>
                <a:cs typeface="Times New Roman" panose="02020603050405020304" pitchFamily="18" charset="0"/>
              </a:rPr>
            </a:br>
            <a:endParaRPr lang="en-IN" dirty="0"/>
          </a:p>
        </p:txBody>
      </p:sp>
      <p:sp>
        <p:nvSpPr>
          <p:cNvPr id="9" name="TextBox 8">
            <a:extLst>
              <a:ext uri="{FF2B5EF4-FFF2-40B4-BE49-F238E27FC236}">
                <a16:creationId xmlns:a16="http://schemas.microsoft.com/office/drawing/2014/main" id="{711FD1CE-7797-74BE-A8F9-F0CFFE5886B4}"/>
              </a:ext>
            </a:extLst>
          </p:cNvPr>
          <p:cNvSpPr txBox="1"/>
          <p:nvPr/>
        </p:nvSpPr>
        <p:spPr>
          <a:xfrm>
            <a:off x="8161547" y="4725144"/>
            <a:ext cx="4028290" cy="147732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1" i="1" dirty="0">
              <a:solidFill>
                <a:prstClr val="black"/>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Times New Roman" panose="02020603050405020304" pitchFamily="18" charset="0"/>
                <a:ea typeface="+mn-ea"/>
                <a:cs typeface="Times New Roman" panose="02020603050405020304" pitchFamily="18" charset="0"/>
              </a:rPr>
              <a:t>Dr. VIKAS MENDI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Assistant Professor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Department of Civil Engineering, RVCE</a:t>
            </a:r>
            <a:endParaRPr kumimoji="0" lang="en-IN" sz="1800" b="1"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2" name="TextBox 11">
            <a:extLst>
              <a:ext uri="{FF2B5EF4-FFF2-40B4-BE49-F238E27FC236}">
                <a16:creationId xmlns:a16="http://schemas.microsoft.com/office/drawing/2014/main" id="{67FCA30C-7287-6286-D2B9-0C648F2E9DFD}"/>
              </a:ext>
            </a:extLst>
          </p:cNvPr>
          <p:cNvSpPr txBox="1"/>
          <p:nvPr/>
        </p:nvSpPr>
        <p:spPr>
          <a:xfrm>
            <a:off x="2063552" y="2774784"/>
            <a:ext cx="8352928" cy="954107"/>
          </a:xfrm>
          <a:prstGeom prst="rect">
            <a:avLst/>
          </a:prstGeom>
          <a:noFill/>
        </p:spPr>
        <p:txBody>
          <a:bodyPr wrap="square">
            <a:spAutoFit/>
          </a:bodyPr>
          <a:lstStyle/>
          <a:p>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Course code  : CVT232 AT</a:t>
            </a:r>
            <a:br>
              <a:rPr lang="en-IN" sz="2800" b="1" dirty="0">
                <a:effectLst>
                  <a:outerShdw blurRad="38100" dist="38100" dir="2700000" algn="tl">
                    <a:srgbClr val="000000">
                      <a:alpha val="43137"/>
                    </a:srgbClr>
                  </a:outerShdw>
                </a:effectLst>
                <a:latin typeface="Bookman Old Style" pitchFamily="18" charset="0"/>
              </a:rPr>
            </a:br>
            <a:r>
              <a:rPr lang="en-IN"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Unit 3 :  SUSTAINABILITY AND MANAGEMENT</a:t>
            </a:r>
            <a:endParaRPr lang="en-IN" sz="2800" dirty="0"/>
          </a:p>
        </p:txBody>
      </p:sp>
    </p:spTree>
    <p:extLst>
      <p:ext uri="{BB962C8B-B14F-4D97-AF65-F5344CB8AC3E}">
        <p14:creationId xmlns:p14="http://schemas.microsoft.com/office/powerpoint/2010/main" val="3521954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C9036-B7EC-07F7-56ED-FF610A3CA227}"/>
              </a:ext>
            </a:extLst>
          </p:cNvPr>
          <p:cNvSpPr>
            <a:spLocks noGrp="1"/>
          </p:cNvSpPr>
          <p:nvPr>
            <p:ph type="ctrTitle"/>
          </p:nvPr>
        </p:nvSpPr>
        <p:spPr>
          <a:xfrm>
            <a:off x="2063552" y="116632"/>
            <a:ext cx="7763435" cy="1002272"/>
          </a:xfrm>
        </p:spPr>
        <p:txBody>
          <a:bodyPr>
            <a:noAutofit/>
          </a:bodyPr>
          <a:lstStyle/>
          <a:p>
            <a:r>
              <a:rPr lang="en-IN" sz="3600" dirty="0">
                <a:solidFill>
                  <a:srgbClr val="C00000"/>
                </a:solidFill>
                <a:latin typeface="Times New Roman" panose="02020603050405020304" pitchFamily="18" charset="0"/>
                <a:cs typeface="Times New Roman" panose="02020603050405020304" pitchFamily="18" charset="0"/>
              </a:rPr>
              <a:t>Introduction to environmental economics</a:t>
            </a:r>
          </a:p>
        </p:txBody>
      </p:sp>
      <p:sp>
        <p:nvSpPr>
          <p:cNvPr id="3" name="Subtitle 2">
            <a:extLst>
              <a:ext uri="{FF2B5EF4-FFF2-40B4-BE49-F238E27FC236}">
                <a16:creationId xmlns:a16="http://schemas.microsoft.com/office/drawing/2014/main" id="{B466C18E-AA10-9E9A-DE65-C50811157333}"/>
              </a:ext>
            </a:extLst>
          </p:cNvPr>
          <p:cNvSpPr>
            <a:spLocks noGrp="1"/>
          </p:cNvSpPr>
          <p:nvPr>
            <p:ph type="subTitle" idx="1"/>
          </p:nvPr>
        </p:nvSpPr>
        <p:spPr>
          <a:xfrm>
            <a:off x="479376" y="1340768"/>
            <a:ext cx="11491991" cy="5082988"/>
          </a:xfrm>
        </p:spPr>
        <p:txBody>
          <a:bodyPr>
            <a:noAutofit/>
          </a:bodyPr>
          <a:lstStyle/>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Environmental economics is a sub-discipline of economics that focuses on the study of how economic activities and policies impact the environment and natural resources. </a:t>
            </a:r>
          </a:p>
          <a:p>
            <a:pPr marL="342900" indent="-342900"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It seeks to understand the complex interactions between the economy and the environment, and to develop strategies for sustainable development.</a:t>
            </a:r>
          </a:p>
          <a:p>
            <a:pPr marL="342900" indent="-342900"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marL="342900" indent="-342900" algn="l">
              <a:buFont typeface="Arial"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Environmental economics is the study of the cost-effective allocation, use, and protection of the world's natural resources.</a:t>
            </a:r>
          </a:p>
          <a:p>
            <a:pPr marL="342900" indent="-342900" algn="l">
              <a:buFont typeface="Arial" pitchFamily="34" charset="0"/>
              <a:buChar char="•"/>
            </a:pPr>
            <a:endParaRPr lang="en-US" sz="2400" dirty="0">
              <a:solidFill>
                <a:srgbClr val="111111"/>
              </a:solidFill>
              <a:latin typeface="Times New Roman" panose="02020603050405020304" pitchFamily="18" charset="0"/>
              <a:cs typeface="Times New Roman" panose="02020603050405020304" pitchFamily="18" charset="0"/>
            </a:endParaRPr>
          </a:p>
          <a:p>
            <a:pPr marL="342900" indent="-342900" algn="l">
              <a:buFont typeface="Arial"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Environmental economics focuses on how they use and manage finite resources in a manner that serves the population while meeting concerns about environmental impact.</a:t>
            </a:r>
          </a:p>
        </p:txBody>
      </p:sp>
    </p:spTree>
    <p:extLst>
      <p:ext uri="{BB962C8B-B14F-4D97-AF65-F5344CB8AC3E}">
        <p14:creationId xmlns:p14="http://schemas.microsoft.com/office/powerpoint/2010/main" val="2073187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39126FE-8F74-0B44-2D50-7FE32954768C}"/>
              </a:ext>
            </a:extLst>
          </p:cNvPr>
          <p:cNvSpPr>
            <a:spLocks noGrp="1"/>
          </p:cNvSpPr>
          <p:nvPr>
            <p:ph type="body" idx="1"/>
          </p:nvPr>
        </p:nvSpPr>
        <p:spPr>
          <a:xfrm>
            <a:off x="335360" y="620688"/>
            <a:ext cx="11725198" cy="6069106"/>
          </a:xfrm>
        </p:spPr>
        <p:txBody>
          <a:bodyPr>
            <a:noAutofit/>
          </a:bodyPr>
          <a:lstStyle/>
          <a:p>
            <a:pPr algn="l">
              <a:buFont typeface="Arial"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  Environmental economics studies the impact of environmental policies and devises solutions to problems resulting from them.</a:t>
            </a:r>
          </a:p>
          <a:p>
            <a:pPr algn="l">
              <a:buFont typeface="Arial"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  Environmental economics can either be prescriptive-based or incentive-based.</a:t>
            </a:r>
          </a:p>
          <a:p>
            <a:pPr algn="l">
              <a:buFont typeface="Arial"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  A major subject of environmental economics is externalities, the additional costs of doing business that are not paid by the business or its consumers.</a:t>
            </a:r>
          </a:p>
          <a:p>
            <a:pPr algn="l">
              <a:buFont typeface="Arial" pitchFamily="34" charset="0"/>
              <a:buChar char="•"/>
            </a:pPr>
            <a:r>
              <a:rPr lang="en-US" sz="2400" b="0" i="0" dirty="0">
                <a:solidFill>
                  <a:srgbClr val="111111"/>
                </a:solidFill>
                <a:effectLst/>
                <a:latin typeface="Times New Roman" panose="02020603050405020304" pitchFamily="18" charset="0"/>
                <a:cs typeface="Times New Roman" panose="02020603050405020304" pitchFamily="18" charset="0"/>
              </a:rPr>
              <a:t>  Another major subject of environmental economics is placing a value on public goods, such as clean air, and calculating the costs of losing those goods.</a:t>
            </a:r>
          </a:p>
          <a:p>
            <a:pPr algn="l">
              <a:buFont typeface="Arial"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  Environmental economics is concerned with promoting sustainable development, which involves meeting the needs of the present without compromising the ability of future generations to meet their own needs</a:t>
            </a:r>
          </a:p>
          <a:p>
            <a:pPr algn="l">
              <a:buFont typeface="Arial" pitchFamily="34" charset="0"/>
              <a:buChar char="•"/>
            </a:pPr>
            <a:r>
              <a:rPr lang="en-US" sz="2400" b="0" i="0" dirty="0">
                <a:solidFill>
                  <a:schemeClr val="tx1"/>
                </a:solidFill>
                <a:effectLst/>
                <a:latin typeface="Times New Roman" panose="02020603050405020304" pitchFamily="18" charset="0"/>
                <a:cs typeface="Times New Roman" panose="02020603050405020304" pitchFamily="18" charset="0"/>
              </a:rPr>
              <a:t> Environmental economists attempt to assign economic values to ecosystem services, such as clean air, water purification, and biodiversity.</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71444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C1A4B-51B9-7801-39CA-25232C348201}"/>
              </a:ext>
            </a:extLst>
          </p:cNvPr>
          <p:cNvSpPr>
            <a:spLocks noGrp="1"/>
          </p:cNvSpPr>
          <p:nvPr>
            <p:ph type="ctrTitle"/>
          </p:nvPr>
        </p:nvSpPr>
        <p:spPr>
          <a:xfrm>
            <a:off x="2999656" y="-171400"/>
            <a:ext cx="7209910" cy="1082955"/>
          </a:xfrm>
        </p:spPr>
        <p:txBody>
          <a:bodyPr>
            <a:normAutofit/>
          </a:bodyPr>
          <a:lstStyle/>
          <a:p>
            <a:r>
              <a:rPr lang="en-IN" sz="4000" dirty="0">
                <a:solidFill>
                  <a:srgbClr val="FF0000"/>
                </a:solidFill>
              </a:rPr>
              <a:t>Environmental Audit</a:t>
            </a:r>
          </a:p>
        </p:txBody>
      </p:sp>
      <p:sp>
        <p:nvSpPr>
          <p:cNvPr id="3" name="Subtitle 2">
            <a:extLst>
              <a:ext uri="{FF2B5EF4-FFF2-40B4-BE49-F238E27FC236}">
                <a16:creationId xmlns:a16="http://schemas.microsoft.com/office/drawing/2014/main" id="{1F9C7B05-DBB0-8C1C-6320-574DFE6A87B1}"/>
              </a:ext>
            </a:extLst>
          </p:cNvPr>
          <p:cNvSpPr>
            <a:spLocks noGrp="1"/>
          </p:cNvSpPr>
          <p:nvPr>
            <p:ph type="subTitle" idx="1"/>
          </p:nvPr>
        </p:nvSpPr>
        <p:spPr>
          <a:xfrm>
            <a:off x="479376" y="1340768"/>
            <a:ext cx="11449272" cy="5328592"/>
          </a:xfrm>
        </p:spPr>
        <p:txBody>
          <a:bodyPr>
            <a:noAutofit/>
          </a:bodyPr>
          <a:lstStyle/>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An environmental audit is a systematic evaluation of an organization's environmental performance, policies, and management practices. </a:t>
            </a: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The purpose of an environmental audit is to assess compliance with environmental regulations, identify areas for improvement, and promote sustainable practices. </a:t>
            </a: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It helps organizations understand their environmental impact and take measures to minimize negative effects on the environment. </a:t>
            </a: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Environmental audits are essential tools for organizations committed to environmental sustainability. </a:t>
            </a: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They provide a structured approach to evaluating and improving environmental performance, contributing to the broader goals of corporate responsibility and sustainable business practices.</a:t>
            </a:r>
          </a:p>
          <a:p>
            <a:pPr algn="l"/>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89108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44FD3B-C320-3D3A-027D-C3AD16A95210}"/>
              </a:ext>
            </a:extLst>
          </p:cNvPr>
          <p:cNvSpPr>
            <a:spLocks noGrp="1"/>
          </p:cNvSpPr>
          <p:nvPr>
            <p:ph type="ctrTitle"/>
          </p:nvPr>
        </p:nvSpPr>
        <p:spPr>
          <a:xfrm>
            <a:off x="1264021" y="157327"/>
            <a:ext cx="8722659" cy="1172602"/>
          </a:xfrm>
        </p:spPr>
        <p:txBody>
          <a:bodyPr>
            <a:normAutofit/>
          </a:bodyPr>
          <a:lstStyle/>
          <a:p>
            <a:r>
              <a:rPr lang="en-IN" sz="4000">
                <a:solidFill>
                  <a:srgbClr val="FFC000"/>
                </a:solidFill>
              </a:rPr>
              <a:t>Scope and Objectives</a:t>
            </a:r>
          </a:p>
        </p:txBody>
      </p:sp>
      <p:sp>
        <p:nvSpPr>
          <p:cNvPr id="3" name="Subtitle 2">
            <a:extLst>
              <a:ext uri="{FF2B5EF4-FFF2-40B4-BE49-F238E27FC236}">
                <a16:creationId xmlns:a16="http://schemas.microsoft.com/office/drawing/2014/main" id="{6B4D8A34-9859-0787-446C-AD28E6E5BC78}"/>
              </a:ext>
            </a:extLst>
          </p:cNvPr>
          <p:cNvSpPr>
            <a:spLocks noGrp="1"/>
          </p:cNvSpPr>
          <p:nvPr>
            <p:ph type="subTitle" idx="1"/>
          </p:nvPr>
        </p:nvSpPr>
        <p:spPr>
          <a:xfrm>
            <a:off x="479376" y="1700808"/>
            <a:ext cx="10873208" cy="3096344"/>
          </a:xfrm>
        </p:spPr>
        <p:txBody>
          <a:bodyPr>
            <a:normAutofit/>
          </a:bodyPr>
          <a:lstStyle/>
          <a:p>
            <a:pPr marL="457200" indent="-457200"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Compliance Assessment</a:t>
            </a:r>
            <a:r>
              <a:rPr lang="en-US" sz="2600" i="0" dirty="0">
                <a:effectLst/>
                <a:latin typeface="Times New Roman" panose="02020603050405020304" pitchFamily="18" charset="0"/>
                <a:cs typeface="Times New Roman" panose="02020603050405020304" pitchFamily="18" charset="0"/>
              </a:rPr>
              <a:t>:  Evaluate the organization's compliance with local, national, and international environmental laws and regulations.</a:t>
            </a:r>
          </a:p>
          <a:p>
            <a:pPr marL="457200" indent="-457200" algn="l">
              <a:buFont typeface="Arial" pitchFamily="34" charset="0"/>
              <a:buChar char="•"/>
            </a:pPr>
            <a:endParaRPr lang="en-US" sz="2600" i="0" dirty="0">
              <a:effectLst/>
              <a:latin typeface="Times New Roman" panose="02020603050405020304" pitchFamily="18" charset="0"/>
              <a:cs typeface="Times New Roman" panose="02020603050405020304" pitchFamily="18" charset="0"/>
            </a:endParaRPr>
          </a:p>
          <a:p>
            <a:pPr marL="457200" indent="-457200"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Performance Evaluation</a:t>
            </a:r>
            <a:r>
              <a:rPr lang="en-US" sz="2600" i="0" dirty="0">
                <a:effectLst/>
                <a:latin typeface="Times New Roman" panose="02020603050405020304" pitchFamily="18" charset="0"/>
                <a:cs typeface="Times New Roman" panose="02020603050405020304" pitchFamily="18" charset="0"/>
              </a:rPr>
              <a:t>: Assess the efficiency and effectiveness of the organization's environmental management system (EMS) and its efforts to reduce environmental impact.</a:t>
            </a:r>
          </a:p>
          <a:p>
            <a:endParaRPr lang="en-IN" dirty="0"/>
          </a:p>
        </p:txBody>
      </p:sp>
      <p:sp>
        <p:nvSpPr>
          <p:cNvPr id="4" name="Title 1">
            <a:extLst>
              <a:ext uri="{FF2B5EF4-FFF2-40B4-BE49-F238E27FC236}">
                <a16:creationId xmlns:a16="http://schemas.microsoft.com/office/drawing/2014/main" id="{71A2F289-FF15-3E05-D2E5-7F4EC5BF4077}"/>
              </a:ext>
            </a:extLst>
          </p:cNvPr>
          <p:cNvSpPr txBox="1"/>
          <p:nvPr/>
        </p:nvSpPr>
        <p:spPr>
          <a:xfrm>
            <a:off x="1474692" y="2509231"/>
            <a:ext cx="8722659" cy="1172602"/>
          </a:xfrm>
          <a:prstGeom prst="rect">
            <a:avLst/>
          </a:prstGeom>
        </p:spPr>
        <p:txBody>
          <a:bodyPr vert="horz" lIns="91440" tIns="45720" rIns="91440" bIns="45720" rtlCol="0" anchor="b">
            <a:normAutofit/>
          </a:bodyPr>
          <a:lstStyle>
            <a:defPPr>
              <a:defRPr lang="en-US"/>
            </a:defPPr>
            <a:lvl1pPr marL="0" algn="ctr" defTabSz="914400" rtl="0" eaLnBrk="1" latinLnBrk="0" hangingPunct="1">
              <a:lnSpc>
                <a:spcPct val="90000"/>
              </a:lnSpc>
              <a:spcBef>
                <a:spcPct val="0"/>
              </a:spcBef>
              <a:buNone/>
              <a:defRPr sz="6000" kern="1200">
                <a:solidFill>
                  <a:schemeClr val="tx1"/>
                </a:solidFill>
                <a:latin typeface="+mj-lt"/>
                <a:ea typeface="+mj-ea"/>
                <a:cs typeface="+mj-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sz="4000"/>
          </a:p>
        </p:txBody>
      </p:sp>
    </p:spTree>
    <p:extLst>
      <p:ext uri="{BB962C8B-B14F-4D97-AF65-F5344CB8AC3E}">
        <p14:creationId xmlns:p14="http://schemas.microsoft.com/office/powerpoint/2010/main" val="36611380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921B7-648B-01F8-ABC1-BEC56449BD8D}"/>
              </a:ext>
            </a:extLst>
          </p:cNvPr>
          <p:cNvSpPr>
            <a:spLocks noGrp="1"/>
          </p:cNvSpPr>
          <p:nvPr>
            <p:ph type="title"/>
          </p:nvPr>
        </p:nvSpPr>
        <p:spPr>
          <a:xfrm>
            <a:off x="1017494" y="500062"/>
            <a:ext cx="10515600" cy="1325563"/>
          </a:xfrm>
        </p:spPr>
        <p:txBody>
          <a:bodyPr>
            <a:normAutofit/>
          </a:bodyPr>
          <a:lstStyle/>
          <a:p>
            <a:pPr algn="ctr"/>
            <a:r>
              <a:rPr lang="en-IN" sz="4000" i="0" dirty="0">
                <a:solidFill>
                  <a:srgbClr val="92D050"/>
                </a:solidFill>
                <a:effectLst/>
              </a:rPr>
              <a:t>Types of Environmental Audits</a:t>
            </a:r>
            <a:br>
              <a:rPr lang="en-IN" sz="4000" dirty="0"/>
            </a:br>
            <a:endParaRPr lang="en-IN" sz="4000" dirty="0"/>
          </a:p>
        </p:txBody>
      </p:sp>
      <p:sp>
        <p:nvSpPr>
          <p:cNvPr id="3" name="Content Placeholder 2">
            <a:extLst>
              <a:ext uri="{FF2B5EF4-FFF2-40B4-BE49-F238E27FC236}">
                <a16:creationId xmlns:a16="http://schemas.microsoft.com/office/drawing/2014/main" id="{33987C59-9A90-F5E1-D6FB-C1A29A6CDCE1}"/>
              </a:ext>
            </a:extLst>
          </p:cNvPr>
          <p:cNvSpPr>
            <a:spLocks noGrp="1"/>
          </p:cNvSpPr>
          <p:nvPr>
            <p:ph idx="1"/>
          </p:nvPr>
        </p:nvSpPr>
        <p:spPr>
          <a:xfrm>
            <a:off x="335360" y="1484784"/>
            <a:ext cx="11521280" cy="4351338"/>
          </a:xfrm>
        </p:spPr>
        <p:txBody>
          <a:bodyPr>
            <a:normAutofit/>
          </a:bodyPr>
          <a:lstStyle/>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 Compliance Audit:</a:t>
            </a:r>
            <a:r>
              <a:rPr lang="en-US" sz="2600" b="0" i="0" dirty="0">
                <a:effectLst/>
                <a:latin typeface="Times New Roman" panose="02020603050405020304" pitchFamily="18" charset="0"/>
                <a:cs typeface="Times New Roman" panose="02020603050405020304" pitchFamily="18" charset="0"/>
              </a:rPr>
              <a:t> Focuses on ensuring that the organization adheres to environmental laws and regulations.</a:t>
            </a:r>
          </a:p>
          <a:p>
            <a:pPr algn="l">
              <a:buFont typeface="Arial" pitchFamily="34" charset="0"/>
              <a:buChar char="•"/>
            </a:pPr>
            <a:endParaRPr lang="en-US" sz="26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    Management System Audit:</a:t>
            </a:r>
            <a:r>
              <a:rPr lang="en-US" sz="2600" b="0" i="0" dirty="0">
                <a:effectLst/>
                <a:latin typeface="Times New Roman" panose="02020603050405020304" pitchFamily="18" charset="0"/>
                <a:cs typeface="Times New Roman" panose="02020603050405020304" pitchFamily="18" charset="0"/>
              </a:rPr>
              <a:t> Evaluates the effectiveness of the organization's environmental management system, often based on standards like ISO 14001.</a:t>
            </a:r>
          </a:p>
          <a:p>
            <a:pPr algn="l">
              <a:buFont typeface="Arial" pitchFamily="34" charset="0"/>
              <a:buChar char="•"/>
            </a:pPr>
            <a:endParaRPr lang="en-US" sz="26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    Performance Audit:</a:t>
            </a:r>
            <a:r>
              <a:rPr lang="en-US" sz="2600" b="0" i="0" dirty="0">
                <a:effectLst/>
                <a:latin typeface="Times New Roman" panose="02020603050405020304" pitchFamily="18" charset="0"/>
                <a:cs typeface="Times New Roman" panose="02020603050405020304" pitchFamily="18" charset="0"/>
              </a:rPr>
              <a:t> Examines the organization's environmental performance, resource use, and sustainability initiatives.</a:t>
            </a:r>
            <a:endParaRPr lang="en-IN"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5666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3BDE7-F3F9-A744-E1BC-1CEA0C0DC65C}"/>
              </a:ext>
            </a:extLst>
          </p:cNvPr>
          <p:cNvSpPr>
            <a:spLocks noGrp="1"/>
          </p:cNvSpPr>
          <p:nvPr>
            <p:ph type="title"/>
          </p:nvPr>
        </p:nvSpPr>
        <p:spPr>
          <a:xfrm>
            <a:off x="767408" y="496271"/>
            <a:ext cx="10515600" cy="1325563"/>
          </a:xfrm>
        </p:spPr>
        <p:txBody>
          <a:bodyPr/>
          <a:lstStyle/>
          <a:p>
            <a:pPr algn="ctr"/>
            <a:r>
              <a:rPr lang="en-US" sz="4000" b="1" i="0" dirty="0">
                <a:solidFill>
                  <a:srgbClr val="00B050"/>
                </a:solidFill>
                <a:effectLst/>
              </a:rPr>
              <a:t>Audit Process</a:t>
            </a:r>
            <a:br>
              <a:rPr lang="en-US" b="0" i="0" dirty="0">
                <a:solidFill>
                  <a:srgbClr val="D1D5DB"/>
                </a:solidFill>
                <a:effectLst/>
                <a:latin typeface="Söhne"/>
              </a:rPr>
            </a:br>
            <a:endParaRPr lang="en-IN" dirty="0"/>
          </a:p>
        </p:txBody>
      </p:sp>
      <p:sp>
        <p:nvSpPr>
          <p:cNvPr id="3" name="Content Placeholder 2">
            <a:extLst>
              <a:ext uri="{FF2B5EF4-FFF2-40B4-BE49-F238E27FC236}">
                <a16:creationId xmlns:a16="http://schemas.microsoft.com/office/drawing/2014/main" id="{9D39AAB4-274E-16A5-152A-906CFF0FE2E4}"/>
              </a:ext>
            </a:extLst>
          </p:cNvPr>
          <p:cNvSpPr>
            <a:spLocks noGrp="1"/>
          </p:cNvSpPr>
          <p:nvPr>
            <p:ph idx="1"/>
          </p:nvPr>
        </p:nvSpPr>
        <p:spPr>
          <a:xfrm>
            <a:off x="838200" y="1556792"/>
            <a:ext cx="11018440" cy="4801146"/>
          </a:xfrm>
        </p:spPr>
        <p:txBody>
          <a:bodyPr>
            <a:normAutofit lnSpcReduction="10000"/>
          </a:bodyPr>
          <a:lstStyle/>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Planning:</a:t>
            </a:r>
            <a:r>
              <a:rPr lang="en-US" sz="2400" b="0" i="0" dirty="0">
                <a:effectLst/>
                <a:latin typeface="Times New Roman" panose="02020603050405020304" pitchFamily="18" charset="0"/>
                <a:cs typeface="Times New Roman" panose="02020603050405020304" pitchFamily="18" charset="0"/>
              </a:rPr>
              <a:t> Define the scope, objectives, and criteria for the audit. Identify the audit team and resources needed.</a:t>
            </a:r>
          </a:p>
          <a:p>
            <a:pPr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Fieldwork:</a:t>
            </a:r>
            <a:r>
              <a:rPr lang="en-US" sz="2400" b="0" i="0" dirty="0">
                <a:effectLst/>
                <a:latin typeface="Times New Roman" panose="02020603050405020304" pitchFamily="18" charset="0"/>
                <a:cs typeface="Times New Roman" panose="02020603050405020304" pitchFamily="18" charset="0"/>
              </a:rPr>
              <a:t> Collect data through document reviews, interviews, and site visits. Verify compliance and assess environmental practices.</a:t>
            </a:r>
          </a:p>
          <a:p>
            <a:pPr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Reporting:</a:t>
            </a:r>
            <a:r>
              <a:rPr lang="en-US" sz="2400" b="0" i="0" dirty="0">
                <a:effectLst/>
                <a:latin typeface="Times New Roman" panose="02020603050405020304" pitchFamily="18" charset="0"/>
                <a:cs typeface="Times New Roman" panose="02020603050405020304" pitchFamily="18" charset="0"/>
              </a:rPr>
              <a:t> Summarize findings, identify areas for improvement, and provide recommendations. Report may include a management action plan.</a:t>
            </a:r>
          </a:p>
          <a:p>
            <a:pPr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Follow-Up:</a:t>
            </a:r>
            <a:r>
              <a:rPr lang="en-US" sz="2400" b="0" i="0" dirty="0">
                <a:effectLst/>
                <a:latin typeface="Times New Roman" panose="02020603050405020304" pitchFamily="18" charset="0"/>
                <a:cs typeface="Times New Roman" panose="02020603050405020304" pitchFamily="18" charset="0"/>
              </a:rPr>
              <a:t> Monitor and verify the implementation of corrective actions outlined in the audit report.</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3676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41B474-ADE9-F4CC-9294-2DFC8B84A40B}"/>
              </a:ext>
            </a:extLst>
          </p:cNvPr>
          <p:cNvSpPr>
            <a:spLocks noGrp="1"/>
          </p:cNvSpPr>
          <p:nvPr>
            <p:ph type="ctrTitle"/>
          </p:nvPr>
        </p:nvSpPr>
        <p:spPr>
          <a:xfrm>
            <a:off x="1415480" y="305652"/>
            <a:ext cx="8937812" cy="1073990"/>
          </a:xfrm>
        </p:spPr>
        <p:txBody>
          <a:bodyPr/>
          <a:lstStyle/>
          <a:p>
            <a:r>
              <a:rPr lang="en-IN" dirty="0">
                <a:solidFill>
                  <a:srgbClr val="00B050"/>
                </a:solidFill>
              </a:rPr>
              <a:t>GDP</a:t>
            </a:r>
          </a:p>
        </p:txBody>
      </p:sp>
      <p:sp>
        <p:nvSpPr>
          <p:cNvPr id="3" name="Subtitle 2">
            <a:extLst>
              <a:ext uri="{FF2B5EF4-FFF2-40B4-BE49-F238E27FC236}">
                <a16:creationId xmlns:a16="http://schemas.microsoft.com/office/drawing/2014/main" id="{E585E967-454A-DE3E-4244-2BC1FD0F159E}"/>
              </a:ext>
            </a:extLst>
          </p:cNvPr>
          <p:cNvSpPr>
            <a:spLocks noGrp="1"/>
          </p:cNvSpPr>
          <p:nvPr>
            <p:ph type="subTitle" idx="1"/>
          </p:nvPr>
        </p:nvSpPr>
        <p:spPr>
          <a:xfrm>
            <a:off x="1192305" y="1647731"/>
            <a:ext cx="10372165" cy="4896503"/>
          </a:xfrm>
        </p:spPr>
        <p:txBody>
          <a:bodyPr>
            <a:noAutofit/>
          </a:bodyPr>
          <a:lstStyle/>
          <a:p>
            <a:pPr marL="342900" indent="-342900" algn="l">
              <a:buFont typeface="Arial" pitchFamily="34" charset="0"/>
              <a:buChar char="•"/>
            </a:pPr>
            <a:r>
              <a:rPr lang="en-US" sz="2400" i="0" dirty="0">
                <a:effectLst/>
                <a:latin typeface="Times New Roman" panose="02020603050405020304" pitchFamily="18" charset="0"/>
                <a:cs typeface="Times New Roman" panose="02020603050405020304" pitchFamily="18" charset="0"/>
              </a:rPr>
              <a:t>Gross Domestic Product (GDP) is a key economic indicator that represents the total monetary value of all finished goods and services produced within a country's borders in a specific time period. </a:t>
            </a:r>
          </a:p>
          <a:p>
            <a:pPr marL="342900" indent="-342900" algn="l">
              <a:buFont typeface="Arial" pitchFamily="34" charset="0"/>
              <a:buChar char="•"/>
            </a:pPr>
            <a:r>
              <a:rPr lang="en-US" sz="2400" i="0" dirty="0">
                <a:effectLst/>
                <a:latin typeface="Times New Roman" panose="02020603050405020304" pitchFamily="18" charset="0"/>
                <a:cs typeface="Times New Roman" panose="02020603050405020304" pitchFamily="18" charset="0"/>
              </a:rPr>
              <a:t>GDP is often used as a measure of a nation's economic health and is a fundamental metric in economics. </a:t>
            </a: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While GDP provides valuable insights into a country's economic activity, it is important to complement its analysis with other indicators to gain a comprehensive understanding of a nation's well-being and development.</a:t>
            </a:r>
          </a:p>
          <a:p>
            <a:pPr marL="342900" indent="-342900" algn="l">
              <a:buFont typeface="Arial" pitchFamily="34" charset="0"/>
              <a:buChar char="•"/>
            </a:pPr>
            <a:r>
              <a:rPr lang="en-US" sz="2400" b="0" i="0" dirty="0">
                <a:effectLst/>
                <a:latin typeface="Times New Roman" panose="02020603050405020304" pitchFamily="18" charset="0"/>
                <a:cs typeface="Times New Roman" panose="02020603050405020304" pitchFamily="18" charset="0"/>
              </a:rPr>
              <a:t> Policymakers and economists often consider additional metrics such as the Human Development Index (HDI) and the Genuine Progress Indicator (GPI) to provide a more holistic view of economic and social progress.</a:t>
            </a:r>
            <a:endParaRPr lang="en-US" sz="2400" i="0" dirty="0">
              <a:effectLst/>
              <a:latin typeface="Times New Roman" panose="02020603050405020304" pitchFamily="18" charset="0"/>
              <a:cs typeface="Times New Roman" panose="02020603050405020304" pitchFamily="18" charset="0"/>
            </a:endParaRPr>
          </a:p>
          <a:p>
            <a:pPr marL="342900" indent="-342900" algn="l">
              <a:buFont typeface="Arial" pitchFamily="34" charset="0"/>
              <a:buChar char="•"/>
            </a:pPr>
            <a:endParaRPr lang="en-US" sz="2400" i="0" dirty="0">
              <a:effectLst/>
              <a:latin typeface="Times New Roman" panose="02020603050405020304" pitchFamily="18" charset="0"/>
              <a:cs typeface="Times New Roman" panose="02020603050405020304" pitchFamily="18" charset="0"/>
            </a:endParaRPr>
          </a:p>
          <a:p>
            <a:pPr algn="l"/>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897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AB7DA-D460-2F78-A7B2-1E4AD450BC5F}"/>
              </a:ext>
            </a:extLst>
          </p:cNvPr>
          <p:cNvSpPr>
            <a:spLocks noGrp="1"/>
          </p:cNvSpPr>
          <p:nvPr>
            <p:ph type="ctrTitle"/>
          </p:nvPr>
        </p:nvSpPr>
        <p:spPr>
          <a:xfrm>
            <a:off x="1271464" y="530693"/>
            <a:ext cx="8740588" cy="1513261"/>
          </a:xfrm>
        </p:spPr>
        <p:txBody>
          <a:bodyPr>
            <a:normAutofit fontScale="90000"/>
          </a:bodyPr>
          <a:lstStyle/>
          <a:p>
            <a:r>
              <a:rPr lang="en-US" sz="4000" b="1" i="0" dirty="0">
                <a:solidFill>
                  <a:srgbClr val="00B0F0"/>
                </a:solidFill>
                <a:effectLst/>
              </a:rPr>
              <a:t>GDP Components</a:t>
            </a:r>
            <a:br>
              <a:rPr lang="en-US" b="0" i="0" dirty="0">
                <a:solidFill>
                  <a:srgbClr val="D1D5DB"/>
                </a:solidFill>
                <a:effectLst/>
                <a:latin typeface="Söhne"/>
              </a:rPr>
            </a:br>
            <a:endParaRPr lang="en-IN" dirty="0"/>
          </a:p>
        </p:txBody>
      </p:sp>
      <p:sp>
        <p:nvSpPr>
          <p:cNvPr id="3" name="Subtitle 2">
            <a:extLst>
              <a:ext uri="{FF2B5EF4-FFF2-40B4-BE49-F238E27FC236}">
                <a16:creationId xmlns:a16="http://schemas.microsoft.com/office/drawing/2014/main" id="{96ED257D-C3BC-8502-2AD3-E9E5B60F5EC5}"/>
              </a:ext>
            </a:extLst>
          </p:cNvPr>
          <p:cNvSpPr>
            <a:spLocks noGrp="1"/>
          </p:cNvSpPr>
          <p:nvPr>
            <p:ph type="subTitle" idx="1"/>
          </p:nvPr>
        </p:nvSpPr>
        <p:spPr>
          <a:xfrm>
            <a:off x="1160929" y="2043954"/>
            <a:ext cx="9870141" cy="3901421"/>
          </a:xfrm>
        </p:spPr>
        <p:txBody>
          <a:bodyPr>
            <a:normAutofit lnSpcReduction="10000"/>
          </a:bodyPr>
          <a:lstStyle/>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Consumption (C):</a:t>
            </a:r>
            <a:r>
              <a:rPr lang="en-US" sz="2400" b="0" i="0" dirty="0">
                <a:effectLst/>
                <a:latin typeface="Times New Roman" panose="02020603050405020304" pitchFamily="18" charset="0"/>
                <a:cs typeface="Times New Roman" panose="02020603050405020304" pitchFamily="18" charset="0"/>
              </a:rPr>
              <a:t> Expenditure by households on goods and services.</a:t>
            </a:r>
          </a:p>
          <a:p>
            <a:pPr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Investment (I):</a:t>
            </a:r>
            <a:r>
              <a:rPr lang="en-US" sz="2400" b="0" i="0" dirty="0">
                <a:effectLst/>
                <a:latin typeface="Times New Roman" panose="02020603050405020304" pitchFamily="18" charset="0"/>
                <a:cs typeface="Times New Roman" panose="02020603050405020304" pitchFamily="18" charset="0"/>
              </a:rPr>
              <a:t> Expenditure on business capital, residential construction, and changes in business inventories.</a:t>
            </a:r>
          </a:p>
          <a:p>
            <a:pPr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Government Spending (G):</a:t>
            </a:r>
            <a:r>
              <a:rPr lang="en-US" sz="2400" b="0" i="0" dirty="0">
                <a:effectLst/>
                <a:latin typeface="Times New Roman" panose="02020603050405020304" pitchFamily="18" charset="0"/>
                <a:cs typeface="Times New Roman" panose="02020603050405020304" pitchFamily="18" charset="0"/>
              </a:rPr>
              <a:t> Expenditure by the government on goods and services.</a:t>
            </a:r>
          </a:p>
          <a:p>
            <a:pPr algn="l">
              <a:buFont typeface="Arial" pitchFamily="34" charset="0"/>
              <a:buChar char="•"/>
            </a:pPr>
            <a:endParaRPr lang="en-US" sz="24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Net Exports (X - M):</a:t>
            </a:r>
            <a:r>
              <a:rPr lang="en-US" sz="2400" b="0" i="0" dirty="0">
                <a:effectLst/>
                <a:latin typeface="Times New Roman" panose="02020603050405020304" pitchFamily="18" charset="0"/>
                <a:cs typeface="Times New Roman" panose="02020603050405020304" pitchFamily="18" charset="0"/>
              </a:rPr>
              <a:t> The difference between exports (X) and imports (M).</a:t>
            </a:r>
          </a:p>
          <a:p>
            <a:endParaRPr lang="en-IN" dirty="0"/>
          </a:p>
        </p:txBody>
      </p:sp>
    </p:spTree>
    <p:extLst>
      <p:ext uri="{BB962C8B-B14F-4D97-AF65-F5344CB8AC3E}">
        <p14:creationId xmlns:p14="http://schemas.microsoft.com/office/powerpoint/2010/main" val="40070283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53873-F7E6-2756-7ECE-21296B01DBAD}"/>
              </a:ext>
            </a:extLst>
          </p:cNvPr>
          <p:cNvSpPr>
            <a:spLocks noGrp="1"/>
          </p:cNvSpPr>
          <p:nvPr>
            <p:ph type="ctrTitle"/>
          </p:nvPr>
        </p:nvSpPr>
        <p:spPr>
          <a:xfrm>
            <a:off x="1694330" y="663389"/>
            <a:ext cx="8202706" cy="975378"/>
          </a:xfrm>
        </p:spPr>
        <p:txBody>
          <a:bodyPr>
            <a:normAutofit fontScale="90000"/>
          </a:bodyPr>
          <a:lstStyle/>
          <a:p>
            <a:r>
              <a:rPr lang="en-US" sz="4000" i="0">
                <a:solidFill>
                  <a:srgbClr val="00B0F0"/>
                </a:solidFill>
                <a:effectLst/>
              </a:rPr>
              <a:t>Uses of GDP</a:t>
            </a:r>
            <a:br>
              <a:rPr lang="en-US" sz="900" b="0" i="0">
                <a:solidFill>
                  <a:srgbClr val="D1D5DB"/>
                </a:solidFill>
                <a:effectLst/>
                <a:latin typeface="Söhne"/>
              </a:rPr>
            </a:br>
            <a:endParaRPr lang="en-IN" sz="2000"/>
          </a:p>
        </p:txBody>
      </p:sp>
      <p:sp>
        <p:nvSpPr>
          <p:cNvPr id="3" name="Subtitle 2">
            <a:extLst>
              <a:ext uri="{FF2B5EF4-FFF2-40B4-BE49-F238E27FC236}">
                <a16:creationId xmlns:a16="http://schemas.microsoft.com/office/drawing/2014/main" id="{7C6646D6-F3AB-087B-2877-82C07D699BD7}"/>
              </a:ext>
            </a:extLst>
          </p:cNvPr>
          <p:cNvSpPr>
            <a:spLocks noGrp="1"/>
          </p:cNvSpPr>
          <p:nvPr>
            <p:ph type="subTitle" idx="1"/>
          </p:nvPr>
        </p:nvSpPr>
        <p:spPr>
          <a:xfrm>
            <a:off x="788894" y="1724819"/>
            <a:ext cx="10327342" cy="3982103"/>
          </a:xfrm>
        </p:spPr>
        <p:txBody>
          <a:bodyPr>
            <a:normAutofit lnSpcReduction="10000"/>
          </a:bodyPr>
          <a:lstStyle/>
          <a:p>
            <a:pPr algn="l"/>
            <a:endParaRPr lang="en-US" sz="2400" b="1" i="0" dirty="0">
              <a:effectLst/>
              <a:latin typeface="Times New Roman" panose="02020603050405020304" pitchFamily="18" charset="0"/>
              <a:cs typeface="Times New Roman" panose="02020603050405020304" pitchFamily="18" charset="0"/>
            </a:endParaRPr>
          </a:p>
          <a:p>
            <a:pPr algn="l"/>
            <a:r>
              <a:rPr lang="en-US" sz="2400" b="1" i="0" dirty="0">
                <a:effectLst/>
                <a:latin typeface="Times New Roman" panose="02020603050405020304" pitchFamily="18" charset="0"/>
                <a:cs typeface="Times New Roman" panose="02020603050405020304" pitchFamily="18" charset="0"/>
              </a:rPr>
              <a:t>Economic Performance:</a:t>
            </a:r>
            <a:r>
              <a:rPr lang="en-US" sz="2400" b="0" i="0" dirty="0">
                <a:effectLst/>
                <a:latin typeface="Times New Roman" panose="02020603050405020304" pitchFamily="18" charset="0"/>
                <a:cs typeface="Times New Roman" panose="02020603050405020304" pitchFamily="18" charset="0"/>
              </a:rPr>
              <a:t> GDP is a key indicator of a country's economic performance and growth.</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1" i="0" dirty="0">
                <a:effectLst/>
                <a:latin typeface="Times New Roman" panose="02020603050405020304" pitchFamily="18" charset="0"/>
                <a:cs typeface="Times New Roman" panose="02020603050405020304" pitchFamily="18" charset="0"/>
              </a:rPr>
              <a:t>Policy Formulation:</a:t>
            </a:r>
            <a:r>
              <a:rPr lang="en-US" sz="2400" b="0" i="0" dirty="0">
                <a:effectLst/>
                <a:latin typeface="Times New Roman" panose="02020603050405020304" pitchFamily="18" charset="0"/>
                <a:cs typeface="Times New Roman" panose="02020603050405020304" pitchFamily="18" charset="0"/>
              </a:rPr>
              <a:t> Policymakers use GDP data to formulate economic policies and assess the impact of existing policies.</a:t>
            </a:r>
          </a:p>
          <a:p>
            <a:pPr algn="l"/>
            <a:endParaRPr lang="en-US" sz="2400" b="0" i="0" dirty="0">
              <a:effectLst/>
              <a:latin typeface="Times New Roman" panose="02020603050405020304" pitchFamily="18" charset="0"/>
              <a:cs typeface="Times New Roman" panose="02020603050405020304" pitchFamily="18" charset="0"/>
            </a:endParaRPr>
          </a:p>
          <a:p>
            <a:pPr algn="l"/>
            <a:r>
              <a:rPr lang="en-US" sz="2400" b="1" dirty="0">
                <a:latin typeface="Times New Roman" panose="02020603050405020304" pitchFamily="18" charset="0"/>
                <a:cs typeface="Times New Roman" panose="02020603050405020304" pitchFamily="18" charset="0"/>
              </a:rPr>
              <a:t>I</a:t>
            </a:r>
            <a:r>
              <a:rPr lang="en-US" sz="2400" b="1" i="0" dirty="0">
                <a:effectLst/>
                <a:latin typeface="Times New Roman" panose="02020603050405020304" pitchFamily="18" charset="0"/>
                <a:cs typeface="Times New Roman" panose="02020603050405020304" pitchFamily="18" charset="0"/>
              </a:rPr>
              <a:t>nternational Comparisons:</a:t>
            </a:r>
            <a:r>
              <a:rPr lang="en-US" sz="2400" b="0" i="0" dirty="0">
                <a:effectLst/>
                <a:latin typeface="Times New Roman" panose="02020603050405020304" pitchFamily="18" charset="0"/>
                <a:cs typeface="Times New Roman" panose="02020603050405020304" pitchFamily="18" charset="0"/>
              </a:rPr>
              <a:t> GDP allows for comparisons of economic performance among different countries.</a:t>
            </a:r>
          </a:p>
          <a:p>
            <a:endParaRPr lang="en-IN" dirty="0"/>
          </a:p>
        </p:txBody>
      </p:sp>
    </p:spTree>
    <p:extLst>
      <p:ext uri="{BB962C8B-B14F-4D97-AF65-F5344CB8AC3E}">
        <p14:creationId xmlns:p14="http://schemas.microsoft.com/office/powerpoint/2010/main" val="27743290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65B9-7A86-B788-494A-6BC740E4052B}"/>
              </a:ext>
            </a:extLst>
          </p:cNvPr>
          <p:cNvSpPr>
            <a:spLocks noGrp="1"/>
          </p:cNvSpPr>
          <p:nvPr>
            <p:ph type="title"/>
          </p:nvPr>
        </p:nvSpPr>
        <p:spPr>
          <a:xfrm>
            <a:off x="1487488" y="116632"/>
            <a:ext cx="8911687" cy="1280890"/>
          </a:xfrm>
        </p:spPr>
        <p:txBody>
          <a:bodyPr>
            <a:noAutofit/>
          </a:bodyPr>
          <a:lstStyle/>
          <a:p>
            <a:pPr algn="ctr"/>
            <a:br>
              <a:rPr lang="en-US" sz="3600" b="1" i="0" dirty="0">
                <a:effectLst/>
              </a:rPr>
            </a:br>
            <a:r>
              <a:rPr lang="en-US" sz="4000" b="1" i="0" dirty="0">
                <a:solidFill>
                  <a:srgbClr val="0070C0"/>
                </a:solidFill>
                <a:effectLst/>
              </a:rPr>
              <a:t>Sustainability </a:t>
            </a:r>
            <a:br>
              <a:rPr lang="en-US" sz="3600" b="0" i="0" dirty="0">
                <a:effectLst/>
              </a:rPr>
            </a:br>
            <a:endParaRPr lang="en-IN" sz="3600" dirty="0"/>
          </a:p>
        </p:txBody>
      </p:sp>
      <p:sp>
        <p:nvSpPr>
          <p:cNvPr id="3" name="Content Placeholder 2">
            <a:extLst>
              <a:ext uri="{FF2B5EF4-FFF2-40B4-BE49-F238E27FC236}">
                <a16:creationId xmlns:a16="http://schemas.microsoft.com/office/drawing/2014/main" id="{052180AA-3F78-E166-8373-AC3261F5DF6F}"/>
              </a:ext>
            </a:extLst>
          </p:cNvPr>
          <p:cNvSpPr>
            <a:spLocks noGrp="1"/>
          </p:cNvSpPr>
          <p:nvPr>
            <p:ph idx="1"/>
          </p:nvPr>
        </p:nvSpPr>
        <p:spPr>
          <a:xfrm>
            <a:off x="695400" y="1484784"/>
            <a:ext cx="10801200" cy="4637928"/>
          </a:xfrm>
        </p:spPr>
        <p:txBody>
          <a:bodyPr>
            <a:noAutofit/>
          </a:bodyPr>
          <a:lstStyle/>
          <a:p>
            <a:r>
              <a:rPr lang="en-US" sz="2400" b="0" i="0" dirty="0">
                <a:effectLst/>
                <a:latin typeface="Times New Roman" panose="02020603050405020304" pitchFamily="18" charset="0"/>
                <a:cs typeface="Times New Roman" panose="02020603050405020304" pitchFamily="18" charset="0"/>
              </a:rPr>
              <a:t>Sustainability refers to the ability to meet the needs of the present without compromising the ability of future generations to meet their own needs. </a:t>
            </a:r>
          </a:p>
          <a:p>
            <a:r>
              <a:rPr lang="en-US" sz="2400" b="0" i="0" dirty="0">
                <a:effectLst/>
                <a:latin typeface="Times New Roman" panose="02020603050405020304" pitchFamily="18" charset="0"/>
                <a:cs typeface="Times New Roman" panose="02020603050405020304" pitchFamily="18" charset="0"/>
              </a:rPr>
              <a:t>It involves finding a balance between economic, social, and environmental considerations to ensure long-term well-being. </a:t>
            </a:r>
          </a:p>
          <a:p>
            <a:r>
              <a:rPr lang="en-US" sz="2400" b="0" i="0" dirty="0">
                <a:effectLst/>
                <a:latin typeface="Times New Roman" panose="02020603050405020304" pitchFamily="18" charset="0"/>
                <a:cs typeface="Times New Roman" panose="02020603050405020304" pitchFamily="18" charset="0"/>
              </a:rPr>
              <a:t>The concept is often represented by the "three pillars" or "triple bottom line" approach, which includes economic prosperity, social equity, and environmental responsibility.</a:t>
            </a:r>
          </a:p>
          <a:p>
            <a:r>
              <a:rPr lang="en-US" sz="2400" b="0" i="0" dirty="0">
                <a:effectLst/>
                <a:latin typeface="Times New Roman" panose="02020603050405020304" pitchFamily="18" charset="0"/>
                <a:cs typeface="Times New Roman" panose="02020603050405020304" pitchFamily="18" charset="0"/>
              </a:rPr>
              <a:t>Overcoming these challenges requires concerted efforts from governments, businesses, communities, and individuals. </a:t>
            </a:r>
          </a:p>
          <a:p>
            <a:r>
              <a:rPr lang="en-US" sz="2400" b="0" i="0" dirty="0">
                <a:effectLst/>
                <a:latin typeface="Times New Roman" panose="02020603050405020304" pitchFamily="18" charset="0"/>
                <a:cs typeface="Times New Roman" panose="02020603050405020304" pitchFamily="18" charset="0"/>
              </a:rPr>
              <a:t>Sustainable development aims to integrate economic, social, and environmental considerations in a way that meets the needs of the present without compromising the ability of future generations to meet their own needs.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67761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3360-18FD-8E78-77C5-1CDF0E59B3D1}"/>
              </a:ext>
            </a:extLst>
          </p:cNvPr>
          <p:cNvSpPr>
            <a:spLocks noGrp="1"/>
          </p:cNvSpPr>
          <p:nvPr>
            <p:ph type="title"/>
          </p:nvPr>
        </p:nvSpPr>
        <p:spPr>
          <a:xfrm>
            <a:off x="1919536" y="260648"/>
            <a:ext cx="8911687" cy="1280890"/>
          </a:xfrm>
        </p:spPr>
        <p:txBody>
          <a:bodyPr/>
          <a:lstStyle/>
          <a:p>
            <a:pPr algn="ctr"/>
            <a:r>
              <a:rPr lang="en-US" sz="4000" b="1" i="0" dirty="0">
                <a:solidFill>
                  <a:srgbClr val="7030A0"/>
                </a:solidFill>
                <a:effectLst/>
              </a:rPr>
              <a:t>Principles of Sustainability</a:t>
            </a:r>
            <a:br>
              <a:rPr lang="en-US" b="0" i="0" dirty="0">
                <a:solidFill>
                  <a:srgbClr val="D1D5DB"/>
                </a:solidFill>
                <a:effectLst/>
                <a:latin typeface="Söhne"/>
              </a:rPr>
            </a:br>
            <a:endParaRPr lang="en-IN" dirty="0"/>
          </a:p>
        </p:txBody>
      </p:sp>
      <p:sp>
        <p:nvSpPr>
          <p:cNvPr id="3" name="Content Placeholder 2">
            <a:extLst>
              <a:ext uri="{FF2B5EF4-FFF2-40B4-BE49-F238E27FC236}">
                <a16:creationId xmlns:a16="http://schemas.microsoft.com/office/drawing/2014/main" id="{F077EB64-DF49-D195-B315-F53CE11A88EB}"/>
              </a:ext>
            </a:extLst>
          </p:cNvPr>
          <p:cNvSpPr>
            <a:spLocks noGrp="1"/>
          </p:cNvSpPr>
          <p:nvPr>
            <p:ph idx="1"/>
          </p:nvPr>
        </p:nvSpPr>
        <p:spPr>
          <a:xfrm>
            <a:off x="371364" y="936792"/>
            <a:ext cx="11449272" cy="4667250"/>
          </a:xfrm>
        </p:spPr>
        <p:txBody>
          <a:bodyPr>
            <a:noAutofit/>
          </a:bodyPr>
          <a:lstStyle/>
          <a:p>
            <a:pPr>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 Interdependence:</a:t>
            </a:r>
            <a:r>
              <a:rPr lang="en-US" sz="2400" b="0" i="0" dirty="0">
                <a:effectLst/>
                <a:latin typeface="Times New Roman" panose="02020603050405020304" pitchFamily="18" charset="0"/>
                <a:cs typeface="Times New Roman" panose="02020603050405020304" pitchFamily="18" charset="0"/>
              </a:rPr>
              <a:t> Recognizes the interconnectedness of economic, social, and environmental systems, emphasizing that actions in one area can have far-reaching consequences in others.</a:t>
            </a:r>
          </a:p>
          <a:p>
            <a:pPr>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 Long-Term Perspective:</a:t>
            </a:r>
            <a:r>
              <a:rPr lang="en-US" sz="2400" b="0" i="0" dirty="0">
                <a:effectLst/>
                <a:latin typeface="Times New Roman" panose="02020603050405020304" pitchFamily="18" charset="0"/>
                <a:cs typeface="Times New Roman" panose="02020603050405020304" pitchFamily="18" charset="0"/>
              </a:rPr>
              <a:t> Prioritizes long-term planning and decision-making over short-term gains, aiming for solutions that endure and contribute to intergenerational equity.</a:t>
            </a:r>
          </a:p>
          <a:p>
            <a:pPr>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 Equity and Social Justice:</a:t>
            </a:r>
            <a:r>
              <a:rPr lang="en-US" sz="2400" b="0" i="0" dirty="0">
                <a:effectLst/>
                <a:latin typeface="Times New Roman" panose="02020603050405020304" pitchFamily="18" charset="0"/>
                <a:cs typeface="Times New Roman" panose="02020603050405020304" pitchFamily="18" charset="0"/>
              </a:rPr>
              <a:t> Ensures that the benefits and burdens of development are distributed fairly among current and future generations, promoting social equity and justice.</a:t>
            </a:r>
          </a:p>
          <a:p>
            <a:pPr>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 Environmental Stewardship:</a:t>
            </a:r>
            <a:r>
              <a:rPr lang="en-US" sz="2400" b="0" i="0" dirty="0">
                <a:effectLst/>
                <a:latin typeface="Times New Roman" panose="02020603050405020304" pitchFamily="18" charset="0"/>
                <a:cs typeface="Times New Roman" panose="02020603050405020304" pitchFamily="18" charset="0"/>
              </a:rPr>
              <a:t> Advocates responsible management and conservation of natural resources to minimize environmental degradation and promote biodiversity.</a:t>
            </a:r>
          </a:p>
          <a:p>
            <a:pPr>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 Adaptability and Resilience:</a:t>
            </a:r>
            <a:r>
              <a:rPr lang="en-US" sz="2400" b="0" i="0" dirty="0">
                <a:effectLst/>
                <a:latin typeface="Times New Roman" panose="02020603050405020304" pitchFamily="18" charset="0"/>
                <a:cs typeface="Times New Roman" panose="02020603050405020304" pitchFamily="18" charset="0"/>
              </a:rPr>
              <a:t> Encourages the development of systems and practices that can adapt to changing conditions and withstand shocks, whether they are economic, social, or environmental.</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16427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6E142-1146-D42B-2980-DB1F392F92BD}"/>
              </a:ext>
            </a:extLst>
          </p:cNvPr>
          <p:cNvSpPr>
            <a:spLocks noGrp="1"/>
          </p:cNvSpPr>
          <p:nvPr>
            <p:ph type="ctrTitle"/>
          </p:nvPr>
        </p:nvSpPr>
        <p:spPr>
          <a:xfrm>
            <a:off x="1649506" y="304800"/>
            <a:ext cx="8695765" cy="1595718"/>
          </a:xfrm>
        </p:spPr>
        <p:txBody>
          <a:bodyPr>
            <a:normAutofit/>
          </a:bodyPr>
          <a:lstStyle/>
          <a:p>
            <a:r>
              <a:rPr lang="en-US" sz="4000" b="1" i="0">
                <a:solidFill>
                  <a:srgbClr val="C00000"/>
                </a:solidFill>
                <a:effectLst/>
              </a:rPr>
              <a:t>Needs for Sustainability</a:t>
            </a:r>
            <a:br>
              <a:rPr lang="en-US" sz="6000" b="0" i="0">
                <a:effectLst/>
              </a:rPr>
            </a:br>
            <a:endParaRPr lang="en-IN"/>
          </a:p>
        </p:txBody>
      </p:sp>
      <p:sp>
        <p:nvSpPr>
          <p:cNvPr id="3" name="Subtitle 2">
            <a:extLst>
              <a:ext uri="{FF2B5EF4-FFF2-40B4-BE49-F238E27FC236}">
                <a16:creationId xmlns:a16="http://schemas.microsoft.com/office/drawing/2014/main" id="{0BA5790E-0503-B002-0E6D-FE5BF1F97733}"/>
              </a:ext>
            </a:extLst>
          </p:cNvPr>
          <p:cNvSpPr>
            <a:spLocks noGrp="1"/>
          </p:cNvSpPr>
          <p:nvPr>
            <p:ph type="subTitle" idx="1"/>
          </p:nvPr>
        </p:nvSpPr>
        <p:spPr>
          <a:xfrm>
            <a:off x="1111623" y="1486367"/>
            <a:ext cx="9968753" cy="4412409"/>
          </a:xfrm>
        </p:spPr>
        <p:txBody>
          <a:bodyPr>
            <a:normAutofit fontScale="25000" lnSpcReduction="20000"/>
          </a:bodyPr>
          <a:lstStyle/>
          <a:p>
            <a:pPr algn="l">
              <a:buFont typeface="+mj-lt"/>
              <a:buAutoNum type="arabicPeriod"/>
            </a:pPr>
            <a:r>
              <a:rPr lang="en-US" sz="9600" b="1" i="0" dirty="0">
                <a:effectLst/>
                <a:latin typeface="Times New Roman" panose="02020603050405020304" pitchFamily="18" charset="0"/>
                <a:cs typeface="Times New Roman" panose="02020603050405020304" pitchFamily="18" charset="0"/>
              </a:rPr>
              <a:t>  Resource Conservation:</a:t>
            </a:r>
            <a:r>
              <a:rPr lang="en-US" sz="9600" b="0" i="0" dirty="0">
                <a:effectLst/>
                <a:latin typeface="Times New Roman" panose="02020603050405020304" pitchFamily="18" charset="0"/>
                <a:cs typeface="Times New Roman" panose="02020603050405020304" pitchFamily="18" charset="0"/>
              </a:rPr>
              <a:t> As the global population and resource demands increase, there is a need to manage resources sustainably to avoid depletion and environmental degradation.</a:t>
            </a:r>
          </a:p>
          <a:p>
            <a:pPr algn="l">
              <a:buFont typeface="+mj-lt"/>
              <a:buAutoNum type="arabicPeriod"/>
            </a:pPr>
            <a:r>
              <a:rPr lang="en-US" sz="9600" b="1" i="0" dirty="0">
                <a:effectLst/>
                <a:latin typeface="Times New Roman" panose="02020603050405020304" pitchFamily="18" charset="0"/>
                <a:cs typeface="Times New Roman" panose="02020603050405020304" pitchFamily="18" charset="0"/>
              </a:rPr>
              <a:t>  Climate Change Mitigation:</a:t>
            </a:r>
            <a:r>
              <a:rPr lang="en-US" sz="9600" b="0" i="0" dirty="0">
                <a:effectLst/>
                <a:latin typeface="Times New Roman" panose="02020603050405020304" pitchFamily="18" charset="0"/>
                <a:cs typeface="Times New Roman" panose="02020603050405020304" pitchFamily="18" charset="0"/>
              </a:rPr>
              <a:t> Addressing climate change is a crucial aspect of sustainability, requiring efforts to reduce greenhouse gas emissions and adapt to changing climate conditions.</a:t>
            </a:r>
          </a:p>
          <a:p>
            <a:pPr algn="l">
              <a:buFont typeface="+mj-lt"/>
              <a:buAutoNum type="arabicPeriod"/>
            </a:pPr>
            <a:r>
              <a:rPr lang="en-US" sz="9600" b="1" i="0" dirty="0">
                <a:effectLst/>
                <a:latin typeface="Times New Roman" panose="02020603050405020304" pitchFamily="18" charset="0"/>
                <a:cs typeface="Times New Roman" panose="02020603050405020304" pitchFamily="18" charset="0"/>
              </a:rPr>
              <a:t>  Social Equity:</a:t>
            </a:r>
            <a:r>
              <a:rPr lang="en-US" sz="9600" b="0" i="0" dirty="0">
                <a:effectLst/>
                <a:latin typeface="Times New Roman" panose="02020603050405020304" pitchFamily="18" charset="0"/>
                <a:cs typeface="Times New Roman" panose="02020603050405020304" pitchFamily="18" charset="0"/>
              </a:rPr>
              <a:t> Promoting fair distribution of resources, opportunities, and benefits among different social groups is essential for sustainable development.</a:t>
            </a:r>
          </a:p>
          <a:p>
            <a:pPr algn="l">
              <a:buFont typeface="+mj-lt"/>
              <a:buAutoNum type="arabicPeriod"/>
            </a:pPr>
            <a:r>
              <a:rPr lang="en-US" sz="9600" b="1" i="0" dirty="0">
                <a:effectLst/>
                <a:latin typeface="Times New Roman" panose="02020603050405020304" pitchFamily="18" charset="0"/>
                <a:cs typeface="Times New Roman" panose="02020603050405020304" pitchFamily="18" charset="0"/>
              </a:rPr>
              <a:t>  Innovation and Technology:</a:t>
            </a:r>
            <a:r>
              <a:rPr lang="en-US" sz="9600" b="0" i="0" dirty="0">
                <a:effectLst/>
                <a:latin typeface="Times New Roman" panose="02020603050405020304" pitchFamily="18" charset="0"/>
                <a:cs typeface="Times New Roman" panose="02020603050405020304" pitchFamily="18" charset="0"/>
              </a:rPr>
              <a:t> Developing and adopting sustainable technologies can contribute to more efficient resource use and environmentally friendly practices.</a:t>
            </a:r>
          </a:p>
          <a:p>
            <a:pPr algn="l">
              <a:buFont typeface="+mj-lt"/>
              <a:buAutoNum type="arabicPeriod"/>
            </a:pPr>
            <a:r>
              <a:rPr lang="en-US" sz="9600" b="1" i="0" dirty="0">
                <a:effectLst/>
                <a:latin typeface="Times New Roman" panose="02020603050405020304" pitchFamily="18" charset="0"/>
                <a:cs typeface="Times New Roman" panose="02020603050405020304" pitchFamily="18" charset="0"/>
              </a:rPr>
              <a:t> Global Cooperation:</a:t>
            </a:r>
            <a:r>
              <a:rPr lang="en-US" sz="9600" b="0" i="0" dirty="0">
                <a:effectLst/>
                <a:latin typeface="Times New Roman" panose="02020603050405020304" pitchFamily="18" charset="0"/>
                <a:cs typeface="Times New Roman" panose="02020603050405020304" pitchFamily="18" charset="0"/>
              </a:rPr>
              <a:t> Many sustainability challenges, such as climate change and biodiversity loss, are global in nature and require international cooperation and collective action.</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692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34F44-A051-61BB-438D-264064040D89}"/>
              </a:ext>
            </a:extLst>
          </p:cNvPr>
          <p:cNvSpPr>
            <a:spLocks noGrp="1"/>
          </p:cNvSpPr>
          <p:nvPr>
            <p:ph type="title"/>
          </p:nvPr>
        </p:nvSpPr>
        <p:spPr/>
        <p:txBody>
          <a:bodyPr/>
          <a:lstStyle/>
          <a:p>
            <a:pPr algn="ctr"/>
            <a:r>
              <a:rPr lang="en-US" sz="4000" b="1" i="0">
                <a:solidFill>
                  <a:srgbClr val="FF0000"/>
                </a:solidFill>
                <a:effectLst/>
              </a:rPr>
              <a:t>Challenges to Sustainability</a:t>
            </a:r>
            <a:br>
              <a:rPr lang="en-US" b="0" i="0">
                <a:solidFill>
                  <a:srgbClr val="D1D5DB"/>
                </a:solidFill>
                <a:effectLst/>
                <a:latin typeface="Söhne"/>
              </a:rPr>
            </a:br>
            <a:endParaRPr lang="en-IN"/>
          </a:p>
        </p:txBody>
      </p:sp>
      <p:sp>
        <p:nvSpPr>
          <p:cNvPr id="3" name="Content Placeholder 2">
            <a:extLst>
              <a:ext uri="{FF2B5EF4-FFF2-40B4-BE49-F238E27FC236}">
                <a16:creationId xmlns:a16="http://schemas.microsoft.com/office/drawing/2014/main" id="{E520D974-0783-5753-C911-A35B120BCF4E}"/>
              </a:ext>
            </a:extLst>
          </p:cNvPr>
          <p:cNvSpPr>
            <a:spLocks noGrp="1"/>
          </p:cNvSpPr>
          <p:nvPr>
            <p:ph idx="1"/>
          </p:nvPr>
        </p:nvSpPr>
        <p:spPr>
          <a:xfrm>
            <a:off x="936811" y="1341531"/>
            <a:ext cx="10300149" cy="4510630"/>
          </a:xfrm>
        </p:spPr>
        <p:txBody>
          <a:bodyPr>
            <a:noAutofit/>
          </a:bodyPr>
          <a:lstStyle/>
          <a:p>
            <a:pPr algn="l">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Short-Term Economic Pressures:</a:t>
            </a:r>
            <a:r>
              <a:rPr lang="en-US" sz="2400" b="0" i="0" dirty="0">
                <a:effectLst/>
                <a:latin typeface="Times New Roman" panose="02020603050405020304" pitchFamily="18" charset="0"/>
                <a:cs typeface="Times New Roman" panose="02020603050405020304" pitchFamily="18" charset="0"/>
              </a:rPr>
              <a:t> Businesses and governments often face pressure to deliver short-term economic gains, which can conflict with the long-term perspective required for sustainability.</a:t>
            </a:r>
          </a:p>
          <a:p>
            <a:pPr algn="l">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Resource Depletion:</a:t>
            </a:r>
            <a:r>
              <a:rPr lang="en-US" sz="2400" b="0" i="0" dirty="0">
                <a:effectLst/>
                <a:latin typeface="Times New Roman" panose="02020603050405020304" pitchFamily="18" charset="0"/>
                <a:cs typeface="Times New Roman" panose="02020603050405020304" pitchFamily="18" charset="0"/>
              </a:rPr>
              <a:t> The overuse and depletion of natural resources, coupled with pollution and environmental degradation, pose significant challenges to sustainability.</a:t>
            </a:r>
          </a:p>
          <a:p>
            <a:pPr algn="l">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Inequality and Poverty:</a:t>
            </a:r>
            <a:r>
              <a:rPr lang="en-US" sz="2400" b="0" i="0" dirty="0">
                <a:effectLst/>
                <a:latin typeface="Times New Roman" panose="02020603050405020304" pitchFamily="18" charset="0"/>
                <a:cs typeface="Times New Roman" panose="02020603050405020304" pitchFamily="18" charset="0"/>
              </a:rPr>
              <a:t> Addressing social equity is a critical aspect of sustainability, and persistent poverty and inequality can undermine sustainable development efforts.</a:t>
            </a:r>
          </a:p>
          <a:p>
            <a:pPr algn="l">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Lack of Awareness and Education:</a:t>
            </a:r>
            <a:r>
              <a:rPr lang="en-US" sz="2400" b="0" i="0" dirty="0">
                <a:effectLst/>
                <a:latin typeface="Times New Roman" panose="02020603050405020304" pitchFamily="18" charset="0"/>
                <a:cs typeface="Times New Roman" panose="02020603050405020304" pitchFamily="18" charset="0"/>
              </a:rPr>
              <a:t> Limited awareness and understanding of sustainability principles can hinder efforts to implement sustainable practices at individual, organizational, and societal levels.</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6108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0FC76B5-BE0F-2529-A58A-9AFAE08DECF8}"/>
              </a:ext>
            </a:extLst>
          </p:cNvPr>
          <p:cNvSpPr txBox="1"/>
          <p:nvPr/>
        </p:nvSpPr>
        <p:spPr>
          <a:xfrm>
            <a:off x="839416" y="1196752"/>
            <a:ext cx="10801200" cy="369331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Policy and Regulatory Barriers:</a:t>
            </a:r>
            <a:r>
              <a:rPr lang="en-US" sz="2400" b="0" i="0" dirty="0">
                <a:effectLst/>
                <a:latin typeface="Times New Roman" panose="02020603050405020304" pitchFamily="18" charset="0"/>
                <a:cs typeface="Times New Roman" panose="02020603050405020304" pitchFamily="18" charset="0"/>
              </a:rPr>
              <a:t> Inconsistent or inadequate policies and regulations can create barriers to the adoption of sustainable practices and technologies.</a:t>
            </a:r>
          </a:p>
          <a:p>
            <a:pPr marL="342900" indent="-342900">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Resistance to Change:</a:t>
            </a:r>
            <a:r>
              <a:rPr lang="en-US" sz="2400" b="0" i="0" dirty="0">
                <a:effectLst/>
                <a:latin typeface="Times New Roman" panose="02020603050405020304" pitchFamily="18" charset="0"/>
                <a:cs typeface="Times New Roman" panose="02020603050405020304" pitchFamily="18" charset="0"/>
              </a:rPr>
              <a:t> Resistance to change, whether it be in consumer behavior, business practices, or government policies, can impede the transition to more sustainable practices.</a:t>
            </a:r>
          </a:p>
          <a:p>
            <a:pPr marL="342900" indent="-342900">
              <a:buFont typeface="Wingdings" panose="05000000000000000000" pitchFamily="2" charset="2"/>
              <a:buChar char="Ø"/>
            </a:pPr>
            <a:r>
              <a:rPr lang="en-US" sz="2400" b="1" i="0" dirty="0">
                <a:effectLst/>
                <a:latin typeface="Times New Roman" panose="02020603050405020304" pitchFamily="18" charset="0"/>
                <a:cs typeface="Times New Roman" panose="02020603050405020304" pitchFamily="18" charset="0"/>
              </a:rPr>
              <a:t>Globalization Challenges:</a:t>
            </a:r>
            <a:r>
              <a:rPr lang="en-US" sz="2400" b="0" i="0" dirty="0">
                <a:effectLst/>
                <a:latin typeface="Times New Roman" panose="02020603050405020304" pitchFamily="18" charset="0"/>
                <a:cs typeface="Times New Roman" panose="02020603050405020304" pitchFamily="18" charset="0"/>
              </a:rPr>
              <a:t> The interconnectedness of global economies can make it challenging to implement consistent and effective sustainability measures across borders.</a:t>
            </a:r>
            <a:br>
              <a:rPr lang="en-US" sz="2800" b="0" i="0" dirty="0">
                <a:effectLst/>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0348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E263F86-2EFC-FFE8-55D6-8053038D904B}"/>
              </a:ext>
            </a:extLst>
          </p:cNvPr>
          <p:cNvSpPr>
            <a:spLocks noGrp="1"/>
          </p:cNvSpPr>
          <p:nvPr>
            <p:ph type="subTitle" idx="1"/>
          </p:nvPr>
        </p:nvSpPr>
        <p:spPr>
          <a:xfrm>
            <a:off x="690283" y="383707"/>
            <a:ext cx="5117685" cy="5452315"/>
          </a:xfrm>
        </p:spPr>
        <p:txBody>
          <a:bodyPr>
            <a:normAutofit/>
          </a:bodyPr>
          <a:lstStyle/>
          <a:p>
            <a:pPr algn="l"/>
            <a:endParaRPr lang="en-US" b="0" i="0" dirty="0">
              <a:effectLst/>
              <a:latin typeface="Söhne"/>
            </a:endParaRPr>
          </a:p>
          <a:p>
            <a:pPr algn="l"/>
            <a:endParaRPr lang="en-US" b="0" i="0" dirty="0">
              <a:effectLst/>
              <a:latin typeface="Söhne"/>
            </a:endParaRPr>
          </a:p>
          <a:p>
            <a:pPr algn="just"/>
            <a:br>
              <a:rPr lang="en-US" b="0" i="0" dirty="0">
                <a:effectLst/>
                <a:latin typeface="Söhne"/>
              </a:rPr>
            </a:br>
            <a:r>
              <a:rPr lang="en-US" sz="2400" b="0" i="0" dirty="0">
                <a:effectLst/>
                <a:latin typeface="Times New Roman" panose="02020603050405020304" pitchFamily="18" charset="0"/>
                <a:cs typeface="Times New Roman" panose="02020603050405020304" pitchFamily="18" charset="0"/>
              </a:rPr>
              <a:t>Sustainability encompasses three main dimensions: economic, social, and environmental. </a:t>
            </a:r>
          </a:p>
          <a:p>
            <a:pPr marL="342900" indent="-342900" algn="just">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Often referred to as the "triple bottom line" or the three pillars of sustainability, these dimensions are interconnected and together contribute to the overall well-being of societies and ecosystems.</a:t>
            </a:r>
          </a:p>
          <a:p>
            <a:endParaRPr lang="en-IN" dirty="0"/>
          </a:p>
          <a:p>
            <a:pPr algn="l"/>
            <a:endParaRPr lang="en-IN" dirty="0"/>
          </a:p>
        </p:txBody>
      </p:sp>
      <p:pic>
        <p:nvPicPr>
          <p:cNvPr id="2" name="Picture 2" descr="Sustainable Development PowerPoint Template | SketchBubble">
            <a:extLst>
              <a:ext uri="{FF2B5EF4-FFF2-40B4-BE49-F238E27FC236}">
                <a16:creationId xmlns:a16="http://schemas.microsoft.com/office/drawing/2014/main" id="{B11C1B2D-CD16-69E0-665C-2F885E82E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256" t="13137" r="15839" b="11021"/>
          <a:stretch>
            <a:fillRect/>
          </a:stretch>
        </p:blipFill>
        <p:spPr bwMode="auto">
          <a:xfrm>
            <a:off x="6247803" y="631022"/>
            <a:ext cx="5557520" cy="4796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3934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C9F95-EC89-9C18-4785-05B9F3D2F094}"/>
              </a:ext>
            </a:extLst>
          </p:cNvPr>
          <p:cNvSpPr>
            <a:spLocks noGrp="1"/>
          </p:cNvSpPr>
          <p:nvPr>
            <p:ph type="ctrTitle"/>
          </p:nvPr>
        </p:nvSpPr>
        <p:spPr>
          <a:xfrm>
            <a:off x="1524000" y="615857"/>
            <a:ext cx="8704729" cy="984343"/>
          </a:xfrm>
        </p:spPr>
        <p:txBody>
          <a:bodyPr>
            <a:normAutofit/>
          </a:bodyPr>
          <a:lstStyle/>
          <a:p>
            <a:r>
              <a:rPr lang="en-US" sz="4000" b="1" i="0" dirty="0">
                <a:solidFill>
                  <a:srgbClr val="0070C0"/>
                </a:solidFill>
                <a:effectLst/>
              </a:rPr>
              <a:t>Economic Aspect of Sustainability</a:t>
            </a:r>
            <a:endParaRPr lang="en-IN" sz="4000" dirty="0">
              <a:solidFill>
                <a:srgbClr val="0070C0"/>
              </a:solidFill>
            </a:endParaRPr>
          </a:p>
        </p:txBody>
      </p:sp>
      <p:sp>
        <p:nvSpPr>
          <p:cNvPr id="3" name="Subtitle 2">
            <a:extLst>
              <a:ext uri="{FF2B5EF4-FFF2-40B4-BE49-F238E27FC236}">
                <a16:creationId xmlns:a16="http://schemas.microsoft.com/office/drawing/2014/main" id="{2C35DF38-16D9-4E84-7499-617F89942DD9}"/>
              </a:ext>
            </a:extLst>
          </p:cNvPr>
          <p:cNvSpPr>
            <a:spLocks noGrp="1"/>
          </p:cNvSpPr>
          <p:nvPr>
            <p:ph type="subTitle" idx="1"/>
          </p:nvPr>
        </p:nvSpPr>
        <p:spPr>
          <a:xfrm>
            <a:off x="911424" y="1791166"/>
            <a:ext cx="10513168" cy="4322763"/>
          </a:xfrm>
        </p:spPr>
        <p:txBody>
          <a:bodyPr>
            <a:normAutofit fontScale="92500" lnSpcReduction="20000"/>
          </a:bodyPr>
          <a:lstStyle/>
          <a:p>
            <a:pPr algn="l"/>
            <a:endParaRPr lang="en-US" sz="2600" b="0" i="0" dirty="0">
              <a:solidFill>
                <a:schemeClr val="tx1"/>
              </a:solidFill>
              <a:effectLst/>
              <a:latin typeface="Times New Roman" panose="02020603050405020304" pitchFamily="18" charset="0"/>
              <a:cs typeface="Times New Roman" panose="02020603050405020304" pitchFamily="18" charset="0"/>
            </a:endParaRPr>
          </a:p>
          <a:p>
            <a:pPr marL="800100" lvl="1" indent="-342900" algn="l">
              <a:buFont typeface="Arial" pitchFamily="34" charset="0"/>
              <a:buChar char="•"/>
            </a:pPr>
            <a:r>
              <a:rPr lang="en-US" sz="2600" b="1" i="0" dirty="0">
                <a:solidFill>
                  <a:schemeClr val="tx1"/>
                </a:solidFill>
                <a:effectLst/>
                <a:latin typeface="Times New Roman" panose="02020603050405020304" pitchFamily="18" charset="0"/>
                <a:cs typeface="Times New Roman" panose="02020603050405020304" pitchFamily="18" charset="0"/>
              </a:rPr>
              <a:t>Resource Efficiency:</a:t>
            </a:r>
            <a:r>
              <a:rPr lang="en-US" sz="2600" b="0" i="0" dirty="0">
                <a:solidFill>
                  <a:schemeClr val="tx1"/>
                </a:solidFill>
                <a:effectLst/>
                <a:latin typeface="Times New Roman" panose="02020603050405020304" pitchFamily="18" charset="0"/>
                <a:cs typeface="Times New Roman" panose="02020603050405020304" pitchFamily="18" charset="0"/>
              </a:rPr>
              <a:t> Sustainable economic practices focus on efficient resource use to minimize waste and environmental impact.</a:t>
            </a:r>
          </a:p>
          <a:p>
            <a:pPr marL="800100" lvl="1" indent="-342900" algn="l">
              <a:buFont typeface="Arial" pitchFamily="34" charset="0"/>
              <a:buChar char="•"/>
            </a:pPr>
            <a:r>
              <a:rPr lang="en-US" sz="2600" b="1" i="0" dirty="0">
                <a:solidFill>
                  <a:schemeClr val="tx1"/>
                </a:solidFill>
                <a:effectLst/>
                <a:latin typeface="Times New Roman" panose="02020603050405020304" pitchFamily="18" charset="0"/>
                <a:cs typeface="Times New Roman" panose="02020603050405020304" pitchFamily="18" charset="0"/>
              </a:rPr>
              <a:t>Innovation and Technology:</a:t>
            </a:r>
            <a:r>
              <a:rPr lang="en-US" sz="2600" b="0" i="0" dirty="0">
                <a:solidFill>
                  <a:schemeClr val="tx1"/>
                </a:solidFill>
                <a:effectLst/>
                <a:latin typeface="Times New Roman" panose="02020603050405020304" pitchFamily="18" charset="0"/>
                <a:cs typeface="Times New Roman" panose="02020603050405020304" pitchFamily="18" charset="0"/>
              </a:rPr>
              <a:t> Encouraging sustainable technologies and innovation can lead to economic growth while reducing negative environmental and social impacts.</a:t>
            </a:r>
          </a:p>
          <a:p>
            <a:pPr marL="800100" lvl="1" indent="-342900" algn="l">
              <a:buFont typeface="Arial" pitchFamily="34" charset="0"/>
              <a:buChar char="•"/>
            </a:pPr>
            <a:r>
              <a:rPr lang="en-US" sz="2600" b="1" i="0" dirty="0">
                <a:solidFill>
                  <a:schemeClr val="tx1"/>
                </a:solidFill>
                <a:effectLst/>
                <a:latin typeface="Times New Roman" panose="02020603050405020304" pitchFamily="18" charset="0"/>
                <a:cs typeface="Times New Roman" panose="02020603050405020304" pitchFamily="18" charset="0"/>
              </a:rPr>
              <a:t>Circular Economy:</a:t>
            </a:r>
            <a:r>
              <a:rPr lang="en-US" sz="2600" b="0" i="0" dirty="0">
                <a:solidFill>
                  <a:schemeClr val="tx1"/>
                </a:solidFill>
                <a:effectLst/>
                <a:latin typeface="Times New Roman" panose="02020603050405020304" pitchFamily="18" charset="0"/>
                <a:cs typeface="Times New Roman" panose="02020603050405020304" pitchFamily="18" charset="0"/>
              </a:rPr>
              <a:t> Promoting a circular economy involves minimizing waste by reusing, recycling, and regenerating resources, contributing to long-term economic sustainability.</a:t>
            </a:r>
          </a:p>
          <a:p>
            <a:pPr marL="800100" lvl="1" indent="-342900" algn="l">
              <a:buFont typeface="Arial" pitchFamily="34" charset="0"/>
              <a:buChar char="•"/>
            </a:pPr>
            <a:r>
              <a:rPr lang="en-US" sz="2600" b="1" i="0" dirty="0">
                <a:solidFill>
                  <a:schemeClr val="tx1"/>
                </a:solidFill>
                <a:effectLst/>
                <a:latin typeface="Times New Roman" panose="02020603050405020304" pitchFamily="18" charset="0"/>
                <a:cs typeface="Times New Roman" panose="02020603050405020304" pitchFamily="18" charset="0"/>
              </a:rPr>
              <a:t>Fair Trade:</a:t>
            </a:r>
            <a:r>
              <a:rPr lang="en-US" sz="2600" b="0" i="0" dirty="0">
                <a:solidFill>
                  <a:schemeClr val="tx1"/>
                </a:solidFill>
                <a:effectLst/>
                <a:latin typeface="Times New Roman" panose="02020603050405020304" pitchFamily="18" charset="0"/>
                <a:cs typeface="Times New Roman" panose="02020603050405020304" pitchFamily="18" charset="0"/>
              </a:rPr>
              <a:t> Supporting fair trade practices ensures that economic benefits are distributed more equitably among producers, promoting social and economic justice</a:t>
            </a:r>
          </a:p>
          <a:p>
            <a:endParaRPr lang="en-IN" dirty="0">
              <a:solidFill>
                <a:schemeClr val="tx1"/>
              </a:solidFill>
            </a:endParaRPr>
          </a:p>
        </p:txBody>
      </p:sp>
    </p:spTree>
    <p:extLst>
      <p:ext uri="{BB962C8B-B14F-4D97-AF65-F5344CB8AC3E}">
        <p14:creationId xmlns:p14="http://schemas.microsoft.com/office/powerpoint/2010/main" val="3047658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864DD-2AC0-5A2F-9E00-9B68452E4643}"/>
              </a:ext>
            </a:extLst>
          </p:cNvPr>
          <p:cNvSpPr>
            <a:spLocks noGrp="1"/>
          </p:cNvSpPr>
          <p:nvPr>
            <p:ph type="title"/>
          </p:nvPr>
        </p:nvSpPr>
        <p:spPr>
          <a:xfrm>
            <a:off x="479376" y="500062"/>
            <a:ext cx="10515600" cy="1325563"/>
          </a:xfrm>
        </p:spPr>
        <p:txBody>
          <a:bodyPr/>
          <a:lstStyle/>
          <a:p>
            <a:pPr algn="ctr"/>
            <a:r>
              <a:rPr lang="en-US" b="1" i="0" dirty="0">
                <a:solidFill>
                  <a:srgbClr val="7030A0"/>
                </a:solidFill>
                <a:effectLst/>
              </a:rPr>
              <a:t>Social Aspect of Sustainability</a:t>
            </a:r>
            <a:br>
              <a:rPr lang="en-US" b="0" i="0" dirty="0">
                <a:solidFill>
                  <a:srgbClr val="D1D5DB"/>
                </a:solidFill>
                <a:effectLst/>
                <a:latin typeface="Söhne"/>
              </a:rPr>
            </a:br>
            <a:endParaRPr lang="en-IN" dirty="0"/>
          </a:p>
        </p:txBody>
      </p:sp>
      <p:sp>
        <p:nvSpPr>
          <p:cNvPr id="3" name="Content Placeholder 2">
            <a:extLst>
              <a:ext uri="{FF2B5EF4-FFF2-40B4-BE49-F238E27FC236}">
                <a16:creationId xmlns:a16="http://schemas.microsoft.com/office/drawing/2014/main" id="{A4F7E1A5-21A2-DAA9-5EFF-3FA3FACCE640}"/>
              </a:ext>
            </a:extLst>
          </p:cNvPr>
          <p:cNvSpPr>
            <a:spLocks noGrp="1"/>
          </p:cNvSpPr>
          <p:nvPr>
            <p:ph idx="1"/>
          </p:nvPr>
        </p:nvSpPr>
        <p:spPr>
          <a:xfrm>
            <a:off x="623392" y="1825625"/>
            <a:ext cx="10730408" cy="4351338"/>
          </a:xfrm>
        </p:spPr>
        <p:txBody>
          <a:bodyPr>
            <a:normAutofit fontScale="92500"/>
          </a:bodyPr>
          <a:lstStyle/>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Social Equity:</a:t>
            </a:r>
            <a:r>
              <a:rPr lang="en-US" sz="2600" b="0" i="0" dirty="0">
                <a:effectLst/>
                <a:latin typeface="Times New Roman" panose="02020603050405020304" pitchFamily="18" charset="0"/>
                <a:cs typeface="Times New Roman" panose="02020603050405020304" pitchFamily="18" charset="0"/>
              </a:rPr>
              <a:t> Sustainable development seeks to reduce disparities in access to resources, opportunities, and benefits among different social groups.</a:t>
            </a: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Community Engagement:</a:t>
            </a:r>
            <a:r>
              <a:rPr lang="en-US" sz="2600" b="0" i="0" dirty="0">
                <a:effectLst/>
                <a:latin typeface="Times New Roman" panose="02020603050405020304" pitchFamily="18" charset="0"/>
                <a:cs typeface="Times New Roman" panose="02020603050405020304" pitchFamily="18" charset="0"/>
              </a:rPr>
              <a:t> Involving communities in decision-making processes ensures that their needs and concerns are considered, fostering social inclusivity.</a:t>
            </a: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Health and Well-being:</a:t>
            </a:r>
            <a:r>
              <a:rPr lang="en-US" sz="2600" b="0" i="0" dirty="0">
                <a:effectLst/>
                <a:latin typeface="Times New Roman" panose="02020603050405020304" pitchFamily="18" charset="0"/>
                <a:cs typeface="Times New Roman" panose="02020603050405020304" pitchFamily="18" charset="0"/>
              </a:rPr>
              <a:t> Sustainable practices aim to enhance overall well-being, including physical and mental health, by creating environments that support healthy living.</a:t>
            </a: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Education and Awareness:</a:t>
            </a:r>
            <a:r>
              <a:rPr lang="en-US" sz="2600" b="0" i="0" dirty="0">
                <a:effectLst/>
                <a:latin typeface="Times New Roman" panose="02020603050405020304" pitchFamily="18" charset="0"/>
                <a:cs typeface="Times New Roman" panose="02020603050405020304" pitchFamily="18" charset="0"/>
              </a:rPr>
              <a:t> Promoting education and awareness about sustainability issues empowers individuals and communities to make informed decisions and participate in sustainable practices.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7415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A8526-2189-0D67-D8A7-85362AC9BFAF}"/>
              </a:ext>
            </a:extLst>
          </p:cNvPr>
          <p:cNvSpPr>
            <a:spLocks noGrp="1"/>
          </p:cNvSpPr>
          <p:nvPr>
            <p:ph type="title"/>
          </p:nvPr>
        </p:nvSpPr>
        <p:spPr/>
        <p:txBody>
          <a:bodyPr>
            <a:normAutofit fontScale="90000"/>
          </a:bodyPr>
          <a:lstStyle/>
          <a:p>
            <a:pPr algn="ctr"/>
            <a:r>
              <a:rPr lang="en-US" sz="4000" b="1" i="0">
                <a:solidFill>
                  <a:srgbClr val="C00000"/>
                </a:solidFill>
                <a:effectLst/>
              </a:rPr>
              <a:t>Environmental Aspect of Sustainability:</a:t>
            </a:r>
            <a:br>
              <a:rPr lang="en-US" b="0" i="0">
                <a:solidFill>
                  <a:srgbClr val="D1D5DB"/>
                </a:solidFill>
                <a:effectLst/>
                <a:latin typeface="Söhne"/>
              </a:rPr>
            </a:br>
            <a:endParaRPr lang="en-IN"/>
          </a:p>
        </p:txBody>
      </p:sp>
      <p:sp>
        <p:nvSpPr>
          <p:cNvPr id="3" name="Content Placeholder 2">
            <a:extLst>
              <a:ext uri="{FF2B5EF4-FFF2-40B4-BE49-F238E27FC236}">
                <a16:creationId xmlns:a16="http://schemas.microsoft.com/office/drawing/2014/main" id="{23BA2E8D-3B50-3478-D662-DC25009638D2}"/>
              </a:ext>
            </a:extLst>
          </p:cNvPr>
          <p:cNvSpPr>
            <a:spLocks noGrp="1"/>
          </p:cNvSpPr>
          <p:nvPr>
            <p:ph idx="1"/>
          </p:nvPr>
        </p:nvSpPr>
        <p:spPr>
          <a:xfrm>
            <a:off x="335360" y="1340768"/>
            <a:ext cx="11233248" cy="5040560"/>
          </a:xfrm>
        </p:spPr>
        <p:txBody>
          <a:bodyPr>
            <a:normAutofit fontScale="92500" lnSpcReduction="20000"/>
          </a:bodyPr>
          <a:lstStyle/>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Biodiversity Conservation:</a:t>
            </a:r>
            <a:r>
              <a:rPr lang="en-US" sz="2600" b="0" i="0" dirty="0">
                <a:effectLst/>
                <a:latin typeface="Times New Roman" panose="02020603050405020304" pitchFamily="18" charset="0"/>
                <a:cs typeface="Times New Roman" panose="02020603050405020304" pitchFamily="18" charset="0"/>
              </a:rPr>
              <a:t> Sustainable practices aim to protect and preserve biodiversity, recognizing the interconnectedness of ecosystems and the services they provide.</a:t>
            </a:r>
          </a:p>
          <a:p>
            <a:pPr algn="l">
              <a:buFont typeface="Arial" pitchFamily="34" charset="0"/>
              <a:buChar char="•"/>
            </a:pPr>
            <a:endParaRPr lang="en-US" sz="26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Renewable Energy:</a:t>
            </a:r>
            <a:r>
              <a:rPr lang="en-US" sz="2600" b="0" i="0" dirty="0">
                <a:effectLst/>
                <a:latin typeface="Times New Roman" panose="02020603050405020304" pitchFamily="18" charset="0"/>
                <a:cs typeface="Times New Roman" panose="02020603050405020304" pitchFamily="18" charset="0"/>
              </a:rPr>
              <a:t> Transitioning to renewable energy sources reduces dependence on finite resources and minimizes environmental pollution.</a:t>
            </a:r>
          </a:p>
          <a:p>
            <a:pPr algn="l">
              <a:buFont typeface="Arial" pitchFamily="34" charset="0"/>
              <a:buChar char="•"/>
            </a:pPr>
            <a:endParaRPr lang="en-US" sz="26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Waste Reduction and Recycling:</a:t>
            </a:r>
            <a:r>
              <a:rPr lang="en-US" sz="2600" b="0" i="0" dirty="0">
                <a:effectLst/>
                <a:latin typeface="Times New Roman" panose="02020603050405020304" pitchFamily="18" charset="0"/>
                <a:cs typeface="Times New Roman" panose="02020603050405020304" pitchFamily="18" charset="0"/>
              </a:rPr>
              <a:t> Sustainable waste management practices focus on reducing, reusing, and recycling materials to minimize environmental impact.</a:t>
            </a:r>
          </a:p>
          <a:p>
            <a:pPr algn="l">
              <a:buFont typeface="Arial" pitchFamily="34" charset="0"/>
              <a:buChar char="•"/>
            </a:pPr>
            <a:endParaRPr lang="en-US" sz="2600" b="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600" b="1" i="0" dirty="0">
                <a:effectLst/>
                <a:latin typeface="Times New Roman" panose="02020603050405020304" pitchFamily="18" charset="0"/>
                <a:cs typeface="Times New Roman" panose="02020603050405020304" pitchFamily="18" charset="0"/>
              </a:rPr>
              <a:t>Climate Change Mitigation:</a:t>
            </a:r>
            <a:r>
              <a:rPr lang="en-US" sz="2600" b="0" i="0" dirty="0">
                <a:effectLst/>
                <a:latin typeface="Times New Roman" panose="02020603050405020304" pitchFamily="18" charset="0"/>
                <a:cs typeface="Times New Roman" panose="02020603050405020304" pitchFamily="18" charset="0"/>
              </a:rPr>
              <a:t> Addressing climate change is a critical aspect of environmental sustainability, involving efforts to reduce greenhouse gas emissions and adapt to changing climatic conditions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6942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13051-0F35-FCE9-A6AA-C8703D0D2D21}"/>
              </a:ext>
            </a:extLst>
          </p:cNvPr>
          <p:cNvSpPr>
            <a:spLocks noGrp="1"/>
          </p:cNvSpPr>
          <p:nvPr>
            <p:ph type="title"/>
          </p:nvPr>
        </p:nvSpPr>
        <p:spPr>
          <a:xfrm>
            <a:off x="623392" y="521360"/>
            <a:ext cx="10515600" cy="1325563"/>
          </a:xfrm>
        </p:spPr>
        <p:txBody>
          <a:bodyPr/>
          <a:lstStyle/>
          <a:p>
            <a:pPr algn="ctr"/>
            <a:r>
              <a:rPr lang="en-US" sz="4000" b="1" i="0" dirty="0">
                <a:solidFill>
                  <a:srgbClr val="FF0000"/>
                </a:solidFill>
                <a:effectLst/>
              </a:rPr>
              <a:t>Interconnectedness of the Three Aspects</a:t>
            </a:r>
            <a:br>
              <a:rPr lang="en-US" b="0" i="0" dirty="0">
                <a:solidFill>
                  <a:srgbClr val="D1D5DB"/>
                </a:solidFill>
                <a:effectLst/>
                <a:latin typeface="Söhne"/>
              </a:rPr>
            </a:br>
            <a:endParaRPr lang="en-IN" dirty="0"/>
          </a:p>
        </p:txBody>
      </p:sp>
      <p:sp>
        <p:nvSpPr>
          <p:cNvPr id="3" name="Content Placeholder 2">
            <a:extLst>
              <a:ext uri="{FF2B5EF4-FFF2-40B4-BE49-F238E27FC236}">
                <a16:creationId xmlns:a16="http://schemas.microsoft.com/office/drawing/2014/main" id="{25F5284E-5A0D-1980-9DD8-C63F7C5B23ED}"/>
              </a:ext>
            </a:extLst>
          </p:cNvPr>
          <p:cNvSpPr>
            <a:spLocks noGrp="1"/>
          </p:cNvSpPr>
          <p:nvPr>
            <p:ph idx="1"/>
          </p:nvPr>
        </p:nvSpPr>
        <p:spPr>
          <a:xfrm>
            <a:off x="564433" y="1556792"/>
            <a:ext cx="10946432" cy="4351338"/>
          </a:xfrm>
        </p:spPr>
        <p:txBody>
          <a:bodyPr>
            <a:normAutofit/>
          </a:bodyPr>
          <a:lstStyle/>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Balancing Trade-offs: </a:t>
            </a:r>
            <a:r>
              <a:rPr lang="en-US" sz="2400" i="0" dirty="0">
                <a:effectLst/>
                <a:latin typeface="Times New Roman" panose="02020603050405020304" pitchFamily="18" charset="0"/>
                <a:cs typeface="Times New Roman" panose="02020603050405020304" pitchFamily="18" charset="0"/>
              </a:rPr>
              <a:t>Achieving sustainability requires balancing economic, social, and environmental goals, as actions in one dimension can affect the others.</a:t>
            </a:r>
          </a:p>
          <a:p>
            <a:pPr algn="l">
              <a:buFont typeface="Arial" pitchFamily="34" charset="0"/>
              <a:buChar char="•"/>
            </a:pPr>
            <a:endParaRPr lang="en-US" sz="240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Long-Term Perspective: </a:t>
            </a:r>
            <a:r>
              <a:rPr lang="en-US" sz="2400" i="0" dirty="0">
                <a:effectLst/>
                <a:latin typeface="Times New Roman" panose="02020603050405020304" pitchFamily="18" charset="0"/>
                <a:cs typeface="Times New Roman" panose="02020603050405020304" pitchFamily="18" charset="0"/>
              </a:rPr>
              <a:t>All three dimensions necessitate a long-term perspective to ensure that current practices do not compromise the ability of future generations to meet their needs.</a:t>
            </a:r>
          </a:p>
          <a:p>
            <a:pPr marL="0" indent="0" algn="l">
              <a:buNone/>
            </a:pPr>
            <a:endParaRPr lang="en-US" sz="2400" i="0" dirty="0">
              <a:effectLst/>
              <a:latin typeface="Times New Roman" panose="02020603050405020304" pitchFamily="18" charset="0"/>
              <a:cs typeface="Times New Roman" panose="02020603050405020304" pitchFamily="18" charset="0"/>
            </a:endParaRPr>
          </a:p>
          <a:p>
            <a:pPr algn="l">
              <a:buFont typeface="Arial" pitchFamily="34" charset="0"/>
              <a:buChar char="•"/>
            </a:pPr>
            <a:r>
              <a:rPr lang="en-US" sz="2400" b="1" i="0" dirty="0">
                <a:effectLst/>
                <a:latin typeface="Times New Roman" panose="02020603050405020304" pitchFamily="18" charset="0"/>
                <a:cs typeface="Times New Roman" panose="02020603050405020304" pitchFamily="18" charset="0"/>
              </a:rPr>
              <a:t>Corporate Social Responsibility (CSR): </a:t>
            </a:r>
            <a:r>
              <a:rPr lang="en-US" sz="2400" i="0" dirty="0">
                <a:effectLst/>
                <a:latin typeface="Times New Roman" panose="02020603050405020304" pitchFamily="18" charset="0"/>
                <a:cs typeface="Times New Roman" panose="02020603050405020304" pitchFamily="18" charset="0"/>
              </a:rPr>
              <a:t>Businesses increasingly recognize the importance of integrating economic, social, and environmental considerations into their operations to contribute to sustainable development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3723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BDDF7-7055-BFED-9166-CB6046778499}"/>
              </a:ext>
            </a:extLst>
          </p:cNvPr>
          <p:cNvSpPr>
            <a:spLocks noGrp="1"/>
          </p:cNvSpPr>
          <p:nvPr>
            <p:ph type="ctrTitle"/>
          </p:nvPr>
        </p:nvSpPr>
        <p:spPr>
          <a:xfrm>
            <a:off x="1271464" y="404664"/>
            <a:ext cx="8964706" cy="1002272"/>
          </a:xfrm>
        </p:spPr>
        <p:txBody>
          <a:bodyPr>
            <a:normAutofit/>
          </a:bodyPr>
          <a:lstStyle/>
          <a:p>
            <a:r>
              <a:rPr lang="en-IN" sz="4000" dirty="0">
                <a:solidFill>
                  <a:srgbClr val="00B0F0"/>
                </a:solidFill>
              </a:rPr>
              <a:t>Millennium development goals </a:t>
            </a:r>
          </a:p>
        </p:txBody>
      </p:sp>
      <p:sp>
        <p:nvSpPr>
          <p:cNvPr id="3" name="Subtitle 2">
            <a:extLst>
              <a:ext uri="{FF2B5EF4-FFF2-40B4-BE49-F238E27FC236}">
                <a16:creationId xmlns:a16="http://schemas.microsoft.com/office/drawing/2014/main" id="{E268F04A-C892-C365-A151-D0F1CC0D2C12}"/>
              </a:ext>
            </a:extLst>
          </p:cNvPr>
          <p:cNvSpPr>
            <a:spLocks noGrp="1"/>
          </p:cNvSpPr>
          <p:nvPr>
            <p:ph type="subTitle" idx="1"/>
          </p:nvPr>
        </p:nvSpPr>
        <p:spPr>
          <a:xfrm>
            <a:off x="715106" y="1988840"/>
            <a:ext cx="10853502" cy="5013044"/>
          </a:xfrm>
        </p:spPr>
        <p:txBody>
          <a:bodyPr>
            <a:normAutofit/>
          </a:bodyPr>
          <a:lstStyle/>
          <a:p>
            <a:pPr marL="342900" indent="-342900" algn="l">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The Millennium Development Goals (MDGs) were a set of eight international development goals that were established following the Millennium Summit of the United Nations in 2000. </a:t>
            </a:r>
          </a:p>
          <a:p>
            <a:pPr marL="342900" indent="-342900" algn="l">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These goals were designed to address various global challenges and improve the living conditions of people around the world. </a:t>
            </a:r>
          </a:p>
          <a:p>
            <a:pPr marL="342900" indent="-342900" algn="l">
              <a:buFont typeface="Arial" panose="020B0604020202020204" pitchFamily="34" charset="0"/>
              <a:buChar char="•"/>
            </a:pPr>
            <a:r>
              <a:rPr lang="en-US" sz="2200" b="0" i="0" dirty="0">
                <a:effectLst/>
                <a:latin typeface="Times New Roman" panose="02020603050405020304" pitchFamily="18" charset="0"/>
                <a:cs typeface="Times New Roman" panose="02020603050405020304" pitchFamily="18" charset="0"/>
              </a:rPr>
              <a:t>The MDGs aimed to be achieved by the year 2015. While the MDGs have officially concluded, their impact and lessons learned have influenced subsequent global development initiatives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39273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17275-12EE-69EE-303B-0C82A605EE99}"/>
              </a:ext>
            </a:extLst>
          </p:cNvPr>
          <p:cNvSpPr>
            <a:spLocks noGrp="1"/>
          </p:cNvSpPr>
          <p:nvPr>
            <p:ph type="ctrTitle"/>
          </p:nvPr>
        </p:nvSpPr>
        <p:spPr>
          <a:xfrm>
            <a:off x="1524000" y="378292"/>
            <a:ext cx="8641976" cy="1020202"/>
          </a:xfrm>
        </p:spPr>
        <p:txBody>
          <a:bodyPr>
            <a:noAutofit/>
          </a:bodyPr>
          <a:lstStyle/>
          <a:p>
            <a:r>
              <a:rPr lang="en-US" sz="3600" b="0" i="0">
                <a:solidFill>
                  <a:srgbClr val="0070C0"/>
                </a:solidFill>
                <a:effectLst/>
              </a:rPr>
              <a:t>The eight Millennium Development Goals were</a:t>
            </a:r>
            <a:endParaRPr lang="en-IN" sz="3600">
              <a:solidFill>
                <a:srgbClr val="0070C0"/>
              </a:solidFill>
            </a:endParaRPr>
          </a:p>
        </p:txBody>
      </p:sp>
      <p:sp>
        <p:nvSpPr>
          <p:cNvPr id="3" name="Subtitle 2">
            <a:extLst>
              <a:ext uri="{FF2B5EF4-FFF2-40B4-BE49-F238E27FC236}">
                <a16:creationId xmlns:a16="http://schemas.microsoft.com/office/drawing/2014/main" id="{2434E252-BBE8-41EB-CF58-E9E2046B8A82}"/>
              </a:ext>
            </a:extLst>
          </p:cNvPr>
          <p:cNvSpPr>
            <a:spLocks noGrp="1"/>
          </p:cNvSpPr>
          <p:nvPr>
            <p:ph type="subTitle" idx="1"/>
          </p:nvPr>
        </p:nvSpPr>
        <p:spPr>
          <a:xfrm>
            <a:off x="551385" y="1513260"/>
            <a:ext cx="11377264" cy="5192340"/>
          </a:xfrm>
        </p:spPr>
        <p:txBody>
          <a:bodyPr>
            <a:normAutofit lnSpcReduction="10000"/>
          </a:bodyPr>
          <a:lstStyle/>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Eradicate Extreme Poverty and Hunger:</a:t>
            </a:r>
            <a:r>
              <a:rPr lang="en-US" sz="2200" b="0" i="0" dirty="0">
                <a:effectLst/>
                <a:latin typeface="Times New Roman" panose="02020603050405020304" pitchFamily="18" charset="0"/>
                <a:cs typeface="Times New Roman" panose="02020603050405020304" pitchFamily="18" charset="0"/>
              </a:rPr>
              <a:t> Targeting the reduction of poverty and hunger by half.</a:t>
            </a:r>
          </a:p>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Achieve Universal Primary Education:</a:t>
            </a:r>
            <a:r>
              <a:rPr lang="en-US" sz="2200" b="0" i="0" dirty="0">
                <a:effectLst/>
                <a:latin typeface="Times New Roman" panose="02020603050405020304" pitchFamily="18" charset="0"/>
                <a:cs typeface="Times New Roman" panose="02020603050405020304" pitchFamily="18" charset="0"/>
              </a:rPr>
              <a:t> Ensuring that all boys and girls complete primary education.</a:t>
            </a:r>
          </a:p>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Promote Gender Equality and Empower Women:</a:t>
            </a:r>
            <a:r>
              <a:rPr lang="en-US" sz="2200" b="0" i="0" dirty="0">
                <a:effectLst/>
                <a:latin typeface="Times New Roman" panose="02020603050405020304" pitchFamily="18" charset="0"/>
                <a:cs typeface="Times New Roman" panose="02020603050405020304" pitchFamily="18" charset="0"/>
              </a:rPr>
              <a:t> Eliminating gender disparity in primary and secondary education and promoting gender equality in all levels of education.</a:t>
            </a:r>
          </a:p>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Reduce Child Mortality:</a:t>
            </a:r>
            <a:r>
              <a:rPr lang="en-US" sz="2200" b="0" i="0" dirty="0">
                <a:effectLst/>
                <a:latin typeface="Times New Roman" panose="02020603050405020304" pitchFamily="18" charset="0"/>
                <a:cs typeface="Times New Roman" panose="02020603050405020304" pitchFamily="18" charset="0"/>
              </a:rPr>
              <a:t> Reducing the under-five mortality rate and improving maternal health.</a:t>
            </a:r>
          </a:p>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Improve Maternal Health:</a:t>
            </a:r>
            <a:r>
              <a:rPr lang="en-US" sz="2200" b="0" i="0" dirty="0">
                <a:effectLst/>
                <a:latin typeface="Times New Roman" panose="02020603050405020304" pitchFamily="18" charset="0"/>
                <a:cs typeface="Times New Roman" panose="02020603050405020304" pitchFamily="18" charset="0"/>
              </a:rPr>
              <a:t> Reducing maternal mortality and ensuring universal access to reproductive health.</a:t>
            </a:r>
          </a:p>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Ensure Environmental Sustainability:</a:t>
            </a:r>
            <a:r>
              <a:rPr lang="en-US" sz="2200" b="0" i="0" dirty="0">
                <a:effectLst/>
                <a:latin typeface="Times New Roman" panose="02020603050405020304" pitchFamily="18" charset="0"/>
                <a:cs typeface="Times New Roman" panose="02020603050405020304" pitchFamily="18" charset="0"/>
              </a:rPr>
              <a:t> Integrating sustainable development principles and addressing issues like access to safe drinking water, sanitation, and slum conditions.</a:t>
            </a:r>
          </a:p>
          <a:p>
            <a:pPr algn="l">
              <a:buFont typeface="+mj-lt"/>
              <a:buAutoNum type="arabicPeriod"/>
            </a:pPr>
            <a:r>
              <a:rPr lang="en-US" sz="2200" b="1" i="0" dirty="0">
                <a:effectLst/>
                <a:latin typeface="Times New Roman" panose="02020603050405020304" pitchFamily="18" charset="0"/>
                <a:cs typeface="Times New Roman" panose="02020603050405020304" pitchFamily="18" charset="0"/>
              </a:rPr>
              <a:t>Develop a Global Partnership for Development:</a:t>
            </a:r>
            <a:r>
              <a:rPr lang="en-US" sz="2200" b="0" i="0" dirty="0">
                <a:effectLst/>
                <a:latin typeface="Times New Roman" panose="02020603050405020304" pitchFamily="18" charset="0"/>
                <a:cs typeface="Times New Roman" panose="02020603050405020304" pitchFamily="18" charset="0"/>
              </a:rPr>
              <a:t> Fostering a global partnership for development, including issues like aid, trade, and debt relief.</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688450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7028B-1AAC-5CFA-A822-51AAC08E8BA6}"/>
              </a:ext>
            </a:extLst>
          </p:cNvPr>
          <p:cNvSpPr>
            <a:spLocks noGrp="1"/>
          </p:cNvSpPr>
          <p:nvPr>
            <p:ph type="ctrTitle"/>
          </p:nvPr>
        </p:nvSpPr>
        <p:spPr>
          <a:xfrm>
            <a:off x="1380563" y="171218"/>
            <a:ext cx="8704731" cy="788006"/>
          </a:xfrm>
        </p:spPr>
        <p:txBody>
          <a:bodyPr>
            <a:normAutofit/>
          </a:bodyPr>
          <a:lstStyle/>
          <a:p>
            <a:r>
              <a:rPr lang="en-IN" sz="4000">
                <a:solidFill>
                  <a:srgbClr val="C00000"/>
                </a:solidFill>
              </a:rPr>
              <a:t>Protocols</a:t>
            </a:r>
          </a:p>
        </p:txBody>
      </p:sp>
      <p:sp>
        <p:nvSpPr>
          <p:cNvPr id="3" name="Subtitle 2">
            <a:extLst>
              <a:ext uri="{FF2B5EF4-FFF2-40B4-BE49-F238E27FC236}">
                <a16:creationId xmlns:a16="http://schemas.microsoft.com/office/drawing/2014/main" id="{E9145775-E3FE-F7B6-4AF6-40B05A98C98B}"/>
              </a:ext>
            </a:extLst>
          </p:cNvPr>
          <p:cNvSpPr>
            <a:spLocks noGrp="1"/>
          </p:cNvSpPr>
          <p:nvPr>
            <p:ph type="subTitle" idx="1"/>
          </p:nvPr>
        </p:nvSpPr>
        <p:spPr>
          <a:xfrm>
            <a:off x="972670" y="1111624"/>
            <a:ext cx="10833848" cy="5647764"/>
          </a:xfrm>
        </p:spPr>
        <p:txBody>
          <a:bodyPr>
            <a:normAutofit fontScale="85000" lnSpcReduction="20000"/>
          </a:bodyPr>
          <a:lstStyle/>
          <a:p>
            <a:pPr algn="l"/>
            <a:r>
              <a:rPr lang="en-US" sz="2600" dirty="0">
                <a:latin typeface="Times New Roman" panose="02020603050405020304" pitchFamily="18" charset="0"/>
                <a:cs typeface="Times New Roman" panose="02020603050405020304" pitchFamily="18" charset="0"/>
              </a:rPr>
              <a:t>T</a:t>
            </a:r>
            <a:r>
              <a:rPr lang="en-US" sz="2600" b="0" i="0" dirty="0">
                <a:effectLst/>
                <a:latin typeface="Times New Roman" panose="02020603050405020304" pitchFamily="18" charset="0"/>
                <a:cs typeface="Times New Roman" panose="02020603050405020304" pitchFamily="18" charset="0"/>
              </a:rPr>
              <a:t>here are various international protocols and agreements that address specific issues. Some examples include:</a:t>
            </a:r>
          </a:p>
          <a:p>
            <a:pPr algn="l">
              <a:buFont typeface="+mj-lt"/>
              <a:buAutoNum type="arabicPeriod"/>
            </a:pPr>
            <a:r>
              <a:rPr lang="en-US" sz="2600" b="1" i="0" dirty="0">
                <a:effectLst/>
                <a:latin typeface="Times New Roman" panose="02020603050405020304" pitchFamily="18" charset="0"/>
                <a:cs typeface="Times New Roman" panose="02020603050405020304" pitchFamily="18" charset="0"/>
              </a:rPr>
              <a:t>Kyoto Protocol (1997):</a:t>
            </a:r>
            <a:r>
              <a:rPr lang="en-US" sz="2600" b="0" i="0" dirty="0">
                <a:effectLst/>
                <a:latin typeface="Times New Roman" panose="02020603050405020304" pitchFamily="18" charset="0"/>
                <a:cs typeface="Times New Roman" panose="02020603050405020304" pitchFamily="18" charset="0"/>
              </a:rPr>
              <a:t> An international treaty aimed at reducing greenhouse gas emissions to combat climate change.</a:t>
            </a:r>
          </a:p>
          <a:p>
            <a:pPr algn="l">
              <a:buFont typeface="+mj-lt"/>
              <a:buAutoNum type="arabicPeriod"/>
            </a:pPr>
            <a:r>
              <a:rPr lang="en-US" sz="2600" b="1" i="0" dirty="0">
                <a:effectLst/>
                <a:latin typeface="Times New Roman" panose="02020603050405020304" pitchFamily="18" charset="0"/>
                <a:cs typeface="Times New Roman" panose="02020603050405020304" pitchFamily="18" charset="0"/>
              </a:rPr>
              <a:t>Paris Agreement (2015):</a:t>
            </a:r>
            <a:r>
              <a:rPr lang="en-US" sz="2600" b="0" i="0" dirty="0">
                <a:effectLst/>
                <a:latin typeface="Times New Roman" panose="02020603050405020304" pitchFamily="18" charset="0"/>
                <a:cs typeface="Times New Roman" panose="02020603050405020304" pitchFamily="18" charset="0"/>
              </a:rPr>
              <a:t> A landmark agreement within the United Nations Framework Convention on Climate Change (UNFCCC) that aims to limit global warming to well below 2 degrees Celsius above pre-industrial levels.</a:t>
            </a:r>
          </a:p>
          <a:p>
            <a:pPr algn="l">
              <a:buFont typeface="+mj-lt"/>
              <a:buAutoNum type="arabicPeriod"/>
            </a:pPr>
            <a:r>
              <a:rPr lang="en-US" sz="2600" b="1" i="0" dirty="0">
                <a:effectLst/>
                <a:latin typeface="Times New Roman" panose="02020603050405020304" pitchFamily="18" charset="0"/>
                <a:cs typeface="Times New Roman" panose="02020603050405020304" pitchFamily="18" charset="0"/>
              </a:rPr>
              <a:t>Convention on Biological Diversity (CBD):</a:t>
            </a:r>
            <a:r>
              <a:rPr lang="en-US" sz="2600" b="0" i="0" dirty="0">
                <a:effectLst/>
                <a:latin typeface="Times New Roman" panose="02020603050405020304" pitchFamily="18" charset="0"/>
                <a:cs typeface="Times New Roman" panose="02020603050405020304" pitchFamily="18" charset="0"/>
              </a:rPr>
              <a:t> An international treaty that aims to conserve biodiversity, ensure sustainable use of biological resources, and promote the fair and equitable sharing of benefits arising from the use of genetic resources.</a:t>
            </a:r>
          </a:p>
          <a:p>
            <a:pPr algn="l">
              <a:buFont typeface="+mj-lt"/>
              <a:buAutoNum type="arabicPeriod"/>
            </a:pPr>
            <a:r>
              <a:rPr lang="en-US" sz="2600" b="1" i="0" dirty="0">
                <a:effectLst/>
                <a:latin typeface="Times New Roman" panose="02020603050405020304" pitchFamily="18" charset="0"/>
                <a:cs typeface="Times New Roman" panose="02020603050405020304" pitchFamily="18" charset="0"/>
              </a:rPr>
              <a:t>United Nations Convention to Combat Desertification (UNCCD):</a:t>
            </a:r>
            <a:r>
              <a:rPr lang="en-US" sz="2600" b="0" i="0" dirty="0">
                <a:effectLst/>
                <a:latin typeface="Times New Roman" panose="02020603050405020304" pitchFamily="18" charset="0"/>
                <a:cs typeface="Times New Roman" panose="02020603050405020304" pitchFamily="18" charset="0"/>
              </a:rPr>
              <a:t> A convention that addresses desertification, land degradation, and drought.</a:t>
            </a:r>
          </a:p>
          <a:p>
            <a:pPr algn="l">
              <a:buFont typeface="+mj-lt"/>
              <a:buAutoNum type="arabicPeriod"/>
            </a:pPr>
            <a:r>
              <a:rPr lang="en-US" sz="2600" b="1" i="0" dirty="0">
                <a:effectLst/>
                <a:latin typeface="Times New Roman" panose="02020603050405020304" pitchFamily="18" charset="0"/>
                <a:cs typeface="Times New Roman" panose="02020603050405020304" pitchFamily="18" charset="0"/>
              </a:rPr>
              <a:t>Convention on the Rights of the Child (CRC):</a:t>
            </a:r>
            <a:r>
              <a:rPr lang="en-US" sz="2600" b="0" i="0" dirty="0">
                <a:effectLst/>
                <a:latin typeface="Times New Roman" panose="02020603050405020304" pitchFamily="18" charset="0"/>
                <a:cs typeface="Times New Roman" panose="02020603050405020304" pitchFamily="18" charset="0"/>
              </a:rPr>
              <a:t> An international human rights treaty that outlines the rights of children.</a:t>
            </a:r>
          </a:p>
          <a:p>
            <a:pPr algn="l">
              <a:buFont typeface="+mj-lt"/>
              <a:buAutoNum type="arabicPeriod"/>
            </a:pPr>
            <a:r>
              <a:rPr lang="en-US" sz="2600" b="1" i="0" dirty="0">
                <a:effectLst/>
                <a:latin typeface="Times New Roman" panose="02020603050405020304" pitchFamily="18" charset="0"/>
                <a:cs typeface="Times New Roman" panose="02020603050405020304" pitchFamily="18" charset="0"/>
              </a:rPr>
              <a:t>International Covenant on Economic, Social, and Cultural Rights (ICESCR):</a:t>
            </a:r>
            <a:r>
              <a:rPr lang="en-US" sz="2600" b="0" i="0" dirty="0">
                <a:effectLst/>
                <a:latin typeface="Times New Roman" panose="02020603050405020304" pitchFamily="18" charset="0"/>
                <a:cs typeface="Times New Roman" panose="02020603050405020304" pitchFamily="18" charset="0"/>
              </a:rPr>
              <a:t> A treaty that aims to protect and promote economic, social, and cultural rights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56028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4F159-BB02-F692-1AC0-A401FE137E98}"/>
              </a:ext>
            </a:extLst>
          </p:cNvPr>
          <p:cNvSpPr>
            <a:spLocks noGrp="1"/>
          </p:cNvSpPr>
          <p:nvPr>
            <p:ph type="ctrTitle"/>
          </p:nvPr>
        </p:nvSpPr>
        <p:spPr>
          <a:xfrm>
            <a:off x="817365" y="314960"/>
            <a:ext cx="8981440" cy="1336357"/>
          </a:xfrm>
        </p:spPr>
        <p:txBody>
          <a:bodyPr>
            <a:normAutofit fontScale="90000"/>
          </a:bodyPr>
          <a:lstStyle/>
          <a:p>
            <a:br>
              <a:rPr lang="en-US" dirty="0"/>
            </a:br>
            <a:r>
              <a:rPr lang="en-US" sz="4400" dirty="0">
                <a:solidFill>
                  <a:srgbClr val="FF0000"/>
                </a:solidFill>
              </a:rPr>
              <a:t>L</a:t>
            </a:r>
            <a:r>
              <a:rPr lang="en-US" sz="4400" b="0" i="0" dirty="0">
                <a:solidFill>
                  <a:srgbClr val="FF0000"/>
                </a:solidFill>
                <a:effectLst/>
              </a:rPr>
              <a:t>inear v/s cyclical resource management system</a:t>
            </a:r>
            <a:endParaRPr lang="en-IN" sz="4400" dirty="0">
              <a:solidFill>
                <a:srgbClr val="FF0000"/>
              </a:solidFill>
            </a:endParaRPr>
          </a:p>
        </p:txBody>
      </p:sp>
      <p:sp>
        <p:nvSpPr>
          <p:cNvPr id="3" name="Subtitle 2">
            <a:extLst>
              <a:ext uri="{FF2B5EF4-FFF2-40B4-BE49-F238E27FC236}">
                <a16:creationId xmlns:a16="http://schemas.microsoft.com/office/drawing/2014/main" id="{AC9FCB40-10B2-312A-A452-3DDA4717F404}"/>
              </a:ext>
            </a:extLst>
          </p:cNvPr>
          <p:cNvSpPr>
            <a:spLocks noGrp="1"/>
          </p:cNvSpPr>
          <p:nvPr>
            <p:ph type="subTitle" idx="1"/>
          </p:nvPr>
        </p:nvSpPr>
        <p:spPr>
          <a:xfrm>
            <a:off x="833120" y="1757680"/>
            <a:ext cx="10607040" cy="4785360"/>
          </a:xfrm>
        </p:spPr>
        <p:txBody>
          <a:bodyPr>
            <a:noAutofit/>
          </a:bodyPr>
          <a:lstStyle/>
          <a:p>
            <a:pPr marL="342900" indent="-342900" algn="l">
              <a:buFont typeface="Arial" pitchFamily="34" charset="0"/>
              <a:buChar char="•"/>
            </a:pPr>
            <a:r>
              <a:rPr lang="en-US" sz="2200" b="0" i="0" dirty="0">
                <a:effectLst/>
                <a:latin typeface="Times New Roman" panose="02020603050405020304" pitchFamily="18" charset="0"/>
                <a:cs typeface="Times New Roman" panose="02020603050405020304" pitchFamily="18" charset="0"/>
              </a:rPr>
              <a:t>Linear and cyclical resource management systems represent two different approaches to handling resources, particularly in the context of environmental sustainability and resource utilization</a:t>
            </a:r>
          </a:p>
          <a:p>
            <a:pPr marL="342900" indent="-342900" algn="l">
              <a:buFont typeface="Arial" pitchFamily="34" charset="0"/>
              <a:buChar char="•"/>
            </a:pPr>
            <a:r>
              <a:rPr lang="en-US" sz="2200" dirty="0">
                <a:latin typeface="Times New Roman" panose="02020603050405020304" pitchFamily="18" charset="0"/>
                <a:cs typeface="Times New Roman" panose="02020603050405020304" pitchFamily="18" charset="0"/>
              </a:rPr>
              <a:t>Linear resource management system follows a traditional and often unsustainable approach, a cyclical resource management system, exemplified by the circular economy model, aims to create a more sustainable and regenerative system by closing the loop on resource use. </a:t>
            </a:r>
          </a:p>
          <a:p>
            <a:pPr marL="342900" indent="-342900" algn="l">
              <a:buFont typeface="Arial" pitchFamily="34" charset="0"/>
              <a:buChar char="•"/>
            </a:pPr>
            <a:r>
              <a:rPr lang="en-US" sz="2200" dirty="0">
                <a:latin typeface="Times New Roman" panose="02020603050405020304" pitchFamily="18" charset="0"/>
                <a:cs typeface="Times New Roman" panose="02020603050405020304" pitchFamily="18" charset="0"/>
              </a:rPr>
              <a:t>The transition from linear to circular models involves changes in production, consumption, and waste management practices, and it requires collaboration among various stakeholders, including businesses, governments, and consumers. </a:t>
            </a:r>
          </a:p>
          <a:p>
            <a:pPr marL="342900" indent="-342900" algn="l">
              <a:buFont typeface="Arial" pitchFamily="34" charset="0"/>
              <a:buChar char="•"/>
            </a:pPr>
            <a:r>
              <a:rPr lang="en-US" sz="2200" dirty="0">
                <a:latin typeface="Times New Roman" panose="02020603050405020304" pitchFamily="18" charset="0"/>
                <a:cs typeface="Times New Roman" panose="02020603050405020304" pitchFamily="18" charset="0"/>
              </a:rPr>
              <a:t>Many sustainability initiatives and policies worldwide are increasingly embracing circular economy principles to address the challenges of resource depletion and environmental degradation.</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3064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C1D235-FB44-767A-9918-7C6F43A6EFED}"/>
              </a:ext>
            </a:extLst>
          </p:cNvPr>
          <p:cNvSpPr txBox="1"/>
          <p:nvPr/>
        </p:nvSpPr>
        <p:spPr>
          <a:xfrm>
            <a:off x="983432" y="461264"/>
            <a:ext cx="6097554" cy="369332"/>
          </a:xfrm>
          <a:prstGeom prst="rect">
            <a:avLst/>
          </a:prstGeom>
          <a:noFill/>
        </p:spPr>
        <p:txBody>
          <a:bodyPr wrap="square">
            <a:spAutoFit/>
          </a:bodyPr>
          <a:lstStyle/>
          <a:p>
            <a:r>
              <a:rPr lang="en-US" sz="1800" dirty="0">
                <a:solidFill>
                  <a:srgbClr val="FF0000"/>
                </a:solidFill>
              </a:rPr>
              <a:t>L</a:t>
            </a:r>
            <a:r>
              <a:rPr lang="en-US" sz="1800" b="0" i="0" dirty="0">
                <a:solidFill>
                  <a:srgbClr val="FF0000"/>
                </a:solidFill>
                <a:effectLst/>
              </a:rPr>
              <a:t>inear v/s cyclical resource management system</a:t>
            </a:r>
            <a:endParaRPr lang="en-IN" dirty="0"/>
          </a:p>
        </p:txBody>
      </p:sp>
      <p:pic>
        <p:nvPicPr>
          <p:cNvPr id="5" name="Picture 4" descr="A diagram of a modern cyclic flow&#10;&#10;Description automatically generated">
            <a:extLst>
              <a:ext uri="{FF2B5EF4-FFF2-40B4-BE49-F238E27FC236}">
                <a16:creationId xmlns:a16="http://schemas.microsoft.com/office/drawing/2014/main" id="{BC627CAA-86A2-2F3B-6B33-B7152C5D87D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9456" y="1143000"/>
            <a:ext cx="9577064" cy="5238328"/>
          </a:xfrm>
          <a:prstGeom prst="rect">
            <a:avLst/>
          </a:prstGeom>
        </p:spPr>
      </p:pic>
    </p:spTree>
    <p:extLst>
      <p:ext uri="{BB962C8B-B14F-4D97-AF65-F5344CB8AC3E}">
        <p14:creationId xmlns:p14="http://schemas.microsoft.com/office/powerpoint/2010/main" val="8481308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FC3BD04-5D29-D285-E23C-129FCFFB2993}"/>
              </a:ext>
            </a:extLst>
          </p:cNvPr>
          <p:cNvSpPr txBox="1"/>
          <p:nvPr/>
        </p:nvSpPr>
        <p:spPr>
          <a:xfrm>
            <a:off x="254000" y="240804"/>
            <a:ext cx="11490960" cy="624786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dirty="0">
                <a:solidFill>
                  <a:schemeClr val="accent2"/>
                </a:solidFill>
                <a:latin typeface="Times New Roman" panose="02020603050405020304" pitchFamily="18" charset="0"/>
                <a:cs typeface="Times New Roman" panose="02020603050405020304" pitchFamily="18" charset="0"/>
              </a:rPr>
              <a:t>Linear Resource Management System:</a:t>
            </a:r>
          </a:p>
          <a:p>
            <a:endParaRPr lang="en-US" sz="2400" dirty="0">
              <a:solidFill>
                <a:schemeClr val="accent5"/>
              </a:solidFill>
              <a:latin typeface="Times New Roman" panose="02020603050405020304" pitchFamily="18" charset="0"/>
              <a:cs typeface="Times New Roman" panose="02020603050405020304" pitchFamily="18" charset="0"/>
            </a:endParaRPr>
          </a:p>
          <a:p>
            <a:r>
              <a:rPr lang="en-US" sz="2400" dirty="0">
                <a:solidFill>
                  <a:schemeClr val="accent5"/>
                </a:solidFill>
                <a:latin typeface="Times New Roman" panose="02020603050405020304" pitchFamily="18" charset="0"/>
                <a:cs typeface="Times New Roman" panose="02020603050405020304" pitchFamily="18" charset="0"/>
              </a:rPr>
              <a:t>Characteristics: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Linear systems typically follow a "take-make-dispose" model, where resources are extracted, processed into products, and then discarded after use.</a:t>
            </a:r>
          </a:p>
          <a:p>
            <a:r>
              <a:rPr lang="en-US" sz="2400" dirty="0">
                <a:latin typeface="Times New Roman" panose="02020603050405020304" pitchFamily="18" charset="0"/>
                <a:cs typeface="Times New Roman" panose="02020603050405020304" pitchFamily="18" charset="0"/>
              </a:rPr>
              <a:t>It often involves a one-way flow of materials through various stages of production, consumption, and disposal.</a:t>
            </a:r>
          </a:p>
          <a:p>
            <a:r>
              <a:rPr lang="en-US" sz="2400" dirty="0">
                <a:latin typeface="Times New Roman" panose="02020603050405020304" pitchFamily="18" charset="0"/>
                <a:cs typeface="Times New Roman" panose="02020603050405020304" pitchFamily="18" charset="0"/>
              </a:rPr>
              <a:t>The focus is on maximizing efficiency and minimizing costs in the short term.</a:t>
            </a:r>
          </a:p>
          <a:p>
            <a:r>
              <a:rPr lang="en-US" sz="2400" dirty="0">
                <a:latin typeface="Times New Roman" panose="02020603050405020304" pitchFamily="18" charset="0"/>
                <a:cs typeface="Times New Roman" panose="02020603050405020304" pitchFamily="18" charset="0"/>
              </a:rPr>
              <a:t>Environmental impacts such as resource depletion, pollution, and waste generation are significant concerns.</a:t>
            </a:r>
          </a:p>
          <a:p>
            <a:endParaRPr lang="en-US" sz="2400" dirty="0">
              <a:latin typeface="Times New Roman" panose="02020603050405020304" pitchFamily="18" charset="0"/>
              <a:cs typeface="Times New Roman" panose="02020603050405020304" pitchFamily="18" charset="0"/>
            </a:endParaRPr>
          </a:p>
          <a:p>
            <a:r>
              <a:rPr lang="en-US" sz="2400" dirty="0">
                <a:solidFill>
                  <a:schemeClr val="accent5"/>
                </a:solidFill>
                <a:latin typeface="Times New Roman" panose="02020603050405020304" pitchFamily="18" charset="0"/>
                <a:cs typeface="Times New Roman" panose="02020603050405020304" pitchFamily="18" charset="0"/>
              </a:rPr>
              <a:t>Critiques:</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Linear systems can lead to overexploitation of natural resources, environmental degradation, and the accumulation of waste.</a:t>
            </a:r>
          </a:p>
          <a:p>
            <a:r>
              <a:rPr lang="en-US" sz="2400" dirty="0">
                <a:latin typeface="Times New Roman" panose="02020603050405020304" pitchFamily="18" charset="0"/>
                <a:cs typeface="Times New Roman" panose="02020603050405020304" pitchFamily="18" charset="0"/>
              </a:rPr>
              <a:t>The model is often considered unsustainable in the long run, especially as global demand for resources continues to rise</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9290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C3BD-51A3-46C9-FA0A-968A5E2A9BE6}"/>
              </a:ext>
            </a:extLst>
          </p:cNvPr>
          <p:cNvSpPr>
            <a:spLocks noGrp="1"/>
          </p:cNvSpPr>
          <p:nvPr>
            <p:ph type="title"/>
          </p:nvPr>
        </p:nvSpPr>
        <p:spPr>
          <a:xfrm>
            <a:off x="424664" y="404664"/>
            <a:ext cx="11342672" cy="5588635"/>
          </a:xfrm>
        </p:spPr>
        <p:txBody>
          <a:bodyPr>
            <a:noAutofit/>
          </a:bodyPr>
          <a:lstStyle/>
          <a:p>
            <a:r>
              <a:rPr lang="en-US" sz="4000" b="1" i="0" dirty="0">
                <a:solidFill>
                  <a:schemeClr val="accent2"/>
                </a:solidFill>
                <a:effectLst/>
                <a:latin typeface="Times New Roman" panose="02020603050405020304" pitchFamily="18" charset="0"/>
                <a:cs typeface="Times New Roman" panose="02020603050405020304" pitchFamily="18" charset="0"/>
              </a:rPr>
              <a:t>Cyclical Resource Management System (Circular Economy):</a:t>
            </a:r>
            <a:br>
              <a:rPr lang="en-US" sz="2400" b="0" i="0" dirty="0">
                <a:effectLst/>
                <a:latin typeface="Times New Roman" panose="02020603050405020304" pitchFamily="18" charset="0"/>
                <a:cs typeface="Times New Roman" panose="02020603050405020304" pitchFamily="18" charset="0"/>
              </a:rPr>
            </a:br>
            <a:r>
              <a:rPr lang="en-US" sz="2400" b="1" i="0" dirty="0">
                <a:solidFill>
                  <a:schemeClr val="accent1"/>
                </a:solidFill>
                <a:effectLst/>
                <a:latin typeface="Times New Roman" panose="02020603050405020304" pitchFamily="18" charset="0"/>
                <a:cs typeface="Times New Roman" panose="02020603050405020304" pitchFamily="18" charset="0"/>
              </a:rPr>
              <a:t>Characteristics: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A </a:t>
            </a:r>
            <a:r>
              <a:rPr lang="en-US" sz="2200" b="0" i="0" dirty="0">
                <a:effectLst/>
                <a:latin typeface="Times New Roman" panose="02020603050405020304" pitchFamily="18" charset="0"/>
                <a:cs typeface="Times New Roman" panose="02020603050405020304" pitchFamily="18" charset="0"/>
              </a:rPr>
              <a:t>cyclical system, often referred to as a circular economy, is designed to minimize waste and make the most of available resources.</a:t>
            </a:r>
            <a:br>
              <a:rPr lang="en-US" sz="2200" b="0" i="0" dirty="0">
                <a:effectLst/>
                <a:latin typeface="Times New Roman" panose="02020603050405020304" pitchFamily="18" charset="0"/>
                <a:cs typeface="Times New Roman" panose="02020603050405020304" pitchFamily="18" charset="0"/>
              </a:rPr>
            </a:br>
            <a:r>
              <a:rPr lang="en-US" sz="2200" b="0" i="0" dirty="0">
                <a:effectLst/>
                <a:latin typeface="Times New Roman" panose="02020603050405020304" pitchFamily="18" charset="0"/>
                <a:cs typeface="Times New Roman" panose="02020603050405020304" pitchFamily="18" charset="0"/>
              </a:rPr>
              <a:t>It involves reducing, reusing, recycling, and recovering materials to create a closed-loop system.</a:t>
            </a:r>
            <a:br>
              <a:rPr lang="en-US" sz="2200" b="0" i="0" dirty="0">
                <a:effectLst/>
                <a:latin typeface="Times New Roman" panose="02020603050405020304" pitchFamily="18" charset="0"/>
                <a:cs typeface="Times New Roman" panose="02020603050405020304" pitchFamily="18" charset="0"/>
              </a:rPr>
            </a:br>
            <a:r>
              <a:rPr lang="en-US" sz="2200" b="0" i="0" dirty="0">
                <a:effectLst/>
                <a:latin typeface="Times New Roman" panose="02020603050405020304" pitchFamily="18" charset="0"/>
                <a:cs typeface="Times New Roman" panose="02020603050405020304" pitchFamily="18" charset="0"/>
              </a:rPr>
              <a:t>Emphasis is placed on maintaining the value of products and materials for as long as possible through strategies like refurbishment, remanufacturing, and recycling.</a:t>
            </a:r>
            <a:br>
              <a:rPr lang="en-US" sz="2200" b="0" i="0" dirty="0">
                <a:effectLst/>
                <a:latin typeface="Times New Roman" panose="02020603050405020304" pitchFamily="18" charset="0"/>
                <a:cs typeface="Times New Roman" panose="02020603050405020304" pitchFamily="18" charset="0"/>
              </a:rPr>
            </a:br>
            <a:r>
              <a:rPr lang="en-US" sz="2200" b="0" i="0" dirty="0">
                <a:effectLst/>
                <a:latin typeface="Times New Roman" panose="02020603050405020304" pitchFamily="18" charset="0"/>
                <a:cs typeface="Times New Roman" panose="02020603050405020304" pitchFamily="18" charset="0"/>
              </a:rPr>
              <a:t>Circular economy principles aim to decouple economic growth from resource consumption.</a:t>
            </a:r>
            <a:br>
              <a:rPr lang="en-US" sz="2400" b="0" i="0" dirty="0">
                <a:effectLst/>
                <a:latin typeface="Times New Roman" panose="02020603050405020304" pitchFamily="18" charset="0"/>
                <a:cs typeface="Times New Roman" panose="02020603050405020304" pitchFamily="18" charset="0"/>
              </a:rPr>
            </a:br>
            <a:r>
              <a:rPr lang="en-US" sz="2200" b="1" i="0" dirty="0">
                <a:solidFill>
                  <a:schemeClr val="accent1"/>
                </a:solidFill>
                <a:effectLst/>
                <a:latin typeface="Times New Roman" panose="02020603050405020304" pitchFamily="18" charset="0"/>
                <a:cs typeface="Times New Roman" panose="02020603050405020304" pitchFamily="18" charset="0"/>
              </a:rPr>
              <a:t>Benefits:</a:t>
            </a:r>
            <a:br>
              <a:rPr lang="en-US" sz="2200" b="0" i="0" dirty="0">
                <a:effectLst/>
                <a:latin typeface="Times New Roman" panose="02020603050405020304" pitchFamily="18" charset="0"/>
                <a:cs typeface="Times New Roman" panose="02020603050405020304" pitchFamily="18" charset="0"/>
              </a:rPr>
            </a:br>
            <a:r>
              <a:rPr lang="en-US" sz="2200" b="0" i="0" dirty="0">
                <a:effectLst/>
                <a:latin typeface="Times New Roman" panose="02020603050405020304" pitchFamily="18" charset="0"/>
                <a:cs typeface="Times New Roman" panose="02020603050405020304" pitchFamily="18" charset="0"/>
              </a:rPr>
              <a:t>Reduces the environmental impact of resource extraction and waste generation.</a:t>
            </a:r>
            <a:br>
              <a:rPr lang="en-US" sz="2200" b="0" i="0" dirty="0">
                <a:effectLst/>
                <a:latin typeface="Times New Roman" panose="02020603050405020304" pitchFamily="18" charset="0"/>
                <a:cs typeface="Times New Roman" panose="02020603050405020304" pitchFamily="18" charset="0"/>
              </a:rPr>
            </a:br>
            <a:r>
              <a:rPr lang="en-US" sz="2200" b="0" i="0" dirty="0">
                <a:effectLst/>
                <a:latin typeface="Times New Roman" panose="02020603050405020304" pitchFamily="18" charset="0"/>
                <a:cs typeface="Times New Roman" panose="02020603050405020304" pitchFamily="18" charset="0"/>
              </a:rPr>
              <a:t>Promotes sustainable practices and efficient resource use.</a:t>
            </a:r>
            <a:br>
              <a:rPr lang="en-US" sz="2200" b="0" i="0" dirty="0">
                <a:effectLst/>
                <a:latin typeface="Times New Roman" panose="02020603050405020304" pitchFamily="18" charset="0"/>
                <a:cs typeface="Times New Roman" panose="02020603050405020304" pitchFamily="18" charset="0"/>
              </a:rPr>
            </a:br>
            <a:r>
              <a:rPr lang="en-US" sz="2200" b="0" i="0" dirty="0">
                <a:effectLst/>
                <a:latin typeface="Times New Roman" panose="02020603050405020304" pitchFamily="18" charset="0"/>
                <a:cs typeface="Times New Roman" panose="02020603050405020304" pitchFamily="18" charset="0"/>
              </a:rPr>
              <a:t>Fosters innovation in product design and manufacturing processes to enable easier recycling and reuse.</a:t>
            </a:r>
            <a:br>
              <a:rPr lang="en-US" sz="2400" b="0" i="0" dirty="0">
                <a:effectLst/>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6894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7C3BD-51A3-46C9-FA0A-968A5E2A9BE6}"/>
              </a:ext>
            </a:extLst>
          </p:cNvPr>
          <p:cNvSpPr>
            <a:spLocks noGrp="1"/>
          </p:cNvSpPr>
          <p:nvPr>
            <p:ph type="title"/>
          </p:nvPr>
        </p:nvSpPr>
        <p:spPr>
          <a:xfrm>
            <a:off x="335360" y="451802"/>
            <a:ext cx="11770360" cy="5954395"/>
          </a:xfrm>
        </p:spPr>
        <p:txBody>
          <a:bodyPr>
            <a:normAutofit fontScale="90000"/>
          </a:bodyPr>
          <a:lstStyle/>
          <a:p>
            <a:r>
              <a:rPr lang="en-US" dirty="0">
                <a:solidFill>
                  <a:schemeClr val="accent2"/>
                </a:solidFill>
                <a:latin typeface="Times New Roman" panose="02020603050405020304" pitchFamily="18" charset="0"/>
                <a:cs typeface="Times New Roman" panose="02020603050405020304" pitchFamily="18" charset="0"/>
              </a:rPr>
              <a:t>N</a:t>
            </a:r>
            <a:r>
              <a:rPr lang="en-US" b="0" i="0" dirty="0">
                <a:solidFill>
                  <a:schemeClr val="accent2"/>
                </a:solidFill>
                <a:effectLst/>
                <a:latin typeface="Times New Roman" panose="02020603050405020304" pitchFamily="18" charset="0"/>
                <a:cs typeface="Times New Roman" panose="02020603050405020304" pitchFamily="18" charset="0"/>
              </a:rPr>
              <a:t>eed for system thinking and design of cyclical system</a:t>
            </a:r>
            <a:br>
              <a:rPr lang="en-US" b="0" i="0" dirty="0">
                <a:solidFill>
                  <a:schemeClr val="accent2"/>
                </a:solidFill>
                <a:effectLst/>
                <a:latin typeface="Times New Roman" panose="02020603050405020304" pitchFamily="18" charset="0"/>
                <a:cs typeface="Times New Roman" panose="02020603050405020304" pitchFamily="18" charset="0"/>
              </a:rPr>
            </a:br>
            <a:br>
              <a:rPr lang="en-US" sz="2400" b="0" i="0" dirty="0">
                <a:solidFill>
                  <a:schemeClr val="accent2"/>
                </a:solidFill>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The need for system thinking and the design of cyclical systems, such as those aligned with circular economy principles, arises from the recognition of the interconnectedness and complexity of various environmental, social, and economic factors. Here are some key reasons why system thinking and the design of cyclical systems are crucial:</a:t>
            </a:r>
            <a:br>
              <a:rPr lang="en-US" sz="2400" b="0" i="0" dirty="0">
                <a:effectLst/>
                <a:latin typeface="Times New Roman" panose="02020603050405020304" pitchFamily="18" charset="0"/>
                <a:cs typeface="Times New Roman" panose="02020603050405020304" pitchFamily="18" charset="0"/>
              </a:rPr>
            </a:b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1) </a:t>
            </a:r>
            <a:r>
              <a:rPr lang="en-US" sz="2400" b="0" i="0" dirty="0">
                <a:solidFill>
                  <a:schemeClr val="accent1"/>
                </a:solidFill>
                <a:effectLst/>
                <a:latin typeface="Times New Roman" panose="02020603050405020304" pitchFamily="18" charset="0"/>
                <a:cs typeface="Times New Roman" panose="02020603050405020304" pitchFamily="18" charset="0"/>
              </a:rPr>
              <a:t>Interconnected Nature of Systems:</a:t>
            </a:r>
            <a:br>
              <a:rPr lang="en-US" sz="2400" b="0" i="0" dirty="0">
                <a:effectLst/>
                <a:latin typeface="Times New Roman" panose="02020603050405020304" pitchFamily="18" charset="0"/>
                <a:cs typeface="Times New Roman" panose="02020603050405020304" pitchFamily="18" charset="0"/>
              </a:rPr>
            </a:b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Many global challenges, such as resource depletion, pollution, and climate change, are complex and interconnected. Linear approaches often fail to address the systemic nature of these challenges.</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A system thinking approach allows for a holistic understanding of the relationships and feedback loops within a system, enabling more effective problem-solving.</a:t>
            </a:r>
            <a:br>
              <a:rPr lang="en-US" sz="2400" b="0" i="0" dirty="0">
                <a:effectLst/>
                <a:latin typeface="Times New Roman" panose="02020603050405020304" pitchFamily="18" charset="0"/>
                <a:cs typeface="Times New Roman" panose="02020603050405020304" pitchFamily="18" charset="0"/>
              </a:rPr>
            </a:br>
            <a:r>
              <a:rPr lang="en-US" sz="2400" b="0" i="0" dirty="0">
                <a:effectLst/>
                <a:latin typeface="Times New Roman" panose="02020603050405020304" pitchFamily="18" charset="0"/>
                <a:cs typeface="Times New Roman" panose="02020603050405020304" pitchFamily="18" charset="0"/>
              </a:rPr>
              <a:t>Resource Efficiency and Sustainability:</a:t>
            </a:r>
            <a:br>
              <a:rPr lang="en-US" sz="2700" b="0" i="0" dirty="0">
                <a:effectLst/>
                <a:latin typeface="Times New Roman" panose="02020603050405020304" pitchFamily="18" charset="0"/>
                <a:cs typeface="Times New Roman" panose="02020603050405020304" pitchFamily="18" charset="0"/>
              </a:rPr>
            </a:br>
            <a:br>
              <a:rPr lang="en-US" sz="2700" b="0" i="0" dirty="0">
                <a:effectLst/>
                <a:latin typeface="Times New Roman" panose="02020603050405020304" pitchFamily="18" charset="0"/>
                <a:cs typeface="Times New Roman" panose="02020603050405020304" pitchFamily="18" charset="0"/>
              </a:rPr>
            </a:br>
            <a:endParaRPr lang="en-IN" sz="27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1571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EE4F94C-DA4E-D4D8-E136-E90FA8A2BD53}"/>
              </a:ext>
            </a:extLst>
          </p:cNvPr>
          <p:cNvSpPr txBox="1"/>
          <p:nvPr/>
        </p:nvSpPr>
        <p:spPr>
          <a:xfrm>
            <a:off x="119336" y="166568"/>
            <a:ext cx="11785600" cy="65248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a:latin typeface="Times New Roman" panose="02020603050405020304" pitchFamily="18" charset="0"/>
                <a:cs typeface="Times New Roman" panose="02020603050405020304" pitchFamily="18" charset="0"/>
              </a:rPr>
              <a:t>2) </a:t>
            </a:r>
            <a:r>
              <a:rPr lang="en-US" sz="2200" dirty="0">
                <a:solidFill>
                  <a:schemeClr val="accent1"/>
                </a:solidFill>
                <a:latin typeface="Times New Roman" panose="02020603050405020304" pitchFamily="18" charset="0"/>
                <a:cs typeface="Times New Roman" panose="02020603050405020304" pitchFamily="18" charset="0"/>
              </a:rPr>
              <a:t>Resource Efficiency and Sustainability</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Linear systems often result in the inefficient use of resources, leading to overexploitation and waste.</a:t>
            </a:r>
          </a:p>
          <a:p>
            <a:r>
              <a:rPr lang="en-US" sz="2200" dirty="0">
                <a:latin typeface="Times New Roman" panose="02020603050405020304" pitchFamily="18" charset="0"/>
                <a:cs typeface="Times New Roman" panose="02020603050405020304" pitchFamily="18" charset="0"/>
              </a:rPr>
              <a:t>Cyclical systems, on the other hand, prioritize resource efficiency by promoting strategies like recycling, reusing, and remanufacturing. This reduces the overall demand for raw materials and minimizes environmental impact.</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3) </a:t>
            </a:r>
            <a:r>
              <a:rPr lang="en-US" sz="2200" dirty="0">
                <a:solidFill>
                  <a:schemeClr val="accent1"/>
                </a:solidFill>
                <a:latin typeface="Times New Roman" panose="02020603050405020304" pitchFamily="18" charset="0"/>
                <a:cs typeface="Times New Roman" panose="02020603050405020304" pitchFamily="18" charset="0"/>
              </a:rPr>
              <a:t>Waste Reduction and Pollution Prevention</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Linear systems generate significant amounts of waste, contributing to environmental pollution and degradation.</a:t>
            </a:r>
          </a:p>
          <a:p>
            <a:r>
              <a:rPr lang="en-US" sz="2200" dirty="0">
                <a:latin typeface="Times New Roman" panose="02020603050405020304" pitchFamily="18" charset="0"/>
                <a:cs typeface="Times New Roman" panose="02020603050405020304" pitchFamily="18" charset="0"/>
              </a:rPr>
              <a:t>A cyclical system is designed to minimize waste by incorporating principles such as cradle-to-cradle design, where products are designed with the end of life in mind, and materials can be easily reused or recycled.</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4) </a:t>
            </a:r>
            <a:r>
              <a:rPr lang="en-US" sz="2200" dirty="0">
                <a:solidFill>
                  <a:schemeClr val="accent1"/>
                </a:solidFill>
                <a:latin typeface="Times New Roman" panose="02020603050405020304" pitchFamily="18" charset="0"/>
                <a:cs typeface="Times New Roman" panose="02020603050405020304" pitchFamily="18" charset="0"/>
              </a:rPr>
              <a:t>Economic Opportunities and Innovation</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Circular economy principles can create new economic opportunities by fostering innovation in product design, manufacturing processes, and business models.</a:t>
            </a:r>
          </a:p>
          <a:p>
            <a:r>
              <a:rPr lang="en-US" sz="2200" dirty="0">
                <a:latin typeface="Times New Roman" panose="02020603050405020304" pitchFamily="18" charset="0"/>
                <a:cs typeface="Times New Roman" panose="02020603050405020304" pitchFamily="18" charset="0"/>
              </a:rPr>
              <a:t>Designing products for durability, reparability, and recyclability encourages innovation and the development of new markets for recycled materials.</a:t>
            </a: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7437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C8B6ED-5931-57C6-E47F-28D6CC51F437}"/>
              </a:ext>
            </a:extLst>
          </p:cNvPr>
          <p:cNvSpPr txBox="1"/>
          <p:nvPr/>
        </p:nvSpPr>
        <p:spPr>
          <a:xfrm>
            <a:off x="355600" y="228938"/>
            <a:ext cx="11074400" cy="618630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200" dirty="0">
                <a:latin typeface="Times New Roman" panose="02020603050405020304" pitchFamily="18" charset="0"/>
                <a:cs typeface="Times New Roman" panose="02020603050405020304" pitchFamily="18" charset="0"/>
              </a:rPr>
              <a:t>5) </a:t>
            </a:r>
            <a:r>
              <a:rPr lang="en-US" sz="2200" dirty="0">
                <a:solidFill>
                  <a:schemeClr val="accent1"/>
                </a:solidFill>
                <a:latin typeface="Times New Roman" panose="02020603050405020304" pitchFamily="18" charset="0"/>
                <a:cs typeface="Times New Roman" panose="02020603050405020304" pitchFamily="18" charset="0"/>
              </a:rPr>
              <a:t>Resilience to Change:</a:t>
            </a:r>
          </a:p>
          <a:p>
            <a:r>
              <a:rPr lang="en-US" sz="2200" dirty="0">
                <a:latin typeface="Times New Roman" panose="02020603050405020304" pitchFamily="18" charset="0"/>
                <a:cs typeface="Times New Roman" panose="02020603050405020304" pitchFamily="18" charset="0"/>
              </a:rPr>
              <a:t>Cyclical systems, with their emphasis on flexibility and adaptability, can be more resilient in the face of changing environmental and economic conditions.</a:t>
            </a:r>
          </a:p>
          <a:p>
            <a:r>
              <a:rPr lang="en-US" sz="2200" dirty="0">
                <a:latin typeface="Times New Roman" panose="02020603050405020304" pitchFamily="18" charset="0"/>
                <a:cs typeface="Times New Roman" panose="02020603050405020304" pitchFamily="18" charset="0"/>
              </a:rPr>
              <a:t>By closing the loop on resource use, cyclical systems reduce dependency on finite resources and create more robust and sustainable supply chains.</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6</a:t>
            </a:r>
            <a:r>
              <a:rPr lang="en-US" sz="2200" dirty="0">
                <a:solidFill>
                  <a:schemeClr val="accent1"/>
                </a:solidFill>
                <a:latin typeface="Times New Roman" panose="02020603050405020304" pitchFamily="18" charset="0"/>
                <a:cs typeface="Times New Roman" panose="02020603050405020304" pitchFamily="18" charset="0"/>
              </a:rPr>
              <a:t>) Long-Term Environmental Stewardship:</a:t>
            </a:r>
          </a:p>
          <a:p>
            <a:r>
              <a:rPr lang="en-US" sz="2200" dirty="0">
                <a:latin typeface="Times New Roman" panose="02020603050405020304" pitchFamily="18" charset="0"/>
                <a:cs typeface="Times New Roman" panose="02020603050405020304" pitchFamily="18" charset="0"/>
              </a:rPr>
              <a:t>System thinking encourages a long-term perspective and considers the impacts of decisions on future generations.</a:t>
            </a:r>
          </a:p>
          <a:p>
            <a:r>
              <a:rPr lang="en-US" sz="2200" dirty="0">
                <a:latin typeface="Times New Roman" panose="02020603050405020304" pitchFamily="18" charset="0"/>
                <a:cs typeface="Times New Roman" panose="02020603050405020304" pitchFamily="18" charset="0"/>
              </a:rPr>
              <a:t>Designing cyclical systems aligns with the principles of environmental stewardship by promoting practices that are regenerative and sustainable over the long term.</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7) </a:t>
            </a:r>
            <a:r>
              <a:rPr lang="en-US" sz="2200" dirty="0">
                <a:solidFill>
                  <a:schemeClr val="accent1"/>
                </a:solidFill>
                <a:latin typeface="Times New Roman" panose="02020603050405020304" pitchFamily="18" charset="0"/>
                <a:cs typeface="Times New Roman" panose="02020603050405020304" pitchFamily="18" charset="0"/>
              </a:rPr>
              <a:t>Cross-Sector Collaboration:</a:t>
            </a:r>
          </a:p>
          <a:p>
            <a:r>
              <a:rPr lang="en-US" sz="2200" dirty="0">
                <a:latin typeface="Times New Roman" panose="02020603050405020304" pitchFamily="18" charset="0"/>
                <a:cs typeface="Times New Roman" panose="02020603050405020304" pitchFamily="18" charset="0"/>
              </a:rPr>
              <a:t>Addressing complex challenges requires collaboration across sectors and disciplines. System thinking facilitates a collaborative approach to problem-solving by considering the perspectives of various stakeholders.</a:t>
            </a:r>
          </a:p>
          <a:p>
            <a:r>
              <a:rPr lang="en-US" sz="2200" dirty="0">
                <a:latin typeface="Times New Roman" panose="02020603050405020304" pitchFamily="18" charset="0"/>
                <a:cs typeface="Times New Roman" panose="02020603050405020304" pitchFamily="18" charset="0"/>
              </a:rPr>
              <a:t>The design of cyclical systems often involves cooperation among businesses, governments, academia, and civil society to create and implement effective solutions</a:t>
            </a:r>
          </a:p>
        </p:txBody>
      </p:sp>
    </p:spTree>
    <p:extLst>
      <p:ext uri="{BB962C8B-B14F-4D97-AF65-F5344CB8AC3E}">
        <p14:creationId xmlns:p14="http://schemas.microsoft.com/office/powerpoint/2010/main" val="40235694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7977EB-B5CF-E033-C562-F49BFF5747F8}"/>
              </a:ext>
            </a:extLst>
          </p:cNvPr>
          <p:cNvSpPr txBox="1"/>
          <p:nvPr/>
        </p:nvSpPr>
        <p:spPr>
          <a:xfrm>
            <a:off x="558800" y="307538"/>
            <a:ext cx="10922000" cy="766363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dirty="0">
                <a:solidFill>
                  <a:schemeClr val="accent2"/>
                </a:solidFill>
                <a:latin typeface="Times New Roman" panose="02020603050405020304" pitchFamily="18" charset="0"/>
                <a:cs typeface="Times New Roman" panose="02020603050405020304" pitchFamily="18" charset="0"/>
              </a:rPr>
              <a:t>Circular Economy</a:t>
            </a:r>
          </a:p>
          <a:p>
            <a:endParaRPr lang="en-US"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2200" dirty="0">
                <a:latin typeface="Times New Roman" panose="02020603050405020304" pitchFamily="18" charset="0"/>
                <a:cs typeface="Times New Roman" panose="02020603050405020304" pitchFamily="18" charset="0"/>
              </a:rPr>
              <a:t>A circular economy is an economic system designed to minimize waste and make the most of available resources by keeping materials in use for as long as possible. In contrast to the traditional linear economy (take, make, dispose), which is often associated with a "throwaway" culture, a circular economy emphasizes sustainability, regeneration, and efficiency. The goal is to create a closed-loop system that reduces the environmental impact of production and consumption.</a:t>
            </a:r>
          </a:p>
          <a:p>
            <a:endParaRPr lang="en-US" sz="2200" dirty="0">
              <a:latin typeface="Times New Roman" panose="02020603050405020304" pitchFamily="18" charset="0"/>
              <a:cs typeface="Times New Roman" panose="02020603050405020304" pitchFamily="18" charset="0"/>
            </a:endParaRPr>
          </a:p>
          <a:p>
            <a:pPr marL="285750" indent="-285750">
              <a:buFont typeface="Arial" pitchFamily="34" charset="0"/>
              <a:buChar char="•"/>
            </a:pPr>
            <a:r>
              <a:rPr lang="en-US" sz="2200" dirty="0">
                <a:latin typeface="Times New Roman" panose="02020603050405020304" pitchFamily="18" charset="0"/>
                <a:cs typeface="Times New Roman" panose="02020603050405020304" pitchFamily="18" charset="0"/>
              </a:rPr>
              <a:t>The transition to a circular economy requires collaboration among businesses, governments, consumers, and other stakeholders. Many industries are adopting circular economy principles as part of their sustainability efforts, recognizing the potential for improved environmental stewardship, resource efficiency, and long-term economic viability.</a:t>
            </a:r>
          </a:p>
          <a:p>
            <a:r>
              <a:rPr lang="en-US" sz="2200" dirty="0">
                <a:latin typeface="Times New Roman" panose="02020603050405020304" pitchFamily="18" charset="0"/>
                <a:cs typeface="Times New Roman" panose="02020603050405020304" pitchFamily="18" charset="0"/>
              </a:rPr>
              <a:t> </a:t>
            </a:r>
          </a:p>
          <a:p>
            <a:pPr marL="285750" indent="-285750">
              <a:buFont typeface="Arial" pitchFamily="34" charset="0"/>
              <a:buChar char="•"/>
            </a:pPr>
            <a:r>
              <a:rPr lang="en-US" sz="2200" dirty="0">
                <a:latin typeface="Times New Roman" panose="02020603050405020304" pitchFamily="18" charset="0"/>
                <a:cs typeface="Times New Roman" panose="02020603050405020304" pitchFamily="18" charset="0"/>
              </a:rPr>
              <a:t>The concept is also gaining attention at the global level, with discussions and initiatives aimed at promoting circular practices on an international scale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37794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ircular diagram of circular economy&#10;&#10;Description automatically generated">
            <a:extLst>
              <a:ext uri="{FF2B5EF4-FFF2-40B4-BE49-F238E27FC236}">
                <a16:creationId xmlns:a16="http://schemas.microsoft.com/office/drawing/2014/main" id="{071B2CA8-8492-0BCD-AA56-028A5360F0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1624" y="764704"/>
            <a:ext cx="6912767" cy="5688631"/>
          </a:xfrm>
          <a:prstGeom prst="rect">
            <a:avLst/>
          </a:prstGeom>
        </p:spPr>
      </p:pic>
    </p:spTree>
    <p:extLst>
      <p:ext uri="{BB962C8B-B14F-4D97-AF65-F5344CB8AC3E}">
        <p14:creationId xmlns:p14="http://schemas.microsoft.com/office/powerpoint/2010/main" val="193350268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84AF4FE-20A8-535E-8126-14DCAED4798D}"/>
              </a:ext>
            </a:extLst>
          </p:cNvPr>
          <p:cNvSpPr txBox="1"/>
          <p:nvPr/>
        </p:nvSpPr>
        <p:spPr>
          <a:xfrm>
            <a:off x="467360" y="497840"/>
            <a:ext cx="9570720" cy="5047536"/>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3200" dirty="0">
                <a:solidFill>
                  <a:schemeClr val="accent1"/>
                </a:solidFill>
                <a:latin typeface="Times New Roman" panose="02020603050405020304" pitchFamily="18" charset="0"/>
                <a:cs typeface="Times New Roman" panose="02020603050405020304" pitchFamily="18" charset="0"/>
              </a:rPr>
              <a:t>Key principles and characteristics of a circular economy include</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Design for Durability and Repair</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Reuse and Refurbishment</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Recycling and Material Recovery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Resource Efficiency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Cradle-to-Cradle Design</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Sharing and Collaborative Consumption</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Digital Technologies and Innovation</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Closed-Loop Supply Chains</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Regenerative Agriculture and Biomimicry</a:t>
            </a:r>
          </a:p>
          <a:p>
            <a:pPr marL="342900" indent="-342900">
              <a:buFont typeface="Arial" pitchFamily="34" charset="0"/>
              <a:buChar char="•"/>
            </a:pPr>
            <a:r>
              <a:rPr lang="en-US" sz="2400" dirty="0">
                <a:latin typeface="Times New Roman" panose="02020603050405020304" pitchFamily="18" charset="0"/>
                <a:cs typeface="Times New Roman" panose="02020603050405020304" pitchFamily="18" charset="0"/>
              </a:rPr>
              <a:t>Economic and Social Benefits</a:t>
            </a:r>
          </a:p>
        </p:txBody>
      </p:sp>
    </p:spTree>
    <p:extLst>
      <p:ext uri="{BB962C8B-B14F-4D97-AF65-F5344CB8AC3E}">
        <p14:creationId xmlns:p14="http://schemas.microsoft.com/office/powerpoint/2010/main" val="40029518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DF26FB-01F7-DA67-940F-A06FED3757CD}"/>
              </a:ext>
            </a:extLst>
          </p:cNvPr>
          <p:cNvSpPr txBox="1"/>
          <p:nvPr/>
        </p:nvSpPr>
        <p:spPr>
          <a:xfrm>
            <a:off x="412955" y="255640"/>
            <a:ext cx="11592232" cy="36625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b="0" i="0" dirty="0">
                <a:solidFill>
                  <a:srgbClr val="FF0000"/>
                </a:solidFill>
                <a:effectLst/>
                <a:latin typeface="Times New Roman" panose="02020603050405020304" pitchFamily="18" charset="0"/>
                <a:cs typeface="Times New Roman" panose="02020603050405020304" pitchFamily="18" charset="0"/>
              </a:rPr>
              <a:t>Industrial Ecology</a:t>
            </a:r>
          </a:p>
          <a:p>
            <a:endParaRPr lang="en-US" sz="2400" dirty="0">
              <a:solidFill>
                <a:srgbClr val="374151"/>
              </a:solidFill>
              <a:latin typeface="Times New Roman" panose="02020603050405020304" pitchFamily="18" charset="0"/>
              <a:cs typeface="Times New Roman" panose="02020603050405020304" pitchFamily="18" charset="0"/>
            </a:endParaRPr>
          </a:p>
          <a:p>
            <a:endParaRPr lang="en-US" sz="2400" dirty="0">
              <a:solidFill>
                <a:srgbClr val="374151"/>
              </a:solidFill>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Industrial ecology is a multidisciplinary </a:t>
            </a:r>
            <a:r>
              <a:rPr lang="en-US" sz="2400" b="0" i="0" dirty="0">
                <a:solidFill>
                  <a:srgbClr val="374151"/>
                </a:solidFill>
                <a:effectLst/>
                <a:latin typeface="Times New Roman" panose="02020603050405020304" pitchFamily="18" charset="0"/>
                <a:ea typeface="Tahoma" panose="020B0604030504040204" pitchFamily="34" charset="0"/>
                <a:cs typeface="Times New Roman" panose="02020603050405020304" pitchFamily="18" charset="0"/>
              </a:rPr>
              <a:t>field that </a:t>
            </a:r>
            <a:r>
              <a:rPr lang="en-US" sz="2400" b="0" i="0" dirty="0">
                <a:solidFill>
                  <a:srgbClr val="374151"/>
                </a:solidFill>
                <a:effectLst/>
                <a:latin typeface="Times New Roman" panose="02020603050405020304" pitchFamily="18" charset="0"/>
                <a:cs typeface="Times New Roman" panose="02020603050405020304" pitchFamily="18" charset="0"/>
              </a:rPr>
              <a:t>focuses on understanding the relationships and interactions between industrial systems and the natural environment. It aims to create more sustainable and efficient industrial processes by applying principles inspired by natural ecosystems. The concept of industrial ecology involves the integration of environmental, economic, and social considerations into industrial decision-making. Here's how industrial ecology contributes to sustainability and management</a:t>
            </a:r>
            <a:endParaRPr lang="en-IN" sz="24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CEAF374-40EE-6DA3-C806-6AF4E09425DA}"/>
              </a:ext>
            </a:extLst>
          </p:cNvPr>
          <p:cNvSpPr txBox="1"/>
          <p:nvPr/>
        </p:nvSpPr>
        <p:spPr>
          <a:xfrm>
            <a:off x="412955" y="4077072"/>
            <a:ext cx="10933471" cy="120032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dirty="0">
                <a:solidFill>
                  <a:srgbClr val="374151"/>
                </a:solidFill>
                <a:latin typeface="Times New Roman" panose="02020603050405020304" pitchFamily="18" charset="0"/>
                <a:cs typeface="Times New Roman" panose="02020603050405020304" pitchFamily="18" charset="0"/>
              </a:rPr>
              <a:t>I</a:t>
            </a:r>
            <a:r>
              <a:rPr lang="en-US" sz="2400" b="0" i="0" dirty="0">
                <a:solidFill>
                  <a:srgbClr val="374151"/>
                </a:solidFill>
                <a:effectLst/>
                <a:latin typeface="Times New Roman" panose="02020603050405020304" pitchFamily="18" charset="0"/>
                <a:cs typeface="Times New Roman" panose="02020603050405020304" pitchFamily="18" charset="0"/>
              </a:rPr>
              <a:t>ndustrial ecology plays a crucial role in promoting sustainability in industrial systems by optimizing resource use, minimizing waste, and fostering a holistic and integrated approach to industrial management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43947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Diagram of a diagram of a natural environment&#10;&#10;Description automatically generated">
            <a:extLst>
              <a:ext uri="{FF2B5EF4-FFF2-40B4-BE49-F238E27FC236}">
                <a16:creationId xmlns:a16="http://schemas.microsoft.com/office/drawing/2014/main" id="{681D14B4-F048-9CD7-F53D-276947A23B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2812" y="800100"/>
            <a:ext cx="5286375" cy="5257800"/>
          </a:xfrm>
          <a:prstGeom prst="rect">
            <a:avLst/>
          </a:prstGeom>
        </p:spPr>
      </p:pic>
      <p:sp>
        <p:nvSpPr>
          <p:cNvPr id="5" name="TextBox 4">
            <a:extLst>
              <a:ext uri="{FF2B5EF4-FFF2-40B4-BE49-F238E27FC236}">
                <a16:creationId xmlns:a16="http://schemas.microsoft.com/office/drawing/2014/main" id="{E2723DF4-82C7-D636-22D8-6036EADEDE63}"/>
              </a:ext>
            </a:extLst>
          </p:cNvPr>
          <p:cNvSpPr txBox="1"/>
          <p:nvPr/>
        </p:nvSpPr>
        <p:spPr>
          <a:xfrm>
            <a:off x="3215680" y="6057900"/>
            <a:ext cx="6097554" cy="369332"/>
          </a:xfrm>
          <a:prstGeom prst="rect">
            <a:avLst/>
          </a:prstGeom>
          <a:noFill/>
        </p:spPr>
        <p:txBody>
          <a:bodyPr wrap="square">
            <a:spAutoFit/>
          </a:bodyPr>
          <a:lstStyle/>
          <a:p>
            <a:pPr algn="ctr"/>
            <a:r>
              <a:rPr lang="en-US" sz="1800" b="0" i="0" dirty="0">
                <a:solidFill>
                  <a:srgbClr val="FF0000"/>
                </a:solidFill>
                <a:effectLst/>
                <a:latin typeface="+mj-lt"/>
              </a:rPr>
              <a:t>Industrial Ecology</a:t>
            </a:r>
          </a:p>
        </p:txBody>
      </p:sp>
    </p:spTree>
    <p:extLst>
      <p:ext uri="{BB962C8B-B14F-4D97-AF65-F5344CB8AC3E}">
        <p14:creationId xmlns:p14="http://schemas.microsoft.com/office/powerpoint/2010/main" val="2190816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E446AB5-1E89-E208-B1AA-5426D16FDB8D}"/>
              </a:ext>
            </a:extLst>
          </p:cNvPr>
          <p:cNvSpPr txBox="1"/>
          <p:nvPr/>
        </p:nvSpPr>
        <p:spPr>
          <a:xfrm>
            <a:off x="407368" y="260648"/>
            <a:ext cx="11593288" cy="65248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Resource Efficiency:</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1" dirty="0">
                <a:solidFill>
                  <a:srgbClr val="374151"/>
                </a:solidFill>
                <a:effectLst/>
                <a:latin typeface="Times New Roman" panose="02020603050405020304" pitchFamily="18" charset="0"/>
                <a:cs typeface="Times New Roman" panose="02020603050405020304" pitchFamily="18" charset="0"/>
              </a:rPr>
              <a:t>Material Flow Analysis (MFA):</a:t>
            </a:r>
            <a:r>
              <a:rPr lang="en-US" sz="2200" b="0" i="0" dirty="0">
                <a:solidFill>
                  <a:srgbClr val="374151"/>
                </a:solidFill>
                <a:effectLst/>
                <a:latin typeface="Times New Roman" panose="02020603050405020304" pitchFamily="18" charset="0"/>
                <a:cs typeface="Times New Roman" panose="02020603050405020304" pitchFamily="18" charset="0"/>
              </a:rPr>
              <a:t> Industrial ecology employs tools like MFA to track the flow of materials through industrial processes. By understanding the entire lifecycle of materials, industries can identify opportunities for resource conservation and waste reduction.</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Waste Reduction: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1" dirty="0">
                <a:solidFill>
                  <a:srgbClr val="374151"/>
                </a:solidFill>
                <a:effectLst/>
                <a:latin typeface="Times New Roman" panose="02020603050405020304" pitchFamily="18" charset="0"/>
                <a:cs typeface="Times New Roman" panose="02020603050405020304" pitchFamily="18" charset="0"/>
              </a:rPr>
              <a:t>Waste Exchange Networks:</a:t>
            </a:r>
            <a:r>
              <a:rPr lang="en-US" sz="2200" b="0" i="0" dirty="0">
                <a:solidFill>
                  <a:srgbClr val="374151"/>
                </a:solidFill>
                <a:effectLst/>
                <a:latin typeface="Times New Roman" panose="02020603050405020304" pitchFamily="18" charset="0"/>
                <a:cs typeface="Times New Roman" panose="02020603050405020304" pitchFamily="18" charset="0"/>
              </a:rPr>
              <a:t> Industries can collaborate to create networks where one industry's waste becomes another's raw material. This minimizes the overall waste produced and promotes the efficient use of resources.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Energy Optimization: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1" dirty="0">
                <a:solidFill>
                  <a:srgbClr val="374151"/>
                </a:solidFill>
                <a:effectLst/>
                <a:latin typeface="Times New Roman" panose="02020603050405020304" pitchFamily="18" charset="0"/>
                <a:cs typeface="Times New Roman" panose="02020603050405020304" pitchFamily="18" charset="0"/>
              </a:rPr>
              <a:t>Energy Flow Analysis:</a:t>
            </a:r>
            <a:r>
              <a:rPr lang="en-US" sz="2200" b="0" i="0" dirty="0">
                <a:solidFill>
                  <a:srgbClr val="374151"/>
                </a:solidFill>
                <a:effectLst/>
                <a:latin typeface="Times New Roman" panose="02020603050405020304" pitchFamily="18" charset="0"/>
                <a:cs typeface="Times New Roman" panose="02020603050405020304" pitchFamily="18" charset="0"/>
              </a:rPr>
              <a:t> Similar to MFA, energy flow analysis helps identify opportunities for energy conservation and optimization within industrial processes.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Life Cycle Assessment (LCA):</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LCA is a key tool in industrial ecology that evaluates the environmental impact of a product or process throughout its entire life cycle. This includes resource extraction, production, use, and end-of-life disposal. LCA helps in making informed decisions to minimize environmental impacts.</a:t>
            </a:r>
          </a:p>
        </p:txBody>
      </p:sp>
    </p:spTree>
    <p:extLst>
      <p:ext uri="{BB962C8B-B14F-4D97-AF65-F5344CB8AC3E}">
        <p14:creationId xmlns:p14="http://schemas.microsoft.com/office/powerpoint/2010/main" val="12116029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0C2B93-5A23-181D-628B-2A7115E70787}"/>
              </a:ext>
            </a:extLst>
          </p:cNvPr>
          <p:cNvSpPr txBox="1"/>
          <p:nvPr/>
        </p:nvSpPr>
        <p:spPr>
          <a:xfrm>
            <a:off x="263352" y="166568"/>
            <a:ext cx="11665296" cy="65248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Circular Economy:</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just"/>
            <a:r>
              <a:rPr lang="en-US" sz="2200" b="0" i="0" dirty="0">
                <a:solidFill>
                  <a:srgbClr val="374151"/>
                </a:solidFill>
                <a:effectLst/>
                <a:latin typeface="Times New Roman" panose="02020603050405020304" pitchFamily="18" charset="0"/>
                <a:cs typeface="Times New Roman" panose="02020603050405020304" pitchFamily="18" charset="0"/>
              </a:rPr>
              <a:t>Industrial ecology promotes the principles of a circular economy, where products and materials are designed, produced, used, and recycled in a way that minimizes waste and maximizes resource utilization.</a:t>
            </a:r>
          </a:p>
          <a:p>
            <a:pPr lvl="1" algn="just"/>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Eco-Industrial Parks: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just"/>
            <a:r>
              <a:rPr lang="en-US" sz="2200" b="0" i="0" dirty="0">
                <a:solidFill>
                  <a:srgbClr val="374151"/>
                </a:solidFill>
                <a:effectLst/>
                <a:latin typeface="Times New Roman" panose="02020603050405020304" pitchFamily="18" charset="0"/>
                <a:cs typeface="Times New Roman" panose="02020603050405020304" pitchFamily="18" charset="0"/>
              </a:rPr>
              <a:t>These are designed to facilitate the exchange of materials, energy, and information among industries co-located in a specific area. This collaborative approach enhances resource efficiency and reduces environmental impact.</a:t>
            </a:r>
          </a:p>
          <a:p>
            <a:pPr lvl="1" algn="just"/>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Corporate Social Responsibility (CSR):</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just"/>
            <a:r>
              <a:rPr lang="en-US" sz="2200" b="0" i="0" dirty="0">
                <a:solidFill>
                  <a:srgbClr val="374151"/>
                </a:solidFill>
                <a:effectLst/>
                <a:latin typeface="Times New Roman" panose="02020603050405020304" pitchFamily="18" charset="0"/>
                <a:cs typeface="Times New Roman" panose="02020603050405020304" pitchFamily="18" charset="0"/>
              </a:rPr>
              <a:t>Integrating industrial ecology principles into corporate strategies can enhance a company's CSR efforts, demonstrating a commitment to environmental sustainability and responsible business practices.</a:t>
            </a:r>
          </a:p>
          <a:p>
            <a:pPr lvl="1" algn="just"/>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Policy and Regulation: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just"/>
            <a:r>
              <a:rPr lang="en-US" sz="2200" b="0" i="0" dirty="0">
                <a:solidFill>
                  <a:srgbClr val="374151"/>
                </a:solidFill>
                <a:effectLst/>
                <a:latin typeface="Times New Roman" panose="02020603050405020304" pitchFamily="18" charset="0"/>
                <a:cs typeface="Times New Roman" panose="02020603050405020304" pitchFamily="18" charset="0"/>
              </a:rPr>
              <a:t>Industrial ecology concepts can inform the development of policies and regulations that promote sustainable industrial practices. Governments and regulatory bodies can use this knowledge to encourage industries to adopt environmentally friendly practices.</a:t>
            </a:r>
          </a:p>
        </p:txBody>
      </p:sp>
    </p:spTree>
    <p:extLst>
      <p:ext uri="{BB962C8B-B14F-4D97-AF65-F5344CB8AC3E}">
        <p14:creationId xmlns:p14="http://schemas.microsoft.com/office/powerpoint/2010/main" val="36415100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5EC883-9B07-815C-EA27-CC39EE646970}"/>
              </a:ext>
            </a:extLst>
          </p:cNvPr>
          <p:cNvSpPr txBox="1"/>
          <p:nvPr/>
        </p:nvSpPr>
        <p:spPr>
          <a:xfrm>
            <a:off x="551384" y="764704"/>
            <a:ext cx="10585176" cy="2800767"/>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just">
              <a:buFont typeface="Wingdings" panose="05000000000000000000" pitchFamily="2" charset="2"/>
              <a:buChar char="Ø"/>
            </a:pPr>
            <a:r>
              <a:rPr lang="en-US" sz="2200" b="1" dirty="0">
                <a:solidFill>
                  <a:srgbClr val="374151"/>
                </a:solidFill>
                <a:latin typeface="Times New Roman" panose="02020603050405020304" pitchFamily="18" charset="0"/>
                <a:cs typeface="Times New Roman" panose="02020603050405020304" pitchFamily="18" charset="0"/>
              </a:rPr>
              <a:t>9.</a:t>
            </a:r>
            <a:r>
              <a:rPr lang="en-US" sz="2200" b="1" i="0" dirty="0">
                <a:solidFill>
                  <a:srgbClr val="374151"/>
                </a:solidFill>
                <a:effectLst/>
                <a:latin typeface="Times New Roman" panose="02020603050405020304" pitchFamily="18" charset="0"/>
                <a:cs typeface="Times New Roman" panose="02020603050405020304" pitchFamily="18" charset="0"/>
              </a:rPr>
              <a:t>Education and Research:</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just"/>
            <a:r>
              <a:rPr lang="en-US" sz="2200" b="0" i="0" dirty="0">
                <a:solidFill>
                  <a:srgbClr val="374151"/>
                </a:solidFill>
                <a:effectLst/>
                <a:latin typeface="Times New Roman" panose="02020603050405020304" pitchFamily="18" charset="0"/>
                <a:cs typeface="Times New Roman" panose="02020603050405020304" pitchFamily="18" charset="0"/>
              </a:rPr>
              <a:t>Ongoing research and education in the field of industrial ecology contribute to the development of new technologies and strategies for sustainable industrial management.</a:t>
            </a:r>
          </a:p>
          <a:p>
            <a:pPr lvl="1" algn="just"/>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10.Environmental Management Systems: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algn="just"/>
            <a:r>
              <a:rPr lang="en-US" sz="2200" dirty="0">
                <a:solidFill>
                  <a:srgbClr val="374151"/>
                </a:solidFill>
                <a:latin typeface="Times New Roman" panose="02020603050405020304" pitchFamily="18" charset="0"/>
                <a:cs typeface="Times New Roman" panose="02020603050405020304" pitchFamily="18" charset="0"/>
              </a:rPr>
              <a:t>          </a:t>
            </a:r>
            <a:r>
              <a:rPr lang="en-US" sz="2200" b="0" i="0" dirty="0">
                <a:solidFill>
                  <a:srgbClr val="374151"/>
                </a:solidFill>
                <a:effectLst/>
                <a:latin typeface="Times New Roman" panose="02020603050405020304" pitchFamily="18" charset="0"/>
                <a:cs typeface="Times New Roman" panose="02020603050405020304" pitchFamily="18" charset="0"/>
              </a:rPr>
              <a:t>Implementation of environmental management systems (EMS) based on industrial ecology principles helps organizations systematically manage their environmental impacts and continually improve their sustainability performance.</a:t>
            </a:r>
          </a:p>
        </p:txBody>
      </p:sp>
    </p:spTree>
    <p:extLst>
      <p:ext uri="{BB962C8B-B14F-4D97-AF65-F5344CB8AC3E}">
        <p14:creationId xmlns:p14="http://schemas.microsoft.com/office/powerpoint/2010/main" val="29831607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A599BA-3699-58F1-BCB9-07738E059F83}"/>
              </a:ext>
            </a:extLst>
          </p:cNvPr>
          <p:cNvSpPr txBox="1"/>
          <p:nvPr/>
        </p:nvSpPr>
        <p:spPr>
          <a:xfrm>
            <a:off x="695400" y="620688"/>
            <a:ext cx="10471354" cy="501675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4000" b="0" i="0" dirty="0">
                <a:solidFill>
                  <a:srgbClr val="92D050"/>
                </a:solidFill>
                <a:effectLst/>
                <a:latin typeface="Times New Roman" panose="02020603050405020304" pitchFamily="18" charset="0"/>
                <a:cs typeface="Times New Roman" panose="02020603050405020304" pitchFamily="18" charset="0"/>
              </a:rPr>
              <a:t>Sustainability in Water resource management</a:t>
            </a:r>
          </a:p>
          <a:p>
            <a:pPr algn="ctr"/>
            <a:endParaRPr lang="en-US" sz="4000" b="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
            </a:pPr>
            <a:r>
              <a:rPr lang="en-US" sz="2400" b="0" i="0" dirty="0">
                <a:solidFill>
                  <a:srgbClr val="374151"/>
                </a:solidFill>
                <a:effectLst/>
                <a:latin typeface="Times New Roman" panose="02020603050405020304" pitchFamily="18" charset="0"/>
                <a:cs typeface="Times New Roman" panose="02020603050405020304" pitchFamily="18" charset="0"/>
              </a:rPr>
              <a:t> Sustainability in water resource management is crucial for ensuring the availability of clean and sufficient water for current and future generations. Effective water resource sustainability involves the responsible and efficient use of water, protection of water quality, and the conservation of aquatic ecosystems. </a:t>
            </a:r>
          </a:p>
          <a:p>
            <a:r>
              <a:rPr lang="en-US" sz="2400" b="0" i="0" dirty="0">
                <a:solidFill>
                  <a:srgbClr val="374151"/>
                </a:solidFill>
                <a:effectLst/>
                <a:latin typeface="Times New Roman" panose="02020603050405020304" pitchFamily="18" charset="0"/>
                <a:cs typeface="Times New Roman" panose="02020603050405020304" pitchFamily="18" charset="0"/>
              </a:rPr>
              <a:t>Here are key aspects and strategies related to sustainability in water resource management.</a:t>
            </a:r>
          </a:p>
          <a:p>
            <a:pPr marL="342900" indent="-342900">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Sustainability in water resource management requires a comprehensive and integrated approach that considers social, economic, and environmental factors. By adopting these strategies, societies can work towards ensuring the availability and quality of water for current and future generations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382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677F78-60AD-8959-C6BA-4754D59D5FE5}"/>
              </a:ext>
            </a:extLst>
          </p:cNvPr>
          <p:cNvSpPr txBox="1"/>
          <p:nvPr/>
        </p:nvSpPr>
        <p:spPr>
          <a:xfrm>
            <a:off x="335360" y="305068"/>
            <a:ext cx="11233248" cy="6186309"/>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Water Conservation: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Encouraging and implementing water conservation practices at the individual, industrial, and agricultural levels helps reduce overall water demand. This includes using water-efficient technologies, fixing leaks, and promoting responsible water use behaviors.</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Integrated Water Resource Management (IWRM):</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IWRM involves a coordinated and holistic approach to managing water resources, considering social, economic, and environmental factors. It emphasizes the integration of various stakeholders, including government agencies, communities, and industries, in decision-making processes.</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Protecting Ecosystems: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Maintaining the health of aquatic ecosystems, such as rivers, lakes, and wetlands, is vital for water sustainability. Healthy ecosystems contribute to water purification, regulate water flow, and support biodiversity. Conservation and restoration efforts play a key role in protecting these ecosystems.</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Water Quality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Ensuring the quality of water sources is essential for sustainability. Monitoring and controlling pollutants, implementing wastewater treatment processes, and preventing contamination from industrial and agricultural activities are critical aspects of water quality management.</a:t>
            </a:r>
          </a:p>
        </p:txBody>
      </p:sp>
    </p:spTree>
    <p:extLst>
      <p:ext uri="{BB962C8B-B14F-4D97-AF65-F5344CB8AC3E}">
        <p14:creationId xmlns:p14="http://schemas.microsoft.com/office/powerpoint/2010/main" val="2791432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478542-7E6B-5B2A-8AA4-F14E02E746D8}"/>
              </a:ext>
            </a:extLst>
          </p:cNvPr>
          <p:cNvSpPr txBox="1"/>
          <p:nvPr/>
        </p:nvSpPr>
        <p:spPr>
          <a:xfrm>
            <a:off x="335360" y="332656"/>
            <a:ext cx="11521280" cy="5847755"/>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Efficient Agricultural Practices: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Agriculture is a major consumer of water resources. Implementing efficient irrigation techniques, practicing precision agriculture, and promoting sustainable farming practices help minimize water usage and reduce the environmental impact of agriculture on water resources.</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Climate Change Adaptation: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Climate change can affect water availability and precipitation patterns. Developing strategies to adapt to changing climatic conditions, such as implementing resilient water infrastructure and promoting water-efficient practices, is crucial for long-term sustainability.</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Water Reuse and Recycling:</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Implementing water reuse and recycling systems can help meet water demands without putting additional pressure on freshwater sources. Treating and reusing wastewater for non-potable purposes, such as irrigation or industrial processes, contributes to sustainable water management.</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Community Engagement: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Involving local communities in water resource management decisions fosters a sense of ownership and encourages responsible water use. Educating communities about the importance of water conservation and involving them in conservation projects enhances the sustainability of water resources.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20489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78FD6E0-BD89-4EB5-7D78-218F6F9540BA}"/>
              </a:ext>
            </a:extLst>
          </p:cNvPr>
          <p:cNvSpPr txBox="1"/>
          <p:nvPr/>
        </p:nvSpPr>
        <p:spPr>
          <a:xfrm>
            <a:off x="479376" y="332656"/>
            <a:ext cx="10657184" cy="5970865"/>
          </a:xfrm>
          <a:prstGeom prst="rect">
            <a:avLst/>
          </a:prstGeom>
          <a:noFill/>
        </p:spPr>
        <p:txBody>
          <a:bodyPr wrap="square">
            <a:spAutoFit/>
          </a:bodyPr>
          <a:lstStyle/>
          <a:p>
            <a:r>
              <a:rPr lang="en-US" sz="3600" b="0" i="0" dirty="0">
                <a:solidFill>
                  <a:schemeClr val="accent2"/>
                </a:solidFill>
                <a:effectLst/>
                <a:latin typeface="Times New Roman" panose="02020603050405020304" pitchFamily="18" charset="0"/>
                <a:cs typeface="Times New Roman" panose="02020603050405020304" pitchFamily="18" charset="0"/>
              </a:rPr>
              <a:t> Sustainability in Energy resource management</a:t>
            </a:r>
          </a:p>
          <a:p>
            <a:br>
              <a:rPr lang="en-US" sz="2000" dirty="0">
                <a:latin typeface="Times New Roman" panose="02020603050405020304" pitchFamily="18" charset="0"/>
                <a:cs typeface="Times New Roman" panose="02020603050405020304" pitchFamily="18" charset="0"/>
              </a:rPr>
            </a:br>
            <a:r>
              <a:rPr lang="en-US" sz="2200" b="0" i="0" dirty="0">
                <a:solidFill>
                  <a:srgbClr val="374151"/>
                </a:solidFill>
                <a:effectLst/>
                <a:latin typeface="Times New Roman" panose="02020603050405020304" pitchFamily="18" charset="0"/>
                <a:cs typeface="Times New Roman" panose="02020603050405020304" pitchFamily="18" charset="0"/>
              </a:rPr>
              <a:t>Sustainability in energy resource management is crucial for addressing environmental concerns, mitigating climate change, and ensuring the long-term availability of energy sources. Here are key aspects and strategies related to sustainability in energy resource management</a:t>
            </a:r>
          </a:p>
          <a:p>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Renewable Energy Sources: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Prioritize the use of renewable energy sources such as solar, wind, hydro, geothermal, and biomass. These sources are sustainable because they are naturally replenished and have lower environmental impacts compared to fossil fuels.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Energy Efficiency:</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energy efficiency measures to reduce overall energy consumption. This includes improving building insulation, upgrading equipment and machinery, and promoting energy-efficient technologies.</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8567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D3A835-6413-F346-1AFC-BA377F643929}"/>
              </a:ext>
            </a:extLst>
          </p:cNvPr>
          <p:cNvSpPr txBox="1"/>
          <p:nvPr/>
        </p:nvSpPr>
        <p:spPr>
          <a:xfrm>
            <a:off x="371364" y="205956"/>
            <a:ext cx="11449272" cy="6668879"/>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Smart Grids and Technologies: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Utilize smart grid technologies for efficient energy distribution and management. Smart grids enable better monitoring, control, and optimization of energy usage, reducing waste and enhancing reliability.</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Energy Storage:</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Develop and invest in energy storage technologies to address the intermittent nature of some renewable sources. Efficient energy storage systems, such as batteries, can store excess energy for use during periods of low renewable energy production.</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Circular Economy Principles: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Embrace circular economy principles to minimize waste and maximize the lifespan of energy-related components. This includes recycling and repurposing materials used in energy infrastructure.</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Diversification of Energy Sources: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Avoid over-reliance on a single energy source to enhance resilience and reduce vulnerability to supply disruptions. A diversified energy mix can also help optimize cost and environmental impact.</a:t>
            </a:r>
          </a:p>
        </p:txBody>
      </p:sp>
    </p:spTree>
    <p:extLst>
      <p:ext uri="{BB962C8B-B14F-4D97-AF65-F5344CB8AC3E}">
        <p14:creationId xmlns:p14="http://schemas.microsoft.com/office/powerpoint/2010/main" val="6919251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85BEBE7-3FF1-FFA7-59F0-1DBED7A62458}"/>
              </a:ext>
            </a:extLst>
          </p:cNvPr>
          <p:cNvSpPr txBox="1"/>
          <p:nvPr/>
        </p:nvSpPr>
        <p:spPr>
          <a:xfrm>
            <a:off x="335360" y="260648"/>
            <a:ext cx="11593288" cy="6186309"/>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Policy and Regulation: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and enforce policies and regulations that encourage sustainable energy practices. This may include incentives for renewable energy development, carbon pricing, and emissions reduction targets.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Community Engagement: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Involve local communities in decision-making processes related to energy projects. This fosters social acceptance and support for sustainable energy initiatives.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Investment in Research and Development: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Allocate resources for research and development in clean energy technologies. Continued innovation can lead to breakthroughs that make sustainable energy sources more cost-effective and accessible.</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Education and Awareness: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Raise awareness about the importance of sustainable energy practices. Educate businesses, policymakers, and the public about the benefits of transitioning to sustainable energy sources and adopting energy-efficient practices.</a:t>
            </a:r>
          </a:p>
        </p:txBody>
      </p:sp>
    </p:spTree>
    <p:extLst>
      <p:ext uri="{BB962C8B-B14F-4D97-AF65-F5344CB8AC3E}">
        <p14:creationId xmlns:p14="http://schemas.microsoft.com/office/powerpoint/2010/main" val="14093168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1D6E884-190C-9070-924E-EBD855F1183A}"/>
              </a:ext>
            </a:extLst>
          </p:cNvPr>
          <p:cNvSpPr txBox="1"/>
          <p:nvPr/>
        </p:nvSpPr>
        <p:spPr>
          <a:xfrm>
            <a:off x="551384" y="548680"/>
            <a:ext cx="11161240" cy="5509200"/>
          </a:xfrm>
          <a:prstGeom prst="rect">
            <a:avLst/>
          </a:prstGeom>
          <a:noFill/>
        </p:spPr>
        <p:txBody>
          <a:bodyPr wrap="square">
            <a:spAutoFit/>
          </a:bodyPr>
          <a:lstStyle/>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Carbon Capture and Storage (CCS):</a:t>
            </a:r>
          </a:p>
          <a:p>
            <a:r>
              <a:rPr lang="en-US" sz="2200" dirty="0">
                <a:latin typeface="Times New Roman" panose="02020603050405020304" pitchFamily="18" charset="0"/>
                <a:cs typeface="Times New Roman" panose="02020603050405020304" pitchFamily="18" charset="0"/>
              </a:rPr>
              <a:t>Invest in technologies that capture and store carbon emissions, particularly from industries with high emissions. CCS can play a role in mitigating the impact of existing fossil fuel-based energy systems.</a:t>
            </a:r>
          </a:p>
          <a:p>
            <a:endParaRPr lang="en-US" sz="2200" b="1"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Decentralized Energy Systems</a:t>
            </a:r>
            <a:r>
              <a:rPr lang="en-US" sz="2200" dirty="0">
                <a:latin typeface="Times New Roman" panose="02020603050405020304" pitchFamily="18" charset="0"/>
                <a:cs typeface="Times New Roman" panose="02020603050405020304" pitchFamily="18" charset="0"/>
              </a:rPr>
              <a:t>:</a:t>
            </a:r>
          </a:p>
          <a:p>
            <a:r>
              <a:rPr lang="en-US" sz="2200" dirty="0">
                <a:latin typeface="Times New Roman" panose="02020603050405020304" pitchFamily="18" charset="0"/>
                <a:cs typeface="Times New Roman" panose="02020603050405020304" pitchFamily="18" charset="0"/>
              </a:rPr>
              <a:t>Explore decentralized energy systems that allow for local production and consumption, reducing transmission losses and enhancing overall system efficiency.</a:t>
            </a:r>
          </a:p>
          <a:p>
            <a:endParaRPr lang="en-US" sz="2200" dirty="0">
              <a:latin typeface="Times New Roman" panose="02020603050405020304" pitchFamily="18" charset="0"/>
              <a:cs typeface="Times New Roman" panose="02020603050405020304" pitchFamily="18" charset="0"/>
            </a:endParaRPr>
          </a:p>
          <a:p>
            <a:r>
              <a:rPr lang="en-US" sz="2200" dirty="0">
                <a:latin typeface="Times New Roman" panose="02020603050405020304" pitchFamily="18" charset="0"/>
                <a:cs typeface="Times New Roman" panose="02020603050405020304" pitchFamily="18" charset="0"/>
              </a:rPr>
              <a:t>By integrating these principles and strategies into energy resource management, communities, businesses, and governments can contribute to a more sustainable and resilient energy future.</a:t>
            </a: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a:p>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55593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51B9E6-6936-6007-302B-66DC27B60222}"/>
              </a:ext>
            </a:extLst>
          </p:cNvPr>
          <p:cNvSpPr txBox="1"/>
          <p:nvPr/>
        </p:nvSpPr>
        <p:spPr>
          <a:xfrm>
            <a:off x="407368" y="476672"/>
            <a:ext cx="10945216" cy="5940088"/>
          </a:xfrm>
          <a:prstGeom prst="rect">
            <a:avLst/>
          </a:prstGeom>
          <a:noFill/>
        </p:spPr>
        <p:txBody>
          <a:bodyPr wrap="square">
            <a:spAutoFit/>
          </a:bodyPr>
          <a:lstStyle/>
          <a:p>
            <a:pPr algn="l"/>
            <a:r>
              <a:rPr lang="en-US" sz="3600" b="0" i="0" dirty="0">
                <a:solidFill>
                  <a:srgbClr val="FF0000"/>
                </a:solidFill>
                <a:effectLst/>
                <a:latin typeface="Times New Roman" panose="02020603050405020304" pitchFamily="18" charset="0"/>
                <a:cs typeface="Times New Roman" panose="02020603050405020304" pitchFamily="18" charset="0"/>
              </a:rPr>
              <a:t>Sustainability in Food resource management</a:t>
            </a:r>
          </a:p>
          <a:p>
            <a:pPr algn="l"/>
            <a:endParaRPr lang="en-US" b="0" i="0" dirty="0">
              <a:solidFill>
                <a:srgbClr val="374151"/>
              </a:solidFill>
              <a:effectLst/>
              <a:latin typeface="Times New Roman" panose="02020603050405020304" pitchFamily="18" charset="0"/>
              <a:cs typeface="Times New Roman" panose="02020603050405020304" pitchFamily="18" charset="0"/>
            </a:endParaRPr>
          </a:p>
          <a:p>
            <a:pPr algn="l"/>
            <a:endParaRPr lang="en-US" b="0" i="0" dirty="0">
              <a:solidFill>
                <a:srgbClr val="374151"/>
              </a:solidFill>
              <a:effectLst/>
              <a:latin typeface="Times New Roman" panose="02020603050405020304" pitchFamily="18" charset="0"/>
              <a:cs typeface="Times New Roman" panose="02020603050405020304" pitchFamily="18" charset="0"/>
            </a:endParaRPr>
          </a:p>
          <a:p>
            <a:pPr algn="l"/>
            <a:r>
              <a:rPr lang="en-US" sz="2200" b="0" i="0" dirty="0">
                <a:solidFill>
                  <a:srgbClr val="374151"/>
                </a:solidFill>
                <a:effectLst/>
                <a:latin typeface="Times New Roman" panose="02020603050405020304" pitchFamily="18" charset="0"/>
                <a:cs typeface="Times New Roman" panose="02020603050405020304" pitchFamily="18" charset="0"/>
              </a:rPr>
              <a:t>Sustainability in food resource management is crucial for addressing global challenges such as food security, environmental degradation, and climate change. Adopting sustainable practices in agriculture, distribution, and consumption can help ensure the availability of food resources for current and future generations. Here are key aspects and strategies related to sustainability in food resource management:</a:t>
            </a:r>
          </a:p>
          <a:p>
            <a:pPr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Agroecology and Organic Farming:</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Promote agroecological practices and organic farming methods that prioritize biodiversity, reduce reliance on synthetic inputs, and enhance soil health.</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Water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efficient water management practices in agriculture to reduce water consumption and minimize negative impacts on water resources. This includes the use of drip irrigation, rainwater harvesting, and water recycling.</a:t>
            </a:r>
          </a:p>
        </p:txBody>
      </p:sp>
    </p:spTree>
    <p:extLst>
      <p:ext uri="{BB962C8B-B14F-4D97-AF65-F5344CB8AC3E}">
        <p14:creationId xmlns:p14="http://schemas.microsoft.com/office/powerpoint/2010/main" val="8609951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EDA754-2393-0587-EBAA-2AA97B1E4D95}"/>
              </a:ext>
            </a:extLst>
          </p:cNvPr>
          <p:cNvSpPr txBox="1"/>
          <p:nvPr/>
        </p:nvSpPr>
        <p:spPr>
          <a:xfrm>
            <a:off x="407368" y="260648"/>
            <a:ext cx="11269252" cy="6186309"/>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Soil Conservation and Health:</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Adopt soil conservation practices such as cover cropping, crop rotation, and agroforestry to maintain soil fertility, prevent erosion, and reduce the need for chemical fertilizers.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Reducing Food Waste:</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Develop strategies to minimize food waste at all stages of the supply chain, from production and distribution to retail and consumption. This includes improved storage, transportation, and consumer education on responsible food consumption.</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Sustainable Livestock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sustainable practices in livestock farming, such as rotational grazing, humane treatment, and reduced use of antibiotics. This helps minimize the environmental impact of meat and dairy production.</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Crop Diversity:</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Encourage the cultivation of a diverse range of crops to enhance resilience to pests, diseases, and climate change. Crop diversity also supports healthier ecosystems and provides a variety of nutrients in diets.</a:t>
            </a:r>
          </a:p>
        </p:txBody>
      </p:sp>
    </p:spTree>
    <p:extLst>
      <p:ext uri="{BB962C8B-B14F-4D97-AF65-F5344CB8AC3E}">
        <p14:creationId xmlns:p14="http://schemas.microsoft.com/office/powerpoint/2010/main" val="41433239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8882C1-1258-61AA-061D-5D839F1C724B}"/>
              </a:ext>
            </a:extLst>
          </p:cNvPr>
          <p:cNvSpPr txBox="1"/>
          <p:nvPr/>
        </p:nvSpPr>
        <p:spPr>
          <a:xfrm>
            <a:off x="407368" y="404664"/>
            <a:ext cx="11593288" cy="5847755"/>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Local and Seasonal Production: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Promote local and seasonal food production to reduce the carbon footprint associated with transportation and storage. Supporting local farmers and markets strengthens regional food systems.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Technology and Innovation: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Invest in sustainable agricultural technologies and innovations, such as precision farming, vertical farming, and aquaponics, to increase efficiency and reduce resource inputs.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Regenerative Agriculture:</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Support regenerative agriculture practices that aim to restore and enhance ecosystems, improve soil health, and sequester carbon. These practices contribute to both environmental sustainability and agricultural resilience.</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Fair Trade and Ethical Practices: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Support fair trade and ethical practices in the food industry to ensure that farmers receive fair compensation for their work and communities benefit from sustainable development.</a:t>
            </a:r>
          </a:p>
        </p:txBody>
      </p:sp>
    </p:spTree>
    <p:extLst>
      <p:ext uri="{BB962C8B-B14F-4D97-AF65-F5344CB8AC3E}">
        <p14:creationId xmlns:p14="http://schemas.microsoft.com/office/powerpoint/2010/main" val="3345028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49F8341-AE31-1B42-C082-7943F21B529E}"/>
              </a:ext>
            </a:extLst>
          </p:cNvPr>
          <p:cNvSpPr txBox="1"/>
          <p:nvPr/>
        </p:nvSpPr>
        <p:spPr>
          <a:xfrm>
            <a:off x="551384" y="692696"/>
            <a:ext cx="11017224" cy="4493538"/>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Policy and Regulation: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and enforce policies and regulations that incentivize sustainable farming practices, discourage harmful agricultural practices, and promote responsible resource management.</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Consumer Education: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Raise awareness among consumers about the environmental and social impacts of their food choices. Educate consumers on making sustainable choices, such as reducing meat consumption, choosing locally produced foods, and minimizing food waste.</a:t>
            </a:r>
          </a:p>
          <a:p>
            <a:pPr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algn="l"/>
            <a:r>
              <a:rPr lang="en-US" sz="2200" b="0" i="0" dirty="0">
                <a:solidFill>
                  <a:srgbClr val="374151"/>
                </a:solidFill>
                <a:effectLst/>
                <a:latin typeface="Times New Roman" panose="02020603050405020304" pitchFamily="18" charset="0"/>
                <a:cs typeface="Times New Roman" panose="02020603050405020304" pitchFamily="18" charset="0"/>
              </a:rPr>
              <a:t>By incorporating these strategies into food resource management, stakeholders can contribute to a more sustainable and resilient food system that meets the needs of the present without compromising the ability of future generations to meet their own needs.</a:t>
            </a:r>
          </a:p>
        </p:txBody>
      </p:sp>
    </p:spTree>
    <p:extLst>
      <p:ext uri="{BB962C8B-B14F-4D97-AF65-F5344CB8AC3E}">
        <p14:creationId xmlns:p14="http://schemas.microsoft.com/office/powerpoint/2010/main" val="140056189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6C4616-591D-259A-75DC-4088C5CE3B5F}"/>
              </a:ext>
            </a:extLst>
          </p:cNvPr>
          <p:cNvSpPr txBox="1"/>
          <p:nvPr/>
        </p:nvSpPr>
        <p:spPr>
          <a:xfrm>
            <a:off x="479376" y="458956"/>
            <a:ext cx="10945216" cy="5940088"/>
          </a:xfrm>
          <a:prstGeom prst="rect">
            <a:avLst/>
          </a:prstGeom>
          <a:noFill/>
        </p:spPr>
        <p:txBody>
          <a:bodyPr wrap="square">
            <a:spAutoFit/>
          </a:bodyPr>
          <a:lstStyle/>
          <a:p>
            <a:pPr algn="l"/>
            <a:r>
              <a:rPr lang="en-US" sz="3600" b="0" i="0" dirty="0">
                <a:solidFill>
                  <a:schemeClr val="accent2"/>
                </a:solidFill>
                <a:effectLst/>
                <a:latin typeface="Times New Roman" panose="02020603050405020304" pitchFamily="18" charset="0"/>
                <a:cs typeface="Times New Roman" panose="02020603050405020304" pitchFamily="18" charset="0"/>
              </a:rPr>
              <a:t>Sustainability in Land resource management</a:t>
            </a:r>
          </a:p>
          <a:p>
            <a:pPr algn="l"/>
            <a:endParaRPr lang="en-US" b="0" i="0" dirty="0">
              <a:solidFill>
                <a:srgbClr val="374151"/>
              </a:solidFill>
              <a:effectLst/>
              <a:latin typeface="Times New Roman" panose="02020603050405020304" pitchFamily="18" charset="0"/>
              <a:cs typeface="Times New Roman" panose="02020603050405020304" pitchFamily="18" charset="0"/>
            </a:endParaRPr>
          </a:p>
          <a:p>
            <a:pPr algn="l"/>
            <a:endParaRPr lang="en-US" b="0" i="0" dirty="0">
              <a:solidFill>
                <a:srgbClr val="374151"/>
              </a:solidFill>
              <a:effectLst/>
              <a:latin typeface="Times New Roman" panose="02020603050405020304" pitchFamily="18" charset="0"/>
              <a:cs typeface="Times New Roman" panose="02020603050405020304" pitchFamily="18" charset="0"/>
            </a:endParaRPr>
          </a:p>
          <a:p>
            <a:pPr algn="l"/>
            <a:r>
              <a:rPr lang="en-US" sz="2200" b="0" i="0" dirty="0">
                <a:solidFill>
                  <a:srgbClr val="374151"/>
                </a:solidFill>
                <a:effectLst/>
                <a:latin typeface="Times New Roman" panose="02020603050405020304" pitchFamily="18" charset="0"/>
                <a:cs typeface="Times New Roman" panose="02020603050405020304" pitchFamily="18" charset="0"/>
              </a:rPr>
              <a:t>Sustainability in land resource management is critical for maintaining ecosystem health, biodiversity, and supporting various human activities. Proper management ensures that land is used in a way that balances economic, social, and environmental considerations. Here are key aspects and strategies related to sustainability in land resource management:</a:t>
            </a:r>
          </a:p>
          <a:p>
            <a:pPr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Land Use Planning:</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Develop comprehensive land use plans that consider the ecological, social, and economic aspects of an area. Effective planning helps prevent unplanned development, reduces urban sprawl, and protects valuable ecosystems.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Ecosystem Conservation and Restoration: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Prioritize the conservation and restoration of natural ecosystems, including forests, wetlands, and grasslands. These efforts contribute to biodiversity conservation, carbon sequestration, and the protection of critical habitats.</a:t>
            </a:r>
          </a:p>
        </p:txBody>
      </p:sp>
    </p:spTree>
    <p:extLst>
      <p:ext uri="{BB962C8B-B14F-4D97-AF65-F5344CB8AC3E}">
        <p14:creationId xmlns:p14="http://schemas.microsoft.com/office/powerpoint/2010/main" val="38914304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54A21EF-CF02-9AD9-B88F-C47B2B782CE2}"/>
              </a:ext>
            </a:extLst>
          </p:cNvPr>
          <p:cNvSpPr txBox="1"/>
          <p:nvPr/>
        </p:nvSpPr>
        <p:spPr>
          <a:xfrm>
            <a:off x="371364" y="335845"/>
            <a:ext cx="11449272" cy="6186309"/>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Sustainable Agriculture:</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sustainable agricultural practices that prioritize soil health, reduce chemical inputs, and promote conservation tillage. Agroecological approaches can improve long-term productivity while minimizing environmental impact.</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Forest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Adopt sustainable forest management practices, including selective logging, reforestation, and protection of old-growth forests. Certification systems, such as those provided by the Forest Stewardship Council (FSC), can help ensure responsible forest management.</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Urban Green Spaces: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Design and maintain urban areas with green spaces and parks to enhance the quality of life, provide recreational opportunities, and improve air and water quality.</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Waste Management and Brownfield Redevelopment: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effective waste management practices to reduce pollution and promote recycling. Additionally, redevelop brownfield sites (previously used for industrial or commercial purposes) to revitalize urban areas and prevent the expansion of development into natural areas.</a:t>
            </a:r>
          </a:p>
        </p:txBody>
      </p:sp>
    </p:spTree>
    <p:extLst>
      <p:ext uri="{BB962C8B-B14F-4D97-AF65-F5344CB8AC3E}">
        <p14:creationId xmlns:p14="http://schemas.microsoft.com/office/powerpoint/2010/main" val="12079117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673457-96B8-1703-0007-DB6501F3465C}"/>
              </a:ext>
            </a:extLst>
          </p:cNvPr>
          <p:cNvSpPr txBox="1"/>
          <p:nvPr/>
        </p:nvSpPr>
        <p:spPr>
          <a:xfrm>
            <a:off x="479376" y="332657"/>
            <a:ext cx="11161240" cy="5847755"/>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Soil Conservation: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erosion control measures and sustainable land practices to prevent soil degradation, such as contour plowing, cover cropping, and the use of windbreaks.</a:t>
            </a: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Water Resource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Integrate land and water resource management to ensure the sustainable use of water. This involves protecting water sources, managing watersheds, and preventing pollution.</a:t>
            </a: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Land Tenure and Property Rights: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Establish and enforce secure land tenure and property rights to reduce the risk of land degradation, illegal logging, and unsustainable land use practices.</a:t>
            </a: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Biodiversity Corridors: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Establish biodiversity corridors to connect fragmented habitats and promote the movement of species. This helps maintain genetic diversity and supports ecosystems in the face of climate change.</a:t>
            </a: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Community Involvement: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Involve local communities in land management decisions, ensuring that their traditional knowledge and practices are considered. Community engagement fosters a sense of stewardship and promotes sustainable land use.</a:t>
            </a:r>
          </a:p>
        </p:txBody>
      </p:sp>
    </p:spTree>
    <p:extLst>
      <p:ext uri="{BB962C8B-B14F-4D97-AF65-F5344CB8AC3E}">
        <p14:creationId xmlns:p14="http://schemas.microsoft.com/office/powerpoint/2010/main" val="23114298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9F0911-E39A-0E2B-AEAB-5B868DF8626D}"/>
              </a:ext>
            </a:extLst>
          </p:cNvPr>
          <p:cNvSpPr txBox="1"/>
          <p:nvPr/>
        </p:nvSpPr>
        <p:spPr>
          <a:xfrm>
            <a:off x="551384" y="428178"/>
            <a:ext cx="10945216" cy="6001643"/>
          </a:xfrm>
          <a:prstGeom prst="rect">
            <a:avLst/>
          </a:prstGeom>
          <a:noFill/>
        </p:spPr>
        <p:txBody>
          <a:bodyPr wrap="square">
            <a:spAutoFit/>
          </a:bodyPr>
          <a:lstStyle/>
          <a:p>
            <a:pPr algn="l"/>
            <a:r>
              <a:rPr lang="en-US" sz="3600" b="0" i="0" dirty="0">
                <a:solidFill>
                  <a:schemeClr val="accent2"/>
                </a:solidFill>
                <a:effectLst/>
                <a:latin typeface="Times New Roman" panose="02020603050405020304" pitchFamily="18" charset="0"/>
                <a:cs typeface="Times New Roman" panose="02020603050405020304" pitchFamily="18" charset="0"/>
              </a:rPr>
              <a:t>Sustainability in Forest resource management</a:t>
            </a:r>
          </a:p>
          <a:p>
            <a:pPr algn="l"/>
            <a:endParaRPr lang="en-US" b="0" i="0" dirty="0">
              <a:solidFill>
                <a:srgbClr val="374151"/>
              </a:solidFill>
              <a:effectLst/>
              <a:latin typeface="Times New Roman" panose="02020603050405020304" pitchFamily="18" charset="0"/>
              <a:cs typeface="Times New Roman" panose="02020603050405020304" pitchFamily="18" charset="0"/>
            </a:endParaRPr>
          </a:p>
          <a:p>
            <a:pPr algn="l"/>
            <a:r>
              <a:rPr lang="en-US" sz="2200" b="0" i="0" dirty="0">
                <a:solidFill>
                  <a:srgbClr val="374151"/>
                </a:solidFill>
                <a:effectLst/>
                <a:latin typeface="Times New Roman" panose="02020603050405020304" pitchFamily="18" charset="0"/>
                <a:cs typeface="Times New Roman" panose="02020603050405020304" pitchFamily="18" charset="0"/>
              </a:rPr>
              <a:t>Sustainability in forest resource management is essential for maintaining the ecological integrity of forests, supporting biodiversity, mitigating climate change, and ensuring the sustainable provision of goods and services. Here are key aspects and strategies related to sustainability in forest resource management:</a:t>
            </a:r>
          </a:p>
          <a:p>
            <a:pPr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Forest Certification: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Adopt and promote forest certification systems, such as the Forest Stewardship Council (FSC) and the </a:t>
            </a:r>
            <a:r>
              <a:rPr lang="en-US" sz="2200" b="0" i="0" dirty="0" err="1">
                <a:solidFill>
                  <a:srgbClr val="374151"/>
                </a:solidFill>
                <a:effectLst/>
                <a:latin typeface="Times New Roman" panose="02020603050405020304" pitchFamily="18" charset="0"/>
                <a:cs typeface="Times New Roman" panose="02020603050405020304" pitchFamily="18" charset="0"/>
              </a:rPr>
              <a:t>Programme</a:t>
            </a:r>
            <a:r>
              <a:rPr lang="en-US" sz="2200" b="0" i="0" dirty="0">
                <a:solidFill>
                  <a:srgbClr val="374151"/>
                </a:solidFill>
                <a:effectLst/>
                <a:latin typeface="Times New Roman" panose="02020603050405020304" pitchFamily="18" charset="0"/>
                <a:cs typeface="Times New Roman" panose="02020603050405020304" pitchFamily="18" charset="0"/>
              </a:rPr>
              <a:t> for the Endorsement of Forest Certification (PEFC). These systems help ensure that forests are managed responsibly, considering environmental, social, and economic aspects.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Selective Logging and Reduced-Impact Logging:</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selective logging practices that target specific trees for harvest, leaving the majority of the forest intact. Reduced-impact logging techniques minimize damage to the remaining trees, soil, and wildlife.</a:t>
            </a:r>
          </a:p>
        </p:txBody>
      </p:sp>
    </p:spTree>
    <p:extLst>
      <p:ext uri="{BB962C8B-B14F-4D97-AF65-F5344CB8AC3E}">
        <p14:creationId xmlns:p14="http://schemas.microsoft.com/office/powerpoint/2010/main" val="32269289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50FBD0-5D48-A273-500A-154C8B243BD4}"/>
              </a:ext>
            </a:extLst>
          </p:cNvPr>
          <p:cNvSpPr txBox="1"/>
          <p:nvPr/>
        </p:nvSpPr>
        <p:spPr>
          <a:xfrm>
            <a:off x="335360" y="404664"/>
            <a:ext cx="11665296" cy="6186309"/>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Sustainable Agriculture:</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sustainable agricultural practices that prioritize soil health, reduce chemical inputs, and promote conservation tillage. Agroecological approaches can improve long-term productivity while minimizing environmental impact.</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Forest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Adopt sustainable forest management practices, including selective logging, reforestation, and protection of old-growth forests. Certification systems, such as those provided by the Forest Stewardship Council (FSC), can help ensure responsible forest management.</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Urban Green Spaces: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Design and maintain urban areas with green spaces and parks to enhance the quality of life, provide recreational opportunities, and improve air and water quality.</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Waste Management and Brownfield Redevelopment: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effective waste management practices to reduce pollution and promote recycling. Additionally, redevelop brownfield sites (previously used for industrial or commercial purposes) to revitalize urban areas and prevent the expansion of development into natural areas.</a:t>
            </a:r>
          </a:p>
        </p:txBody>
      </p:sp>
    </p:spTree>
    <p:extLst>
      <p:ext uri="{BB962C8B-B14F-4D97-AF65-F5344CB8AC3E}">
        <p14:creationId xmlns:p14="http://schemas.microsoft.com/office/powerpoint/2010/main" val="27053892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693C16-D325-93C1-5CA9-3C02A508FA29}"/>
              </a:ext>
            </a:extLst>
          </p:cNvPr>
          <p:cNvSpPr txBox="1"/>
          <p:nvPr/>
        </p:nvSpPr>
        <p:spPr>
          <a:xfrm>
            <a:off x="623392" y="548680"/>
            <a:ext cx="10801200" cy="5509200"/>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Soil Conservation: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Implement erosion control measures and sustainable land practices to prevent soil degradation, such as contour plowing, cover cropping, and the use of windbreaks.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Water Resource Management: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Integrate land and water resource management to ensure the sustainable use of water. This involves protecting water sources, managing watersheds, and preventing pollution.</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Land Tenure and Property Rights: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Establish and enforce secure land tenure and property rights to reduce the risk of land degradation, illegal logging, and unsustainable land use practices.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Biodiversity Corridors: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Establish biodiversity corridors to connect fragmented habitats and promote the movement of species. This helps maintain genetic diversity and supports ecosystems in the face of climate change.</a:t>
            </a:r>
          </a:p>
        </p:txBody>
      </p:sp>
    </p:spTree>
    <p:extLst>
      <p:ext uri="{BB962C8B-B14F-4D97-AF65-F5344CB8AC3E}">
        <p14:creationId xmlns:p14="http://schemas.microsoft.com/office/powerpoint/2010/main" val="39366608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200C94-416B-4EF8-F2D5-BEA0047FE567}"/>
              </a:ext>
            </a:extLst>
          </p:cNvPr>
          <p:cNvSpPr txBox="1"/>
          <p:nvPr/>
        </p:nvSpPr>
        <p:spPr>
          <a:xfrm>
            <a:off x="623392" y="548680"/>
            <a:ext cx="10945216" cy="5509200"/>
          </a:xfrm>
          <a:prstGeom prst="rect">
            <a:avLst/>
          </a:prstGeom>
          <a:noFill/>
        </p:spPr>
        <p:txBody>
          <a:bodyPr wrap="square">
            <a:spAutoFit/>
          </a:bodyPr>
          <a:lstStyle/>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Community Involvement: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Involve local communities in land management decisions, ensuring that their traditional knowledge and practices are considered. Community engagement fosters a sense of stewardship and promotes sustainable land use.</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Remote Sensing and Technology:</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Utilize remote sensing technologies and data analytics to monitor land use changes, assess environmental impacts, and make informed decisions for sustainable land management.</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Legislation and Enforcement:</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Enact and enforce land use regulations and environmental laws to prevent unsustainable practices and protect natural resources.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285750" indent="-28575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Education and Awareness: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Raise public awareness about the importance of sustainable land management through education programs, community outreach, and campaigns.</a:t>
            </a:r>
          </a:p>
        </p:txBody>
      </p:sp>
    </p:spTree>
    <p:extLst>
      <p:ext uri="{BB962C8B-B14F-4D97-AF65-F5344CB8AC3E}">
        <p14:creationId xmlns:p14="http://schemas.microsoft.com/office/powerpoint/2010/main" val="7136377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737D4BF-3375-5EC8-4CC0-696ED63DE7F4}"/>
              </a:ext>
            </a:extLst>
          </p:cNvPr>
          <p:cNvSpPr txBox="1"/>
          <p:nvPr/>
        </p:nvSpPr>
        <p:spPr>
          <a:xfrm>
            <a:off x="707922" y="555803"/>
            <a:ext cx="9743767" cy="3662541"/>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4000" b="0" i="0" dirty="0">
                <a:solidFill>
                  <a:srgbClr val="FFC000"/>
                </a:solidFill>
                <a:effectLst/>
                <a:latin typeface="Times New Roman" panose="02020603050405020304" pitchFamily="18" charset="0"/>
                <a:cs typeface="Times New Roman" panose="02020603050405020304" pitchFamily="18" charset="0"/>
              </a:rPr>
              <a:t>Waste management</a:t>
            </a:r>
          </a:p>
          <a:p>
            <a:endParaRPr lang="en-US" sz="2400" b="0" i="0" dirty="0">
              <a:solidFill>
                <a:srgbClr val="374151"/>
              </a:solidFill>
              <a:effectLst/>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Waste management is a crucial aspect of environmental sustainability and public health. It involves the collection, transportation, processing, recycling, and disposal of waste materials generated by human activities. Effective waste management practices aim to reduce the environmental impact of waste, promote resource efficiency, and minimize the negative consequences of improper disposal. Here are key components and strategies associated with waste management:</a:t>
            </a:r>
            <a:endParaRPr lang="en-IN"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C72DB7-5693-4E87-B123-AEA66F3E320F}"/>
              </a:ext>
            </a:extLst>
          </p:cNvPr>
          <p:cNvSpPr txBox="1"/>
          <p:nvPr/>
        </p:nvSpPr>
        <p:spPr>
          <a:xfrm>
            <a:off x="707922" y="4218344"/>
            <a:ext cx="10776156" cy="15696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b="0" i="0" dirty="0">
                <a:solidFill>
                  <a:srgbClr val="374151"/>
                </a:solidFill>
                <a:effectLst/>
                <a:latin typeface="Times New Roman" panose="02020603050405020304" pitchFamily="18" charset="0"/>
                <a:cs typeface="Times New Roman" panose="02020603050405020304" pitchFamily="18" charset="0"/>
              </a:rPr>
              <a:t>A comprehensive and integrated approach to waste management involves a combination of these strategies to address the environmental, social, and economic aspects of waste. Sustainable waste management practices contribute to the overall goal of reducing the environmental footprint and promoting a circular economy.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63792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4C324CA-F3BD-AF49-A0EC-8592D038167D}"/>
              </a:ext>
            </a:extLst>
          </p:cNvPr>
          <p:cNvSpPr txBox="1"/>
          <p:nvPr/>
        </p:nvSpPr>
        <p:spPr>
          <a:xfrm>
            <a:off x="479376" y="764704"/>
            <a:ext cx="11089232" cy="550920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Waste Segregation: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Separating waste at its source into different categories (such as recyclables, organic waste, and non-recyclables) is essential for efficient waste management. Segregation facilitates easier recycling and proper disposal.</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Collection and Transportation: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Once waste is segregated, it needs to be collected and transported to appropriate facilities. Efficient collection systems and transportation methods are crucial to prevent littering and ensure timely waste removal.</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Recycling:</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Recycling involves the processing of materials like paper, glass, plastic, and metal into new products. Recycling helps conserve resources, reduce energy consumption, and minimize the environmental impact associated with the extraction and production of raw materials.</a:t>
            </a: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Composting:</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Organic waste, such as food scraps and yard trimmings, can be composted. Composting is a natural process that turns organic waste into nutrient-rich soil conditioner, reducing the volume of waste sent to landfills.</a:t>
            </a:r>
          </a:p>
        </p:txBody>
      </p:sp>
    </p:spTree>
    <p:extLst>
      <p:ext uri="{BB962C8B-B14F-4D97-AF65-F5344CB8AC3E}">
        <p14:creationId xmlns:p14="http://schemas.microsoft.com/office/powerpoint/2010/main" val="249517236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9C30A0A-CE42-C2E4-640E-77C73DE49F56}"/>
              </a:ext>
            </a:extLst>
          </p:cNvPr>
          <p:cNvSpPr txBox="1"/>
          <p:nvPr/>
        </p:nvSpPr>
        <p:spPr>
          <a:xfrm>
            <a:off x="335360" y="166568"/>
            <a:ext cx="11665295" cy="6524863"/>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Waste-to-Energy (WTE):</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Some non-recyclable waste can be used as a source of energy through waste-to-energy technologies. These processes, such as incineration, generate heat or electricity while reducing the volume of waste.</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Landfills: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Landfills are designated areas for the disposal of non-recyclable and non-compostable waste. Proper landfill management is necessary to prevent soil and water contamination and minimize methane gas emissions.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Waste Reduction and Minimization: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Waste reduction strategies focus on minimizing the generation of waste at its source. This includes encouraging the use of reusable products, promoting sustainable packaging practices, and raising awareness about responsible consumption.</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Extended Producer Responsibility (EPR):</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EPR is a policy approach that holds manufacturers responsible for the entire lifecycle of their products, including proper disposal. This encourages product design that considers recyclability and reduces environmental impact.</a:t>
            </a:r>
          </a:p>
        </p:txBody>
      </p:sp>
    </p:spTree>
    <p:extLst>
      <p:ext uri="{BB962C8B-B14F-4D97-AF65-F5344CB8AC3E}">
        <p14:creationId xmlns:p14="http://schemas.microsoft.com/office/powerpoint/2010/main" val="15214208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87B75B-4B6E-026A-CE5C-50313990A0E0}"/>
              </a:ext>
            </a:extLst>
          </p:cNvPr>
          <p:cNvSpPr txBox="1"/>
          <p:nvPr/>
        </p:nvSpPr>
        <p:spPr>
          <a:xfrm>
            <a:off x="551384" y="1182231"/>
            <a:ext cx="11089232" cy="4493538"/>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Public Awareness and Education: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Raising awareness and educating the public about proper waste disposal practices, the importance of recycling, and the environmental impact of waste can lead to better waste management behaviors.</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Legislation and Regulation:</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Governments play a crucial role in waste management through the development and enforcement of regulations and policies. This includes setting waste reduction targets, promoting recycling initiatives, and implementing penalties for improper disposal.</a:t>
            </a:r>
          </a:p>
          <a:p>
            <a:pPr lvl="1" algn="l"/>
            <a:endParaRPr lang="en-US" sz="2200" b="0" i="0" dirty="0">
              <a:solidFill>
                <a:srgbClr val="374151"/>
              </a:solidFill>
              <a:effectLst/>
              <a:latin typeface="Times New Roman" panose="02020603050405020304" pitchFamily="18" charset="0"/>
              <a:cs typeface="Times New Roman" panose="02020603050405020304" pitchFamily="18" charset="0"/>
            </a:endParaRPr>
          </a:p>
          <a:p>
            <a:pPr marL="342900" indent="-342900" algn="l">
              <a:buFont typeface="Wingdings" panose="05000000000000000000" pitchFamily="2" charset="2"/>
              <a:buChar char="Ø"/>
            </a:pPr>
            <a:r>
              <a:rPr lang="en-US" sz="2200" b="1" i="0" dirty="0">
                <a:solidFill>
                  <a:srgbClr val="374151"/>
                </a:solidFill>
                <a:effectLst/>
                <a:latin typeface="Times New Roman" panose="02020603050405020304" pitchFamily="18" charset="0"/>
                <a:cs typeface="Times New Roman" panose="02020603050405020304" pitchFamily="18" charset="0"/>
              </a:rPr>
              <a:t>Technological Innovations:</a:t>
            </a:r>
            <a:endParaRPr lang="en-US" sz="2200" b="0" i="0" dirty="0">
              <a:solidFill>
                <a:srgbClr val="374151"/>
              </a:solidFill>
              <a:effectLst/>
              <a:latin typeface="Times New Roman" panose="02020603050405020304" pitchFamily="18" charset="0"/>
              <a:cs typeface="Times New Roman" panose="02020603050405020304" pitchFamily="18" charset="0"/>
            </a:endParaRPr>
          </a:p>
          <a:p>
            <a:pPr lvl="1" algn="l"/>
            <a:r>
              <a:rPr lang="en-US" sz="2200" b="0" i="0" dirty="0">
                <a:solidFill>
                  <a:srgbClr val="374151"/>
                </a:solidFill>
                <a:effectLst/>
                <a:latin typeface="Times New Roman" panose="02020603050405020304" pitchFamily="18" charset="0"/>
                <a:cs typeface="Times New Roman" panose="02020603050405020304" pitchFamily="18" charset="0"/>
              </a:rPr>
              <a:t>Ongoing research and development of new technologies contribute to more efficient waste management processes, such as advanced sorting and recycling technologies.</a:t>
            </a:r>
          </a:p>
        </p:txBody>
      </p:sp>
    </p:spTree>
    <p:extLst>
      <p:ext uri="{BB962C8B-B14F-4D97-AF65-F5344CB8AC3E}">
        <p14:creationId xmlns:p14="http://schemas.microsoft.com/office/powerpoint/2010/main" val="35987339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83D7DA2-68C0-C2EA-4E9C-56B4BA1D7A5E}"/>
              </a:ext>
            </a:extLst>
          </p:cNvPr>
          <p:cNvSpPr txBox="1"/>
          <p:nvPr/>
        </p:nvSpPr>
        <p:spPr>
          <a:xfrm>
            <a:off x="3935760" y="2780928"/>
            <a:ext cx="6480720" cy="784830"/>
          </a:xfrm>
          <a:prstGeom prst="rect">
            <a:avLst/>
          </a:prstGeom>
          <a:noFill/>
        </p:spPr>
        <p:txBody>
          <a:bodyPr wrap="square" rtlCol="0">
            <a:spAutoFit/>
          </a:bodyPr>
          <a:lstStyle/>
          <a:p>
            <a:r>
              <a:rPr lang="en-IN" sz="4500" dirty="0">
                <a:latin typeface="Algerian" panose="04020705040A02060702" pitchFamily="82" charset="0"/>
              </a:rPr>
              <a:t>THANK YOU</a:t>
            </a:r>
          </a:p>
        </p:txBody>
      </p:sp>
    </p:spTree>
    <p:extLst>
      <p:ext uri="{BB962C8B-B14F-4D97-AF65-F5344CB8AC3E}">
        <p14:creationId xmlns:p14="http://schemas.microsoft.com/office/powerpoint/2010/main" val="184228201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S_NET" val="6.0.25"/>
  <p:tag name="AS_OS" val="Unix 5.15.0.1039"/>
  <p:tag name="AS_RELEASE_DATE" val="2023.09.14"/>
  <p:tag name="AS_TITLE" val="Aspose.Slides for .NET6"/>
  <p:tag name="AS_VERSION" val="23.9"/>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Calibri Light" panose="020F0302020204030204"/>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Calibri" panose="020F0502020204030204"/>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212</TotalTime>
  <Words>6742</Words>
  <Application>Microsoft Office PowerPoint</Application>
  <PresentationFormat>Widescreen</PresentationFormat>
  <Paragraphs>447</Paragraphs>
  <Slides>61</Slides>
  <Notes>0</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61</vt:i4>
      </vt:variant>
    </vt:vector>
  </HeadingPairs>
  <TitlesOfParts>
    <vt:vector size="77" baseType="lpstr">
      <vt:lpstr>Algerian</vt:lpstr>
      <vt:lpstr>Arial</vt:lpstr>
      <vt:lpstr>Bookman Old Style</vt:lpstr>
      <vt:lpstr>Calibri</vt:lpstr>
      <vt:lpstr>Calibri Light</vt:lpstr>
      <vt:lpstr>Century Gothic</vt:lpstr>
      <vt:lpstr>Helvetica-Bold</vt:lpstr>
      <vt:lpstr>Playfair Display</vt:lpstr>
      <vt:lpstr>Söhne</vt:lpstr>
      <vt:lpstr>Times New Roman</vt:lpstr>
      <vt:lpstr>Wingdings</vt:lpstr>
      <vt:lpstr>Wingdings 3</vt:lpstr>
      <vt:lpstr>Office Theme</vt:lpstr>
      <vt:lpstr>Office Theme</vt:lpstr>
      <vt:lpstr>Office Theme</vt:lpstr>
      <vt:lpstr>Wisp</vt:lpstr>
      <vt:lpstr>PowerPoint Presentation</vt:lpstr>
      <vt:lpstr>Introduction to environmental economics</vt:lpstr>
      <vt:lpstr>PowerPoint Presentation</vt:lpstr>
      <vt:lpstr>Environmental Audit</vt:lpstr>
      <vt:lpstr>Scope and Objectives</vt:lpstr>
      <vt:lpstr>Types of Environmental Audits </vt:lpstr>
      <vt:lpstr>Audit Process </vt:lpstr>
      <vt:lpstr>GDP</vt:lpstr>
      <vt:lpstr>GDP Components </vt:lpstr>
      <vt:lpstr>Uses of GDP </vt:lpstr>
      <vt:lpstr> Sustainability  </vt:lpstr>
      <vt:lpstr>Principles of Sustainability </vt:lpstr>
      <vt:lpstr>Needs for Sustainability </vt:lpstr>
      <vt:lpstr>Challenges to Sustainability </vt:lpstr>
      <vt:lpstr>PowerPoint Presentation</vt:lpstr>
      <vt:lpstr>PowerPoint Presentation</vt:lpstr>
      <vt:lpstr>Economic Aspect of Sustainability</vt:lpstr>
      <vt:lpstr>Social Aspect of Sustainability </vt:lpstr>
      <vt:lpstr>Environmental Aspect of Sustainability: </vt:lpstr>
      <vt:lpstr>Interconnectedness of the Three Aspects </vt:lpstr>
      <vt:lpstr>Millennium development goals </vt:lpstr>
      <vt:lpstr>The eight Millennium Development Goals were</vt:lpstr>
      <vt:lpstr>Protocols</vt:lpstr>
      <vt:lpstr> Linear v/s cyclical resource management system</vt:lpstr>
      <vt:lpstr>PowerPoint Presentation</vt:lpstr>
      <vt:lpstr>PowerPoint Presentation</vt:lpstr>
      <vt:lpstr>Cyclical Resource Management System (Circular Economy): Characteristics: A cyclical system, often referred to as a circular economy, is designed to minimize waste and make the most of available resources. It involves reducing, reusing, recycling, and recovering materials to create a closed-loop system. Emphasis is placed on maintaining the value of products and materials for as long as possible through strategies like refurbishment, remanufacturing, and recycling. Circular economy principles aim to decouple economic growth from resource consumption. Benefits: Reduces the environmental impact of resource extraction and waste generation. Promotes sustainable practices and efficient resource use. Fosters innovation in product design and manufacturing processes to enable easier recycling and reuse. </vt:lpstr>
      <vt:lpstr>Need for system thinking and design of cyclical system  The need for system thinking and the design of cyclical systems, such as those aligned with circular economy principles, arises from the recognition of the interconnectedness and complexity of various environmental, social, and economic factors. Here are some key reasons why system thinking and the design of cyclical systems are crucial:  1) Interconnected Nature of Systems:  Many global challenges, such as resource depletion, pollution, and climate change, are complex and interconnected. Linear approaches often fail to address the systemic nature of these challenges. A system thinking approach allows for a holistic understanding of the relationships and feedback loops within a system, enabling more effective problem-solving. Resource Efficiency and Sustainability: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environmental economics</dc:title>
  <dc:creator>MAHESH</dc:creator>
  <cp:lastModifiedBy>MAHESH KUMAR S</cp:lastModifiedBy>
  <cp:revision>4</cp:revision>
  <cp:lastPrinted>2024-01-10T14:39:18Z</cp:lastPrinted>
  <dcterms:created xsi:type="dcterms:W3CDTF">2024-01-10T14:39:18Z</dcterms:created>
  <dcterms:modified xsi:type="dcterms:W3CDTF">2024-01-11T06:00:43Z</dcterms:modified>
</cp:coreProperties>
</file>