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79" r:id="rId4"/>
    <p:sldId id="258" r:id="rId5"/>
    <p:sldId id="259" r:id="rId6"/>
    <p:sldId id="260" r:id="rId7"/>
    <p:sldId id="261" r:id="rId8"/>
    <p:sldId id="262" r:id="rId9"/>
    <p:sldId id="263" r:id="rId10"/>
    <p:sldId id="264" r:id="rId11"/>
    <p:sldId id="265" r:id="rId12"/>
    <p:sldId id="266" r:id="rId13"/>
    <p:sldId id="280" r:id="rId14"/>
    <p:sldId id="267" r:id="rId15"/>
    <p:sldId id="268" r:id="rId16"/>
    <p:sldId id="269" r:id="rId17"/>
    <p:sldId id="270" r:id="rId18"/>
    <p:sldId id="271" r:id="rId19"/>
    <p:sldId id="272" r:id="rId20"/>
    <p:sldId id="273" r:id="rId21"/>
    <p:sldId id="274" r:id="rId22"/>
    <p:sldId id="275" r:id="rId23"/>
    <p:sldId id="276" r:id="rId24"/>
    <p:sldId id="281" r:id="rId25"/>
    <p:sldId id="282" r:id="rId26"/>
    <p:sldId id="277" r:id="rId27"/>
    <p:sldId id="278"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3741" autoAdjust="0"/>
  </p:normalViewPr>
  <p:slideViewPr>
    <p:cSldViewPr snapToGrid="0">
      <p:cViewPr>
        <p:scale>
          <a:sx n="75" d="100"/>
          <a:sy n="75" d="100"/>
        </p:scale>
        <p:origin x="974"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diagrams/_rels/data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AEED1D0-37CB-481B-ACC2-E50931C888CD}"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881B3EF9-4A49-415D-ACE4-01040C6F0EB6}">
      <dgm:prSet/>
      <dgm:spPr/>
      <dgm:t>
        <a:bodyPr/>
        <a:lstStyle/>
        <a:p>
          <a:r>
            <a:rPr lang="en-US">
              <a:latin typeface="Times New Roman" panose="02020603050405020304" pitchFamily="18" charset="0"/>
              <a:cs typeface="Times New Roman" panose="02020603050405020304" pitchFamily="18" charset="0"/>
            </a:rPr>
            <a:t>Contribute towards a sustainable economic development</a:t>
          </a:r>
        </a:p>
      </dgm:t>
    </dgm:pt>
    <dgm:pt modelId="{E07EC067-497B-414C-AC83-B56D1007A57B}" type="parTrans" cxnId="{0ECC62A1-8088-4BBA-B89A-A1CD954AD7BA}">
      <dgm:prSet/>
      <dgm:spPr/>
      <dgm:t>
        <a:bodyPr/>
        <a:lstStyle/>
        <a:p>
          <a:endParaRPr lang="en-US"/>
        </a:p>
      </dgm:t>
    </dgm:pt>
    <dgm:pt modelId="{D2BCC80B-6470-4B98-8BAE-F3BE7D3DC6A6}" type="sibTrans" cxnId="{0ECC62A1-8088-4BBA-B89A-A1CD954AD7BA}">
      <dgm:prSet/>
      <dgm:spPr/>
      <dgm:t>
        <a:bodyPr/>
        <a:lstStyle/>
        <a:p>
          <a:endParaRPr lang="en-US"/>
        </a:p>
      </dgm:t>
    </dgm:pt>
    <dgm:pt modelId="{D7360908-AF7C-41DD-90E1-BCACC4CDE4B1}">
      <dgm:prSet/>
      <dgm:spPr/>
      <dgm:t>
        <a:bodyPr/>
        <a:lstStyle/>
        <a:p>
          <a:r>
            <a:rPr lang="en-IN">
              <a:latin typeface="Times New Roman" panose="02020603050405020304" pitchFamily="18" charset="0"/>
              <a:cs typeface="Times New Roman" panose="02020603050405020304" pitchFamily="18" charset="0"/>
            </a:rPr>
            <a:t>Make desirable social changes</a:t>
          </a:r>
          <a:endParaRPr lang="en-US">
            <a:latin typeface="Times New Roman" panose="02020603050405020304" pitchFamily="18" charset="0"/>
            <a:cs typeface="Times New Roman" panose="02020603050405020304" pitchFamily="18" charset="0"/>
          </a:endParaRPr>
        </a:p>
      </dgm:t>
    </dgm:pt>
    <dgm:pt modelId="{E26AD8B8-20A5-48DB-BB65-747C1E16C981}" type="parTrans" cxnId="{77FBADCF-7082-475F-A8DB-517F6FAF04C6}">
      <dgm:prSet/>
      <dgm:spPr/>
      <dgm:t>
        <a:bodyPr/>
        <a:lstStyle/>
        <a:p>
          <a:endParaRPr lang="en-US"/>
        </a:p>
      </dgm:t>
    </dgm:pt>
    <dgm:pt modelId="{5EB85C53-91F5-4FEB-B85B-59ACAF697BCA}" type="sibTrans" cxnId="{77FBADCF-7082-475F-A8DB-517F6FAF04C6}">
      <dgm:prSet/>
      <dgm:spPr/>
      <dgm:t>
        <a:bodyPr/>
        <a:lstStyle/>
        <a:p>
          <a:endParaRPr lang="en-US"/>
        </a:p>
      </dgm:t>
    </dgm:pt>
    <dgm:pt modelId="{3552E573-30F4-4059-AC5B-69703D69FE40}">
      <dgm:prSet/>
      <dgm:spPr/>
      <dgm:t>
        <a:bodyPr/>
        <a:lstStyle/>
        <a:p>
          <a:r>
            <a:rPr lang="en-IN">
              <a:latin typeface="Times New Roman" panose="02020603050405020304" pitchFamily="18" charset="0"/>
              <a:cs typeface="Times New Roman" panose="02020603050405020304" pitchFamily="18" charset="0"/>
            </a:rPr>
            <a:t>Towards Business &amp; Society</a:t>
          </a:r>
          <a:endParaRPr lang="en-US">
            <a:latin typeface="Times New Roman" panose="02020603050405020304" pitchFamily="18" charset="0"/>
            <a:cs typeface="Times New Roman" panose="02020603050405020304" pitchFamily="18" charset="0"/>
          </a:endParaRPr>
        </a:p>
      </dgm:t>
    </dgm:pt>
    <dgm:pt modelId="{3E382C1B-F509-48D6-BEBA-51E8A70378EA}" type="parTrans" cxnId="{5645C228-CDF2-468C-BAF7-D54668214A34}">
      <dgm:prSet/>
      <dgm:spPr/>
      <dgm:t>
        <a:bodyPr/>
        <a:lstStyle/>
        <a:p>
          <a:endParaRPr lang="en-US"/>
        </a:p>
      </dgm:t>
    </dgm:pt>
    <dgm:pt modelId="{A6B396CF-5A1E-4BDB-931B-5CFFECFDC06E}" type="sibTrans" cxnId="{5645C228-CDF2-468C-BAF7-D54668214A34}">
      <dgm:prSet/>
      <dgm:spPr/>
      <dgm:t>
        <a:bodyPr/>
        <a:lstStyle/>
        <a:p>
          <a:endParaRPr lang="en-US"/>
        </a:p>
      </dgm:t>
    </dgm:pt>
    <dgm:pt modelId="{D7C90DF0-E8E6-41AA-B59C-C3FBC12480BC}">
      <dgm:prSet/>
      <dgm:spPr/>
      <dgm:t>
        <a:bodyPr/>
        <a:lstStyle/>
        <a:p>
          <a:r>
            <a:rPr lang="en-IN">
              <a:latin typeface="Times New Roman" panose="02020603050405020304" pitchFamily="18" charset="0"/>
              <a:cs typeface="Times New Roman" panose="02020603050405020304" pitchFamily="18" charset="0"/>
            </a:rPr>
            <a:t>Global Environmental Protection</a:t>
          </a:r>
          <a:endParaRPr lang="en-US">
            <a:latin typeface="Times New Roman" panose="02020603050405020304" pitchFamily="18" charset="0"/>
            <a:cs typeface="Times New Roman" panose="02020603050405020304" pitchFamily="18" charset="0"/>
          </a:endParaRPr>
        </a:p>
      </dgm:t>
    </dgm:pt>
    <dgm:pt modelId="{2C181CD2-C15F-440F-9EF3-50A383083E76}" type="parTrans" cxnId="{40361B18-A0E4-4E3B-9F33-7A7F85E32D24}">
      <dgm:prSet/>
      <dgm:spPr/>
      <dgm:t>
        <a:bodyPr/>
        <a:lstStyle/>
        <a:p>
          <a:endParaRPr lang="en-US"/>
        </a:p>
      </dgm:t>
    </dgm:pt>
    <dgm:pt modelId="{576FD3A7-AB5F-40BC-861D-6BD6DE98578B}" type="sibTrans" cxnId="{40361B18-A0E4-4E3B-9F33-7A7F85E32D24}">
      <dgm:prSet/>
      <dgm:spPr/>
      <dgm:t>
        <a:bodyPr/>
        <a:lstStyle/>
        <a:p>
          <a:endParaRPr lang="en-US"/>
        </a:p>
      </dgm:t>
    </dgm:pt>
    <dgm:pt modelId="{70F056DF-54B6-4A47-8E57-9B80D683A488}" type="pres">
      <dgm:prSet presAssocID="{7AEED1D0-37CB-481B-ACC2-E50931C888CD}" presName="root" presStyleCnt="0">
        <dgm:presLayoutVars>
          <dgm:dir/>
          <dgm:resizeHandles val="exact"/>
        </dgm:presLayoutVars>
      </dgm:prSet>
      <dgm:spPr/>
    </dgm:pt>
    <dgm:pt modelId="{9EABC2C1-290A-44F7-88E1-A0EF12399B73}" type="pres">
      <dgm:prSet presAssocID="{881B3EF9-4A49-415D-ACE4-01040C6F0EB6}" presName="compNode" presStyleCnt="0"/>
      <dgm:spPr/>
    </dgm:pt>
    <dgm:pt modelId="{8C678D10-00FF-4F58-B57B-0BA0DE66099C}" type="pres">
      <dgm:prSet presAssocID="{881B3EF9-4A49-415D-ACE4-01040C6F0EB6}" presName="bgRect" presStyleLbl="bgShp" presStyleIdx="0" presStyleCnt="4"/>
      <dgm:spPr/>
    </dgm:pt>
    <dgm:pt modelId="{39E257D7-4CA2-4A91-A910-8E7186476513}" type="pres">
      <dgm:prSet presAssocID="{881B3EF9-4A49-415D-ACE4-01040C6F0EB6}"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pward trend"/>
        </a:ext>
      </dgm:extLst>
    </dgm:pt>
    <dgm:pt modelId="{38DEA397-AE3F-468B-8FCC-778B8F2AF153}" type="pres">
      <dgm:prSet presAssocID="{881B3EF9-4A49-415D-ACE4-01040C6F0EB6}" presName="spaceRect" presStyleCnt="0"/>
      <dgm:spPr/>
    </dgm:pt>
    <dgm:pt modelId="{37441BA8-0D40-4877-9B56-A0DEDA0F0BF9}" type="pres">
      <dgm:prSet presAssocID="{881B3EF9-4A49-415D-ACE4-01040C6F0EB6}" presName="parTx" presStyleLbl="revTx" presStyleIdx="0" presStyleCnt="4">
        <dgm:presLayoutVars>
          <dgm:chMax val="0"/>
          <dgm:chPref val="0"/>
        </dgm:presLayoutVars>
      </dgm:prSet>
      <dgm:spPr/>
    </dgm:pt>
    <dgm:pt modelId="{CA7487E0-B50D-4BAB-8187-F3C1DEAC7D7A}" type="pres">
      <dgm:prSet presAssocID="{D2BCC80B-6470-4B98-8BAE-F3BE7D3DC6A6}" presName="sibTrans" presStyleCnt="0"/>
      <dgm:spPr/>
    </dgm:pt>
    <dgm:pt modelId="{EA91E673-D44D-4A05-9047-C23E853C4563}" type="pres">
      <dgm:prSet presAssocID="{D7360908-AF7C-41DD-90E1-BCACC4CDE4B1}" presName="compNode" presStyleCnt="0"/>
      <dgm:spPr/>
    </dgm:pt>
    <dgm:pt modelId="{4F01C4C7-CF43-4A20-BC07-B1644DC11215}" type="pres">
      <dgm:prSet presAssocID="{D7360908-AF7C-41DD-90E1-BCACC4CDE4B1}" presName="bgRect" presStyleLbl="bgShp" presStyleIdx="1" presStyleCnt="4"/>
      <dgm:spPr/>
    </dgm:pt>
    <dgm:pt modelId="{B26B1902-AE76-42C4-9F5F-C5AFBB674919}" type="pres">
      <dgm:prSet presAssocID="{D7360908-AF7C-41DD-90E1-BCACC4CDE4B1}"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roup"/>
        </a:ext>
      </dgm:extLst>
    </dgm:pt>
    <dgm:pt modelId="{BD5AFBFF-971F-48DE-9A2C-C455E8A27D6B}" type="pres">
      <dgm:prSet presAssocID="{D7360908-AF7C-41DD-90E1-BCACC4CDE4B1}" presName="spaceRect" presStyleCnt="0"/>
      <dgm:spPr/>
    </dgm:pt>
    <dgm:pt modelId="{E3B0BB98-A403-412E-8382-A52A97C0AE14}" type="pres">
      <dgm:prSet presAssocID="{D7360908-AF7C-41DD-90E1-BCACC4CDE4B1}" presName="parTx" presStyleLbl="revTx" presStyleIdx="1" presStyleCnt="4">
        <dgm:presLayoutVars>
          <dgm:chMax val="0"/>
          <dgm:chPref val="0"/>
        </dgm:presLayoutVars>
      </dgm:prSet>
      <dgm:spPr/>
    </dgm:pt>
    <dgm:pt modelId="{095FEA13-512A-433B-B898-9B9C007F2EF0}" type="pres">
      <dgm:prSet presAssocID="{5EB85C53-91F5-4FEB-B85B-59ACAF697BCA}" presName="sibTrans" presStyleCnt="0"/>
      <dgm:spPr/>
    </dgm:pt>
    <dgm:pt modelId="{EC598058-74C0-47D0-90D5-94323CB79D9D}" type="pres">
      <dgm:prSet presAssocID="{3552E573-30F4-4059-AC5B-69703D69FE40}" presName="compNode" presStyleCnt="0"/>
      <dgm:spPr/>
    </dgm:pt>
    <dgm:pt modelId="{7EA3FBA4-B2AC-49D0-86C3-B4DCC78D75B2}" type="pres">
      <dgm:prSet presAssocID="{3552E573-30F4-4059-AC5B-69703D69FE40}" presName="bgRect" presStyleLbl="bgShp" presStyleIdx="2" presStyleCnt="4"/>
      <dgm:spPr/>
    </dgm:pt>
    <dgm:pt modelId="{79BA8574-81B2-4EDB-BED4-66691645647A}" type="pres">
      <dgm:prSet presAssocID="{3552E573-30F4-4059-AC5B-69703D69FE40}"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Users"/>
        </a:ext>
      </dgm:extLst>
    </dgm:pt>
    <dgm:pt modelId="{E7A4BB8F-51CB-4DD8-BB93-1D00F0AD37B4}" type="pres">
      <dgm:prSet presAssocID="{3552E573-30F4-4059-AC5B-69703D69FE40}" presName="spaceRect" presStyleCnt="0"/>
      <dgm:spPr/>
    </dgm:pt>
    <dgm:pt modelId="{CA8CC449-E97A-4AF1-9F7A-51C9AC998181}" type="pres">
      <dgm:prSet presAssocID="{3552E573-30F4-4059-AC5B-69703D69FE40}" presName="parTx" presStyleLbl="revTx" presStyleIdx="2" presStyleCnt="4">
        <dgm:presLayoutVars>
          <dgm:chMax val="0"/>
          <dgm:chPref val="0"/>
        </dgm:presLayoutVars>
      </dgm:prSet>
      <dgm:spPr/>
    </dgm:pt>
    <dgm:pt modelId="{4A73949C-34DC-41B2-B003-E51BFE6CFB7C}" type="pres">
      <dgm:prSet presAssocID="{A6B396CF-5A1E-4BDB-931B-5CFFECFDC06E}" presName="sibTrans" presStyleCnt="0"/>
      <dgm:spPr/>
    </dgm:pt>
    <dgm:pt modelId="{49F18B59-8014-48DA-A748-94A00D17A24F}" type="pres">
      <dgm:prSet presAssocID="{D7C90DF0-E8E6-41AA-B59C-C3FBC12480BC}" presName="compNode" presStyleCnt="0"/>
      <dgm:spPr/>
    </dgm:pt>
    <dgm:pt modelId="{37C0A84F-6680-4D16-92E1-81B0FE029CE0}" type="pres">
      <dgm:prSet presAssocID="{D7C90DF0-E8E6-41AA-B59C-C3FBC12480BC}" presName="bgRect" presStyleLbl="bgShp" presStyleIdx="3" presStyleCnt="4"/>
      <dgm:spPr/>
    </dgm:pt>
    <dgm:pt modelId="{B3F161BA-4262-47D3-A807-9F1E30EDEE72}" type="pres">
      <dgm:prSet presAssocID="{D7C90DF0-E8E6-41AA-B59C-C3FBC12480BC}"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Earth Globe Americas"/>
        </a:ext>
      </dgm:extLst>
    </dgm:pt>
    <dgm:pt modelId="{E31D6300-58B2-4991-99F4-68B23387B5C5}" type="pres">
      <dgm:prSet presAssocID="{D7C90DF0-E8E6-41AA-B59C-C3FBC12480BC}" presName="spaceRect" presStyleCnt="0"/>
      <dgm:spPr/>
    </dgm:pt>
    <dgm:pt modelId="{84A030B3-2317-4F73-B6C9-123996B7F0FE}" type="pres">
      <dgm:prSet presAssocID="{D7C90DF0-E8E6-41AA-B59C-C3FBC12480BC}" presName="parTx" presStyleLbl="revTx" presStyleIdx="3" presStyleCnt="4">
        <dgm:presLayoutVars>
          <dgm:chMax val="0"/>
          <dgm:chPref val="0"/>
        </dgm:presLayoutVars>
      </dgm:prSet>
      <dgm:spPr/>
    </dgm:pt>
  </dgm:ptLst>
  <dgm:cxnLst>
    <dgm:cxn modelId="{40361B18-A0E4-4E3B-9F33-7A7F85E32D24}" srcId="{7AEED1D0-37CB-481B-ACC2-E50931C888CD}" destId="{D7C90DF0-E8E6-41AA-B59C-C3FBC12480BC}" srcOrd="3" destOrd="0" parTransId="{2C181CD2-C15F-440F-9EF3-50A383083E76}" sibTransId="{576FD3A7-AB5F-40BC-861D-6BD6DE98578B}"/>
    <dgm:cxn modelId="{5645C228-CDF2-468C-BAF7-D54668214A34}" srcId="{7AEED1D0-37CB-481B-ACC2-E50931C888CD}" destId="{3552E573-30F4-4059-AC5B-69703D69FE40}" srcOrd="2" destOrd="0" parTransId="{3E382C1B-F509-48D6-BEBA-51E8A70378EA}" sibTransId="{A6B396CF-5A1E-4BDB-931B-5CFFECFDC06E}"/>
    <dgm:cxn modelId="{7AB76435-4625-4B0E-B904-12A10A388440}" type="presOf" srcId="{D7C90DF0-E8E6-41AA-B59C-C3FBC12480BC}" destId="{84A030B3-2317-4F73-B6C9-123996B7F0FE}" srcOrd="0" destOrd="0" presId="urn:microsoft.com/office/officeart/2018/2/layout/IconVerticalSolidList"/>
    <dgm:cxn modelId="{72CC695E-2F12-4B12-BD1C-84B48CFC39AE}" type="presOf" srcId="{D7360908-AF7C-41DD-90E1-BCACC4CDE4B1}" destId="{E3B0BB98-A403-412E-8382-A52A97C0AE14}" srcOrd="0" destOrd="0" presId="urn:microsoft.com/office/officeart/2018/2/layout/IconVerticalSolidList"/>
    <dgm:cxn modelId="{7DFBA147-9CEF-425C-9DD9-9ABE719C35E2}" type="presOf" srcId="{3552E573-30F4-4059-AC5B-69703D69FE40}" destId="{CA8CC449-E97A-4AF1-9F7A-51C9AC998181}" srcOrd="0" destOrd="0" presId="urn:microsoft.com/office/officeart/2018/2/layout/IconVerticalSolidList"/>
    <dgm:cxn modelId="{4BCBFD83-2EF1-4D08-A92D-A5752AB81768}" type="presOf" srcId="{7AEED1D0-37CB-481B-ACC2-E50931C888CD}" destId="{70F056DF-54B6-4A47-8E57-9B80D683A488}" srcOrd="0" destOrd="0" presId="urn:microsoft.com/office/officeart/2018/2/layout/IconVerticalSolidList"/>
    <dgm:cxn modelId="{3C13948E-85C8-4738-9803-6FC71BDB2119}" type="presOf" srcId="{881B3EF9-4A49-415D-ACE4-01040C6F0EB6}" destId="{37441BA8-0D40-4877-9B56-A0DEDA0F0BF9}" srcOrd="0" destOrd="0" presId="urn:microsoft.com/office/officeart/2018/2/layout/IconVerticalSolidList"/>
    <dgm:cxn modelId="{0ECC62A1-8088-4BBA-B89A-A1CD954AD7BA}" srcId="{7AEED1D0-37CB-481B-ACC2-E50931C888CD}" destId="{881B3EF9-4A49-415D-ACE4-01040C6F0EB6}" srcOrd="0" destOrd="0" parTransId="{E07EC067-497B-414C-AC83-B56D1007A57B}" sibTransId="{D2BCC80B-6470-4B98-8BAE-F3BE7D3DC6A6}"/>
    <dgm:cxn modelId="{77FBADCF-7082-475F-A8DB-517F6FAF04C6}" srcId="{7AEED1D0-37CB-481B-ACC2-E50931C888CD}" destId="{D7360908-AF7C-41DD-90E1-BCACC4CDE4B1}" srcOrd="1" destOrd="0" parTransId="{E26AD8B8-20A5-48DB-BB65-747C1E16C981}" sibTransId="{5EB85C53-91F5-4FEB-B85B-59ACAF697BCA}"/>
    <dgm:cxn modelId="{C06A24A5-5980-40F1-AF13-838D8B0397CE}" type="presParOf" srcId="{70F056DF-54B6-4A47-8E57-9B80D683A488}" destId="{9EABC2C1-290A-44F7-88E1-A0EF12399B73}" srcOrd="0" destOrd="0" presId="urn:microsoft.com/office/officeart/2018/2/layout/IconVerticalSolidList"/>
    <dgm:cxn modelId="{F57903B4-4DAF-42E1-B525-A7F4F4E6B701}" type="presParOf" srcId="{9EABC2C1-290A-44F7-88E1-A0EF12399B73}" destId="{8C678D10-00FF-4F58-B57B-0BA0DE66099C}" srcOrd="0" destOrd="0" presId="urn:microsoft.com/office/officeart/2018/2/layout/IconVerticalSolidList"/>
    <dgm:cxn modelId="{564107A9-F51C-4660-A171-4015509EDD53}" type="presParOf" srcId="{9EABC2C1-290A-44F7-88E1-A0EF12399B73}" destId="{39E257D7-4CA2-4A91-A910-8E7186476513}" srcOrd="1" destOrd="0" presId="urn:microsoft.com/office/officeart/2018/2/layout/IconVerticalSolidList"/>
    <dgm:cxn modelId="{2D474300-2269-408C-AE76-9737C67EF543}" type="presParOf" srcId="{9EABC2C1-290A-44F7-88E1-A0EF12399B73}" destId="{38DEA397-AE3F-468B-8FCC-778B8F2AF153}" srcOrd="2" destOrd="0" presId="urn:microsoft.com/office/officeart/2018/2/layout/IconVerticalSolidList"/>
    <dgm:cxn modelId="{B1BA5B93-2816-4007-8810-696C3D562069}" type="presParOf" srcId="{9EABC2C1-290A-44F7-88E1-A0EF12399B73}" destId="{37441BA8-0D40-4877-9B56-A0DEDA0F0BF9}" srcOrd="3" destOrd="0" presId="urn:microsoft.com/office/officeart/2018/2/layout/IconVerticalSolidList"/>
    <dgm:cxn modelId="{B1452410-0002-4B8A-825C-2E7C0AD7C386}" type="presParOf" srcId="{70F056DF-54B6-4A47-8E57-9B80D683A488}" destId="{CA7487E0-B50D-4BAB-8187-F3C1DEAC7D7A}" srcOrd="1" destOrd="0" presId="urn:microsoft.com/office/officeart/2018/2/layout/IconVerticalSolidList"/>
    <dgm:cxn modelId="{9AD81176-728F-472A-94AF-96E5FC2E5646}" type="presParOf" srcId="{70F056DF-54B6-4A47-8E57-9B80D683A488}" destId="{EA91E673-D44D-4A05-9047-C23E853C4563}" srcOrd="2" destOrd="0" presId="urn:microsoft.com/office/officeart/2018/2/layout/IconVerticalSolidList"/>
    <dgm:cxn modelId="{79219476-58CF-4CB4-A150-526186DB631F}" type="presParOf" srcId="{EA91E673-D44D-4A05-9047-C23E853C4563}" destId="{4F01C4C7-CF43-4A20-BC07-B1644DC11215}" srcOrd="0" destOrd="0" presId="urn:microsoft.com/office/officeart/2018/2/layout/IconVerticalSolidList"/>
    <dgm:cxn modelId="{D2CEA78C-1683-4CC6-BC36-174E1710E43E}" type="presParOf" srcId="{EA91E673-D44D-4A05-9047-C23E853C4563}" destId="{B26B1902-AE76-42C4-9F5F-C5AFBB674919}" srcOrd="1" destOrd="0" presId="urn:microsoft.com/office/officeart/2018/2/layout/IconVerticalSolidList"/>
    <dgm:cxn modelId="{2441BBA2-26B2-4A28-BF07-031E59FCD68D}" type="presParOf" srcId="{EA91E673-D44D-4A05-9047-C23E853C4563}" destId="{BD5AFBFF-971F-48DE-9A2C-C455E8A27D6B}" srcOrd="2" destOrd="0" presId="urn:microsoft.com/office/officeart/2018/2/layout/IconVerticalSolidList"/>
    <dgm:cxn modelId="{74F3A118-2A9D-4C50-B520-44CF4C4B1FB9}" type="presParOf" srcId="{EA91E673-D44D-4A05-9047-C23E853C4563}" destId="{E3B0BB98-A403-412E-8382-A52A97C0AE14}" srcOrd="3" destOrd="0" presId="urn:microsoft.com/office/officeart/2018/2/layout/IconVerticalSolidList"/>
    <dgm:cxn modelId="{E2A52EFD-ED8E-4DDB-A405-8DB99B36FA9B}" type="presParOf" srcId="{70F056DF-54B6-4A47-8E57-9B80D683A488}" destId="{095FEA13-512A-433B-B898-9B9C007F2EF0}" srcOrd="3" destOrd="0" presId="urn:microsoft.com/office/officeart/2018/2/layout/IconVerticalSolidList"/>
    <dgm:cxn modelId="{D8B5C049-317F-4CED-9263-3412B233AFEF}" type="presParOf" srcId="{70F056DF-54B6-4A47-8E57-9B80D683A488}" destId="{EC598058-74C0-47D0-90D5-94323CB79D9D}" srcOrd="4" destOrd="0" presId="urn:microsoft.com/office/officeart/2018/2/layout/IconVerticalSolidList"/>
    <dgm:cxn modelId="{BC7D0794-225B-4A0D-8681-00D01029C8B1}" type="presParOf" srcId="{EC598058-74C0-47D0-90D5-94323CB79D9D}" destId="{7EA3FBA4-B2AC-49D0-86C3-B4DCC78D75B2}" srcOrd="0" destOrd="0" presId="urn:microsoft.com/office/officeart/2018/2/layout/IconVerticalSolidList"/>
    <dgm:cxn modelId="{4276355E-C97D-4A4E-8A7F-2679CD7AE706}" type="presParOf" srcId="{EC598058-74C0-47D0-90D5-94323CB79D9D}" destId="{79BA8574-81B2-4EDB-BED4-66691645647A}" srcOrd="1" destOrd="0" presId="urn:microsoft.com/office/officeart/2018/2/layout/IconVerticalSolidList"/>
    <dgm:cxn modelId="{A270C867-18D3-4EF1-ABCD-F48A451B1D50}" type="presParOf" srcId="{EC598058-74C0-47D0-90D5-94323CB79D9D}" destId="{E7A4BB8F-51CB-4DD8-BB93-1D00F0AD37B4}" srcOrd="2" destOrd="0" presId="urn:microsoft.com/office/officeart/2018/2/layout/IconVerticalSolidList"/>
    <dgm:cxn modelId="{432C7063-5D2B-445A-9393-DAD5526F0379}" type="presParOf" srcId="{EC598058-74C0-47D0-90D5-94323CB79D9D}" destId="{CA8CC449-E97A-4AF1-9F7A-51C9AC998181}" srcOrd="3" destOrd="0" presId="urn:microsoft.com/office/officeart/2018/2/layout/IconVerticalSolidList"/>
    <dgm:cxn modelId="{A0FF2F35-9D04-414A-A142-A16562731728}" type="presParOf" srcId="{70F056DF-54B6-4A47-8E57-9B80D683A488}" destId="{4A73949C-34DC-41B2-B003-E51BFE6CFB7C}" srcOrd="5" destOrd="0" presId="urn:microsoft.com/office/officeart/2018/2/layout/IconVerticalSolidList"/>
    <dgm:cxn modelId="{483CA6B8-5F58-45BD-942F-09017B1AF144}" type="presParOf" srcId="{70F056DF-54B6-4A47-8E57-9B80D683A488}" destId="{49F18B59-8014-48DA-A748-94A00D17A24F}" srcOrd="6" destOrd="0" presId="urn:microsoft.com/office/officeart/2018/2/layout/IconVerticalSolidList"/>
    <dgm:cxn modelId="{BFF74E09-650A-422F-B01A-43A0BD9CC45F}" type="presParOf" srcId="{49F18B59-8014-48DA-A748-94A00D17A24F}" destId="{37C0A84F-6680-4D16-92E1-81B0FE029CE0}" srcOrd="0" destOrd="0" presId="urn:microsoft.com/office/officeart/2018/2/layout/IconVerticalSolidList"/>
    <dgm:cxn modelId="{A460A70D-3C3A-4359-9A83-259AB77DF61D}" type="presParOf" srcId="{49F18B59-8014-48DA-A748-94A00D17A24F}" destId="{B3F161BA-4262-47D3-A807-9F1E30EDEE72}" srcOrd="1" destOrd="0" presId="urn:microsoft.com/office/officeart/2018/2/layout/IconVerticalSolidList"/>
    <dgm:cxn modelId="{03B03B4E-93A1-4A17-888D-64E469201F6C}" type="presParOf" srcId="{49F18B59-8014-48DA-A748-94A00D17A24F}" destId="{E31D6300-58B2-4991-99F4-68B23387B5C5}" srcOrd="2" destOrd="0" presId="urn:microsoft.com/office/officeart/2018/2/layout/IconVerticalSolidList"/>
    <dgm:cxn modelId="{1326E462-3C60-4877-A9D1-D8F5597DE783}" type="presParOf" srcId="{49F18B59-8014-48DA-A748-94A00D17A24F}" destId="{84A030B3-2317-4F73-B6C9-123996B7F0F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ECDE2E8-D621-4270-A12B-7078B67ACFEC}"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54989560-848D-40DF-A78B-5A2A2712D8B9}">
      <dgm:prSet/>
      <dgm:spPr/>
      <dgm:t>
        <a:bodyPr/>
        <a:lstStyle/>
        <a:p>
          <a:r>
            <a:rPr lang="en-IN" dirty="0">
              <a:latin typeface="Times New Roman" panose="02020603050405020304" pitchFamily="18" charset="0"/>
              <a:cs typeface="Times New Roman" panose="02020603050405020304" pitchFamily="18" charset="0"/>
            </a:rPr>
            <a:t>Howard Bowen, an American economist and Grinnell College president, is often cited as the “father of CSR.” </a:t>
          </a:r>
          <a:endParaRPr lang="en-US" dirty="0">
            <a:latin typeface="Times New Roman" panose="02020603050405020304" pitchFamily="18" charset="0"/>
            <a:cs typeface="Times New Roman" panose="02020603050405020304" pitchFamily="18" charset="0"/>
          </a:endParaRPr>
        </a:p>
      </dgm:t>
    </dgm:pt>
    <dgm:pt modelId="{AF1A6EA2-CC54-4656-842B-1B35B0FD657E}" type="parTrans" cxnId="{7F1D64E4-1524-4547-A0AF-AE93A8471C16}">
      <dgm:prSet/>
      <dgm:spPr/>
      <dgm:t>
        <a:bodyPr/>
        <a:lstStyle/>
        <a:p>
          <a:endParaRPr lang="en-US"/>
        </a:p>
      </dgm:t>
    </dgm:pt>
    <dgm:pt modelId="{861A0E19-B2A8-4709-A466-424DAF4180F3}" type="sibTrans" cxnId="{7F1D64E4-1524-4547-A0AF-AE93A8471C16}">
      <dgm:prSet/>
      <dgm:spPr/>
      <dgm:t>
        <a:bodyPr/>
        <a:lstStyle/>
        <a:p>
          <a:endParaRPr lang="en-US"/>
        </a:p>
      </dgm:t>
    </dgm:pt>
    <dgm:pt modelId="{B4E528AC-2EF7-42D3-8A54-23F30B04CB4E}">
      <dgm:prSet/>
      <dgm:spPr/>
      <dgm:t>
        <a:bodyPr/>
        <a:lstStyle/>
        <a:p>
          <a:r>
            <a:rPr lang="en-US">
              <a:latin typeface="Times New Roman" panose="02020603050405020304" pitchFamily="18" charset="0"/>
              <a:cs typeface="Times New Roman" panose="02020603050405020304" pitchFamily="18" charset="0"/>
            </a:rPr>
            <a:t>At first, CSR focused primarily on philanthropic activities and charitable giving.</a:t>
          </a:r>
        </a:p>
      </dgm:t>
    </dgm:pt>
    <dgm:pt modelId="{58D9E02F-489D-41BA-BD6F-4BEF354DFBE2}" type="parTrans" cxnId="{C704CD3F-9D17-4742-94DE-50A9E79AD723}">
      <dgm:prSet/>
      <dgm:spPr/>
      <dgm:t>
        <a:bodyPr/>
        <a:lstStyle/>
        <a:p>
          <a:endParaRPr lang="en-US"/>
        </a:p>
      </dgm:t>
    </dgm:pt>
    <dgm:pt modelId="{F693907C-B13B-4BDD-B52B-082344C3C40F}" type="sibTrans" cxnId="{C704CD3F-9D17-4742-94DE-50A9E79AD723}">
      <dgm:prSet/>
      <dgm:spPr/>
      <dgm:t>
        <a:bodyPr/>
        <a:lstStyle/>
        <a:p>
          <a:endParaRPr lang="en-US"/>
        </a:p>
      </dgm:t>
    </dgm:pt>
    <dgm:pt modelId="{3AFD6C86-C556-4DDD-9430-1B6313260DEA}">
      <dgm:prSet/>
      <dgm:spPr/>
      <dgm:t>
        <a:bodyPr/>
        <a:lstStyle/>
        <a:p>
          <a:r>
            <a:rPr lang="en-US">
              <a:latin typeface="Times New Roman" panose="02020603050405020304" pitchFamily="18" charset="0"/>
              <a:cs typeface="Times New Roman" panose="02020603050405020304" pitchFamily="18" charset="0"/>
            </a:rPr>
            <a:t>They understood that their success was intertwined with the well-being of the society around them.</a:t>
          </a:r>
        </a:p>
      </dgm:t>
    </dgm:pt>
    <dgm:pt modelId="{2968C6C1-28A8-489F-8689-60B4C7AC37FC}" type="parTrans" cxnId="{633A71C9-674E-4663-8A82-C1AFF89C6FF2}">
      <dgm:prSet/>
      <dgm:spPr/>
      <dgm:t>
        <a:bodyPr/>
        <a:lstStyle/>
        <a:p>
          <a:endParaRPr lang="en-US"/>
        </a:p>
      </dgm:t>
    </dgm:pt>
    <dgm:pt modelId="{9160CC37-B580-4299-9AAE-87C830D67DA8}" type="sibTrans" cxnId="{633A71C9-674E-4663-8A82-C1AFF89C6FF2}">
      <dgm:prSet/>
      <dgm:spPr/>
      <dgm:t>
        <a:bodyPr/>
        <a:lstStyle/>
        <a:p>
          <a:endParaRPr lang="en-US"/>
        </a:p>
      </dgm:t>
    </dgm:pt>
    <dgm:pt modelId="{900072F3-B6D0-4A5F-B823-C1BDF59088BE}">
      <dgm:prSet/>
      <dgm:spPr/>
      <dgm:t>
        <a:bodyPr/>
        <a:lstStyle/>
        <a:p>
          <a:r>
            <a:rPr lang="en-US" dirty="0">
              <a:latin typeface="Times New Roman" panose="02020603050405020304" pitchFamily="18" charset="0"/>
              <a:cs typeface="Times New Roman" panose="02020603050405020304" pitchFamily="18" charset="0"/>
            </a:rPr>
            <a:t>Things got more interesting in the 1960s when scholars started looking at CSR as a response to society's issues, prompting businesses to integrate responsible practices.</a:t>
          </a:r>
        </a:p>
      </dgm:t>
    </dgm:pt>
    <dgm:pt modelId="{FC3B6260-8D96-4D05-B73C-0B750DC86930}" type="parTrans" cxnId="{A8102D8F-070F-4EF9-A8EB-BDD7AFBEB255}">
      <dgm:prSet/>
      <dgm:spPr/>
      <dgm:t>
        <a:bodyPr/>
        <a:lstStyle/>
        <a:p>
          <a:endParaRPr lang="en-US"/>
        </a:p>
      </dgm:t>
    </dgm:pt>
    <dgm:pt modelId="{EA38AD46-C3F9-4986-AE1D-ABD6C592559C}" type="sibTrans" cxnId="{A8102D8F-070F-4EF9-A8EB-BDD7AFBEB255}">
      <dgm:prSet/>
      <dgm:spPr/>
      <dgm:t>
        <a:bodyPr/>
        <a:lstStyle/>
        <a:p>
          <a:endParaRPr lang="en-US"/>
        </a:p>
      </dgm:t>
    </dgm:pt>
    <dgm:pt modelId="{D862499B-D579-40D6-8A12-C54D1A0D7941}">
      <dgm:prSet/>
      <dgm:spPr/>
      <dgm:t>
        <a:bodyPr/>
        <a:lstStyle/>
        <a:p>
          <a:r>
            <a:rPr lang="en-US" dirty="0">
              <a:latin typeface="Times New Roman" panose="02020603050405020304" pitchFamily="18" charset="0"/>
              <a:cs typeface="Times New Roman" panose="02020603050405020304" pitchFamily="18" charset="0"/>
            </a:rPr>
            <a:t>In 1970s and 80s, CSR became more integrated into business operations, driven in part by reduced government regulation.</a:t>
          </a:r>
        </a:p>
      </dgm:t>
    </dgm:pt>
    <dgm:pt modelId="{4995E7CF-E481-4757-BCC5-585D8C56171E}" type="parTrans" cxnId="{C05A4864-2FF0-4A05-99B6-CF7BAE0DDF5E}">
      <dgm:prSet/>
      <dgm:spPr/>
      <dgm:t>
        <a:bodyPr/>
        <a:lstStyle/>
        <a:p>
          <a:endParaRPr lang="en-US"/>
        </a:p>
      </dgm:t>
    </dgm:pt>
    <dgm:pt modelId="{0A266A18-5421-42FA-BCAB-C474985A0453}" type="sibTrans" cxnId="{C05A4864-2FF0-4A05-99B6-CF7BAE0DDF5E}">
      <dgm:prSet/>
      <dgm:spPr/>
      <dgm:t>
        <a:bodyPr/>
        <a:lstStyle/>
        <a:p>
          <a:endParaRPr lang="en-US"/>
        </a:p>
      </dgm:t>
    </dgm:pt>
    <dgm:pt modelId="{C1BAFEAF-CB65-4213-83EE-2B9A110DF339}">
      <dgm:prSet/>
      <dgm:spPr/>
      <dgm:t>
        <a:bodyPr/>
        <a:lstStyle/>
        <a:p>
          <a:r>
            <a:rPr lang="en-US">
              <a:latin typeface="Times New Roman" panose="02020603050405020304" pitchFamily="18" charset="0"/>
              <a:cs typeface="Times New Roman" panose="02020603050405020304" pitchFamily="18" charset="0"/>
            </a:rPr>
            <a:t>In the 1990s, International events and agreements, such as Agenda 21 and the Kyoto Protocol, compelled multinational corporations to broaden their CSR focus beyond local concerns. </a:t>
          </a:r>
        </a:p>
      </dgm:t>
    </dgm:pt>
    <dgm:pt modelId="{5F218A0F-07C1-4045-A164-71C28CD0B3F1}" type="parTrans" cxnId="{39A141D2-AA60-4601-9F36-A5C83F00725F}">
      <dgm:prSet/>
      <dgm:spPr/>
      <dgm:t>
        <a:bodyPr/>
        <a:lstStyle/>
        <a:p>
          <a:endParaRPr lang="en-US"/>
        </a:p>
      </dgm:t>
    </dgm:pt>
    <dgm:pt modelId="{9D21EDAA-7186-4DCB-B056-542E0850ED14}" type="sibTrans" cxnId="{39A141D2-AA60-4601-9F36-A5C83F00725F}">
      <dgm:prSet/>
      <dgm:spPr/>
      <dgm:t>
        <a:bodyPr/>
        <a:lstStyle/>
        <a:p>
          <a:endParaRPr lang="en-US"/>
        </a:p>
      </dgm:t>
    </dgm:pt>
    <dgm:pt modelId="{EFBA926E-F608-4B67-87ED-8E7EFCB8FBD1}" type="pres">
      <dgm:prSet presAssocID="{0ECDE2E8-D621-4270-A12B-7078B67ACFEC}" presName="vert0" presStyleCnt="0">
        <dgm:presLayoutVars>
          <dgm:dir/>
          <dgm:animOne val="branch"/>
          <dgm:animLvl val="lvl"/>
        </dgm:presLayoutVars>
      </dgm:prSet>
      <dgm:spPr/>
    </dgm:pt>
    <dgm:pt modelId="{5CF359B2-21F1-4858-A945-8137AC9CEDDC}" type="pres">
      <dgm:prSet presAssocID="{54989560-848D-40DF-A78B-5A2A2712D8B9}" presName="thickLine" presStyleLbl="alignNode1" presStyleIdx="0" presStyleCnt="6"/>
      <dgm:spPr/>
    </dgm:pt>
    <dgm:pt modelId="{52DAD61E-20D3-4693-99D3-36D4161E4832}" type="pres">
      <dgm:prSet presAssocID="{54989560-848D-40DF-A78B-5A2A2712D8B9}" presName="horz1" presStyleCnt="0"/>
      <dgm:spPr/>
    </dgm:pt>
    <dgm:pt modelId="{4B7D577E-D786-4F92-8705-4B6CB48AC2CE}" type="pres">
      <dgm:prSet presAssocID="{54989560-848D-40DF-A78B-5A2A2712D8B9}" presName="tx1" presStyleLbl="revTx" presStyleIdx="0" presStyleCnt="6"/>
      <dgm:spPr/>
    </dgm:pt>
    <dgm:pt modelId="{96B0B51A-B412-4FEC-9B06-CA4522B764ED}" type="pres">
      <dgm:prSet presAssocID="{54989560-848D-40DF-A78B-5A2A2712D8B9}" presName="vert1" presStyleCnt="0"/>
      <dgm:spPr/>
    </dgm:pt>
    <dgm:pt modelId="{DF1EC496-7835-45FC-9A78-85C1F22BE573}" type="pres">
      <dgm:prSet presAssocID="{B4E528AC-2EF7-42D3-8A54-23F30B04CB4E}" presName="thickLine" presStyleLbl="alignNode1" presStyleIdx="1" presStyleCnt="6"/>
      <dgm:spPr/>
    </dgm:pt>
    <dgm:pt modelId="{4C1D191E-F1B7-443F-A4EC-19BA32A375A4}" type="pres">
      <dgm:prSet presAssocID="{B4E528AC-2EF7-42D3-8A54-23F30B04CB4E}" presName="horz1" presStyleCnt="0"/>
      <dgm:spPr/>
    </dgm:pt>
    <dgm:pt modelId="{E7499D4B-F772-4B6D-910B-4F243EDAC1A8}" type="pres">
      <dgm:prSet presAssocID="{B4E528AC-2EF7-42D3-8A54-23F30B04CB4E}" presName="tx1" presStyleLbl="revTx" presStyleIdx="1" presStyleCnt="6"/>
      <dgm:spPr/>
    </dgm:pt>
    <dgm:pt modelId="{A3CED22F-DB4A-4C81-B40A-432AAB96507B}" type="pres">
      <dgm:prSet presAssocID="{B4E528AC-2EF7-42D3-8A54-23F30B04CB4E}" presName="vert1" presStyleCnt="0"/>
      <dgm:spPr/>
    </dgm:pt>
    <dgm:pt modelId="{BE18C286-156A-47E3-97D1-F4256E0F54DF}" type="pres">
      <dgm:prSet presAssocID="{3AFD6C86-C556-4DDD-9430-1B6313260DEA}" presName="thickLine" presStyleLbl="alignNode1" presStyleIdx="2" presStyleCnt="6"/>
      <dgm:spPr/>
    </dgm:pt>
    <dgm:pt modelId="{AACF8B22-28F9-4E1C-B756-8052D2840CAC}" type="pres">
      <dgm:prSet presAssocID="{3AFD6C86-C556-4DDD-9430-1B6313260DEA}" presName="horz1" presStyleCnt="0"/>
      <dgm:spPr/>
    </dgm:pt>
    <dgm:pt modelId="{9AC2AE58-E40F-4CA5-BAA1-8301FAC9969D}" type="pres">
      <dgm:prSet presAssocID="{3AFD6C86-C556-4DDD-9430-1B6313260DEA}" presName="tx1" presStyleLbl="revTx" presStyleIdx="2" presStyleCnt="6"/>
      <dgm:spPr/>
    </dgm:pt>
    <dgm:pt modelId="{2AA37AE7-7C98-47E5-8459-2771888A7ECA}" type="pres">
      <dgm:prSet presAssocID="{3AFD6C86-C556-4DDD-9430-1B6313260DEA}" presName="vert1" presStyleCnt="0"/>
      <dgm:spPr/>
    </dgm:pt>
    <dgm:pt modelId="{AD434BB2-1DE5-4D5F-A6D2-CEFCE132383F}" type="pres">
      <dgm:prSet presAssocID="{900072F3-B6D0-4A5F-B823-C1BDF59088BE}" presName="thickLine" presStyleLbl="alignNode1" presStyleIdx="3" presStyleCnt="6"/>
      <dgm:spPr/>
    </dgm:pt>
    <dgm:pt modelId="{A4F76C07-D33B-438B-83B7-204B90E83D1B}" type="pres">
      <dgm:prSet presAssocID="{900072F3-B6D0-4A5F-B823-C1BDF59088BE}" presName="horz1" presStyleCnt="0"/>
      <dgm:spPr/>
    </dgm:pt>
    <dgm:pt modelId="{339142CE-8BB9-49B3-9812-C462A1CA92FB}" type="pres">
      <dgm:prSet presAssocID="{900072F3-B6D0-4A5F-B823-C1BDF59088BE}" presName="tx1" presStyleLbl="revTx" presStyleIdx="3" presStyleCnt="6"/>
      <dgm:spPr/>
    </dgm:pt>
    <dgm:pt modelId="{6A974863-30A7-4F3C-9297-4205E918AEDC}" type="pres">
      <dgm:prSet presAssocID="{900072F3-B6D0-4A5F-B823-C1BDF59088BE}" presName="vert1" presStyleCnt="0"/>
      <dgm:spPr/>
    </dgm:pt>
    <dgm:pt modelId="{50D8724E-B1B4-4A9A-8C37-FA94A9427B70}" type="pres">
      <dgm:prSet presAssocID="{D862499B-D579-40D6-8A12-C54D1A0D7941}" presName="thickLine" presStyleLbl="alignNode1" presStyleIdx="4" presStyleCnt="6"/>
      <dgm:spPr/>
    </dgm:pt>
    <dgm:pt modelId="{FFB516C8-218B-4BB3-A10C-24B61C112314}" type="pres">
      <dgm:prSet presAssocID="{D862499B-D579-40D6-8A12-C54D1A0D7941}" presName="horz1" presStyleCnt="0"/>
      <dgm:spPr/>
    </dgm:pt>
    <dgm:pt modelId="{D3760888-2A50-476E-8BB4-F8825A361F90}" type="pres">
      <dgm:prSet presAssocID="{D862499B-D579-40D6-8A12-C54D1A0D7941}" presName="tx1" presStyleLbl="revTx" presStyleIdx="4" presStyleCnt="6"/>
      <dgm:spPr/>
    </dgm:pt>
    <dgm:pt modelId="{A498E414-A35D-49F3-8644-C7A607AEC395}" type="pres">
      <dgm:prSet presAssocID="{D862499B-D579-40D6-8A12-C54D1A0D7941}" presName="vert1" presStyleCnt="0"/>
      <dgm:spPr/>
    </dgm:pt>
    <dgm:pt modelId="{B3CF838C-0A55-44E6-9AAF-75881FFE1B1A}" type="pres">
      <dgm:prSet presAssocID="{C1BAFEAF-CB65-4213-83EE-2B9A110DF339}" presName="thickLine" presStyleLbl="alignNode1" presStyleIdx="5" presStyleCnt="6"/>
      <dgm:spPr/>
    </dgm:pt>
    <dgm:pt modelId="{A635AAC2-AEBD-461C-B410-479E08F50138}" type="pres">
      <dgm:prSet presAssocID="{C1BAFEAF-CB65-4213-83EE-2B9A110DF339}" presName="horz1" presStyleCnt="0"/>
      <dgm:spPr/>
    </dgm:pt>
    <dgm:pt modelId="{8D79F56F-9704-4025-BC78-59C95F0A4AFB}" type="pres">
      <dgm:prSet presAssocID="{C1BAFEAF-CB65-4213-83EE-2B9A110DF339}" presName="tx1" presStyleLbl="revTx" presStyleIdx="5" presStyleCnt="6"/>
      <dgm:spPr/>
    </dgm:pt>
    <dgm:pt modelId="{E644CA80-A905-4EFD-8E50-7D6162812248}" type="pres">
      <dgm:prSet presAssocID="{C1BAFEAF-CB65-4213-83EE-2B9A110DF339}" presName="vert1" presStyleCnt="0"/>
      <dgm:spPr/>
    </dgm:pt>
  </dgm:ptLst>
  <dgm:cxnLst>
    <dgm:cxn modelId="{D0BCB70F-93B8-451D-91EF-4E7CCDA80C96}" type="presOf" srcId="{0ECDE2E8-D621-4270-A12B-7078B67ACFEC}" destId="{EFBA926E-F608-4B67-87ED-8E7EFCB8FBD1}" srcOrd="0" destOrd="0" presId="urn:microsoft.com/office/officeart/2008/layout/LinedList"/>
    <dgm:cxn modelId="{766DFE16-BA35-4535-9A5D-B610B12E076B}" type="presOf" srcId="{B4E528AC-2EF7-42D3-8A54-23F30B04CB4E}" destId="{E7499D4B-F772-4B6D-910B-4F243EDAC1A8}" srcOrd="0" destOrd="0" presId="urn:microsoft.com/office/officeart/2008/layout/LinedList"/>
    <dgm:cxn modelId="{EE81B122-3567-427A-83BA-A8BEC86B4A87}" type="presOf" srcId="{D862499B-D579-40D6-8A12-C54D1A0D7941}" destId="{D3760888-2A50-476E-8BB4-F8825A361F90}" srcOrd="0" destOrd="0" presId="urn:microsoft.com/office/officeart/2008/layout/LinedList"/>
    <dgm:cxn modelId="{C704CD3F-9D17-4742-94DE-50A9E79AD723}" srcId="{0ECDE2E8-D621-4270-A12B-7078B67ACFEC}" destId="{B4E528AC-2EF7-42D3-8A54-23F30B04CB4E}" srcOrd="1" destOrd="0" parTransId="{58D9E02F-489D-41BA-BD6F-4BEF354DFBE2}" sibTransId="{F693907C-B13B-4BDD-B52B-082344C3C40F}"/>
    <dgm:cxn modelId="{C05A4864-2FF0-4A05-99B6-CF7BAE0DDF5E}" srcId="{0ECDE2E8-D621-4270-A12B-7078B67ACFEC}" destId="{D862499B-D579-40D6-8A12-C54D1A0D7941}" srcOrd="4" destOrd="0" parTransId="{4995E7CF-E481-4757-BCC5-585D8C56171E}" sibTransId="{0A266A18-5421-42FA-BCAB-C474985A0453}"/>
    <dgm:cxn modelId="{B170806D-BA59-440A-9985-46FB9F163009}" type="presOf" srcId="{C1BAFEAF-CB65-4213-83EE-2B9A110DF339}" destId="{8D79F56F-9704-4025-BC78-59C95F0A4AFB}" srcOrd="0" destOrd="0" presId="urn:microsoft.com/office/officeart/2008/layout/LinedList"/>
    <dgm:cxn modelId="{A8102D8F-070F-4EF9-A8EB-BDD7AFBEB255}" srcId="{0ECDE2E8-D621-4270-A12B-7078B67ACFEC}" destId="{900072F3-B6D0-4A5F-B823-C1BDF59088BE}" srcOrd="3" destOrd="0" parTransId="{FC3B6260-8D96-4D05-B73C-0B750DC86930}" sibTransId="{EA38AD46-C3F9-4986-AE1D-ABD6C592559C}"/>
    <dgm:cxn modelId="{A0095293-5CFC-4D4B-8CB5-969E99A9F2D5}" type="presOf" srcId="{54989560-848D-40DF-A78B-5A2A2712D8B9}" destId="{4B7D577E-D786-4F92-8705-4B6CB48AC2CE}" srcOrd="0" destOrd="0" presId="urn:microsoft.com/office/officeart/2008/layout/LinedList"/>
    <dgm:cxn modelId="{633A71C9-674E-4663-8A82-C1AFF89C6FF2}" srcId="{0ECDE2E8-D621-4270-A12B-7078B67ACFEC}" destId="{3AFD6C86-C556-4DDD-9430-1B6313260DEA}" srcOrd="2" destOrd="0" parTransId="{2968C6C1-28A8-489F-8689-60B4C7AC37FC}" sibTransId="{9160CC37-B580-4299-9AAE-87C830D67DA8}"/>
    <dgm:cxn modelId="{39A141D2-AA60-4601-9F36-A5C83F00725F}" srcId="{0ECDE2E8-D621-4270-A12B-7078B67ACFEC}" destId="{C1BAFEAF-CB65-4213-83EE-2B9A110DF339}" srcOrd="5" destOrd="0" parTransId="{5F218A0F-07C1-4045-A164-71C28CD0B3F1}" sibTransId="{9D21EDAA-7186-4DCB-B056-542E0850ED14}"/>
    <dgm:cxn modelId="{781A3CDF-5F74-4551-9A1C-A125C589777E}" type="presOf" srcId="{900072F3-B6D0-4A5F-B823-C1BDF59088BE}" destId="{339142CE-8BB9-49B3-9812-C462A1CA92FB}" srcOrd="0" destOrd="0" presId="urn:microsoft.com/office/officeart/2008/layout/LinedList"/>
    <dgm:cxn modelId="{7F1D64E4-1524-4547-A0AF-AE93A8471C16}" srcId="{0ECDE2E8-D621-4270-A12B-7078B67ACFEC}" destId="{54989560-848D-40DF-A78B-5A2A2712D8B9}" srcOrd="0" destOrd="0" parTransId="{AF1A6EA2-CC54-4656-842B-1B35B0FD657E}" sibTransId="{861A0E19-B2A8-4709-A466-424DAF4180F3}"/>
    <dgm:cxn modelId="{B8B44DFD-80C7-432D-AECC-558CFF8ADA22}" type="presOf" srcId="{3AFD6C86-C556-4DDD-9430-1B6313260DEA}" destId="{9AC2AE58-E40F-4CA5-BAA1-8301FAC9969D}" srcOrd="0" destOrd="0" presId="urn:microsoft.com/office/officeart/2008/layout/LinedList"/>
    <dgm:cxn modelId="{BEF1EEC8-618E-45A6-8B5E-BF081DB6DC94}" type="presParOf" srcId="{EFBA926E-F608-4B67-87ED-8E7EFCB8FBD1}" destId="{5CF359B2-21F1-4858-A945-8137AC9CEDDC}" srcOrd="0" destOrd="0" presId="urn:microsoft.com/office/officeart/2008/layout/LinedList"/>
    <dgm:cxn modelId="{FABCAE6F-AA6C-44D3-BDFE-F50AC97C6F61}" type="presParOf" srcId="{EFBA926E-F608-4B67-87ED-8E7EFCB8FBD1}" destId="{52DAD61E-20D3-4693-99D3-36D4161E4832}" srcOrd="1" destOrd="0" presId="urn:microsoft.com/office/officeart/2008/layout/LinedList"/>
    <dgm:cxn modelId="{677861A4-7E59-4052-8A09-39F9E1B511A2}" type="presParOf" srcId="{52DAD61E-20D3-4693-99D3-36D4161E4832}" destId="{4B7D577E-D786-4F92-8705-4B6CB48AC2CE}" srcOrd="0" destOrd="0" presId="urn:microsoft.com/office/officeart/2008/layout/LinedList"/>
    <dgm:cxn modelId="{2912D715-A9EF-457E-8608-F84EFF9B8A70}" type="presParOf" srcId="{52DAD61E-20D3-4693-99D3-36D4161E4832}" destId="{96B0B51A-B412-4FEC-9B06-CA4522B764ED}" srcOrd="1" destOrd="0" presId="urn:microsoft.com/office/officeart/2008/layout/LinedList"/>
    <dgm:cxn modelId="{32920A6A-62D5-440D-9B79-EBFAB2BF02C0}" type="presParOf" srcId="{EFBA926E-F608-4B67-87ED-8E7EFCB8FBD1}" destId="{DF1EC496-7835-45FC-9A78-85C1F22BE573}" srcOrd="2" destOrd="0" presId="urn:microsoft.com/office/officeart/2008/layout/LinedList"/>
    <dgm:cxn modelId="{2307F88C-C31F-412A-B119-598985F1B128}" type="presParOf" srcId="{EFBA926E-F608-4B67-87ED-8E7EFCB8FBD1}" destId="{4C1D191E-F1B7-443F-A4EC-19BA32A375A4}" srcOrd="3" destOrd="0" presId="urn:microsoft.com/office/officeart/2008/layout/LinedList"/>
    <dgm:cxn modelId="{2E87FDD7-53C7-48F8-B521-FBB9C4B24789}" type="presParOf" srcId="{4C1D191E-F1B7-443F-A4EC-19BA32A375A4}" destId="{E7499D4B-F772-4B6D-910B-4F243EDAC1A8}" srcOrd="0" destOrd="0" presId="urn:microsoft.com/office/officeart/2008/layout/LinedList"/>
    <dgm:cxn modelId="{22F421A3-3712-44AC-BD15-8CFCBE397E33}" type="presParOf" srcId="{4C1D191E-F1B7-443F-A4EC-19BA32A375A4}" destId="{A3CED22F-DB4A-4C81-B40A-432AAB96507B}" srcOrd="1" destOrd="0" presId="urn:microsoft.com/office/officeart/2008/layout/LinedList"/>
    <dgm:cxn modelId="{8BA31F39-B0EB-44DA-969F-7B7097CF1432}" type="presParOf" srcId="{EFBA926E-F608-4B67-87ED-8E7EFCB8FBD1}" destId="{BE18C286-156A-47E3-97D1-F4256E0F54DF}" srcOrd="4" destOrd="0" presId="urn:microsoft.com/office/officeart/2008/layout/LinedList"/>
    <dgm:cxn modelId="{0E473B55-2384-4B0B-9CE7-9B77C0A5E8A9}" type="presParOf" srcId="{EFBA926E-F608-4B67-87ED-8E7EFCB8FBD1}" destId="{AACF8B22-28F9-4E1C-B756-8052D2840CAC}" srcOrd="5" destOrd="0" presId="urn:microsoft.com/office/officeart/2008/layout/LinedList"/>
    <dgm:cxn modelId="{40343199-24AC-4360-8BFC-0E54BF14CA96}" type="presParOf" srcId="{AACF8B22-28F9-4E1C-B756-8052D2840CAC}" destId="{9AC2AE58-E40F-4CA5-BAA1-8301FAC9969D}" srcOrd="0" destOrd="0" presId="urn:microsoft.com/office/officeart/2008/layout/LinedList"/>
    <dgm:cxn modelId="{C64D8EE3-5907-4B10-AEBE-3FC1730AD78C}" type="presParOf" srcId="{AACF8B22-28F9-4E1C-B756-8052D2840CAC}" destId="{2AA37AE7-7C98-47E5-8459-2771888A7ECA}" srcOrd="1" destOrd="0" presId="urn:microsoft.com/office/officeart/2008/layout/LinedList"/>
    <dgm:cxn modelId="{AF24ED7D-6735-4127-B643-62A2B7020121}" type="presParOf" srcId="{EFBA926E-F608-4B67-87ED-8E7EFCB8FBD1}" destId="{AD434BB2-1DE5-4D5F-A6D2-CEFCE132383F}" srcOrd="6" destOrd="0" presId="urn:microsoft.com/office/officeart/2008/layout/LinedList"/>
    <dgm:cxn modelId="{D0569888-78B7-4D9F-8A83-B56E6D7C1475}" type="presParOf" srcId="{EFBA926E-F608-4B67-87ED-8E7EFCB8FBD1}" destId="{A4F76C07-D33B-438B-83B7-204B90E83D1B}" srcOrd="7" destOrd="0" presId="urn:microsoft.com/office/officeart/2008/layout/LinedList"/>
    <dgm:cxn modelId="{9DA76279-8998-4EC1-A154-BB496D7984E8}" type="presParOf" srcId="{A4F76C07-D33B-438B-83B7-204B90E83D1B}" destId="{339142CE-8BB9-49B3-9812-C462A1CA92FB}" srcOrd="0" destOrd="0" presId="urn:microsoft.com/office/officeart/2008/layout/LinedList"/>
    <dgm:cxn modelId="{92D1D14B-C3D3-479C-AEC8-D3977919B148}" type="presParOf" srcId="{A4F76C07-D33B-438B-83B7-204B90E83D1B}" destId="{6A974863-30A7-4F3C-9297-4205E918AEDC}" srcOrd="1" destOrd="0" presId="urn:microsoft.com/office/officeart/2008/layout/LinedList"/>
    <dgm:cxn modelId="{5F2416CA-E313-4C14-BC4F-2C9826AE9DAE}" type="presParOf" srcId="{EFBA926E-F608-4B67-87ED-8E7EFCB8FBD1}" destId="{50D8724E-B1B4-4A9A-8C37-FA94A9427B70}" srcOrd="8" destOrd="0" presId="urn:microsoft.com/office/officeart/2008/layout/LinedList"/>
    <dgm:cxn modelId="{BCD35BC7-496F-4B6F-BA48-30D60A944CCD}" type="presParOf" srcId="{EFBA926E-F608-4B67-87ED-8E7EFCB8FBD1}" destId="{FFB516C8-218B-4BB3-A10C-24B61C112314}" srcOrd="9" destOrd="0" presId="urn:microsoft.com/office/officeart/2008/layout/LinedList"/>
    <dgm:cxn modelId="{C4EC9D5C-BCF7-400C-91B9-F1E5A808632E}" type="presParOf" srcId="{FFB516C8-218B-4BB3-A10C-24B61C112314}" destId="{D3760888-2A50-476E-8BB4-F8825A361F90}" srcOrd="0" destOrd="0" presId="urn:microsoft.com/office/officeart/2008/layout/LinedList"/>
    <dgm:cxn modelId="{AAED669C-4DFD-472B-804D-F98FC042B663}" type="presParOf" srcId="{FFB516C8-218B-4BB3-A10C-24B61C112314}" destId="{A498E414-A35D-49F3-8644-C7A607AEC395}" srcOrd="1" destOrd="0" presId="urn:microsoft.com/office/officeart/2008/layout/LinedList"/>
    <dgm:cxn modelId="{52391441-7917-4117-96C6-A71E4F1EF542}" type="presParOf" srcId="{EFBA926E-F608-4B67-87ED-8E7EFCB8FBD1}" destId="{B3CF838C-0A55-44E6-9AAF-75881FFE1B1A}" srcOrd="10" destOrd="0" presId="urn:microsoft.com/office/officeart/2008/layout/LinedList"/>
    <dgm:cxn modelId="{0ED1E4F6-EA8A-40FC-9293-8F04BBAD7214}" type="presParOf" srcId="{EFBA926E-F608-4B67-87ED-8E7EFCB8FBD1}" destId="{A635AAC2-AEBD-461C-B410-479E08F50138}" srcOrd="11" destOrd="0" presId="urn:microsoft.com/office/officeart/2008/layout/LinedList"/>
    <dgm:cxn modelId="{8627FBE5-1CFC-4DCC-AFFD-C2876A8BEDF0}" type="presParOf" srcId="{A635AAC2-AEBD-461C-B410-479E08F50138}" destId="{8D79F56F-9704-4025-BC78-59C95F0A4AFB}" srcOrd="0" destOrd="0" presId="urn:microsoft.com/office/officeart/2008/layout/LinedList"/>
    <dgm:cxn modelId="{B32205CF-2313-474B-BF10-B74BA1EFCB7F}" type="presParOf" srcId="{A635AAC2-AEBD-461C-B410-479E08F50138}" destId="{E644CA80-A905-4EFD-8E50-7D6162812248}"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678D10-00FF-4F58-B57B-0BA0DE66099C}">
      <dsp:nvSpPr>
        <dsp:cNvPr id="0" name=""/>
        <dsp:cNvSpPr/>
      </dsp:nvSpPr>
      <dsp:spPr>
        <a:xfrm>
          <a:off x="0" y="2319"/>
          <a:ext cx="6245265" cy="117572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9E257D7-4CA2-4A91-A910-8E7186476513}">
      <dsp:nvSpPr>
        <dsp:cNvPr id="0" name=""/>
        <dsp:cNvSpPr/>
      </dsp:nvSpPr>
      <dsp:spPr>
        <a:xfrm>
          <a:off x="355657" y="266858"/>
          <a:ext cx="646650" cy="64665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7441BA8-0D40-4877-9B56-A0DEDA0F0BF9}">
      <dsp:nvSpPr>
        <dsp:cNvPr id="0" name=""/>
        <dsp:cNvSpPr/>
      </dsp:nvSpPr>
      <dsp:spPr>
        <a:xfrm>
          <a:off x="1357965" y="2319"/>
          <a:ext cx="4887299" cy="11757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431" tIns="124431" rIns="124431" bIns="124431" numCol="1" spcCol="1270" anchor="ctr" anchorCtr="0">
          <a:noAutofit/>
        </a:bodyPr>
        <a:lstStyle/>
        <a:p>
          <a:pPr marL="0" lvl="0" indent="0" algn="l" defTabSz="977900">
            <a:lnSpc>
              <a:spcPct val="90000"/>
            </a:lnSpc>
            <a:spcBef>
              <a:spcPct val="0"/>
            </a:spcBef>
            <a:spcAft>
              <a:spcPct val="35000"/>
            </a:spcAft>
            <a:buNone/>
          </a:pPr>
          <a:r>
            <a:rPr lang="en-US" sz="2200" kern="1200">
              <a:latin typeface="Times New Roman" panose="02020603050405020304" pitchFamily="18" charset="0"/>
              <a:cs typeface="Times New Roman" panose="02020603050405020304" pitchFamily="18" charset="0"/>
            </a:rPr>
            <a:t>Contribute towards a sustainable economic development</a:t>
          </a:r>
        </a:p>
      </dsp:txBody>
      <dsp:txXfrm>
        <a:off x="1357965" y="2319"/>
        <a:ext cx="4887299" cy="1175727"/>
      </dsp:txXfrm>
    </dsp:sp>
    <dsp:sp modelId="{4F01C4C7-CF43-4A20-BC07-B1644DC11215}">
      <dsp:nvSpPr>
        <dsp:cNvPr id="0" name=""/>
        <dsp:cNvSpPr/>
      </dsp:nvSpPr>
      <dsp:spPr>
        <a:xfrm>
          <a:off x="0" y="1471979"/>
          <a:ext cx="6245265" cy="117572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26B1902-AE76-42C4-9F5F-C5AFBB674919}">
      <dsp:nvSpPr>
        <dsp:cNvPr id="0" name=""/>
        <dsp:cNvSpPr/>
      </dsp:nvSpPr>
      <dsp:spPr>
        <a:xfrm>
          <a:off x="355657" y="1736518"/>
          <a:ext cx="646650" cy="64665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3B0BB98-A403-412E-8382-A52A97C0AE14}">
      <dsp:nvSpPr>
        <dsp:cNvPr id="0" name=""/>
        <dsp:cNvSpPr/>
      </dsp:nvSpPr>
      <dsp:spPr>
        <a:xfrm>
          <a:off x="1357965" y="1471979"/>
          <a:ext cx="4887299" cy="11757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431" tIns="124431" rIns="124431" bIns="124431" numCol="1" spcCol="1270" anchor="ctr" anchorCtr="0">
          <a:noAutofit/>
        </a:bodyPr>
        <a:lstStyle/>
        <a:p>
          <a:pPr marL="0" lvl="0" indent="0" algn="l" defTabSz="977900">
            <a:lnSpc>
              <a:spcPct val="90000"/>
            </a:lnSpc>
            <a:spcBef>
              <a:spcPct val="0"/>
            </a:spcBef>
            <a:spcAft>
              <a:spcPct val="35000"/>
            </a:spcAft>
            <a:buNone/>
          </a:pPr>
          <a:r>
            <a:rPr lang="en-IN" sz="2200" kern="1200">
              <a:latin typeface="Times New Roman" panose="02020603050405020304" pitchFamily="18" charset="0"/>
              <a:cs typeface="Times New Roman" panose="02020603050405020304" pitchFamily="18" charset="0"/>
            </a:rPr>
            <a:t>Make desirable social changes</a:t>
          </a:r>
          <a:endParaRPr lang="en-US" sz="2200" kern="1200">
            <a:latin typeface="Times New Roman" panose="02020603050405020304" pitchFamily="18" charset="0"/>
            <a:cs typeface="Times New Roman" panose="02020603050405020304" pitchFamily="18" charset="0"/>
          </a:endParaRPr>
        </a:p>
      </dsp:txBody>
      <dsp:txXfrm>
        <a:off x="1357965" y="1471979"/>
        <a:ext cx="4887299" cy="1175727"/>
      </dsp:txXfrm>
    </dsp:sp>
    <dsp:sp modelId="{7EA3FBA4-B2AC-49D0-86C3-B4DCC78D75B2}">
      <dsp:nvSpPr>
        <dsp:cNvPr id="0" name=""/>
        <dsp:cNvSpPr/>
      </dsp:nvSpPr>
      <dsp:spPr>
        <a:xfrm>
          <a:off x="0" y="2941639"/>
          <a:ext cx="6245265" cy="117572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9BA8574-81B2-4EDB-BED4-66691645647A}">
      <dsp:nvSpPr>
        <dsp:cNvPr id="0" name=""/>
        <dsp:cNvSpPr/>
      </dsp:nvSpPr>
      <dsp:spPr>
        <a:xfrm>
          <a:off x="355657" y="3206178"/>
          <a:ext cx="646650" cy="64665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A8CC449-E97A-4AF1-9F7A-51C9AC998181}">
      <dsp:nvSpPr>
        <dsp:cNvPr id="0" name=""/>
        <dsp:cNvSpPr/>
      </dsp:nvSpPr>
      <dsp:spPr>
        <a:xfrm>
          <a:off x="1357965" y="2941639"/>
          <a:ext cx="4887299" cy="11757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431" tIns="124431" rIns="124431" bIns="124431" numCol="1" spcCol="1270" anchor="ctr" anchorCtr="0">
          <a:noAutofit/>
        </a:bodyPr>
        <a:lstStyle/>
        <a:p>
          <a:pPr marL="0" lvl="0" indent="0" algn="l" defTabSz="977900">
            <a:lnSpc>
              <a:spcPct val="90000"/>
            </a:lnSpc>
            <a:spcBef>
              <a:spcPct val="0"/>
            </a:spcBef>
            <a:spcAft>
              <a:spcPct val="35000"/>
            </a:spcAft>
            <a:buNone/>
          </a:pPr>
          <a:r>
            <a:rPr lang="en-IN" sz="2200" kern="1200">
              <a:latin typeface="Times New Roman" panose="02020603050405020304" pitchFamily="18" charset="0"/>
              <a:cs typeface="Times New Roman" panose="02020603050405020304" pitchFamily="18" charset="0"/>
            </a:rPr>
            <a:t>Towards Business &amp; Society</a:t>
          </a:r>
          <a:endParaRPr lang="en-US" sz="2200" kern="1200">
            <a:latin typeface="Times New Roman" panose="02020603050405020304" pitchFamily="18" charset="0"/>
            <a:cs typeface="Times New Roman" panose="02020603050405020304" pitchFamily="18" charset="0"/>
          </a:endParaRPr>
        </a:p>
      </dsp:txBody>
      <dsp:txXfrm>
        <a:off x="1357965" y="2941639"/>
        <a:ext cx="4887299" cy="1175727"/>
      </dsp:txXfrm>
    </dsp:sp>
    <dsp:sp modelId="{37C0A84F-6680-4D16-92E1-81B0FE029CE0}">
      <dsp:nvSpPr>
        <dsp:cNvPr id="0" name=""/>
        <dsp:cNvSpPr/>
      </dsp:nvSpPr>
      <dsp:spPr>
        <a:xfrm>
          <a:off x="0" y="4411299"/>
          <a:ext cx="6245265" cy="117572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3F161BA-4262-47D3-A807-9F1E30EDEE72}">
      <dsp:nvSpPr>
        <dsp:cNvPr id="0" name=""/>
        <dsp:cNvSpPr/>
      </dsp:nvSpPr>
      <dsp:spPr>
        <a:xfrm>
          <a:off x="355657" y="4675838"/>
          <a:ext cx="646650" cy="64665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4A030B3-2317-4F73-B6C9-123996B7F0FE}">
      <dsp:nvSpPr>
        <dsp:cNvPr id="0" name=""/>
        <dsp:cNvSpPr/>
      </dsp:nvSpPr>
      <dsp:spPr>
        <a:xfrm>
          <a:off x="1357965" y="4411299"/>
          <a:ext cx="4887299" cy="11757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431" tIns="124431" rIns="124431" bIns="124431" numCol="1" spcCol="1270" anchor="ctr" anchorCtr="0">
          <a:noAutofit/>
        </a:bodyPr>
        <a:lstStyle/>
        <a:p>
          <a:pPr marL="0" lvl="0" indent="0" algn="l" defTabSz="977900">
            <a:lnSpc>
              <a:spcPct val="90000"/>
            </a:lnSpc>
            <a:spcBef>
              <a:spcPct val="0"/>
            </a:spcBef>
            <a:spcAft>
              <a:spcPct val="35000"/>
            </a:spcAft>
            <a:buNone/>
          </a:pPr>
          <a:r>
            <a:rPr lang="en-IN" sz="2200" kern="1200">
              <a:latin typeface="Times New Roman" panose="02020603050405020304" pitchFamily="18" charset="0"/>
              <a:cs typeface="Times New Roman" panose="02020603050405020304" pitchFamily="18" charset="0"/>
            </a:rPr>
            <a:t>Global Environmental Protection</a:t>
          </a:r>
          <a:endParaRPr lang="en-US" sz="2200" kern="1200">
            <a:latin typeface="Times New Roman" panose="02020603050405020304" pitchFamily="18" charset="0"/>
            <a:cs typeface="Times New Roman" panose="02020603050405020304" pitchFamily="18" charset="0"/>
          </a:endParaRPr>
        </a:p>
      </dsp:txBody>
      <dsp:txXfrm>
        <a:off x="1357965" y="4411299"/>
        <a:ext cx="4887299" cy="117572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F359B2-21F1-4858-A945-8137AC9CEDDC}">
      <dsp:nvSpPr>
        <dsp:cNvPr id="0" name=""/>
        <dsp:cNvSpPr/>
      </dsp:nvSpPr>
      <dsp:spPr>
        <a:xfrm>
          <a:off x="0" y="2124"/>
          <a:ext cx="1051560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B7D577E-D786-4F92-8705-4B6CB48AC2CE}">
      <dsp:nvSpPr>
        <dsp:cNvPr id="0" name=""/>
        <dsp:cNvSpPr/>
      </dsp:nvSpPr>
      <dsp:spPr>
        <a:xfrm>
          <a:off x="0" y="2124"/>
          <a:ext cx="10515600" cy="7245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IN" sz="2100" kern="1200" dirty="0">
              <a:latin typeface="Times New Roman" panose="02020603050405020304" pitchFamily="18" charset="0"/>
              <a:cs typeface="Times New Roman" panose="02020603050405020304" pitchFamily="18" charset="0"/>
            </a:rPr>
            <a:t>Howard Bowen, an American economist and Grinnell College president, is often cited as the “father of CSR.” </a:t>
          </a:r>
          <a:endParaRPr lang="en-US" sz="2100" kern="1200" dirty="0">
            <a:latin typeface="Times New Roman" panose="02020603050405020304" pitchFamily="18" charset="0"/>
            <a:cs typeface="Times New Roman" panose="02020603050405020304" pitchFamily="18" charset="0"/>
          </a:endParaRPr>
        </a:p>
      </dsp:txBody>
      <dsp:txXfrm>
        <a:off x="0" y="2124"/>
        <a:ext cx="10515600" cy="724514"/>
      </dsp:txXfrm>
    </dsp:sp>
    <dsp:sp modelId="{DF1EC496-7835-45FC-9A78-85C1F22BE573}">
      <dsp:nvSpPr>
        <dsp:cNvPr id="0" name=""/>
        <dsp:cNvSpPr/>
      </dsp:nvSpPr>
      <dsp:spPr>
        <a:xfrm>
          <a:off x="0" y="726639"/>
          <a:ext cx="10515600" cy="0"/>
        </a:xfrm>
        <a:prstGeom prst="line">
          <a:avLst/>
        </a:prstGeom>
        <a:solidFill>
          <a:schemeClr val="accent2">
            <a:hueOff val="-291073"/>
            <a:satOff val="-16786"/>
            <a:lumOff val="1726"/>
            <a:alphaOff val="0"/>
          </a:schemeClr>
        </a:solidFill>
        <a:ln w="12700" cap="flat" cmpd="sng" algn="ctr">
          <a:solidFill>
            <a:schemeClr val="accent2">
              <a:hueOff val="-291073"/>
              <a:satOff val="-16786"/>
              <a:lumOff val="172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7499D4B-F772-4B6D-910B-4F243EDAC1A8}">
      <dsp:nvSpPr>
        <dsp:cNvPr id="0" name=""/>
        <dsp:cNvSpPr/>
      </dsp:nvSpPr>
      <dsp:spPr>
        <a:xfrm>
          <a:off x="0" y="726639"/>
          <a:ext cx="10515600" cy="7245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a:latin typeface="Times New Roman" panose="02020603050405020304" pitchFamily="18" charset="0"/>
              <a:cs typeface="Times New Roman" panose="02020603050405020304" pitchFamily="18" charset="0"/>
            </a:rPr>
            <a:t>At first, CSR focused primarily on philanthropic activities and charitable giving.</a:t>
          </a:r>
        </a:p>
      </dsp:txBody>
      <dsp:txXfrm>
        <a:off x="0" y="726639"/>
        <a:ext cx="10515600" cy="724514"/>
      </dsp:txXfrm>
    </dsp:sp>
    <dsp:sp modelId="{BE18C286-156A-47E3-97D1-F4256E0F54DF}">
      <dsp:nvSpPr>
        <dsp:cNvPr id="0" name=""/>
        <dsp:cNvSpPr/>
      </dsp:nvSpPr>
      <dsp:spPr>
        <a:xfrm>
          <a:off x="0" y="1451154"/>
          <a:ext cx="10515600" cy="0"/>
        </a:xfrm>
        <a:prstGeom prst="line">
          <a:avLst/>
        </a:prstGeom>
        <a:solidFill>
          <a:schemeClr val="accent2">
            <a:hueOff val="-582145"/>
            <a:satOff val="-33571"/>
            <a:lumOff val="3451"/>
            <a:alphaOff val="0"/>
          </a:schemeClr>
        </a:solidFill>
        <a:ln w="12700" cap="flat" cmpd="sng" algn="ctr">
          <a:solidFill>
            <a:schemeClr val="accent2">
              <a:hueOff val="-582145"/>
              <a:satOff val="-33571"/>
              <a:lumOff val="345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AC2AE58-E40F-4CA5-BAA1-8301FAC9969D}">
      <dsp:nvSpPr>
        <dsp:cNvPr id="0" name=""/>
        <dsp:cNvSpPr/>
      </dsp:nvSpPr>
      <dsp:spPr>
        <a:xfrm>
          <a:off x="0" y="1451154"/>
          <a:ext cx="10515600" cy="7245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a:latin typeface="Times New Roman" panose="02020603050405020304" pitchFamily="18" charset="0"/>
              <a:cs typeface="Times New Roman" panose="02020603050405020304" pitchFamily="18" charset="0"/>
            </a:rPr>
            <a:t>They understood that their success was intertwined with the well-being of the society around them.</a:t>
          </a:r>
        </a:p>
      </dsp:txBody>
      <dsp:txXfrm>
        <a:off x="0" y="1451154"/>
        <a:ext cx="10515600" cy="724514"/>
      </dsp:txXfrm>
    </dsp:sp>
    <dsp:sp modelId="{AD434BB2-1DE5-4D5F-A6D2-CEFCE132383F}">
      <dsp:nvSpPr>
        <dsp:cNvPr id="0" name=""/>
        <dsp:cNvSpPr/>
      </dsp:nvSpPr>
      <dsp:spPr>
        <a:xfrm>
          <a:off x="0" y="2175669"/>
          <a:ext cx="10515600" cy="0"/>
        </a:xfrm>
        <a:prstGeom prst="line">
          <a:avLst/>
        </a:prstGeom>
        <a:solidFill>
          <a:schemeClr val="accent2">
            <a:hueOff val="-873218"/>
            <a:satOff val="-50357"/>
            <a:lumOff val="5177"/>
            <a:alphaOff val="0"/>
          </a:schemeClr>
        </a:solidFill>
        <a:ln w="12700" cap="flat" cmpd="sng" algn="ctr">
          <a:solidFill>
            <a:schemeClr val="accent2">
              <a:hueOff val="-873218"/>
              <a:satOff val="-50357"/>
              <a:lumOff val="517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39142CE-8BB9-49B3-9812-C462A1CA92FB}">
      <dsp:nvSpPr>
        <dsp:cNvPr id="0" name=""/>
        <dsp:cNvSpPr/>
      </dsp:nvSpPr>
      <dsp:spPr>
        <a:xfrm>
          <a:off x="0" y="2175669"/>
          <a:ext cx="10515600" cy="7245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dirty="0">
              <a:latin typeface="Times New Roman" panose="02020603050405020304" pitchFamily="18" charset="0"/>
              <a:cs typeface="Times New Roman" panose="02020603050405020304" pitchFamily="18" charset="0"/>
            </a:rPr>
            <a:t>Things got more interesting in the 1960s when scholars started looking at CSR as a response to society's issues, prompting businesses to integrate responsible practices.</a:t>
          </a:r>
        </a:p>
      </dsp:txBody>
      <dsp:txXfrm>
        <a:off x="0" y="2175669"/>
        <a:ext cx="10515600" cy="724514"/>
      </dsp:txXfrm>
    </dsp:sp>
    <dsp:sp modelId="{50D8724E-B1B4-4A9A-8C37-FA94A9427B70}">
      <dsp:nvSpPr>
        <dsp:cNvPr id="0" name=""/>
        <dsp:cNvSpPr/>
      </dsp:nvSpPr>
      <dsp:spPr>
        <a:xfrm>
          <a:off x="0" y="2900183"/>
          <a:ext cx="10515600" cy="0"/>
        </a:xfrm>
        <a:prstGeom prst="line">
          <a:avLst/>
        </a:prstGeom>
        <a:solidFill>
          <a:schemeClr val="accent2">
            <a:hueOff val="-1164290"/>
            <a:satOff val="-67142"/>
            <a:lumOff val="6902"/>
            <a:alphaOff val="0"/>
          </a:schemeClr>
        </a:solidFill>
        <a:ln w="12700" cap="flat" cmpd="sng" algn="ctr">
          <a:solidFill>
            <a:schemeClr val="accent2">
              <a:hueOff val="-1164290"/>
              <a:satOff val="-67142"/>
              <a:lumOff val="690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3760888-2A50-476E-8BB4-F8825A361F90}">
      <dsp:nvSpPr>
        <dsp:cNvPr id="0" name=""/>
        <dsp:cNvSpPr/>
      </dsp:nvSpPr>
      <dsp:spPr>
        <a:xfrm>
          <a:off x="0" y="2900183"/>
          <a:ext cx="10515600" cy="7245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dirty="0">
              <a:latin typeface="Times New Roman" panose="02020603050405020304" pitchFamily="18" charset="0"/>
              <a:cs typeface="Times New Roman" panose="02020603050405020304" pitchFamily="18" charset="0"/>
            </a:rPr>
            <a:t>In 1970s and 80s, CSR became more integrated into business operations, driven in part by reduced government regulation.</a:t>
          </a:r>
        </a:p>
      </dsp:txBody>
      <dsp:txXfrm>
        <a:off x="0" y="2900183"/>
        <a:ext cx="10515600" cy="724514"/>
      </dsp:txXfrm>
    </dsp:sp>
    <dsp:sp modelId="{B3CF838C-0A55-44E6-9AAF-75881FFE1B1A}">
      <dsp:nvSpPr>
        <dsp:cNvPr id="0" name=""/>
        <dsp:cNvSpPr/>
      </dsp:nvSpPr>
      <dsp:spPr>
        <a:xfrm>
          <a:off x="0" y="3624698"/>
          <a:ext cx="10515600" cy="0"/>
        </a:xfrm>
        <a:prstGeom prst="line">
          <a:avLst/>
        </a:prstGeom>
        <a:solidFill>
          <a:schemeClr val="accent2">
            <a:hueOff val="-1455363"/>
            <a:satOff val="-83928"/>
            <a:lumOff val="8628"/>
            <a:alphaOff val="0"/>
          </a:schemeClr>
        </a:solidFill>
        <a:ln w="12700" cap="flat" cmpd="sng" algn="ctr">
          <a:solidFill>
            <a:schemeClr val="accent2">
              <a:hueOff val="-1455363"/>
              <a:satOff val="-83928"/>
              <a:lumOff val="862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D79F56F-9704-4025-BC78-59C95F0A4AFB}">
      <dsp:nvSpPr>
        <dsp:cNvPr id="0" name=""/>
        <dsp:cNvSpPr/>
      </dsp:nvSpPr>
      <dsp:spPr>
        <a:xfrm>
          <a:off x="0" y="3624698"/>
          <a:ext cx="10515600" cy="7245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a:latin typeface="Times New Roman" panose="02020603050405020304" pitchFamily="18" charset="0"/>
              <a:cs typeface="Times New Roman" panose="02020603050405020304" pitchFamily="18" charset="0"/>
            </a:rPr>
            <a:t>In the 1990s, International events and agreements, such as Agenda 21 and the Kyoto Protocol, compelled multinational corporations to broaden their CSR focus beyond local concerns. </a:t>
          </a:r>
        </a:p>
      </dsp:txBody>
      <dsp:txXfrm>
        <a:off x="0" y="3624698"/>
        <a:ext cx="10515600" cy="724514"/>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FDCDB-6EBD-79D3-33F0-8F377C789ED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0F66C49-924C-2149-C07C-A06EB8E9ABA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BAD42E7-9E75-ED2E-158D-FFAA7048338C}"/>
              </a:ext>
            </a:extLst>
          </p:cNvPr>
          <p:cNvSpPr>
            <a:spLocks noGrp="1"/>
          </p:cNvSpPr>
          <p:nvPr>
            <p:ph type="dt" sz="half" idx="10"/>
          </p:nvPr>
        </p:nvSpPr>
        <p:spPr/>
        <p:txBody>
          <a:bodyPr/>
          <a:lstStyle/>
          <a:p>
            <a:fld id="{AC08D735-C112-46C2-A602-ABBC8E12B9BB}" type="datetimeFigureOut">
              <a:rPr lang="en-IN" smtClean="0"/>
              <a:t>28-06-2024</a:t>
            </a:fld>
            <a:endParaRPr lang="en-IN"/>
          </a:p>
        </p:txBody>
      </p:sp>
      <p:sp>
        <p:nvSpPr>
          <p:cNvPr id="5" name="Footer Placeholder 4">
            <a:extLst>
              <a:ext uri="{FF2B5EF4-FFF2-40B4-BE49-F238E27FC236}">
                <a16:creationId xmlns:a16="http://schemas.microsoft.com/office/drawing/2014/main" id="{A303B633-D3FD-EEE2-AEBF-3E7F0916483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C10F150-0F80-4ED2-20D4-3A971542D607}"/>
              </a:ext>
            </a:extLst>
          </p:cNvPr>
          <p:cNvSpPr>
            <a:spLocks noGrp="1"/>
          </p:cNvSpPr>
          <p:nvPr>
            <p:ph type="sldNum" sz="quarter" idx="12"/>
          </p:nvPr>
        </p:nvSpPr>
        <p:spPr/>
        <p:txBody>
          <a:bodyPr/>
          <a:lstStyle/>
          <a:p>
            <a:fld id="{34EB701B-4A4B-4665-AE6A-D5D4B712DBA3}" type="slidenum">
              <a:rPr lang="en-IN" smtClean="0"/>
              <a:t>‹#›</a:t>
            </a:fld>
            <a:endParaRPr lang="en-IN"/>
          </a:p>
        </p:txBody>
      </p:sp>
    </p:spTree>
    <p:extLst>
      <p:ext uri="{BB962C8B-B14F-4D97-AF65-F5344CB8AC3E}">
        <p14:creationId xmlns:p14="http://schemas.microsoft.com/office/powerpoint/2010/main" val="3970220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7C0E5D-5A8E-8FD6-F91B-8494969C013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9F329FE-09C9-23FD-B226-970DBDEC737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6CC3849-03BC-35B5-16D2-4D8A21AA5AD0}"/>
              </a:ext>
            </a:extLst>
          </p:cNvPr>
          <p:cNvSpPr>
            <a:spLocks noGrp="1"/>
          </p:cNvSpPr>
          <p:nvPr>
            <p:ph type="dt" sz="half" idx="10"/>
          </p:nvPr>
        </p:nvSpPr>
        <p:spPr/>
        <p:txBody>
          <a:bodyPr/>
          <a:lstStyle/>
          <a:p>
            <a:fld id="{AC08D735-C112-46C2-A602-ABBC8E12B9BB}" type="datetimeFigureOut">
              <a:rPr lang="en-IN" smtClean="0"/>
              <a:t>28-06-2024</a:t>
            </a:fld>
            <a:endParaRPr lang="en-IN"/>
          </a:p>
        </p:txBody>
      </p:sp>
      <p:sp>
        <p:nvSpPr>
          <p:cNvPr id="5" name="Footer Placeholder 4">
            <a:extLst>
              <a:ext uri="{FF2B5EF4-FFF2-40B4-BE49-F238E27FC236}">
                <a16:creationId xmlns:a16="http://schemas.microsoft.com/office/drawing/2014/main" id="{542FBEBC-320E-C255-EAD1-4941518850C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0557D70-DBB5-AC80-5B75-B3A4AEAA0054}"/>
              </a:ext>
            </a:extLst>
          </p:cNvPr>
          <p:cNvSpPr>
            <a:spLocks noGrp="1"/>
          </p:cNvSpPr>
          <p:nvPr>
            <p:ph type="sldNum" sz="quarter" idx="12"/>
          </p:nvPr>
        </p:nvSpPr>
        <p:spPr/>
        <p:txBody>
          <a:bodyPr/>
          <a:lstStyle/>
          <a:p>
            <a:fld id="{34EB701B-4A4B-4665-AE6A-D5D4B712DBA3}" type="slidenum">
              <a:rPr lang="en-IN" smtClean="0"/>
              <a:t>‹#›</a:t>
            </a:fld>
            <a:endParaRPr lang="en-IN"/>
          </a:p>
        </p:txBody>
      </p:sp>
    </p:spTree>
    <p:extLst>
      <p:ext uri="{BB962C8B-B14F-4D97-AF65-F5344CB8AC3E}">
        <p14:creationId xmlns:p14="http://schemas.microsoft.com/office/powerpoint/2010/main" val="42165549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4DD73-4C3C-4877-8D87-7047F3A5B14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B2F6FBC-7EC5-6900-23D5-EA34F5766C3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2158552-F050-9808-A3A9-A78F4164D7C3}"/>
              </a:ext>
            </a:extLst>
          </p:cNvPr>
          <p:cNvSpPr>
            <a:spLocks noGrp="1"/>
          </p:cNvSpPr>
          <p:nvPr>
            <p:ph type="dt" sz="half" idx="10"/>
          </p:nvPr>
        </p:nvSpPr>
        <p:spPr/>
        <p:txBody>
          <a:bodyPr/>
          <a:lstStyle/>
          <a:p>
            <a:fld id="{AC08D735-C112-46C2-A602-ABBC8E12B9BB}" type="datetimeFigureOut">
              <a:rPr lang="en-IN" smtClean="0"/>
              <a:t>28-06-2024</a:t>
            </a:fld>
            <a:endParaRPr lang="en-IN"/>
          </a:p>
        </p:txBody>
      </p:sp>
      <p:sp>
        <p:nvSpPr>
          <p:cNvPr id="5" name="Footer Placeholder 4">
            <a:extLst>
              <a:ext uri="{FF2B5EF4-FFF2-40B4-BE49-F238E27FC236}">
                <a16:creationId xmlns:a16="http://schemas.microsoft.com/office/drawing/2014/main" id="{FB29C128-D217-D24A-BD70-A5B9495097C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68282D6-45C7-DB39-85B3-4C4EADCCF8BF}"/>
              </a:ext>
            </a:extLst>
          </p:cNvPr>
          <p:cNvSpPr>
            <a:spLocks noGrp="1"/>
          </p:cNvSpPr>
          <p:nvPr>
            <p:ph type="sldNum" sz="quarter" idx="12"/>
          </p:nvPr>
        </p:nvSpPr>
        <p:spPr/>
        <p:txBody>
          <a:bodyPr/>
          <a:lstStyle/>
          <a:p>
            <a:fld id="{34EB701B-4A4B-4665-AE6A-D5D4B712DBA3}" type="slidenum">
              <a:rPr lang="en-IN" smtClean="0"/>
              <a:t>‹#›</a:t>
            </a:fld>
            <a:endParaRPr lang="en-IN"/>
          </a:p>
        </p:txBody>
      </p:sp>
    </p:spTree>
    <p:extLst>
      <p:ext uri="{BB962C8B-B14F-4D97-AF65-F5344CB8AC3E}">
        <p14:creationId xmlns:p14="http://schemas.microsoft.com/office/powerpoint/2010/main" val="3748369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CD6D8-35F9-1A1F-85BB-4B2E23D1E94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83CCEDB-2E42-3E20-0452-A0B7054673B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9FBEB4D-3FFA-7AF6-F466-E6908DF5AE1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78FCD56-891E-5A2F-0F6D-EB3EEE1CB81D}"/>
              </a:ext>
            </a:extLst>
          </p:cNvPr>
          <p:cNvSpPr>
            <a:spLocks noGrp="1"/>
          </p:cNvSpPr>
          <p:nvPr>
            <p:ph type="dt" sz="half" idx="10"/>
          </p:nvPr>
        </p:nvSpPr>
        <p:spPr/>
        <p:txBody>
          <a:bodyPr/>
          <a:lstStyle/>
          <a:p>
            <a:fld id="{AC08D735-C112-46C2-A602-ABBC8E12B9BB}" type="datetimeFigureOut">
              <a:rPr lang="en-IN" smtClean="0"/>
              <a:t>28-06-2024</a:t>
            </a:fld>
            <a:endParaRPr lang="en-IN"/>
          </a:p>
        </p:txBody>
      </p:sp>
      <p:sp>
        <p:nvSpPr>
          <p:cNvPr id="6" name="Footer Placeholder 5">
            <a:extLst>
              <a:ext uri="{FF2B5EF4-FFF2-40B4-BE49-F238E27FC236}">
                <a16:creationId xmlns:a16="http://schemas.microsoft.com/office/drawing/2014/main" id="{89AE557D-280A-1529-7378-94879155E0D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F9C7290-C9B5-DA12-276C-4C430E9BC0B6}"/>
              </a:ext>
            </a:extLst>
          </p:cNvPr>
          <p:cNvSpPr>
            <a:spLocks noGrp="1"/>
          </p:cNvSpPr>
          <p:nvPr>
            <p:ph type="sldNum" sz="quarter" idx="12"/>
          </p:nvPr>
        </p:nvSpPr>
        <p:spPr/>
        <p:txBody>
          <a:bodyPr/>
          <a:lstStyle/>
          <a:p>
            <a:fld id="{34EB701B-4A4B-4665-AE6A-D5D4B712DBA3}" type="slidenum">
              <a:rPr lang="en-IN" smtClean="0"/>
              <a:t>‹#›</a:t>
            </a:fld>
            <a:endParaRPr lang="en-IN"/>
          </a:p>
        </p:txBody>
      </p:sp>
    </p:spTree>
    <p:extLst>
      <p:ext uri="{BB962C8B-B14F-4D97-AF65-F5344CB8AC3E}">
        <p14:creationId xmlns:p14="http://schemas.microsoft.com/office/powerpoint/2010/main" val="35106550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7FAA1F-6D81-E5C6-791E-DF7C90F5751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0FA93BE-6966-660E-05E1-2015F7DCEF4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ABCC6F5-181D-7C09-65E6-A06E3820F89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8BA415E-C91F-265E-38A8-D4E65002523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4CE1503-F59E-3E53-8DF3-FA0D3D9755B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3F17EF5-0DE6-6D74-7FDE-06461EBDEC4D}"/>
              </a:ext>
            </a:extLst>
          </p:cNvPr>
          <p:cNvSpPr>
            <a:spLocks noGrp="1"/>
          </p:cNvSpPr>
          <p:nvPr>
            <p:ph type="dt" sz="half" idx="10"/>
          </p:nvPr>
        </p:nvSpPr>
        <p:spPr/>
        <p:txBody>
          <a:bodyPr/>
          <a:lstStyle/>
          <a:p>
            <a:fld id="{AC08D735-C112-46C2-A602-ABBC8E12B9BB}" type="datetimeFigureOut">
              <a:rPr lang="en-IN" smtClean="0"/>
              <a:t>28-06-2024</a:t>
            </a:fld>
            <a:endParaRPr lang="en-IN"/>
          </a:p>
        </p:txBody>
      </p:sp>
      <p:sp>
        <p:nvSpPr>
          <p:cNvPr id="8" name="Footer Placeholder 7">
            <a:extLst>
              <a:ext uri="{FF2B5EF4-FFF2-40B4-BE49-F238E27FC236}">
                <a16:creationId xmlns:a16="http://schemas.microsoft.com/office/drawing/2014/main" id="{67715E96-5494-D83D-30EB-F7232054364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3FD599B-459E-13BD-9193-1FD65C866876}"/>
              </a:ext>
            </a:extLst>
          </p:cNvPr>
          <p:cNvSpPr>
            <a:spLocks noGrp="1"/>
          </p:cNvSpPr>
          <p:nvPr>
            <p:ph type="sldNum" sz="quarter" idx="12"/>
          </p:nvPr>
        </p:nvSpPr>
        <p:spPr/>
        <p:txBody>
          <a:bodyPr/>
          <a:lstStyle/>
          <a:p>
            <a:fld id="{34EB701B-4A4B-4665-AE6A-D5D4B712DBA3}" type="slidenum">
              <a:rPr lang="en-IN" smtClean="0"/>
              <a:t>‹#›</a:t>
            </a:fld>
            <a:endParaRPr lang="en-IN"/>
          </a:p>
        </p:txBody>
      </p:sp>
    </p:spTree>
    <p:extLst>
      <p:ext uri="{BB962C8B-B14F-4D97-AF65-F5344CB8AC3E}">
        <p14:creationId xmlns:p14="http://schemas.microsoft.com/office/powerpoint/2010/main" val="17620878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A617F-B173-D65E-624E-C6B17C5E0B5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583D6C1-64A8-EF13-7F11-7C5ED164B423}"/>
              </a:ext>
            </a:extLst>
          </p:cNvPr>
          <p:cNvSpPr>
            <a:spLocks noGrp="1"/>
          </p:cNvSpPr>
          <p:nvPr>
            <p:ph type="dt" sz="half" idx="10"/>
          </p:nvPr>
        </p:nvSpPr>
        <p:spPr/>
        <p:txBody>
          <a:bodyPr/>
          <a:lstStyle/>
          <a:p>
            <a:fld id="{AC08D735-C112-46C2-A602-ABBC8E12B9BB}" type="datetimeFigureOut">
              <a:rPr lang="en-IN" smtClean="0"/>
              <a:t>28-06-2024</a:t>
            </a:fld>
            <a:endParaRPr lang="en-IN"/>
          </a:p>
        </p:txBody>
      </p:sp>
      <p:sp>
        <p:nvSpPr>
          <p:cNvPr id="4" name="Footer Placeholder 3">
            <a:extLst>
              <a:ext uri="{FF2B5EF4-FFF2-40B4-BE49-F238E27FC236}">
                <a16:creationId xmlns:a16="http://schemas.microsoft.com/office/drawing/2014/main" id="{60375312-2939-E97A-3E36-C180D7CD8EC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B6A1C7D-85CB-041F-8061-A175882962F5}"/>
              </a:ext>
            </a:extLst>
          </p:cNvPr>
          <p:cNvSpPr>
            <a:spLocks noGrp="1"/>
          </p:cNvSpPr>
          <p:nvPr>
            <p:ph type="sldNum" sz="quarter" idx="12"/>
          </p:nvPr>
        </p:nvSpPr>
        <p:spPr/>
        <p:txBody>
          <a:bodyPr/>
          <a:lstStyle/>
          <a:p>
            <a:fld id="{34EB701B-4A4B-4665-AE6A-D5D4B712DBA3}" type="slidenum">
              <a:rPr lang="en-IN" smtClean="0"/>
              <a:t>‹#›</a:t>
            </a:fld>
            <a:endParaRPr lang="en-IN"/>
          </a:p>
        </p:txBody>
      </p:sp>
    </p:spTree>
    <p:extLst>
      <p:ext uri="{BB962C8B-B14F-4D97-AF65-F5344CB8AC3E}">
        <p14:creationId xmlns:p14="http://schemas.microsoft.com/office/powerpoint/2010/main" val="17465966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E7E376E-146E-50D4-F62D-F0F1A5B94DA0}"/>
              </a:ext>
            </a:extLst>
          </p:cNvPr>
          <p:cNvSpPr>
            <a:spLocks noGrp="1"/>
          </p:cNvSpPr>
          <p:nvPr>
            <p:ph type="dt" sz="half" idx="10"/>
          </p:nvPr>
        </p:nvSpPr>
        <p:spPr/>
        <p:txBody>
          <a:bodyPr/>
          <a:lstStyle/>
          <a:p>
            <a:fld id="{AC08D735-C112-46C2-A602-ABBC8E12B9BB}" type="datetimeFigureOut">
              <a:rPr lang="en-IN" smtClean="0"/>
              <a:t>28-06-2024</a:t>
            </a:fld>
            <a:endParaRPr lang="en-IN"/>
          </a:p>
        </p:txBody>
      </p:sp>
      <p:sp>
        <p:nvSpPr>
          <p:cNvPr id="3" name="Footer Placeholder 2">
            <a:extLst>
              <a:ext uri="{FF2B5EF4-FFF2-40B4-BE49-F238E27FC236}">
                <a16:creationId xmlns:a16="http://schemas.microsoft.com/office/drawing/2014/main" id="{3CD11E4A-5C48-393C-1778-C6A7B013657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C7F7124-119B-55B5-06A8-6D06DC10A00B}"/>
              </a:ext>
            </a:extLst>
          </p:cNvPr>
          <p:cNvSpPr>
            <a:spLocks noGrp="1"/>
          </p:cNvSpPr>
          <p:nvPr>
            <p:ph type="sldNum" sz="quarter" idx="12"/>
          </p:nvPr>
        </p:nvSpPr>
        <p:spPr/>
        <p:txBody>
          <a:bodyPr/>
          <a:lstStyle/>
          <a:p>
            <a:fld id="{34EB701B-4A4B-4665-AE6A-D5D4B712DBA3}" type="slidenum">
              <a:rPr lang="en-IN" smtClean="0"/>
              <a:t>‹#›</a:t>
            </a:fld>
            <a:endParaRPr lang="en-IN"/>
          </a:p>
        </p:txBody>
      </p:sp>
    </p:spTree>
    <p:extLst>
      <p:ext uri="{BB962C8B-B14F-4D97-AF65-F5344CB8AC3E}">
        <p14:creationId xmlns:p14="http://schemas.microsoft.com/office/powerpoint/2010/main" val="3485769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174F28-635F-1D40-7FBA-5DBA666CAE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9058A3A-63F7-47D6-743C-08CD5D64428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D5E5389-C45E-AB4B-8251-6386B1E953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FC76359-4E10-FEAF-A31A-02FE6835C184}"/>
              </a:ext>
            </a:extLst>
          </p:cNvPr>
          <p:cNvSpPr>
            <a:spLocks noGrp="1"/>
          </p:cNvSpPr>
          <p:nvPr>
            <p:ph type="dt" sz="half" idx="10"/>
          </p:nvPr>
        </p:nvSpPr>
        <p:spPr/>
        <p:txBody>
          <a:bodyPr/>
          <a:lstStyle/>
          <a:p>
            <a:fld id="{AC08D735-C112-46C2-A602-ABBC8E12B9BB}" type="datetimeFigureOut">
              <a:rPr lang="en-IN" smtClean="0"/>
              <a:t>28-06-2024</a:t>
            </a:fld>
            <a:endParaRPr lang="en-IN"/>
          </a:p>
        </p:txBody>
      </p:sp>
      <p:sp>
        <p:nvSpPr>
          <p:cNvPr id="6" name="Footer Placeholder 5">
            <a:extLst>
              <a:ext uri="{FF2B5EF4-FFF2-40B4-BE49-F238E27FC236}">
                <a16:creationId xmlns:a16="http://schemas.microsoft.com/office/drawing/2014/main" id="{D7744B66-CBCD-5C35-E7C1-9EBA5CEF13B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6FF250A-6709-EFF0-FBD7-DCBDBE0FC40B}"/>
              </a:ext>
            </a:extLst>
          </p:cNvPr>
          <p:cNvSpPr>
            <a:spLocks noGrp="1"/>
          </p:cNvSpPr>
          <p:nvPr>
            <p:ph type="sldNum" sz="quarter" idx="12"/>
          </p:nvPr>
        </p:nvSpPr>
        <p:spPr/>
        <p:txBody>
          <a:bodyPr/>
          <a:lstStyle/>
          <a:p>
            <a:fld id="{34EB701B-4A4B-4665-AE6A-D5D4B712DBA3}" type="slidenum">
              <a:rPr lang="en-IN" smtClean="0"/>
              <a:t>‹#›</a:t>
            </a:fld>
            <a:endParaRPr lang="en-IN"/>
          </a:p>
        </p:txBody>
      </p:sp>
    </p:spTree>
    <p:extLst>
      <p:ext uri="{BB962C8B-B14F-4D97-AF65-F5344CB8AC3E}">
        <p14:creationId xmlns:p14="http://schemas.microsoft.com/office/powerpoint/2010/main" val="2155532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F9773D-3A2F-E28E-4963-372E726415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314D246-21F8-2FF1-87BC-D6917CA9252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1214352-9542-4418-82BB-299C356445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2914034-667D-AF15-20F7-9E7347F2B411}"/>
              </a:ext>
            </a:extLst>
          </p:cNvPr>
          <p:cNvSpPr>
            <a:spLocks noGrp="1"/>
          </p:cNvSpPr>
          <p:nvPr>
            <p:ph type="dt" sz="half" idx="10"/>
          </p:nvPr>
        </p:nvSpPr>
        <p:spPr/>
        <p:txBody>
          <a:bodyPr/>
          <a:lstStyle/>
          <a:p>
            <a:fld id="{AC08D735-C112-46C2-A602-ABBC8E12B9BB}" type="datetimeFigureOut">
              <a:rPr lang="en-IN" smtClean="0"/>
              <a:t>28-06-2024</a:t>
            </a:fld>
            <a:endParaRPr lang="en-IN"/>
          </a:p>
        </p:txBody>
      </p:sp>
      <p:sp>
        <p:nvSpPr>
          <p:cNvPr id="6" name="Footer Placeholder 5">
            <a:extLst>
              <a:ext uri="{FF2B5EF4-FFF2-40B4-BE49-F238E27FC236}">
                <a16:creationId xmlns:a16="http://schemas.microsoft.com/office/drawing/2014/main" id="{B67E84DD-2482-A378-92A0-F85D894AA7C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6BBFB97-B86A-66E5-EE3E-0D1C5B7ECD60}"/>
              </a:ext>
            </a:extLst>
          </p:cNvPr>
          <p:cNvSpPr>
            <a:spLocks noGrp="1"/>
          </p:cNvSpPr>
          <p:nvPr>
            <p:ph type="sldNum" sz="quarter" idx="12"/>
          </p:nvPr>
        </p:nvSpPr>
        <p:spPr/>
        <p:txBody>
          <a:bodyPr/>
          <a:lstStyle/>
          <a:p>
            <a:fld id="{34EB701B-4A4B-4665-AE6A-D5D4B712DBA3}" type="slidenum">
              <a:rPr lang="en-IN" smtClean="0"/>
              <a:t>‹#›</a:t>
            </a:fld>
            <a:endParaRPr lang="en-IN"/>
          </a:p>
        </p:txBody>
      </p:sp>
    </p:spTree>
    <p:extLst>
      <p:ext uri="{BB962C8B-B14F-4D97-AF65-F5344CB8AC3E}">
        <p14:creationId xmlns:p14="http://schemas.microsoft.com/office/powerpoint/2010/main" val="20728824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937BC3-CEDA-AF00-F866-734CDE22974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95C3488-9259-C509-EE1A-D03D11EC74C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DFBEE97-A9B7-9216-7D0F-F83EB4CB5BFA}"/>
              </a:ext>
            </a:extLst>
          </p:cNvPr>
          <p:cNvSpPr>
            <a:spLocks noGrp="1"/>
          </p:cNvSpPr>
          <p:nvPr>
            <p:ph type="dt" sz="half" idx="10"/>
          </p:nvPr>
        </p:nvSpPr>
        <p:spPr/>
        <p:txBody>
          <a:bodyPr/>
          <a:lstStyle/>
          <a:p>
            <a:fld id="{AC08D735-C112-46C2-A602-ABBC8E12B9BB}" type="datetimeFigureOut">
              <a:rPr lang="en-IN" smtClean="0"/>
              <a:t>28-06-2024</a:t>
            </a:fld>
            <a:endParaRPr lang="en-IN"/>
          </a:p>
        </p:txBody>
      </p:sp>
      <p:sp>
        <p:nvSpPr>
          <p:cNvPr id="5" name="Footer Placeholder 4">
            <a:extLst>
              <a:ext uri="{FF2B5EF4-FFF2-40B4-BE49-F238E27FC236}">
                <a16:creationId xmlns:a16="http://schemas.microsoft.com/office/drawing/2014/main" id="{B21647B5-519A-7465-AEB6-F0F103BC817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1DEBFE6-8E71-43AD-6428-E9D91F4410B6}"/>
              </a:ext>
            </a:extLst>
          </p:cNvPr>
          <p:cNvSpPr>
            <a:spLocks noGrp="1"/>
          </p:cNvSpPr>
          <p:nvPr>
            <p:ph type="sldNum" sz="quarter" idx="12"/>
          </p:nvPr>
        </p:nvSpPr>
        <p:spPr/>
        <p:txBody>
          <a:bodyPr/>
          <a:lstStyle/>
          <a:p>
            <a:fld id="{34EB701B-4A4B-4665-AE6A-D5D4B712DBA3}" type="slidenum">
              <a:rPr lang="en-IN" smtClean="0"/>
              <a:t>‹#›</a:t>
            </a:fld>
            <a:endParaRPr lang="en-IN"/>
          </a:p>
        </p:txBody>
      </p:sp>
    </p:spTree>
    <p:extLst>
      <p:ext uri="{BB962C8B-B14F-4D97-AF65-F5344CB8AC3E}">
        <p14:creationId xmlns:p14="http://schemas.microsoft.com/office/powerpoint/2010/main" val="39540346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D149D25-3275-895F-CBAA-A29AE68AE6E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B395F2F-B86F-BD6E-B285-9F43D4C0B1E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CEB0DA4-0416-650E-0B9B-606657FE6156}"/>
              </a:ext>
            </a:extLst>
          </p:cNvPr>
          <p:cNvSpPr>
            <a:spLocks noGrp="1"/>
          </p:cNvSpPr>
          <p:nvPr>
            <p:ph type="dt" sz="half" idx="10"/>
          </p:nvPr>
        </p:nvSpPr>
        <p:spPr/>
        <p:txBody>
          <a:bodyPr/>
          <a:lstStyle/>
          <a:p>
            <a:fld id="{AC08D735-C112-46C2-A602-ABBC8E12B9BB}" type="datetimeFigureOut">
              <a:rPr lang="en-IN" smtClean="0"/>
              <a:t>28-06-2024</a:t>
            </a:fld>
            <a:endParaRPr lang="en-IN"/>
          </a:p>
        </p:txBody>
      </p:sp>
      <p:sp>
        <p:nvSpPr>
          <p:cNvPr id="5" name="Footer Placeholder 4">
            <a:extLst>
              <a:ext uri="{FF2B5EF4-FFF2-40B4-BE49-F238E27FC236}">
                <a16:creationId xmlns:a16="http://schemas.microsoft.com/office/drawing/2014/main" id="{9E8B6829-64D9-D13A-E034-5CA8676AA46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EEE60C2-DA6E-500C-E218-35A996F624D2}"/>
              </a:ext>
            </a:extLst>
          </p:cNvPr>
          <p:cNvSpPr>
            <a:spLocks noGrp="1"/>
          </p:cNvSpPr>
          <p:nvPr>
            <p:ph type="sldNum" sz="quarter" idx="12"/>
          </p:nvPr>
        </p:nvSpPr>
        <p:spPr/>
        <p:txBody>
          <a:bodyPr/>
          <a:lstStyle/>
          <a:p>
            <a:fld id="{34EB701B-4A4B-4665-AE6A-D5D4B712DBA3}" type="slidenum">
              <a:rPr lang="en-IN" smtClean="0"/>
              <a:t>‹#›</a:t>
            </a:fld>
            <a:endParaRPr lang="en-IN"/>
          </a:p>
        </p:txBody>
      </p:sp>
    </p:spTree>
    <p:extLst>
      <p:ext uri="{BB962C8B-B14F-4D97-AF65-F5344CB8AC3E}">
        <p14:creationId xmlns:p14="http://schemas.microsoft.com/office/powerpoint/2010/main" val="17090486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B648A8-9796-F4D4-515C-D1F579FDE16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F6BA29A-0A63-8FD1-A76E-ACE7E01DA8E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99E4A90-B462-5C52-B43A-E5720ECE6E3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C08D735-C112-46C2-A602-ABBC8E12B9BB}" type="datetimeFigureOut">
              <a:rPr lang="en-IN" smtClean="0"/>
              <a:t>28-06-2024</a:t>
            </a:fld>
            <a:endParaRPr lang="en-IN"/>
          </a:p>
        </p:txBody>
      </p:sp>
      <p:sp>
        <p:nvSpPr>
          <p:cNvPr id="5" name="Footer Placeholder 4">
            <a:extLst>
              <a:ext uri="{FF2B5EF4-FFF2-40B4-BE49-F238E27FC236}">
                <a16:creationId xmlns:a16="http://schemas.microsoft.com/office/drawing/2014/main" id="{96E586C5-47E5-5F5B-0EE1-E998264107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F5C00CA-D023-7485-2484-B8942708FBD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4EB701B-4A4B-4665-AE6A-D5D4B712DBA3}" type="slidenum">
              <a:rPr lang="en-IN" smtClean="0"/>
              <a:t>‹#›</a:t>
            </a:fld>
            <a:endParaRPr lang="en-IN"/>
          </a:p>
        </p:txBody>
      </p:sp>
    </p:spTree>
    <p:extLst>
      <p:ext uri="{BB962C8B-B14F-4D97-AF65-F5344CB8AC3E}">
        <p14:creationId xmlns:p14="http://schemas.microsoft.com/office/powerpoint/2010/main" val="31539341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4D4677D2-D5AC-4CF9-9EED-2B89D0A1C2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C6D54F7E-825A-4BBA-815F-35CCA8B977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080681"/>
            <a:ext cx="12192000" cy="2777318"/>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5F4ECE00-0A4A-8E82-F7B5-BD355099AB3D}"/>
              </a:ext>
            </a:extLst>
          </p:cNvPr>
          <p:cNvPicPr>
            <a:picLocks noChangeAspect="1"/>
          </p:cNvPicPr>
          <p:nvPr/>
        </p:nvPicPr>
        <p:blipFill rotWithShape="1">
          <a:blip r:embed="rId2">
            <a:extLst>
              <a:ext uri="{28A0092B-C50C-407E-A947-70E740481C1C}">
                <a14:useLocalDpi xmlns:a14="http://schemas.microsoft.com/office/drawing/2010/main" val="0"/>
              </a:ext>
            </a:extLst>
          </a:blip>
          <a:srcRect l="1215" r="2" b="2"/>
          <a:stretch/>
        </p:blipFill>
        <p:spPr>
          <a:xfrm>
            <a:off x="1" y="-1"/>
            <a:ext cx="12191999" cy="6858000"/>
          </a:xfrm>
          <a:custGeom>
            <a:avLst/>
            <a:gdLst/>
            <a:ahLst/>
            <a:cxnLst/>
            <a:rect l="l" t="t" r="r" b="b"/>
            <a:pathLst>
              <a:path w="12191999" h="6842601">
                <a:moveTo>
                  <a:pt x="0" y="0"/>
                </a:moveTo>
                <a:lnTo>
                  <a:pt x="12191999" y="0"/>
                </a:lnTo>
                <a:lnTo>
                  <a:pt x="12191999" y="6842601"/>
                </a:lnTo>
                <a:lnTo>
                  <a:pt x="10316981" y="6842601"/>
                </a:lnTo>
                <a:cubicBezTo>
                  <a:pt x="10312796" y="6835189"/>
                  <a:pt x="10163183" y="6730124"/>
                  <a:pt x="10158998" y="6722712"/>
                </a:cubicBezTo>
                <a:cubicBezTo>
                  <a:pt x="10120278" y="6678190"/>
                  <a:pt x="10156462" y="6716223"/>
                  <a:pt x="10090349" y="6671420"/>
                </a:cubicBezTo>
                <a:cubicBezTo>
                  <a:pt x="10043032" y="6655694"/>
                  <a:pt x="9995855" y="6551879"/>
                  <a:pt x="9955425" y="6498018"/>
                </a:cubicBezTo>
                <a:cubicBezTo>
                  <a:pt x="9939618" y="6480021"/>
                  <a:pt x="9915110" y="6461677"/>
                  <a:pt x="9891265" y="6454528"/>
                </a:cubicBezTo>
                <a:cubicBezTo>
                  <a:pt x="9868239" y="6464957"/>
                  <a:pt x="9865423" y="6431640"/>
                  <a:pt x="9848227" y="6426063"/>
                </a:cubicBezTo>
                <a:cubicBezTo>
                  <a:pt x="9838059" y="6433162"/>
                  <a:pt x="9815047" y="6410348"/>
                  <a:pt x="9812354" y="6399604"/>
                </a:cubicBezTo>
                <a:cubicBezTo>
                  <a:pt x="9825285" y="6377997"/>
                  <a:pt x="9725923" y="6372757"/>
                  <a:pt x="9725915" y="6356381"/>
                </a:cubicBezTo>
                <a:cubicBezTo>
                  <a:pt x="9696279" y="6348066"/>
                  <a:pt x="9591199" y="6354143"/>
                  <a:pt x="9575033" y="6325258"/>
                </a:cubicBezTo>
                <a:cubicBezTo>
                  <a:pt x="9516434" y="6303128"/>
                  <a:pt x="9441613" y="6276805"/>
                  <a:pt x="9415626" y="6271777"/>
                </a:cubicBezTo>
                <a:cubicBezTo>
                  <a:pt x="9378293" y="6313495"/>
                  <a:pt x="9281935" y="6171365"/>
                  <a:pt x="9171493" y="6150430"/>
                </a:cubicBezTo>
                <a:cubicBezTo>
                  <a:pt x="9155426" y="6152396"/>
                  <a:pt x="9147439" y="6151015"/>
                  <a:pt x="9146018" y="6139864"/>
                </a:cubicBezTo>
                <a:cubicBezTo>
                  <a:pt x="9112029" y="6132441"/>
                  <a:pt x="9087339" y="6101138"/>
                  <a:pt x="9059635" y="6109957"/>
                </a:cubicBezTo>
                <a:cubicBezTo>
                  <a:pt x="9024424" y="6092144"/>
                  <a:pt x="9043048" y="6078417"/>
                  <a:pt x="9010911" y="6064789"/>
                </a:cubicBezTo>
                <a:lnTo>
                  <a:pt x="8866811" y="6028191"/>
                </a:lnTo>
                <a:cubicBezTo>
                  <a:pt x="8846465" y="6021172"/>
                  <a:pt x="8825221" y="6000527"/>
                  <a:pt x="8804584" y="5994237"/>
                </a:cubicBezTo>
                <a:lnTo>
                  <a:pt x="8783071" y="5990448"/>
                </a:lnTo>
                <a:lnTo>
                  <a:pt x="8770456" y="5978060"/>
                </a:lnTo>
                <a:cubicBezTo>
                  <a:pt x="8764772" y="5975259"/>
                  <a:pt x="8757695" y="5974720"/>
                  <a:pt x="8748297" y="5978070"/>
                </a:cubicBezTo>
                <a:cubicBezTo>
                  <a:pt x="8730344" y="5973495"/>
                  <a:pt x="8679808" y="5955894"/>
                  <a:pt x="8662742" y="5950603"/>
                </a:cubicBezTo>
                <a:lnTo>
                  <a:pt x="8645902" y="5946326"/>
                </a:lnTo>
                <a:lnTo>
                  <a:pt x="8638176" y="5938358"/>
                </a:lnTo>
                <a:cubicBezTo>
                  <a:pt x="8625897" y="5932642"/>
                  <a:pt x="8594811" y="5922073"/>
                  <a:pt x="8572224" y="5912032"/>
                </a:cubicBezTo>
                <a:cubicBezTo>
                  <a:pt x="8553809" y="5897782"/>
                  <a:pt x="8529845" y="5886100"/>
                  <a:pt x="8502655" y="5878114"/>
                </a:cubicBezTo>
                <a:cubicBezTo>
                  <a:pt x="8496990" y="5883034"/>
                  <a:pt x="8489611" y="5872566"/>
                  <a:pt x="8485159" y="5869819"/>
                </a:cubicBezTo>
                <a:cubicBezTo>
                  <a:pt x="8483457" y="5873482"/>
                  <a:pt x="8471232" y="5872664"/>
                  <a:pt x="8468539" y="5868711"/>
                </a:cubicBezTo>
                <a:cubicBezTo>
                  <a:pt x="8389167" y="5836352"/>
                  <a:pt x="8421742" y="5881497"/>
                  <a:pt x="8379810" y="5849376"/>
                </a:cubicBezTo>
                <a:cubicBezTo>
                  <a:pt x="8371729" y="5846373"/>
                  <a:pt x="8364483" y="5846766"/>
                  <a:pt x="8357758" y="5848601"/>
                </a:cubicBezTo>
                <a:lnTo>
                  <a:pt x="8315264" y="5836192"/>
                </a:lnTo>
                <a:cubicBezTo>
                  <a:pt x="8299077" y="5829531"/>
                  <a:pt x="8281671" y="5824011"/>
                  <a:pt x="8263455" y="5819793"/>
                </a:cubicBezTo>
                <a:cubicBezTo>
                  <a:pt x="8257386" y="5826849"/>
                  <a:pt x="8245582" y="5813448"/>
                  <a:pt x="8239287" y="5810141"/>
                </a:cubicBezTo>
                <a:cubicBezTo>
                  <a:pt x="8237965" y="5815186"/>
                  <a:pt x="8222226" y="5815108"/>
                  <a:pt x="8217888" y="5810039"/>
                </a:cubicBezTo>
                <a:cubicBezTo>
                  <a:pt x="8109447" y="5773303"/>
                  <a:pt x="8161302" y="5831037"/>
                  <a:pt x="8100547" y="5791517"/>
                </a:cubicBezTo>
                <a:cubicBezTo>
                  <a:pt x="8089574" y="5788167"/>
                  <a:pt x="8080448" y="5789295"/>
                  <a:pt x="8072316" y="5792309"/>
                </a:cubicBezTo>
                <a:lnTo>
                  <a:pt x="8056967" y="5800648"/>
                </a:lnTo>
                <a:lnTo>
                  <a:pt x="8047885" y="5795270"/>
                </a:lnTo>
                <a:cubicBezTo>
                  <a:pt x="8010204" y="5788738"/>
                  <a:pt x="7996426" y="5797608"/>
                  <a:pt x="7977128" y="5783189"/>
                </a:cubicBezTo>
                <a:cubicBezTo>
                  <a:pt x="7943466" y="5775577"/>
                  <a:pt x="7904823" y="5770953"/>
                  <a:pt x="7874392" y="5763715"/>
                </a:cubicBezTo>
                <a:cubicBezTo>
                  <a:pt x="7860337" y="5743777"/>
                  <a:pt x="7817541" y="5748989"/>
                  <a:pt x="7794543" y="5739759"/>
                </a:cubicBezTo>
                <a:cubicBezTo>
                  <a:pt x="7784688" y="5731467"/>
                  <a:pt x="7776709" y="5729004"/>
                  <a:pt x="7763762" y="5734031"/>
                </a:cubicBezTo>
                <a:cubicBezTo>
                  <a:pt x="7718781" y="5694154"/>
                  <a:pt x="7732231" y="5727368"/>
                  <a:pt x="7685889" y="5707234"/>
                </a:cubicBezTo>
                <a:cubicBezTo>
                  <a:pt x="7646521" y="5687607"/>
                  <a:pt x="7600389" y="5671470"/>
                  <a:pt x="7566744" y="5634586"/>
                </a:cubicBezTo>
                <a:cubicBezTo>
                  <a:pt x="7561306" y="5624813"/>
                  <a:pt x="7543589" y="5618525"/>
                  <a:pt x="7527170" y="5620542"/>
                </a:cubicBezTo>
                <a:cubicBezTo>
                  <a:pt x="7524343" y="5620889"/>
                  <a:pt x="7521664" y="5621475"/>
                  <a:pt x="7519214" y="5622280"/>
                </a:cubicBezTo>
                <a:cubicBezTo>
                  <a:pt x="7500062" y="5596964"/>
                  <a:pt x="7480476" y="5604337"/>
                  <a:pt x="7473157" y="5588143"/>
                </a:cubicBezTo>
                <a:cubicBezTo>
                  <a:pt x="7433415" y="5574859"/>
                  <a:pt x="7395118" y="5582388"/>
                  <a:pt x="7388000" y="5568063"/>
                </a:cubicBezTo>
                <a:cubicBezTo>
                  <a:pt x="7366403" y="5564920"/>
                  <a:pt x="7332262" y="5573848"/>
                  <a:pt x="7320876" y="5557698"/>
                </a:cubicBezTo>
                <a:cubicBezTo>
                  <a:pt x="7314891" y="5568111"/>
                  <a:pt x="7299319" y="5544964"/>
                  <a:pt x="7284480" y="5549820"/>
                </a:cubicBezTo>
                <a:cubicBezTo>
                  <a:pt x="7273570" y="5554430"/>
                  <a:pt x="7266301" y="5548483"/>
                  <a:pt x="7256619" y="5546379"/>
                </a:cubicBezTo>
                <a:cubicBezTo>
                  <a:pt x="7242503" y="5549088"/>
                  <a:pt x="7202543" y="5533379"/>
                  <a:pt x="7193112" y="5525289"/>
                </a:cubicBezTo>
                <a:cubicBezTo>
                  <a:pt x="7172259" y="5499151"/>
                  <a:pt x="7108617" y="5505485"/>
                  <a:pt x="7090943" y="5485177"/>
                </a:cubicBezTo>
                <a:cubicBezTo>
                  <a:pt x="7083637" y="5481419"/>
                  <a:pt x="7076140" y="5479148"/>
                  <a:pt x="7068566" y="5477809"/>
                </a:cubicBezTo>
                <a:lnTo>
                  <a:pt x="7023035" y="5476595"/>
                </a:lnTo>
                <a:lnTo>
                  <a:pt x="7001197" y="5476163"/>
                </a:lnTo>
                <a:cubicBezTo>
                  <a:pt x="7016126" y="5454256"/>
                  <a:pt x="6943549" y="5466815"/>
                  <a:pt x="6967472" y="5451057"/>
                </a:cubicBezTo>
                <a:cubicBezTo>
                  <a:pt x="6931240" y="5443544"/>
                  <a:pt x="6920843" y="5429649"/>
                  <a:pt x="6883334" y="5418880"/>
                </a:cubicBezTo>
                <a:lnTo>
                  <a:pt x="6742417" y="5386446"/>
                </a:lnTo>
                <a:cubicBezTo>
                  <a:pt x="6690532" y="5366095"/>
                  <a:pt x="6665174" y="5364632"/>
                  <a:pt x="6618315" y="5353085"/>
                </a:cubicBezTo>
                <a:cubicBezTo>
                  <a:pt x="6581698" y="5304210"/>
                  <a:pt x="6547395" y="5315779"/>
                  <a:pt x="6521050" y="5283194"/>
                </a:cubicBezTo>
                <a:cubicBezTo>
                  <a:pt x="6469114" y="5268862"/>
                  <a:pt x="6472597" y="5253957"/>
                  <a:pt x="6414460" y="5253832"/>
                </a:cubicBezTo>
                <a:lnTo>
                  <a:pt x="6362535" y="5220502"/>
                </a:lnTo>
                <a:cubicBezTo>
                  <a:pt x="6350866" y="5213881"/>
                  <a:pt x="6347641" y="5215777"/>
                  <a:pt x="6344443" y="5214103"/>
                </a:cubicBezTo>
                <a:lnTo>
                  <a:pt x="6343344" y="5210454"/>
                </a:lnTo>
                <a:lnTo>
                  <a:pt x="6333344" y="5205307"/>
                </a:lnTo>
                <a:lnTo>
                  <a:pt x="6315602" y="5193288"/>
                </a:lnTo>
                <a:lnTo>
                  <a:pt x="6310442" y="5192802"/>
                </a:lnTo>
                <a:lnTo>
                  <a:pt x="6280815" y="5177420"/>
                </a:lnTo>
                <a:lnTo>
                  <a:pt x="6279533" y="5178045"/>
                </a:lnTo>
                <a:cubicBezTo>
                  <a:pt x="6275980" y="5179097"/>
                  <a:pt x="6272084" y="5179212"/>
                  <a:pt x="6267362" y="5177370"/>
                </a:cubicBezTo>
                <a:cubicBezTo>
                  <a:pt x="6261796" y="5192470"/>
                  <a:pt x="6259530" y="5180933"/>
                  <a:pt x="6246095" y="5174167"/>
                </a:cubicBezTo>
                <a:lnTo>
                  <a:pt x="6155252" y="5161201"/>
                </a:lnTo>
                <a:lnTo>
                  <a:pt x="6148525" y="5158442"/>
                </a:lnTo>
                <a:lnTo>
                  <a:pt x="6148187" y="5158573"/>
                </a:lnTo>
                <a:cubicBezTo>
                  <a:pt x="6146292" y="5158370"/>
                  <a:pt x="6143916" y="5157611"/>
                  <a:pt x="6140686" y="5156032"/>
                </a:cubicBezTo>
                <a:lnTo>
                  <a:pt x="6136260" y="5153413"/>
                </a:lnTo>
                <a:lnTo>
                  <a:pt x="6123208" y="5148061"/>
                </a:lnTo>
                <a:lnTo>
                  <a:pt x="6117367" y="5147451"/>
                </a:lnTo>
                <a:lnTo>
                  <a:pt x="5957305" y="5146062"/>
                </a:lnTo>
                <a:cubicBezTo>
                  <a:pt x="5920540" y="5140405"/>
                  <a:pt x="5887096" y="5142015"/>
                  <a:pt x="5857259" y="5132052"/>
                </a:cubicBezTo>
                <a:cubicBezTo>
                  <a:pt x="5843335" y="5135303"/>
                  <a:pt x="5830921" y="5135493"/>
                  <a:pt x="5821375" y="5125606"/>
                </a:cubicBezTo>
                <a:cubicBezTo>
                  <a:pt x="5786501" y="5122615"/>
                  <a:pt x="5775399" y="5132648"/>
                  <a:pt x="5755916" y="5120171"/>
                </a:cubicBezTo>
                <a:cubicBezTo>
                  <a:pt x="5732132" y="5135438"/>
                  <a:pt x="5732735" y="5128211"/>
                  <a:pt x="5725007" y="5121437"/>
                </a:cubicBezTo>
                <a:lnTo>
                  <a:pt x="5723810" y="5120848"/>
                </a:lnTo>
                <a:lnTo>
                  <a:pt x="5720531" y="5123048"/>
                </a:lnTo>
                <a:lnTo>
                  <a:pt x="5714794" y="5123371"/>
                </a:lnTo>
                <a:lnTo>
                  <a:pt x="5700141" y="5120131"/>
                </a:lnTo>
                <a:lnTo>
                  <a:pt x="5694799" y="5118234"/>
                </a:lnTo>
                <a:cubicBezTo>
                  <a:pt x="5691058" y="5117179"/>
                  <a:pt x="5688491" y="5116804"/>
                  <a:pt x="5686627" y="5116903"/>
                </a:cubicBezTo>
                <a:lnTo>
                  <a:pt x="5686371" y="5117086"/>
                </a:lnTo>
                <a:lnTo>
                  <a:pt x="5678818" y="5115416"/>
                </a:lnTo>
                <a:cubicBezTo>
                  <a:pt x="5666199" y="5112102"/>
                  <a:pt x="5654035" y="5108410"/>
                  <a:pt x="5642547" y="5104511"/>
                </a:cubicBezTo>
                <a:cubicBezTo>
                  <a:pt x="5629444" y="5114945"/>
                  <a:pt x="5588783" y="5093343"/>
                  <a:pt x="5587979" y="5116963"/>
                </a:cubicBezTo>
                <a:cubicBezTo>
                  <a:pt x="5572317" y="5112380"/>
                  <a:pt x="5564904" y="5101292"/>
                  <a:pt x="5566635" y="5117158"/>
                </a:cubicBezTo>
                <a:cubicBezTo>
                  <a:pt x="5561375" y="5116079"/>
                  <a:pt x="5557787" y="5116811"/>
                  <a:pt x="5554952" y="5118417"/>
                </a:cubicBezTo>
                <a:lnTo>
                  <a:pt x="5554039" y="5119241"/>
                </a:lnTo>
                <a:lnTo>
                  <a:pt x="5514253" y="5109018"/>
                </a:lnTo>
                <a:lnTo>
                  <a:pt x="5492156" y="5099904"/>
                </a:lnTo>
                <a:lnTo>
                  <a:pt x="5480446" y="5096385"/>
                </a:lnTo>
                <a:lnTo>
                  <a:pt x="5477744" y="5092939"/>
                </a:lnTo>
                <a:cubicBezTo>
                  <a:pt x="5474490" y="5090581"/>
                  <a:pt x="5469391" y="5088951"/>
                  <a:pt x="5460150" y="5088988"/>
                </a:cubicBezTo>
                <a:lnTo>
                  <a:pt x="5457901" y="5089459"/>
                </a:lnTo>
                <a:lnTo>
                  <a:pt x="5444243" y="5082761"/>
                </a:lnTo>
                <a:cubicBezTo>
                  <a:pt x="5439993" y="5080007"/>
                  <a:pt x="5436418" y="5076805"/>
                  <a:pt x="5433825" y="5072992"/>
                </a:cubicBezTo>
                <a:cubicBezTo>
                  <a:pt x="5379442" y="5082090"/>
                  <a:pt x="5336110" y="5058382"/>
                  <a:pt x="5280996" y="5052402"/>
                </a:cubicBezTo>
                <a:cubicBezTo>
                  <a:pt x="5250806" y="5043777"/>
                  <a:pt x="5168599" y="5048109"/>
                  <a:pt x="5161582" y="5019668"/>
                </a:cubicBezTo>
                <a:cubicBezTo>
                  <a:pt x="5121870" y="5011383"/>
                  <a:pt x="5095637" y="5009222"/>
                  <a:pt x="5042717" y="5002692"/>
                </a:cubicBezTo>
                <a:cubicBezTo>
                  <a:pt x="4991136" y="4972487"/>
                  <a:pt x="4902282" y="4979360"/>
                  <a:pt x="4840514" y="4959306"/>
                </a:cubicBezTo>
                <a:cubicBezTo>
                  <a:pt x="4799904" y="4976415"/>
                  <a:pt x="4824087" y="4958371"/>
                  <a:pt x="4786778" y="4956661"/>
                </a:cubicBezTo>
                <a:cubicBezTo>
                  <a:pt x="4801901" y="4937231"/>
                  <a:pt x="4739845" y="4961208"/>
                  <a:pt x="4743741" y="4937104"/>
                </a:cubicBezTo>
                <a:cubicBezTo>
                  <a:pt x="4736829" y="4937557"/>
                  <a:pt x="4730010" y="4938753"/>
                  <a:pt x="4723136" y="4940138"/>
                </a:cubicBezTo>
                <a:lnTo>
                  <a:pt x="4719535" y="4940850"/>
                </a:lnTo>
                <a:lnTo>
                  <a:pt x="4706143" y="4939586"/>
                </a:lnTo>
                <a:lnTo>
                  <a:pt x="4701098" y="4944372"/>
                </a:lnTo>
                <a:lnTo>
                  <a:pt x="4680034" y="4946157"/>
                </a:lnTo>
                <a:cubicBezTo>
                  <a:pt x="4672339" y="4946029"/>
                  <a:pt x="4664292" y="4944964"/>
                  <a:pt x="4655740" y="4942396"/>
                </a:cubicBezTo>
                <a:cubicBezTo>
                  <a:pt x="4636359" y="4929384"/>
                  <a:pt x="4599700" y="4935346"/>
                  <a:pt x="4569298" y="4929596"/>
                </a:cubicBezTo>
                <a:lnTo>
                  <a:pt x="4555977" y="4924356"/>
                </a:lnTo>
                <a:lnTo>
                  <a:pt x="4508949" y="4921648"/>
                </a:lnTo>
                <a:cubicBezTo>
                  <a:pt x="4495668" y="4920437"/>
                  <a:pt x="4482007" y="4918694"/>
                  <a:pt x="4467838" y="4915993"/>
                </a:cubicBezTo>
                <a:lnTo>
                  <a:pt x="4441948" y="4909300"/>
                </a:lnTo>
                <a:lnTo>
                  <a:pt x="4394719" y="4901820"/>
                </a:lnTo>
                <a:lnTo>
                  <a:pt x="4356810" y="4905146"/>
                </a:lnTo>
                <a:lnTo>
                  <a:pt x="4222144" y="4909117"/>
                </a:lnTo>
                <a:cubicBezTo>
                  <a:pt x="4202488" y="4913903"/>
                  <a:pt x="4184742" y="4933491"/>
                  <a:pt x="4160481" y="4923474"/>
                </a:cubicBezTo>
                <a:cubicBezTo>
                  <a:pt x="4165854" y="4934564"/>
                  <a:pt x="4131661" y="4919946"/>
                  <a:pt x="4124879" y="4929303"/>
                </a:cubicBezTo>
                <a:cubicBezTo>
                  <a:pt x="4120895" y="4937086"/>
                  <a:pt x="4109593" y="4934464"/>
                  <a:pt x="4100114" y="4936007"/>
                </a:cubicBezTo>
                <a:cubicBezTo>
                  <a:pt x="4091835" y="4943256"/>
                  <a:pt x="4045978" y="4943549"/>
                  <a:pt x="4030957" y="4939826"/>
                </a:cubicBezTo>
                <a:cubicBezTo>
                  <a:pt x="3989825" y="4924453"/>
                  <a:pt x="3946860" y="4952050"/>
                  <a:pt x="3913764" y="4940618"/>
                </a:cubicBezTo>
                <a:cubicBezTo>
                  <a:pt x="3904534" y="4939906"/>
                  <a:pt x="3896577" y="4940543"/>
                  <a:pt x="3889457" y="4942017"/>
                </a:cubicBezTo>
                <a:lnTo>
                  <a:pt x="3871115" y="4948115"/>
                </a:lnTo>
                <a:lnTo>
                  <a:pt x="3869086" y="4953796"/>
                </a:lnTo>
                <a:lnTo>
                  <a:pt x="3856124" y="4955351"/>
                </a:lnTo>
                <a:lnTo>
                  <a:pt x="3835967" y="4964002"/>
                </a:lnTo>
                <a:cubicBezTo>
                  <a:pt x="3826465" y="4939857"/>
                  <a:pt x="3782586" y="4975947"/>
                  <a:pt x="3785910" y="4953998"/>
                </a:cubicBezTo>
                <a:cubicBezTo>
                  <a:pt x="3750785" y="4960085"/>
                  <a:pt x="3699033" y="4941571"/>
                  <a:pt x="3671085" y="4966563"/>
                </a:cubicBezTo>
                <a:cubicBezTo>
                  <a:pt x="3621255" y="4971431"/>
                  <a:pt x="3562637" y="4982991"/>
                  <a:pt x="3486928" y="4983204"/>
                </a:cubicBezTo>
                <a:cubicBezTo>
                  <a:pt x="3446030" y="4983424"/>
                  <a:pt x="3343460" y="4965124"/>
                  <a:pt x="3280956" y="4963864"/>
                </a:cubicBezTo>
                <a:cubicBezTo>
                  <a:pt x="3227193" y="4969510"/>
                  <a:pt x="3256481" y="4962609"/>
                  <a:pt x="3211563" y="4982704"/>
                </a:cubicBezTo>
                <a:cubicBezTo>
                  <a:pt x="3207119" y="4979549"/>
                  <a:pt x="3170070" y="4977192"/>
                  <a:pt x="3164681" y="4975408"/>
                </a:cubicBezTo>
                <a:lnTo>
                  <a:pt x="3127171" y="4968229"/>
                </a:lnTo>
                <a:lnTo>
                  <a:pt x="3096889" y="4965619"/>
                </a:lnTo>
                <a:cubicBezTo>
                  <a:pt x="3088441" y="4967572"/>
                  <a:pt x="3082883" y="4967054"/>
                  <a:pt x="3078620" y="4965444"/>
                </a:cubicBezTo>
                <a:lnTo>
                  <a:pt x="3074275" y="4962670"/>
                </a:lnTo>
                <a:lnTo>
                  <a:pt x="3036436" y="4957455"/>
                </a:lnTo>
                <a:lnTo>
                  <a:pt x="3031995" y="4958829"/>
                </a:lnTo>
                <a:lnTo>
                  <a:pt x="2994028" y="4956800"/>
                </a:lnTo>
                <a:cubicBezTo>
                  <a:pt x="2992299" y="4958944"/>
                  <a:pt x="2989407" y="4960397"/>
                  <a:pt x="2984001" y="4960444"/>
                </a:cubicBezTo>
                <a:cubicBezTo>
                  <a:pt x="2994191" y="4975446"/>
                  <a:pt x="2981386" y="4966249"/>
                  <a:pt x="2964542" y="4965062"/>
                </a:cubicBezTo>
                <a:cubicBezTo>
                  <a:pt x="2976613" y="4988096"/>
                  <a:pt x="2927627" y="4975618"/>
                  <a:pt x="2921274" y="4988440"/>
                </a:cubicBezTo>
                <a:cubicBezTo>
                  <a:pt x="2908629" y="4987050"/>
                  <a:pt x="2895476" y="4985998"/>
                  <a:pt x="2882111" y="4985411"/>
                </a:cubicBezTo>
                <a:lnTo>
                  <a:pt x="2874282" y="4985361"/>
                </a:lnTo>
                <a:cubicBezTo>
                  <a:pt x="2874237" y="4985437"/>
                  <a:pt x="2874193" y="4985514"/>
                  <a:pt x="2874147" y="4985591"/>
                </a:cubicBezTo>
                <a:cubicBezTo>
                  <a:pt x="2872492" y="4986074"/>
                  <a:pt x="2869935" y="4986243"/>
                  <a:pt x="2865932" y="4985999"/>
                </a:cubicBezTo>
                <a:lnTo>
                  <a:pt x="2860008" y="4985269"/>
                </a:lnTo>
                <a:lnTo>
                  <a:pt x="2844819" y="4985172"/>
                </a:lnTo>
                <a:lnTo>
                  <a:pt x="2839735" y="4986676"/>
                </a:lnTo>
                <a:lnTo>
                  <a:pt x="2837922" y="4989488"/>
                </a:lnTo>
                <a:lnTo>
                  <a:pt x="2836507" y="4989165"/>
                </a:lnTo>
                <a:cubicBezTo>
                  <a:pt x="2825749" y="4984209"/>
                  <a:pt x="2822382" y="4977089"/>
                  <a:pt x="2808859" y="4996804"/>
                </a:cubicBezTo>
                <a:cubicBezTo>
                  <a:pt x="2784233" y="4988767"/>
                  <a:pt x="2779499" y="5000786"/>
                  <a:pt x="2745907" y="5005126"/>
                </a:cubicBezTo>
                <a:cubicBezTo>
                  <a:pt x="2731796" y="4997536"/>
                  <a:pt x="2720518" y="5000295"/>
                  <a:pt x="2709519" y="5006333"/>
                </a:cubicBezTo>
                <a:cubicBezTo>
                  <a:pt x="2676766" y="5002878"/>
                  <a:pt x="2646981" y="5011377"/>
                  <a:pt x="2610212" y="5013529"/>
                </a:cubicBezTo>
                <a:cubicBezTo>
                  <a:pt x="2570359" y="5003730"/>
                  <a:pt x="2550109" y="5021491"/>
                  <a:pt x="2510814" y="5023713"/>
                </a:cubicBezTo>
                <a:cubicBezTo>
                  <a:pt x="2476639" y="5006722"/>
                  <a:pt x="2482834" y="5038639"/>
                  <a:pt x="2462736" y="5045398"/>
                </a:cubicBezTo>
                <a:lnTo>
                  <a:pt x="2457050" y="5046022"/>
                </a:lnTo>
                <a:lnTo>
                  <a:pt x="2442184" y="5043549"/>
                </a:lnTo>
                <a:lnTo>
                  <a:pt x="2436703" y="5041929"/>
                </a:lnTo>
                <a:cubicBezTo>
                  <a:pt x="2432888" y="5041072"/>
                  <a:pt x="2430299" y="5040830"/>
                  <a:pt x="2428451" y="5041027"/>
                </a:cubicBezTo>
                <a:lnTo>
                  <a:pt x="2420551" y="5039949"/>
                </a:lnTo>
                <a:cubicBezTo>
                  <a:pt x="2407700" y="5037296"/>
                  <a:pt x="2395274" y="5034239"/>
                  <a:pt x="2383501" y="5030941"/>
                </a:cubicBezTo>
                <a:cubicBezTo>
                  <a:pt x="2362992" y="5032521"/>
                  <a:pt x="2317884" y="5047662"/>
                  <a:pt x="2297493" y="5049431"/>
                </a:cubicBezTo>
                <a:lnTo>
                  <a:pt x="2261156" y="5041558"/>
                </a:lnTo>
                <a:lnTo>
                  <a:pt x="2200581" y="5024964"/>
                </a:lnTo>
                <a:lnTo>
                  <a:pt x="2198380" y="5025550"/>
                </a:lnTo>
                <a:lnTo>
                  <a:pt x="2116066" y="5019568"/>
                </a:lnTo>
                <a:cubicBezTo>
                  <a:pt x="2111600" y="5017036"/>
                  <a:pt x="2059664" y="5006071"/>
                  <a:pt x="2056754" y="5002394"/>
                </a:cubicBezTo>
                <a:cubicBezTo>
                  <a:pt x="2003393" y="5014336"/>
                  <a:pt x="1998298" y="5008800"/>
                  <a:pt x="1942916" y="5005703"/>
                </a:cubicBezTo>
                <a:cubicBezTo>
                  <a:pt x="1882138" y="4994708"/>
                  <a:pt x="1836966" y="4976630"/>
                  <a:pt x="1796717" y="4970423"/>
                </a:cubicBezTo>
                <a:cubicBezTo>
                  <a:pt x="1724075" y="4959337"/>
                  <a:pt x="1636218" y="4936339"/>
                  <a:pt x="1583222" y="4931235"/>
                </a:cubicBezTo>
                <a:cubicBezTo>
                  <a:pt x="1544265" y="4950469"/>
                  <a:pt x="1556109" y="4927628"/>
                  <a:pt x="1518821" y="4927872"/>
                </a:cubicBezTo>
                <a:cubicBezTo>
                  <a:pt x="1497291" y="4925112"/>
                  <a:pt x="1483221" y="4916728"/>
                  <a:pt x="1471837" y="4914678"/>
                </a:cubicBezTo>
                <a:lnTo>
                  <a:pt x="1450515" y="4915578"/>
                </a:lnTo>
                <a:lnTo>
                  <a:pt x="1437078" y="4915016"/>
                </a:lnTo>
                <a:lnTo>
                  <a:pt x="1432462" y="4920065"/>
                </a:lnTo>
                <a:lnTo>
                  <a:pt x="1411645" y="4922952"/>
                </a:lnTo>
                <a:cubicBezTo>
                  <a:pt x="1384856" y="4920079"/>
                  <a:pt x="1306656" y="4907389"/>
                  <a:pt x="1271729" y="4902828"/>
                </a:cubicBezTo>
                <a:cubicBezTo>
                  <a:pt x="1258697" y="4896954"/>
                  <a:pt x="1213546" y="4890036"/>
                  <a:pt x="1202076" y="4895589"/>
                </a:cubicBezTo>
                <a:cubicBezTo>
                  <a:pt x="1192059" y="4895561"/>
                  <a:pt x="1182171" y="4891311"/>
                  <a:pt x="1174670" y="4898040"/>
                </a:cubicBezTo>
                <a:cubicBezTo>
                  <a:pt x="1163701" y="4905820"/>
                  <a:pt x="1136874" y="4886643"/>
                  <a:pt x="1137035" y="4897965"/>
                </a:cubicBezTo>
                <a:cubicBezTo>
                  <a:pt x="1117838" y="4884693"/>
                  <a:pt x="1091386" y="4900421"/>
                  <a:pt x="1069882" y="4901859"/>
                </a:cubicBezTo>
                <a:cubicBezTo>
                  <a:pt x="1055589" y="4889467"/>
                  <a:pt x="1024570" y="4904705"/>
                  <a:pt x="980935" y="4900090"/>
                </a:cubicBezTo>
                <a:cubicBezTo>
                  <a:pt x="947614" y="4895538"/>
                  <a:pt x="913224" y="4886405"/>
                  <a:pt x="869960" y="4874547"/>
                </a:cubicBezTo>
                <a:cubicBezTo>
                  <a:pt x="819114" y="4845820"/>
                  <a:pt x="768074" y="4839770"/>
                  <a:pt x="721345" y="4828937"/>
                </a:cubicBezTo>
                <a:cubicBezTo>
                  <a:pt x="667944" y="4819060"/>
                  <a:pt x="698286" y="4848426"/>
                  <a:pt x="635428" y="4819153"/>
                </a:cubicBezTo>
                <a:cubicBezTo>
                  <a:pt x="626286" y="4826707"/>
                  <a:pt x="617638" y="4825980"/>
                  <a:pt x="604106" y="4819994"/>
                </a:cubicBezTo>
                <a:cubicBezTo>
                  <a:pt x="583276" y="4822237"/>
                  <a:pt x="539859" y="4835097"/>
                  <a:pt x="510451" y="4832608"/>
                </a:cubicBezTo>
                <a:cubicBezTo>
                  <a:pt x="489781" y="4829929"/>
                  <a:pt x="443867" y="4807857"/>
                  <a:pt x="427656" y="4805062"/>
                </a:cubicBezTo>
                <a:cubicBezTo>
                  <a:pt x="424088" y="4806479"/>
                  <a:pt x="419580" y="4809736"/>
                  <a:pt x="413184" y="4815837"/>
                </a:cubicBezTo>
                <a:cubicBezTo>
                  <a:pt x="387673" y="4805882"/>
                  <a:pt x="379855" y="4817328"/>
                  <a:pt x="341772" y="4818825"/>
                </a:cubicBezTo>
                <a:cubicBezTo>
                  <a:pt x="327795" y="4810179"/>
                  <a:pt x="314729" y="4811964"/>
                  <a:pt x="301266" y="4817000"/>
                </a:cubicBezTo>
                <a:cubicBezTo>
                  <a:pt x="265781" y="4810886"/>
                  <a:pt x="231017" y="4816794"/>
                  <a:pt x="189886" y="4815871"/>
                </a:cubicBezTo>
                <a:cubicBezTo>
                  <a:pt x="147910" y="4802917"/>
                  <a:pt x="121702" y="4818738"/>
                  <a:pt x="77762" y="4817675"/>
                </a:cubicBezTo>
                <a:cubicBezTo>
                  <a:pt x="38733" y="4795315"/>
                  <a:pt x="44308" y="4840244"/>
                  <a:pt x="8164" y="4835320"/>
                </a:cubicBezTo>
                <a:lnTo>
                  <a:pt x="0" y="4832771"/>
                </a:lnTo>
                <a:close/>
              </a:path>
            </a:pathLst>
          </a:custGeom>
        </p:spPr>
      </p:pic>
      <p:graphicFrame>
        <p:nvGraphicFramePr>
          <p:cNvPr id="2" name="Table 1">
            <a:extLst>
              <a:ext uri="{FF2B5EF4-FFF2-40B4-BE49-F238E27FC236}">
                <a16:creationId xmlns:a16="http://schemas.microsoft.com/office/drawing/2014/main" id="{38C062B3-99C8-A865-EBDE-4FA9D59AD373}"/>
              </a:ext>
            </a:extLst>
          </p:cNvPr>
          <p:cNvGraphicFramePr>
            <a:graphicFrameLocks noGrp="1"/>
          </p:cNvGraphicFramePr>
          <p:nvPr>
            <p:extLst>
              <p:ext uri="{D42A27DB-BD31-4B8C-83A1-F6EECF244321}">
                <p14:modId xmlns:p14="http://schemas.microsoft.com/office/powerpoint/2010/main" val="3604846904"/>
              </p:ext>
            </p:extLst>
          </p:nvPr>
        </p:nvGraphicFramePr>
        <p:xfrm>
          <a:off x="-97730" y="277884"/>
          <a:ext cx="8698110" cy="903101"/>
        </p:xfrm>
        <a:graphic>
          <a:graphicData uri="http://schemas.openxmlformats.org/drawingml/2006/table">
            <a:tbl>
              <a:tblPr firstRow="1" bandRow="1">
                <a:tableStyleId>{5940675A-B579-460E-94D1-54222C63F5DA}</a:tableStyleId>
              </a:tblPr>
              <a:tblGrid>
                <a:gridCol w="8698110">
                  <a:extLst>
                    <a:ext uri="{9D8B030D-6E8A-4147-A177-3AD203B41FA5}">
                      <a16:colId xmlns:a16="http://schemas.microsoft.com/office/drawing/2014/main" val="3487444038"/>
                    </a:ext>
                  </a:extLst>
                </a:gridCol>
              </a:tblGrid>
              <a:tr h="903101">
                <a:tc>
                  <a:txBody>
                    <a:bodyPr/>
                    <a:lstStyle/>
                    <a:p>
                      <a:pPr algn="ctr"/>
                      <a:r>
                        <a:rPr lang="en-US" sz="2400" b="1" i="0" u="sng" dirty="0">
                          <a:solidFill>
                            <a:schemeClr val="bg1"/>
                          </a:solidFill>
                          <a:latin typeface="Times New Roman" panose="02020603050405020304" pitchFamily="18" charset="0"/>
                          <a:cs typeface="Times New Roman" panose="02020603050405020304" pitchFamily="18" charset="0"/>
                        </a:rPr>
                        <a:t>ENVIRONMENT AND SUSTAINABILITY</a:t>
                      </a:r>
                      <a:endParaRPr lang="en-IN" u="sng" dirty="0">
                        <a:solidFill>
                          <a:schemeClr val="bg1"/>
                        </a:solidFill>
                        <a:latin typeface="Times New Roman" panose="02020603050405020304" pitchFamily="18" charset="0"/>
                        <a:ea typeface="Tahoma" panose="020B0604030504040204" pitchFamily="34"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87016075"/>
                  </a:ext>
                </a:extLst>
              </a:tr>
            </a:tbl>
          </a:graphicData>
        </a:graphic>
      </p:graphicFrame>
      <p:sp>
        <p:nvSpPr>
          <p:cNvPr id="4" name="TextBox 3">
            <a:extLst>
              <a:ext uri="{FF2B5EF4-FFF2-40B4-BE49-F238E27FC236}">
                <a16:creationId xmlns:a16="http://schemas.microsoft.com/office/drawing/2014/main" id="{C559065E-C878-4C82-BD0B-8CD09C56595E}"/>
              </a:ext>
            </a:extLst>
          </p:cNvPr>
          <p:cNvSpPr txBox="1"/>
          <p:nvPr/>
        </p:nvSpPr>
        <p:spPr>
          <a:xfrm>
            <a:off x="520428" y="729434"/>
            <a:ext cx="7723535" cy="530594"/>
          </a:xfrm>
          <a:prstGeom prst="rect">
            <a:avLst/>
          </a:prstGeom>
          <a:noFill/>
        </p:spPr>
        <p:txBody>
          <a:bodyPr wrap="square">
            <a:spAutoFit/>
          </a:bodyPr>
          <a:lstStyle/>
          <a:p>
            <a:pPr algn="ctr">
              <a:lnSpc>
                <a:spcPct val="107000"/>
              </a:lnSpc>
              <a:spcAft>
                <a:spcPts val="800"/>
              </a:spcAft>
            </a:pPr>
            <a:r>
              <a:rPr lang="en-IN" sz="2800" b="1" u="sng" kern="100" dirty="0">
                <a:solidFill>
                  <a:schemeClr val="bg1"/>
                </a:solidFill>
                <a:effectLst/>
                <a:latin typeface="Times New Roman" panose="02020603050405020304" pitchFamily="18" charset="0"/>
                <a:ea typeface="Calibri" panose="020F0502020204030204" pitchFamily="34" charset="0"/>
                <a:cs typeface="Tunga" panose="020B0502040204020203" pitchFamily="34" charset="0"/>
              </a:rPr>
              <a:t>UNIT 5</a:t>
            </a:r>
            <a:r>
              <a:rPr lang="en-IN" sz="2000" b="1" u="sng" kern="100" dirty="0">
                <a:solidFill>
                  <a:schemeClr val="bg1"/>
                </a:solidFill>
                <a:effectLst/>
                <a:latin typeface="Calibri" panose="020F0502020204030204" pitchFamily="34" charset="0"/>
                <a:ea typeface="Calibri" panose="020F0502020204030204" pitchFamily="34" charset="0"/>
                <a:cs typeface="Tunga" panose="020B0502040204020203" pitchFamily="34" charset="0"/>
              </a:rPr>
              <a:t>: </a:t>
            </a:r>
            <a:r>
              <a:rPr lang="en-IN" sz="2800" b="1" u="sng" kern="100" dirty="0">
                <a:solidFill>
                  <a:schemeClr val="bg1"/>
                </a:solidFill>
                <a:effectLst/>
                <a:latin typeface="Times New Roman" panose="02020603050405020304" pitchFamily="18" charset="0"/>
                <a:ea typeface="Calibri" panose="020F0502020204030204" pitchFamily="34" charset="0"/>
                <a:cs typeface="Tunga" panose="020B0502040204020203" pitchFamily="34" charset="0"/>
              </a:rPr>
              <a:t>Corporate Social Responsibility (CSR)</a:t>
            </a:r>
            <a:endParaRPr lang="en-IN" sz="2000" kern="100" dirty="0">
              <a:solidFill>
                <a:schemeClr val="bg1"/>
              </a:solidFill>
              <a:effectLst/>
              <a:latin typeface="Calibri" panose="020F0502020204030204" pitchFamily="34" charset="0"/>
              <a:ea typeface="Calibri" panose="020F0502020204030204" pitchFamily="34" charset="0"/>
              <a:cs typeface="Tunga" panose="020B0502040204020203" pitchFamily="34" charset="0"/>
            </a:endParaRPr>
          </a:p>
        </p:txBody>
      </p:sp>
      <p:sp>
        <p:nvSpPr>
          <p:cNvPr id="6" name="TextBox 5">
            <a:extLst>
              <a:ext uri="{FF2B5EF4-FFF2-40B4-BE49-F238E27FC236}">
                <a16:creationId xmlns:a16="http://schemas.microsoft.com/office/drawing/2014/main" id="{86009125-351E-8029-430E-B70F1787F8E4}"/>
              </a:ext>
            </a:extLst>
          </p:cNvPr>
          <p:cNvSpPr txBox="1"/>
          <p:nvPr/>
        </p:nvSpPr>
        <p:spPr>
          <a:xfrm>
            <a:off x="3045517" y="6304002"/>
            <a:ext cx="6097656" cy="369332"/>
          </a:xfrm>
          <a:prstGeom prst="rect">
            <a:avLst/>
          </a:prstGeom>
          <a:noFill/>
        </p:spPr>
        <p:txBody>
          <a:bodyPr wrap="square">
            <a:spAutoFit/>
          </a:bodyPr>
          <a:lstStyle/>
          <a:p>
            <a:pPr algn="ctr"/>
            <a:r>
              <a:rPr lang="en-IN" dirty="0">
                <a:latin typeface="Times New Roman" panose="02020603050405020304" pitchFamily="18" charset="0"/>
                <a:ea typeface="Tahoma" panose="020B0604030504040204" pitchFamily="34" charset="0"/>
                <a:cs typeface="Times New Roman" panose="02020603050405020304" pitchFamily="18" charset="0"/>
              </a:rPr>
              <a:t>COURSE CODE: CV242AT</a:t>
            </a:r>
          </a:p>
        </p:txBody>
      </p:sp>
      <p:pic>
        <p:nvPicPr>
          <p:cNvPr id="7" name="Google Shape;9;p1">
            <a:extLst>
              <a:ext uri="{FF2B5EF4-FFF2-40B4-BE49-F238E27FC236}">
                <a16:creationId xmlns:a16="http://schemas.microsoft.com/office/drawing/2014/main" id="{1B72F136-5E82-FF63-EDEA-1A933E2A567C}"/>
              </a:ext>
            </a:extLst>
          </p:cNvPr>
          <p:cNvPicPr preferRelativeResize="0"/>
          <p:nvPr/>
        </p:nvPicPr>
        <p:blipFill>
          <a:blip r:embed="rId3">
            <a:alphaModFix/>
          </a:blip>
          <a:stretch>
            <a:fillRect/>
          </a:stretch>
        </p:blipFill>
        <p:spPr>
          <a:xfrm>
            <a:off x="428891" y="5360599"/>
            <a:ext cx="2226671" cy="1111515"/>
          </a:xfrm>
          <a:prstGeom prst="rect">
            <a:avLst/>
          </a:prstGeom>
          <a:noFill/>
          <a:ln>
            <a:noFill/>
          </a:ln>
        </p:spPr>
      </p:pic>
    </p:spTree>
    <p:extLst>
      <p:ext uri="{BB962C8B-B14F-4D97-AF65-F5344CB8AC3E}">
        <p14:creationId xmlns:p14="http://schemas.microsoft.com/office/powerpoint/2010/main" val="39109916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580823E-ADD4-63EA-C611-38390D7F3A9F}"/>
              </a:ext>
            </a:extLst>
          </p:cNvPr>
          <p:cNvSpPr>
            <a:spLocks noGrp="1"/>
          </p:cNvSpPr>
          <p:nvPr>
            <p:ph type="title"/>
          </p:nvPr>
        </p:nvSpPr>
        <p:spPr>
          <a:xfrm>
            <a:off x="838200" y="365125"/>
            <a:ext cx="10515600" cy="1325563"/>
          </a:xfrm>
        </p:spPr>
        <p:txBody>
          <a:bodyPr>
            <a:normAutofit/>
          </a:bodyPr>
          <a:lstStyle/>
          <a:p>
            <a:r>
              <a:rPr lang="en-IN" sz="4600" dirty="0">
                <a:latin typeface="Times New Roman" panose="02020603050405020304" pitchFamily="18" charset="0"/>
                <a:cs typeface="Times New Roman" panose="02020603050405020304" pitchFamily="18" charset="0"/>
              </a:rPr>
              <a:t>     CSR-</a:t>
            </a:r>
            <a:r>
              <a:rPr lang="en-IN" sz="4600" b="1" u="sng" kern="100" dirty="0">
                <a:effectLst/>
                <a:latin typeface="Times New Roman" panose="02020603050405020304" pitchFamily="18" charset="0"/>
                <a:ea typeface="Calibri" panose="020F0502020204030204" pitchFamily="34" charset="0"/>
                <a:cs typeface="Tunga" panose="020B0502040204020203" pitchFamily="34" charset="0"/>
              </a:rPr>
              <a:t> Corporate Social Responsibility</a:t>
            </a:r>
            <a:endParaRPr lang="en-IN" sz="4600" dirty="0">
              <a:latin typeface="Times New Roman" panose="02020603050405020304" pitchFamily="18" charset="0"/>
              <a:cs typeface="Times New Roman" panose="02020603050405020304" pitchFamily="18" charset="0"/>
            </a:endParaRPr>
          </a:p>
        </p:txBody>
      </p:sp>
      <p:sp>
        <p:nvSpPr>
          <p:cNvPr id="17"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Content Placeholder 2">
            <a:extLst>
              <a:ext uri="{FF2B5EF4-FFF2-40B4-BE49-F238E27FC236}">
                <a16:creationId xmlns:a16="http://schemas.microsoft.com/office/drawing/2014/main" id="{C9CB8546-3648-59B7-780D-F42C91CC3944}"/>
              </a:ext>
            </a:extLst>
          </p:cNvPr>
          <p:cNvSpPr>
            <a:spLocks noGrp="1"/>
          </p:cNvSpPr>
          <p:nvPr>
            <p:ph idx="1"/>
          </p:nvPr>
        </p:nvSpPr>
        <p:spPr>
          <a:xfrm>
            <a:off x="838200" y="1677373"/>
            <a:ext cx="10515600" cy="5262372"/>
          </a:xfrm>
        </p:spPr>
        <p:txBody>
          <a:bodyPr>
            <a:normAutofit/>
          </a:bodyPr>
          <a:lstStyle/>
          <a:p>
            <a:pPr marL="0" indent="0">
              <a:buNone/>
            </a:pPr>
            <a:endParaRPr lang="en-IN" sz="2200" dirty="0"/>
          </a:p>
          <a:p>
            <a:pPr>
              <a:lnSpc>
                <a:spcPct val="150000"/>
              </a:lnSpc>
            </a:pPr>
            <a:r>
              <a:rPr lang="en-US" sz="2200" dirty="0">
                <a:latin typeface="Times New Roman" panose="02020603050405020304" pitchFamily="18" charset="0"/>
                <a:cs typeface="Times New Roman" panose="02020603050405020304" pitchFamily="18" charset="0"/>
              </a:rPr>
              <a:t>CSR can be defined as a Company’s sense of responsibility towards the community and environment (both ecological and social) in which it operates.</a:t>
            </a:r>
          </a:p>
          <a:p>
            <a:pPr>
              <a:lnSpc>
                <a:spcPct val="150000"/>
              </a:lnSpc>
            </a:pPr>
            <a:r>
              <a:rPr lang="en-US" sz="2200" dirty="0">
                <a:latin typeface="Times New Roman" panose="02020603050405020304" pitchFamily="18" charset="0"/>
                <a:cs typeface="Times New Roman" panose="02020603050405020304" pitchFamily="18" charset="0"/>
              </a:rPr>
              <a:t>CSR is a way of conducting business, by which corporate entities visibly contribute to the social good. Socially responsible companies do not limit themselves to using resources to engage in activities that increase only their profits</a:t>
            </a:r>
            <a:r>
              <a:rPr lang="en-IN" sz="2200" dirty="0">
                <a:latin typeface="Times New Roman" panose="02020603050405020304" pitchFamily="18" charset="0"/>
                <a:cs typeface="Times New Roman" panose="02020603050405020304" pitchFamily="18" charset="0"/>
              </a:rPr>
              <a:t>.</a:t>
            </a:r>
            <a:endParaRPr lang="en-IN" sz="2200" dirty="0">
              <a:latin typeface="Times New Roman" panose="02020603050405020304" pitchFamily="18" charset="0"/>
              <a:ea typeface="Calibri" panose="020F0502020204030204" pitchFamily="34" charset="0"/>
              <a:cs typeface="Times New Roman" panose="02020603050405020304" pitchFamily="18" charset="0"/>
            </a:endParaRPr>
          </a:p>
          <a:p>
            <a:endParaRPr lang="en-IN" sz="22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IN" sz="22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buNone/>
            </a:pPr>
            <a:endParaRPr lang="en-IN" sz="2200" b="1"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IN" sz="22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IN" sz="2200" dirty="0">
              <a:latin typeface="Times New Roman" panose="02020603050405020304" pitchFamily="18" charset="0"/>
              <a:cs typeface="Times New Roman" panose="02020603050405020304" pitchFamily="18" charset="0"/>
            </a:endParaRPr>
          </a:p>
          <a:p>
            <a:pPr marL="0" indent="0">
              <a:buNone/>
            </a:pPr>
            <a:endParaRPr lang="en-IN" sz="2200" dirty="0"/>
          </a:p>
          <a:p>
            <a:pPr marL="0" indent="0">
              <a:buNone/>
            </a:pPr>
            <a:endParaRPr lang="en-IN" sz="2200" dirty="0"/>
          </a:p>
        </p:txBody>
      </p:sp>
      <p:sp>
        <p:nvSpPr>
          <p:cNvPr id="6" name="Rectangle 5">
            <a:extLst>
              <a:ext uri="{FF2B5EF4-FFF2-40B4-BE49-F238E27FC236}">
                <a16:creationId xmlns:a16="http://schemas.microsoft.com/office/drawing/2014/main" id="{08516FAB-217F-06FC-3B29-7AF7D3E238B7}"/>
              </a:ext>
            </a:extLst>
          </p:cNvPr>
          <p:cNvSpPr/>
          <p:nvPr/>
        </p:nvSpPr>
        <p:spPr>
          <a:xfrm>
            <a:off x="428625" y="352425"/>
            <a:ext cx="11325225" cy="6276975"/>
          </a:xfrm>
          <a:prstGeom prst="rect">
            <a:avLst/>
          </a:prstGeom>
          <a:noFill/>
          <a:ln>
            <a:solidFill>
              <a:srgbClr val="00206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19671792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580823E-ADD4-63EA-C611-38390D7F3A9F}"/>
              </a:ext>
            </a:extLst>
          </p:cNvPr>
          <p:cNvSpPr>
            <a:spLocks noGrp="1"/>
          </p:cNvSpPr>
          <p:nvPr>
            <p:ph type="title"/>
          </p:nvPr>
        </p:nvSpPr>
        <p:spPr>
          <a:xfrm>
            <a:off x="838200" y="365125"/>
            <a:ext cx="10515600" cy="1325563"/>
          </a:xfrm>
        </p:spPr>
        <p:txBody>
          <a:bodyPr>
            <a:normAutofit/>
          </a:bodyPr>
          <a:lstStyle/>
          <a:p>
            <a:r>
              <a:rPr lang="en-IN" sz="4600" dirty="0">
                <a:latin typeface="Times New Roman" panose="02020603050405020304" pitchFamily="18" charset="0"/>
                <a:cs typeface="Times New Roman" panose="02020603050405020304" pitchFamily="18" charset="0"/>
              </a:rPr>
              <a:t>     CSR-</a:t>
            </a:r>
            <a:r>
              <a:rPr lang="en-IN" sz="4600" b="1" u="sng" kern="100" dirty="0">
                <a:effectLst/>
                <a:latin typeface="Times New Roman" panose="02020603050405020304" pitchFamily="18" charset="0"/>
                <a:ea typeface="Calibri" panose="020F0502020204030204" pitchFamily="34" charset="0"/>
                <a:cs typeface="Tunga" panose="020B0502040204020203" pitchFamily="34" charset="0"/>
              </a:rPr>
              <a:t> Corporate Social Responsibility</a:t>
            </a:r>
            <a:endParaRPr lang="en-IN" sz="4600" dirty="0">
              <a:latin typeface="Times New Roman" panose="02020603050405020304" pitchFamily="18" charset="0"/>
              <a:cs typeface="Times New Roman" panose="02020603050405020304" pitchFamily="18" charset="0"/>
            </a:endParaRPr>
          </a:p>
        </p:txBody>
      </p:sp>
      <p:sp>
        <p:nvSpPr>
          <p:cNvPr id="17"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Content Placeholder 2">
            <a:extLst>
              <a:ext uri="{FF2B5EF4-FFF2-40B4-BE49-F238E27FC236}">
                <a16:creationId xmlns:a16="http://schemas.microsoft.com/office/drawing/2014/main" id="{C9CB8546-3648-59B7-780D-F42C91CC3944}"/>
              </a:ext>
            </a:extLst>
          </p:cNvPr>
          <p:cNvSpPr>
            <a:spLocks noGrp="1"/>
          </p:cNvSpPr>
          <p:nvPr>
            <p:ph idx="1"/>
          </p:nvPr>
        </p:nvSpPr>
        <p:spPr>
          <a:xfrm>
            <a:off x="838200" y="1677373"/>
            <a:ext cx="10515600" cy="5262372"/>
          </a:xfrm>
        </p:spPr>
        <p:txBody>
          <a:bodyPr>
            <a:normAutofit/>
          </a:bodyPr>
          <a:lstStyle/>
          <a:p>
            <a:pPr marL="0" indent="0">
              <a:buNone/>
            </a:pPr>
            <a:endParaRPr lang="en-IN" sz="2200" dirty="0"/>
          </a:p>
          <a:p>
            <a:pPr>
              <a:lnSpc>
                <a:spcPct val="150000"/>
              </a:lnSpc>
            </a:pPr>
            <a:r>
              <a:rPr lang="en-IN" sz="2200" b="1" dirty="0">
                <a:latin typeface="Times New Roman" panose="02020603050405020304" pitchFamily="18" charset="0"/>
                <a:ea typeface="Times New Roman" panose="02020603050405020304" pitchFamily="18" charset="0"/>
                <a:cs typeface="Times New Roman" panose="02020603050405020304" pitchFamily="18" charset="0"/>
              </a:rPr>
              <a:t>Definition: </a:t>
            </a:r>
            <a:r>
              <a:rPr lang="en-IN" sz="2200" dirty="0">
                <a:effectLst/>
                <a:latin typeface="Times New Roman" panose="02020603050405020304" pitchFamily="18" charset="0"/>
                <a:ea typeface="Times New Roman" panose="02020603050405020304" pitchFamily="18" charset="0"/>
                <a:cs typeface="Times New Roman" panose="02020603050405020304" pitchFamily="18" charset="0"/>
              </a:rPr>
              <a:t>Corporate Social Responsibility (CSR) is a business model in which companies integrate social and environmental concerns into their operations and interactions with stakeholders.</a:t>
            </a:r>
          </a:p>
          <a:p>
            <a:pPr>
              <a:lnSpc>
                <a:spcPct val="150000"/>
              </a:lnSpc>
            </a:pPr>
            <a:r>
              <a:rPr lang="en-IN" sz="2200" kern="100" dirty="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WBCSD (World Business Council for Sustainable Development) </a:t>
            </a:r>
            <a:r>
              <a:rPr lang="en-IN" sz="2200" b="1" kern="100" dirty="0">
                <a:solidFill>
                  <a:srgbClr val="000000"/>
                </a:solidFill>
                <a:effectLst/>
                <a:latin typeface="Times New Roman" panose="02020603050405020304" pitchFamily="18" charset="0"/>
                <a:ea typeface="Calibri" panose="020F0502020204030204" pitchFamily="34" charset="0"/>
                <a:cs typeface="Tunga" panose="020B0502040204020203" pitchFamily="34" charset="0"/>
              </a:rPr>
              <a:t>“The continuing commitment by business to behave ethically and contribute to sustainable economic development while improving the quality of life of the workforce and their families as well as of the local community and society.”</a:t>
            </a:r>
            <a:endParaRPr lang="en-IN" sz="2200" kern="100" dirty="0">
              <a:effectLst/>
              <a:latin typeface="Calibri" panose="020F0502020204030204" pitchFamily="34" charset="0"/>
              <a:ea typeface="Calibri" panose="020F0502020204030204" pitchFamily="34" charset="0"/>
              <a:cs typeface="Tunga" panose="020B0502040204020203" pitchFamily="34" charset="0"/>
            </a:endParaRPr>
          </a:p>
          <a:p>
            <a:endParaRPr lang="en-IN" sz="22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IN" sz="22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buNone/>
            </a:pPr>
            <a:endParaRPr lang="en-IN" sz="2200" b="1"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IN" sz="22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IN" sz="2200" dirty="0">
              <a:latin typeface="Times New Roman" panose="02020603050405020304" pitchFamily="18" charset="0"/>
              <a:cs typeface="Times New Roman" panose="02020603050405020304" pitchFamily="18" charset="0"/>
            </a:endParaRPr>
          </a:p>
          <a:p>
            <a:pPr marL="0" indent="0">
              <a:buNone/>
            </a:pPr>
            <a:endParaRPr lang="en-IN" sz="2200" dirty="0"/>
          </a:p>
          <a:p>
            <a:pPr marL="0" indent="0">
              <a:buNone/>
            </a:pPr>
            <a:endParaRPr lang="en-IN" sz="2200" dirty="0"/>
          </a:p>
        </p:txBody>
      </p:sp>
      <p:sp>
        <p:nvSpPr>
          <p:cNvPr id="6" name="Rectangle 5">
            <a:extLst>
              <a:ext uri="{FF2B5EF4-FFF2-40B4-BE49-F238E27FC236}">
                <a16:creationId xmlns:a16="http://schemas.microsoft.com/office/drawing/2014/main" id="{08516FAB-217F-06FC-3B29-7AF7D3E238B7}"/>
              </a:ext>
            </a:extLst>
          </p:cNvPr>
          <p:cNvSpPr/>
          <p:nvPr/>
        </p:nvSpPr>
        <p:spPr>
          <a:xfrm>
            <a:off x="428625" y="352425"/>
            <a:ext cx="11325225" cy="6276975"/>
          </a:xfrm>
          <a:prstGeom prst="rect">
            <a:avLst/>
          </a:prstGeom>
          <a:noFill/>
          <a:ln>
            <a:solidFill>
              <a:srgbClr val="00206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12469703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E67A6D8-6DD8-B315-1D5B-80B106F63C41}"/>
              </a:ext>
            </a:extLst>
          </p:cNvPr>
          <p:cNvSpPr>
            <a:spLocks noGrp="1"/>
          </p:cNvSpPr>
          <p:nvPr>
            <p:ph type="title"/>
          </p:nvPr>
        </p:nvSpPr>
        <p:spPr>
          <a:xfrm>
            <a:off x="695960" y="477998"/>
            <a:ext cx="10515600" cy="937735"/>
          </a:xfrm>
        </p:spPr>
        <p:txBody>
          <a:bodyPr>
            <a:normAutofit/>
          </a:bodyPr>
          <a:lstStyle/>
          <a:p>
            <a:r>
              <a:rPr lang="en-US" b="1" dirty="0">
                <a:latin typeface="Times New Roman" panose="02020603050405020304" pitchFamily="18" charset="0"/>
                <a:cs typeface="Times New Roman" panose="02020603050405020304" pitchFamily="18" charset="0"/>
              </a:rPr>
              <a:t>PURPOSE OF CSR</a:t>
            </a:r>
            <a:endParaRPr lang="en-IN" b="1" dirty="0">
              <a:latin typeface="Times New Roman" panose="02020603050405020304" pitchFamily="18" charset="0"/>
              <a:cs typeface="Times New Roman" panose="02020603050405020304" pitchFamily="18" charset="0"/>
            </a:endParaRPr>
          </a:p>
        </p:txBody>
      </p:sp>
      <p:sp>
        <p:nvSpPr>
          <p:cNvPr id="21" name="Arc 20">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370EC93F-4662-9326-3186-24D5A3441CE8}"/>
              </a:ext>
            </a:extLst>
          </p:cNvPr>
          <p:cNvSpPr>
            <a:spLocks noGrp="1"/>
          </p:cNvSpPr>
          <p:nvPr>
            <p:ph idx="1"/>
          </p:nvPr>
        </p:nvSpPr>
        <p:spPr>
          <a:xfrm>
            <a:off x="685921" y="1400175"/>
            <a:ext cx="10657840" cy="5367655"/>
          </a:xfrm>
        </p:spPr>
        <p:txBody>
          <a:bodyPr>
            <a:normAutofit/>
          </a:bodyPr>
          <a:lstStyle/>
          <a:p>
            <a:pPr marL="0" indent="0">
              <a:lnSpc>
                <a:spcPct val="100000"/>
              </a:lnSpc>
              <a:buNone/>
            </a:pPr>
            <a:r>
              <a:rPr lang="en-US" sz="2400" dirty="0">
                <a:latin typeface="Times New Roman" panose="02020603050405020304" pitchFamily="18" charset="0"/>
                <a:cs typeface="Times New Roman" panose="02020603050405020304" pitchFamily="18" charset="0"/>
              </a:rPr>
              <a:t>The purpose of CSR is to make corporate business activities sustainable in its three Dimensions </a:t>
            </a:r>
          </a:p>
          <a:p>
            <a:pPr marL="457200" indent="-457200">
              <a:lnSpc>
                <a:spcPct val="100000"/>
              </a:lnSpc>
              <a:buFont typeface="+mj-lt"/>
              <a:buAutoNum type="arabicPeriod"/>
            </a:pPr>
            <a:r>
              <a:rPr lang="en-US" sz="2400" dirty="0">
                <a:latin typeface="Times New Roman" panose="02020603050405020304" pitchFamily="18" charset="0"/>
                <a:cs typeface="Times New Roman" panose="02020603050405020304" pitchFamily="18" charset="0"/>
              </a:rPr>
              <a:t> Economic </a:t>
            </a:r>
          </a:p>
          <a:p>
            <a:pPr marL="457200" indent="-457200">
              <a:lnSpc>
                <a:spcPct val="100000"/>
              </a:lnSpc>
              <a:buFont typeface="+mj-lt"/>
              <a:buAutoNum type="arabicPeriod"/>
            </a:pPr>
            <a:r>
              <a:rPr lang="en-US" sz="2400" dirty="0">
                <a:latin typeface="Times New Roman" panose="02020603050405020304" pitchFamily="18" charset="0"/>
                <a:cs typeface="Times New Roman" panose="02020603050405020304" pitchFamily="18" charset="0"/>
              </a:rPr>
              <a:t> Social </a:t>
            </a:r>
          </a:p>
          <a:p>
            <a:pPr marL="457200" indent="-457200">
              <a:lnSpc>
                <a:spcPct val="100000"/>
              </a:lnSpc>
              <a:buFont typeface="+mj-lt"/>
              <a:buAutoNum type="arabicPeriod"/>
            </a:pPr>
            <a:r>
              <a:rPr lang="en-US" sz="2400" dirty="0">
                <a:latin typeface="Times New Roman" panose="02020603050405020304" pitchFamily="18" charset="0"/>
                <a:cs typeface="Times New Roman" panose="02020603050405020304" pitchFamily="18" charset="0"/>
              </a:rPr>
              <a:t> Environmental</a:t>
            </a:r>
          </a:p>
          <a:p>
            <a:pPr>
              <a:lnSpc>
                <a:spcPct val="100000"/>
              </a:lnSpc>
            </a:pPr>
            <a:r>
              <a:rPr lang="en-US" sz="2400" dirty="0">
                <a:latin typeface="Times New Roman" panose="02020603050405020304" pitchFamily="18" charset="0"/>
                <a:cs typeface="Times New Roman" panose="02020603050405020304" pitchFamily="18" charset="0"/>
              </a:rPr>
              <a:t> CSR’s purpose is to ensure that companies ethically conduct their business this means taking account of their social, economic, and environmental impact and consideration of human rights. </a:t>
            </a:r>
          </a:p>
          <a:p>
            <a:pPr>
              <a:lnSpc>
                <a:spcPct val="100000"/>
              </a:lnSpc>
            </a:pPr>
            <a:r>
              <a:rPr lang="en-US" sz="2400" dirty="0">
                <a:latin typeface="Times New Roman" panose="02020603050405020304" pitchFamily="18" charset="0"/>
                <a:cs typeface="Times New Roman" panose="02020603050405020304" pitchFamily="18" charset="0"/>
              </a:rPr>
              <a:t>It can involve a range of activities such as working in partnership with local communities.  </a:t>
            </a:r>
          </a:p>
          <a:p>
            <a:pPr>
              <a:lnSpc>
                <a:spcPct val="100000"/>
              </a:lnSpc>
            </a:pPr>
            <a:r>
              <a:rPr lang="en-US" sz="2400" dirty="0">
                <a:latin typeface="Times New Roman" panose="02020603050405020304" pitchFamily="18" charset="0"/>
                <a:cs typeface="Times New Roman" panose="02020603050405020304" pitchFamily="18" charset="0"/>
              </a:rPr>
              <a:t>Now, CSR has become one of the standard business practices of our time.</a:t>
            </a:r>
            <a:endParaRPr lang="en-IN" sz="2400" dirty="0">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2910AE53-E08B-A6B8-665D-100DB16EB4C8}"/>
              </a:ext>
            </a:extLst>
          </p:cNvPr>
          <p:cNvSpPr/>
          <p:nvPr/>
        </p:nvSpPr>
        <p:spPr>
          <a:xfrm>
            <a:off x="428625" y="352425"/>
            <a:ext cx="11325225" cy="6276975"/>
          </a:xfrm>
          <a:prstGeom prst="rect">
            <a:avLst/>
          </a:prstGeom>
          <a:noFill/>
          <a:ln>
            <a:solidFill>
              <a:srgbClr val="00206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15583805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92414778-74B6-646D-795F-1BC00B77C66D}"/>
              </a:ext>
            </a:extLst>
          </p:cNvPr>
          <p:cNvSpPr>
            <a:spLocks noGrp="1"/>
          </p:cNvSpPr>
          <p:nvPr>
            <p:ph type="title"/>
          </p:nvPr>
        </p:nvSpPr>
        <p:spPr>
          <a:xfrm>
            <a:off x="519382" y="634326"/>
            <a:ext cx="3939688" cy="5583126"/>
          </a:xfrm>
        </p:spPr>
        <p:txBody>
          <a:bodyPr>
            <a:normAutofit/>
          </a:bodyPr>
          <a:lstStyle/>
          <a:p>
            <a:pPr algn="r"/>
            <a:r>
              <a:rPr lang="en-IN" sz="5600" dirty="0">
                <a:latin typeface="Times New Roman" panose="02020603050405020304" pitchFamily="18" charset="0"/>
                <a:cs typeface="Times New Roman" panose="02020603050405020304" pitchFamily="18" charset="0"/>
              </a:rPr>
              <a:t>Basic Constituents of CSR</a:t>
            </a:r>
          </a:p>
        </p:txBody>
      </p:sp>
      <p:cxnSp>
        <p:nvCxnSpPr>
          <p:cNvPr id="11" name="Straight Connector 10">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266FD984-C3D9-6FF4-3A97-F980D6570CD2}"/>
              </a:ext>
            </a:extLst>
          </p:cNvPr>
          <p:cNvGraphicFramePr>
            <a:graphicFrameLocks noGrp="1"/>
          </p:cNvGraphicFramePr>
          <p:nvPr>
            <p:ph idx="1"/>
            <p:extLst>
              <p:ext uri="{D42A27DB-BD31-4B8C-83A1-F6EECF244321}">
                <p14:modId xmlns:p14="http://schemas.microsoft.com/office/powerpoint/2010/main" val="562251998"/>
              </p:ext>
            </p:extLst>
          </p:nvPr>
        </p:nvGraphicFramePr>
        <p:xfrm>
          <a:off x="5037025" y="634326"/>
          <a:ext cx="6245265" cy="55893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Rectangle 3">
            <a:extLst>
              <a:ext uri="{FF2B5EF4-FFF2-40B4-BE49-F238E27FC236}">
                <a16:creationId xmlns:a16="http://schemas.microsoft.com/office/drawing/2014/main" id="{73165525-DD7E-15A5-0D1B-54F05B965BB4}"/>
              </a:ext>
            </a:extLst>
          </p:cNvPr>
          <p:cNvSpPr/>
          <p:nvPr/>
        </p:nvSpPr>
        <p:spPr>
          <a:xfrm>
            <a:off x="428625" y="352425"/>
            <a:ext cx="11325225" cy="6276975"/>
          </a:xfrm>
          <a:prstGeom prst="rect">
            <a:avLst/>
          </a:prstGeom>
          <a:noFill/>
          <a:ln>
            <a:solidFill>
              <a:srgbClr val="00206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27219196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6" name="Rectangle 65">
            <a:extLst>
              <a:ext uri="{FF2B5EF4-FFF2-40B4-BE49-F238E27FC236}">
                <a16:creationId xmlns:a16="http://schemas.microsoft.com/office/drawing/2014/main" id="{6C4028FD-8BAA-4A19-BFDE-594D991B7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84C242E-ACB6-BAB4-7307-4FAEA358DB4B}"/>
              </a:ext>
            </a:extLst>
          </p:cNvPr>
          <p:cNvSpPr>
            <a:spLocks noGrp="1"/>
          </p:cNvSpPr>
          <p:nvPr>
            <p:ph type="title"/>
          </p:nvPr>
        </p:nvSpPr>
        <p:spPr>
          <a:xfrm>
            <a:off x="838200" y="556995"/>
            <a:ext cx="10515600" cy="1133693"/>
          </a:xfrm>
        </p:spPr>
        <p:txBody>
          <a:bodyPr>
            <a:normAutofit fontScale="90000"/>
          </a:bodyPr>
          <a:lstStyle/>
          <a:p>
            <a:br>
              <a:rPr lang="en-IN" sz="2500" b="1" kern="100" dirty="0">
                <a:effectLst/>
                <a:latin typeface="Times New Roman" panose="02020603050405020304" pitchFamily="18" charset="0"/>
                <a:ea typeface="Calibri" panose="020F0502020204030204" pitchFamily="34" charset="0"/>
                <a:cs typeface="Tunga" panose="020B0502040204020203" pitchFamily="34" charset="0"/>
              </a:rPr>
            </a:br>
            <a:r>
              <a:rPr lang="en-IN" sz="4000" b="1" kern="100" dirty="0">
                <a:effectLst/>
                <a:latin typeface="Times New Roman" panose="02020603050405020304" pitchFamily="18" charset="0"/>
                <a:ea typeface="Calibri" panose="020F0502020204030204" pitchFamily="34" charset="0"/>
                <a:cs typeface="Tunga" panose="020B0502040204020203" pitchFamily="34" charset="0"/>
              </a:rPr>
              <a:t>History &amp; evolution of CSR</a:t>
            </a:r>
            <a:br>
              <a:rPr lang="en-IN" sz="2500" kern="100" dirty="0">
                <a:effectLst/>
                <a:latin typeface="Calibri" panose="020F0502020204030204" pitchFamily="34" charset="0"/>
                <a:ea typeface="Calibri" panose="020F0502020204030204" pitchFamily="34" charset="0"/>
                <a:cs typeface="Tunga" panose="020B0502040204020203" pitchFamily="34" charset="0"/>
              </a:rPr>
            </a:br>
            <a:endParaRPr lang="en-IN" sz="2500" dirty="0"/>
          </a:p>
        </p:txBody>
      </p:sp>
      <p:graphicFrame>
        <p:nvGraphicFramePr>
          <p:cNvPr id="23" name="Content Placeholder 2">
            <a:extLst>
              <a:ext uri="{FF2B5EF4-FFF2-40B4-BE49-F238E27FC236}">
                <a16:creationId xmlns:a16="http://schemas.microsoft.com/office/drawing/2014/main" id="{1EBB050C-A08E-1698-5CD3-4AF37B72A474}"/>
              </a:ext>
            </a:extLst>
          </p:cNvPr>
          <p:cNvGraphicFramePr>
            <a:graphicFrameLocks noGrp="1"/>
          </p:cNvGraphicFramePr>
          <p:nvPr>
            <p:ph idx="1"/>
            <p:extLst>
              <p:ext uri="{D42A27DB-BD31-4B8C-83A1-F6EECF244321}">
                <p14:modId xmlns:p14="http://schemas.microsoft.com/office/powerpoint/2010/main" val="3345816287"/>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Rectangle 5">
            <a:extLst>
              <a:ext uri="{FF2B5EF4-FFF2-40B4-BE49-F238E27FC236}">
                <a16:creationId xmlns:a16="http://schemas.microsoft.com/office/drawing/2014/main" id="{4112E530-8034-FB9D-705F-801393F5F426}"/>
              </a:ext>
            </a:extLst>
          </p:cNvPr>
          <p:cNvSpPr/>
          <p:nvPr/>
        </p:nvSpPr>
        <p:spPr>
          <a:xfrm>
            <a:off x="428625" y="352425"/>
            <a:ext cx="11325225" cy="6276975"/>
          </a:xfrm>
          <a:prstGeom prst="rect">
            <a:avLst/>
          </a:prstGeom>
          <a:noFill/>
          <a:ln>
            <a:solidFill>
              <a:srgbClr val="00206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14557024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Exclamation mark on a yellow background">
            <a:extLst>
              <a:ext uri="{FF2B5EF4-FFF2-40B4-BE49-F238E27FC236}">
                <a16:creationId xmlns:a16="http://schemas.microsoft.com/office/drawing/2014/main" id="{083E6314-4543-11EF-0A88-7B8D4DF4113A}"/>
              </a:ext>
            </a:extLst>
          </p:cNvPr>
          <p:cNvPicPr>
            <a:picLocks noChangeAspect="1"/>
          </p:cNvPicPr>
          <p:nvPr/>
        </p:nvPicPr>
        <p:blipFill rotWithShape="1">
          <a:blip r:embed="rId2"/>
          <a:srcRect t="20562" b="4438"/>
          <a:stretch/>
        </p:blipFill>
        <p:spPr>
          <a:xfrm>
            <a:off x="20" y="10"/>
            <a:ext cx="12191980" cy="6857990"/>
          </a:xfrm>
          <a:prstGeom prst="rect">
            <a:avLst/>
          </a:prstGeom>
        </p:spPr>
      </p:pic>
      <p:sp>
        <p:nvSpPr>
          <p:cNvPr id="9" name="Rectangle 8">
            <a:extLst>
              <a:ext uri="{FF2B5EF4-FFF2-40B4-BE49-F238E27FC236}">
                <a16:creationId xmlns:a16="http://schemas.microsoft.com/office/drawing/2014/main" id="{257363FD-7E77-4145-9483-331A807A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6802" cy="6858000"/>
          </a:xfrm>
          <a:prstGeom prst="rect">
            <a:avLst/>
          </a:prstGeom>
          <a:gradFill flip="none" rotWithShape="1">
            <a:gsLst>
              <a:gs pos="28000">
                <a:schemeClr val="bg2">
                  <a:alpha val="84000"/>
                </a:schemeClr>
              </a:gs>
              <a:gs pos="74000">
                <a:schemeClr val="bg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3C82BED-9F54-03BD-4114-9455E942D49A}"/>
              </a:ext>
            </a:extLst>
          </p:cNvPr>
          <p:cNvSpPr>
            <a:spLocks noGrp="1"/>
          </p:cNvSpPr>
          <p:nvPr>
            <p:ph type="title"/>
          </p:nvPr>
        </p:nvSpPr>
        <p:spPr>
          <a:xfrm>
            <a:off x="838200" y="365125"/>
            <a:ext cx="10515600" cy="1325563"/>
          </a:xfrm>
        </p:spPr>
        <p:txBody>
          <a:bodyPr>
            <a:normAutofit/>
          </a:bodyPr>
          <a:lstStyle/>
          <a:p>
            <a:r>
              <a:rPr lang="en-IN" b="1">
                <a:effectLst/>
                <a:latin typeface="Times New Roman" panose="02020603050405020304" pitchFamily="18" charset="0"/>
                <a:ea typeface="Calibri" panose="020F0502020204030204" pitchFamily="34" charset="0"/>
                <a:cs typeface="Times New Roman" panose="02020603050405020304" pitchFamily="18" charset="0"/>
              </a:rPr>
              <a:t>Charity</a:t>
            </a:r>
            <a:endParaRPr lang="en-IN">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F676B43-DCED-9D45-F41C-F6F0139A4E56}"/>
              </a:ext>
            </a:extLst>
          </p:cNvPr>
          <p:cNvSpPr>
            <a:spLocks noGrp="1"/>
          </p:cNvSpPr>
          <p:nvPr>
            <p:ph idx="1"/>
          </p:nvPr>
        </p:nvSpPr>
        <p:spPr>
          <a:xfrm>
            <a:off x="838200" y="1825625"/>
            <a:ext cx="10515600" cy="4351338"/>
          </a:xfrm>
        </p:spPr>
        <p:txBody>
          <a:bodyPr>
            <a:normAutofit/>
          </a:bodyPr>
          <a:lstStyle/>
          <a:p>
            <a:pPr marL="0" indent="0">
              <a:buNone/>
            </a:pP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Charity typically refers to the voluntary giving of help</a:t>
            </a:r>
            <a:r>
              <a:rPr lang="en-US" kern="100" dirty="0">
                <a:effectLst/>
                <a:latin typeface="Times New Roman" panose="02020603050405020304" pitchFamily="18" charset="0"/>
                <a:ea typeface="Calibri" panose="020F0502020204030204" pitchFamily="34" charset="0"/>
                <a:cs typeface="Times New Roman" panose="02020603050405020304" pitchFamily="18" charset="0"/>
              </a:rPr>
              <a:t> to those in need, typically in the form of money</a:t>
            </a: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 It is usually motivated by compassion and a desire to help others without expecting anything in return.</a:t>
            </a:r>
          </a:p>
          <a:p>
            <a:pPr marL="0" indent="0">
              <a:buNone/>
            </a:pPr>
            <a:endParaRPr lang="en-IN"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r>
              <a:rPr lang="en-IN" kern="100" dirty="0">
                <a:effectLst/>
                <a:latin typeface="Times New Roman" panose="02020603050405020304" pitchFamily="18" charset="0"/>
                <a:ea typeface="Calibri" panose="020F0502020204030204" pitchFamily="34" charset="0"/>
                <a:cs typeface="Tunga" panose="020B0502040204020203" pitchFamily="34" charset="0"/>
              </a:rPr>
              <a:t>Examples: Donations to food banks, disaster relief funds, and medical research foundations.</a:t>
            </a:r>
            <a:endParaRPr lang="en-IN" kern="100" dirty="0">
              <a:effectLst/>
              <a:latin typeface="Calibri" panose="020F0502020204030204" pitchFamily="34" charset="0"/>
              <a:ea typeface="Calibri" panose="020F0502020204030204" pitchFamily="34" charset="0"/>
              <a:cs typeface="Tunga" panose="020B0502040204020203" pitchFamily="34" charset="0"/>
            </a:endParaRPr>
          </a:p>
          <a:p>
            <a:endParaRPr lang="en-IN" kern="1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dirty="0"/>
          </a:p>
        </p:txBody>
      </p:sp>
      <p:sp>
        <p:nvSpPr>
          <p:cNvPr id="4" name="Rectangle 3">
            <a:extLst>
              <a:ext uri="{FF2B5EF4-FFF2-40B4-BE49-F238E27FC236}">
                <a16:creationId xmlns:a16="http://schemas.microsoft.com/office/drawing/2014/main" id="{BEA01AC2-D3B3-99B0-F1A3-8842B03824EE}"/>
              </a:ext>
            </a:extLst>
          </p:cNvPr>
          <p:cNvSpPr/>
          <p:nvPr/>
        </p:nvSpPr>
        <p:spPr>
          <a:xfrm>
            <a:off x="428625" y="352425"/>
            <a:ext cx="11325225" cy="6276975"/>
          </a:xfrm>
          <a:prstGeom prst="rect">
            <a:avLst/>
          </a:prstGeom>
          <a:noFill/>
          <a:ln>
            <a:solidFill>
              <a:srgbClr val="00206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14964325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Puzzle pieces">
            <a:extLst>
              <a:ext uri="{FF2B5EF4-FFF2-40B4-BE49-F238E27FC236}">
                <a16:creationId xmlns:a16="http://schemas.microsoft.com/office/drawing/2014/main" id="{193670C2-5E01-BF40-D5BB-427C8C403477}"/>
              </a:ext>
            </a:extLst>
          </p:cNvPr>
          <p:cNvPicPr>
            <a:picLocks noChangeAspect="1"/>
          </p:cNvPicPr>
          <p:nvPr/>
        </p:nvPicPr>
        <p:blipFill rotWithShape="1">
          <a:blip r:embed="rId2"/>
          <a:srcRect b="15414"/>
          <a:stretch/>
        </p:blipFill>
        <p:spPr>
          <a:xfrm>
            <a:off x="20" y="10"/>
            <a:ext cx="12191980" cy="6857990"/>
          </a:xfrm>
          <a:prstGeom prst="rect">
            <a:avLst/>
          </a:prstGeom>
        </p:spPr>
      </p:pic>
      <p:sp>
        <p:nvSpPr>
          <p:cNvPr id="9" name="Rectangle 8">
            <a:extLst>
              <a:ext uri="{FF2B5EF4-FFF2-40B4-BE49-F238E27FC236}">
                <a16:creationId xmlns:a16="http://schemas.microsoft.com/office/drawing/2014/main" id="{257363FD-7E77-4145-9483-331A807A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6802" cy="6858000"/>
          </a:xfrm>
          <a:prstGeom prst="rect">
            <a:avLst/>
          </a:prstGeom>
          <a:gradFill flip="none" rotWithShape="1">
            <a:gsLst>
              <a:gs pos="28000">
                <a:schemeClr val="bg2">
                  <a:alpha val="84000"/>
                </a:schemeClr>
              </a:gs>
              <a:gs pos="74000">
                <a:schemeClr val="bg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0A594ED-B208-1FED-A000-2EF7D4EF8562}"/>
              </a:ext>
            </a:extLst>
          </p:cNvPr>
          <p:cNvSpPr>
            <a:spLocks noGrp="1"/>
          </p:cNvSpPr>
          <p:nvPr>
            <p:ph type="title"/>
          </p:nvPr>
        </p:nvSpPr>
        <p:spPr>
          <a:xfrm>
            <a:off x="438150" y="228600"/>
            <a:ext cx="10515600" cy="880428"/>
          </a:xfrm>
        </p:spPr>
        <p:txBody>
          <a:bodyPr>
            <a:noAutofit/>
          </a:bodyPr>
          <a:lstStyle/>
          <a:p>
            <a:br>
              <a:rPr lang="en-IN" sz="1800" b="1" dirty="0">
                <a:effectLst/>
                <a:latin typeface="Times New Roman" panose="02020603050405020304" pitchFamily="18" charset="0"/>
                <a:ea typeface="Times New Roman" panose="02020603050405020304" pitchFamily="18" charset="0"/>
              </a:rPr>
            </a:br>
            <a:br>
              <a:rPr lang="en-IN" sz="1800" b="1" dirty="0">
                <a:effectLst/>
                <a:latin typeface="Times New Roman" panose="02020603050405020304" pitchFamily="18" charset="0"/>
                <a:ea typeface="Times New Roman" panose="02020603050405020304" pitchFamily="18" charset="0"/>
              </a:rPr>
            </a:br>
            <a:r>
              <a:rPr lang="en-IN" sz="3200" b="1" dirty="0">
                <a:effectLst/>
                <a:latin typeface="Times New Roman" panose="02020603050405020304" pitchFamily="18" charset="0"/>
                <a:ea typeface="Times New Roman" panose="02020603050405020304" pitchFamily="18" charset="0"/>
              </a:rPr>
              <a:t>Corporate philanthropy</a:t>
            </a:r>
            <a:br>
              <a:rPr lang="en-IN" sz="1800" dirty="0">
                <a:effectLst/>
                <a:latin typeface="Times New Roman" panose="02020603050405020304" pitchFamily="18" charset="0"/>
                <a:ea typeface="Times New Roman" panose="02020603050405020304" pitchFamily="18" charset="0"/>
              </a:rPr>
            </a:br>
            <a:endParaRPr lang="en-IN" sz="1800" dirty="0"/>
          </a:p>
        </p:txBody>
      </p:sp>
      <p:sp>
        <p:nvSpPr>
          <p:cNvPr id="3" name="Content Placeholder 2">
            <a:extLst>
              <a:ext uri="{FF2B5EF4-FFF2-40B4-BE49-F238E27FC236}">
                <a16:creationId xmlns:a16="http://schemas.microsoft.com/office/drawing/2014/main" id="{D57ACE6B-C2BE-B7FC-8721-DD9588A99E99}"/>
              </a:ext>
            </a:extLst>
          </p:cNvPr>
          <p:cNvSpPr>
            <a:spLocks noGrp="1"/>
          </p:cNvSpPr>
          <p:nvPr>
            <p:ph idx="1"/>
          </p:nvPr>
        </p:nvSpPr>
        <p:spPr>
          <a:xfrm>
            <a:off x="645160" y="1330950"/>
            <a:ext cx="11108690" cy="5298449"/>
          </a:xfrm>
        </p:spPr>
        <p:txBody>
          <a:bodyPr>
            <a:normAutofit/>
          </a:bodyPr>
          <a:lstStyle/>
          <a:p>
            <a:r>
              <a:rPr lang="en-IN" sz="2400" dirty="0">
                <a:effectLst/>
                <a:latin typeface="Times New Roman" panose="02020603050405020304" pitchFamily="18" charset="0"/>
                <a:ea typeface="Calibri" panose="020F0502020204030204" pitchFamily="34" charset="0"/>
                <a:cs typeface="Times New Roman" panose="02020603050405020304" pitchFamily="18" charset="0"/>
              </a:rPr>
              <a:t>Corporate Philanthropy involves businesses donating resources, such as money, products, or employee time, to charitable causes.</a:t>
            </a:r>
          </a:p>
          <a:p>
            <a:pPr>
              <a:spcAft>
                <a:spcPts val="800"/>
              </a:spcAft>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It is often part of a company’s broader CSR strategy but is more focused on direct charitable contributions.</a:t>
            </a:r>
          </a:p>
          <a:p>
            <a:pPr>
              <a:spcAft>
                <a:spcPts val="800"/>
              </a:spcAft>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Focus: Financial and in-kind donations to support non-profit organizations and community programs.</a:t>
            </a:r>
          </a:p>
          <a:p>
            <a:pPr>
              <a:spcAft>
                <a:spcPts val="800"/>
              </a:spcAft>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Examples: Sponsoring educational scholarships, funding community health initiatives, and supporting arts and culture programs.</a:t>
            </a:r>
          </a:p>
          <a:p>
            <a:pPr marL="0" indent="0">
              <a:buNone/>
            </a:pPr>
            <a:r>
              <a:rPr lang="en-IN" sz="2400" b="1" dirty="0">
                <a:latin typeface="Times New Roman" panose="02020603050405020304" pitchFamily="18" charset="0"/>
                <a:cs typeface="Times New Roman" panose="02020603050405020304" pitchFamily="18" charset="0"/>
              </a:rPr>
              <a:t>Types of </a:t>
            </a:r>
            <a:r>
              <a:rPr lang="en-IN" sz="2400" b="1" dirty="0">
                <a:effectLst/>
                <a:latin typeface="Times New Roman" panose="02020603050405020304" pitchFamily="18" charset="0"/>
                <a:ea typeface="Times New Roman" panose="02020603050405020304" pitchFamily="18" charset="0"/>
                <a:cs typeface="Times New Roman" panose="02020603050405020304" pitchFamily="18" charset="0"/>
              </a:rPr>
              <a:t>Corporate Philanthropy</a:t>
            </a:r>
          </a:p>
          <a:p>
            <a:pPr>
              <a:spcBef>
                <a:spcPts val="200"/>
              </a:spcBef>
              <a:spcAft>
                <a:spcPts val="375"/>
              </a:spcAft>
            </a:pPr>
            <a:r>
              <a:rPr lang="en-IN" sz="2400" b="1" kern="100" dirty="0">
                <a:effectLst/>
                <a:latin typeface="Times New Roman" panose="02020603050405020304" pitchFamily="18" charset="0"/>
                <a:ea typeface="Times New Roman" panose="02020603050405020304" pitchFamily="18" charset="0"/>
                <a:cs typeface="Tunga" panose="020B0502040204020203" pitchFamily="34" charset="0"/>
              </a:rPr>
              <a:t>Matching Gifts: </a:t>
            </a:r>
            <a:r>
              <a:rPr lang="en-IN" sz="2400" dirty="0">
                <a:effectLst/>
                <a:latin typeface="Times New Roman" panose="02020603050405020304" pitchFamily="18" charset="0"/>
                <a:ea typeface="Times New Roman" panose="02020603050405020304" pitchFamily="18" charset="0"/>
              </a:rPr>
              <a:t>Matching gift programs are a popular form of corporate philanthropy where companies match the charitable contributions of employees to eligible non-profit organizations.</a:t>
            </a:r>
          </a:p>
          <a:p>
            <a:pPr>
              <a:spcBef>
                <a:spcPts val="200"/>
              </a:spcBef>
              <a:spcAft>
                <a:spcPts val="375"/>
              </a:spcAft>
            </a:pPr>
            <a:endParaRPr lang="en-IN" sz="2000" dirty="0">
              <a:effectLst/>
              <a:latin typeface="Times New Roman" panose="02020603050405020304" pitchFamily="18" charset="0"/>
              <a:ea typeface="Times New Roman" panose="02020603050405020304" pitchFamily="18" charset="0"/>
            </a:endParaRPr>
          </a:p>
          <a:p>
            <a:pPr indent="0">
              <a:buNone/>
            </a:pPr>
            <a:endParaRPr lang="en-IN" sz="2000" dirty="0">
              <a:effectLst/>
              <a:latin typeface="Times New Roman" panose="02020603050405020304" pitchFamily="18" charset="0"/>
              <a:ea typeface="Times New Roman" panose="02020603050405020304" pitchFamily="18" charset="0"/>
            </a:endParaRPr>
          </a:p>
          <a:p>
            <a:pPr marL="0" indent="0">
              <a:buNone/>
            </a:pPr>
            <a:endParaRPr lang="en-IN" sz="2000" b="1" dirty="0">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D614F87F-5CFC-213D-40EA-57E2DC9C8C7C}"/>
              </a:ext>
            </a:extLst>
          </p:cNvPr>
          <p:cNvSpPr/>
          <p:nvPr/>
        </p:nvSpPr>
        <p:spPr>
          <a:xfrm>
            <a:off x="428625" y="352425"/>
            <a:ext cx="11325225" cy="6276975"/>
          </a:xfrm>
          <a:prstGeom prst="rect">
            <a:avLst/>
          </a:prstGeom>
          <a:noFill/>
          <a:ln>
            <a:solidFill>
              <a:srgbClr val="00206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39954226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D038248A-211C-4EEC-8401-C761B929F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C30A849F-66D9-40C8-BEC8-35AFF8F4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25" name="Group 24">
            <a:extLst>
              <a:ext uri="{FF2B5EF4-FFF2-40B4-BE49-F238E27FC236}">
                <a16:creationId xmlns:a16="http://schemas.microsoft.com/office/drawing/2014/main" id="{04542298-A2B1-480F-A11C-A40EDD19B8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26" name="Freeform: Shape 25">
              <a:extLst>
                <a:ext uri="{FF2B5EF4-FFF2-40B4-BE49-F238E27FC236}">
                  <a16:creationId xmlns:a16="http://schemas.microsoft.com/office/drawing/2014/main" id="{74AEB45E-B965-46A0-8557-C646B5011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921A22C7-11AD-44B0-9BF7-6E3A45821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87049D82-B7F3-4192-8337-4BDB16955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Shape 28">
              <a:extLst>
                <a:ext uri="{FF2B5EF4-FFF2-40B4-BE49-F238E27FC236}">
                  <a16:creationId xmlns:a16="http://schemas.microsoft.com/office/drawing/2014/main" id="{24A7FAD9-577C-4D2E-A3B5-C6D0A39D4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0A36A40E-7201-2A35-AFD7-D23A36DF5E91}"/>
              </a:ext>
            </a:extLst>
          </p:cNvPr>
          <p:cNvSpPr>
            <a:spLocks noGrp="1"/>
          </p:cNvSpPr>
          <p:nvPr>
            <p:ph idx="1"/>
          </p:nvPr>
        </p:nvSpPr>
        <p:spPr>
          <a:xfrm>
            <a:off x="487680" y="609600"/>
            <a:ext cx="11236960" cy="5892800"/>
          </a:xfrm>
        </p:spPr>
        <p:txBody>
          <a:bodyPr>
            <a:normAutofit fontScale="92500" lnSpcReduction="10000"/>
          </a:bodyPr>
          <a:lstStyle/>
          <a:p>
            <a:pPr>
              <a:lnSpc>
                <a:spcPct val="150000"/>
              </a:lnSpc>
              <a:spcBef>
                <a:spcPts val="200"/>
              </a:spcBef>
              <a:spcAft>
                <a:spcPts val="375"/>
              </a:spcAft>
            </a:pPr>
            <a:r>
              <a:rPr lang="en-IN" sz="2400" b="1" kern="100" dirty="0">
                <a:effectLst/>
                <a:latin typeface="Times New Roman" panose="02020603050405020304" pitchFamily="18" charset="0"/>
                <a:ea typeface="Times New Roman" panose="02020603050405020304" pitchFamily="18" charset="0"/>
                <a:cs typeface="Tunga" panose="020B0502040204020203" pitchFamily="34" charset="0"/>
              </a:rPr>
              <a:t>Volunteer Grants</a:t>
            </a:r>
            <a:r>
              <a:rPr lang="en-IN" sz="2400" b="1" kern="100" dirty="0">
                <a:latin typeface="Calibri Light" panose="020F0302020204030204" pitchFamily="34" charset="0"/>
                <a:ea typeface="Times New Roman" panose="02020603050405020304" pitchFamily="18" charset="0"/>
                <a:cs typeface="Tunga" panose="020B0502040204020203" pitchFamily="34" charset="0"/>
              </a:rPr>
              <a:t>: </a:t>
            </a:r>
            <a:r>
              <a:rPr lang="en-IN" sz="2400" dirty="0">
                <a:effectLst/>
                <a:latin typeface="Times New Roman" panose="02020603050405020304" pitchFamily="18" charset="0"/>
                <a:ea typeface="Calibri" panose="020F0502020204030204" pitchFamily="34" charset="0"/>
              </a:rPr>
              <a:t>Volunteer grant programs, also known as ‘Dollars for Doers’ or ‘Volunteer Time Off’ (VTO) grants, are the amount paid by companies to Nonprofits Organizations </a:t>
            </a:r>
            <a:r>
              <a:rPr lang="en-IN" sz="2400" dirty="0">
                <a:effectLst/>
                <a:latin typeface="Calibri" panose="020F0502020204030204" pitchFamily="34" charset="0"/>
                <a:ea typeface="Calibri" panose="020F0502020204030204" pitchFamily="34" charset="0"/>
                <a:cs typeface="Tunga" panose="020B0502040204020203" pitchFamily="34" charset="0"/>
              </a:rPr>
              <a:t>based on</a:t>
            </a:r>
            <a:r>
              <a:rPr lang="en-IN" sz="2400" dirty="0">
                <a:effectLst/>
                <a:latin typeface="Times New Roman" panose="02020603050405020304" pitchFamily="18" charset="0"/>
                <a:ea typeface="Calibri" panose="020F0502020204030204" pitchFamily="34" charset="0"/>
              </a:rPr>
              <a:t> hours spent by its employees volunteering for a specified nonprofit.</a:t>
            </a:r>
          </a:p>
          <a:p>
            <a:pPr>
              <a:lnSpc>
                <a:spcPct val="150000"/>
              </a:lnSpc>
              <a:spcBef>
                <a:spcPts val="200"/>
              </a:spcBef>
              <a:spcAft>
                <a:spcPts val="375"/>
              </a:spcAft>
            </a:pPr>
            <a:r>
              <a:rPr lang="en-IN" sz="2400" b="1" dirty="0">
                <a:effectLst/>
                <a:latin typeface="Times New Roman" panose="02020603050405020304" pitchFamily="18" charset="0"/>
                <a:ea typeface="Times New Roman" panose="02020603050405020304" pitchFamily="18" charset="0"/>
              </a:rPr>
              <a:t>Community Grants</a:t>
            </a:r>
            <a:r>
              <a:rPr lang="en-IN" sz="2400" dirty="0">
                <a:effectLst/>
                <a:latin typeface="Times New Roman" panose="02020603050405020304" pitchFamily="18" charset="0"/>
                <a:ea typeface="Times New Roman" panose="02020603050405020304" pitchFamily="18" charset="0"/>
              </a:rPr>
              <a:t>: The community grants can be contributed in both in-kind assistance as well as financial support depending upon the company’s budget and guidelines.</a:t>
            </a:r>
          </a:p>
          <a:p>
            <a:pPr>
              <a:lnSpc>
                <a:spcPct val="150000"/>
              </a:lnSpc>
              <a:spcBef>
                <a:spcPts val="200"/>
              </a:spcBef>
              <a:spcAft>
                <a:spcPts val="375"/>
              </a:spcAft>
            </a:pPr>
            <a:r>
              <a:rPr lang="en-IN" sz="2400" b="1" kern="100" dirty="0">
                <a:effectLst/>
                <a:latin typeface="Times New Roman" panose="02020603050405020304" pitchFamily="18" charset="0"/>
                <a:ea typeface="Times New Roman" panose="02020603050405020304" pitchFamily="18" charset="0"/>
                <a:cs typeface="Tunga" panose="020B0502040204020203" pitchFamily="34" charset="0"/>
              </a:rPr>
              <a:t>Employee Grants Stipends</a:t>
            </a:r>
            <a:r>
              <a:rPr lang="en-IN" sz="2400" b="1" kern="100" dirty="0">
                <a:latin typeface="Calibri Light" panose="020F0302020204030204" pitchFamily="34" charset="0"/>
                <a:ea typeface="Times New Roman" panose="02020603050405020304" pitchFamily="18" charset="0"/>
                <a:cs typeface="Tunga" panose="020B0502040204020203" pitchFamily="34" charset="0"/>
              </a:rPr>
              <a:t>: </a:t>
            </a:r>
            <a:r>
              <a:rPr lang="en-IN" sz="2400" dirty="0">
                <a:effectLst/>
                <a:latin typeface="Times New Roman" panose="02020603050405020304" pitchFamily="18" charset="0"/>
                <a:ea typeface="Times New Roman" panose="02020603050405020304" pitchFamily="18" charset="0"/>
              </a:rPr>
              <a:t>Such kind of grants are temporarily provided to the employees by the company in case of any medical emergencies, natural disasters, personal crises, unexpected expenses, or more.</a:t>
            </a:r>
          </a:p>
          <a:p>
            <a:pPr>
              <a:lnSpc>
                <a:spcPct val="150000"/>
              </a:lnSpc>
              <a:spcBef>
                <a:spcPts val="200"/>
              </a:spcBef>
              <a:spcAft>
                <a:spcPts val="375"/>
              </a:spcAft>
            </a:pPr>
            <a:r>
              <a:rPr lang="en-IN" sz="2400" b="1" kern="100" dirty="0">
                <a:effectLst/>
                <a:latin typeface="Times New Roman" panose="02020603050405020304" pitchFamily="18" charset="0"/>
                <a:ea typeface="Times New Roman" panose="02020603050405020304" pitchFamily="18" charset="0"/>
                <a:cs typeface="Tunga" panose="020B0502040204020203" pitchFamily="34" charset="0"/>
              </a:rPr>
              <a:t>Volunteer Support Initiatives</a:t>
            </a:r>
            <a:r>
              <a:rPr lang="en-IN" sz="2400" b="1" kern="100" dirty="0">
                <a:latin typeface="Calibri Light" panose="020F0302020204030204" pitchFamily="34" charset="0"/>
                <a:ea typeface="Times New Roman" panose="02020603050405020304" pitchFamily="18" charset="0"/>
                <a:cs typeface="Tunga" panose="020B0502040204020203" pitchFamily="34" charset="0"/>
              </a:rPr>
              <a:t>: </a:t>
            </a:r>
            <a:r>
              <a:rPr lang="en-IN" sz="2400" dirty="0">
                <a:effectLst/>
                <a:latin typeface="Times New Roman" panose="02020603050405020304" pitchFamily="18" charset="0"/>
                <a:ea typeface="Times New Roman" panose="02020603050405020304" pitchFamily="18" charset="0"/>
              </a:rPr>
              <a:t>This is a corporate philanthropy that encourages employees’ morale by rewarding them for active participation in volunteering activities in company-specified non-profit organizations.</a:t>
            </a:r>
          </a:p>
          <a:p>
            <a:pPr lvl="0">
              <a:spcBef>
                <a:spcPts val="200"/>
              </a:spcBef>
              <a:spcAft>
                <a:spcPts val="375"/>
              </a:spcAft>
              <a:buSzPts val="1000"/>
            </a:pPr>
            <a:endParaRPr lang="en-IN" sz="2400" dirty="0">
              <a:solidFill>
                <a:schemeClr val="tx2"/>
              </a:solidFill>
              <a:effectLst/>
              <a:latin typeface="Times New Roman" panose="02020603050405020304" pitchFamily="18" charset="0"/>
              <a:ea typeface="Times New Roman" panose="02020603050405020304" pitchFamily="18" charset="0"/>
            </a:endParaRPr>
          </a:p>
          <a:p>
            <a:pPr>
              <a:spcBef>
                <a:spcPts val="200"/>
              </a:spcBef>
              <a:spcAft>
                <a:spcPts val="375"/>
              </a:spcAft>
            </a:pPr>
            <a:endParaRPr lang="en-IN" sz="1500" dirty="0">
              <a:solidFill>
                <a:schemeClr val="tx2"/>
              </a:solidFill>
              <a:effectLst/>
              <a:latin typeface="Times New Roman" panose="02020603050405020304" pitchFamily="18" charset="0"/>
              <a:ea typeface="Times New Roman" panose="02020603050405020304" pitchFamily="18" charset="0"/>
            </a:endParaRPr>
          </a:p>
          <a:p>
            <a:pPr>
              <a:spcBef>
                <a:spcPts val="200"/>
              </a:spcBef>
              <a:spcAft>
                <a:spcPts val="375"/>
              </a:spcAft>
            </a:pPr>
            <a:endParaRPr lang="en-IN" sz="1500" dirty="0">
              <a:solidFill>
                <a:schemeClr val="tx2"/>
              </a:solidFill>
              <a:effectLst/>
              <a:latin typeface="Times New Roman" panose="02020603050405020304" pitchFamily="18" charset="0"/>
              <a:ea typeface="Calibri" panose="020F0502020204030204" pitchFamily="34" charset="0"/>
            </a:endParaRPr>
          </a:p>
          <a:p>
            <a:pPr>
              <a:spcBef>
                <a:spcPts val="200"/>
              </a:spcBef>
              <a:spcAft>
                <a:spcPts val="375"/>
              </a:spcAft>
            </a:pPr>
            <a:endParaRPr lang="en-IN" sz="1500" dirty="0">
              <a:solidFill>
                <a:schemeClr val="tx2"/>
              </a:solidFill>
            </a:endParaRPr>
          </a:p>
        </p:txBody>
      </p:sp>
      <p:grpSp>
        <p:nvGrpSpPr>
          <p:cNvPr id="31" name="Group 30">
            <a:extLst>
              <a:ext uri="{FF2B5EF4-FFF2-40B4-BE49-F238E27FC236}">
                <a16:creationId xmlns:a16="http://schemas.microsoft.com/office/drawing/2014/main" id="{2A5C9C35-2375-49EB-B99C-17C87D42F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32" name="Freeform: Shape 31">
              <a:extLst>
                <a:ext uri="{FF2B5EF4-FFF2-40B4-BE49-F238E27FC236}">
                  <a16:creationId xmlns:a16="http://schemas.microsoft.com/office/drawing/2014/main" id="{7BE7B8C5-3FC9-47E9-B555-AFCB849A4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32">
              <a:extLst>
                <a:ext uri="{FF2B5EF4-FFF2-40B4-BE49-F238E27FC236}">
                  <a16:creationId xmlns:a16="http://schemas.microsoft.com/office/drawing/2014/main" id="{615B6EFE-6DC2-4A72-AC12-BCCC3638A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Shape 33">
              <a:extLst>
                <a:ext uri="{FF2B5EF4-FFF2-40B4-BE49-F238E27FC236}">
                  <a16:creationId xmlns:a16="http://schemas.microsoft.com/office/drawing/2014/main" id="{AE8C1B65-6799-4DD1-B262-01901DA126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34">
              <a:extLst>
                <a:ext uri="{FF2B5EF4-FFF2-40B4-BE49-F238E27FC236}">
                  <a16:creationId xmlns:a16="http://schemas.microsoft.com/office/drawing/2014/main" id="{03829674-8FAF-4E90-9FB7-C6CE17839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Rectangle 3">
            <a:extLst>
              <a:ext uri="{FF2B5EF4-FFF2-40B4-BE49-F238E27FC236}">
                <a16:creationId xmlns:a16="http://schemas.microsoft.com/office/drawing/2014/main" id="{F500703A-7D9E-4CE3-6BBA-214732E818DA}"/>
              </a:ext>
            </a:extLst>
          </p:cNvPr>
          <p:cNvSpPr/>
          <p:nvPr/>
        </p:nvSpPr>
        <p:spPr>
          <a:xfrm>
            <a:off x="428625" y="352425"/>
            <a:ext cx="11325225" cy="6276975"/>
          </a:xfrm>
          <a:prstGeom prst="rect">
            <a:avLst/>
          </a:prstGeom>
          <a:noFill/>
          <a:ln>
            <a:solidFill>
              <a:srgbClr val="00206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3500993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CF1A36-99F8-92A5-0F57-C066E5AA885C}"/>
              </a:ext>
            </a:extLst>
          </p:cNvPr>
          <p:cNvSpPr>
            <a:spLocks noGrp="1"/>
          </p:cNvSpPr>
          <p:nvPr>
            <p:ph idx="1"/>
          </p:nvPr>
        </p:nvSpPr>
        <p:spPr>
          <a:xfrm>
            <a:off x="359596" y="369870"/>
            <a:ext cx="11404314" cy="6123397"/>
          </a:xfrm>
        </p:spPr>
        <p:txBody>
          <a:bodyPr>
            <a:normAutofit/>
          </a:bodyPr>
          <a:lstStyle/>
          <a:p>
            <a:pPr algn="just">
              <a:lnSpc>
                <a:spcPct val="150000"/>
              </a:lnSpc>
              <a:spcBef>
                <a:spcPts val="200"/>
              </a:spcBef>
              <a:spcAft>
                <a:spcPts val="375"/>
              </a:spcAft>
            </a:pPr>
            <a:r>
              <a:rPr lang="en-IN" sz="2400" b="1" kern="100" dirty="0">
                <a:solidFill>
                  <a:srgbClr val="1F1F1F"/>
                </a:solidFill>
                <a:effectLst/>
                <a:latin typeface="Times New Roman" panose="02020603050405020304" pitchFamily="18" charset="0"/>
                <a:ea typeface="Times New Roman" panose="02020603050405020304" pitchFamily="18" charset="0"/>
                <a:cs typeface="Tunga" panose="020B0502040204020203" pitchFamily="34" charset="0"/>
              </a:rPr>
              <a:t>Donations</a:t>
            </a:r>
            <a:endParaRPr lang="en-IN" sz="2400" b="1" kern="100" dirty="0">
              <a:solidFill>
                <a:srgbClr val="1F3763"/>
              </a:solidFill>
              <a:effectLst/>
              <a:latin typeface="Calibri Light" panose="020F0302020204030204" pitchFamily="34" charset="0"/>
              <a:ea typeface="Times New Roman" panose="02020603050405020304" pitchFamily="18" charset="0"/>
              <a:cs typeface="Tunga" panose="020B0502040204020203" pitchFamily="34" charset="0"/>
            </a:endParaRPr>
          </a:p>
          <a:p>
            <a:pPr marL="0" lvl="0" indent="0" algn="just">
              <a:lnSpc>
                <a:spcPct val="150000"/>
              </a:lnSpc>
              <a:spcBef>
                <a:spcPts val="200"/>
              </a:spcBef>
              <a:spcAft>
                <a:spcPts val="375"/>
              </a:spcAft>
              <a:buSzPts val="1000"/>
              <a:buNone/>
            </a:pPr>
            <a:r>
              <a:rPr lang="en-IN" sz="2400" b="1" i="0" kern="100" dirty="0">
                <a:solidFill>
                  <a:srgbClr val="1F1F1F"/>
                </a:solidFill>
                <a:effectLst/>
                <a:latin typeface="Times New Roman" panose="02020603050405020304" pitchFamily="18" charset="0"/>
                <a:ea typeface="Times New Roman" panose="02020603050405020304" pitchFamily="18" charset="0"/>
                <a:cs typeface="Tunga" panose="020B0502040204020203" pitchFamily="34" charset="0"/>
              </a:rPr>
              <a:t>     1. Financial donations</a:t>
            </a:r>
          </a:p>
          <a:p>
            <a:pPr marL="0" indent="0" algn="just">
              <a:lnSpc>
                <a:spcPct val="150000"/>
              </a:lnSpc>
              <a:spcBef>
                <a:spcPts val="200"/>
              </a:spcBef>
              <a:spcAft>
                <a:spcPts val="375"/>
              </a:spcAft>
              <a:buSzPts val="1000"/>
              <a:buNone/>
            </a:pPr>
            <a:r>
              <a:rPr lang="en-IN" sz="2400" b="1" kern="100" dirty="0">
                <a:solidFill>
                  <a:srgbClr val="1F1F1F"/>
                </a:solidFill>
                <a:latin typeface="Times New Roman" panose="02020603050405020304" pitchFamily="18" charset="0"/>
                <a:ea typeface="Times New Roman" panose="02020603050405020304" pitchFamily="18" charset="0"/>
                <a:cs typeface="Tunga" panose="020B0502040204020203" pitchFamily="34" charset="0"/>
              </a:rPr>
              <a:t>     2. </a:t>
            </a:r>
            <a:r>
              <a:rPr lang="en-IN" sz="2400" b="1" i="0" kern="100" dirty="0">
                <a:solidFill>
                  <a:srgbClr val="1F1F1F"/>
                </a:solidFill>
                <a:effectLst/>
                <a:latin typeface="Times New Roman" panose="02020603050405020304" pitchFamily="18" charset="0"/>
                <a:ea typeface="Times New Roman" panose="02020603050405020304" pitchFamily="18" charset="0"/>
                <a:cs typeface="Tunga" panose="020B0502040204020203" pitchFamily="34" charset="0"/>
              </a:rPr>
              <a:t>In-Kind Donations</a:t>
            </a:r>
            <a:endParaRPr lang="en-IN" sz="2400" b="1" kern="100" dirty="0">
              <a:solidFill>
                <a:srgbClr val="1F1F1F"/>
              </a:solidFill>
              <a:latin typeface="Times New Roman" panose="02020603050405020304" pitchFamily="18" charset="0"/>
              <a:ea typeface="Times New Roman" panose="02020603050405020304" pitchFamily="18" charset="0"/>
              <a:cs typeface="Tunga" panose="020B0502040204020203" pitchFamily="34" charset="0"/>
            </a:endParaRPr>
          </a:p>
          <a:p>
            <a:pPr algn="just">
              <a:lnSpc>
                <a:spcPct val="150000"/>
              </a:lnSpc>
            </a:pPr>
            <a:r>
              <a:rPr lang="en-IN" sz="2400" b="1" kern="100" dirty="0">
                <a:solidFill>
                  <a:srgbClr val="1F1F1F"/>
                </a:solidFill>
                <a:effectLst/>
                <a:latin typeface="Times New Roman" panose="02020603050405020304" pitchFamily="18" charset="0"/>
                <a:ea typeface="Times New Roman" panose="02020603050405020304" pitchFamily="18" charset="0"/>
                <a:cs typeface="Tunga" panose="020B0502040204020203" pitchFamily="34" charset="0"/>
              </a:rPr>
              <a:t>Corporate Scholarships</a:t>
            </a:r>
            <a:r>
              <a:rPr lang="en-IN" sz="2400" b="1" kern="100" dirty="0">
                <a:solidFill>
                  <a:srgbClr val="1F3763"/>
                </a:solidFill>
                <a:latin typeface="Times New Roman" panose="02020603050405020304" pitchFamily="18" charset="0"/>
                <a:ea typeface="Times New Roman" panose="02020603050405020304" pitchFamily="18" charset="0"/>
                <a:cs typeface="Times New Roman" panose="02020603050405020304" pitchFamily="18" charset="0"/>
              </a:rPr>
              <a:t>: </a:t>
            </a:r>
            <a:r>
              <a:rPr lang="en-IN" sz="2400" dirty="0">
                <a:solidFill>
                  <a:srgbClr val="1F1F1F"/>
                </a:solidFill>
                <a:effectLst/>
                <a:latin typeface="Times New Roman" panose="02020603050405020304" pitchFamily="18" charset="0"/>
                <a:ea typeface="Times New Roman" panose="02020603050405020304" pitchFamily="18" charset="0"/>
                <a:cs typeface="Times New Roman" panose="02020603050405020304" pitchFamily="18" charset="0"/>
              </a:rPr>
              <a:t>Corporate scholarships are a type of corporate philanthropy in which companies provides educational grants in the form of financial rewards to academic pursuits in the academic realm which includes students.</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50000"/>
              </a:lnSpc>
              <a:spcBef>
                <a:spcPts val="200"/>
              </a:spcBef>
              <a:spcAft>
                <a:spcPts val="375"/>
              </a:spcAft>
            </a:pPr>
            <a:r>
              <a:rPr lang="en-IN" sz="2400" b="1" kern="100" dirty="0">
                <a:solidFill>
                  <a:srgbClr val="1F1F1F"/>
                </a:solidFill>
                <a:effectLst/>
                <a:latin typeface="Times New Roman" panose="02020603050405020304" pitchFamily="18" charset="0"/>
                <a:ea typeface="Times New Roman" panose="02020603050405020304" pitchFamily="18" charset="0"/>
                <a:cs typeface="Times New Roman" panose="02020603050405020304" pitchFamily="18" charset="0"/>
              </a:rPr>
              <a:t>Cause-related Corporate Philanthropy</a:t>
            </a:r>
            <a:r>
              <a:rPr lang="en-IN" sz="2400" b="1" kern="100" dirty="0">
                <a:solidFill>
                  <a:srgbClr val="1F3763"/>
                </a:solidFill>
                <a:latin typeface="Times New Roman" panose="02020603050405020304" pitchFamily="18" charset="0"/>
                <a:ea typeface="Times New Roman" panose="02020603050405020304" pitchFamily="18" charset="0"/>
                <a:cs typeface="Times New Roman" panose="02020603050405020304" pitchFamily="18" charset="0"/>
              </a:rPr>
              <a:t>: </a:t>
            </a:r>
            <a:r>
              <a:rPr lang="en-IN" sz="2400" dirty="0">
                <a:solidFill>
                  <a:srgbClr val="1F1F1F"/>
                </a:solidFill>
                <a:effectLst/>
                <a:latin typeface="Times New Roman" panose="02020603050405020304" pitchFamily="18" charset="0"/>
                <a:ea typeface="Times New Roman" panose="02020603050405020304" pitchFamily="18" charset="0"/>
                <a:cs typeface="Times New Roman" panose="02020603050405020304" pitchFamily="18" charset="0"/>
              </a:rPr>
              <a:t>When companies contribute a part of their earnings to non-profit, charitable, and social organizations associated with them and which aligns with companies’ objectives and goals to increase visibility in the market as well as contribute to society’s well-being, it is called cause-related marketing.</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dirty="0"/>
          </a:p>
        </p:txBody>
      </p:sp>
      <p:sp>
        <p:nvSpPr>
          <p:cNvPr id="4" name="Rectangle 3">
            <a:extLst>
              <a:ext uri="{FF2B5EF4-FFF2-40B4-BE49-F238E27FC236}">
                <a16:creationId xmlns:a16="http://schemas.microsoft.com/office/drawing/2014/main" id="{D600BEE5-D260-8B4B-0441-6452FB14F0AF}"/>
              </a:ext>
            </a:extLst>
          </p:cNvPr>
          <p:cNvSpPr/>
          <p:nvPr/>
        </p:nvSpPr>
        <p:spPr>
          <a:xfrm>
            <a:off x="428625" y="352425"/>
            <a:ext cx="11325225" cy="6276975"/>
          </a:xfrm>
          <a:prstGeom prst="rect">
            <a:avLst/>
          </a:prstGeom>
          <a:noFill/>
          <a:ln>
            <a:solidFill>
              <a:srgbClr val="00206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25343194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7BF42CA-AD55-48B4-8949-C4DCA60A6A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6AE1D3D-3106-4CB2-AA7C-0C1642AC0F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0A31B6AF-B711-4CDB-8C2B-16E963DDC4C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137" y="0"/>
            <a:ext cx="5646974" cy="6483075"/>
            <a:chOff x="-19221" y="0"/>
            <a:chExt cx="5646974" cy="6483075"/>
          </a:xfrm>
        </p:grpSpPr>
        <p:sp>
          <p:nvSpPr>
            <p:cNvPr id="13" name="Freeform: Shape 12">
              <a:extLst>
                <a:ext uri="{FF2B5EF4-FFF2-40B4-BE49-F238E27FC236}">
                  <a16:creationId xmlns:a16="http://schemas.microsoft.com/office/drawing/2014/main" id="{CA818331-E13C-49C6-B98D-A60AD0E85A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116610"/>
              <a:ext cx="5535001" cy="6250127"/>
            </a:xfrm>
            <a:custGeom>
              <a:avLst/>
              <a:gdLst>
                <a:gd name="connsiteX0" fmla="*/ 2510242 w 5535001"/>
                <a:gd name="connsiteY0" fmla="*/ 174 h 6250127"/>
                <a:gd name="connsiteX1" fmla="*/ 2550551 w 5535001"/>
                <a:gd name="connsiteY1" fmla="*/ 510 h 6250127"/>
                <a:gd name="connsiteX2" fmla="*/ 2629490 w 5535001"/>
                <a:gd name="connsiteY2" fmla="*/ 3757 h 6250127"/>
                <a:gd name="connsiteX3" fmla="*/ 2708317 w 5535001"/>
                <a:gd name="connsiteY3" fmla="*/ 7229 h 6250127"/>
                <a:gd name="connsiteX4" fmla="*/ 2787256 w 5535001"/>
                <a:gd name="connsiteY4" fmla="*/ 14619 h 6250127"/>
                <a:gd name="connsiteX5" fmla="*/ 3408467 w 5535001"/>
                <a:gd name="connsiteY5" fmla="*/ 145064 h 6250127"/>
                <a:gd name="connsiteX6" fmla="*/ 3557723 w 5535001"/>
                <a:gd name="connsiteY6" fmla="*/ 199593 h 6250127"/>
                <a:gd name="connsiteX7" fmla="*/ 3594337 w 5535001"/>
                <a:gd name="connsiteY7" fmla="*/ 214597 h 6250127"/>
                <a:gd name="connsiteX8" fmla="*/ 3630616 w 5535001"/>
                <a:gd name="connsiteY8" fmla="*/ 230385 h 6250127"/>
                <a:gd name="connsiteX9" fmla="*/ 3703172 w 5535001"/>
                <a:gd name="connsiteY9" fmla="*/ 262073 h 6250127"/>
                <a:gd name="connsiteX10" fmla="*/ 3739003 w 5535001"/>
                <a:gd name="connsiteY10" fmla="*/ 278756 h 6250127"/>
                <a:gd name="connsiteX11" fmla="*/ 3756806 w 5535001"/>
                <a:gd name="connsiteY11" fmla="*/ 287266 h 6250127"/>
                <a:gd name="connsiteX12" fmla="*/ 3773714 w 5535001"/>
                <a:gd name="connsiteY12" fmla="*/ 297567 h 6250127"/>
                <a:gd name="connsiteX13" fmla="*/ 3840784 w 5535001"/>
                <a:gd name="connsiteY13" fmla="*/ 339332 h 6250127"/>
                <a:gd name="connsiteX14" fmla="*/ 3873927 w 5535001"/>
                <a:gd name="connsiteY14" fmla="*/ 360495 h 6250127"/>
                <a:gd name="connsiteX15" fmla="*/ 3906062 w 5535001"/>
                <a:gd name="connsiteY15" fmla="*/ 383001 h 6250127"/>
                <a:gd name="connsiteX16" fmla="*/ 3969662 w 5535001"/>
                <a:gd name="connsiteY16" fmla="*/ 428572 h 6250127"/>
                <a:gd name="connsiteX17" fmla="*/ 4423029 w 5535001"/>
                <a:gd name="connsiteY17" fmla="*/ 837600 h 6250127"/>
                <a:gd name="connsiteX18" fmla="*/ 4474647 w 5535001"/>
                <a:gd name="connsiteY18" fmla="*/ 891569 h 6250127"/>
                <a:gd name="connsiteX19" fmla="*/ 4524250 w 5535001"/>
                <a:gd name="connsiteY19" fmla="*/ 946883 h 6250127"/>
                <a:gd name="connsiteX20" fmla="*/ 4573965 w 5535001"/>
                <a:gd name="connsiteY20" fmla="*/ 1001748 h 6250127"/>
                <a:gd name="connsiteX21" fmla="*/ 4622224 w 5535001"/>
                <a:gd name="connsiteY21" fmla="*/ 1057509 h 6250127"/>
                <a:gd name="connsiteX22" fmla="*/ 4717510 w 5535001"/>
                <a:gd name="connsiteY22" fmla="*/ 1169143 h 6250127"/>
                <a:gd name="connsiteX23" fmla="*/ 4764986 w 5535001"/>
                <a:gd name="connsiteY23" fmla="*/ 1224681 h 6250127"/>
                <a:gd name="connsiteX24" fmla="*/ 4813021 w 5535001"/>
                <a:gd name="connsiteY24" fmla="*/ 1279994 h 6250127"/>
                <a:gd name="connsiteX25" fmla="*/ 5001915 w 5535001"/>
                <a:gd name="connsiteY25" fmla="*/ 1506846 h 6250127"/>
                <a:gd name="connsiteX26" fmla="*/ 5170542 w 5535001"/>
                <a:gd name="connsiteY26" fmla="*/ 1751165 h 6250127"/>
                <a:gd name="connsiteX27" fmla="*/ 5428969 w 5535001"/>
                <a:gd name="connsiteY27" fmla="*/ 2293660 h 6250127"/>
                <a:gd name="connsiteX28" fmla="*/ 5534893 w 5535001"/>
                <a:gd name="connsiteY28" fmla="*/ 2899307 h 6250127"/>
                <a:gd name="connsiteX29" fmla="*/ 5508804 w 5535001"/>
                <a:gd name="connsiteY29" fmla="*/ 3211144 h 6250127"/>
                <a:gd name="connsiteX30" fmla="*/ 5426282 w 5535001"/>
                <a:gd name="connsiteY30" fmla="*/ 3513352 h 6250127"/>
                <a:gd name="connsiteX31" fmla="*/ 5248250 w 5535001"/>
                <a:gd name="connsiteY31" fmla="*/ 4030542 h 6250127"/>
                <a:gd name="connsiteX32" fmla="*/ 5208612 w 5535001"/>
                <a:gd name="connsiteY32" fmla="*/ 4161771 h 6250127"/>
                <a:gd name="connsiteX33" fmla="*/ 5170318 w 5535001"/>
                <a:gd name="connsiteY33" fmla="*/ 4294680 h 6250127"/>
                <a:gd name="connsiteX34" fmla="*/ 5132248 w 5535001"/>
                <a:gd name="connsiteY34" fmla="*/ 4430164 h 6250127"/>
                <a:gd name="connsiteX35" fmla="*/ 5112765 w 5535001"/>
                <a:gd name="connsiteY35" fmla="*/ 4498914 h 6250127"/>
                <a:gd name="connsiteX36" fmla="*/ 5091715 w 5535001"/>
                <a:gd name="connsiteY36" fmla="*/ 4569119 h 6250127"/>
                <a:gd name="connsiteX37" fmla="*/ 5068985 w 5535001"/>
                <a:gd name="connsiteY37" fmla="*/ 4640220 h 6250127"/>
                <a:gd name="connsiteX38" fmla="*/ 5043904 w 5535001"/>
                <a:gd name="connsiteY38" fmla="*/ 4712105 h 6250127"/>
                <a:gd name="connsiteX39" fmla="*/ 5015799 w 5535001"/>
                <a:gd name="connsiteY39" fmla="*/ 4784438 h 6250127"/>
                <a:gd name="connsiteX40" fmla="*/ 4982880 w 5535001"/>
                <a:gd name="connsiteY40" fmla="*/ 4856435 h 6250127"/>
                <a:gd name="connsiteX41" fmla="*/ 4817276 w 5535001"/>
                <a:gd name="connsiteY41" fmla="*/ 5125275 h 6250127"/>
                <a:gd name="connsiteX42" fmla="*/ 4618753 w 5535001"/>
                <a:gd name="connsiteY42" fmla="*/ 5355374 h 6250127"/>
                <a:gd name="connsiteX43" fmla="*/ 4566575 w 5535001"/>
                <a:gd name="connsiteY43" fmla="*/ 5408560 h 6250127"/>
                <a:gd name="connsiteX44" fmla="*/ 4513837 w 5535001"/>
                <a:gd name="connsiteY44" fmla="*/ 5461186 h 6250127"/>
                <a:gd name="connsiteX45" fmla="*/ 4459531 w 5535001"/>
                <a:gd name="connsiteY45" fmla="*/ 5512580 h 6250127"/>
                <a:gd name="connsiteX46" fmla="*/ 4404554 w 5535001"/>
                <a:gd name="connsiteY46" fmla="*/ 5563526 h 6250127"/>
                <a:gd name="connsiteX47" fmla="*/ 4348009 w 5535001"/>
                <a:gd name="connsiteY47" fmla="*/ 5613017 h 6250127"/>
                <a:gd name="connsiteX48" fmla="*/ 4290568 w 5535001"/>
                <a:gd name="connsiteY48" fmla="*/ 5661948 h 6250127"/>
                <a:gd name="connsiteX49" fmla="*/ 4276124 w 5535001"/>
                <a:gd name="connsiteY49" fmla="*/ 5674153 h 6250127"/>
                <a:gd name="connsiteX50" fmla="*/ 4261120 w 5535001"/>
                <a:gd name="connsiteY50" fmla="*/ 5685798 h 6250127"/>
                <a:gd name="connsiteX51" fmla="*/ 4231112 w 5535001"/>
                <a:gd name="connsiteY51" fmla="*/ 5708976 h 6250127"/>
                <a:gd name="connsiteX52" fmla="*/ 4170984 w 5535001"/>
                <a:gd name="connsiteY52" fmla="*/ 5755443 h 6250127"/>
                <a:gd name="connsiteX53" fmla="*/ 4046025 w 5535001"/>
                <a:gd name="connsiteY53" fmla="*/ 5843228 h 6250127"/>
                <a:gd name="connsiteX54" fmla="*/ 3915356 w 5535001"/>
                <a:gd name="connsiteY54" fmla="*/ 5923735 h 6250127"/>
                <a:gd name="connsiteX55" fmla="*/ 3346323 w 5535001"/>
                <a:gd name="connsiteY55" fmla="*/ 6158872 h 6250127"/>
                <a:gd name="connsiteX56" fmla="*/ 2743476 w 5535001"/>
                <a:gd name="connsiteY56" fmla="*/ 6247328 h 6250127"/>
                <a:gd name="connsiteX57" fmla="*/ 2668120 w 5535001"/>
                <a:gd name="connsiteY57" fmla="*/ 6249344 h 6250127"/>
                <a:gd name="connsiteX58" fmla="*/ 2630498 w 5535001"/>
                <a:gd name="connsiteY58" fmla="*/ 6250127 h 6250127"/>
                <a:gd name="connsiteX59" fmla="*/ 2592988 w 5535001"/>
                <a:gd name="connsiteY59" fmla="*/ 6249568 h 6250127"/>
                <a:gd name="connsiteX60" fmla="*/ 2518080 w 5535001"/>
                <a:gd name="connsiteY60" fmla="*/ 6247777 h 6250127"/>
                <a:gd name="connsiteX61" fmla="*/ 2442948 w 5535001"/>
                <a:gd name="connsiteY61" fmla="*/ 6244529 h 6250127"/>
                <a:gd name="connsiteX62" fmla="*/ 2291676 w 5535001"/>
                <a:gd name="connsiteY62" fmla="*/ 6232213 h 6250127"/>
                <a:gd name="connsiteX63" fmla="*/ 2141412 w 5535001"/>
                <a:gd name="connsiteY63" fmla="*/ 6212394 h 6250127"/>
                <a:gd name="connsiteX64" fmla="*/ 1992715 w 5535001"/>
                <a:gd name="connsiteY64" fmla="*/ 6184961 h 6250127"/>
                <a:gd name="connsiteX65" fmla="*/ 1845811 w 5535001"/>
                <a:gd name="connsiteY65" fmla="*/ 6151034 h 6250127"/>
                <a:gd name="connsiteX66" fmla="*/ 1701033 w 5535001"/>
                <a:gd name="connsiteY66" fmla="*/ 6110724 h 6250127"/>
                <a:gd name="connsiteX67" fmla="*/ 1629484 w 5535001"/>
                <a:gd name="connsiteY67" fmla="*/ 6088219 h 6250127"/>
                <a:gd name="connsiteX68" fmla="*/ 1558383 w 5535001"/>
                <a:gd name="connsiteY68" fmla="*/ 6064929 h 6250127"/>
                <a:gd name="connsiteX69" fmla="*/ 1011968 w 5535001"/>
                <a:gd name="connsiteY69" fmla="*/ 5828896 h 6250127"/>
                <a:gd name="connsiteX70" fmla="*/ 511237 w 5535001"/>
                <a:gd name="connsiteY70" fmla="*/ 5512356 h 6250127"/>
                <a:gd name="connsiteX71" fmla="*/ 395572 w 5535001"/>
                <a:gd name="connsiteY71" fmla="*/ 5419757 h 6250127"/>
                <a:gd name="connsiteX72" fmla="*/ 284722 w 5535001"/>
                <a:gd name="connsiteY72" fmla="*/ 5321559 h 6250127"/>
                <a:gd name="connsiteX73" fmla="*/ 257513 w 5535001"/>
                <a:gd name="connsiteY73" fmla="*/ 5296477 h 6250127"/>
                <a:gd name="connsiteX74" fmla="*/ 243853 w 5535001"/>
                <a:gd name="connsiteY74" fmla="*/ 5283937 h 6250127"/>
                <a:gd name="connsiteX75" fmla="*/ 230752 w 5535001"/>
                <a:gd name="connsiteY75" fmla="*/ 5270836 h 6250127"/>
                <a:gd name="connsiteX76" fmla="*/ 178574 w 5535001"/>
                <a:gd name="connsiteY76" fmla="*/ 5218322 h 6250127"/>
                <a:gd name="connsiteX77" fmla="*/ 126508 w 5535001"/>
                <a:gd name="connsiteY77" fmla="*/ 5165584 h 6250127"/>
                <a:gd name="connsiteX78" fmla="*/ 76345 w 5535001"/>
                <a:gd name="connsiteY78" fmla="*/ 5111167 h 6250127"/>
                <a:gd name="connsiteX79" fmla="*/ 26407 w 5535001"/>
                <a:gd name="connsiteY79" fmla="*/ 5056413 h 6250127"/>
                <a:gd name="connsiteX80" fmla="*/ 0 w 5535001"/>
                <a:gd name="connsiteY80" fmla="*/ 5024776 h 6250127"/>
                <a:gd name="connsiteX81" fmla="*/ 0 w 5535001"/>
                <a:gd name="connsiteY81" fmla="*/ 4492798 h 6250127"/>
                <a:gd name="connsiteX82" fmla="*/ 28534 w 5535001"/>
                <a:gd name="connsiteY82" fmla="*/ 4537879 h 6250127"/>
                <a:gd name="connsiteX83" fmla="*/ 66604 w 5535001"/>
                <a:gd name="connsiteY83" fmla="*/ 4592745 h 6250127"/>
                <a:gd name="connsiteX84" fmla="*/ 104114 w 5535001"/>
                <a:gd name="connsiteY84" fmla="*/ 4647834 h 6250127"/>
                <a:gd name="connsiteX85" fmla="*/ 143751 w 5535001"/>
                <a:gd name="connsiteY85" fmla="*/ 4701580 h 6250127"/>
                <a:gd name="connsiteX86" fmla="*/ 182717 w 5535001"/>
                <a:gd name="connsiteY86" fmla="*/ 4755773 h 6250127"/>
                <a:gd name="connsiteX87" fmla="*/ 223810 w 5535001"/>
                <a:gd name="connsiteY87" fmla="*/ 4808399 h 6250127"/>
                <a:gd name="connsiteX88" fmla="*/ 264679 w 5535001"/>
                <a:gd name="connsiteY88" fmla="*/ 4861249 h 6250127"/>
                <a:gd name="connsiteX89" fmla="*/ 307788 w 5535001"/>
                <a:gd name="connsiteY89" fmla="*/ 4912420 h 6250127"/>
                <a:gd name="connsiteX90" fmla="*/ 351232 w 5535001"/>
                <a:gd name="connsiteY90" fmla="*/ 4963254 h 6250127"/>
                <a:gd name="connsiteX91" fmla="*/ 397028 w 5535001"/>
                <a:gd name="connsiteY91" fmla="*/ 5012185 h 6250127"/>
                <a:gd name="connsiteX92" fmla="*/ 443496 w 5535001"/>
                <a:gd name="connsiteY92" fmla="*/ 5060444 h 6250127"/>
                <a:gd name="connsiteX93" fmla="*/ 455140 w 5535001"/>
                <a:gd name="connsiteY93" fmla="*/ 5072537 h 6250127"/>
                <a:gd name="connsiteX94" fmla="*/ 467345 w 5535001"/>
                <a:gd name="connsiteY94" fmla="*/ 5083958 h 6250127"/>
                <a:gd name="connsiteX95" fmla="*/ 491755 w 5535001"/>
                <a:gd name="connsiteY95" fmla="*/ 5106912 h 6250127"/>
                <a:gd name="connsiteX96" fmla="*/ 540686 w 5535001"/>
                <a:gd name="connsiteY96" fmla="*/ 5152819 h 6250127"/>
                <a:gd name="connsiteX97" fmla="*/ 552890 w 5535001"/>
                <a:gd name="connsiteY97" fmla="*/ 5164353 h 6250127"/>
                <a:gd name="connsiteX98" fmla="*/ 565655 w 5535001"/>
                <a:gd name="connsiteY98" fmla="*/ 5175214 h 6250127"/>
                <a:gd name="connsiteX99" fmla="*/ 591072 w 5535001"/>
                <a:gd name="connsiteY99" fmla="*/ 5197048 h 6250127"/>
                <a:gd name="connsiteX100" fmla="*/ 694197 w 5535001"/>
                <a:gd name="connsiteY100" fmla="*/ 5283041 h 6250127"/>
                <a:gd name="connsiteX101" fmla="*/ 1146221 w 5535001"/>
                <a:gd name="connsiteY101" fmla="*/ 5573716 h 6250127"/>
                <a:gd name="connsiteX102" fmla="*/ 1650982 w 5535001"/>
                <a:gd name="connsiteY102" fmla="*/ 5758130 h 6250127"/>
                <a:gd name="connsiteX103" fmla="*/ 1716485 w 5535001"/>
                <a:gd name="connsiteY103" fmla="*/ 5772798 h 6250127"/>
                <a:gd name="connsiteX104" fmla="*/ 1782211 w 5535001"/>
                <a:gd name="connsiteY104" fmla="*/ 5786235 h 6250127"/>
                <a:gd name="connsiteX105" fmla="*/ 1848386 w 5535001"/>
                <a:gd name="connsiteY105" fmla="*/ 5796984 h 6250127"/>
                <a:gd name="connsiteX106" fmla="*/ 1881417 w 5535001"/>
                <a:gd name="connsiteY106" fmla="*/ 5802359 h 6250127"/>
                <a:gd name="connsiteX107" fmla="*/ 1914560 w 5535001"/>
                <a:gd name="connsiteY107" fmla="*/ 5807061 h 6250127"/>
                <a:gd name="connsiteX108" fmla="*/ 2047469 w 5535001"/>
                <a:gd name="connsiteY108" fmla="*/ 5821282 h 6250127"/>
                <a:gd name="connsiteX109" fmla="*/ 2180601 w 5535001"/>
                <a:gd name="connsiteY109" fmla="*/ 5828896 h 6250127"/>
                <a:gd name="connsiteX110" fmla="*/ 2313622 w 5535001"/>
                <a:gd name="connsiteY110" fmla="*/ 5830463 h 6250127"/>
                <a:gd name="connsiteX111" fmla="*/ 2380021 w 5535001"/>
                <a:gd name="connsiteY111" fmla="*/ 5828448 h 6250127"/>
                <a:gd name="connsiteX112" fmla="*/ 2446195 w 5535001"/>
                <a:gd name="connsiteY112" fmla="*/ 5826433 h 6250127"/>
                <a:gd name="connsiteX113" fmla="*/ 2513041 w 5535001"/>
                <a:gd name="connsiteY113" fmla="*/ 5822737 h 6250127"/>
                <a:gd name="connsiteX114" fmla="*/ 2580111 w 5535001"/>
                <a:gd name="connsiteY114" fmla="*/ 5818258 h 6250127"/>
                <a:gd name="connsiteX115" fmla="*/ 2613590 w 5535001"/>
                <a:gd name="connsiteY115" fmla="*/ 5816355 h 6250127"/>
                <a:gd name="connsiteX116" fmla="*/ 2646845 w 5535001"/>
                <a:gd name="connsiteY116" fmla="*/ 5813108 h 6250127"/>
                <a:gd name="connsiteX117" fmla="*/ 2713244 w 5535001"/>
                <a:gd name="connsiteY117" fmla="*/ 5806838 h 6250127"/>
                <a:gd name="connsiteX118" fmla="*/ 3230882 w 5535001"/>
                <a:gd name="connsiteY118" fmla="*/ 5721292 h 6250127"/>
                <a:gd name="connsiteX119" fmla="*/ 3720416 w 5535001"/>
                <a:gd name="connsiteY119" fmla="*/ 5556472 h 6250127"/>
                <a:gd name="connsiteX120" fmla="*/ 3837425 w 5535001"/>
                <a:gd name="connsiteY120" fmla="*/ 5499927 h 6250127"/>
                <a:gd name="connsiteX121" fmla="*/ 3951634 w 5535001"/>
                <a:gd name="connsiteY121" fmla="*/ 5436552 h 6250127"/>
                <a:gd name="connsiteX122" fmla="*/ 4007284 w 5535001"/>
                <a:gd name="connsiteY122" fmla="*/ 5401841 h 6250127"/>
                <a:gd name="connsiteX123" fmla="*/ 4035164 w 5535001"/>
                <a:gd name="connsiteY123" fmla="*/ 5384374 h 6250127"/>
                <a:gd name="connsiteX124" fmla="*/ 4049049 w 5535001"/>
                <a:gd name="connsiteY124" fmla="*/ 5375640 h 6250127"/>
                <a:gd name="connsiteX125" fmla="*/ 4062485 w 5535001"/>
                <a:gd name="connsiteY125" fmla="*/ 5366123 h 6250127"/>
                <a:gd name="connsiteX126" fmla="*/ 4116567 w 5535001"/>
                <a:gd name="connsiteY126" fmla="*/ 5328277 h 6250127"/>
                <a:gd name="connsiteX127" fmla="*/ 4169976 w 5535001"/>
                <a:gd name="connsiteY127" fmla="*/ 5289199 h 6250127"/>
                <a:gd name="connsiteX128" fmla="*/ 4222042 w 5535001"/>
                <a:gd name="connsiteY128" fmla="*/ 5247994 h 6250127"/>
                <a:gd name="connsiteX129" fmla="*/ 4273213 w 5535001"/>
                <a:gd name="connsiteY129" fmla="*/ 5205558 h 6250127"/>
                <a:gd name="connsiteX130" fmla="*/ 4323151 w 5535001"/>
                <a:gd name="connsiteY130" fmla="*/ 5161329 h 6250127"/>
                <a:gd name="connsiteX131" fmla="*/ 4371971 w 5535001"/>
                <a:gd name="connsiteY131" fmla="*/ 5116093 h 6250127"/>
                <a:gd name="connsiteX132" fmla="*/ 4546868 w 5535001"/>
                <a:gd name="connsiteY132" fmla="*/ 4924400 h 6250127"/>
                <a:gd name="connsiteX133" fmla="*/ 4675634 w 5535001"/>
                <a:gd name="connsiteY133" fmla="*/ 4715352 h 6250127"/>
                <a:gd name="connsiteX134" fmla="*/ 4700155 w 5535001"/>
                <a:gd name="connsiteY134" fmla="*/ 4659255 h 6250127"/>
                <a:gd name="connsiteX135" fmla="*/ 4721206 w 5535001"/>
                <a:gd name="connsiteY135" fmla="*/ 4600135 h 6250127"/>
                <a:gd name="connsiteX136" fmla="*/ 4740465 w 5535001"/>
                <a:gd name="connsiteY136" fmla="*/ 4538887 h 6250127"/>
                <a:gd name="connsiteX137" fmla="*/ 4758492 w 5535001"/>
                <a:gd name="connsiteY137" fmla="*/ 4475848 h 6250127"/>
                <a:gd name="connsiteX138" fmla="*/ 4891288 w 5535001"/>
                <a:gd name="connsiteY138" fmla="*/ 3930329 h 6250127"/>
                <a:gd name="connsiteX139" fmla="*/ 5066298 w 5535001"/>
                <a:gd name="connsiteY139" fmla="*/ 3382235 h 6250127"/>
                <a:gd name="connsiteX140" fmla="*/ 5156994 w 5535001"/>
                <a:gd name="connsiteY140" fmla="*/ 2898635 h 6250127"/>
                <a:gd name="connsiteX141" fmla="*/ 5083317 w 5535001"/>
                <a:gd name="connsiteY141" fmla="*/ 2402047 h 6250127"/>
                <a:gd name="connsiteX142" fmla="*/ 4871022 w 5535001"/>
                <a:gd name="connsiteY142" fmla="*/ 1926958 h 6250127"/>
                <a:gd name="connsiteX143" fmla="*/ 4727028 w 5535001"/>
                <a:gd name="connsiteY143" fmla="*/ 1703577 h 6250127"/>
                <a:gd name="connsiteX144" fmla="*/ 4563776 w 5535001"/>
                <a:gd name="connsiteY144" fmla="*/ 1490834 h 6250127"/>
                <a:gd name="connsiteX145" fmla="*/ 4370291 w 5535001"/>
                <a:gd name="connsiteY145" fmla="*/ 1300596 h 6250127"/>
                <a:gd name="connsiteX146" fmla="*/ 4266046 w 5535001"/>
                <a:gd name="connsiteY146" fmla="*/ 1214491 h 6250127"/>
                <a:gd name="connsiteX147" fmla="*/ 4212973 w 5535001"/>
                <a:gd name="connsiteY147" fmla="*/ 1173062 h 6250127"/>
                <a:gd name="connsiteX148" fmla="*/ 4157995 w 5535001"/>
                <a:gd name="connsiteY148" fmla="*/ 1134545 h 6250127"/>
                <a:gd name="connsiteX149" fmla="*/ 3697126 w 5535001"/>
                <a:gd name="connsiteY149" fmla="*/ 881044 h 6250127"/>
                <a:gd name="connsiteX150" fmla="*/ 3637670 w 5535001"/>
                <a:gd name="connsiteY150" fmla="*/ 856747 h 6250127"/>
                <a:gd name="connsiteX151" fmla="*/ 3608222 w 5535001"/>
                <a:gd name="connsiteY151" fmla="*/ 844318 h 6250127"/>
                <a:gd name="connsiteX152" fmla="*/ 3578214 w 5535001"/>
                <a:gd name="connsiteY152" fmla="*/ 833457 h 6250127"/>
                <a:gd name="connsiteX153" fmla="*/ 3518309 w 5535001"/>
                <a:gd name="connsiteY153" fmla="*/ 812294 h 6250127"/>
                <a:gd name="connsiteX154" fmla="*/ 3503417 w 5535001"/>
                <a:gd name="connsiteY154" fmla="*/ 806920 h 6250127"/>
                <a:gd name="connsiteX155" fmla="*/ 3489533 w 5535001"/>
                <a:gd name="connsiteY155" fmla="*/ 799642 h 6250127"/>
                <a:gd name="connsiteX156" fmla="*/ 3460869 w 5535001"/>
                <a:gd name="connsiteY156" fmla="*/ 787101 h 6250127"/>
                <a:gd name="connsiteX157" fmla="*/ 3402980 w 5535001"/>
                <a:gd name="connsiteY157" fmla="*/ 763475 h 6250127"/>
                <a:gd name="connsiteX158" fmla="*/ 3374092 w 5535001"/>
                <a:gd name="connsiteY158" fmla="*/ 751606 h 6250127"/>
                <a:gd name="connsiteX159" fmla="*/ 3344980 w 5535001"/>
                <a:gd name="connsiteY159" fmla="*/ 740409 h 6250127"/>
                <a:gd name="connsiteX160" fmla="*/ 3226627 w 5535001"/>
                <a:gd name="connsiteY160" fmla="*/ 700772 h 6250127"/>
                <a:gd name="connsiteX161" fmla="*/ 2735750 w 5535001"/>
                <a:gd name="connsiteY161" fmla="*/ 614667 h 6250127"/>
                <a:gd name="connsiteX162" fmla="*/ 2673158 w 5535001"/>
                <a:gd name="connsiteY162" fmla="*/ 610412 h 6250127"/>
                <a:gd name="connsiteX163" fmla="*/ 2610119 w 5535001"/>
                <a:gd name="connsiteY163" fmla="*/ 609628 h 6250127"/>
                <a:gd name="connsiteX164" fmla="*/ 2547080 w 5535001"/>
                <a:gd name="connsiteY164" fmla="*/ 608620 h 6250127"/>
                <a:gd name="connsiteX165" fmla="*/ 2516400 w 5535001"/>
                <a:gd name="connsiteY165" fmla="*/ 608844 h 6250127"/>
                <a:gd name="connsiteX166" fmla="*/ 2486280 w 5535001"/>
                <a:gd name="connsiteY166" fmla="*/ 609740 h 6250127"/>
                <a:gd name="connsiteX167" fmla="*/ 2426376 w 5535001"/>
                <a:gd name="connsiteY167" fmla="*/ 613099 h 6250127"/>
                <a:gd name="connsiteX168" fmla="*/ 2366920 w 5535001"/>
                <a:gd name="connsiteY168" fmla="*/ 618474 h 6250127"/>
                <a:gd name="connsiteX169" fmla="*/ 2337248 w 5535001"/>
                <a:gd name="connsiteY169" fmla="*/ 621497 h 6250127"/>
                <a:gd name="connsiteX170" fmla="*/ 2307800 w 5535001"/>
                <a:gd name="connsiteY170" fmla="*/ 625528 h 6250127"/>
                <a:gd name="connsiteX171" fmla="*/ 2278351 w 5535001"/>
                <a:gd name="connsiteY171" fmla="*/ 629559 h 6250127"/>
                <a:gd name="connsiteX172" fmla="*/ 2249127 w 5535001"/>
                <a:gd name="connsiteY172" fmla="*/ 634710 h 6250127"/>
                <a:gd name="connsiteX173" fmla="*/ 1796096 w 5535001"/>
                <a:gd name="connsiteY173" fmla="*/ 781726 h 6250127"/>
                <a:gd name="connsiteX174" fmla="*/ 1370833 w 5535001"/>
                <a:gd name="connsiteY174" fmla="*/ 1048663 h 6250127"/>
                <a:gd name="connsiteX175" fmla="*/ 959790 w 5535001"/>
                <a:gd name="connsiteY175" fmla="*/ 1390844 h 6250127"/>
                <a:gd name="connsiteX176" fmla="*/ 749062 w 5535001"/>
                <a:gd name="connsiteY176" fmla="*/ 1577611 h 6250127"/>
                <a:gd name="connsiteX177" fmla="*/ 524786 w 5535001"/>
                <a:gd name="connsiteY177" fmla="*/ 1763145 h 6250127"/>
                <a:gd name="connsiteX178" fmla="*/ 84071 w 5535001"/>
                <a:gd name="connsiteY178" fmla="*/ 2098496 h 6250127"/>
                <a:gd name="connsiteX179" fmla="*/ 0 w 5535001"/>
                <a:gd name="connsiteY179" fmla="*/ 2168094 h 6250127"/>
                <a:gd name="connsiteX180" fmla="*/ 0 w 5535001"/>
                <a:gd name="connsiteY180" fmla="*/ 1576676 h 6250127"/>
                <a:gd name="connsiteX181" fmla="*/ 174655 w 5535001"/>
                <a:gd name="connsiteY181" fmla="*/ 1387597 h 6250127"/>
                <a:gd name="connsiteX182" fmla="*/ 363661 w 5535001"/>
                <a:gd name="connsiteY182" fmla="*/ 1188626 h 6250127"/>
                <a:gd name="connsiteX183" fmla="*/ 458052 w 5535001"/>
                <a:gd name="connsiteY183" fmla="*/ 1086397 h 6250127"/>
                <a:gd name="connsiteX184" fmla="*/ 557257 w 5535001"/>
                <a:gd name="connsiteY184" fmla="*/ 981593 h 6250127"/>
                <a:gd name="connsiteX185" fmla="*/ 994165 w 5535001"/>
                <a:gd name="connsiteY185" fmla="*/ 578389 h 6250127"/>
                <a:gd name="connsiteX186" fmla="*/ 1520873 w 5535001"/>
                <a:gd name="connsiteY186" fmla="*/ 237215 h 6250127"/>
                <a:gd name="connsiteX187" fmla="*/ 2141748 w 5535001"/>
                <a:gd name="connsiteY187" fmla="*/ 31190 h 6250127"/>
                <a:gd name="connsiteX188" fmla="*/ 2182505 w 5535001"/>
                <a:gd name="connsiteY188" fmla="*/ 24360 h 6250127"/>
                <a:gd name="connsiteX189" fmla="*/ 2223374 w 5535001"/>
                <a:gd name="connsiteY189" fmla="*/ 18873 h 6250127"/>
                <a:gd name="connsiteX190" fmla="*/ 2264355 w 5535001"/>
                <a:gd name="connsiteY190" fmla="*/ 13611 h 6250127"/>
                <a:gd name="connsiteX191" fmla="*/ 2305336 w 5535001"/>
                <a:gd name="connsiteY191" fmla="*/ 9580 h 6250127"/>
                <a:gd name="connsiteX192" fmla="*/ 2387410 w 5535001"/>
                <a:gd name="connsiteY192" fmla="*/ 3645 h 6250127"/>
                <a:gd name="connsiteX193" fmla="*/ 2469373 w 5535001"/>
                <a:gd name="connsiteY193" fmla="*/ 622 h 6250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5535001" h="6250127">
                  <a:moveTo>
                    <a:pt x="2510242" y="174"/>
                  </a:moveTo>
                  <a:cubicBezTo>
                    <a:pt x="2523902" y="-50"/>
                    <a:pt x="2537562" y="-162"/>
                    <a:pt x="2550551" y="510"/>
                  </a:cubicBezTo>
                  <a:lnTo>
                    <a:pt x="2629490" y="3757"/>
                  </a:lnTo>
                  <a:lnTo>
                    <a:pt x="2708317" y="7229"/>
                  </a:lnTo>
                  <a:cubicBezTo>
                    <a:pt x="2734630" y="8572"/>
                    <a:pt x="2760943" y="12155"/>
                    <a:pt x="2787256" y="14619"/>
                  </a:cubicBezTo>
                  <a:cubicBezTo>
                    <a:pt x="2997536" y="34885"/>
                    <a:pt x="3207144" y="77994"/>
                    <a:pt x="3408467" y="145064"/>
                  </a:cubicBezTo>
                  <a:lnTo>
                    <a:pt x="3557723" y="199593"/>
                  </a:lnTo>
                  <a:cubicBezTo>
                    <a:pt x="3570264" y="203848"/>
                    <a:pt x="3582245" y="209447"/>
                    <a:pt x="3594337" y="214597"/>
                  </a:cubicBezTo>
                  <a:lnTo>
                    <a:pt x="3630616" y="230385"/>
                  </a:lnTo>
                  <a:lnTo>
                    <a:pt x="3703172" y="262073"/>
                  </a:lnTo>
                  <a:cubicBezTo>
                    <a:pt x="3715265" y="267335"/>
                    <a:pt x="3727358" y="272598"/>
                    <a:pt x="3739003" y="278756"/>
                  </a:cubicBezTo>
                  <a:cubicBezTo>
                    <a:pt x="3744937" y="281667"/>
                    <a:pt x="3750984" y="284131"/>
                    <a:pt x="3756806" y="287266"/>
                  </a:cubicBezTo>
                  <a:cubicBezTo>
                    <a:pt x="3762517" y="290513"/>
                    <a:pt x="3768115" y="294208"/>
                    <a:pt x="3773714" y="297567"/>
                  </a:cubicBezTo>
                  <a:lnTo>
                    <a:pt x="3840784" y="339332"/>
                  </a:lnTo>
                  <a:cubicBezTo>
                    <a:pt x="3851869" y="346386"/>
                    <a:pt x="3863290" y="352881"/>
                    <a:pt x="3873927" y="360495"/>
                  </a:cubicBezTo>
                  <a:lnTo>
                    <a:pt x="3906062" y="383001"/>
                  </a:lnTo>
                  <a:lnTo>
                    <a:pt x="3969662" y="428572"/>
                  </a:lnTo>
                  <a:cubicBezTo>
                    <a:pt x="4137281" y="552188"/>
                    <a:pt x="4285417" y="693270"/>
                    <a:pt x="4423029" y="837600"/>
                  </a:cubicBezTo>
                  <a:cubicBezTo>
                    <a:pt x="4440160" y="855739"/>
                    <a:pt x="4457404" y="873766"/>
                    <a:pt x="4474647" y="891569"/>
                  </a:cubicBezTo>
                  <a:lnTo>
                    <a:pt x="4524250" y="946883"/>
                  </a:lnTo>
                  <a:lnTo>
                    <a:pt x="4573965" y="1001748"/>
                  </a:lnTo>
                  <a:cubicBezTo>
                    <a:pt x="4590760" y="1019887"/>
                    <a:pt x="4605988" y="1039146"/>
                    <a:pt x="4622224" y="1057509"/>
                  </a:cubicBezTo>
                  <a:cubicBezTo>
                    <a:pt x="4653911" y="1094907"/>
                    <a:pt x="4686831" y="1131409"/>
                    <a:pt x="4717510" y="1169143"/>
                  </a:cubicBezTo>
                  <a:cubicBezTo>
                    <a:pt x="4733186" y="1187730"/>
                    <a:pt x="4748862" y="1206430"/>
                    <a:pt x="4764986" y="1224681"/>
                  </a:cubicBezTo>
                  <a:cubicBezTo>
                    <a:pt x="4780886" y="1243044"/>
                    <a:pt x="4797233" y="1261071"/>
                    <a:pt x="4813021" y="1279994"/>
                  </a:cubicBezTo>
                  <a:cubicBezTo>
                    <a:pt x="4877292" y="1354230"/>
                    <a:pt x="4941339" y="1428914"/>
                    <a:pt x="5001915" y="1506846"/>
                  </a:cubicBezTo>
                  <a:cubicBezTo>
                    <a:pt x="5062603" y="1584665"/>
                    <a:pt x="5118252" y="1666739"/>
                    <a:pt x="5170542" y="1751165"/>
                  </a:cubicBezTo>
                  <a:cubicBezTo>
                    <a:pt x="5274898" y="1920240"/>
                    <a:pt x="5363579" y="2101295"/>
                    <a:pt x="5428969" y="2293660"/>
                  </a:cubicBezTo>
                  <a:cubicBezTo>
                    <a:pt x="5494136" y="2485801"/>
                    <a:pt x="5533102" y="2690819"/>
                    <a:pt x="5534893" y="2899307"/>
                  </a:cubicBezTo>
                  <a:cubicBezTo>
                    <a:pt x="5536124" y="3003439"/>
                    <a:pt x="5526831" y="3108132"/>
                    <a:pt x="5508804" y="3211144"/>
                  </a:cubicBezTo>
                  <a:cubicBezTo>
                    <a:pt x="5490441" y="3314157"/>
                    <a:pt x="5462336" y="3415490"/>
                    <a:pt x="5426282" y="3513352"/>
                  </a:cubicBezTo>
                  <a:cubicBezTo>
                    <a:pt x="5363355" y="3684890"/>
                    <a:pt x="5302219" y="3856428"/>
                    <a:pt x="5248250" y="4030542"/>
                  </a:cubicBezTo>
                  <a:lnTo>
                    <a:pt x="5208612" y="4161771"/>
                  </a:lnTo>
                  <a:lnTo>
                    <a:pt x="5170318" y="4294680"/>
                  </a:lnTo>
                  <a:lnTo>
                    <a:pt x="5132248" y="4430164"/>
                  </a:lnTo>
                  <a:lnTo>
                    <a:pt x="5112765" y="4498914"/>
                  </a:lnTo>
                  <a:lnTo>
                    <a:pt x="5091715" y="4569119"/>
                  </a:lnTo>
                  <a:cubicBezTo>
                    <a:pt x="5085221" y="4592297"/>
                    <a:pt x="5076823" y="4616482"/>
                    <a:pt x="5068985" y="4640220"/>
                  </a:cubicBezTo>
                  <a:cubicBezTo>
                    <a:pt x="5060699" y="4664182"/>
                    <a:pt x="5053981" y="4687807"/>
                    <a:pt x="5043904" y="4712105"/>
                  </a:cubicBezTo>
                  <a:lnTo>
                    <a:pt x="5015799" y="4784438"/>
                  </a:lnTo>
                  <a:cubicBezTo>
                    <a:pt x="5005274" y="4808511"/>
                    <a:pt x="4993965" y="4832473"/>
                    <a:pt x="4982880" y="4856435"/>
                  </a:cubicBezTo>
                  <a:cubicBezTo>
                    <a:pt x="4936524" y="4951273"/>
                    <a:pt x="4881099" y="5044096"/>
                    <a:pt x="4817276" y="5125275"/>
                  </a:cubicBezTo>
                  <a:cubicBezTo>
                    <a:pt x="4755244" y="5208805"/>
                    <a:pt x="4686943" y="5282817"/>
                    <a:pt x="4618753" y="5355374"/>
                  </a:cubicBezTo>
                  <a:cubicBezTo>
                    <a:pt x="4602069" y="5374073"/>
                    <a:pt x="4584154" y="5391092"/>
                    <a:pt x="4566575" y="5408560"/>
                  </a:cubicBezTo>
                  <a:lnTo>
                    <a:pt x="4513837" y="5461186"/>
                  </a:lnTo>
                  <a:cubicBezTo>
                    <a:pt x="4496593" y="5479101"/>
                    <a:pt x="4477894" y="5495560"/>
                    <a:pt x="4459531" y="5512580"/>
                  </a:cubicBezTo>
                  <a:lnTo>
                    <a:pt x="4404554" y="5563526"/>
                  </a:lnTo>
                  <a:cubicBezTo>
                    <a:pt x="4386527" y="5580770"/>
                    <a:pt x="4366932" y="5596670"/>
                    <a:pt x="4348009" y="5613017"/>
                  </a:cubicBezTo>
                  <a:lnTo>
                    <a:pt x="4290568" y="5661948"/>
                  </a:lnTo>
                  <a:lnTo>
                    <a:pt x="4276124" y="5674153"/>
                  </a:lnTo>
                  <a:lnTo>
                    <a:pt x="4261120" y="5685798"/>
                  </a:lnTo>
                  <a:lnTo>
                    <a:pt x="4231112" y="5708976"/>
                  </a:lnTo>
                  <a:lnTo>
                    <a:pt x="4170984" y="5755443"/>
                  </a:lnTo>
                  <a:cubicBezTo>
                    <a:pt x="4130227" y="5785563"/>
                    <a:pt x="4087790" y="5813892"/>
                    <a:pt x="4046025" y="5843228"/>
                  </a:cubicBezTo>
                  <a:cubicBezTo>
                    <a:pt x="4002917" y="5870437"/>
                    <a:pt x="3959248" y="5897309"/>
                    <a:pt x="3915356" y="5923735"/>
                  </a:cubicBezTo>
                  <a:cubicBezTo>
                    <a:pt x="3737659" y="6026299"/>
                    <a:pt x="3544847" y="6106022"/>
                    <a:pt x="3346323" y="6158872"/>
                  </a:cubicBezTo>
                  <a:cubicBezTo>
                    <a:pt x="3147800" y="6211946"/>
                    <a:pt x="2944462" y="6239714"/>
                    <a:pt x="2743476" y="6247328"/>
                  </a:cubicBezTo>
                  <a:lnTo>
                    <a:pt x="2668120" y="6249344"/>
                  </a:lnTo>
                  <a:lnTo>
                    <a:pt x="2630498" y="6250127"/>
                  </a:lnTo>
                  <a:lnTo>
                    <a:pt x="2592988" y="6249568"/>
                  </a:lnTo>
                  <a:lnTo>
                    <a:pt x="2518080" y="6247777"/>
                  </a:lnTo>
                  <a:cubicBezTo>
                    <a:pt x="2493110" y="6247105"/>
                    <a:pt x="2468365" y="6246881"/>
                    <a:pt x="2442948" y="6244529"/>
                  </a:cubicBezTo>
                  <a:cubicBezTo>
                    <a:pt x="2392337" y="6240722"/>
                    <a:pt x="2341950" y="6237699"/>
                    <a:pt x="2291676" y="6232213"/>
                  </a:cubicBezTo>
                  <a:lnTo>
                    <a:pt x="2141412" y="6212394"/>
                  </a:lnTo>
                  <a:lnTo>
                    <a:pt x="1992715" y="6184961"/>
                  </a:lnTo>
                  <a:cubicBezTo>
                    <a:pt x="1943561" y="6173988"/>
                    <a:pt x="1894630" y="6162231"/>
                    <a:pt x="1845811" y="6151034"/>
                  </a:cubicBezTo>
                  <a:cubicBezTo>
                    <a:pt x="1797215" y="6138829"/>
                    <a:pt x="1749180" y="6123938"/>
                    <a:pt x="1701033" y="6110724"/>
                  </a:cubicBezTo>
                  <a:cubicBezTo>
                    <a:pt x="1676847" y="6104566"/>
                    <a:pt x="1653334" y="6095833"/>
                    <a:pt x="1629484" y="6088219"/>
                  </a:cubicBezTo>
                  <a:lnTo>
                    <a:pt x="1558383" y="6064929"/>
                  </a:lnTo>
                  <a:cubicBezTo>
                    <a:pt x="1369713" y="6000210"/>
                    <a:pt x="1186978" y="5921271"/>
                    <a:pt x="1011968" y="5828896"/>
                  </a:cubicBezTo>
                  <a:cubicBezTo>
                    <a:pt x="837071" y="5736408"/>
                    <a:pt x="668556" y="5631940"/>
                    <a:pt x="511237" y="5512356"/>
                  </a:cubicBezTo>
                  <a:cubicBezTo>
                    <a:pt x="471152" y="5483468"/>
                    <a:pt x="433642" y="5451220"/>
                    <a:pt x="395572" y="5419757"/>
                  </a:cubicBezTo>
                  <a:cubicBezTo>
                    <a:pt x="356831" y="5388965"/>
                    <a:pt x="321112" y="5354926"/>
                    <a:pt x="284722" y="5321559"/>
                  </a:cubicBezTo>
                  <a:lnTo>
                    <a:pt x="257513" y="5296477"/>
                  </a:lnTo>
                  <a:lnTo>
                    <a:pt x="243853" y="5283937"/>
                  </a:lnTo>
                  <a:lnTo>
                    <a:pt x="230752" y="5270836"/>
                  </a:lnTo>
                  <a:lnTo>
                    <a:pt x="178574" y="5218322"/>
                  </a:lnTo>
                  <a:cubicBezTo>
                    <a:pt x="161331" y="5200631"/>
                    <a:pt x="143191" y="5183948"/>
                    <a:pt x="126508" y="5165584"/>
                  </a:cubicBezTo>
                  <a:lnTo>
                    <a:pt x="76345" y="5111167"/>
                  </a:lnTo>
                  <a:cubicBezTo>
                    <a:pt x="59774" y="5092916"/>
                    <a:pt x="42530" y="5075112"/>
                    <a:pt x="26407" y="5056413"/>
                  </a:cubicBezTo>
                  <a:lnTo>
                    <a:pt x="0" y="5024776"/>
                  </a:lnTo>
                  <a:lnTo>
                    <a:pt x="0" y="4492798"/>
                  </a:lnTo>
                  <a:lnTo>
                    <a:pt x="28534" y="4537879"/>
                  </a:lnTo>
                  <a:cubicBezTo>
                    <a:pt x="41299" y="4556130"/>
                    <a:pt x="54175" y="4574382"/>
                    <a:pt x="66604" y="4592745"/>
                  </a:cubicBezTo>
                  <a:lnTo>
                    <a:pt x="104114" y="4647834"/>
                  </a:lnTo>
                  <a:lnTo>
                    <a:pt x="143751" y="4701580"/>
                  </a:lnTo>
                  <a:cubicBezTo>
                    <a:pt x="156964" y="4719495"/>
                    <a:pt x="169728" y="4737746"/>
                    <a:pt x="182717" y="4755773"/>
                  </a:cubicBezTo>
                  <a:lnTo>
                    <a:pt x="223810" y="4808399"/>
                  </a:lnTo>
                  <a:lnTo>
                    <a:pt x="264679" y="4861249"/>
                  </a:lnTo>
                  <a:cubicBezTo>
                    <a:pt x="278563" y="4878717"/>
                    <a:pt x="293455" y="4895288"/>
                    <a:pt x="307788" y="4912420"/>
                  </a:cubicBezTo>
                  <a:lnTo>
                    <a:pt x="351232" y="4963254"/>
                  </a:lnTo>
                  <a:cubicBezTo>
                    <a:pt x="365788" y="4980162"/>
                    <a:pt x="381688" y="4995837"/>
                    <a:pt x="397028" y="5012185"/>
                  </a:cubicBezTo>
                  <a:lnTo>
                    <a:pt x="443496" y="5060444"/>
                  </a:lnTo>
                  <a:lnTo>
                    <a:pt x="455140" y="5072537"/>
                  </a:lnTo>
                  <a:lnTo>
                    <a:pt x="467345" y="5083958"/>
                  </a:lnTo>
                  <a:lnTo>
                    <a:pt x="491755" y="5106912"/>
                  </a:lnTo>
                  <a:lnTo>
                    <a:pt x="540686" y="5152819"/>
                  </a:lnTo>
                  <a:lnTo>
                    <a:pt x="552890" y="5164353"/>
                  </a:lnTo>
                  <a:lnTo>
                    <a:pt x="565655" y="5175214"/>
                  </a:lnTo>
                  <a:lnTo>
                    <a:pt x="591072" y="5197048"/>
                  </a:lnTo>
                  <a:cubicBezTo>
                    <a:pt x="624999" y="5226160"/>
                    <a:pt x="658366" y="5256056"/>
                    <a:pt x="694197" y="5283041"/>
                  </a:cubicBezTo>
                  <a:cubicBezTo>
                    <a:pt x="834272" y="5394675"/>
                    <a:pt x="985207" y="5493881"/>
                    <a:pt x="1146221" y="5573716"/>
                  </a:cubicBezTo>
                  <a:cubicBezTo>
                    <a:pt x="1307122" y="5653774"/>
                    <a:pt x="1476869" y="5715918"/>
                    <a:pt x="1650982" y="5758130"/>
                  </a:cubicBezTo>
                  <a:lnTo>
                    <a:pt x="1716485" y="5772798"/>
                  </a:lnTo>
                  <a:cubicBezTo>
                    <a:pt x="1738431" y="5777390"/>
                    <a:pt x="1759929" y="5783100"/>
                    <a:pt x="1782211" y="5786235"/>
                  </a:cubicBezTo>
                  <a:lnTo>
                    <a:pt x="1848386" y="5796984"/>
                  </a:lnTo>
                  <a:lnTo>
                    <a:pt x="1881417" y="5802359"/>
                  </a:lnTo>
                  <a:cubicBezTo>
                    <a:pt x="1892390" y="5804151"/>
                    <a:pt x="1903363" y="5806054"/>
                    <a:pt x="1914560" y="5807061"/>
                  </a:cubicBezTo>
                  <a:cubicBezTo>
                    <a:pt x="1959012" y="5811765"/>
                    <a:pt x="2003241" y="5817251"/>
                    <a:pt x="2047469" y="5821282"/>
                  </a:cubicBezTo>
                  <a:lnTo>
                    <a:pt x="2180601" y="5828896"/>
                  </a:lnTo>
                  <a:lnTo>
                    <a:pt x="2313622" y="5830463"/>
                  </a:lnTo>
                  <a:cubicBezTo>
                    <a:pt x="2335680" y="5830799"/>
                    <a:pt x="2357962" y="5829008"/>
                    <a:pt x="2380021" y="5828448"/>
                  </a:cubicBezTo>
                  <a:lnTo>
                    <a:pt x="2446195" y="5826433"/>
                  </a:lnTo>
                  <a:cubicBezTo>
                    <a:pt x="2468029" y="5826208"/>
                    <a:pt x="2490647" y="5824193"/>
                    <a:pt x="2513041" y="5822737"/>
                  </a:cubicBezTo>
                  <a:lnTo>
                    <a:pt x="2580111" y="5818258"/>
                  </a:lnTo>
                  <a:lnTo>
                    <a:pt x="2613590" y="5816355"/>
                  </a:lnTo>
                  <a:lnTo>
                    <a:pt x="2646845" y="5813108"/>
                  </a:lnTo>
                  <a:cubicBezTo>
                    <a:pt x="2669016" y="5810869"/>
                    <a:pt x="2691074" y="5808741"/>
                    <a:pt x="2713244" y="5806838"/>
                  </a:cubicBezTo>
                  <a:cubicBezTo>
                    <a:pt x="2889933" y="5789371"/>
                    <a:pt x="3062815" y="5762050"/>
                    <a:pt x="3230882" y="5721292"/>
                  </a:cubicBezTo>
                  <a:cubicBezTo>
                    <a:pt x="3398837" y="5680423"/>
                    <a:pt x="3562426" y="5626902"/>
                    <a:pt x="3720416" y="5556472"/>
                  </a:cubicBezTo>
                  <a:cubicBezTo>
                    <a:pt x="3759381" y="5537997"/>
                    <a:pt x="3798347" y="5518962"/>
                    <a:pt x="3837425" y="5499927"/>
                  </a:cubicBezTo>
                  <a:cubicBezTo>
                    <a:pt x="3875271" y="5478765"/>
                    <a:pt x="3913900" y="5458610"/>
                    <a:pt x="3951634" y="5436552"/>
                  </a:cubicBezTo>
                  <a:lnTo>
                    <a:pt x="4007284" y="5401841"/>
                  </a:lnTo>
                  <a:lnTo>
                    <a:pt x="4035164" y="5384374"/>
                  </a:lnTo>
                  <a:lnTo>
                    <a:pt x="4049049" y="5375640"/>
                  </a:lnTo>
                  <a:lnTo>
                    <a:pt x="4062485" y="5366123"/>
                  </a:lnTo>
                  <a:lnTo>
                    <a:pt x="4116567" y="5328277"/>
                  </a:lnTo>
                  <a:cubicBezTo>
                    <a:pt x="4134594" y="5315624"/>
                    <a:pt x="4152957" y="5303420"/>
                    <a:pt x="4169976" y="5289199"/>
                  </a:cubicBezTo>
                  <a:lnTo>
                    <a:pt x="4222042" y="5247994"/>
                  </a:lnTo>
                  <a:cubicBezTo>
                    <a:pt x="4239398" y="5234222"/>
                    <a:pt x="4256865" y="5220562"/>
                    <a:pt x="4273213" y="5205558"/>
                  </a:cubicBezTo>
                  <a:lnTo>
                    <a:pt x="4323151" y="5161329"/>
                  </a:lnTo>
                  <a:cubicBezTo>
                    <a:pt x="4339611" y="5146437"/>
                    <a:pt x="4356631" y="5131881"/>
                    <a:pt x="4371971" y="5116093"/>
                  </a:cubicBezTo>
                  <a:cubicBezTo>
                    <a:pt x="4435457" y="5054398"/>
                    <a:pt x="4496258" y="4991135"/>
                    <a:pt x="4546868" y="4924400"/>
                  </a:cubicBezTo>
                  <a:cubicBezTo>
                    <a:pt x="4600054" y="4858450"/>
                    <a:pt x="4640699" y="4788916"/>
                    <a:pt x="4675634" y="4715352"/>
                  </a:cubicBezTo>
                  <a:lnTo>
                    <a:pt x="4700155" y="4659255"/>
                  </a:lnTo>
                  <a:lnTo>
                    <a:pt x="4721206" y="4600135"/>
                  </a:lnTo>
                  <a:cubicBezTo>
                    <a:pt x="4728707" y="4580988"/>
                    <a:pt x="4733970" y="4559266"/>
                    <a:pt x="4740465" y="4538887"/>
                  </a:cubicBezTo>
                  <a:cubicBezTo>
                    <a:pt x="4746623" y="4518061"/>
                    <a:pt x="4753005" y="4497906"/>
                    <a:pt x="4758492" y="4475848"/>
                  </a:cubicBezTo>
                  <a:cubicBezTo>
                    <a:pt x="4803168" y="4303637"/>
                    <a:pt x="4840902" y="4115080"/>
                    <a:pt x="4891288" y="3930329"/>
                  </a:cubicBezTo>
                  <a:cubicBezTo>
                    <a:pt x="4940891" y="3744906"/>
                    <a:pt x="5000235" y="3562059"/>
                    <a:pt x="5066298" y="3382235"/>
                  </a:cubicBezTo>
                  <a:cubicBezTo>
                    <a:pt x="5124186" y="3226932"/>
                    <a:pt x="5154530" y="3064015"/>
                    <a:pt x="5156994" y="2898635"/>
                  </a:cubicBezTo>
                  <a:cubicBezTo>
                    <a:pt x="5159681" y="2733255"/>
                    <a:pt x="5132920" y="2565636"/>
                    <a:pt x="5083317" y="2402047"/>
                  </a:cubicBezTo>
                  <a:cubicBezTo>
                    <a:pt x="5033938" y="2238123"/>
                    <a:pt x="4960150" y="2079013"/>
                    <a:pt x="4871022" y="1926958"/>
                  </a:cubicBezTo>
                  <a:cubicBezTo>
                    <a:pt x="4826570" y="1850818"/>
                    <a:pt x="4777415" y="1776918"/>
                    <a:pt x="4727028" y="1703577"/>
                  </a:cubicBezTo>
                  <a:cubicBezTo>
                    <a:pt x="4676418" y="1630349"/>
                    <a:pt x="4622784" y="1558464"/>
                    <a:pt x="4563776" y="1490834"/>
                  </a:cubicBezTo>
                  <a:cubicBezTo>
                    <a:pt x="4503647" y="1423764"/>
                    <a:pt x="4439041" y="1359157"/>
                    <a:pt x="4370291" y="1300596"/>
                  </a:cubicBezTo>
                  <a:cubicBezTo>
                    <a:pt x="4336812" y="1270141"/>
                    <a:pt x="4301541" y="1242148"/>
                    <a:pt x="4266046" y="1214491"/>
                  </a:cubicBezTo>
                  <a:cubicBezTo>
                    <a:pt x="4248355" y="1200607"/>
                    <a:pt x="4230776" y="1186611"/>
                    <a:pt x="4212973" y="1173062"/>
                  </a:cubicBezTo>
                  <a:cubicBezTo>
                    <a:pt x="4194722" y="1160074"/>
                    <a:pt x="4176359" y="1147197"/>
                    <a:pt x="4157995" y="1134545"/>
                  </a:cubicBezTo>
                  <a:cubicBezTo>
                    <a:pt x="4011426" y="1031980"/>
                    <a:pt x="3855004" y="948562"/>
                    <a:pt x="3697126" y="881044"/>
                  </a:cubicBezTo>
                  <a:lnTo>
                    <a:pt x="3637670" y="856747"/>
                  </a:lnTo>
                  <a:lnTo>
                    <a:pt x="3608222" y="844318"/>
                  </a:lnTo>
                  <a:cubicBezTo>
                    <a:pt x="3598480" y="840063"/>
                    <a:pt x="3588179" y="837040"/>
                    <a:pt x="3578214" y="833457"/>
                  </a:cubicBezTo>
                  <a:lnTo>
                    <a:pt x="3518309" y="812294"/>
                  </a:lnTo>
                  <a:cubicBezTo>
                    <a:pt x="3513383" y="810503"/>
                    <a:pt x="3508344" y="808823"/>
                    <a:pt x="3503417" y="806920"/>
                  </a:cubicBezTo>
                  <a:cubicBezTo>
                    <a:pt x="3498603" y="804792"/>
                    <a:pt x="3494236" y="801993"/>
                    <a:pt x="3489533" y="799642"/>
                  </a:cubicBezTo>
                  <a:cubicBezTo>
                    <a:pt x="3480240" y="794827"/>
                    <a:pt x="3470498" y="791020"/>
                    <a:pt x="3460869" y="787101"/>
                  </a:cubicBezTo>
                  <a:lnTo>
                    <a:pt x="3402980" y="763475"/>
                  </a:lnTo>
                  <a:lnTo>
                    <a:pt x="3374092" y="751606"/>
                  </a:lnTo>
                  <a:cubicBezTo>
                    <a:pt x="3364462" y="747688"/>
                    <a:pt x="3354945" y="743433"/>
                    <a:pt x="3344980" y="740409"/>
                  </a:cubicBezTo>
                  <a:lnTo>
                    <a:pt x="3226627" y="700772"/>
                  </a:lnTo>
                  <a:cubicBezTo>
                    <a:pt x="3067405" y="652849"/>
                    <a:pt x="2902697" y="625192"/>
                    <a:pt x="2735750" y="614667"/>
                  </a:cubicBezTo>
                  <a:cubicBezTo>
                    <a:pt x="2714811" y="613435"/>
                    <a:pt x="2694209" y="610860"/>
                    <a:pt x="2673158" y="610412"/>
                  </a:cubicBezTo>
                  <a:lnTo>
                    <a:pt x="2610119" y="609628"/>
                  </a:lnTo>
                  <a:lnTo>
                    <a:pt x="2547080" y="608620"/>
                  </a:lnTo>
                  <a:cubicBezTo>
                    <a:pt x="2536443" y="608173"/>
                    <a:pt x="2526365" y="608397"/>
                    <a:pt x="2516400" y="608844"/>
                  </a:cubicBezTo>
                  <a:lnTo>
                    <a:pt x="2486280" y="609740"/>
                  </a:lnTo>
                  <a:cubicBezTo>
                    <a:pt x="2466125" y="609852"/>
                    <a:pt x="2446307" y="611868"/>
                    <a:pt x="2426376" y="613099"/>
                  </a:cubicBezTo>
                  <a:cubicBezTo>
                    <a:pt x="2406333" y="613995"/>
                    <a:pt x="2386627" y="616458"/>
                    <a:pt x="2366920" y="618474"/>
                  </a:cubicBezTo>
                  <a:cubicBezTo>
                    <a:pt x="2357066" y="619482"/>
                    <a:pt x="2347101" y="620153"/>
                    <a:pt x="2337248" y="621497"/>
                  </a:cubicBezTo>
                  <a:lnTo>
                    <a:pt x="2307800" y="625528"/>
                  </a:lnTo>
                  <a:lnTo>
                    <a:pt x="2278351" y="629559"/>
                  </a:lnTo>
                  <a:lnTo>
                    <a:pt x="2249127" y="634710"/>
                  </a:lnTo>
                  <a:cubicBezTo>
                    <a:pt x="2093377" y="661918"/>
                    <a:pt x="1942329" y="710849"/>
                    <a:pt x="1796096" y="781726"/>
                  </a:cubicBezTo>
                  <a:cubicBezTo>
                    <a:pt x="1649751" y="852268"/>
                    <a:pt x="1508892" y="944307"/>
                    <a:pt x="1370833" y="1048663"/>
                  </a:cubicBezTo>
                  <a:cubicBezTo>
                    <a:pt x="1232774" y="1153244"/>
                    <a:pt x="1097290" y="1269917"/>
                    <a:pt x="959790" y="1390844"/>
                  </a:cubicBezTo>
                  <a:lnTo>
                    <a:pt x="749062" y="1577611"/>
                  </a:lnTo>
                  <a:cubicBezTo>
                    <a:pt x="674602" y="1642329"/>
                    <a:pt x="599806" y="1704137"/>
                    <a:pt x="524786" y="1763145"/>
                  </a:cubicBezTo>
                  <a:cubicBezTo>
                    <a:pt x="374858" y="1881498"/>
                    <a:pt x="223810" y="1987422"/>
                    <a:pt x="84071" y="2098496"/>
                  </a:cubicBezTo>
                  <a:lnTo>
                    <a:pt x="0" y="2168094"/>
                  </a:lnTo>
                  <a:lnTo>
                    <a:pt x="0" y="1576676"/>
                  </a:lnTo>
                  <a:lnTo>
                    <a:pt x="174655" y="1387597"/>
                  </a:lnTo>
                  <a:cubicBezTo>
                    <a:pt x="238926" y="1320079"/>
                    <a:pt x="302749" y="1254577"/>
                    <a:pt x="363661" y="1188626"/>
                  </a:cubicBezTo>
                  <a:lnTo>
                    <a:pt x="458052" y="1086397"/>
                  </a:lnTo>
                  <a:cubicBezTo>
                    <a:pt x="490635" y="1051351"/>
                    <a:pt x="523666" y="1016416"/>
                    <a:pt x="557257" y="981593"/>
                  </a:cubicBezTo>
                  <a:cubicBezTo>
                    <a:pt x="691510" y="842414"/>
                    <a:pt x="835055" y="705699"/>
                    <a:pt x="994165" y="578389"/>
                  </a:cubicBezTo>
                  <a:cubicBezTo>
                    <a:pt x="1152939" y="451190"/>
                    <a:pt x="1328060" y="333398"/>
                    <a:pt x="1520873" y="237215"/>
                  </a:cubicBezTo>
                  <a:cubicBezTo>
                    <a:pt x="1713238" y="141033"/>
                    <a:pt x="1924302" y="68028"/>
                    <a:pt x="2141748" y="31190"/>
                  </a:cubicBezTo>
                  <a:lnTo>
                    <a:pt x="2182505" y="24360"/>
                  </a:lnTo>
                  <a:cubicBezTo>
                    <a:pt x="2196165" y="22344"/>
                    <a:pt x="2209826" y="20665"/>
                    <a:pt x="2223374" y="18873"/>
                  </a:cubicBezTo>
                  <a:lnTo>
                    <a:pt x="2264355" y="13611"/>
                  </a:lnTo>
                  <a:cubicBezTo>
                    <a:pt x="2278015" y="11931"/>
                    <a:pt x="2291676" y="10924"/>
                    <a:pt x="2305336" y="9580"/>
                  </a:cubicBezTo>
                  <a:cubicBezTo>
                    <a:pt x="2332657" y="7229"/>
                    <a:pt x="2360090" y="4653"/>
                    <a:pt x="2387410" y="3645"/>
                  </a:cubicBezTo>
                  <a:cubicBezTo>
                    <a:pt x="2414731" y="2414"/>
                    <a:pt x="2442164" y="510"/>
                    <a:pt x="2469373" y="622"/>
                  </a:cubicBezTo>
                  <a:close/>
                </a:path>
              </a:pathLst>
            </a:custGeom>
            <a:gradFill>
              <a:gsLst>
                <a:gs pos="37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67C4629D-4AB7-48D4-A61B-1AE1837A78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176241"/>
              <a:ext cx="5646908" cy="6130481"/>
            </a:xfrm>
            <a:custGeom>
              <a:avLst/>
              <a:gdLst>
                <a:gd name="connsiteX0" fmla="*/ 2616837 w 5646908"/>
                <a:gd name="connsiteY0" fmla="*/ 0 h 6130481"/>
                <a:gd name="connsiteX1" fmla="*/ 4918721 w 5646908"/>
                <a:gd name="connsiteY1" fmla="*/ 1134258 h 6130481"/>
                <a:gd name="connsiteX2" fmla="*/ 5539036 w 5646908"/>
                <a:gd name="connsiteY2" fmla="*/ 3362353 h 6130481"/>
                <a:gd name="connsiteX3" fmla="*/ 4712024 w 5646908"/>
                <a:gd name="connsiteY3" fmla="*/ 5293280 h 6130481"/>
                <a:gd name="connsiteX4" fmla="*/ 2547864 w 5646908"/>
                <a:gd name="connsiteY4" fmla="*/ 6130481 h 6130481"/>
                <a:gd name="connsiteX5" fmla="*/ 263223 w 5646908"/>
                <a:gd name="connsiteY5" fmla="*/ 5212325 h 6130481"/>
                <a:gd name="connsiteX6" fmla="*/ 49974 w 5646908"/>
                <a:gd name="connsiteY6" fmla="*/ 4985345 h 6130481"/>
                <a:gd name="connsiteX7" fmla="*/ 0 w 5646908"/>
                <a:gd name="connsiteY7" fmla="*/ 4920618 h 6130481"/>
                <a:gd name="connsiteX8" fmla="*/ 0 w 5646908"/>
                <a:gd name="connsiteY8" fmla="*/ 3760303 h 6130481"/>
                <a:gd name="connsiteX9" fmla="*/ 80488 w 5646908"/>
                <a:gd name="connsiteY9" fmla="*/ 3974159 h 6130481"/>
                <a:gd name="connsiteX10" fmla="*/ 664748 w 5646908"/>
                <a:gd name="connsiteY10" fmla="*/ 4813600 h 6130481"/>
                <a:gd name="connsiteX11" fmla="*/ 2548087 w 5646908"/>
                <a:gd name="connsiteY11" fmla="*/ 5570406 h 6130481"/>
                <a:gd name="connsiteX12" fmla="*/ 3536561 w 5646908"/>
                <a:gd name="connsiteY12" fmla="*/ 5407153 h 6130481"/>
                <a:gd name="connsiteX13" fmla="*/ 4308035 w 5646908"/>
                <a:gd name="connsiteY13" fmla="*/ 4897241 h 6130481"/>
                <a:gd name="connsiteX14" fmla="*/ 4569038 w 5646908"/>
                <a:gd name="connsiteY14" fmla="*/ 4564802 h 6130481"/>
                <a:gd name="connsiteX15" fmla="*/ 4699147 w 5646908"/>
                <a:gd name="connsiteY15" fmla="*/ 4149952 h 6130481"/>
                <a:gd name="connsiteX16" fmla="*/ 5003034 w 5646908"/>
                <a:gd name="connsiteY16" fmla="*/ 3168421 h 6130481"/>
                <a:gd name="connsiteX17" fmla="*/ 4994189 w 5646908"/>
                <a:gd name="connsiteY17" fmla="*/ 2321590 h 6130481"/>
                <a:gd name="connsiteX18" fmla="*/ 4487860 w 5646908"/>
                <a:gd name="connsiteY18" fmla="*/ 1501856 h 6130481"/>
                <a:gd name="connsiteX19" fmla="*/ 3640469 w 5646908"/>
                <a:gd name="connsiteY19" fmla="*/ 808425 h 6130481"/>
                <a:gd name="connsiteX20" fmla="*/ 2616837 w 5646908"/>
                <a:gd name="connsiteY20" fmla="*/ 559851 h 6130481"/>
                <a:gd name="connsiteX21" fmla="*/ 1762952 w 5646908"/>
                <a:gd name="connsiteY21" fmla="*/ 812008 h 6130481"/>
                <a:gd name="connsiteX22" fmla="*/ 939635 w 5646908"/>
                <a:gd name="connsiteY22" fmla="*/ 1502976 h 6130481"/>
                <a:gd name="connsiteX23" fmla="*/ 585250 w 5646908"/>
                <a:gd name="connsiteY23" fmla="*/ 1831049 h 6130481"/>
                <a:gd name="connsiteX24" fmla="*/ 40403 w 5646908"/>
                <a:gd name="connsiteY24" fmla="*/ 2389556 h 6130481"/>
                <a:gd name="connsiteX25" fmla="*/ 0 w 5646908"/>
                <a:gd name="connsiteY25" fmla="*/ 2456747 h 6130481"/>
                <a:gd name="connsiteX26" fmla="*/ 0 w 5646908"/>
                <a:gd name="connsiteY26" fmla="*/ 1601114 h 6130481"/>
                <a:gd name="connsiteX27" fmla="*/ 93200 w 5646908"/>
                <a:gd name="connsiteY27" fmla="*/ 1513741 h 6130481"/>
                <a:gd name="connsiteX28" fmla="*/ 535423 w 5646908"/>
                <a:gd name="connsiteY28" fmla="*/ 1107273 h 6130481"/>
                <a:gd name="connsiteX29" fmla="*/ 2616837 w 5646908"/>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646908" h="6130481">
                  <a:moveTo>
                    <a:pt x="2616837" y="0"/>
                  </a:moveTo>
                  <a:cubicBezTo>
                    <a:pt x="3596241" y="0"/>
                    <a:pt x="4322479" y="463445"/>
                    <a:pt x="4918721" y="1134258"/>
                  </a:cubicBezTo>
                  <a:cubicBezTo>
                    <a:pt x="5416317" y="1694109"/>
                    <a:pt x="5857703" y="2516643"/>
                    <a:pt x="5539036" y="3362353"/>
                  </a:cubicBezTo>
                  <a:cubicBezTo>
                    <a:pt x="5111758" y="4496612"/>
                    <a:pt x="5300763" y="4716633"/>
                    <a:pt x="4712024" y="5293280"/>
                  </a:cubicBezTo>
                  <a:cubicBezTo>
                    <a:pt x="4123284" y="5869926"/>
                    <a:pt x="3446201" y="6130481"/>
                    <a:pt x="2547864" y="6130481"/>
                  </a:cubicBezTo>
                  <a:cubicBezTo>
                    <a:pt x="1657476" y="6130481"/>
                    <a:pt x="850619" y="5780127"/>
                    <a:pt x="263223" y="5212325"/>
                  </a:cubicBezTo>
                  <a:cubicBezTo>
                    <a:pt x="188497" y="5140091"/>
                    <a:pt x="117321" y="5064339"/>
                    <a:pt x="49974" y="4985345"/>
                  </a:cubicBezTo>
                  <a:lnTo>
                    <a:pt x="0" y="4920618"/>
                  </a:lnTo>
                  <a:lnTo>
                    <a:pt x="0" y="3760303"/>
                  </a:lnTo>
                  <a:lnTo>
                    <a:pt x="80488" y="3974159"/>
                  </a:lnTo>
                  <a:cubicBezTo>
                    <a:pt x="217875" y="4289243"/>
                    <a:pt x="414383" y="4571632"/>
                    <a:pt x="664748" y="4813600"/>
                  </a:cubicBezTo>
                  <a:cubicBezTo>
                    <a:pt x="1169734" y="5301566"/>
                    <a:pt x="1838644" y="5570406"/>
                    <a:pt x="2548087" y="5570406"/>
                  </a:cubicBezTo>
                  <a:cubicBezTo>
                    <a:pt x="2928786" y="5570406"/>
                    <a:pt x="3252156" y="5516996"/>
                    <a:pt x="3536561" y="5407153"/>
                  </a:cubicBezTo>
                  <a:cubicBezTo>
                    <a:pt x="3815366" y="5299438"/>
                    <a:pt x="4067747" y="5132603"/>
                    <a:pt x="4308035" y="4897241"/>
                  </a:cubicBezTo>
                  <a:cubicBezTo>
                    <a:pt x="4475095" y="4733653"/>
                    <a:pt x="4533767" y="4637358"/>
                    <a:pt x="4569038" y="4564802"/>
                  </a:cubicBezTo>
                  <a:cubicBezTo>
                    <a:pt x="4619313" y="4461453"/>
                    <a:pt x="4652792" y="4330784"/>
                    <a:pt x="4699147" y="4149952"/>
                  </a:cubicBezTo>
                  <a:cubicBezTo>
                    <a:pt x="4758491" y="3918846"/>
                    <a:pt x="4839558" y="3602194"/>
                    <a:pt x="5003034" y="3168421"/>
                  </a:cubicBezTo>
                  <a:cubicBezTo>
                    <a:pt x="5103024" y="2902940"/>
                    <a:pt x="5100112" y="2626037"/>
                    <a:pt x="4994189" y="2321590"/>
                  </a:cubicBezTo>
                  <a:cubicBezTo>
                    <a:pt x="4900470" y="2052526"/>
                    <a:pt x="4725460" y="1769129"/>
                    <a:pt x="4487860" y="1501856"/>
                  </a:cubicBezTo>
                  <a:cubicBezTo>
                    <a:pt x="4210285" y="1189683"/>
                    <a:pt x="3933047" y="962832"/>
                    <a:pt x="3640469" y="808425"/>
                  </a:cubicBezTo>
                  <a:cubicBezTo>
                    <a:pt x="3323369" y="641141"/>
                    <a:pt x="2988578" y="559851"/>
                    <a:pt x="2616837" y="559851"/>
                  </a:cubicBezTo>
                  <a:cubicBezTo>
                    <a:pt x="2315413" y="559851"/>
                    <a:pt x="2044110" y="640134"/>
                    <a:pt x="1762952" y="812008"/>
                  </a:cubicBezTo>
                  <a:cubicBezTo>
                    <a:pt x="1472838" y="989593"/>
                    <a:pt x="1197167" y="1250707"/>
                    <a:pt x="939635" y="1502976"/>
                  </a:cubicBezTo>
                  <a:cubicBezTo>
                    <a:pt x="819379" y="1620769"/>
                    <a:pt x="700355" y="1727700"/>
                    <a:pt x="585250" y="1831049"/>
                  </a:cubicBezTo>
                  <a:cubicBezTo>
                    <a:pt x="362317" y="2031140"/>
                    <a:pt x="169840" y="2204022"/>
                    <a:pt x="40403" y="2389556"/>
                  </a:cubicBezTo>
                  <a:lnTo>
                    <a:pt x="0" y="2456747"/>
                  </a:lnTo>
                  <a:lnTo>
                    <a:pt x="0" y="1601114"/>
                  </a:lnTo>
                  <a:lnTo>
                    <a:pt x="93200" y="1513741"/>
                  </a:lnTo>
                  <a:cubicBezTo>
                    <a:pt x="237107" y="1383294"/>
                    <a:pt x="388238" y="1251435"/>
                    <a:pt x="535423" y="1107273"/>
                  </a:cubicBezTo>
                  <a:cubicBezTo>
                    <a:pt x="1124050" y="530627"/>
                    <a:pt x="1718500" y="0"/>
                    <a:pt x="2616837" y="0"/>
                  </a:cubicBezTo>
                  <a:close/>
                </a:path>
              </a:pathLst>
            </a:custGeom>
            <a:gradFill>
              <a:gsLst>
                <a:gs pos="2000">
                  <a:schemeClr val="bg1">
                    <a:alpha val="10000"/>
                  </a:schemeClr>
                </a:gs>
                <a:gs pos="54000">
                  <a:schemeClr val="accent6">
                    <a:alpha val="10000"/>
                  </a:schemeClr>
                </a:gs>
                <a:gs pos="100000">
                  <a:schemeClr val="bg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D1E30050-9FC4-4CC7-8C0B-BF5EFD1064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176241"/>
              <a:ext cx="5517522" cy="6130481"/>
            </a:xfrm>
            <a:custGeom>
              <a:avLst/>
              <a:gdLst>
                <a:gd name="connsiteX0" fmla="*/ 2549095 w 5517522"/>
                <a:gd name="connsiteY0" fmla="*/ 0 h 6130481"/>
                <a:gd name="connsiteX1" fmla="*/ 4804175 w 5517522"/>
                <a:gd name="connsiteY1" fmla="*/ 1134258 h 6130481"/>
                <a:gd name="connsiteX2" fmla="*/ 5411838 w 5517522"/>
                <a:gd name="connsiteY2" fmla="*/ 3362353 h 6130481"/>
                <a:gd name="connsiteX3" fmla="*/ 4601621 w 5517522"/>
                <a:gd name="connsiteY3" fmla="*/ 5293280 h 6130481"/>
                <a:gd name="connsiteX4" fmla="*/ 2481577 w 5517522"/>
                <a:gd name="connsiteY4" fmla="*/ 6130481 h 6130481"/>
                <a:gd name="connsiteX5" fmla="*/ 243517 w 5517522"/>
                <a:gd name="connsiteY5" fmla="*/ 5212325 h 6130481"/>
                <a:gd name="connsiteX6" fmla="*/ 34587 w 5517522"/>
                <a:gd name="connsiteY6" fmla="*/ 4985345 h 6130481"/>
                <a:gd name="connsiteX7" fmla="*/ 0 w 5517522"/>
                <a:gd name="connsiteY7" fmla="*/ 4939620 h 6130481"/>
                <a:gd name="connsiteX8" fmla="*/ 0 w 5517522"/>
                <a:gd name="connsiteY8" fmla="*/ 3335329 h 6130481"/>
                <a:gd name="connsiteX9" fmla="*/ 17141 w 5517522"/>
                <a:gd name="connsiteY9" fmla="*/ 3448738 h 6130481"/>
                <a:gd name="connsiteX10" fmla="*/ 167489 w 5517522"/>
                <a:gd name="connsiteY10" fmla="*/ 3930490 h 6130481"/>
                <a:gd name="connsiteX11" fmla="*/ 715471 w 5517522"/>
                <a:gd name="connsiteY11" fmla="*/ 4734212 h 6130481"/>
                <a:gd name="connsiteX12" fmla="*/ 2481689 w 5517522"/>
                <a:gd name="connsiteY12" fmla="*/ 5458772 h 6130481"/>
                <a:gd name="connsiteX13" fmla="*/ 4126644 w 5517522"/>
                <a:gd name="connsiteY13" fmla="*/ 4818302 h 6130481"/>
                <a:gd name="connsiteX14" fmla="*/ 4360437 w 5517522"/>
                <a:gd name="connsiteY14" fmla="*/ 4516766 h 6130481"/>
                <a:gd name="connsiteX15" fmla="*/ 4480357 w 5517522"/>
                <a:gd name="connsiteY15" fmla="*/ 4122855 h 6130481"/>
                <a:gd name="connsiteX16" fmla="*/ 4781557 w 5517522"/>
                <a:gd name="connsiteY16" fmla="*/ 3129791 h 6130481"/>
                <a:gd name="connsiteX17" fmla="*/ 4771928 w 5517522"/>
                <a:gd name="connsiteY17" fmla="*/ 2357869 h 6130481"/>
                <a:gd name="connsiteX18" fmla="*/ 4297510 w 5517522"/>
                <a:gd name="connsiteY18" fmla="*/ 1575533 h 6130481"/>
                <a:gd name="connsiteX19" fmla="*/ 3498715 w 5517522"/>
                <a:gd name="connsiteY19" fmla="*/ 907071 h 6130481"/>
                <a:gd name="connsiteX20" fmla="*/ 2549095 w 5517522"/>
                <a:gd name="connsiteY20" fmla="*/ 671821 h 6130481"/>
                <a:gd name="connsiteX21" fmla="*/ 985319 w 5517522"/>
                <a:gd name="connsiteY21" fmla="*/ 1582475 h 6130481"/>
                <a:gd name="connsiteX22" fmla="*/ 634628 w 5517522"/>
                <a:gd name="connsiteY22" fmla="*/ 1913907 h 6130481"/>
                <a:gd name="connsiteX23" fmla="*/ 117662 w 5517522"/>
                <a:gd name="connsiteY23" fmla="*/ 2453044 h 6130481"/>
                <a:gd name="connsiteX24" fmla="*/ 2515 w 5517522"/>
                <a:gd name="connsiteY24" fmla="*/ 2685494 h 6130481"/>
                <a:gd name="connsiteX25" fmla="*/ 0 w 5517522"/>
                <a:gd name="connsiteY25" fmla="*/ 2696965 h 6130481"/>
                <a:gd name="connsiteX26" fmla="*/ 0 w 5517522"/>
                <a:gd name="connsiteY26" fmla="*/ 1587383 h 6130481"/>
                <a:gd name="connsiteX27" fmla="*/ 76951 w 5517522"/>
                <a:gd name="connsiteY27" fmla="*/ 1513741 h 6130481"/>
                <a:gd name="connsiteX28" fmla="*/ 510118 w 5517522"/>
                <a:gd name="connsiteY28" fmla="*/ 1107273 h 6130481"/>
                <a:gd name="connsiteX29" fmla="*/ 2549095 w 5517522"/>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517522" h="6130481">
                  <a:moveTo>
                    <a:pt x="2549095" y="0"/>
                  </a:moveTo>
                  <a:cubicBezTo>
                    <a:pt x="3508568" y="0"/>
                    <a:pt x="4219915" y="463445"/>
                    <a:pt x="4804175" y="1134258"/>
                  </a:cubicBezTo>
                  <a:cubicBezTo>
                    <a:pt x="5291694" y="1694109"/>
                    <a:pt x="5724011" y="2516643"/>
                    <a:pt x="5411838" y="3362353"/>
                  </a:cubicBezTo>
                  <a:cubicBezTo>
                    <a:pt x="4993181" y="4496612"/>
                    <a:pt x="5178268" y="4716633"/>
                    <a:pt x="4601621" y="5293280"/>
                  </a:cubicBezTo>
                  <a:cubicBezTo>
                    <a:pt x="4024863" y="5869926"/>
                    <a:pt x="3361551" y="6130481"/>
                    <a:pt x="2481577" y="6130481"/>
                  </a:cubicBezTo>
                  <a:cubicBezTo>
                    <a:pt x="1609329" y="6130481"/>
                    <a:pt x="818932" y="5780127"/>
                    <a:pt x="243517" y="5212325"/>
                  </a:cubicBezTo>
                  <a:cubicBezTo>
                    <a:pt x="170302" y="5140091"/>
                    <a:pt x="100568" y="5064339"/>
                    <a:pt x="34587" y="4985345"/>
                  </a:cubicBezTo>
                  <a:lnTo>
                    <a:pt x="0" y="4939620"/>
                  </a:lnTo>
                  <a:lnTo>
                    <a:pt x="0" y="3335329"/>
                  </a:lnTo>
                  <a:lnTo>
                    <a:pt x="17141" y="3448738"/>
                  </a:lnTo>
                  <a:cubicBezTo>
                    <a:pt x="50676" y="3613558"/>
                    <a:pt x="100867" y="3774516"/>
                    <a:pt x="167489" y="3930490"/>
                  </a:cubicBezTo>
                  <a:cubicBezTo>
                    <a:pt x="296255" y="4232138"/>
                    <a:pt x="480670" y="4502546"/>
                    <a:pt x="715471" y="4734212"/>
                  </a:cubicBezTo>
                  <a:cubicBezTo>
                    <a:pt x="1188993" y="5201464"/>
                    <a:pt x="1816250" y="5458772"/>
                    <a:pt x="2481689" y="5458772"/>
                  </a:cubicBezTo>
                  <a:cubicBezTo>
                    <a:pt x="3185758" y="5458772"/>
                    <a:pt x="3677755" y="5267191"/>
                    <a:pt x="4126644" y="4818302"/>
                  </a:cubicBezTo>
                  <a:cubicBezTo>
                    <a:pt x="4278363" y="4666583"/>
                    <a:pt x="4329982" y="4580701"/>
                    <a:pt x="4360437" y="4516766"/>
                  </a:cubicBezTo>
                  <a:cubicBezTo>
                    <a:pt x="4404890" y="4423495"/>
                    <a:pt x="4436577" y="4297417"/>
                    <a:pt x="4480357" y="4122855"/>
                  </a:cubicBezTo>
                  <a:cubicBezTo>
                    <a:pt x="4539030" y="3889285"/>
                    <a:pt x="4619425" y="3569275"/>
                    <a:pt x="4781557" y="3129791"/>
                  </a:cubicBezTo>
                  <a:cubicBezTo>
                    <a:pt x="4870238" y="2889503"/>
                    <a:pt x="4867103" y="2637010"/>
                    <a:pt x="4771928" y="2357869"/>
                  </a:cubicBezTo>
                  <a:cubicBezTo>
                    <a:pt x="4684815" y="2102465"/>
                    <a:pt x="4520779" y="1831945"/>
                    <a:pt x="4297510" y="1575533"/>
                  </a:cubicBezTo>
                  <a:cubicBezTo>
                    <a:pt x="4034492" y="1273549"/>
                    <a:pt x="3773266" y="1054983"/>
                    <a:pt x="3498715" y="907071"/>
                  </a:cubicBezTo>
                  <a:cubicBezTo>
                    <a:pt x="3204905" y="748745"/>
                    <a:pt x="2894187" y="671821"/>
                    <a:pt x="2549095" y="671821"/>
                  </a:cubicBezTo>
                  <a:cubicBezTo>
                    <a:pt x="1942553" y="671821"/>
                    <a:pt x="1518298" y="1049273"/>
                    <a:pt x="985319" y="1582475"/>
                  </a:cubicBezTo>
                  <a:cubicBezTo>
                    <a:pt x="865735" y="1702059"/>
                    <a:pt x="748278" y="1809774"/>
                    <a:pt x="634628" y="1913907"/>
                  </a:cubicBezTo>
                  <a:cubicBezTo>
                    <a:pt x="421325" y="2109407"/>
                    <a:pt x="237134" y="2278146"/>
                    <a:pt x="117662" y="2453044"/>
                  </a:cubicBezTo>
                  <a:cubicBezTo>
                    <a:pt x="64756" y="2530415"/>
                    <a:pt x="27022" y="2605799"/>
                    <a:pt x="2515" y="2685494"/>
                  </a:cubicBezTo>
                  <a:lnTo>
                    <a:pt x="0" y="2696965"/>
                  </a:lnTo>
                  <a:lnTo>
                    <a:pt x="0" y="1587383"/>
                  </a:lnTo>
                  <a:lnTo>
                    <a:pt x="76951" y="1513741"/>
                  </a:lnTo>
                  <a:cubicBezTo>
                    <a:pt x="217918" y="1383294"/>
                    <a:pt x="365956" y="1251435"/>
                    <a:pt x="510118" y="1107273"/>
                  </a:cubicBezTo>
                  <a:cubicBezTo>
                    <a:pt x="1086764" y="530627"/>
                    <a:pt x="1669121" y="0"/>
                    <a:pt x="25490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E7E03733-50FD-49A6-B226-40F6A0AD45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176241"/>
              <a:ext cx="5517475" cy="6130481"/>
            </a:xfrm>
            <a:custGeom>
              <a:avLst/>
              <a:gdLst>
                <a:gd name="connsiteX0" fmla="*/ 2549095 w 5517475"/>
                <a:gd name="connsiteY0" fmla="*/ 0 h 6130481"/>
                <a:gd name="connsiteX1" fmla="*/ 4804175 w 5517475"/>
                <a:gd name="connsiteY1" fmla="*/ 1134258 h 6130481"/>
                <a:gd name="connsiteX2" fmla="*/ 5411838 w 5517475"/>
                <a:gd name="connsiteY2" fmla="*/ 3362353 h 6130481"/>
                <a:gd name="connsiteX3" fmla="*/ 4601621 w 5517475"/>
                <a:gd name="connsiteY3" fmla="*/ 5293280 h 6130481"/>
                <a:gd name="connsiteX4" fmla="*/ 2481577 w 5517475"/>
                <a:gd name="connsiteY4" fmla="*/ 6130481 h 6130481"/>
                <a:gd name="connsiteX5" fmla="*/ 243517 w 5517475"/>
                <a:gd name="connsiteY5" fmla="*/ 5212325 h 6130481"/>
                <a:gd name="connsiteX6" fmla="*/ 34587 w 5517475"/>
                <a:gd name="connsiteY6" fmla="*/ 4985345 h 6130481"/>
                <a:gd name="connsiteX7" fmla="*/ 0 w 5517475"/>
                <a:gd name="connsiteY7" fmla="*/ 4939620 h 6130481"/>
                <a:gd name="connsiteX8" fmla="*/ 0 w 5517475"/>
                <a:gd name="connsiteY8" fmla="*/ 3799573 h 6130481"/>
                <a:gd name="connsiteX9" fmla="*/ 64364 w 5517475"/>
                <a:gd name="connsiteY9" fmla="*/ 3974159 h 6130481"/>
                <a:gd name="connsiteX10" fmla="*/ 636644 w 5517475"/>
                <a:gd name="connsiteY10" fmla="*/ 4813600 h 6130481"/>
                <a:gd name="connsiteX11" fmla="*/ 2481577 w 5517475"/>
                <a:gd name="connsiteY11" fmla="*/ 5570406 h 6130481"/>
                <a:gd name="connsiteX12" fmla="*/ 3449896 w 5517475"/>
                <a:gd name="connsiteY12" fmla="*/ 5407153 h 6130481"/>
                <a:gd name="connsiteX13" fmla="*/ 4205695 w 5517475"/>
                <a:gd name="connsiteY13" fmla="*/ 4897241 h 6130481"/>
                <a:gd name="connsiteX14" fmla="*/ 4461434 w 5517475"/>
                <a:gd name="connsiteY14" fmla="*/ 4564802 h 6130481"/>
                <a:gd name="connsiteX15" fmla="*/ 4588969 w 5517475"/>
                <a:gd name="connsiteY15" fmla="*/ 4149952 h 6130481"/>
                <a:gd name="connsiteX16" fmla="*/ 4886585 w 5517475"/>
                <a:gd name="connsiteY16" fmla="*/ 3168421 h 6130481"/>
                <a:gd name="connsiteX17" fmla="*/ 4877964 w 5517475"/>
                <a:gd name="connsiteY17" fmla="*/ 2321590 h 6130481"/>
                <a:gd name="connsiteX18" fmla="*/ 4382048 w 5517475"/>
                <a:gd name="connsiteY18" fmla="*/ 1501856 h 6130481"/>
                <a:gd name="connsiteX19" fmla="*/ 3551900 w 5517475"/>
                <a:gd name="connsiteY19" fmla="*/ 808425 h 6130481"/>
                <a:gd name="connsiteX20" fmla="*/ 2549095 w 5517475"/>
                <a:gd name="connsiteY20" fmla="*/ 559851 h 6130481"/>
                <a:gd name="connsiteX21" fmla="*/ 1712566 w 5517475"/>
                <a:gd name="connsiteY21" fmla="*/ 812008 h 6130481"/>
                <a:gd name="connsiteX22" fmla="*/ 906044 w 5517475"/>
                <a:gd name="connsiteY22" fmla="*/ 1502976 h 6130481"/>
                <a:gd name="connsiteX23" fmla="*/ 558825 w 5517475"/>
                <a:gd name="connsiteY23" fmla="*/ 1831049 h 6130481"/>
                <a:gd name="connsiteX24" fmla="*/ 25063 w 5517475"/>
                <a:gd name="connsiteY24" fmla="*/ 2389556 h 6130481"/>
                <a:gd name="connsiteX25" fmla="*/ 0 w 5517475"/>
                <a:gd name="connsiteY25" fmla="*/ 2432109 h 6130481"/>
                <a:gd name="connsiteX26" fmla="*/ 0 w 5517475"/>
                <a:gd name="connsiteY26" fmla="*/ 1587383 h 6130481"/>
                <a:gd name="connsiteX27" fmla="*/ 76951 w 5517475"/>
                <a:gd name="connsiteY27" fmla="*/ 1513741 h 6130481"/>
                <a:gd name="connsiteX28" fmla="*/ 510118 w 5517475"/>
                <a:gd name="connsiteY28" fmla="*/ 1107273 h 6130481"/>
                <a:gd name="connsiteX29" fmla="*/ 2549095 w 5517475"/>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517475" h="6130481">
                  <a:moveTo>
                    <a:pt x="2549095" y="0"/>
                  </a:moveTo>
                  <a:cubicBezTo>
                    <a:pt x="3508568" y="0"/>
                    <a:pt x="4219915" y="463445"/>
                    <a:pt x="4804175" y="1134258"/>
                  </a:cubicBezTo>
                  <a:cubicBezTo>
                    <a:pt x="5291694" y="1694109"/>
                    <a:pt x="5723899" y="2516643"/>
                    <a:pt x="5411838" y="3362353"/>
                  </a:cubicBezTo>
                  <a:cubicBezTo>
                    <a:pt x="4993181" y="4496612"/>
                    <a:pt x="5178268" y="4716633"/>
                    <a:pt x="4601621" y="5293280"/>
                  </a:cubicBezTo>
                  <a:cubicBezTo>
                    <a:pt x="4024863" y="5869926"/>
                    <a:pt x="3361551" y="6130481"/>
                    <a:pt x="2481577" y="6130481"/>
                  </a:cubicBezTo>
                  <a:cubicBezTo>
                    <a:pt x="1609329" y="6130481"/>
                    <a:pt x="818932" y="5780127"/>
                    <a:pt x="243517" y="5212325"/>
                  </a:cubicBezTo>
                  <a:cubicBezTo>
                    <a:pt x="170302" y="5140091"/>
                    <a:pt x="100568" y="5064339"/>
                    <a:pt x="34587" y="4985345"/>
                  </a:cubicBezTo>
                  <a:lnTo>
                    <a:pt x="0" y="4939620"/>
                  </a:lnTo>
                  <a:lnTo>
                    <a:pt x="0" y="3799573"/>
                  </a:lnTo>
                  <a:lnTo>
                    <a:pt x="64364" y="3974159"/>
                  </a:lnTo>
                  <a:cubicBezTo>
                    <a:pt x="198841" y="4289243"/>
                    <a:pt x="391429" y="4571632"/>
                    <a:pt x="636644" y="4813600"/>
                  </a:cubicBezTo>
                  <a:cubicBezTo>
                    <a:pt x="1131328" y="5301566"/>
                    <a:pt x="1786578" y="5570406"/>
                    <a:pt x="2481577" y="5570406"/>
                  </a:cubicBezTo>
                  <a:cubicBezTo>
                    <a:pt x="2854550" y="5570406"/>
                    <a:pt x="3171314" y="5516996"/>
                    <a:pt x="3449896" y="5407153"/>
                  </a:cubicBezTo>
                  <a:cubicBezTo>
                    <a:pt x="3723103" y="5299438"/>
                    <a:pt x="3970333" y="5132603"/>
                    <a:pt x="4205695" y="4897241"/>
                  </a:cubicBezTo>
                  <a:cubicBezTo>
                    <a:pt x="4369395" y="4733653"/>
                    <a:pt x="4426836" y="4637358"/>
                    <a:pt x="4461434" y="4564802"/>
                  </a:cubicBezTo>
                  <a:cubicBezTo>
                    <a:pt x="4510701" y="4461453"/>
                    <a:pt x="4543509" y="4330784"/>
                    <a:pt x="4588969" y="4149952"/>
                  </a:cubicBezTo>
                  <a:cubicBezTo>
                    <a:pt x="4646969" y="3918846"/>
                    <a:pt x="4726468" y="3602194"/>
                    <a:pt x="4886585" y="3168421"/>
                  </a:cubicBezTo>
                  <a:cubicBezTo>
                    <a:pt x="4984560" y="2902940"/>
                    <a:pt x="4981760" y="2626037"/>
                    <a:pt x="4877964" y="2321590"/>
                  </a:cubicBezTo>
                  <a:cubicBezTo>
                    <a:pt x="4786260" y="2052526"/>
                    <a:pt x="4614834" y="1769129"/>
                    <a:pt x="4382048" y="1501856"/>
                  </a:cubicBezTo>
                  <a:cubicBezTo>
                    <a:pt x="4110072" y="1189683"/>
                    <a:pt x="3838544" y="962832"/>
                    <a:pt x="3551900" y="808425"/>
                  </a:cubicBezTo>
                  <a:cubicBezTo>
                    <a:pt x="3241183" y="641141"/>
                    <a:pt x="2913222" y="559851"/>
                    <a:pt x="2549095" y="559851"/>
                  </a:cubicBezTo>
                  <a:cubicBezTo>
                    <a:pt x="2253830" y="559851"/>
                    <a:pt x="1988013" y="640134"/>
                    <a:pt x="1712566" y="812008"/>
                  </a:cubicBezTo>
                  <a:cubicBezTo>
                    <a:pt x="1428385" y="989593"/>
                    <a:pt x="1158313" y="1250707"/>
                    <a:pt x="906044" y="1502976"/>
                  </a:cubicBezTo>
                  <a:cubicBezTo>
                    <a:pt x="788140" y="1620769"/>
                    <a:pt x="671579" y="1727700"/>
                    <a:pt x="558825" y="1831049"/>
                  </a:cubicBezTo>
                  <a:cubicBezTo>
                    <a:pt x="340371" y="2031140"/>
                    <a:pt x="151813" y="2204022"/>
                    <a:pt x="25063" y="2389556"/>
                  </a:cubicBezTo>
                  <a:lnTo>
                    <a:pt x="0" y="2432109"/>
                  </a:lnTo>
                  <a:lnTo>
                    <a:pt x="0" y="1587383"/>
                  </a:lnTo>
                  <a:lnTo>
                    <a:pt x="76951" y="1513741"/>
                  </a:lnTo>
                  <a:cubicBezTo>
                    <a:pt x="217918" y="1383294"/>
                    <a:pt x="365956" y="1251435"/>
                    <a:pt x="510118" y="1107273"/>
                  </a:cubicBezTo>
                  <a:cubicBezTo>
                    <a:pt x="1086764" y="530627"/>
                    <a:pt x="1669121" y="0"/>
                    <a:pt x="25490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id="{8A614510-A9F4-41B6-B78E-F49E390C7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0"/>
              <a:ext cx="5646974" cy="6483075"/>
            </a:xfrm>
            <a:custGeom>
              <a:avLst/>
              <a:gdLst>
                <a:gd name="connsiteX0" fmla="*/ 2405773 w 5646974"/>
                <a:gd name="connsiteY0" fmla="*/ 0 h 6483075"/>
                <a:gd name="connsiteX1" fmla="*/ 5646974 w 5646974"/>
                <a:gd name="connsiteY1" fmla="*/ 3241538 h 6483075"/>
                <a:gd name="connsiteX2" fmla="*/ 2405773 w 5646974"/>
                <a:gd name="connsiteY2" fmla="*/ 6483075 h 6483075"/>
                <a:gd name="connsiteX3" fmla="*/ 113897 w 5646974"/>
                <a:gd name="connsiteY3" fmla="*/ 5533666 h 6483075"/>
                <a:gd name="connsiteX4" fmla="*/ 0 w 5646974"/>
                <a:gd name="connsiteY4" fmla="*/ 5408336 h 6483075"/>
                <a:gd name="connsiteX5" fmla="*/ 0 w 5646974"/>
                <a:gd name="connsiteY5" fmla="*/ 4983659 h 6483075"/>
                <a:gd name="connsiteX6" fmla="*/ 155731 w 5646974"/>
                <a:gd name="connsiteY6" fmla="*/ 5176047 h 6483075"/>
                <a:gd name="connsiteX7" fmla="*/ 1093706 w 5646974"/>
                <a:gd name="connsiteY7" fmla="*/ 5866903 h 6483075"/>
                <a:gd name="connsiteX8" fmla="*/ 1639673 w 5646974"/>
                <a:gd name="connsiteY8" fmla="*/ 6059940 h 6483075"/>
                <a:gd name="connsiteX9" fmla="*/ 1709990 w 5646974"/>
                <a:gd name="connsiteY9" fmla="*/ 6076287 h 6483075"/>
                <a:gd name="connsiteX10" fmla="*/ 1780307 w 5646974"/>
                <a:gd name="connsiteY10" fmla="*/ 6091963 h 6483075"/>
                <a:gd name="connsiteX11" fmla="*/ 1851072 w 5646974"/>
                <a:gd name="connsiteY11" fmla="*/ 6105176 h 6483075"/>
                <a:gd name="connsiteX12" fmla="*/ 1886455 w 5646974"/>
                <a:gd name="connsiteY12" fmla="*/ 6111782 h 6483075"/>
                <a:gd name="connsiteX13" fmla="*/ 1921949 w 5646974"/>
                <a:gd name="connsiteY13" fmla="*/ 6117716 h 6483075"/>
                <a:gd name="connsiteX14" fmla="*/ 2064152 w 5646974"/>
                <a:gd name="connsiteY14" fmla="*/ 6137647 h 6483075"/>
                <a:gd name="connsiteX15" fmla="*/ 2206914 w 5646974"/>
                <a:gd name="connsiteY15" fmla="*/ 6151195 h 6483075"/>
                <a:gd name="connsiteX16" fmla="*/ 2350011 w 5646974"/>
                <a:gd name="connsiteY16" fmla="*/ 6158250 h 6483075"/>
                <a:gd name="connsiteX17" fmla="*/ 2493109 w 5646974"/>
                <a:gd name="connsiteY17" fmla="*/ 6159705 h 6483075"/>
                <a:gd name="connsiteX18" fmla="*/ 2781321 w 5646974"/>
                <a:gd name="connsiteY18" fmla="*/ 6147277 h 6483075"/>
                <a:gd name="connsiteX19" fmla="*/ 3345091 w 5646974"/>
                <a:gd name="connsiteY19" fmla="*/ 6060276 h 6483075"/>
                <a:gd name="connsiteX20" fmla="*/ 3878853 w 5646974"/>
                <a:gd name="connsiteY20" fmla="*/ 5871718 h 6483075"/>
                <a:gd name="connsiteX21" fmla="*/ 4367267 w 5646974"/>
                <a:gd name="connsiteY21" fmla="*/ 5573093 h 6483075"/>
                <a:gd name="connsiteX22" fmla="*/ 4424484 w 5646974"/>
                <a:gd name="connsiteY22" fmla="*/ 5528529 h 6483075"/>
                <a:gd name="connsiteX23" fmla="*/ 4481252 w 5646974"/>
                <a:gd name="connsiteY23" fmla="*/ 5483069 h 6483075"/>
                <a:gd name="connsiteX24" fmla="*/ 4536790 w 5646974"/>
                <a:gd name="connsiteY24" fmla="*/ 5435818 h 6483075"/>
                <a:gd name="connsiteX25" fmla="*/ 4591543 w 5646974"/>
                <a:gd name="connsiteY25" fmla="*/ 5387671 h 6483075"/>
                <a:gd name="connsiteX26" fmla="*/ 4794209 w 5646974"/>
                <a:gd name="connsiteY26" fmla="*/ 5181198 h 6483075"/>
                <a:gd name="connsiteX27" fmla="*/ 4956678 w 5646974"/>
                <a:gd name="connsiteY27" fmla="*/ 4945836 h 6483075"/>
                <a:gd name="connsiteX28" fmla="*/ 4989262 w 5646974"/>
                <a:gd name="connsiteY28" fmla="*/ 4881453 h 6483075"/>
                <a:gd name="connsiteX29" fmla="*/ 5017814 w 5646974"/>
                <a:gd name="connsiteY29" fmla="*/ 4814607 h 6483075"/>
                <a:gd name="connsiteX30" fmla="*/ 5044127 w 5646974"/>
                <a:gd name="connsiteY30" fmla="*/ 4746193 h 6483075"/>
                <a:gd name="connsiteX31" fmla="*/ 5068425 w 5646974"/>
                <a:gd name="connsiteY31" fmla="*/ 4676436 h 6483075"/>
                <a:gd name="connsiteX32" fmla="*/ 5154641 w 5646974"/>
                <a:gd name="connsiteY32" fmla="*/ 4390352 h 6483075"/>
                <a:gd name="connsiteX33" fmla="*/ 5196854 w 5646974"/>
                <a:gd name="connsiteY33" fmla="*/ 4246134 h 6483075"/>
                <a:gd name="connsiteX34" fmla="*/ 5240299 w 5646974"/>
                <a:gd name="connsiteY34" fmla="*/ 4102140 h 6483075"/>
                <a:gd name="connsiteX35" fmla="*/ 5432440 w 5646974"/>
                <a:gd name="connsiteY35" fmla="*/ 3532884 h 6483075"/>
                <a:gd name="connsiteX36" fmla="*/ 5528846 w 5646974"/>
                <a:gd name="connsiteY36" fmla="*/ 2951647 h 6483075"/>
                <a:gd name="connsiteX37" fmla="*/ 5495927 w 5646974"/>
                <a:gd name="connsiteY37" fmla="*/ 2658733 h 6483075"/>
                <a:gd name="connsiteX38" fmla="*/ 5480027 w 5646974"/>
                <a:gd name="connsiteY38" fmla="*/ 2586848 h 6483075"/>
                <a:gd name="connsiteX39" fmla="*/ 5461328 w 5646974"/>
                <a:gd name="connsiteY39" fmla="*/ 2515635 h 6483075"/>
                <a:gd name="connsiteX40" fmla="*/ 5439605 w 5646974"/>
                <a:gd name="connsiteY40" fmla="*/ 2445317 h 6483075"/>
                <a:gd name="connsiteX41" fmla="*/ 5415532 w 5646974"/>
                <a:gd name="connsiteY41" fmla="*/ 2375896 h 6483075"/>
                <a:gd name="connsiteX42" fmla="*/ 5144564 w 5646974"/>
                <a:gd name="connsiteY42" fmla="*/ 1857138 h 6483075"/>
                <a:gd name="connsiteX43" fmla="*/ 4774838 w 5646974"/>
                <a:gd name="connsiteY43" fmla="*/ 1405450 h 6483075"/>
                <a:gd name="connsiteX44" fmla="*/ 4345769 w 5646974"/>
                <a:gd name="connsiteY44" fmla="*/ 1012323 h 6483075"/>
                <a:gd name="connsiteX45" fmla="*/ 4115334 w 5646974"/>
                <a:gd name="connsiteY45" fmla="*/ 841344 h 6483075"/>
                <a:gd name="connsiteX46" fmla="*/ 3874038 w 5646974"/>
                <a:gd name="connsiteY46" fmla="*/ 691528 h 6483075"/>
                <a:gd name="connsiteX47" fmla="*/ 3359535 w 5646974"/>
                <a:gd name="connsiteY47" fmla="*/ 468819 h 6483075"/>
                <a:gd name="connsiteX48" fmla="*/ 2811105 w 5646974"/>
                <a:gd name="connsiteY48" fmla="*/ 366031 h 6483075"/>
                <a:gd name="connsiteX49" fmla="*/ 2741124 w 5646974"/>
                <a:gd name="connsiteY49" fmla="*/ 361440 h 6483075"/>
                <a:gd name="connsiteX50" fmla="*/ 2671030 w 5646974"/>
                <a:gd name="connsiteY50" fmla="*/ 358417 h 6483075"/>
                <a:gd name="connsiteX51" fmla="*/ 2600713 w 5646974"/>
                <a:gd name="connsiteY51" fmla="*/ 357521 h 6483075"/>
                <a:gd name="connsiteX52" fmla="*/ 2531739 w 5646974"/>
                <a:gd name="connsiteY52" fmla="*/ 358529 h 6483075"/>
                <a:gd name="connsiteX53" fmla="*/ 2259988 w 5646974"/>
                <a:gd name="connsiteY53" fmla="*/ 385289 h 6483075"/>
                <a:gd name="connsiteX54" fmla="*/ 1740670 w 5646974"/>
                <a:gd name="connsiteY54" fmla="*/ 553917 h 6483075"/>
                <a:gd name="connsiteX55" fmla="*/ 1264124 w 5646974"/>
                <a:gd name="connsiteY55" fmla="*/ 853549 h 6483075"/>
                <a:gd name="connsiteX56" fmla="*/ 823074 w 5646974"/>
                <a:gd name="connsiteY56" fmla="*/ 1234136 h 6483075"/>
                <a:gd name="connsiteX57" fmla="*/ 715694 w 5646974"/>
                <a:gd name="connsiteY57" fmla="*/ 1336252 h 6483075"/>
                <a:gd name="connsiteX58" fmla="*/ 606859 w 5646974"/>
                <a:gd name="connsiteY58" fmla="*/ 1440945 h 6483075"/>
                <a:gd name="connsiteX59" fmla="*/ 382023 w 5646974"/>
                <a:gd name="connsiteY59" fmla="*/ 1646074 h 6483075"/>
                <a:gd name="connsiteX60" fmla="*/ 158531 w 5646974"/>
                <a:gd name="connsiteY60" fmla="*/ 1843813 h 6483075"/>
                <a:gd name="connsiteX61" fmla="*/ 0 w 5646974"/>
                <a:gd name="connsiteY61" fmla="*/ 1991775 h 6483075"/>
                <a:gd name="connsiteX62" fmla="*/ 0 w 5646974"/>
                <a:gd name="connsiteY62" fmla="*/ 1074740 h 6483075"/>
                <a:gd name="connsiteX63" fmla="*/ 113897 w 5646974"/>
                <a:gd name="connsiteY63" fmla="*/ 949410 h 6483075"/>
                <a:gd name="connsiteX64" fmla="*/ 2405773 w 5646974"/>
                <a:gd name="connsiteY64" fmla="*/ 0 h 6483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646974" h="6483075">
                  <a:moveTo>
                    <a:pt x="2405773" y="0"/>
                  </a:moveTo>
                  <a:cubicBezTo>
                    <a:pt x="4195841" y="0"/>
                    <a:pt x="5646974" y="1451246"/>
                    <a:pt x="5646974" y="3241538"/>
                  </a:cubicBezTo>
                  <a:cubicBezTo>
                    <a:pt x="5646974" y="5031830"/>
                    <a:pt x="4195841" y="6483075"/>
                    <a:pt x="2405773" y="6483075"/>
                  </a:cubicBezTo>
                  <a:cubicBezTo>
                    <a:pt x="1510739" y="6483075"/>
                    <a:pt x="700439" y="6120264"/>
                    <a:pt x="113897" y="5533666"/>
                  </a:cubicBezTo>
                  <a:lnTo>
                    <a:pt x="0" y="5408336"/>
                  </a:lnTo>
                  <a:lnTo>
                    <a:pt x="0" y="4983659"/>
                  </a:lnTo>
                  <a:lnTo>
                    <a:pt x="155731" y="5176047"/>
                  </a:lnTo>
                  <a:cubicBezTo>
                    <a:pt x="417742" y="5469073"/>
                    <a:pt x="741224" y="5704211"/>
                    <a:pt x="1093706" y="5866903"/>
                  </a:cubicBezTo>
                  <a:cubicBezTo>
                    <a:pt x="1269947" y="5948418"/>
                    <a:pt x="1453018" y="6013137"/>
                    <a:pt x="1639673" y="6059940"/>
                  </a:cubicBezTo>
                  <a:lnTo>
                    <a:pt x="1709990" y="6076287"/>
                  </a:lnTo>
                  <a:cubicBezTo>
                    <a:pt x="1733504" y="6081550"/>
                    <a:pt x="1756570" y="6088156"/>
                    <a:pt x="1780307" y="6091963"/>
                  </a:cubicBezTo>
                  <a:lnTo>
                    <a:pt x="1851072" y="6105176"/>
                  </a:lnTo>
                  <a:lnTo>
                    <a:pt x="1886455" y="6111782"/>
                  </a:lnTo>
                  <a:cubicBezTo>
                    <a:pt x="1898212" y="6114021"/>
                    <a:pt x="1909969" y="6116373"/>
                    <a:pt x="1921949" y="6117716"/>
                  </a:cubicBezTo>
                  <a:cubicBezTo>
                    <a:pt x="1969425" y="6124323"/>
                    <a:pt x="2016676" y="6131489"/>
                    <a:pt x="2064152" y="6137647"/>
                  </a:cubicBezTo>
                  <a:cubicBezTo>
                    <a:pt x="2111851" y="6141790"/>
                    <a:pt x="2159438" y="6146381"/>
                    <a:pt x="2206914" y="6151195"/>
                  </a:cubicBezTo>
                  <a:lnTo>
                    <a:pt x="2350011" y="6158250"/>
                  </a:lnTo>
                  <a:cubicBezTo>
                    <a:pt x="2397711" y="6159593"/>
                    <a:pt x="2445410" y="6159146"/>
                    <a:pt x="2493109" y="6159705"/>
                  </a:cubicBezTo>
                  <a:cubicBezTo>
                    <a:pt x="2589068" y="6158137"/>
                    <a:pt x="2685922" y="6154666"/>
                    <a:pt x="2781321" y="6147277"/>
                  </a:cubicBezTo>
                  <a:cubicBezTo>
                    <a:pt x="2972566" y="6132944"/>
                    <a:pt x="3161348" y="6105288"/>
                    <a:pt x="3345091" y="6060276"/>
                  </a:cubicBezTo>
                  <a:cubicBezTo>
                    <a:pt x="3528834" y="6015375"/>
                    <a:pt x="3707539" y="5952785"/>
                    <a:pt x="3878853" y="5871718"/>
                  </a:cubicBezTo>
                  <a:cubicBezTo>
                    <a:pt x="4050167" y="5790428"/>
                    <a:pt x="4213084" y="5689318"/>
                    <a:pt x="4367267" y="5573093"/>
                  </a:cubicBezTo>
                  <a:lnTo>
                    <a:pt x="4424484" y="5528529"/>
                  </a:lnTo>
                  <a:cubicBezTo>
                    <a:pt x="4443631" y="5513637"/>
                    <a:pt x="4463113" y="5499193"/>
                    <a:pt x="4481252" y="5483069"/>
                  </a:cubicBezTo>
                  <a:lnTo>
                    <a:pt x="4536790" y="5435818"/>
                  </a:lnTo>
                  <a:cubicBezTo>
                    <a:pt x="4555265" y="5419918"/>
                    <a:pt x="4574188" y="5404466"/>
                    <a:pt x="4591543" y="5387671"/>
                  </a:cubicBezTo>
                  <a:cubicBezTo>
                    <a:pt x="4662980" y="5321944"/>
                    <a:pt x="4733074" y="5254650"/>
                    <a:pt x="4794209" y="5181198"/>
                  </a:cubicBezTo>
                  <a:cubicBezTo>
                    <a:pt x="4857808" y="5109089"/>
                    <a:pt x="4910434" y="5029926"/>
                    <a:pt x="4956678" y="4945836"/>
                  </a:cubicBezTo>
                  <a:cubicBezTo>
                    <a:pt x="4967651" y="4924450"/>
                    <a:pt x="4978624" y="4903064"/>
                    <a:pt x="4989262" y="4881453"/>
                  </a:cubicBezTo>
                  <a:lnTo>
                    <a:pt x="5017814" y="4814607"/>
                  </a:lnTo>
                  <a:cubicBezTo>
                    <a:pt x="5027891" y="4792549"/>
                    <a:pt x="5035393" y="4769035"/>
                    <a:pt x="5044127" y="4746193"/>
                  </a:cubicBezTo>
                  <a:cubicBezTo>
                    <a:pt x="5052636" y="4723128"/>
                    <a:pt x="5061146" y="4700174"/>
                    <a:pt x="5068425" y="4676436"/>
                  </a:cubicBezTo>
                  <a:cubicBezTo>
                    <a:pt x="5099552" y="4582717"/>
                    <a:pt x="5126985" y="4486422"/>
                    <a:pt x="5154641" y="4390352"/>
                  </a:cubicBezTo>
                  <a:lnTo>
                    <a:pt x="5196854" y="4246134"/>
                  </a:lnTo>
                  <a:lnTo>
                    <a:pt x="5240299" y="4102140"/>
                  </a:lnTo>
                  <a:cubicBezTo>
                    <a:pt x="5299195" y="3910560"/>
                    <a:pt x="5364697" y="3721330"/>
                    <a:pt x="5432440" y="3532884"/>
                  </a:cubicBezTo>
                  <a:cubicBezTo>
                    <a:pt x="5500294" y="3346902"/>
                    <a:pt x="5533549" y="3148714"/>
                    <a:pt x="5528846" y="2951647"/>
                  </a:cubicBezTo>
                  <a:cubicBezTo>
                    <a:pt x="5526831" y="2853113"/>
                    <a:pt x="5515409" y="2755027"/>
                    <a:pt x="5495927" y="2658733"/>
                  </a:cubicBezTo>
                  <a:cubicBezTo>
                    <a:pt x="5491112" y="2634659"/>
                    <a:pt x="5486297" y="2610585"/>
                    <a:pt x="5480027" y="2586848"/>
                  </a:cubicBezTo>
                  <a:cubicBezTo>
                    <a:pt x="5474205" y="2562998"/>
                    <a:pt x="5468718" y="2539036"/>
                    <a:pt x="5461328" y="2515635"/>
                  </a:cubicBezTo>
                  <a:cubicBezTo>
                    <a:pt x="5454386" y="2492009"/>
                    <a:pt x="5447668" y="2468495"/>
                    <a:pt x="5439605" y="2445317"/>
                  </a:cubicBezTo>
                  <a:cubicBezTo>
                    <a:pt x="5431879" y="2422028"/>
                    <a:pt x="5424378" y="2398738"/>
                    <a:pt x="5415532" y="2375896"/>
                  </a:cubicBezTo>
                  <a:cubicBezTo>
                    <a:pt x="5347790" y="2191817"/>
                    <a:pt x="5254071" y="2018599"/>
                    <a:pt x="5144564" y="1857138"/>
                  </a:cubicBezTo>
                  <a:cubicBezTo>
                    <a:pt x="5034946" y="1695565"/>
                    <a:pt x="4909762" y="1545301"/>
                    <a:pt x="4774838" y="1405450"/>
                  </a:cubicBezTo>
                  <a:cubicBezTo>
                    <a:pt x="4638907" y="1265040"/>
                    <a:pt x="4496145" y="1132131"/>
                    <a:pt x="4345769" y="1012323"/>
                  </a:cubicBezTo>
                  <a:cubicBezTo>
                    <a:pt x="4270749" y="952195"/>
                    <a:pt x="4194273" y="894642"/>
                    <a:pt x="4115334" y="841344"/>
                  </a:cubicBezTo>
                  <a:cubicBezTo>
                    <a:pt x="4037067" y="787263"/>
                    <a:pt x="3956336" y="737548"/>
                    <a:pt x="3874038" y="691528"/>
                  </a:cubicBezTo>
                  <a:cubicBezTo>
                    <a:pt x="3709554" y="599712"/>
                    <a:pt x="3537792" y="523349"/>
                    <a:pt x="3359535" y="468819"/>
                  </a:cubicBezTo>
                  <a:cubicBezTo>
                    <a:pt x="3181278" y="414514"/>
                    <a:pt x="2997311" y="380699"/>
                    <a:pt x="2811105" y="366031"/>
                  </a:cubicBezTo>
                  <a:cubicBezTo>
                    <a:pt x="2787703" y="364575"/>
                    <a:pt x="2764525" y="362448"/>
                    <a:pt x="2741124" y="361440"/>
                  </a:cubicBezTo>
                  <a:lnTo>
                    <a:pt x="2671030" y="358417"/>
                  </a:lnTo>
                  <a:lnTo>
                    <a:pt x="2600713" y="357521"/>
                  </a:lnTo>
                  <a:cubicBezTo>
                    <a:pt x="2577087" y="356961"/>
                    <a:pt x="2554805" y="358305"/>
                    <a:pt x="2531739" y="358529"/>
                  </a:cubicBezTo>
                  <a:cubicBezTo>
                    <a:pt x="2440259" y="360992"/>
                    <a:pt x="2349564" y="370285"/>
                    <a:pt x="2259988" y="385289"/>
                  </a:cubicBezTo>
                  <a:cubicBezTo>
                    <a:pt x="2080723" y="415521"/>
                    <a:pt x="1906945" y="473634"/>
                    <a:pt x="1740670" y="553917"/>
                  </a:cubicBezTo>
                  <a:cubicBezTo>
                    <a:pt x="1574506" y="634647"/>
                    <a:pt x="1415844" y="737100"/>
                    <a:pt x="1264124" y="853549"/>
                  </a:cubicBezTo>
                  <a:cubicBezTo>
                    <a:pt x="1112181" y="969886"/>
                    <a:pt x="966508" y="1099212"/>
                    <a:pt x="823074" y="1234136"/>
                  </a:cubicBezTo>
                  <a:cubicBezTo>
                    <a:pt x="787131" y="1267951"/>
                    <a:pt x="751413" y="1301990"/>
                    <a:pt x="715694" y="1336252"/>
                  </a:cubicBezTo>
                  <a:lnTo>
                    <a:pt x="606859" y="1440945"/>
                  </a:lnTo>
                  <a:cubicBezTo>
                    <a:pt x="532623" y="1511374"/>
                    <a:pt x="457267" y="1579452"/>
                    <a:pt x="382023" y="1646074"/>
                  </a:cubicBezTo>
                  <a:lnTo>
                    <a:pt x="158531" y="1843813"/>
                  </a:lnTo>
                  <a:lnTo>
                    <a:pt x="0" y="1991775"/>
                  </a:lnTo>
                  <a:lnTo>
                    <a:pt x="0" y="1074740"/>
                  </a:lnTo>
                  <a:lnTo>
                    <a:pt x="113897" y="949410"/>
                  </a:lnTo>
                  <a:cubicBezTo>
                    <a:pt x="700439" y="362812"/>
                    <a:pt x="1510739" y="0"/>
                    <a:pt x="2405773" y="0"/>
                  </a:cubicBezTo>
                  <a:close/>
                </a:path>
              </a:pathLst>
            </a:custGeom>
            <a:gradFill>
              <a:gsLst>
                <a:gs pos="2000">
                  <a:schemeClr val="bg1">
                    <a:alpha val="10000"/>
                  </a:schemeClr>
                </a:gs>
                <a:gs pos="16000">
                  <a:schemeClr val="accent6">
                    <a:alpha val="10000"/>
                  </a:schemeClr>
                </a:gs>
                <a:gs pos="100000">
                  <a:schemeClr val="bg1">
                    <a:alpha val="10000"/>
                  </a:schemeClr>
                </a:gs>
                <a:gs pos="74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8F8CF7B4-37B3-D37F-9B19-CF0DB03FC2CB}"/>
              </a:ext>
            </a:extLst>
          </p:cNvPr>
          <p:cNvSpPr>
            <a:spLocks noGrp="1"/>
          </p:cNvSpPr>
          <p:nvPr>
            <p:ph type="title"/>
          </p:nvPr>
        </p:nvSpPr>
        <p:spPr>
          <a:xfrm>
            <a:off x="804672" y="2053641"/>
            <a:ext cx="3669161" cy="2760098"/>
          </a:xfrm>
        </p:spPr>
        <p:txBody>
          <a:bodyPr>
            <a:normAutofit/>
          </a:bodyPr>
          <a:lstStyle/>
          <a:p>
            <a:br>
              <a:rPr lang="en-IN" sz="3700" b="1" kern="0">
                <a:solidFill>
                  <a:schemeClr val="tx2"/>
                </a:solidFill>
                <a:effectLst/>
                <a:latin typeface="Times New Roman" panose="02020603050405020304" pitchFamily="18" charset="0"/>
                <a:ea typeface="Times New Roman" panose="02020603050405020304" pitchFamily="18" charset="0"/>
                <a:cs typeface="Tunga" panose="020B0502040204020203" pitchFamily="34" charset="0"/>
              </a:rPr>
            </a:br>
            <a:r>
              <a:rPr lang="en-IN" sz="3700" b="1" kern="0">
                <a:solidFill>
                  <a:schemeClr val="tx2"/>
                </a:solidFill>
                <a:effectLst/>
                <a:latin typeface="Times New Roman" panose="02020603050405020304" pitchFamily="18" charset="0"/>
                <a:ea typeface="Times New Roman" panose="02020603050405020304" pitchFamily="18" charset="0"/>
                <a:cs typeface="Tunga" panose="020B0502040204020203" pitchFamily="34" charset="0"/>
              </a:rPr>
              <a:t>Benefits of Corporate Philanthropy</a:t>
            </a:r>
            <a:br>
              <a:rPr lang="en-IN" sz="3700" kern="100">
                <a:solidFill>
                  <a:schemeClr val="tx2"/>
                </a:solidFill>
                <a:effectLst/>
                <a:latin typeface="Calibri" panose="020F0502020204030204" pitchFamily="34" charset="0"/>
                <a:ea typeface="Calibri" panose="020F0502020204030204" pitchFamily="34" charset="0"/>
                <a:cs typeface="Tunga" panose="020B0502040204020203" pitchFamily="34" charset="0"/>
              </a:rPr>
            </a:br>
            <a:endParaRPr lang="en-IN" sz="3700">
              <a:solidFill>
                <a:schemeClr val="tx2"/>
              </a:solidFill>
            </a:endParaRPr>
          </a:p>
        </p:txBody>
      </p:sp>
      <p:sp>
        <p:nvSpPr>
          <p:cNvPr id="3" name="Content Placeholder 2">
            <a:extLst>
              <a:ext uri="{FF2B5EF4-FFF2-40B4-BE49-F238E27FC236}">
                <a16:creationId xmlns:a16="http://schemas.microsoft.com/office/drawing/2014/main" id="{B9FAEBD8-A830-9BB4-8A53-B7EFA49E1713}"/>
              </a:ext>
            </a:extLst>
          </p:cNvPr>
          <p:cNvSpPr>
            <a:spLocks noGrp="1"/>
          </p:cNvSpPr>
          <p:nvPr>
            <p:ph idx="1"/>
          </p:nvPr>
        </p:nvSpPr>
        <p:spPr>
          <a:xfrm>
            <a:off x="5755294" y="813683"/>
            <a:ext cx="5306084" cy="5230634"/>
          </a:xfrm>
          <a:noFill/>
          <a:ln>
            <a:noFill/>
          </a:ln>
        </p:spPr>
        <p:txBody>
          <a:bodyPr anchor="ctr">
            <a:normAutofit/>
          </a:bodyPr>
          <a:lstStyle/>
          <a:p>
            <a:r>
              <a:rPr lang="en-IN" sz="3200" kern="0" dirty="0">
                <a:solidFill>
                  <a:schemeClr val="tx2"/>
                </a:solidFill>
                <a:effectLst/>
                <a:latin typeface="Times New Roman" panose="02020603050405020304" pitchFamily="18" charset="0"/>
                <a:ea typeface="Times New Roman" panose="02020603050405020304" pitchFamily="18" charset="0"/>
              </a:rPr>
              <a:t>Government Support </a:t>
            </a:r>
          </a:p>
          <a:p>
            <a:r>
              <a:rPr lang="en-IN" sz="3200" kern="0" dirty="0">
                <a:solidFill>
                  <a:schemeClr val="tx2"/>
                </a:solidFill>
                <a:effectLst/>
                <a:latin typeface="Times New Roman" panose="02020603050405020304" pitchFamily="18" charset="0"/>
                <a:ea typeface="Times New Roman" panose="02020603050405020304" pitchFamily="18" charset="0"/>
                <a:cs typeface="Tunga" panose="020B0502040204020203" pitchFamily="34" charset="0"/>
              </a:rPr>
              <a:t>Tax Benefits National </a:t>
            </a:r>
          </a:p>
          <a:p>
            <a:r>
              <a:rPr lang="en-IN" sz="3200" kern="0" dirty="0">
                <a:solidFill>
                  <a:schemeClr val="tx2"/>
                </a:solidFill>
                <a:effectLst/>
                <a:latin typeface="Times New Roman" panose="02020603050405020304" pitchFamily="18" charset="0"/>
                <a:ea typeface="Times New Roman" panose="02020603050405020304" pitchFamily="18" charset="0"/>
                <a:cs typeface="Tunga" panose="020B0502040204020203" pitchFamily="34" charset="0"/>
              </a:rPr>
              <a:t>Recognition</a:t>
            </a:r>
            <a:r>
              <a:rPr lang="en-IN" sz="3200" kern="100" dirty="0">
                <a:solidFill>
                  <a:schemeClr val="tx2"/>
                </a:solidFill>
                <a:latin typeface="Calibri" panose="020F0502020204030204" pitchFamily="34" charset="0"/>
                <a:ea typeface="Calibri" panose="020F0502020204030204" pitchFamily="34" charset="0"/>
                <a:cs typeface="Tunga" panose="020B0502040204020203" pitchFamily="34" charset="0"/>
              </a:rPr>
              <a:t> </a:t>
            </a:r>
            <a:r>
              <a:rPr lang="en-IN" sz="3200" kern="0" dirty="0">
                <a:solidFill>
                  <a:schemeClr val="tx2"/>
                </a:solidFill>
                <a:effectLst/>
                <a:latin typeface="Times New Roman" panose="02020603050405020304" pitchFamily="18" charset="0"/>
                <a:ea typeface="Times New Roman" panose="02020603050405020304" pitchFamily="18" charset="0"/>
                <a:cs typeface="Tunga" panose="020B0502040204020203" pitchFamily="34" charset="0"/>
              </a:rPr>
              <a:t>Builds </a:t>
            </a:r>
          </a:p>
          <a:p>
            <a:r>
              <a:rPr lang="en-IN" sz="3200" kern="0" dirty="0">
                <a:solidFill>
                  <a:schemeClr val="tx2"/>
                </a:solidFill>
                <a:effectLst/>
                <a:latin typeface="Times New Roman" panose="02020603050405020304" pitchFamily="18" charset="0"/>
                <a:ea typeface="Times New Roman" panose="02020603050405020304" pitchFamily="18" charset="0"/>
                <a:cs typeface="Tunga" panose="020B0502040204020203" pitchFamily="34" charset="0"/>
              </a:rPr>
              <a:t>Community Assistance</a:t>
            </a:r>
          </a:p>
          <a:p>
            <a:r>
              <a:rPr lang="en-IN" sz="3200" kern="100" dirty="0">
                <a:solidFill>
                  <a:schemeClr val="tx2"/>
                </a:solidFill>
                <a:latin typeface="Calibri" panose="020F0502020204030204" pitchFamily="34" charset="0"/>
                <a:ea typeface="Calibri" panose="020F0502020204030204" pitchFamily="34" charset="0"/>
                <a:cs typeface="Tunga" panose="020B0502040204020203" pitchFamily="34" charset="0"/>
              </a:rPr>
              <a:t> </a:t>
            </a:r>
            <a:r>
              <a:rPr lang="en-IN" sz="3200" kern="0" dirty="0">
                <a:solidFill>
                  <a:schemeClr val="tx2"/>
                </a:solidFill>
                <a:effectLst/>
                <a:latin typeface="Times New Roman" panose="02020603050405020304" pitchFamily="18" charset="0"/>
                <a:ea typeface="Times New Roman" panose="02020603050405020304" pitchFamily="18" charset="0"/>
                <a:cs typeface="Tunga" panose="020B0502040204020203" pitchFamily="34" charset="0"/>
              </a:rPr>
              <a:t>Increased Sales </a:t>
            </a:r>
          </a:p>
          <a:p>
            <a:r>
              <a:rPr lang="en-IN" sz="3200" kern="0" dirty="0">
                <a:solidFill>
                  <a:schemeClr val="tx2"/>
                </a:solidFill>
                <a:effectLst/>
                <a:latin typeface="Times New Roman" panose="02020603050405020304" pitchFamily="18" charset="0"/>
                <a:ea typeface="Times New Roman" panose="02020603050405020304" pitchFamily="18" charset="0"/>
                <a:cs typeface="Tunga" panose="020B0502040204020203" pitchFamily="34" charset="0"/>
              </a:rPr>
              <a:t>Employee Engagement</a:t>
            </a:r>
          </a:p>
          <a:p>
            <a:r>
              <a:rPr lang="en-IN" sz="3200" kern="0" dirty="0">
                <a:solidFill>
                  <a:schemeClr val="tx2"/>
                </a:solidFill>
                <a:effectLst/>
                <a:latin typeface="Times New Roman" panose="02020603050405020304" pitchFamily="18" charset="0"/>
                <a:ea typeface="Times New Roman" panose="02020603050405020304" pitchFamily="18" charset="0"/>
                <a:cs typeface="Tunga" panose="020B0502040204020203" pitchFamily="34" charset="0"/>
              </a:rPr>
              <a:t>Enhances Productivity </a:t>
            </a:r>
          </a:p>
          <a:p>
            <a:r>
              <a:rPr lang="en-IN" sz="3200" kern="0" dirty="0">
                <a:solidFill>
                  <a:schemeClr val="tx2"/>
                </a:solidFill>
                <a:effectLst/>
                <a:latin typeface="Times New Roman" panose="02020603050405020304" pitchFamily="18" charset="0"/>
                <a:ea typeface="Times New Roman" panose="02020603050405020304" pitchFamily="18" charset="0"/>
              </a:rPr>
              <a:t>Stronger Customer Relation </a:t>
            </a:r>
            <a:endParaRPr lang="en-IN" sz="3200" dirty="0">
              <a:solidFill>
                <a:schemeClr val="tx2"/>
              </a:solidFill>
            </a:endParaRPr>
          </a:p>
        </p:txBody>
      </p:sp>
      <p:sp>
        <p:nvSpPr>
          <p:cNvPr id="5" name="Rectangle 4">
            <a:extLst>
              <a:ext uri="{FF2B5EF4-FFF2-40B4-BE49-F238E27FC236}">
                <a16:creationId xmlns:a16="http://schemas.microsoft.com/office/drawing/2014/main" id="{A7F95882-1051-6456-4D92-5ADE42DB17F7}"/>
              </a:ext>
            </a:extLst>
          </p:cNvPr>
          <p:cNvSpPr/>
          <p:nvPr/>
        </p:nvSpPr>
        <p:spPr>
          <a:xfrm>
            <a:off x="428625" y="352425"/>
            <a:ext cx="11325225" cy="6276975"/>
          </a:xfrm>
          <a:prstGeom prst="rect">
            <a:avLst/>
          </a:prstGeom>
          <a:noFill/>
          <a:ln>
            <a:solidFill>
              <a:srgbClr val="00206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24619062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A7912D3-6B6D-3BE8-EE65-7781F49CB6FA}"/>
              </a:ext>
            </a:extLst>
          </p:cNvPr>
          <p:cNvSpPr>
            <a:spLocks noGrp="1"/>
          </p:cNvSpPr>
          <p:nvPr>
            <p:ph type="title"/>
          </p:nvPr>
        </p:nvSpPr>
        <p:spPr>
          <a:xfrm>
            <a:off x="838200" y="365125"/>
            <a:ext cx="10515600" cy="1325563"/>
          </a:xfrm>
        </p:spPr>
        <p:txBody>
          <a:bodyPr>
            <a:normAutofit/>
          </a:bodyPr>
          <a:lstStyle/>
          <a:p>
            <a:r>
              <a:rPr lang="en-IN" sz="5400" kern="0" spc="5">
                <a:effectLst/>
                <a:latin typeface="Times New Roman" panose="02020603050405020304" pitchFamily="18" charset="0"/>
                <a:ea typeface="Times New Roman" panose="02020603050405020304" pitchFamily="18" charset="0"/>
                <a:cs typeface="Tunga" panose="020B0502040204020203" pitchFamily="34" charset="0"/>
              </a:rPr>
              <a:t>Corporate citizenship</a:t>
            </a:r>
            <a:endParaRPr lang="en-IN" sz="540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CC99882-BB69-3301-E071-C7B0B34F6FFE}"/>
              </a:ext>
            </a:extLst>
          </p:cNvPr>
          <p:cNvSpPr>
            <a:spLocks noGrp="1"/>
          </p:cNvSpPr>
          <p:nvPr>
            <p:ph idx="1"/>
          </p:nvPr>
        </p:nvSpPr>
        <p:spPr>
          <a:xfrm>
            <a:off x="669036" y="1792817"/>
            <a:ext cx="10537444" cy="4729480"/>
          </a:xfrm>
        </p:spPr>
        <p:txBody>
          <a:bodyPr>
            <a:normAutofit/>
          </a:bodyPr>
          <a:lstStyle/>
          <a:p>
            <a:pPr algn="just">
              <a:lnSpc>
                <a:spcPct val="150000"/>
              </a:lnSpc>
              <a:spcAft>
                <a:spcPts val="800"/>
              </a:spcAft>
            </a:pPr>
            <a:r>
              <a:rPr lang="en-IN" sz="2400" kern="0" spc="5" dirty="0">
                <a:effectLst/>
                <a:latin typeface="Times New Roman" panose="02020603050405020304" pitchFamily="18" charset="0"/>
                <a:ea typeface="Times New Roman" panose="02020603050405020304" pitchFamily="18" charset="0"/>
                <a:cs typeface="Tunga" panose="020B0502040204020203" pitchFamily="34" charset="0"/>
              </a:rPr>
              <a:t>Corporate citizenship refers to a company’s responsibilities toward society.</a:t>
            </a:r>
          </a:p>
          <a:p>
            <a:pPr algn="just">
              <a:lnSpc>
                <a:spcPct val="150000"/>
              </a:lnSpc>
              <a:spcAft>
                <a:spcPts val="800"/>
              </a:spcAft>
            </a:pPr>
            <a:r>
              <a:rPr lang="en-US" sz="2400" dirty="0">
                <a:latin typeface="Times New Roman" panose="02020603050405020304" pitchFamily="18" charset="0"/>
                <a:cs typeface="Times New Roman" panose="02020603050405020304" pitchFamily="18" charset="0"/>
              </a:rPr>
              <a:t>C</a:t>
            </a:r>
            <a:r>
              <a:rPr lang="en-US" sz="2400" b="0" i="0" dirty="0">
                <a:effectLst/>
                <a:latin typeface="Times New Roman" panose="02020603050405020304" pitchFamily="18" charset="0"/>
                <a:cs typeface="Times New Roman" panose="02020603050405020304" pitchFamily="18" charset="0"/>
              </a:rPr>
              <a:t>orporate citizenship is growing increasingly important as both individual and institutional investors begin to seek out companies that have socially responsible orientations such as their environmental, social, and governance (ESG) practices.</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800"/>
              </a:spcAft>
            </a:pPr>
            <a:r>
              <a:rPr lang="en-IN" sz="2400" kern="0" spc="5" dirty="0">
                <a:effectLst/>
                <a:latin typeface="Times New Roman" panose="02020603050405020304" pitchFamily="18" charset="0"/>
                <a:ea typeface="Times New Roman" panose="02020603050405020304" pitchFamily="18" charset="0"/>
                <a:cs typeface="Tunga" panose="020B0502040204020203" pitchFamily="34" charset="0"/>
              </a:rPr>
              <a:t>Companies go through increasing stages during the process of developing corporate citizenship.</a:t>
            </a:r>
            <a:endParaRPr lang="en-IN" sz="2400" kern="100" dirty="0">
              <a:effectLst/>
              <a:latin typeface="Calibri" panose="020F0502020204030204" pitchFamily="34" charset="0"/>
              <a:ea typeface="Calibri" panose="020F0502020204030204" pitchFamily="34" charset="0"/>
              <a:cs typeface="Tunga" panose="020B0502040204020203" pitchFamily="34" charset="0"/>
            </a:endParaRPr>
          </a:p>
          <a:p>
            <a:pPr algn="just"/>
            <a:endParaRPr lang="en-IN" dirty="0"/>
          </a:p>
        </p:txBody>
      </p:sp>
      <p:sp>
        <p:nvSpPr>
          <p:cNvPr id="4" name="Rectangle 3">
            <a:extLst>
              <a:ext uri="{FF2B5EF4-FFF2-40B4-BE49-F238E27FC236}">
                <a16:creationId xmlns:a16="http://schemas.microsoft.com/office/drawing/2014/main" id="{864ECE5F-D547-34FB-0EF1-FF303E067241}"/>
              </a:ext>
            </a:extLst>
          </p:cNvPr>
          <p:cNvSpPr/>
          <p:nvPr/>
        </p:nvSpPr>
        <p:spPr>
          <a:xfrm>
            <a:off x="428625" y="352425"/>
            <a:ext cx="11325225" cy="6276975"/>
          </a:xfrm>
          <a:prstGeom prst="rect">
            <a:avLst/>
          </a:prstGeom>
          <a:noFill/>
          <a:ln>
            <a:solidFill>
              <a:srgbClr val="00206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30698176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A7912D3-6B6D-3BE8-EE65-7781F49CB6FA}"/>
              </a:ext>
            </a:extLst>
          </p:cNvPr>
          <p:cNvSpPr>
            <a:spLocks noGrp="1"/>
          </p:cNvSpPr>
          <p:nvPr>
            <p:ph type="title"/>
          </p:nvPr>
        </p:nvSpPr>
        <p:spPr>
          <a:xfrm>
            <a:off x="838200" y="365125"/>
            <a:ext cx="10515600" cy="1325563"/>
          </a:xfrm>
        </p:spPr>
        <p:txBody>
          <a:bodyPr>
            <a:normAutofit/>
          </a:bodyPr>
          <a:lstStyle/>
          <a:p>
            <a:r>
              <a:rPr lang="en-IN" sz="5400" kern="0" spc="5">
                <a:effectLst/>
                <a:latin typeface="Times New Roman" panose="02020603050405020304" pitchFamily="18" charset="0"/>
                <a:ea typeface="Times New Roman" panose="02020603050405020304" pitchFamily="18" charset="0"/>
                <a:cs typeface="Tunga" panose="020B0502040204020203" pitchFamily="34" charset="0"/>
              </a:rPr>
              <a:t>Corporate citizenship</a:t>
            </a:r>
            <a:endParaRPr lang="en-IN" sz="540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CC99882-BB69-3301-E071-C7B0B34F6FFE}"/>
              </a:ext>
            </a:extLst>
          </p:cNvPr>
          <p:cNvSpPr>
            <a:spLocks noGrp="1"/>
          </p:cNvSpPr>
          <p:nvPr>
            <p:ph idx="1"/>
          </p:nvPr>
        </p:nvSpPr>
        <p:spPr>
          <a:xfrm>
            <a:off x="669036" y="1807464"/>
            <a:ext cx="11197844" cy="4729480"/>
          </a:xfrm>
        </p:spPr>
        <p:txBody>
          <a:bodyPr>
            <a:normAutofit/>
          </a:bodyPr>
          <a:lstStyle/>
          <a:p>
            <a:pPr>
              <a:spcAft>
                <a:spcPts val="800"/>
              </a:spcAft>
            </a:pPr>
            <a:r>
              <a:rPr lang="en-IN" kern="0" spc="5" dirty="0">
                <a:effectLst/>
                <a:latin typeface="Times New Roman" panose="02020603050405020304" pitchFamily="18" charset="0"/>
                <a:ea typeface="Times New Roman" panose="02020603050405020304" pitchFamily="18" charset="0"/>
                <a:cs typeface="Tunga" panose="020B0502040204020203" pitchFamily="34" charset="0"/>
              </a:rPr>
              <a:t>The five stages of corporate citizenship are defined as:</a:t>
            </a:r>
            <a:endParaRPr lang="en-IN" kern="100" dirty="0">
              <a:effectLst/>
              <a:latin typeface="Calibri" panose="020F0502020204030204" pitchFamily="34" charset="0"/>
              <a:ea typeface="Calibri" panose="020F0502020204030204" pitchFamily="34" charset="0"/>
              <a:cs typeface="Tunga" panose="020B0502040204020203" pitchFamily="34" charset="0"/>
            </a:endParaRPr>
          </a:p>
          <a:p>
            <a:pPr marL="342900" lvl="0" indent="-342900">
              <a:spcAft>
                <a:spcPts val="800"/>
              </a:spcAft>
              <a:buFont typeface="+mj-lt"/>
              <a:buAutoNum type="arabicPeriod"/>
              <a:tabLst>
                <a:tab pos="457200" algn="l"/>
              </a:tabLst>
            </a:pPr>
            <a:r>
              <a:rPr lang="en-IN" kern="0" spc="5" dirty="0">
                <a:effectLst/>
                <a:latin typeface="Times New Roman" panose="02020603050405020304" pitchFamily="18" charset="0"/>
                <a:ea typeface="Times New Roman" panose="02020603050405020304" pitchFamily="18" charset="0"/>
                <a:cs typeface="Tunga" panose="020B0502040204020203" pitchFamily="34" charset="0"/>
              </a:rPr>
              <a:t>Elementary</a:t>
            </a:r>
            <a:endParaRPr lang="en-IN" kern="100" dirty="0">
              <a:effectLst/>
              <a:latin typeface="Calibri" panose="020F0502020204030204" pitchFamily="34" charset="0"/>
              <a:ea typeface="Calibri" panose="020F0502020204030204" pitchFamily="34" charset="0"/>
              <a:cs typeface="Tunga" panose="020B0502040204020203" pitchFamily="34" charset="0"/>
            </a:endParaRPr>
          </a:p>
          <a:p>
            <a:pPr marL="342900" lvl="0" indent="-342900">
              <a:spcAft>
                <a:spcPts val="800"/>
              </a:spcAft>
              <a:buFont typeface="+mj-lt"/>
              <a:buAutoNum type="arabicPeriod"/>
              <a:tabLst>
                <a:tab pos="457200" algn="l"/>
              </a:tabLst>
            </a:pPr>
            <a:r>
              <a:rPr lang="en-IN" kern="0" spc="5" dirty="0">
                <a:effectLst/>
                <a:latin typeface="Times New Roman" panose="02020603050405020304" pitchFamily="18" charset="0"/>
                <a:ea typeface="Times New Roman" panose="02020603050405020304" pitchFamily="18" charset="0"/>
                <a:cs typeface="Tunga" panose="020B0502040204020203" pitchFamily="34" charset="0"/>
              </a:rPr>
              <a:t>Engaged</a:t>
            </a:r>
            <a:endParaRPr lang="en-IN" kern="100" dirty="0">
              <a:effectLst/>
              <a:latin typeface="Calibri" panose="020F0502020204030204" pitchFamily="34" charset="0"/>
              <a:ea typeface="Calibri" panose="020F0502020204030204" pitchFamily="34" charset="0"/>
              <a:cs typeface="Tunga" panose="020B0502040204020203" pitchFamily="34" charset="0"/>
            </a:endParaRPr>
          </a:p>
          <a:p>
            <a:pPr marL="342900" lvl="0" indent="-342900">
              <a:spcAft>
                <a:spcPts val="800"/>
              </a:spcAft>
              <a:buFont typeface="+mj-lt"/>
              <a:buAutoNum type="arabicPeriod"/>
              <a:tabLst>
                <a:tab pos="457200" algn="l"/>
              </a:tabLst>
            </a:pPr>
            <a:r>
              <a:rPr lang="en-IN" kern="0" spc="5" dirty="0">
                <a:effectLst/>
                <a:latin typeface="Times New Roman" panose="02020603050405020304" pitchFamily="18" charset="0"/>
                <a:ea typeface="Times New Roman" panose="02020603050405020304" pitchFamily="18" charset="0"/>
                <a:cs typeface="Tunga" panose="020B0502040204020203" pitchFamily="34" charset="0"/>
              </a:rPr>
              <a:t>Innovative</a:t>
            </a:r>
            <a:endParaRPr lang="en-IN" kern="100" dirty="0">
              <a:effectLst/>
              <a:latin typeface="Calibri" panose="020F0502020204030204" pitchFamily="34" charset="0"/>
              <a:ea typeface="Calibri" panose="020F0502020204030204" pitchFamily="34" charset="0"/>
              <a:cs typeface="Tunga" panose="020B0502040204020203" pitchFamily="34" charset="0"/>
            </a:endParaRPr>
          </a:p>
          <a:p>
            <a:pPr marL="342900" lvl="0" indent="-342900">
              <a:spcAft>
                <a:spcPts val="800"/>
              </a:spcAft>
              <a:buFont typeface="+mj-lt"/>
              <a:buAutoNum type="arabicPeriod"/>
              <a:tabLst>
                <a:tab pos="457200" algn="l"/>
              </a:tabLst>
            </a:pPr>
            <a:r>
              <a:rPr lang="en-IN" kern="0" spc="5" dirty="0">
                <a:effectLst/>
                <a:latin typeface="Times New Roman" panose="02020603050405020304" pitchFamily="18" charset="0"/>
                <a:ea typeface="Times New Roman" panose="02020603050405020304" pitchFamily="18" charset="0"/>
                <a:cs typeface="Tunga" panose="020B0502040204020203" pitchFamily="34" charset="0"/>
              </a:rPr>
              <a:t>Integrated</a:t>
            </a:r>
            <a:endParaRPr lang="en-IN" kern="100" dirty="0">
              <a:effectLst/>
              <a:latin typeface="Calibri" panose="020F0502020204030204" pitchFamily="34" charset="0"/>
              <a:ea typeface="Calibri" panose="020F0502020204030204" pitchFamily="34" charset="0"/>
              <a:cs typeface="Tunga" panose="020B0502040204020203" pitchFamily="34" charset="0"/>
            </a:endParaRPr>
          </a:p>
          <a:p>
            <a:pPr marL="342900" lvl="0" indent="-342900">
              <a:spcAft>
                <a:spcPts val="800"/>
              </a:spcAft>
              <a:buFont typeface="+mj-lt"/>
              <a:buAutoNum type="arabicPeriod"/>
              <a:tabLst>
                <a:tab pos="457200" algn="l"/>
              </a:tabLst>
            </a:pPr>
            <a:r>
              <a:rPr lang="en-IN" kern="0" spc="5" dirty="0">
                <a:effectLst/>
                <a:latin typeface="Times New Roman" panose="02020603050405020304" pitchFamily="18" charset="0"/>
                <a:ea typeface="Times New Roman" panose="02020603050405020304" pitchFamily="18" charset="0"/>
                <a:cs typeface="Tunga" panose="020B0502040204020203" pitchFamily="34" charset="0"/>
              </a:rPr>
              <a:t>Transforming</a:t>
            </a:r>
            <a:endParaRPr lang="en-IN" kern="100" dirty="0">
              <a:effectLst/>
              <a:latin typeface="Calibri" panose="020F0502020204030204" pitchFamily="34" charset="0"/>
              <a:ea typeface="Calibri" panose="020F0502020204030204" pitchFamily="34" charset="0"/>
              <a:cs typeface="Tunga" panose="020B0502040204020203" pitchFamily="34" charset="0"/>
            </a:endParaRPr>
          </a:p>
          <a:p>
            <a:endParaRPr lang="en-IN" sz="1600" dirty="0"/>
          </a:p>
        </p:txBody>
      </p:sp>
      <p:sp>
        <p:nvSpPr>
          <p:cNvPr id="4" name="Rectangle 3">
            <a:extLst>
              <a:ext uri="{FF2B5EF4-FFF2-40B4-BE49-F238E27FC236}">
                <a16:creationId xmlns:a16="http://schemas.microsoft.com/office/drawing/2014/main" id="{864ECE5F-D547-34FB-0EF1-FF303E067241}"/>
              </a:ext>
            </a:extLst>
          </p:cNvPr>
          <p:cNvSpPr/>
          <p:nvPr/>
        </p:nvSpPr>
        <p:spPr>
          <a:xfrm>
            <a:off x="428625" y="352425"/>
            <a:ext cx="11325225" cy="6276975"/>
          </a:xfrm>
          <a:prstGeom prst="rect">
            <a:avLst/>
          </a:prstGeom>
          <a:noFill/>
          <a:ln>
            <a:solidFill>
              <a:srgbClr val="00206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4902399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903C2-2ADF-6F57-3262-CF13DBAB51F4}"/>
              </a:ext>
            </a:extLst>
          </p:cNvPr>
          <p:cNvSpPr>
            <a:spLocks noGrp="1"/>
          </p:cNvSpPr>
          <p:nvPr>
            <p:ph type="title"/>
          </p:nvPr>
        </p:nvSpPr>
        <p:spPr>
          <a:xfrm>
            <a:off x="537167" y="283627"/>
            <a:ext cx="10515600" cy="924871"/>
          </a:xfrm>
        </p:spPr>
        <p:txBody>
          <a:bodyPr>
            <a:normAutofit/>
          </a:bodyPr>
          <a:lstStyle/>
          <a:p>
            <a:r>
              <a:rPr lang="en-IN" sz="4000" dirty="0">
                <a:latin typeface="Times New Roman" panose="02020603050405020304" pitchFamily="18" charset="0"/>
                <a:cs typeface="Times New Roman" panose="02020603050405020304" pitchFamily="18" charset="0"/>
              </a:rPr>
              <a:t>CSR-an overlapping</a:t>
            </a:r>
          </a:p>
        </p:txBody>
      </p:sp>
      <p:pic>
        <p:nvPicPr>
          <p:cNvPr id="5" name="Content Placeholder 4">
            <a:extLst>
              <a:ext uri="{FF2B5EF4-FFF2-40B4-BE49-F238E27FC236}">
                <a16:creationId xmlns:a16="http://schemas.microsoft.com/office/drawing/2014/main" id="{79453508-1AC0-BEFB-10FA-0802A56D974F}"/>
              </a:ext>
            </a:extLst>
          </p:cNvPr>
          <p:cNvPicPr>
            <a:picLocks noGrp="1" noChangeAspect="1"/>
          </p:cNvPicPr>
          <p:nvPr>
            <p:ph idx="1"/>
          </p:nvPr>
        </p:nvPicPr>
        <p:blipFill>
          <a:blip r:embed="rId2"/>
          <a:stretch>
            <a:fillRect/>
          </a:stretch>
        </p:blipFill>
        <p:spPr>
          <a:xfrm>
            <a:off x="142240" y="1084673"/>
            <a:ext cx="10759440" cy="5420902"/>
          </a:xfrm>
        </p:spPr>
      </p:pic>
      <p:sp>
        <p:nvSpPr>
          <p:cNvPr id="3" name="Rectangle 2">
            <a:extLst>
              <a:ext uri="{FF2B5EF4-FFF2-40B4-BE49-F238E27FC236}">
                <a16:creationId xmlns:a16="http://schemas.microsoft.com/office/drawing/2014/main" id="{2DC7F8C4-D178-36A1-1CDA-FFB744CF03DC}"/>
              </a:ext>
            </a:extLst>
          </p:cNvPr>
          <p:cNvSpPr/>
          <p:nvPr/>
        </p:nvSpPr>
        <p:spPr>
          <a:xfrm>
            <a:off x="428625" y="352425"/>
            <a:ext cx="11325225" cy="6276975"/>
          </a:xfrm>
          <a:prstGeom prst="rect">
            <a:avLst/>
          </a:prstGeom>
          <a:noFill/>
          <a:ln>
            <a:solidFill>
              <a:srgbClr val="00206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41459077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5E88755-619A-3CDF-7CFB-528C12262FA5}"/>
              </a:ext>
            </a:extLst>
          </p:cNvPr>
          <p:cNvSpPr>
            <a:spLocks noGrp="1"/>
          </p:cNvSpPr>
          <p:nvPr>
            <p:ph type="title"/>
          </p:nvPr>
        </p:nvSpPr>
        <p:spPr>
          <a:xfrm>
            <a:off x="838200" y="365125"/>
            <a:ext cx="10515600" cy="1325563"/>
          </a:xfrm>
        </p:spPr>
        <p:txBody>
          <a:bodyPr>
            <a:normAutofit/>
          </a:bodyPr>
          <a:lstStyle/>
          <a:p>
            <a:r>
              <a:rPr lang="en-IN" sz="4600">
                <a:latin typeface="Times New Roman" panose="02020603050405020304" pitchFamily="18" charset="0"/>
                <a:cs typeface="Times New Roman" panose="02020603050405020304" pitchFamily="18" charset="0"/>
              </a:rPr>
              <a:t>Sustainability &amp; Stakeholder Management</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E3020A9-8DD8-842C-CFA9-D8186FF3DE55}"/>
              </a:ext>
            </a:extLst>
          </p:cNvPr>
          <p:cNvSpPr>
            <a:spLocks noGrp="1"/>
          </p:cNvSpPr>
          <p:nvPr>
            <p:ph idx="1"/>
          </p:nvPr>
        </p:nvSpPr>
        <p:spPr>
          <a:xfrm>
            <a:off x="669036" y="1754589"/>
            <a:ext cx="10853928" cy="4813300"/>
          </a:xfrm>
        </p:spPr>
        <p:txBody>
          <a:bodyPr>
            <a:normAutofit/>
          </a:bodyPr>
          <a:lstStyle/>
          <a:p>
            <a:pPr marL="0" indent="0">
              <a:buNone/>
            </a:pPr>
            <a:r>
              <a:rPr lang="en-IN" sz="2400" b="1" spc="5" dirty="0">
                <a:effectLst/>
                <a:latin typeface="Times New Roman" panose="02020603050405020304" pitchFamily="18" charset="0"/>
                <a:ea typeface="Calibri" panose="020F0502020204030204" pitchFamily="34" charset="0"/>
                <a:cs typeface="Times New Roman" panose="02020603050405020304" pitchFamily="18" charset="0"/>
              </a:rPr>
              <a:t>Sustainability</a:t>
            </a:r>
          </a:p>
          <a:p>
            <a:r>
              <a:rPr lang="en-IN" sz="2400" spc="5" dirty="0">
                <a:effectLst/>
                <a:latin typeface="Times New Roman" panose="02020603050405020304" pitchFamily="18" charset="0"/>
                <a:ea typeface="Calibri" panose="020F0502020204030204" pitchFamily="34" charset="0"/>
                <a:cs typeface="Times New Roman" panose="02020603050405020304" pitchFamily="18" charset="0"/>
              </a:rPr>
              <a:t>Sustainability and corporate social responsibility (CSR) are two terms that often get talked about as the same thing.</a:t>
            </a:r>
          </a:p>
          <a:p>
            <a:r>
              <a:rPr lang="en-IN" sz="2400" spc="5" dirty="0">
                <a:effectLst/>
                <a:latin typeface="Times New Roman" panose="02020603050405020304" pitchFamily="18" charset="0"/>
                <a:ea typeface="Calibri" panose="020F0502020204030204" pitchFamily="34" charset="0"/>
                <a:cs typeface="Times New Roman" panose="02020603050405020304" pitchFamily="18" charset="0"/>
              </a:rPr>
              <a:t>Both CSR and sustainability focus on how an organisation impacts the environment and society around it</a:t>
            </a:r>
            <a:r>
              <a:rPr lang="en-IN" sz="2400" spc="5" dirty="0">
                <a:latin typeface="Times New Roman" panose="02020603050405020304" pitchFamily="18" charset="0"/>
                <a:ea typeface="Calibri" panose="020F0502020204030204" pitchFamily="34" charset="0"/>
                <a:cs typeface="Times New Roman" panose="02020603050405020304" pitchFamily="18" charset="0"/>
              </a:rPr>
              <a:t>.</a:t>
            </a:r>
          </a:p>
          <a:p>
            <a:r>
              <a:rPr lang="en-IN" sz="2400" dirty="0">
                <a:effectLst/>
                <a:latin typeface="Times New Roman" panose="02020603050405020304" pitchFamily="18" charset="0"/>
                <a:ea typeface="Calibri" panose="020F0502020204030204" pitchFamily="34" charset="0"/>
                <a:cs typeface="Times New Roman" panose="02020603050405020304" pitchFamily="18" charset="0"/>
              </a:rPr>
              <a:t>CSR is more concerned with looking back and reporting on what an organization has done, whereas sustainability looks forward and is more focused on the company’s ability to survive long into the futur</a:t>
            </a:r>
            <a:r>
              <a:rPr lang="en-IN" sz="2400" dirty="0">
                <a:effectLst/>
                <a:latin typeface="Calibri" panose="020F0502020204030204" pitchFamily="34" charset="0"/>
                <a:ea typeface="Calibri" panose="020F0502020204030204" pitchFamily="34" charset="0"/>
                <a:cs typeface="Tunga" panose="020B0502040204020203" pitchFamily="34" charset="0"/>
              </a:rPr>
              <a:t>e.</a:t>
            </a:r>
          </a:p>
          <a:p>
            <a:r>
              <a:rPr lang="en-IN" sz="2400" dirty="0">
                <a:effectLst/>
                <a:latin typeface="Times New Roman" panose="02020603050405020304" pitchFamily="18" charset="0"/>
                <a:ea typeface="Calibri" panose="020F0502020204030204" pitchFamily="34" charset="0"/>
                <a:cs typeface="Times New Roman" panose="02020603050405020304" pitchFamily="18" charset="0"/>
              </a:rPr>
              <a:t>Both CSR and sustainability cover three main areas: environment, society and economy. </a:t>
            </a:r>
          </a:p>
          <a:p>
            <a:r>
              <a:rPr lang="en-IN" sz="2400" dirty="0">
                <a:effectLst/>
                <a:latin typeface="Times New Roman" panose="02020603050405020304" pitchFamily="18" charset="0"/>
                <a:ea typeface="Calibri" panose="020F0502020204030204" pitchFamily="34" charset="0"/>
                <a:cs typeface="Times New Roman" panose="02020603050405020304" pitchFamily="18" charset="0"/>
              </a:rPr>
              <a:t>Where CSR is focused on reporting on these areas, sustainability is focused on acting on these areas.</a:t>
            </a:r>
            <a:endParaRPr lang="en-IN" sz="2400" dirty="0">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0CECA196-738D-DB7E-ED8C-A73EF6A90804}"/>
              </a:ext>
            </a:extLst>
          </p:cNvPr>
          <p:cNvSpPr/>
          <p:nvPr/>
        </p:nvSpPr>
        <p:spPr>
          <a:xfrm>
            <a:off x="428625" y="352425"/>
            <a:ext cx="11325225" cy="6276975"/>
          </a:xfrm>
          <a:prstGeom prst="rect">
            <a:avLst/>
          </a:prstGeom>
          <a:noFill/>
          <a:ln>
            <a:solidFill>
              <a:srgbClr val="00206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22472494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CB6E2F43-29E9-49D9-91FC-E5FEFAAA70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12" name="Picture 11" descr="Colourful carved figures of humans">
            <a:extLst>
              <a:ext uri="{FF2B5EF4-FFF2-40B4-BE49-F238E27FC236}">
                <a16:creationId xmlns:a16="http://schemas.microsoft.com/office/drawing/2014/main" id="{40FC4C41-F8AB-48E8-F3EE-836B8A988DB0}"/>
              </a:ext>
            </a:extLst>
          </p:cNvPr>
          <p:cNvPicPr>
            <a:picLocks noChangeAspect="1"/>
          </p:cNvPicPr>
          <p:nvPr/>
        </p:nvPicPr>
        <p:blipFill>
          <a:blip r:embed="rId2"/>
          <a:stretch>
            <a:fillRect/>
          </a:stretch>
        </p:blipFill>
        <p:spPr>
          <a:xfrm>
            <a:off x="7415709" y="2600260"/>
            <a:ext cx="4347666" cy="2731072"/>
          </a:xfrm>
          <a:custGeom>
            <a:avLst/>
            <a:gdLst/>
            <a:ahLst/>
            <a:cxnLst/>
            <a:rect l="l" t="t" r="r" b="b"/>
            <a:pathLst>
              <a:path w="5580942" h="5519103">
                <a:moveTo>
                  <a:pt x="169765" y="0"/>
                </a:moveTo>
                <a:lnTo>
                  <a:pt x="5580942" y="0"/>
                </a:lnTo>
                <a:lnTo>
                  <a:pt x="5580942" y="5519103"/>
                </a:lnTo>
                <a:lnTo>
                  <a:pt x="9100" y="5519103"/>
                </a:lnTo>
                <a:lnTo>
                  <a:pt x="0" y="5474029"/>
                </a:lnTo>
                <a:lnTo>
                  <a:pt x="0" y="169765"/>
                </a:lnTo>
                <a:cubicBezTo>
                  <a:pt x="0" y="76006"/>
                  <a:pt x="76006" y="0"/>
                  <a:pt x="169765" y="0"/>
                </a:cubicBezTo>
                <a:close/>
              </a:path>
            </a:pathLst>
          </a:custGeom>
        </p:spPr>
      </p:pic>
      <p:sp>
        <p:nvSpPr>
          <p:cNvPr id="18" name="Arc 17">
            <a:extLst>
              <a:ext uri="{FF2B5EF4-FFF2-40B4-BE49-F238E27FC236}">
                <a16:creationId xmlns:a16="http://schemas.microsoft.com/office/drawing/2014/main" id="{3BA62E19-CD42-4C09-B825-844B4943D4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87212" y="587516"/>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3CDFDEE-50D6-EE28-155A-27AAB64FFBAF}"/>
              </a:ext>
            </a:extLst>
          </p:cNvPr>
          <p:cNvSpPr>
            <a:spLocks noGrp="1"/>
          </p:cNvSpPr>
          <p:nvPr>
            <p:ph type="title"/>
          </p:nvPr>
        </p:nvSpPr>
        <p:spPr>
          <a:xfrm>
            <a:off x="838200" y="365125"/>
            <a:ext cx="10515600" cy="1325563"/>
          </a:xfrm>
        </p:spPr>
        <p:txBody>
          <a:bodyPr>
            <a:normAutofit/>
          </a:bodyPr>
          <a:lstStyle/>
          <a:p>
            <a:r>
              <a:rPr lang="en-IN">
                <a:latin typeface="Times New Roman" panose="02020603050405020304" pitchFamily="18" charset="0"/>
                <a:cs typeface="Times New Roman" panose="02020603050405020304" pitchFamily="18" charset="0"/>
              </a:rPr>
              <a:t>Sustainability &amp; Stakeholder Management</a:t>
            </a:r>
            <a:endParaRPr lang="en-IN"/>
          </a:p>
        </p:txBody>
      </p:sp>
      <p:sp>
        <p:nvSpPr>
          <p:cNvPr id="3" name="Content Placeholder 2">
            <a:extLst>
              <a:ext uri="{FF2B5EF4-FFF2-40B4-BE49-F238E27FC236}">
                <a16:creationId xmlns:a16="http://schemas.microsoft.com/office/drawing/2014/main" id="{E9E8D463-C8DE-B8F1-DF13-9B26C44091AF}"/>
              </a:ext>
            </a:extLst>
          </p:cNvPr>
          <p:cNvSpPr>
            <a:spLocks noGrp="1"/>
          </p:cNvSpPr>
          <p:nvPr>
            <p:ph idx="1"/>
          </p:nvPr>
        </p:nvSpPr>
        <p:spPr>
          <a:xfrm>
            <a:off x="558800" y="1825624"/>
            <a:ext cx="6790262" cy="4869815"/>
          </a:xfrm>
        </p:spPr>
        <p:txBody>
          <a:bodyPr>
            <a:normAutofit/>
          </a:bodyPr>
          <a:lstStyle/>
          <a:p>
            <a:pPr marL="0" indent="0">
              <a:buNone/>
            </a:pPr>
            <a:r>
              <a:rPr lang="en-IN" sz="2400" b="1" kern="0" dirty="0">
                <a:latin typeface="Times New Roman" panose="02020603050405020304" pitchFamily="18" charset="0"/>
                <a:ea typeface="Times New Roman" panose="02020603050405020304" pitchFamily="18" charset="0"/>
              </a:rPr>
              <a:t>S</a:t>
            </a:r>
            <a:r>
              <a:rPr lang="en-IN" sz="2400" b="1" kern="0" dirty="0">
                <a:effectLst/>
                <a:latin typeface="Times New Roman" panose="02020603050405020304" pitchFamily="18" charset="0"/>
                <a:ea typeface="Times New Roman" panose="02020603050405020304" pitchFamily="18" charset="0"/>
              </a:rPr>
              <a:t>takeholders</a:t>
            </a:r>
            <a:r>
              <a:rPr lang="en-IN" sz="2400" kern="0" dirty="0">
                <a:effectLst/>
                <a:latin typeface="Times New Roman" panose="02020603050405020304" pitchFamily="18" charset="0"/>
                <a:ea typeface="Times New Roman" panose="02020603050405020304" pitchFamily="18" charset="0"/>
              </a:rPr>
              <a:t> </a:t>
            </a:r>
          </a:p>
          <a:p>
            <a:r>
              <a:rPr lang="en-IN" sz="2400" dirty="0">
                <a:effectLst/>
                <a:latin typeface="Times New Roman" panose="02020603050405020304" pitchFamily="18" charset="0"/>
                <a:ea typeface="Calibri" panose="020F0502020204030204" pitchFamily="34" charset="0"/>
              </a:rPr>
              <a:t>One of the first steps in launching a</a:t>
            </a:r>
            <a:r>
              <a:rPr lang="en-IN" sz="2400" b="0" dirty="0">
                <a:effectLst/>
                <a:latin typeface="Times New Roman" panose="02020603050405020304" pitchFamily="18" charset="0"/>
                <a:ea typeface="Calibri" panose="020F0502020204030204" pitchFamily="34" charset="0"/>
              </a:rPr>
              <a:t> CSR initiative</a:t>
            </a:r>
            <a:r>
              <a:rPr lang="en-IN" sz="2400" dirty="0">
                <a:effectLst/>
                <a:latin typeface="Times New Roman" panose="02020603050405020304" pitchFamily="18" charset="0"/>
                <a:ea typeface="Calibri" panose="020F0502020204030204" pitchFamily="34" charset="0"/>
              </a:rPr>
              <a:t> is to identify all the company’s stakeholders. </a:t>
            </a:r>
            <a:endParaRPr lang="en-IN" sz="2400" kern="0" dirty="0">
              <a:latin typeface="Times New Roman" panose="02020603050405020304" pitchFamily="18" charset="0"/>
              <a:ea typeface="Calibri" panose="020F0502020204030204" pitchFamily="34" charset="0"/>
            </a:endParaRPr>
          </a:p>
          <a:p>
            <a:r>
              <a:rPr lang="en-IN" sz="2400" dirty="0">
                <a:effectLst/>
                <a:latin typeface="Times New Roman" panose="02020603050405020304" pitchFamily="18" charset="0"/>
                <a:ea typeface="Calibri" panose="020F0502020204030204" pitchFamily="34" charset="0"/>
              </a:rPr>
              <a:t>Stakeholders play a crucial role in shaping a company’s corporate social responsibility journey. </a:t>
            </a:r>
          </a:p>
          <a:p>
            <a:r>
              <a:rPr lang="en-IN" sz="2400" b="1" kern="0" dirty="0">
                <a:effectLst/>
                <a:latin typeface="Times New Roman" panose="02020603050405020304" pitchFamily="18" charset="0"/>
                <a:ea typeface="Times New Roman" panose="02020603050405020304" pitchFamily="18" charset="0"/>
              </a:rPr>
              <a:t>Identifying stakeholders</a:t>
            </a:r>
            <a:r>
              <a:rPr lang="en-IN" sz="2400" kern="0" dirty="0">
                <a:effectLst/>
                <a:latin typeface="Times New Roman" panose="02020603050405020304" pitchFamily="18" charset="0"/>
                <a:ea typeface="Times New Roman" panose="02020603050405020304" pitchFamily="18" charset="0"/>
              </a:rPr>
              <a:t> can take some time as there are so many of them! In the past, we tended to talk first and foremost about ‘shareholders’.</a:t>
            </a:r>
          </a:p>
          <a:p>
            <a:r>
              <a:rPr lang="en-IN" sz="2400" kern="0" dirty="0">
                <a:effectLst/>
                <a:latin typeface="Times New Roman" panose="02020603050405020304" pitchFamily="18" charset="0"/>
                <a:ea typeface="Times New Roman" panose="02020603050405020304" pitchFamily="18" charset="0"/>
              </a:rPr>
              <a:t>Stakeholders are all the physical or legal entities that interact with a company and its business. </a:t>
            </a:r>
          </a:p>
          <a:p>
            <a:endParaRPr lang="en-IN" sz="2000" kern="0" dirty="0">
              <a:effectLst/>
              <a:latin typeface="Times New Roman" panose="02020603050405020304" pitchFamily="18" charset="0"/>
              <a:ea typeface="Times New Roman" panose="02020603050405020304" pitchFamily="18" charset="0"/>
            </a:endParaRPr>
          </a:p>
          <a:p>
            <a:endParaRPr lang="en-IN" sz="2000" dirty="0"/>
          </a:p>
        </p:txBody>
      </p:sp>
      <p:sp>
        <p:nvSpPr>
          <p:cNvPr id="20" name="Oval 19">
            <a:extLst>
              <a:ext uri="{FF2B5EF4-FFF2-40B4-BE49-F238E27FC236}">
                <a16:creationId xmlns:a16="http://schemas.microsoft.com/office/drawing/2014/main" id="{8E63CC27-1C86-4653-8866-79C24C5C5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95924" y="1656147"/>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4" name="Rectangle 3">
            <a:extLst>
              <a:ext uri="{FF2B5EF4-FFF2-40B4-BE49-F238E27FC236}">
                <a16:creationId xmlns:a16="http://schemas.microsoft.com/office/drawing/2014/main" id="{6A2796E2-9590-E6BC-D0B9-5D3F0F4FCD1A}"/>
              </a:ext>
            </a:extLst>
          </p:cNvPr>
          <p:cNvSpPr/>
          <p:nvPr/>
        </p:nvSpPr>
        <p:spPr>
          <a:xfrm>
            <a:off x="428625" y="352425"/>
            <a:ext cx="11325225" cy="6276975"/>
          </a:xfrm>
          <a:prstGeom prst="rect">
            <a:avLst/>
          </a:prstGeom>
          <a:noFill/>
          <a:ln>
            <a:solidFill>
              <a:srgbClr val="00206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28266163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FD48D74F-B17E-06EC-3E8B-3E5108D053D2}"/>
              </a:ext>
            </a:extLst>
          </p:cNvPr>
          <p:cNvSpPr>
            <a:spLocks noGrp="1"/>
          </p:cNvSpPr>
          <p:nvPr>
            <p:ph type="title"/>
          </p:nvPr>
        </p:nvSpPr>
        <p:spPr>
          <a:xfrm>
            <a:off x="555710" y="95094"/>
            <a:ext cx="10515600" cy="1325563"/>
          </a:xfrm>
        </p:spPr>
        <p:txBody>
          <a:bodyPr>
            <a:normAutofit/>
          </a:bodyPr>
          <a:lstStyle/>
          <a:p>
            <a:r>
              <a:rPr lang="en-IN" sz="3600" b="1" dirty="0">
                <a:effectLst/>
                <a:latin typeface="Times New Roman" panose="02020603050405020304" pitchFamily="18" charset="0"/>
                <a:ea typeface="Calibri" panose="020F0502020204030204" pitchFamily="34" charset="0"/>
                <a:cs typeface="Times New Roman" panose="02020603050405020304" pitchFamily="18" charset="0"/>
              </a:rPr>
              <a:t>Relation between CSR and Corporate Governance</a:t>
            </a:r>
            <a:endParaRPr lang="en-IN" sz="3600" dirty="0">
              <a:latin typeface="Times New Roman" panose="02020603050405020304" pitchFamily="18" charset="0"/>
              <a:cs typeface="Times New Roman" panose="02020603050405020304" pitchFamily="18" charset="0"/>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C32D6F07-B6D2-9955-B877-5BDDEA3C2A30}"/>
              </a:ext>
            </a:extLst>
          </p:cNvPr>
          <p:cNvSpPr>
            <a:spLocks noGrp="1"/>
          </p:cNvSpPr>
          <p:nvPr>
            <p:ph idx="1"/>
          </p:nvPr>
        </p:nvSpPr>
        <p:spPr>
          <a:xfrm>
            <a:off x="496930" y="1105853"/>
            <a:ext cx="11198140" cy="4646294"/>
          </a:xfrm>
        </p:spPr>
        <p:txBody>
          <a:bodyPr>
            <a:noAutofit/>
          </a:bodyPr>
          <a:lstStyle/>
          <a:p>
            <a:pPr algn="just">
              <a:lnSpc>
                <a:spcPct val="150000"/>
              </a:lnSpc>
            </a:pPr>
            <a:r>
              <a:rPr lang="en-IN" sz="2100" dirty="0">
                <a:effectLst/>
                <a:latin typeface="Times New Roman" panose="02020603050405020304" pitchFamily="18" charset="0"/>
                <a:ea typeface="Calibri" panose="020F0502020204030204" pitchFamily="34" charset="0"/>
                <a:cs typeface="Times New Roman" panose="02020603050405020304" pitchFamily="18" charset="0"/>
              </a:rPr>
              <a:t>Corporate governance refers to the system of rules, practices, and processes by which a company is directed and controlled.</a:t>
            </a:r>
          </a:p>
          <a:p>
            <a:pPr algn="just">
              <a:lnSpc>
                <a:spcPct val="150000"/>
              </a:lnSpc>
            </a:pPr>
            <a:r>
              <a:rPr lang="en-IN" sz="2100" dirty="0">
                <a:latin typeface="Times New Roman" panose="02020603050405020304" pitchFamily="18" charset="0"/>
                <a:ea typeface="Calibri" panose="020F0502020204030204" pitchFamily="34" charset="0"/>
                <a:cs typeface="Times New Roman" panose="02020603050405020304" pitchFamily="18" charset="0"/>
              </a:rPr>
              <a:t>C</a:t>
            </a:r>
            <a:r>
              <a:rPr lang="en-IN" sz="2100" dirty="0">
                <a:effectLst/>
                <a:latin typeface="Times New Roman" panose="02020603050405020304" pitchFamily="18" charset="0"/>
                <a:ea typeface="Calibri" panose="020F0502020204030204" pitchFamily="34" charset="0"/>
                <a:cs typeface="Times New Roman" panose="02020603050405020304" pitchFamily="18" charset="0"/>
              </a:rPr>
              <a:t>orporate social responsibility entails a company’s commitment to behaving ethically and contributing to the economic development while improving the quality of life of its employees, their families, the local community, and society at large.</a:t>
            </a:r>
            <a:endParaRPr lang="en-IN" sz="2100" dirty="0">
              <a:latin typeface="Times New Roman" panose="02020603050405020304" pitchFamily="18" charset="0"/>
              <a:ea typeface="Calibri" panose="020F0502020204030204" pitchFamily="34" charset="0"/>
              <a:cs typeface="Times New Roman" panose="02020603050405020304" pitchFamily="18" charset="0"/>
            </a:endParaRPr>
          </a:p>
          <a:p>
            <a:pPr marL="0" indent="0" algn="just">
              <a:lnSpc>
                <a:spcPct val="150000"/>
              </a:lnSpc>
              <a:buNone/>
            </a:pPr>
            <a:r>
              <a:rPr lang="en-IN" sz="2100" dirty="0">
                <a:latin typeface="Times New Roman" panose="02020603050405020304" pitchFamily="18" charset="0"/>
                <a:ea typeface="Calibri" panose="020F0502020204030204" pitchFamily="34" charset="0"/>
                <a:cs typeface="Times New Roman" panose="02020603050405020304" pitchFamily="18" charset="0"/>
              </a:rPr>
              <a:t>T</a:t>
            </a:r>
            <a:r>
              <a:rPr lang="en-IN" sz="2100" dirty="0">
                <a:effectLst/>
                <a:latin typeface="Times New Roman" panose="02020603050405020304" pitchFamily="18" charset="0"/>
                <a:ea typeface="Calibri" panose="020F0502020204030204" pitchFamily="34" charset="0"/>
                <a:cs typeface="Times New Roman" panose="02020603050405020304" pitchFamily="18" charset="0"/>
              </a:rPr>
              <a:t>he relationship between corporate governance and CSR is symbiotic, with each reinforcing and supporting the other. </a:t>
            </a:r>
            <a:r>
              <a:rPr lang="en-IN" sz="2100" dirty="0">
                <a:effectLst/>
                <a:latin typeface="Times New Roman" panose="02020603050405020304" pitchFamily="18" charset="0"/>
                <a:ea typeface="Times New Roman" panose="02020603050405020304" pitchFamily="18" charset="0"/>
                <a:cs typeface="Times New Roman" panose="02020603050405020304" pitchFamily="18" charset="0"/>
              </a:rPr>
              <a:t>Here are key areas where they intersect:</a:t>
            </a:r>
          </a:p>
          <a:p>
            <a:pPr lvl="0" algn="just" fontAlgn="base">
              <a:lnSpc>
                <a:spcPct val="150000"/>
              </a:lnSpc>
              <a:spcBef>
                <a:spcPts val="200"/>
              </a:spcBef>
              <a:spcAft>
                <a:spcPts val="0"/>
              </a:spcAft>
              <a:buFont typeface="Wingdings" panose="05000000000000000000" pitchFamily="2" charset="2"/>
              <a:buChar char="Ø"/>
            </a:pPr>
            <a:r>
              <a:rPr lang="en-IN" sz="2100" b="1" kern="100" dirty="0">
                <a:effectLst/>
                <a:latin typeface="Times New Roman" panose="02020603050405020304" pitchFamily="18" charset="0"/>
                <a:ea typeface="Times New Roman" panose="02020603050405020304" pitchFamily="18" charset="0"/>
                <a:cs typeface="Times New Roman" panose="02020603050405020304" pitchFamily="18" charset="0"/>
              </a:rPr>
              <a:t>Alignment of Interests</a:t>
            </a:r>
            <a:r>
              <a:rPr lang="en-IN" sz="2100" b="1" kern="100" dirty="0">
                <a:latin typeface="Times New Roman" panose="02020603050405020304" pitchFamily="18" charset="0"/>
                <a:ea typeface="Times New Roman" panose="02020603050405020304" pitchFamily="18" charset="0"/>
                <a:cs typeface="Times New Roman" panose="02020603050405020304" pitchFamily="18" charset="0"/>
              </a:rPr>
              <a:t>: </a:t>
            </a:r>
            <a:r>
              <a:rPr lang="en-IN" sz="2100" dirty="0">
                <a:effectLst/>
                <a:latin typeface="Times New Roman" panose="02020603050405020304" pitchFamily="18" charset="0"/>
                <a:ea typeface="Calibri" panose="020F0502020204030204" pitchFamily="34" charset="0"/>
                <a:cs typeface="Times New Roman" panose="02020603050405020304" pitchFamily="18" charset="0"/>
              </a:rPr>
              <a:t>Effective corporate governance ensures that the interests of various stakeholders, including shareholders, employees, customers, and the community, are aligned with the long-term objectives of the company</a:t>
            </a:r>
            <a:r>
              <a:rPr lang="en-IN" sz="2100" dirty="0">
                <a:latin typeface="Times New Roman" panose="02020603050405020304" pitchFamily="18" charset="0"/>
                <a:ea typeface="Calibri" panose="020F0502020204030204" pitchFamily="34" charset="0"/>
                <a:cs typeface="Times New Roman" panose="02020603050405020304" pitchFamily="18" charset="0"/>
              </a:rPr>
              <a:t>.</a:t>
            </a:r>
          </a:p>
          <a:p>
            <a:pPr marL="0" indent="0" algn="just">
              <a:buNone/>
            </a:pPr>
            <a:endParaRPr lang="en-IN" sz="2100" dirty="0">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E7DBE3D0-500E-3F5F-DB2D-9664F7AB389E}"/>
              </a:ext>
            </a:extLst>
          </p:cNvPr>
          <p:cNvSpPr/>
          <p:nvPr/>
        </p:nvSpPr>
        <p:spPr>
          <a:xfrm>
            <a:off x="428625" y="352425"/>
            <a:ext cx="11325225" cy="6276975"/>
          </a:xfrm>
          <a:prstGeom prst="rect">
            <a:avLst/>
          </a:prstGeom>
          <a:noFill/>
          <a:ln>
            <a:solidFill>
              <a:srgbClr val="00206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30896342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BD136E1-FC59-3FAC-C854-26ADCB8AA70D}"/>
              </a:ext>
            </a:extLst>
          </p:cNvPr>
          <p:cNvSpPr>
            <a:spLocks noGrp="1"/>
          </p:cNvSpPr>
          <p:nvPr>
            <p:ph type="title"/>
          </p:nvPr>
        </p:nvSpPr>
        <p:spPr>
          <a:xfrm>
            <a:off x="555710" y="167640"/>
            <a:ext cx="10515600" cy="1325563"/>
          </a:xfrm>
        </p:spPr>
        <p:txBody>
          <a:bodyPr>
            <a:normAutofit/>
          </a:bodyPr>
          <a:lstStyle/>
          <a:p>
            <a:r>
              <a:rPr lang="en-IN" sz="3600" b="1" dirty="0">
                <a:effectLst/>
                <a:latin typeface="Times New Roman" panose="02020603050405020304" pitchFamily="18" charset="0"/>
                <a:ea typeface="Calibri" panose="020F0502020204030204" pitchFamily="34" charset="0"/>
                <a:cs typeface="Times New Roman" panose="02020603050405020304" pitchFamily="18" charset="0"/>
              </a:rPr>
              <a:t>Relation between CSR and Corporate Governance</a:t>
            </a:r>
            <a:endParaRPr lang="en-IN" sz="3600" dirty="0"/>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932D2337-05FF-B750-9067-6864F03B4969}"/>
              </a:ext>
            </a:extLst>
          </p:cNvPr>
          <p:cNvSpPr>
            <a:spLocks noGrp="1"/>
          </p:cNvSpPr>
          <p:nvPr>
            <p:ph idx="1"/>
          </p:nvPr>
        </p:nvSpPr>
        <p:spPr>
          <a:xfrm>
            <a:off x="682795" y="1315242"/>
            <a:ext cx="10515600" cy="4811237"/>
          </a:xfrm>
        </p:spPr>
        <p:txBody>
          <a:bodyPr>
            <a:normAutofit lnSpcReduction="10000"/>
          </a:bodyPr>
          <a:lstStyle/>
          <a:p>
            <a:pPr fontAlgn="base">
              <a:lnSpc>
                <a:spcPct val="150000"/>
              </a:lnSpc>
              <a:spcBef>
                <a:spcPts val="200"/>
              </a:spcBef>
              <a:buFont typeface="Wingdings" panose="05000000000000000000" pitchFamily="2" charset="2"/>
              <a:buChar char="Ø"/>
            </a:pPr>
            <a:r>
              <a:rPr lang="en-IN" sz="2400" b="1" kern="100" dirty="0">
                <a:effectLst/>
                <a:latin typeface="Times New Roman" panose="02020603050405020304" pitchFamily="18" charset="0"/>
                <a:ea typeface="Times New Roman" panose="02020603050405020304" pitchFamily="18" charset="0"/>
                <a:cs typeface="Times New Roman" panose="02020603050405020304" pitchFamily="18" charset="0"/>
              </a:rPr>
              <a:t>Transparent Decision-Making</a:t>
            </a:r>
            <a:r>
              <a:rPr lang="en-IN" sz="2400" b="1" kern="100" dirty="0">
                <a:latin typeface="Times New Roman" panose="02020603050405020304" pitchFamily="18" charset="0"/>
                <a:ea typeface="Times New Roman" panose="02020603050405020304" pitchFamily="18" charset="0"/>
                <a:cs typeface="Times New Roman" panose="02020603050405020304" pitchFamily="18" charset="0"/>
              </a:rPr>
              <a:t>: </a:t>
            </a: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Corporate governance promotes transparency and accountability in decision-making processes. </a:t>
            </a:r>
            <a:endParaRPr lang="en-IN" sz="2400" b="1"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lvl="0" fontAlgn="base">
              <a:lnSpc>
                <a:spcPct val="150000"/>
              </a:lnSpc>
              <a:spcBef>
                <a:spcPts val="200"/>
              </a:spcBef>
              <a:spcAft>
                <a:spcPts val="0"/>
              </a:spcAft>
              <a:buFont typeface="Wingdings" panose="05000000000000000000" pitchFamily="2" charset="2"/>
              <a:buChar char="Ø"/>
            </a:pPr>
            <a:r>
              <a:rPr lang="en-IN" sz="2400" b="1" kern="100" dirty="0">
                <a:effectLst/>
                <a:latin typeface="Times New Roman" panose="02020603050405020304" pitchFamily="18" charset="0"/>
                <a:ea typeface="Times New Roman" panose="02020603050405020304" pitchFamily="18" charset="0"/>
                <a:cs typeface="Times New Roman" panose="02020603050405020304" pitchFamily="18" charset="0"/>
              </a:rPr>
              <a:t>Accountability and Ethical </a:t>
            </a:r>
            <a:r>
              <a:rPr lang="en-IN" sz="24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Behavior</a:t>
            </a:r>
            <a:r>
              <a:rPr lang="en-IN" sz="2400" b="1" kern="100" dirty="0">
                <a:latin typeface="Times New Roman" panose="02020603050405020304" pitchFamily="18" charset="0"/>
                <a:ea typeface="Times New Roman" panose="02020603050405020304" pitchFamily="18" charset="0"/>
                <a:cs typeface="Times New Roman" panose="02020603050405020304" pitchFamily="18" charset="0"/>
              </a:rPr>
              <a:t>: </a:t>
            </a: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Corporate governance holds directors, executives, and employees accountable for their actions.</a:t>
            </a:r>
          </a:p>
          <a:p>
            <a:pPr lvl="0" fontAlgn="base">
              <a:lnSpc>
                <a:spcPct val="150000"/>
              </a:lnSpc>
              <a:spcBef>
                <a:spcPts val="200"/>
              </a:spcBef>
              <a:spcAft>
                <a:spcPts val="0"/>
              </a:spcAft>
              <a:buFont typeface="Wingdings" panose="05000000000000000000" pitchFamily="2" charset="2"/>
              <a:buChar char="Ø"/>
            </a:pPr>
            <a:r>
              <a:rPr lang="en-IN" sz="2400" b="1" kern="100" dirty="0">
                <a:effectLst/>
                <a:latin typeface="Times New Roman" panose="02020603050405020304" pitchFamily="18" charset="0"/>
                <a:ea typeface="Times New Roman" panose="02020603050405020304" pitchFamily="18" charset="0"/>
                <a:cs typeface="Times New Roman" panose="02020603050405020304" pitchFamily="18" charset="0"/>
              </a:rPr>
              <a:t>Long-Term Value Creation</a:t>
            </a:r>
            <a:r>
              <a:rPr lang="en-IN" sz="2400" b="1" kern="100" dirty="0">
                <a:latin typeface="Times New Roman" panose="02020603050405020304" pitchFamily="18" charset="0"/>
                <a:ea typeface="Times New Roman" panose="02020603050405020304" pitchFamily="18" charset="0"/>
                <a:cs typeface="Times New Roman" panose="02020603050405020304" pitchFamily="18" charset="0"/>
              </a:rPr>
              <a:t>: </a:t>
            </a: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Both corporate governance and CSR emphasize long-term value creation over short-term gains.</a:t>
            </a:r>
          </a:p>
          <a:p>
            <a:pPr lvl="0" fontAlgn="base">
              <a:lnSpc>
                <a:spcPct val="150000"/>
              </a:lnSpc>
              <a:spcBef>
                <a:spcPts val="200"/>
              </a:spcBef>
              <a:spcAft>
                <a:spcPts val="0"/>
              </a:spcAft>
              <a:buFont typeface="Wingdings" panose="05000000000000000000" pitchFamily="2" charset="2"/>
              <a:buChar char="Ø"/>
            </a:pPr>
            <a:r>
              <a:rPr lang="en-IN" sz="2400" b="1" kern="100" dirty="0">
                <a:effectLst/>
                <a:latin typeface="Times New Roman" panose="02020603050405020304" pitchFamily="18" charset="0"/>
                <a:ea typeface="Times New Roman" panose="02020603050405020304" pitchFamily="18" charset="0"/>
                <a:cs typeface="Times New Roman" panose="02020603050405020304" pitchFamily="18" charset="0"/>
              </a:rPr>
              <a:t>Reputation and Stakeholder Trust</a:t>
            </a:r>
            <a:r>
              <a:rPr lang="en-IN" sz="2400" b="1" kern="100" dirty="0">
                <a:latin typeface="Times New Roman" panose="02020603050405020304" pitchFamily="18" charset="0"/>
                <a:ea typeface="Times New Roman" panose="02020603050405020304" pitchFamily="18" charset="0"/>
                <a:cs typeface="Times New Roman" panose="02020603050405020304" pitchFamily="18" charset="0"/>
              </a:rPr>
              <a:t>: </a:t>
            </a: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A robust corporate governance framework combined with meaningful CSR initiatives enhances a company’s reputation and fosters stakeholder trust.</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Rectangle 3">
            <a:extLst>
              <a:ext uri="{FF2B5EF4-FFF2-40B4-BE49-F238E27FC236}">
                <a16:creationId xmlns:a16="http://schemas.microsoft.com/office/drawing/2014/main" id="{B13381EE-B6B8-D0B9-BD11-FAC5513221C4}"/>
              </a:ext>
            </a:extLst>
          </p:cNvPr>
          <p:cNvSpPr/>
          <p:nvPr/>
        </p:nvSpPr>
        <p:spPr>
          <a:xfrm>
            <a:off x="428625" y="352425"/>
            <a:ext cx="11325225" cy="6276975"/>
          </a:xfrm>
          <a:prstGeom prst="rect">
            <a:avLst/>
          </a:prstGeom>
          <a:noFill/>
          <a:ln>
            <a:solidFill>
              <a:srgbClr val="00206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1348796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3ADE38E-C13F-792A-455D-3E4C93AAAC02}"/>
              </a:ext>
            </a:extLst>
          </p:cNvPr>
          <p:cNvSpPr>
            <a:spLocks noGrp="1"/>
          </p:cNvSpPr>
          <p:nvPr>
            <p:ph type="title"/>
          </p:nvPr>
        </p:nvSpPr>
        <p:spPr>
          <a:xfrm>
            <a:off x="848239" y="228600"/>
            <a:ext cx="10515600" cy="1325563"/>
          </a:xfrm>
        </p:spPr>
        <p:txBody>
          <a:bodyPr>
            <a:normAutofit/>
          </a:bodyPr>
          <a:lstStyle/>
          <a:p>
            <a:r>
              <a:rPr lang="en-IN" b="1" dirty="0">
                <a:effectLst/>
                <a:latin typeface="Times New Roman" panose="02020603050405020304" pitchFamily="18" charset="0"/>
                <a:ea typeface="Calibri" panose="020F0502020204030204" pitchFamily="34" charset="0"/>
              </a:rPr>
              <a:t>The Environmental aspect of CSR</a:t>
            </a:r>
            <a:endParaRPr lang="en-IN" dirty="0"/>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F88E79C4-E297-BE0C-F3C4-54911F0B7983}"/>
              </a:ext>
            </a:extLst>
          </p:cNvPr>
          <p:cNvSpPr>
            <a:spLocks noGrp="1"/>
          </p:cNvSpPr>
          <p:nvPr>
            <p:ph idx="1"/>
          </p:nvPr>
        </p:nvSpPr>
        <p:spPr>
          <a:xfrm>
            <a:off x="629920" y="1554163"/>
            <a:ext cx="10723880" cy="4951412"/>
          </a:xfrm>
        </p:spPr>
        <p:txBody>
          <a:bodyPr>
            <a:normAutofit fontScale="85000" lnSpcReduction="10000"/>
          </a:bodyPr>
          <a:lstStyle/>
          <a:p>
            <a:pPr>
              <a:lnSpc>
                <a:spcPct val="150000"/>
              </a:lnSpc>
            </a:pPr>
            <a:r>
              <a:rPr lang="en-IN" sz="2600" b="1" dirty="0">
                <a:effectLst/>
                <a:latin typeface="Times New Roman" panose="02020603050405020304" pitchFamily="18" charset="0"/>
                <a:ea typeface="Times New Roman" panose="02020603050405020304" pitchFamily="18" charset="0"/>
              </a:rPr>
              <a:t>Energy Consumption and Greenhouse Gas Emissions</a:t>
            </a:r>
            <a:r>
              <a:rPr lang="en-IN" sz="2600" dirty="0">
                <a:effectLst/>
                <a:latin typeface="Times New Roman" panose="02020603050405020304" pitchFamily="18" charset="0"/>
                <a:ea typeface="Times New Roman" panose="02020603050405020304" pitchFamily="18" charset="0"/>
              </a:rPr>
              <a:t>: </a:t>
            </a:r>
            <a:r>
              <a:rPr lang="en-IN" sz="2600" dirty="0">
                <a:effectLst/>
                <a:latin typeface="Times New Roman" panose="02020603050405020304" pitchFamily="18" charset="0"/>
                <a:ea typeface="Calibri" panose="020F0502020204030204" pitchFamily="34" charset="0"/>
              </a:rPr>
              <a:t>Companies should strive to reduce their energy consumption by implementing energy-efficient practices and investing in renewable energy sources. </a:t>
            </a:r>
            <a:endParaRPr lang="en-IN" sz="2600" dirty="0">
              <a:effectLst/>
              <a:latin typeface="Times New Roman" panose="02020603050405020304" pitchFamily="18" charset="0"/>
              <a:ea typeface="Times New Roman" panose="02020603050405020304" pitchFamily="18" charset="0"/>
            </a:endParaRPr>
          </a:p>
          <a:p>
            <a:pPr>
              <a:lnSpc>
                <a:spcPct val="150000"/>
              </a:lnSpc>
            </a:pPr>
            <a:r>
              <a:rPr lang="en-IN" sz="2600" b="1" dirty="0">
                <a:effectLst/>
                <a:latin typeface="Times New Roman" panose="02020603050405020304" pitchFamily="18" charset="0"/>
                <a:ea typeface="Times New Roman" panose="02020603050405020304" pitchFamily="18" charset="0"/>
              </a:rPr>
              <a:t>Waste Management and Pollution</a:t>
            </a:r>
            <a:r>
              <a:rPr lang="en-IN" sz="2600" dirty="0">
                <a:effectLst/>
                <a:latin typeface="Times New Roman" panose="02020603050405020304" pitchFamily="18" charset="0"/>
                <a:ea typeface="Times New Roman" panose="02020603050405020304" pitchFamily="18" charset="0"/>
              </a:rPr>
              <a:t>: </a:t>
            </a:r>
            <a:r>
              <a:rPr lang="en-IN" sz="2600" dirty="0">
                <a:effectLst/>
                <a:latin typeface="Times New Roman" panose="02020603050405020304" pitchFamily="18" charset="0"/>
                <a:ea typeface="Calibri" panose="020F0502020204030204" pitchFamily="34" charset="0"/>
              </a:rPr>
              <a:t>Companies should adopt </a:t>
            </a:r>
            <a:r>
              <a:rPr lang="en-IN" sz="2600" dirty="0">
                <a:latin typeface="Times New Roman" panose="02020603050405020304" pitchFamily="18" charset="0"/>
                <a:ea typeface="Calibri" panose="020F0502020204030204" pitchFamily="34" charset="0"/>
              </a:rPr>
              <a:t>sustainable waste management </a:t>
            </a:r>
            <a:r>
              <a:rPr lang="en-IN" sz="2600" dirty="0">
                <a:effectLst/>
                <a:latin typeface="Times New Roman" panose="02020603050405020304" pitchFamily="18" charset="0"/>
                <a:ea typeface="Calibri" panose="020F0502020204030204" pitchFamily="34" charset="0"/>
              </a:rPr>
              <a:t>practices, such as recycling materials, reducing packaging waste, and implementing </a:t>
            </a:r>
            <a:r>
              <a:rPr lang="en-IN" sz="2600" dirty="0">
                <a:latin typeface="Times New Roman" panose="02020603050405020304" pitchFamily="18" charset="0"/>
                <a:ea typeface="Calibri" panose="020F0502020204030204" pitchFamily="34" charset="0"/>
              </a:rPr>
              <a:t>proper disposal methods </a:t>
            </a:r>
            <a:r>
              <a:rPr lang="en-IN" sz="2600" dirty="0">
                <a:effectLst/>
                <a:latin typeface="Times New Roman" panose="02020603050405020304" pitchFamily="18" charset="0"/>
                <a:ea typeface="Calibri" panose="020F0502020204030204" pitchFamily="34" charset="0"/>
              </a:rPr>
              <a:t>for hazardous materials. </a:t>
            </a:r>
            <a:endParaRPr lang="en-IN" sz="2600" dirty="0">
              <a:effectLst/>
              <a:latin typeface="Times New Roman" panose="02020603050405020304" pitchFamily="18" charset="0"/>
              <a:ea typeface="Times New Roman" panose="02020603050405020304" pitchFamily="18" charset="0"/>
            </a:endParaRPr>
          </a:p>
          <a:p>
            <a:pPr>
              <a:lnSpc>
                <a:spcPct val="150000"/>
              </a:lnSpc>
            </a:pPr>
            <a:r>
              <a:rPr lang="en-IN" sz="2600" b="1" dirty="0">
                <a:effectLst/>
                <a:latin typeface="Times New Roman" panose="02020603050405020304" pitchFamily="18" charset="0"/>
                <a:ea typeface="Times New Roman" panose="02020603050405020304" pitchFamily="18" charset="0"/>
              </a:rPr>
              <a:t>Conservation of Natural Resources</a:t>
            </a:r>
            <a:r>
              <a:rPr lang="en-IN" sz="2600" dirty="0">
                <a:effectLst/>
                <a:latin typeface="Times New Roman" panose="02020603050405020304" pitchFamily="18" charset="0"/>
                <a:ea typeface="Times New Roman" panose="02020603050405020304" pitchFamily="18" charset="0"/>
              </a:rPr>
              <a:t>: </a:t>
            </a:r>
            <a:r>
              <a:rPr lang="en-IN" sz="2600" dirty="0">
                <a:effectLst/>
                <a:latin typeface="Times New Roman" panose="02020603050405020304" pitchFamily="18" charset="0"/>
                <a:ea typeface="Calibri" panose="020F0502020204030204" pitchFamily="34" charset="0"/>
              </a:rPr>
              <a:t>Companies have a responsibility to conserve natural resources, which are finite and essential for the well-being of our planet. To address this aspect of CSR, companies should implement resource-efficient strategies. </a:t>
            </a:r>
            <a:endParaRPr lang="en-IN" sz="2600" dirty="0">
              <a:effectLst/>
              <a:latin typeface="Times New Roman" panose="02020603050405020304" pitchFamily="18" charset="0"/>
              <a:ea typeface="Times New Roman" panose="02020603050405020304" pitchFamily="18" charset="0"/>
            </a:endParaRPr>
          </a:p>
          <a:p>
            <a:endParaRPr lang="en-IN" sz="2600" dirty="0"/>
          </a:p>
        </p:txBody>
      </p:sp>
      <p:sp>
        <p:nvSpPr>
          <p:cNvPr id="4" name="Rectangle 3">
            <a:extLst>
              <a:ext uri="{FF2B5EF4-FFF2-40B4-BE49-F238E27FC236}">
                <a16:creationId xmlns:a16="http://schemas.microsoft.com/office/drawing/2014/main" id="{004C0A24-B777-66F4-F76D-B0B053F2BFEE}"/>
              </a:ext>
            </a:extLst>
          </p:cNvPr>
          <p:cNvSpPr/>
          <p:nvPr/>
        </p:nvSpPr>
        <p:spPr>
          <a:xfrm>
            <a:off x="428625" y="352425"/>
            <a:ext cx="11325225" cy="6276975"/>
          </a:xfrm>
          <a:prstGeom prst="rect">
            <a:avLst/>
          </a:prstGeom>
          <a:noFill/>
          <a:ln>
            <a:solidFill>
              <a:srgbClr val="00206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2442165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44793C8-F431-17EA-9ED5-C06FBB991CCB}"/>
              </a:ext>
            </a:extLst>
          </p:cNvPr>
          <p:cNvSpPr>
            <a:spLocks noGrp="1"/>
          </p:cNvSpPr>
          <p:nvPr>
            <p:ph type="title"/>
          </p:nvPr>
        </p:nvSpPr>
        <p:spPr>
          <a:xfrm>
            <a:off x="838200" y="365125"/>
            <a:ext cx="10515600" cy="1325563"/>
          </a:xfrm>
        </p:spPr>
        <p:txBody>
          <a:bodyPr>
            <a:normAutofit/>
          </a:bodyPr>
          <a:lstStyle/>
          <a:p>
            <a:r>
              <a:rPr lang="en-IN" sz="5400" b="1" dirty="0">
                <a:effectLst/>
                <a:latin typeface="Times New Roman" panose="02020603050405020304" pitchFamily="18" charset="0"/>
                <a:ea typeface="Calibri" panose="020F0502020204030204" pitchFamily="34" charset="0"/>
              </a:rPr>
              <a:t>Environmental aspect of CSR</a:t>
            </a:r>
            <a:endParaRPr lang="en-IN" sz="5400" dirty="0"/>
          </a:p>
        </p:txBody>
      </p:sp>
      <p:sp>
        <p:nvSpPr>
          <p:cNvPr id="16"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D0AEA69-E9CE-77C9-7D99-98CDE1D9255E}"/>
              </a:ext>
            </a:extLst>
          </p:cNvPr>
          <p:cNvSpPr>
            <a:spLocks noGrp="1"/>
          </p:cNvSpPr>
          <p:nvPr>
            <p:ph idx="1"/>
          </p:nvPr>
        </p:nvSpPr>
        <p:spPr>
          <a:xfrm>
            <a:off x="553720" y="1703388"/>
            <a:ext cx="11200130" cy="4668964"/>
          </a:xfrm>
        </p:spPr>
        <p:txBody>
          <a:bodyPr>
            <a:normAutofit/>
          </a:bodyPr>
          <a:lstStyle/>
          <a:p>
            <a:pPr>
              <a:lnSpc>
                <a:spcPct val="150000"/>
              </a:lnSpc>
            </a:pPr>
            <a:r>
              <a:rPr lang="en-IN" sz="2200" b="1" dirty="0">
                <a:effectLst/>
                <a:latin typeface="Times New Roman" panose="02020603050405020304" pitchFamily="18" charset="0"/>
                <a:ea typeface="Times New Roman" panose="02020603050405020304" pitchFamily="18" charset="0"/>
              </a:rPr>
              <a:t>Climate Change Mitigation and Adaptation</a:t>
            </a:r>
            <a:r>
              <a:rPr lang="en-IN" sz="2200" dirty="0">
                <a:effectLst/>
                <a:latin typeface="Times New Roman" panose="02020603050405020304" pitchFamily="18" charset="0"/>
                <a:ea typeface="Times New Roman" panose="02020603050405020304" pitchFamily="18" charset="0"/>
              </a:rPr>
              <a:t>: </a:t>
            </a:r>
            <a:r>
              <a:rPr lang="en-IN" sz="2200" dirty="0">
                <a:effectLst/>
                <a:latin typeface="Times New Roman" panose="02020603050405020304" pitchFamily="18" charset="0"/>
                <a:ea typeface="Calibri" panose="020F0502020204030204" pitchFamily="34" charset="0"/>
              </a:rPr>
              <a:t>Climate change is a pressing global challenge, and companies play a significant role in addressing it. Additionally </a:t>
            </a:r>
            <a:r>
              <a:rPr lang="en-IN" sz="2200" dirty="0">
                <a:effectLst/>
                <a:latin typeface="Times New Roman" panose="02020603050405020304" pitchFamily="18" charset="0"/>
                <a:ea typeface="Times New Roman" panose="02020603050405020304" pitchFamily="18" charset="0"/>
              </a:rPr>
              <a:t>companies should also focus on adapting to the impacts of climate change by developing resilience plans, such as implementing </a:t>
            </a:r>
            <a:r>
              <a:rPr lang="en-IN" sz="2200" dirty="0">
                <a:latin typeface="Times New Roman" panose="02020603050405020304" pitchFamily="18" charset="0"/>
                <a:ea typeface="Times New Roman" panose="02020603050405020304" pitchFamily="18" charset="0"/>
              </a:rPr>
              <a:t>flood protection measures</a:t>
            </a:r>
            <a:r>
              <a:rPr lang="en-IN" sz="2200" dirty="0">
                <a:effectLst/>
                <a:latin typeface="Times New Roman" panose="02020603050405020304" pitchFamily="18" charset="0"/>
                <a:ea typeface="Times New Roman" panose="02020603050405020304" pitchFamily="18" charset="0"/>
              </a:rPr>
              <a:t> and creating </a:t>
            </a:r>
            <a:r>
              <a:rPr lang="en-IN" sz="2200" dirty="0">
                <a:latin typeface="Times New Roman" panose="02020603050405020304" pitchFamily="18" charset="0"/>
                <a:ea typeface="Times New Roman" panose="02020603050405020304" pitchFamily="18" charset="0"/>
              </a:rPr>
              <a:t>disaster response protocols.</a:t>
            </a:r>
            <a:endParaRPr lang="en-IN" sz="2200" dirty="0">
              <a:effectLst/>
              <a:latin typeface="Times New Roman" panose="02020603050405020304" pitchFamily="18" charset="0"/>
              <a:ea typeface="Times New Roman" panose="02020603050405020304" pitchFamily="18" charset="0"/>
            </a:endParaRPr>
          </a:p>
          <a:p>
            <a:pPr>
              <a:lnSpc>
                <a:spcPct val="150000"/>
              </a:lnSpc>
            </a:pPr>
            <a:r>
              <a:rPr lang="en-IN" sz="2200" b="1" dirty="0">
                <a:effectLst/>
                <a:latin typeface="Times New Roman" panose="02020603050405020304" pitchFamily="18" charset="0"/>
                <a:ea typeface="Times New Roman" panose="02020603050405020304" pitchFamily="18" charset="0"/>
                <a:cs typeface="Times New Roman" panose="02020603050405020304" pitchFamily="18" charset="0"/>
              </a:rPr>
              <a:t>Environmental Education and Awareness</a:t>
            </a:r>
            <a:r>
              <a:rPr lang="en-IN" sz="22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2200" dirty="0">
                <a:effectLst/>
                <a:latin typeface="Times New Roman" panose="02020603050405020304" pitchFamily="18" charset="0"/>
                <a:ea typeface="Calibri" panose="020F0502020204030204" pitchFamily="34" charset="0"/>
              </a:rPr>
              <a:t>Promoting </a:t>
            </a:r>
            <a:r>
              <a:rPr lang="en-IN" sz="2200" dirty="0">
                <a:latin typeface="Times New Roman" panose="02020603050405020304" pitchFamily="18" charset="0"/>
                <a:ea typeface="Calibri" panose="020F0502020204030204" pitchFamily="34" charset="0"/>
              </a:rPr>
              <a:t>environmental education </a:t>
            </a:r>
            <a:r>
              <a:rPr lang="en-IN" sz="2200" dirty="0">
                <a:effectLst/>
                <a:latin typeface="Times New Roman" panose="02020603050405020304" pitchFamily="18" charset="0"/>
                <a:ea typeface="Calibri" panose="020F0502020204030204" pitchFamily="34" charset="0"/>
              </a:rPr>
              <a:t>and awareness is an essential aspect of CSR. Companies can engage in initiatives that aim to educate their employees, customers, and the community about </a:t>
            </a:r>
            <a:r>
              <a:rPr lang="en-IN" sz="2200" dirty="0">
                <a:latin typeface="Times New Roman" panose="02020603050405020304" pitchFamily="18" charset="0"/>
                <a:ea typeface="Calibri" panose="020F0502020204030204" pitchFamily="34" charset="0"/>
              </a:rPr>
              <a:t>environmental issues </a:t>
            </a:r>
            <a:r>
              <a:rPr lang="en-IN" sz="2200" dirty="0">
                <a:effectLst/>
                <a:latin typeface="Times New Roman" panose="02020603050405020304" pitchFamily="18" charset="0"/>
                <a:ea typeface="Calibri" panose="020F0502020204030204" pitchFamily="34" charset="0"/>
              </a:rPr>
              <a:t>and the importance of </a:t>
            </a:r>
            <a:r>
              <a:rPr lang="en-IN" sz="2200" dirty="0">
                <a:latin typeface="Times New Roman" panose="02020603050405020304" pitchFamily="18" charset="0"/>
                <a:ea typeface="Calibri" panose="020F0502020204030204" pitchFamily="34" charset="0"/>
              </a:rPr>
              <a:t>sustainable practices. </a:t>
            </a:r>
            <a:endParaRPr lang="en-IN" sz="22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sz="2200" dirty="0"/>
          </a:p>
        </p:txBody>
      </p:sp>
      <p:sp>
        <p:nvSpPr>
          <p:cNvPr id="4" name="Rectangle 3">
            <a:extLst>
              <a:ext uri="{FF2B5EF4-FFF2-40B4-BE49-F238E27FC236}">
                <a16:creationId xmlns:a16="http://schemas.microsoft.com/office/drawing/2014/main" id="{7EB380CD-7F7B-2B00-3960-97FCFC358B91}"/>
              </a:ext>
            </a:extLst>
          </p:cNvPr>
          <p:cNvSpPr/>
          <p:nvPr/>
        </p:nvSpPr>
        <p:spPr>
          <a:xfrm>
            <a:off x="428625" y="352425"/>
            <a:ext cx="11325225" cy="6276975"/>
          </a:xfrm>
          <a:prstGeom prst="rect">
            <a:avLst/>
          </a:prstGeom>
          <a:noFill/>
          <a:ln>
            <a:solidFill>
              <a:srgbClr val="00206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13550202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25DC88B-B080-4948-D844-55F34E2F133D}"/>
              </a:ext>
            </a:extLst>
          </p:cNvPr>
          <p:cNvSpPr>
            <a:spLocks noGrp="1"/>
          </p:cNvSpPr>
          <p:nvPr>
            <p:ph type="title"/>
          </p:nvPr>
        </p:nvSpPr>
        <p:spPr>
          <a:xfrm>
            <a:off x="838200" y="365125"/>
            <a:ext cx="10515600" cy="1325563"/>
          </a:xfrm>
        </p:spPr>
        <p:txBody>
          <a:bodyPr>
            <a:normAutofit/>
          </a:bodyPr>
          <a:lstStyle/>
          <a:p>
            <a:r>
              <a:rPr lang="en-IN" sz="4600" b="1" dirty="0">
                <a:effectLst/>
                <a:latin typeface="Times New Roman" panose="02020603050405020304" pitchFamily="18" charset="0"/>
                <a:ea typeface="Calibri" panose="020F0502020204030204" pitchFamily="34" charset="0"/>
              </a:rPr>
              <a:t>Chronological evolution of CSR in India</a:t>
            </a:r>
            <a:endParaRPr lang="en-IN" sz="4600" dirty="0"/>
          </a:p>
        </p:txBody>
      </p:sp>
      <p:sp>
        <p:nvSpPr>
          <p:cNvPr id="15"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E99A150-4564-BDA5-5568-AAD03EA3F556}"/>
              </a:ext>
            </a:extLst>
          </p:cNvPr>
          <p:cNvSpPr>
            <a:spLocks noGrp="1"/>
          </p:cNvSpPr>
          <p:nvPr>
            <p:ph idx="1"/>
          </p:nvPr>
        </p:nvSpPr>
        <p:spPr>
          <a:xfrm>
            <a:off x="587756" y="1677373"/>
            <a:ext cx="10853928" cy="5052442"/>
          </a:xfrm>
        </p:spPr>
        <p:txBody>
          <a:bodyPr>
            <a:normAutofit fontScale="92500" lnSpcReduction="10000"/>
          </a:bodyPr>
          <a:lstStyle/>
          <a:p>
            <a:pPr>
              <a:lnSpc>
                <a:spcPct val="150000"/>
              </a:lnSpc>
              <a:spcAft>
                <a:spcPts val="800"/>
              </a:spcAft>
            </a:pPr>
            <a:r>
              <a:rPr lang="en-IN" sz="2400" kern="0" dirty="0">
                <a:effectLst/>
                <a:latin typeface="Times New Roman" panose="02020603050405020304" pitchFamily="18" charset="0"/>
                <a:ea typeface="Times New Roman" panose="02020603050405020304" pitchFamily="18" charset="0"/>
                <a:cs typeface="Times New Roman" panose="02020603050405020304" pitchFamily="18" charset="0"/>
              </a:rPr>
              <a:t>The evolution of CSR in India highlights changes in corporate engagement to create a positive impact on communities, cultures, societies, and environments, beyond mere profit-making.</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spcAft>
                <a:spcPts val="800"/>
              </a:spcAft>
            </a:pPr>
            <a:r>
              <a:rPr lang="en-IN" sz="2400" kern="0" dirty="0">
                <a:effectLst/>
                <a:latin typeface="Times New Roman" panose="02020603050405020304" pitchFamily="18" charset="0"/>
                <a:ea typeface="Times New Roman" panose="02020603050405020304" pitchFamily="18" charset="0"/>
                <a:cs typeface="Times New Roman" panose="02020603050405020304" pitchFamily="18" charset="0"/>
              </a:rPr>
              <a:t> CSR in India emphasizes that corporations, along with public policy, should address social issues and challenges typically managed by the state.</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spcAft>
                <a:spcPts val="800"/>
              </a:spcAft>
            </a:pPr>
            <a:r>
              <a:rPr lang="en-IN" sz="2400" kern="0" dirty="0">
                <a:effectLst/>
                <a:latin typeface="Times New Roman" panose="02020603050405020304" pitchFamily="18" charset="0"/>
                <a:ea typeface="Times New Roman" panose="02020603050405020304" pitchFamily="18" charset="0"/>
                <a:cs typeface="Times New Roman" panose="02020603050405020304" pitchFamily="18" charset="0"/>
              </a:rPr>
              <a:t>India has a rich tradition of CSR, with early practices focused on charity and philanthropy by influential merchants and firms like TATA and Birla.</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spcAft>
                <a:spcPts val="800"/>
              </a:spcAft>
            </a:pPr>
            <a:r>
              <a:rPr lang="en-IN" sz="2400" kern="0" dirty="0">
                <a:effectLst/>
                <a:latin typeface="Times New Roman" panose="02020603050405020304" pitchFamily="18" charset="0"/>
                <a:ea typeface="Times New Roman" panose="02020603050405020304" pitchFamily="18" charset="0"/>
                <a:cs typeface="Times New Roman" panose="02020603050405020304" pitchFamily="18" charset="0"/>
              </a:rPr>
              <a:t>The second phase during India's independence saw industrialists encouraged to manage their wealth for societal benefit, inspired by Mahatma Gandhi's notion of "trusteeship."</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Rectangle 3">
            <a:extLst>
              <a:ext uri="{FF2B5EF4-FFF2-40B4-BE49-F238E27FC236}">
                <a16:creationId xmlns:a16="http://schemas.microsoft.com/office/drawing/2014/main" id="{D3ED27C4-54F1-D780-4836-E79CD971EFA6}"/>
              </a:ext>
            </a:extLst>
          </p:cNvPr>
          <p:cNvSpPr/>
          <p:nvPr/>
        </p:nvSpPr>
        <p:spPr>
          <a:xfrm>
            <a:off x="428625" y="352425"/>
            <a:ext cx="11325225" cy="6276975"/>
          </a:xfrm>
          <a:prstGeom prst="rect">
            <a:avLst/>
          </a:prstGeom>
          <a:noFill/>
          <a:ln>
            <a:solidFill>
              <a:srgbClr val="00206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9149526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BF81898-AF19-4366-BB4B-A1E4F12CE7F7}"/>
              </a:ext>
            </a:extLst>
          </p:cNvPr>
          <p:cNvSpPr>
            <a:spLocks noGrp="1"/>
          </p:cNvSpPr>
          <p:nvPr>
            <p:ph type="title"/>
          </p:nvPr>
        </p:nvSpPr>
        <p:spPr>
          <a:xfrm>
            <a:off x="838200" y="365125"/>
            <a:ext cx="10515600" cy="1325563"/>
          </a:xfrm>
        </p:spPr>
        <p:txBody>
          <a:bodyPr>
            <a:normAutofit/>
          </a:bodyPr>
          <a:lstStyle/>
          <a:p>
            <a:r>
              <a:rPr lang="en-IN" sz="4600" b="1">
                <a:effectLst/>
                <a:latin typeface="Times New Roman" panose="02020603050405020304" pitchFamily="18" charset="0"/>
                <a:ea typeface="Calibri" panose="020F0502020204030204" pitchFamily="34" charset="0"/>
              </a:rPr>
              <a:t>Chronological evolution of CSR in India</a:t>
            </a:r>
            <a:endParaRPr lang="en-IN" sz="460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C94C63E-3BF0-BEE5-1560-164E21758363}"/>
              </a:ext>
            </a:extLst>
          </p:cNvPr>
          <p:cNvSpPr>
            <a:spLocks noGrp="1"/>
          </p:cNvSpPr>
          <p:nvPr>
            <p:ph idx="1"/>
          </p:nvPr>
        </p:nvSpPr>
        <p:spPr>
          <a:xfrm>
            <a:off x="669036" y="1677373"/>
            <a:ext cx="10853928" cy="5079027"/>
          </a:xfrm>
        </p:spPr>
        <p:txBody>
          <a:bodyPr>
            <a:normAutofit fontScale="92500" lnSpcReduction="20000"/>
          </a:bodyPr>
          <a:lstStyle/>
          <a:p>
            <a:pPr>
              <a:lnSpc>
                <a:spcPct val="150000"/>
              </a:lnSpc>
              <a:spcAft>
                <a:spcPts val="800"/>
              </a:spcAft>
            </a:pPr>
            <a:r>
              <a:rPr lang="en-IN" sz="2400" kern="0" dirty="0">
                <a:effectLst/>
                <a:latin typeface="Times New Roman" panose="02020603050405020304" pitchFamily="18" charset="0"/>
                <a:ea typeface="Times New Roman" panose="02020603050405020304" pitchFamily="18" charset="0"/>
                <a:cs typeface="Times New Roman" panose="02020603050405020304" pitchFamily="18" charset="0"/>
              </a:rPr>
              <a:t>Post-independence, CSR saw a shift towards public sector control, aiming for equal distribution of resources and social development in a mixed economy.</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spcAft>
                <a:spcPts val="800"/>
              </a:spcAft>
            </a:pPr>
            <a:r>
              <a:rPr lang="en-IN" sz="2400" kern="0" dirty="0">
                <a:effectLst/>
                <a:latin typeface="Times New Roman" panose="02020603050405020304" pitchFamily="18" charset="0"/>
                <a:ea typeface="Times New Roman" panose="02020603050405020304" pitchFamily="18" charset="0"/>
                <a:cs typeface="Times New Roman" panose="02020603050405020304" pitchFamily="18" charset="0"/>
              </a:rPr>
              <a:t>The current phase of CSR began in the 1980s with globalization and economic liberalization, boosting the Indian economy and aligning corporate practices with international standards.</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spcAft>
                <a:spcPts val="800"/>
              </a:spcAft>
            </a:pPr>
            <a:r>
              <a:rPr lang="en-IN" sz="2400" kern="0" dirty="0">
                <a:effectLst/>
                <a:latin typeface="Times New Roman" panose="02020603050405020304" pitchFamily="18" charset="0"/>
                <a:ea typeface="Times New Roman" panose="02020603050405020304" pitchFamily="18" charset="0"/>
                <a:cs typeface="Times New Roman" panose="02020603050405020304" pitchFamily="18" charset="0"/>
              </a:rPr>
              <a:t>Despite progress, CSR in India still needs widespread recognition, requiring companies to integrate CSR into their core business strategies, set clear objectives, and publicly report performance.</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spcAft>
                <a:spcPts val="800"/>
              </a:spcAft>
            </a:pPr>
            <a:r>
              <a:rPr lang="en-IN" sz="2400" kern="0" dirty="0">
                <a:effectLst/>
                <a:latin typeface="Times New Roman" panose="02020603050405020304" pitchFamily="18" charset="0"/>
                <a:ea typeface="Times New Roman" panose="02020603050405020304" pitchFamily="18" charset="0"/>
                <a:cs typeface="Times New Roman" panose="02020603050405020304" pitchFamily="18" charset="0"/>
              </a:rPr>
              <a:t>Recent efforts have focused on making Indian entrepreneurs aware of the importance of CSR as a key segment of their business activities.</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sz="2400" dirty="0"/>
          </a:p>
        </p:txBody>
      </p:sp>
      <p:sp>
        <p:nvSpPr>
          <p:cNvPr id="5" name="Rectangle 4">
            <a:extLst>
              <a:ext uri="{FF2B5EF4-FFF2-40B4-BE49-F238E27FC236}">
                <a16:creationId xmlns:a16="http://schemas.microsoft.com/office/drawing/2014/main" id="{CFD41D3D-16F8-A09F-FD9E-4C6B6541D008}"/>
              </a:ext>
            </a:extLst>
          </p:cNvPr>
          <p:cNvSpPr/>
          <p:nvPr/>
        </p:nvSpPr>
        <p:spPr>
          <a:xfrm>
            <a:off x="428625" y="352425"/>
            <a:ext cx="11325225" cy="6276975"/>
          </a:xfrm>
          <a:prstGeom prst="rect">
            <a:avLst/>
          </a:prstGeom>
          <a:noFill/>
          <a:ln>
            <a:solidFill>
              <a:srgbClr val="00206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31499063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AB572BE-CFC5-1D2A-CCA7-C7C5C94FBC3B}"/>
              </a:ext>
            </a:extLst>
          </p:cNvPr>
          <p:cNvSpPr>
            <a:spLocks noGrp="1"/>
          </p:cNvSpPr>
          <p:nvPr>
            <p:ph type="title"/>
          </p:nvPr>
        </p:nvSpPr>
        <p:spPr>
          <a:xfrm>
            <a:off x="838200" y="365125"/>
            <a:ext cx="10515600" cy="1325563"/>
          </a:xfrm>
        </p:spPr>
        <p:txBody>
          <a:bodyPr>
            <a:normAutofit/>
          </a:bodyPr>
          <a:lstStyle/>
          <a:p>
            <a:r>
              <a:rPr lang="en-IN" sz="5400" b="1">
                <a:effectLst/>
                <a:latin typeface="Times New Roman" panose="02020603050405020304" pitchFamily="18" charset="0"/>
                <a:ea typeface="Calibri" panose="020F0502020204030204" pitchFamily="34" charset="0"/>
                <a:cs typeface="Times New Roman" panose="02020603050405020304" pitchFamily="18" charset="0"/>
              </a:rPr>
              <a:t>Sustainability Reporting</a:t>
            </a:r>
            <a:endParaRPr lang="en-IN" sz="5400">
              <a:latin typeface="Times New Roman" panose="02020603050405020304" pitchFamily="18" charset="0"/>
              <a:cs typeface="Times New Roman" panose="02020603050405020304" pitchFamily="18" charset="0"/>
            </a:endParaRP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00B980A-9B2F-8147-73A8-E23367AA8096}"/>
              </a:ext>
            </a:extLst>
          </p:cNvPr>
          <p:cNvSpPr>
            <a:spLocks noGrp="1"/>
          </p:cNvSpPr>
          <p:nvPr>
            <p:ph idx="1"/>
          </p:nvPr>
        </p:nvSpPr>
        <p:spPr>
          <a:xfrm>
            <a:off x="664273" y="2100665"/>
            <a:ext cx="10853928" cy="3006810"/>
          </a:xfrm>
        </p:spPr>
        <p:txBody>
          <a:bodyPr>
            <a:normAutofit/>
          </a:bodyPr>
          <a:lstStyle/>
          <a:p>
            <a:pPr algn="just">
              <a:lnSpc>
                <a:spcPct val="150000"/>
              </a:lnSpc>
            </a:pPr>
            <a:r>
              <a:rPr lang="en-IN" dirty="0">
                <a:effectLst/>
                <a:latin typeface="Times New Roman" panose="02020603050405020304" pitchFamily="18" charset="0"/>
                <a:ea typeface="Calibri" panose="020F0502020204030204" pitchFamily="34" charset="0"/>
                <a:cs typeface="Times New Roman" panose="02020603050405020304" pitchFamily="18" charset="0"/>
              </a:rPr>
              <a:t>Sustainability reporting has no set format, but broadly involves disclosure of a company’s </a:t>
            </a:r>
            <a:r>
              <a:rPr lang="en-IN" dirty="0">
                <a:latin typeface="Times New Roman" panose="02020603050405020304" pitchFamily="18" charset="0"/>
                <a:ea typeface="Calibri" panose="020F0502020204030204" pitchFamily="34" charset="0"/>
                <a:cs typeface="Times New Roman" panose="02020603050405020304" pitchFamily="18" charset="0"/>
              </a:rPr>
              <a:t>environmental, social, and governance (ESG) goals</a:t>
            </a:r>
            <a:r>
              <a:rPr lang="en-IN" dirty="0">
                <a:effectLst/>
                <a:latin typeface="Times New Roman" panose="02020603050405020304" pitchFamily="18" charset="0"/>
                <a:ea typeface="Calibri" panose="020F0502020204030204" pitchFamily="34" charset="0"/>
                <a:cs typeface="Times New Roman" panose="02020603050405020304" pitchFamily="18" charset="0"/>
              </a:rPr>
              <a:t> and communicating the company’s progress and efforts to reach those goals.</a:t>
            </a:r>
          </a:p>
        </p:txBody>
      </p:sp>
      <p:sp>
        <p:nvSpPr>
          <p:cNvPr id="5" name="Rectangle 4">
            <a:extLst>
              <a:ext uri="{FF2B5EF4-FFF2-40B4-BE49-F238E27FC236}">
                <a16:creationId xmlns:a16="http://schemas.microsoft.com/office/drawing/2014/main" id="{ACD58C42-C28F-C3F7-E80D-9B9DDD981C74}"/>
              </a:ext>
            </a:extLst>
          </p:cNvPr>
          <p:cNvSpPr/>
          <p:nvPr/>
        </p:nvSpPr>
        <p:spPr>
          <a:xfrm>
            <a:off x="428625" y="352425"/>
            <a:ext cx="11325225" cy="6276975"/>
          </a:xfrm>
          <a:prstGeom prst="rect">
            <a:avLst/>
          </a:prstGeom>
          <a:noFill/>
          <a:ln>
            <a:solidFill>
              <a:srgbClr val="00206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24444815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AB572BE-CFC5-1D2A-CCA7-C7C5C94FBC3B}"/>
              </a:ext>
            </a:extLst>
          </p:cNvPr>
          <p:cNvSpPr>
            <a:spLocks noGrp="1"/>
          </p:cNvSpPr>
          <p:nvPr>
            <p:ph type="title"/>
          </p:nvPr>
        </p:nvSpPr>
        <p:spPr>
          <a:xfrm>
            <a:off x="838200" y="365125"/>
            <a:ext cx="10515600" cy="1325563"/>
          </a:xfrm>
        </p:spPr>
        <p:txBody>
          <a:bodyPr>
            <a:normAutofit/>
          </a:bodyPr>
          <a:lstStyle/>
          <a:p>
            <a:r>
              <a:rPr lang="en-IN" sz="5400" b="1" dirty="0">
                <a:effectLst/>
                <a:latin typeface="Times New Roman" panose="02020603050405020304" pitchFamily="18" charset="0"/>
                <a:ea typeface="Calibri" panose="020F0502020204030204" pitchFamily="34" charset="0"/>
                <a:cs typeface="Times New Roman" panose="02020603050405020304" pitchFamily="18" charset="0"/>
              </a:rPr>
              <a:t>Sustainability Reporting</a:t>
            </a:r>
            <a:endParaRPr lang="en-IN" sz="5400" dirty="0">
              <a:latin typeface="Times New Roman" panose="02020603050405020304" pitchFamily="18" charset="0"/>
              <a:cs typeface="Times New Roman" panose="02020603050405020304" pitchFamily="18" charset="0"/>
            </a:endParaRP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00B980A-9B2F-8147-73A8-E23367AA8096}"/>
              </a:ext>
            </a:extLst>
          </p:cNvPr>
          <p:cNvSpPr>
            <a:spLocks noGrp="1"/>
          </p:cNvSpPr>
          <p:nvPr>
            <p:ph idx="1"/>
          </p:nvPr>
        </p:nvSpPr>
        <p:spPr>
          <a:xfrm>
            <a:off x="838200" y="1929384"/>
            <a:ext cx="10515600" cy="4251960"/>
          </a:xfrm>
        </p:spPr>
        <p:txBody>
          <a:bodyPr>
            <a:normAutofit fontScale="92500"/>
          </a:bodyPr>
          <a:lstStyle/>
          <a:p>
            <a:pPr>
              <a:lnSpc>
                <a:spcPct val="150000"/>
              </a:lnSpc>
              <a:spcAft>
                <a:spcPts val="800"/>
              </a:spcAft>
            </a:pPr>
            <a:r>
              <a:rPr lang="en-IN" sz="2400" b="1" kern="100" dirty="0">
                <a:effectLst/>
                <a:latin typeface="Times New Roman" panose="02020603050405020304" pitchFamily="18" charset="0"/>
                <a:ea typeface="Calibri" panose="020F0502020204030204" pitchFamily="34" charset="0"/>
                <a:cs typeface="Times New Roman" panose="02020603050405020304" pitchFamily="18" charset="0"/>
              </a:rPr>
              <a:t>Global Reporting Initiative (GRI)</a:t>
            </a:r>
            <a:r>
              <a:rPr lang="en-IN" sz="2400" b="1" kern="100" dirty="0">
                <a:latin typeface="Times New Roman" panose="02020603050405020304" pitchFamily="18" charset="0"/>
                <a:ea typeface="Calibri" panose="020F0502020204030204" pitchFamily="34" charset="0"/>
                <a:cs typeface="Times New Roman" panose="02020603050405020304" pitchFamily="18" charset="0"/>
              </a:rPr>
              <a:t>: </a:t>
            </a: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Global Reporting Initiative (GRI) is one of the most widely used frameworks for sustainability reporting. It provides comprehensive guidelines for companies to disclose their environmental, social, and economic impacts.</a:t>
            </a:r>
          </a:p>
          <a:p>
            <a:pPr>
              <a:lnSpc>
                <a:spcPct val="150000"/>
              </a:lnSpc>
              <a:spcAft>
                <a:spcPts val="800"/>
              </a:spcAft>
            </a:pPr>
            <a:r>
              <a:rPr lang="en-IN" sz="2400" b="1" kern="100" dirty="0">
                <a:effectLst/>
                <a:latin typeface="Times New Roman" panose="02020603050405020304" pitchFamily="18" charset="0"/>
                <a:ea typeface="Calibri" panose="020F0502020204030204" pitchFamily="34" charset="0"/>
                <a:cs typeface="Times New Roman" panose="02020603050405020304" pitchFamily="18" charset="0"/>
              </a:rPr>
              <a:t>Dow Jones Sustainability Index (DJSI)</a:t>
            </a:r>
            <a:r>
              <a:rPr lang="en-IN" sz="2400" b="1" kern="100" dirty="0">
                <a:latin typeface="Times New Roman" panose="02020603050405020304" pitchFamily="18" charset="0"/>
                <a:ea typeface="Calibri" panose="020F0502020204030204" pitchFamily="34" charset="0"/>
                <a:cs typeface="Times New Roman" panose="02020603050405020304" pitchFamily="18" charset="0"/>
              </a:rPr>
              <a:t>: </a:t>
            </a: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Dow Jones Sustainability Index (DJSI) is a family of indices that evaluates the sustainability performance of companies based on environmental, social, and economic criteria. It includes global, regional, and country-specific indices.</a:t>
            </a:r>
            <a:endParaRPr lang="en-IN" sz="2400" kern="100" dirty="0">
              <a:effectLst/>
              <a:latin typeface="Calibri" panose="020F0502020204030204" pitchFamily="34" charset="0"/>
              <a:ea typeface="Calibri" panose="020F0502020204030204" pitchFamily="34" charset="0"/>
              <a:cs typeface="Tunga" panose="020B0502040204020203" pitchFamily="34" charset="0"/>
            </a:endParaRPr>
          </a:p>
        </p:txBody>
      </p:sp>
      <p:sp>
        <p:nvSpPr>
          <p:cNvPr id="5" name="Rectangle 4">
            <a:extLst>
              <a:ext uri="{FF2B5EF4-FFF2-40B4-BE49-F238E27FC236}">
                <a16:creationId xmlns:a16="http://schemas.microsoft.com/office/drawing/2014/main" id="{ACD58C42-C28F-C3F7-E80D-9B9DDD981C74}"/>
              </a:ext>
            </a:extLst>
          </p:cNvPr>
          <p:cNvSpPr/>
          <p:nvPr/>
        </p:nvSpPr>
        <p:spPr>
          <a:xfrm>
            <a:off x="428625" y="352425"/>
            <a:ext cx="11325225" cy="6276975"/>
          </a:xfrm>
          <a:prstGeom prst="rect">
            <a:avLst/>
          </a:prstGeom>
          <a:noFill/>
          <a:ln>
            <a:solidFill>
              <a:srgbClr val="00206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35140208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F000789B-7D10-75F7-4995-7BD16339C1A1}"/>
              </a:ext>
            </a:extLst>
          </p:cNvPr>
          <p:cNvSpPr>
            <a:spLocks noGrp="1"/>
          </p:cNvSpPr>
          <p:nvPr>
            <p:ph idx="1"/>
          </p:nvPr>
        </p:nvSpPr>
        <p:spPr>
          <a:xfrm>
            <a:off x="545671" y="492918"/>
            <a:ext cx="10798090" cy="5872163"/>
          </a:xfrm>
        </p:spPr>
        <p:txBody>
          <a:bodyPr>
            <a:normAutofit/>
          </a:bodyPr>
          <a:lstStyle/>
          <a:p>
            <a:pPr marL="0" indent="0">
              <a:lnSpc>
                <a:spcPct val="160000"/>
              </a:lnSpc>
              <a:buNone/>
            </a:pPr>
            <a:r>
              <a:rPr lang="en-IN" b="1" dirty="0">
                <a:effectLst/>
                <a:latin typeface="Times New Roman" panose="02020603050405020304" pitchFamily="18" charset="0"/>
                <a:ea typeface="Times New Roman" panose="02020603050405020304" pitchFamily="18" charset="0"/>
                <a:cs typeface="Times New Roman" panose="02020603050405020304" pitchFamily="18" charset="0"/>
              </a:rPr>
              <a:t>        Comprehensive Environmental Performance Index (CEPI)</a:t>
            </a:r>
          </a:p>
          <a:p>
            <a:pPr>
              <a:lnSpc>
                <a:spcPct val="160000"/>
              </a:lnSpc>
            </a:pPr>
            <a:r>
              <a:rPr lang="en-IN" sz="2100" b="1" dirty="0">
                <a:latin typeface="Times New Roman" panose="02020603050405020304" pitchFamily="18" charset="0"/>
                <a:ea typeface="Times New Roman" panose="02020603050405020304" pitchFamily="18" charset="0"/>
                <a:cs typeface="Times New Roman" panose="02020603050405020304" pitchFamily="18" charset="0"/>
              </a:rPr>
              <a:t> </a:t>
            </a:r>
            <a:r>
              <a:rPr lang="en-IN" sz="2100" dirty="0">
                <a:effectLst/>
                <a:latin typeface="Times New Roman" panose="02020603050405020304" pitchFamily="18" charset="0"/>
                <a:ea typeface="Times New Roman" panose="02020603050405020304" pitchFamily="18" charset="0"/>
                <a:cs typeface="Times New Roman" panose="02020603050405020304" pitchFamily="18" charset="0"/>
              </a:rPr>
              <a:t>The CEPI (Comprehensive Environmental Performance Index) of CSR (Corporate Social Responsibility) is a metric used to evaluate a company's environmental performance as part of its CSR activities. The CEPI measures how effectively a company manages its environmental impact and integrates sustainable practices into its operations. </a:t>
            </a:r>
          </a:p>
          <a:p>
            <a:pPr marL="0" indent="0">
              <a:buNone/>
            </a:pPr>
            <a:endParaRPr lang="en-IN" sz="1500" dirty="0"/>
          </a:p>
        </p:txBody>
      </p:sp>
      <p:sp>
        <p:nvSpPr>
          <p:cNvPr id="4" name="Rectangle 3">
            <a:extLst>
              <a:ext uri="{FF2B5EF4-FFF2-40B4-BE49-F238E27FC236}">
                <a16:creationId xmlns:a16="http://schemas.microsoft.com/office/drawing/2014/main" id="{7B89623A-B4C4-C748-A745-3A81F568B83F}"/>
              </a:ext>
            </a:extLst>
          </p:cNvPr>
          <p:cNvSpPr/>
          <p:nvPr/>
        </p:nvSpPr>
        <p:spPr>
          <a:xfrm>
            <a:off x="428625" y="352425"/>
            <a:ext cx="11325225" cy="6276975"/>
          </a:xfrm>
          <a:prstGeom prst="rect">
            <a:avLst/>
          </a:prstGeom>
          <a:noFill/>
          <a:ln>
            <a:solidFill>
              <a:srgbClr val="00206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31229881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F000789B-7D10-75F7-4995-7BD16339C1A1}"/>
              </a:ext>
            </a:extLst>
          </p:cNvPr>
          <p:cNvSpPr>
            <a:spLocks noGrp="1"/>
          </p:cNvSpPr>
          <p:nvPr>
            <p:ph idx="1"/>
          </p:nvPr>
        </p:nvSpPr>
        <p:spPr>
          <a:xfrm>
            <a:off x="545671" y="492918"/>
            <a:ext cx="10798090" cy="6012657"/>
          </a:xfrm>
        </p:spPr>
        <p:txBody>
          <a:bodyPr>
            <a:normAutofit fontScale="77500" lnSpcReduction="20000"/>
          </a:bodyPr>
          <a:lstStyle/>
          <a:p>
            <a:pPr marL="0" indent="0">
              <a:lnSpc>
                <a:spcPct val="160000"/>
              </a:lnSpc>
              <a:spcAft>
                <a:spcPts val="800"/>
              </a:spcAft>
              <a:buNone/>
            </a:pPr>
            <a:r>
              <a:rPr lang="en-IN" sz="3100" b="1" kern="100" dirty="0">
                <a:effectLst/>
                <a:latin typeface="Times New Roman" panose="02020603050405020304" pitchFamily="18" charset="0"/>
                <a:ea typeface="Calibri" panose="020F0502020204030204" pitchFamily="34" charset="0"/>
                <a:cs typeface="Times New Roman" panose="02020603050405020304" pitchFamily="18" charset="0"/>
              </a:rPr>
              <a:t>Investor Interest in Sustainability</a:t>
            </a:r>
            <a:endParaRPr lang="en-IN" sz="31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60000"/>
              </a:lnSpc>
              <a:buFont typeface="Symbol" panose="05050102010706020507" pitchFamily="18" charset="2"/>
              <a:buChar char=""/>
            </a:pPr>
            <a:r>
              <a:rPr lang="en-IN" sz="2400" dirty="0">
                <a:effectLst/>
                <a:latin typeface="Times New Roman" panose="02020603050405020304" pitchFamily="18" charset="0"/>
                <a:ea typeface="Times New Roman" panose="02020603050405020304" pitchFamily="18" charset="0"/>
                <a:cs typeface="Times New Roman" panose="02020603050405020304" pitchFamily="18" charset="0"/>
              </a:rPr>
              <a:t>Investors are increasingly recognizing the importance of sustainability in driving long-term value and managing risks. </a:t>
            </a:r>
          </a:p>
          <a:p>
            <a:pPr marL="342900" lvl="0" indent="-342900">
              <a:lnSpc>
                <a:spcPct val="160000"/>
              </a:lnSpc>
              <a:buFont typeface="Symbol" panose="05050102010706020507" pitchFamily="18" charset="2"/>
              <a:buChar char=""/>
            </a:pPr>
            <a:r>
              <a:rPr lang="en-IN" sz="2400" dirty="0">
                <a:effectLst/>
                <a:latin typeface="Times New Roman" panose="02020603050405020304" pitchFamily="18" charset="0"/>
                <a:ea typeface="Times New Roman" panose="02020603050405020304" pitchFamily="18" charset="0"/>
                <a:cs typeface="Times New Roman" panose="02020603050405020304" pitchFamily="18" charset="0"/>
              </a:rPr>
              <a:t>Investor interest in the sustainability of corporate social responsibility (CSR) has grown significantly in recent years.</a:t>
            </a:r>
          </a:p>
          <a:p>
            <a:pPr marL="342900" lvl="0" indent="-342900">
              <a:lnSpc>
                <a:spcPct val="160000"/>
              </a:lnSpc>
              <a:buFont typeface="Symbol" panose="05050102010706020507" pitchFamily="18" charset="2"/>
              <a:buChar char=""/>
            </a:pPr>
            <a:r>
              <a:rPr lang="en-IN" sz="2400" dirty="0">
                <a:effectLst/>
                <a:latin typeface="Times New Roman" panose="02020603050405020304" pitchFamily="18" charset="0"/>
                <a:ea typeface="Times New Roman" panose="02020603050405020304" pitchFamily="18" charset="0"/>
                <a:cs typeface="Times New Roman" panose="02020603050405020304" pitchFamily="18" charset="0"/>
              </a:rPr>
              <a:t>Investors are increasingly aware that companies addressing environmental, social, and governance (ESG) issues are better positioned to meet evolving consumer demands for ethical and sustainable products. </a:t>
            </a:r>
          </a:p>
          <a:p>
            <a:pPr marL="342900" lvl="0" indent="-342900">
              <a:lnSpc>
                <a:spcPct val="160000"/>
              </a:lnSpc>
              <a:buFont typeface="Symbol" panose="05050102010706020507" pitchFamily="18" charset="2"/>
              <a:buChar char=""/>
            </a:pPr>
            <a:r>
              <a:rPr lang="en-IN" sz="2400" dirty="0">
                <a:effectLst/>
                <a:latin typeface="Times New Roman" panose="02020603050405020304" pitchFamily="18" charset="0"/>
                <a:ea typeface="Times New Roman" panose="02020603050405020304" pitchFamily="18" charset="0"/>
                <a:cs typeface="Times New Roman" panose="02020603050405020304" pitchFamily="18" charset="0"/>
              </a:rPr>
              <a:t>The use of ESG performance metrics allows investors to identify resilient companies well-prepared for future challenges. </a:t>
            </a:r>
          </a:p>
          <a:p>
            <a:pPr marL="342900" lvl="0" indent="-342900">
              <a:lnSpc>
                <a:spcPct val="160000"/>
              </a:lnSpc>
              <a:buFont typeface="Symbol" panose="05050102010706020507" pitchFamily="18" charset="2"/>
              <a:buChar char=""/>
            </a:pPr>
            <a:r>
              <a:rPr lang="en-IN" sz="2400" dirty="0">
                <a:effectLst/>
                <a:latin typeface="Times New Roman" panose="02020603050405020304" pitchFamily="18" charset="0"/>
                <a:ea typeface="Times New Roman" panose="02020603050405020304" pitchFamily="18" charset="0"/>
                <a:cs typeface="Times New Roman" panose="02020603050405020304" pitchFamily="18" charset="0"/>
              </a:rPr>
              <a:t>Ultimately, the growing investor interest in CSR sustainability reflects a broader commitment to responsible investing, where financial success is intertwined with positive societal and environmental outcomes.</a:t>
            </a:r>
          </a:p>
          <a:p>
            <a:pPr marL="0" indent="0">
              <a:buNone/>
            </a:pPr>
            <a:endParaRPr lang="en-IN" sz="1500" dirty="0"/>
          </a:p>
        </p:txBody>
      </p:sp>
      <p:sp>
        <p:nvSpPr>
          <p:cNvPr id="4" name="Rectangle 3">
            <a:extLst>
              <a:ext uri="{FF2B5EF4-FFF2-40B4-BE49-F238E27FC236}">
                <a16:creationId xmlns:a16="http://schemas.microsoft.com/office/drawing/2014/main" id="{7B89623A-B4C4-C748-A745-3A81F568B83F}"/>
              </a:ext>
            </a:extLst>
          </p:cNvPr>
          <p:cNvSpPr/>
          <p:nvPr/>
        </p:nvSpPr>
        <p:spPr>
          <a:xfrm>
            <a:off x="428625" y="352425"/>
            <a:ext cx="11325225" cy="6276975"/>
          </a:xfrm>
          <a:prstGeom prst="rect">
            <a:avLst/>
          </a:prstGeom>
          <a:noFill/>
          <a:ln>
            <a:solidFill>
              <a:srgbClr val="00206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5437577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8E9D2EE-15F5-4308-0852-1089187D34C8}"/>
              </a:ext>
            </a:extLst>
          </p:cNvPr>
          <p:cNvSpPr>
            <a:spLocks noGrp="1"/>
          </p:cNvSpPr>
          <p:nvPr>
            <p:ph idx="1"/>
          </p:nvPr>
        </p:nvSpPr>
        <p:spPr>
          <a:xfrm>
            <a:off x="838200" y="1825625"/>
            <a:ext cx="10515600" cy="1984375"/>
          </a:xfrm>
        </p:spPr>
        <p:txBody>
          <a:bodyPr>
            <a:normAutofit/>
          </a:bodyPr>
          <a:lstStyle/>
          <a:p>
            <a:pPr marL="0" indent="0">
              <a:buNone/>
            </a:pPr>
            <a:r>
              <a:rPr lang="en-IN" sz="13800" dirty="0">
                <a:latin typeface="Algerian" panose="04020705040A02060702" pitchFamily="82" charset="0"/>
              </a:rPr>
              <a:t>THANK YOU</a:t>
            </a:r>
          </a:p>
        </p:txBody>
      </p:sp>
      <p:sp>
        <p:nvSpPr>
          <p:cNvPr id="4" name="Rectangle 3">
            <a:extLst>
              <a:ext uri="{FF2B5EF4-FFF2-40B4-BE49-F238E27FC236}">
                <a16:creationId xmlns:a16="http://schemas.microsoft.com/office/drawing/2014/main" id="{39135C0C-0A5C-7BDE-3F30-EA26662CD601}"/>
              </a:ext>
            </a:extLst>
          </p:cNvPr>
          <p:cNvSpPr/>
          <p:nvPr/>
        </p:nvSpPr>
        <p:spPr>
          <a:xfrm>
            <a:off x="428625" y="352425"/>
            <a:ext cx="11325225" cy="6276975"/>
          </a:xfrm>
          <a:prstGeom prst="rect">
            <a:avLst/>
          </a:prstGeom>
          <a:noFill/>
          <a:ln>
            <a:solidFill>
              <a:srgbClr val="00206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7214526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430</TotalTime>
  <Words>2045</Words>
  <Application>Microsoft Office PowerPoint</Application>
  <PresentationFormat>Widescreen</PresentationFormat>
  <Paragraphs>139</Paragraphs>
  <Slides>27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27</vt:i4>
      </vt:variant>
    </vt:vector>
  </HeadingPairs>
  <TitlesOfParts>
    <vt:vector size="35" baseType="lpstr">
      <vt:lpstr>Algerian</vt:lpstr>
      <vt:lpstr>Arial</vt:lpstr>
      <vt:lpstr>Calibri</vt:lpstr>
      <vt:lpstr>Calibri Light</vt:lpstr>
      <vt:lpstr>Symbol</vt:lpstr>
      <vt:lpstr>Times New Roman</vt:lpstr>
      <vt:lpstr>Wingdings</vt:lpstr>
      <vt:lpstr>Office Theme</vt:lpstr>
      <vt:lpstr>PowerPoint Presentation</vt:lpstr>
      <vt:lpstr>     CSR- Corporate Social Responsibility</vt:lpstr>
      <vt:lpstr>     CSR- Corporate Social Responsibility</vt:lpstr>
      <vt:lpstr>PURPOSE OF CSR</vt:lpstr>
      <vt:lpstr>Basic Constituents of CSR</vt:lpstr>
      <vt:lpstr> History &amp; evolution of CSR </vt:lpstr>
      <vt:lpstr>Charity</vt:lpstr>
      <vt:lpstr>  Corporate philanthropy </vt:lpstr>
      <vt:lpstr>PowerPoint Presentation</vt:lpstr>
      <vt:lpstr>PowerPoint Presentation</vt:lpstr>
      <vt:lpstr> Benefits of Corporate Philanthropy </vt:lpstr>
      <vt:lpstr>Corporate citizenship</vt:lpstr>
      <vt:lpstr>Corporate citizenship</vt:lpstr>
      <vt:lpstr>CSR-an overlapping</vt:lpstr>
      <vt:lpstr>Sustainability &amp; Stakeholder Management</vt:lpstr>
      <vt:lpstr>Sustainability &amp; Stakeholder Management</vt:lpstr>
      <vt:lpstr>Relation between CSR and Corporate Governance</vt:lpstr>
      <vt:lpstr>Relation between CSR and Corporate Governance</vt:lpstr>
      <vt:lpstr>The Environmental aspect of CSR</vt:lpstr>
      <vt:lpstr>Environmental aspect of CSR</vt:lpstr>
      <vt:lpstr>Chronological evolution of CSR in India</vt:lpstr>
      <vt:lpstr>Chronological evolution of CSR in India</vt:lpstr>
      <vt:lpstr>Sustainability Reporting</vt:lpstr>
      <vt:lpstr>Sustainability Reporting</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MAHESH KUMAR S</dc:creator>
  <cp:lastModifiedBy>MAHESH KUMAR S</cp:lastModifiedBy>
  <cp:revision>3</cp:revision>
  <dcterms:created xsi:type="dcterms:W3CDTF">2024-06-27T16:41:19Z</dcterms:created>
  <dcterms:modified xsi:type="dcterms:W3CDTF">2024-06-28T16:16:16Z</dcterms:modified>
</cp:coreProperties>
</file>