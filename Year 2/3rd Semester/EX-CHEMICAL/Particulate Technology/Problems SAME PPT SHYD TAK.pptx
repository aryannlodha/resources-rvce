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55" r:id="rId2"/>
    <p:sldMasterId id="2147483744" r:id="rId3"/>
  </p:sldMasterIdLst>
  <p:notesMasterIdLst>
    <p:notesMasterId r:id="rId32"/>
  </p:notesMasterIdLst>
  <p:sldIdLst>
    <p:sldId id="259" r:id="rId4"/>
    <p:sldId id="266" r:id="rId5"/>
    <p:sldId id="267" r:id="rId6"/>
    <p:sldId id="268" r:id="rId7"/>
    <p:sldId id="269" r:id="rId8"/>
    <p:sldId id="270" r:id="rId9"/>
    <p:sldId id="271" r:id="rId10"/>
    <p:sldId id="272" r:id="rId11"/>
    <p:sldId id="274" r:id="rId12"/>
    <p:sldId id="282" r:id="rId13"/>
    <p:sldId id="281" r:id="rId14"/>
    <p:sldId id="280" r:id="rId15"/>
    <p:sldId id="283" r:id="rId16"/>
    <p:sldId id="275" r:id="rId17"/>
    <p:sldId id="279" r:id="rId18"/>
    <p:sldId id="288" r:id="rId19"/>
    <p:sldId id="289" r:id="rId20"/>
    <p:sldId id="287" r:id="rId21"/>
    <p:sldId id="290" r:id="rId22"/>
    <p:sldId id="291" r:id="rId23"/>
    <p:sldId id="273" r:id="rId24"/>
    <p:sldId id="278" r:id="rId25"/>
    <p:sldId id="277" r:id="rId26"/>
    <p:sldId id="296" r:id="rId27"/>
    <p:sldId id="297" r:id="rId28"/>
    <p:sldId id="295" r:id="rId29"/>
    <p:sldId id="299" r:id="rId30"/>
    <p:sldId id="298" r:id="rId31"/>
  </p:sldIdLst>
  <p:sldSz cx="20104100" cy="11309350"/>
  <p:notesSz cx="20104100" cy="1130935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4BD95DB1-3D6A-4D70-B866-E109708ED921}">
          <p14:sldIdLst>
            <p14:sldId id="259"/>
            <p14:sldId id="266"/>
          </p14:sldIdLst>
        </p14:section>
        <p14:section name="Untitled Section" id="{BA335091-9C5A-49A3-8D9B-05EBD200F246}">
          <p14:sldIdLst>
            <p14:sldId id="267"/>
            <p14:sldId id="268"/>
            <p14:sldId id="269"/>
            <p14:sldId id="270"/>
            <p14:sldId id="271"/>
            <p14:sldId id="272"/>
            <p14:sldId id="274"/>
            <p14:sldId id="282"/>
            <p14:sldId id="281"/>
            <p14:sldId id="280"/>
            <p14:sldId id="283"/>
            <p14:sldId id="275"/>
            <p14:sldId id="279"/>
            <p14:sldId id="288"/>
            <p14:sldId id="289"/>
            <p14:sldId id="287"/>
            <p14:sldId id="290"/>
            <p14:sldId id="291"/>
            <p14:sldId id="273"/>
            <p14:sldId id="278"/>
            <p14:sldId id="277"/>
            <p14:sldId id="296"/>
            <p14:sldId id="297"/>
            <p14:sldId id="295"/>
            <p14:sldId id="299"/>
            <p14:sldId id="298"/>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93"/>
    <a:srgbClr val="681748"/>
    <a:srgbClr val="8E0623"/>
    <a:srgbClr val="5E6DB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84" autoAdjust="0"/>
  </p:normalViewPr>
  <p:slideViewPr>
    <p:cSldViewPr>
      <p:cViewPr varScale="1">
        <p:scale>
          <a:sx n="52" d="100"/>
          <a:sy n="52" d="100"/>
        </p:scale>
        <p:origin x="756" y="7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D:\Vidya%20College\PT%202023\PT_2023\Unit%201\Unit%201%20PT%20Pblm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Vidya%20College\PT%202023\PT_2023\Unit%201\Unit%201%20PT%20Pblm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360" b="0" i="0" u="none" strike="noStrike" kern="1200" spc="0" baseline="0">
                <a:solidFill>
                  <a:schemeClr val="tx1">
                    <a:lumMod val="65000"/>
                    <a:lumOff val="35000"/>
                  </a:schemeClr>
                </a:solidFill>
                <a:latin typeface="+mn-lt"/>
                <a:ea typeface="+mn-ea"/>
                <a:cs typeface="+mn-cs"/>
              </a:defRPr>
            </a:pPr>
            <a:r>
              <a:rPr lang="en-US"/>
              <a:t>1/DPi vs Xi</a:t>
            </a:r>
          </a:p>
        </c:rich>
      </c:tx>
      <c:overlay val="0"/>
      <c:spPr>
        <a:noFill/>
        <a:ln>
          <a:noFill/>
        </a:ln>
        <a:effectLst/>
      </c:spPr>
      <c:txPr>
        <a:bodyPr rot="0" spcFirstLastPara="1" vertOverflow="ellipsis" vert="horz" wrap="square" anchor="ctr" anchorCtr="1"/>
        <a:lstStyle/>
        <a:p>
          <a:pPr>
            <a:defRPr sz="33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Sheet1!$O$3:$O$13</c:f>
              <c:numCache>
                <c:formatCode>General</c:formatCode>
                <c:ptCount val="11"/>
                <c:pt idx="0">
                  <c:v>0</c:v>
                </c:pt>
                <c:pt idx="1">
                  <c:v>0.24919013207077001</c:v>
                </c:pt>
                <c:pt idx="2">
                  <c:v>0.3515556336790297</c:v>
                </c:pt>
                <c:pt idx="3">
                  <c:v>0.49838026414154002</c:v>
                </c:pt>
                <c:pt idx="4">
                  <c:v>0.70947144377438809</c:v>
                </c:pt>
                <c:pt idx="5">
                  <c:v>0.99950024987506247</c:v>
                </c:pt>
                <c:pt idx="6">
                  <c:v>1.4064697609001406</c:v>
                </c:pt>
                <c:pt idx="7">
                  <c:v>1.9880715705765408</c:v>
                </c:pt>
                <c:pt idx="8">
                  <c:v>2.808988764044944</c:v>
                </c:pt>
                <c:pt idx="9">
                  <c:v>3.9761431411530817</c:v>
                </c:pt>
                <c:pt idx="10">
                  <c:v>4.8076923076923075</c:v>
                </c:pt>
              </c:numCache>
            </c:numRef>
          </c:xVal>
          <c:yVal>
            <c:numRef>
              <c:f>Sheet1!$P$3:$P$13</c:f>
              <c:numCache>
                <c:formatCode>General</c:formatCode>
                <c:ptCount val="11"/>
                <c:pt idx="0">
                  <c:v>0</c:v>
                </c:pt>
                <c:pt idx="1">
                  <c:v>3.1E-2</c:v>
                </c:pt>
                <c:pt idx="2">
                  <c:v>0.10299999999999999</c:v>
                </c:pt>
                <c:pt idx="3">
                  <c:v>0.2</c:v>
                </c:pt>
                <c:pt idx="4">
                  <c:v>0.186</c:v>
                </c:pt>
                <c:pt idx="5">
                  <c:v>0.152</c:v>
                </c:pt>
                <c:pt idx="6">
                  <c:v>0.12</c:v>
                </c:pt>
                <c:pt idx="7">
                  <c:v>9.5000000000000001E-2</c:v>
                </c:pt>
                <c:pt idx="8">
                  <c:v>6.5000000000000002E-2</c:v>
                </c:pt>
                <c:pt idx="9">
                  <c:v>4.2999999999999997E-2</c:v>
                </c:pt>
                <c:pt idx="10">
                  <c:v>5.0000000000000001E-3</c:v>
                </c:pt>
              </c:numCache>
            </c:numRef>
          </c:yVal>
          <c:smooth val="1"/>
          <c:extLst>
            <c:ext xmlns:c16="http://schemas.microsoft.com/office/drawing/2014/chart" uri="{C3380CC4-5D6E-409C-BE32-E72D297353CC}">
              <c16:uniqueId val="{00000000-B2AD-427C-B070-4CC6ED49EF92}"/>
            </c:ext>
          </c:extLst>
        </c:ser>
        <c:dLbls>
          <c:showLegendKey val="0"/>
          <c:showVal val="0"/>
          <c:showCatName val="0"/>
          <c:showSerName val="0"/>
          <c:showPercent val="0"/>
          <c:showBubbleSize val="0"/>
        </c:dLbls>
        <c:axId val="1962691055"/>
        <c:axId val="1972882687"/>
      </c:scatterChart>
      <c:valAx>
        <c:axId val="196269105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r>
                  <a:rPr lang="en-US"/>
                  <a:t>xi</a:t>
                </a:r>
              </a:p>
            </c:rich>
          </c:tx>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1972882687"/>
        <c:crosses val="autoZero"/>
        <c:crossBetween val="midCat"/>
      </c:valAx>
      <c:valAx>
        <c:axId val="197288268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r>
                  <a:rPr lang="en-US"/>
                  <a:t>1/Dpi</a:t>
                </a:r>
              </a:p>
            </c:rich>
          </c:tx>
          <c:overlay val="0"/>
          <c:spPr>
            <a:noFill/>
            <a:ln>
              <a:noFill/>
            </a:ln>
            <a:effectLst/>
          </c:spPr>
          <c:txPr>
            <a:bodyPr rot="-54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196269105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Cummulative mass fraction vs Average particle size</a:t>
            </a:r>
          </a:p>
        </c:rich>
      </c:tx>
      <c:layout>
        <c:manualLayout>
          <c:xMode val="edge"/>
          <c:yMode val="edge"/>
          <c:x val="0.18525678040244969"/>
          <c:y val="0"/>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scatterChart>
        <c:scatterStyle val="lineMarker"/>
        <c:varyColors val="0"/>
        <c:ser>
          <c:idx val="0"/>
          <c:order val="0"/>
          <c:tx>
            <c:strRef>
              <c:f>Sheet5!$I$2</c:f>
              <c:strCache>
                <c:ptCount val="1"/>
                <c:pt idx="0">
                  <c:v>Cummulative mass Fraction Feed</c:v>
                </c:pt>
              </c:strCache>
            </c:strRef>
          </c:tx>
          <c:spPr>
            <a:ln w="9525" cap="rnd">
              <a:solidFill>
                <a:schemeClr val="accent1"/>
              </a:solidFill>
              <a:round/>
            </a:ln>
            <a:effectLst>
              <a:outerShdw blurRad="40000" dist="23000" dir="5400000" rotWithShape="0">
                <a:srgbClr val="000000">
                  <a:alpha val="35000"/>
                </a:srgbClr>
              </a:outerShdw>
            </a:effectLst>
          </c:spPr>
          <c:marker>
            <c:symbol val="circle"/>
            <c:size val="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a:solidFill>
                  <a:schemeClr val="accent1"/>
                </a:solidFill>
                <a:round/>
              </a:ln>
              <a:effectLst>
                <a:outerShdw blurRad="40000" dist="23000" dir="5400000" rotWithShape="0">
                  <a:srgbClr val="000000">
                    <a:alpha val="35000"/>
                  </a:srgbClr>
                </a:outerShdw>
              </a:effectLst>
            </c:spPr>
          </c:marker>
          <c:xVal>
            <c:numRef>
              <c:f>Sheet5!$H$3:$H$15</c:f>
              <c:numCache>
                <c:formatCode>@</c:formatCode>
                <c:ptCount val="13"/>
                <c:pt idx="0">
                  <c:v>5.7145000000000001</c:v>
                </c:pt>
                <c:pt idx="1">
                  <c:v>4.0129999999999999</c:v>
                </c:pt>
                <c:pt idx="2">
                  <c:v>2.8445</c:v>
                </c:pt>
                <c:pt idx="3">
                  <c:v>2.0065</c:v>
                </c:pt>
                <c:pt idx="4">
                  <c:v>1.4095</c:v>
                </c:pt>
                <c:pt idx="5">
                  <c:v>1.0004999999999999</c:v>
                </c:pt>
                <c:pt idx="6">
                  <c:v>0.71099999999999997</c:v>
                </c:pt>
                <c:pt idx="7">
                  <c:v>0.503</c:v>
                </c:pt>
                <c:pt idx="8">
                  <c:v>0.35599999999999998</c:v>
                </c:pt>
                <c:pt idx="9">
                  <c:v>0.29549999999999998</c:v>
                </c:pt>
                <c:pt idx="10">
                  <c:v>0.29649999999999999</c:v>
                </c:pt>
                <c:pt idx="11">
                  <c:v>0.29749999999999999</c:v>
                </c:pt>
                <c:pt idx="12">
                  <c:v>0.29849999999999999</c:v>
                </c:pt>
              </c:numCache>
            </c:numRef>
          </c:xVal>
          <c:yVal>
            <c:numRef>
              <c:f>Sheet5!$I$3:$I$15</c:f>
              <c:numCache>
                <c:formatCode>General</c:formatCode>
                <c:ptCount val="13"/>
                <c:pt idx="0">
                  <c:v>1</c:v>
                </c:pt>
                <c:pt idx="1">
                  <c:v>0.98929999999999996</c:v>
                </c:pt>
                <c:pt idx="2">
                  <c:v>0.96579999999999999</c:v>
                </c:pt>
                <c:pt idx="3">
                  <c:v>0.89859999999999995</c:v>
                </c:pt>
                <c:pt idx="4">
                  <c:v>0.81219999999999992</c:v>
                </c:pt>
                <c:pt idx="5">
                  <c:v>0.7034999999999999</c:v>
                </c:pt>
                <c:pt idx="6">
                  <c:v>0.52759999999999985</c:v>
                </c:pt>
                <c:pt idx="7">
                  <c:v>0.38789999999999986</c:v>
                </c:pt>
                <c:pt idx="8">
                  <c:v>0.28019999999999984</c:v>
                </c:pt>
                <c:pt idx="9">
                  <c:v>0.17889999999999984</c:v>
                </c:pt>
                <c:pt idx="10">
                  <c:v>0.10429999999999984</c:v>
                </c:pt>
                <c:pt idx="11">
                  <c:v>5.3299999999999841E-2</c:v>
                </c:pt>
                <c:pt idx="12">
                  <c:v>2.0299999999999839E-2</c:v>
                </c:pt>
              </c:numCache>
            </c:numRef>
          </c:yVal>
          <c:smooth val="0"/>
          <c:extLst>
            <c:ext xmlns:c16="http://schemas.microsoft.com/office/drawing/2014/chart" uri="{C3380CC4-5D6E-409C-BE32-E72D297353CC}">
              <c16:uniqueId val="{00000000-0E75-47CA-929C-1D6DEA556F85}"/>
            </c:ext>
          </c:extLst>
        </c:ser>
        <c:ser>
          <c:idx val="1"/>
          <c:order val="1"/>
          <c:tx>
            <c:strRef>
              <c:f>Sheet5!$J$2</c:f>
              <c:strCache>
                <c:ptCount val="1"/>
                <c:pt idx="0">
                  <c:v>Cummulative Mass Fraction in Oversize</c:v>
                </c:pt>
              </c:strCache>
            </c:strRef>
          </c:tx>
          <c:spPr>
            <a:ln w="9525" cap="rnd">
              <a:solidFill>
                <a:schemeClr val="accent2"/>
              </a:solidFill>
              <a:round/>
            </a:ln>
            <a:effectLst>
              <a:outerShdw blurRad="40000" dist="23000" dir="5400000" rotWithShape="0">
                <a:srgbClr val="000000">
                  <a:alpha val="35000"/>
                </a:srgbClr>
              </a:outerShdw>
            </a:effectLst>
          </c:spPr>
          <c:marker>
            <c:symbol val="circle"/>
            <c:size val="5"/>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w="9525">
                <a:solidFill>
                  <a:schemeClr val="accent2"/>
                </a:solidFill>
                <a:round/>
              </a:ln>
              <a:effectLst>
                <a:outerShdw blurRad="40000" dist="23000" dir="5400000" rotWithShape="0">
                  <a:srgbClr val="000000">
                    <a:alpha val="35000"/>
                  </a:srgbClr>
                </a:outerShdw>
              </a:effectLst>
            </c:spPr>
          </c:marker>
          <c:xVal>
            <c:numRef>
              <c:f>Sheet5!$H$3:$H$15</c:f>
              <c:numCache>
                <c:formatCode>@</c:formatCode>
                <c:ptCount val="13"/>
                <c:pt idx="0">
                  <c:v>5.7145000000000001</c:v>
                </c:pt>
                <c:pt idx="1">
                  <c:v>4.0129999999999999</c:v>
                </c:pt>
                <c:pt idx="2">
                  <c:v>2.8445</c:v>
                </c:pt>
                <c:pt idx="3">
                  <c:v>2.0065</c:v>
                </c:pt>
                <c:pt idx="4">
                  <c:v>1.4095</c:v>
                </c:pt>
                <c:pt idx="5">
                  <c:v>1.0004999999999999</c:v>
                </c:pt>
                <c:pt idx="6">
                  <c:v>0.71099999999999997</c:v>
                </c:pt>
                <c:pt idx="7">
                  <c:v>0.503</c:v>
                </c:pt>
                <c:pt idx="8">
                  <c:v>0.35599999999999998</c:v>
                </c:pt>
                <c:pt idx="9">
                  <c:v>0.29549999999999998</c:v>
                </c:pt>
                <c:pt idx="10">
                  <c:v>0.29649999999999999</c:v>
                </c:pt>
                <c:pt idx="11">
                  <c:v>0.29749999999999999</c:v>
                </c:pt>
                <c:pt idx="12">
                  <c:v>0.29849999999999999</c:v>
                </c:pt>
              </c:numCache>
            </c:numRef>
          </c:xVal>
          <c:yVal>
            <c:numRef>
              <c:f>Sheet5!$J$3:$J$15</c:f>
              <c:numCache>
                <c:formatCode>General</c:formatCode>
                <c:ptCount val="13"/>
                <c:pt idx="0">
                  <c:v>1</c:v>
                </c:pt>
                <c:pt idx="1">
                  <c:v>0.98199999999999998</c:v>
                </c:pt>
                <c:pt idx="2">
                  <c:v>0.94899999999999995</c:v>
                </c:pt>
                <c:pt idx="3">
                  <c:v>0.86099999999999999</c:v>
                </c:pt>
                <c:pt idx="4">
                  <c:v>0.749</c:v>
                </c:pt>
                <c:pt idx="5">
                  <c:v>0.60699999999999998</c:v>
                </c:pt>
                <c:pt idx="6">
                  <c:v>0.378</c:v>
                </c:pt>
                <c:pt idx="7">
                  <c:v>0.19600000000000001</c:v>
                </c:pt>
                <c:pt idx="8">
                  <c:v>9.2000000000000012E-2</c:v>
                </c:pt>
                <c:pt idx="9">
                  <c:v>2.700000000000001E-2</c:v>
                </c:pt>
                <c:pt idx="10">
                  <c:v>2.0000000000000087E-3</c:v>
                </c:pt>
                <c:pt idx="11">
                  <c:v>0</c:v>
                </c:pt>
                <c:pt idx="12">
                  <c:v>0</c:v>
                </c:pt>
              </c:numCache>
            </c:numRef>
          </c:yVal>
          <c:smooth val="0"/>
          <c:extLst>
            <c:ext xmlns:c16="http://schemas.microsoft.com/office/drawing/2014/chart" uri="{C3380CC4-5D6E-409C-BE32-E72D297353CC}">
              <c16:uniqueId val="{00000001-0E75-47CA-929C-1D6DEA556F85}"/>
            </c:ext>
          </c:extLst>
        </c:ser>
        <c:ser>
          <c:idx val="2"/>
          <c:order val="2"/>
          <c:tx>
            <c:strRef>
              <c:f>Sheet5!$K$2</c:f>
              <c:strCache>
                <c:ptCount val="1"/>
                <c:pt idx="0">
                  <c:v>Cummulative Mass fraction in under size</c:v>
                </c:pt>
              </c:strCache>
            </c:strRef>
          </c:tx>
          <c:spPr>
            <a:ln w="9525" cap="rnd">
              <a:solidFill>
                <a:schemeClr val="accent3"/>
              </a:solidFill>
              <a:round/>
            </a:ln>
            <a:effectLst>
              <a:outerShdw blurRad="40000" dist="23000" dir="5400000" rotWithShape="0">
                <a:srgbClr val="000000">
                  <a:alpha val="35000"/>
                </a:srgbClr>
              </a:outerShdw>
            </a:effectLst>
          </c:spPr>
          <c:marker>
            <c:symbol val="circle"/>
            <c:size val="5"/>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w="9525">
                <a:solidFill>
                  <a:schemeClr val="accent3"/>
                </a:solidFill>
                <a:round/>
              </a:ln>
              <a:effectLst>
                <a:outerShdw blurRad="40000" dist="23000" dir="5400000" rotWithShape="0">
                  <a:srgbClr val="000000">
                    <a:alpha val="35000"/>
                  </a:srgbClr>
                </a:outerShdw>
              </a:effectLst>
            </c:spPr>
          </c:marker>
          <c:xVal>
            <c:numRef>
              <c:f>Sheet5!$H$3:$H$15</c:f>
              <c:numCache>
                <c:formatCode>@</c:formatCode>
                <c:ptCount val="13"/>
                <c:pt idx="0">
                  <c:v>5.7145000000000001</c:v>
                </c:pt>
                <c:pt idx="1">
                  <c:v>4.0129999999999999</c:v>
                </c:pt>
                <c:pt idx="2">
                  <c:v>2.8445</c:v>
                </c:pt>
                <c:pt idx="3">
                  <c:v>2.0065</c:v>
                </c:pt>
                <c:pt idx="4">
                  <c:v>1.4095</c:v>
                </c:pt>
                <c:pt idx="5">
                  <c:v>1.0004999999999999</c:v>
                </c:pt>
                <c:pt idx="6">
                  <c:v>0.71099999999999997</c:v>
                </c:pt>
                <c:pt idx="7">
                  <c:v>0.503</c:v>
                </c:pt>
                <c:pt idx="8">
                  <c:v>0.35599999999999998</c:v>
                </c:pt>
                <c:pt idx="9">
                  <c:v>0.29549999999999998</c:v>
                </c:pt>
                <c:pt idx="10">
                  <c:v>0.29649999999999999</c:v>
                </c:pt>
                <c:pt idx="11">
                  <c:v>0.29749999999999999</c:v>
                </c:pt>
                <c:pt idx="12">
                  <c:v>0.29849999999999999</c:v>
                </c:pt>
              </c:numCache>
            </c:numRef>
          </c:xVal>
          <c:yVal>
            <c:numRef>
              <c:f>Sheet5!$K$3:$K$15</c:f>
              <c:numCache>
                <c:formatCode>General</c:formatCode>
                <c:ptCount val="13"/>
                <c:pt idx="0">
                  <c:v>1</c:v>
                </c:pt>
                <c:pt idx="1">
                  <c:v>1</c:v>
                </c:pt>
                <c:pt idx="2">
                  <c:v>1</c:v>
                </c:pt>
                <c:pt idx="3">
                  <c:v>1</c:v>
                </c:pt>
                <c:pt idx="4">
                  <c:v>1</c:v>
                </c:pt>
                <c:pt idx="5">
                  <c:v>1</c:v>
                </c:pt>
                <c:pt idx="6">
                  <c:v>1</c:v>
                </c:pt>
                <c:pt idx="7">
                  <c:v>1</c:v>
                </c:pt>
                <c:pt idx="8">
                  <c:v>0.88050000000000006</c:v>
                </c:pt>
                <c:pt idx="9">
                  <c:v>0.66070000000000007</c:v>
                </c:pt>
                <c:pt idx="10">
                  <c:v>0.42160000000000009</c:v>
                </c:pt>
                <c:pt idx="11">
                  <c:v>0.23390000000000008</c:v>
                </c:pt>
                <c:pt idx="12">
                  <c:v>9.1200000000000087E-2</c:v>
                </c:pt>
              </c:numCache>
            </c:numRef>
          </c:yVal>
          <c:smooth val="0"/>
          <c:extLst>
            <c:ext xmlns:c16="http://schemas.microsoft.com/office/drawing/2014/chart" uri="{C3380CC4-5D6E-409C-BE32-E72D297353CC}">
              <c16:uniqueId val="{00000002-0E75-47CA-929C-1D6DEA556F85}"/>
            </c:ext>
          </c:extLst>
        </c:ser>
        <c:dLbls>
          <c:showLegendKey val="0"/>
          <c:showVal val="0"/>
          <c:showCatName val="0"/>
          <c:showSerName val="0"/>
          <c:showPercent val="0"/>
          <c:showBubbleSize val="0"/>
        </c:dLbls>
        <c:axId val="2019065520"/>
        <c:axId val="78121872"/>
      </c:scatterChart>
      <c:valAx>
        <c:axId val="2019065520"/>
        <c:scaling>
          <c:orientation val="minMax"/>
        </c:scaling>
        <c:delete val="0"/>
        <c:axPos val="b"/>
        <c:majorGridlines>
          <c:spPr>
            <a:ln w="9525" cap="flat" cmpd="sng" algn="ctr">
              <a:solidFill>
                <a:schemeClr val="tx2">
                  <a:lumMod val="15000"/>
                  <a:lumOff val="8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t>Average Particle size Dp</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78121872"/>
        <c:crosses val="autoZero"/>
        <c:crossBetween val="midCat"/>
      </c:valAx>
      <c:valAx>
        <c:axId val="78121872"/>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t>Cummulative mass fraction</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019065520"/>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1197" kern="1200"/>
  </cs:valueAxis>
  <cs:wall>
    <cs:lnRef idx="0"/>
    <cs:fillRef idx="0"/>
    <cs:effectRef idx="0"/>
    <cs:fontRef idx="minor">
      <a:schemeClr val="tx2"/>
    </cs:fontRef>
  </cs:wall>
</cs:chartStyle>
</file>

<file path=ppt/drawings/drawing1.xml><?xml version="1.0" encoding="utf-8"?>
<c:userShapes xmlns:c="http://schemas.openxmlformats.org/drawingml/2006/chart">
  <cdr:relSizeAnchor xmlns:cdr="http://schemas.openxmlformats.org/drawingml/2006/chartDrawing">
    <cdr:from>
      <cdr:x>0.24889</cdr:x>
      <cdr:y>0.19881</cdr:y>
    </cdr:from>
    <cdr:to>
      <cdr:x>0.24889</cdr:x>
      <cdr:y>0.88043</cdr:y>
    </cdr:to>
    <cdr:cxnSp macro="">
      <cdr:nvCxnSpPr>
        <cdr:cNvPr id="3" name="Straight Connector 2">
          <a:extLst xmlns:a="http://schemas.openxmlformats.org/drawingml/2006/main">
            <a:ext uri="{FF2B5EF4-FFF2-40B4-BE49-F238E27FC236}">
              <a16:creationId xmlns:a16="http://schemas.microsoft.com/office/drawing/2014/main" id="{FBCCAB9C-0781-3601-3AC9-EE903091D920}"/>
            </a:ext>
          </a:extLst>
        </cdr:cNvPr>
        <cdr:cNvCxnSpPr/>
      </cdr:nvCxnSpPr>
      <cdr:spPr>
        <a:xfrm xmlns:a="http://schemas.openxmlformats.org/drawingml/2006/main" flipV="1">
          <a:off x="4032448" y="1512169"/>
          <a:ext cx="0" cy="5184576"/>
        </a:xfrm>
        <a:prstGeom xmlns:a="http://schemas.openxmlformats.org/drawingml/2006/main" prst="line">
          <a:avLst/>
        </a:prstGeom>
        <a:ln xmlns:a="http://schemas.openxmlformats.org/drawingml/2006/main" w="28575">
          <a:solidFill>
            <a:srgbClr val="FF0000"/>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FA178816-4D23-4F01-BEBC-6D3D2BC8EA25}" type="datetimeFigureOut">
              <a:rPr lang="en-IN" smtClean="0"/>
              <a:t>17-09-2025</a:t>
            </a:fld>
            <a:endParaRPr lang="en-IN"/>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657C4CF0-7A79-4F7E-8120-AE1300467A8F}" type="slidenum">
              <a:rPr lang="en-IN" smtClean="0"/>
              <a:t>‹#›</a:t>
            </a:fld>
            <a:endParaRPr lang="en-IN"/>
          </a:p>
        </p:txBody>
      </p:sp>
    </p:spTree>
    <p:extLst>
      <p:ext uri="{BB962C8B-B14F-4D97-AF65-F5344CB8AC3E}">
        <p14:creationId xmlns:p14="http://schemas.microsoft.com/office/powerpoint/2010/main" val="2644038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endParaRPr/>
          </a:p>
        </p:txBody>
      </p:sp>
      <p:sp>
        <p:nvSpPr>
          <p:cNvPr id="5" name="Holder 5"/>
          <p:cNvSpPr>
            <a:spLocks noGrp="1"/>
          </p:cNvSpPr>
          <p:nvPr>
            <p:ph type="dt" sz="half" idx="11"/>
          </p:nvPr>
        </p:nvSpPr>
        <p:spPr/>
        <p:txBody>
          <a:bodyPr/>
          <a:lstStyle>
            <a:lvl1pPr>
              <a:defRPr/>
            </a:lvl1pPr>
          </a:lstStyle>
          <a:p>
            <a:pPr>
              <a:defRPr/>
            </a:pPr>
            <a:fld id="{95A9B34B-540D-4CED-8B50-909BF78023BA}" type="datetimeFigureOut">
              <a:rPr lang="en-US" altLang="en-US"/>
              <a:pPr>
                <a:defRPr/>
              </a:pPr>
              <a:t>9/17/2025</a:t>
            </a:fld>
            <a:endParaRPr lang="en-US" altLang="en-US"/>
          </a:p>
        </p:txBody>
      </p:sp>
      <p:sp>
        <p:nvSpPr>
          <p:cNvPr id="6" name="Holder 6"/>
          <p:cNvSpPr>
            <a:spLocks noGrp="1"/>
          </p:cNvSpPr>
          <p:nvPr>
            <p:ph type="sldNum" sz="quarter" idx="12"/>
          </p:nvPr>
        </p:nvSpPr>
        <p:spPr/>
        <p:txBody>
          <a:bodyPr/>
          <a:lstStyle>
            <a:lvl1pPr>
              <a:defRPr/>
            </a:lvl1pPr>
          </a:lstStyle>
          <a:p>
            <a:pPr>
              <a:defRPr/>
            </a:pPr>
            <a:fld id="{D0E44D79-E28B-4C3C-BDBA-46835D288A5B}" type="slidenum">
              <a:rPr lang="en-US" altLang="en-US"/>
              <a:pPr>
                <a:defRPr/>
              </a:pPr>
              <a:t>‹#›</a:t>
            </a:fld>
            <a:endParaRPr lang="en-US" altLang="en-US"/>
          </a:p>
        </p:txBody>
      </p:sp>
    </p:spTree>
    <p:extLst>
      <p:ext uri="{BB962C8B-B14F-4D97-AF65-F5344CB8AC3E}">
        <p14:creationId xmlns:p14="http://schemas.microsoft.com/office/powerpoint/2010/main" val="30761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a:cs typeface="Playfair Display"/>
              </a:defRPr>
            </a:lvl1pPr>
          </a:lstStyle>
          <a:p>
            <a:endParaRPr/>
          </a:p>
        </p:txBody>
      </p:sp>
      <p:sp>
        <p:nvSpPr>
          <p:cNvPr id="3" name="Holder 3"/>
          <p:cNvSpPr>
            <a:spLocks noGrp="1"/>
          </p:cNvSpPr>
          <p:nvPr>
            <p:ph type="body" idx="1"/>
          </p:nvPr>
        </p:nvSpPr>
        <p:spPr/>
        <p:txBody>
          <a:bodyPr/>
          <a:lstStyle>
            <a:lvl1pPr>
              <a:defRPr b="0" i="0">
                <a:solidFill>
                  <a:schemeClr val="tx1"/>
                </a:solidFill>
              </a:defRPr>
            </a:lvl1pPr>
          </a:lstStyle>
          <a:p>
            <a:endParaRPr/>
          </a:p>
        </p:txBody>
      </p:sp>
      <p:sp>
        <p:nvSpPr>
          <p:cNvPr id="4" name="Holder 4"/>
          <p:cNvSpPr>
            <a:spLocks noGrp="1"/>
          </p:cNvSpPr>
          <p:nvPr>
            <p:ph type="ftr" sz="quarter" idx="10"/>
          </p:nvPr>
        </p:nvSpPr>
        <p:spPr/>
        <p:txBody>
          <a:bodyPr/>
          <a:lstStyle>
            <a:lvl1pPr>
              <a:defRPr/>
            </a:lvl1pPr>
          </a:lstStyle>
          <a:p>
            <a:pPr>
              <a:defRPr/>
            </a:pPr>
            <a:endParaRPr/>
          </a:p>
        </p:txBody>
      </p:sp>
      <p:sp>
        <p:nvSpPr>
          <p:cNvPr id="5" name="Holder 5"/>
          <p:cNvSpPr>
            <a:spLocks noGrp="1"/>
          </p:cNvSpPr>
          <p:nvPr>
            <p:ph type="dt" sz="half" idx="11"/>
          </p:nvPr>
        </p:nvSpPr>
        <p:spPr/>
        <p:txBody>
          <a:bodyPr/>
          <a:lstStyle>
            <a:lvl1pPr>
              <a:defRPr/>
            </a:lvl1pPr>
          </a:lstStyle>
          <a:p>
            <a:pPr>
              <a:defRPr/>
            </a:pPr>
            <a:fld id="{650F0634-08DF-4E04-B68F-039C29138F5E}" type="datetimeFigureOut">
              <a:rPr lang="en-US" altLang="en-US"/>
              <a:pPr>
                <a:defRPr/>
              </a:pPr>
              <a:t>9/17/2025</a:t>
            </a:fld>
            <a:endParaRPr lang="en-US" altLang="en-US"/>
          </a:p>
        </p:txBody>
      </p:sp>
      <p:sp>
        <p:nvSpPr>
          <p:cNvPr id="6" name="Holder 6"/>
          <p:cNvSpPr>
            <a:spLocks noGrp="1"/>
          </p:cNvSpPr>
          <p:nvPr>
            <p:ph type="sldNum" sz="quarter" idx="12"/>
          </p:nvPr>
        </p:nvSpPr>
        <p:spPr/>
        <p:txBody>
          <a:bodyPr/>
          <a:lstStyle>
            <a:lvl1pPr>
              <a:defRPr/>
            </a:lvl1pPr>
          </a:lstStyle>
          <a:p>
            <a:pPr>
              <a:defRPr/>
            </a:pPr>
            <a:fld id="{8D2E47F0-08EA-45F2-AA28-403F75507B80}" type="slidenum">
              <a:rPr lang="en-US" altLang="en-US"/>
              <a:pPr>
                <a:defRPr/>
              </a:pPr>
              <a:t>‹#›</a:t>
            </a:fld>
            <a:endParaRPr lang="en-US" altLang="en-US"/>
          </a:p>
        </p:txBody>
      </p:sp>
    </p:spTree>
    <p:extLst>
      <p:ext uri="{BB962C8B-B14F-4D97-AF65-F5344CB8AC3E}">
        <p14:creationId xmlns:p14="http://schemas.microsoft.com/office/powerpoint/2010/main" val="1454406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a:cs typeface="Playfair Display"/>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endParaRPr/>
          </a:p>
        </p:txBody>
      </p:sp>
      <p:sp>
        <p:nvSpPr>
          <p:cNvPr id="6" name="Holder 5"/>
          <p:cNvSpPr>
            <a:spLocks noGrp="1"/>
          </p:cNvSpPr>
          <p:nvPr>
            <p:ph type="dt" sz="half" idx="11"/>
          </p:nvPr>
        </p:nvSpPr>
        <p:spPr/>
        <p:txBody>
          <a:bodyPr/>
          <a:lstStyle>
            <a:lvl1pPr>
              <a:defRPr/>
            </a:lvl1pPr>
          </a:lstStyle>
          <a:p>
            <a:pPr>
              <a:defRPr/>
            </a:pPr>
            <a:fld id="{DABEA8D4-343C-4334-B966-C74040D81DE7}" type="datetimeFigureOut">
              <a:rPr lang="en-US" altLang="en-US"/>
              <a:pPr>
                <a:defRPr/>
              </a:pPr>
              <a:t>9/17/2025</a:t>
            </a:fld>
            <a:endParaRPr lang="en-US" altLang="en-US"/>
          </a:p>
        </p:txBody>
      </p:sp>
      <p:sp>
        <p:nvSpPr>
          <p:cNvPr id="7" name="Holder 6"/>
          <p:cNvSpPr>
            <a:spLocks noGrp="1"/>
          </p:cNvSpPr>
          <p:nvPr>
            <p:ph type="sldNum" sz="quarter" idx="12"/>
          </p:nvPr>
        </p:nvSpPr>
        <p:spPr/>
        <p:txBody>
          <a:bodyPr/>
          <a:lstStyle>
            <a:lvl1pPr>
              <a:defRPr/>
            </a:lvl1pPr>
          </a:lstStyle>
          <a:p>
            <a:pPr>
              <a:defRPr/>
            </a:pPr>
            <a:fld id="{58B01C6F-27DC-4715-B9EE-01FDC6113F6A}" type="slidenum">
              <a:rPr lang="en-US" altLang="en-US"/>
              <a:pPr>
                <a:defRPr/>
              </a:pPr>
              <a:t>‹#›</a:t>
            </a:fld>
            <a:endParaRPr lang="en-US" altLang="en-US"/>
          </a:p>
        </p:txBody>
      </p:sp>
    </p:spTree>
    <p:extLst>
      <p:ext uri="{BB962C8B-B14F-4D97-AF65-F5344CB8AC3E}">
        <p14:creationId xmlns:p14="http://schemas.microsoft.com/office/powerpoint/2010/main" val="1242529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a:cs typeface="Playfair Display"/>
              </a:defRPr>
            </a:lvl1pPr>
          </a:lstStyle>
          <a:p>
            <a:endParaRPr/>
          </a:p>
        </p:txBody>
      </p:sp>
      <p:sp>
        <p:nvSpPr>
          <p:cNvPr id="3" name="Holder 4"/>
          <p:cNvSpPr>
            <a:spLocks noGrp="1"/>
          </p:cNvSpPr>
          <p:nvPr>
            <p:ph type="ftr" sz="quarter" idx="10"/>
          </p:nvPr>
        </p:nvSpPr>
        <p:spPr/>
        <p:txBody>
          <a:bodyPr/>
          <a:lstStyle>
            <a:lvl1pPr>
              <a:defRPr/>
            </a:lvl1pPr>
          </a:lstStyle>
          <a:p>
            <a:pPr>
              <a:defRPr/>
            </a:pPr>
            <a:endParaRPr/>
          </a:p>
        </p:txBody>
      </p:sp>
      <p:sp>
        <p:nvSpPr>
          <p:cNvPr id="4" name="Holder 5"/>
          <p:cNvSpPr>
            <a:spLocks noGrp="1"/>
          </p:cNvSpPr>
          <p:nvPr>
            <p:ph type="dt" sz="half" idx="11"/>
          </p:nvPr>
        </p:nvSpPr>
        <p:spPr/>
        <p:txBody>
          <a:bodyPr/>
          <a:lstStyle>
            <a:lvl1pPr>
              <a:defRPr/>
            </a:lvl1pPr>
          </a:lstStyle>
          <a:p>
            <a:pPr>
              <a:defRPr/>
            </a:pPr>
            <a:fld id="{63F98416-ABCF-461F-A3BD-F1C27EC6B542}" type="datetimeFigureOut">
              <a:rPr lang="en-US" altLang="en-US"/>
              <a:pPr>
                <a:defRPr/>
              </a:pPr>
              <a:t>9/17/2025</a:t>
            </a:fld>
            <a:endParaRPr lang="en-US" altLang="en-US"/>
          </a:p>
        </p:txBody>
      </p:sp>
      <p:sp>
        <p:nvSpPr>
          <p:cNvPr id="5" name="Holder 6"/>
          <p:cNvSpPr>
            <a:spLocks noGrp="1"/>
          </p:cNvSpPr>
          <p:nvPr>
            <p:ph type="sldNum" sz="quarter" idx="12"/>
          </p:nvPr>
        </p:nvSpPr>
        <p:spPr/>
        <p:txBody>
          <a:bodyPr/>
          <a:lstStyle>
            <a:lvl1pPr>
              <a:defRPr/>
            </a:lvl1pPr>
          </a:lstStyle>
          <a:p>
            <a:pPr>
              <a:defRPr/>
            </a:pPr>
            <a:fld id="{15F331EC-414A-4F2A-A987-C893066750E0}" type="slidenum">
              <a:rPr lang="en-US" altLang="en-US"/>
              <a:pPr>
                <a:defRPr/>
              </a:pPr>
              <a:t>‹#›</a:t>
            </a:fld>
            <a:endParaRPr lang="en-US" altLang="en-US"/>
          </a:p>
        </p:txBody>
      </p:sp>
    </p:spTree>
    <p:extLst>
      <p:ext uri="{BB962C8B-B14F-4D97-AF65-F5344CB8AC3E}">
        <p14:creationId xmlns:p14="http://schemas.microsoft.com/office/powerpoint/2010/main" val="1734621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endParaRPr/>
          </a:p>
        </p:txBody>
      </p:sp>
      <p:sp>
        <p:nvSpPr>
          <p:cNvPr id="3" name="Holder 5"/>
          <p:cNvSpPr>
            <a:spLocks noGrp="1"/>
          </p:cNvSpPr>
          <p:nvPr>
            <p:ph type="dt" sz="half" idx="11"/>
          </p:nvPr>
        </p:nvSpPr>
        <p:spPr/>
        <p:txBody>
          <a:bodyPr/>
          <a:lstStyle>
            <a:lvl1pPr>
              <a:defRPr/>
            </a:lvl1pPr>
          </a:lstStyle>
          <a:p>
            <a:pPr>
              <a:defRPr/>
            </a:pPr>
            <a:fld id="{85ADC655-CDBB-4FEA-AE7D-6F1DADE9FF69}" type="datetimeFigureOut">
              <a:rPr lang="en-US" altLang="en-US"/>
              <a:pPr>
                <a:defRPr/>
              </a:pPr>
              <a:t>9/17/2025</a:t>
            </a:fld>
            <a:endParaRPr lang="en-US" altLang="en-US"/>
          </a:p>
        </p:txBody>
      </p:sp>
      <p:sp>
        <p:nvSpPr>
          <p:cNvPr id="4" name="Holder 6"/>
          <p:cNvSpPr>
            <a:spLocks noGrp="1"/>
          </p:cNvSpPr>
          <p:nvPr>
            <p:ph type="sldNum" sz="quarter" idx="12"/>
          </p:nvPr>
        </p:nvSpPr>
        <p:spPr/>
        <p:txBody>
          <a:bodyPr/>
          <a:lstStyle>
            <a:lvl1pPr>
              <a:defRPr/>
            </a:lvl1pPr>
          </a:lstStyle>
          <a:p>
            <a:pPr>
              <a:defRPr/>
            </a:pPr>
            <a:fld id="{07B84C6F-4357-44F6-A8E8-66CF51BDBFAE}" type="slidenum">
              <a:rPr lang="en-US" altLang="en-US"/>
              <a:pPr>
                <a:defRPr/>
              </a:pPr>
              <a:t>‹#›</a:t>
            </a:fld>
            <a:endParaRPr lang="en-US" altLang="en-US"/>
          </a:p>
        </p:txBody>
      </p:sp>
    </p:spTree>
    <p:extLst>
      <p:ext uri="{BB962C8B-B14F-4D97-AF65-F5344CB8AC3E}">
        <p14:creationId xmlns:p14="http://schemas.microsoft.com/office/powerpoint/2010/main" val="3828732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685325" y="1637146"/>
            <a:ext cx="18733486" cy="4513186"/>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1433"/>
            </a:lvl1pPr>
            <a:lvl2pPr lvl="1" algn="ctr">
              <a:spcBef>
                <a:spcPts val="0"/>
              </a:spcBef>
              <a:spcAft>
                <a:spcPts val="0"/>
              </a:spcAft>
              <a:buSzPts val="5200"/>
              <a:buNone/>
              <a:defRPr sz="11433"/>
            </a:lvl2pPr>
            <a:lvl3pPr lvl="2" algn="ctr">
              <a:spcBef>
                <a:spcPts val="0"/>
              </a:spcBef>
              <a:spcAft>
                <a:spcPts val="0"/>
              </a:spcAft>
              <a:buSzPts val="5200"/>
              <a:buNone/>
              <a:defRPr sz="11433"/>
            </a:lvl3pPr>
            <a:lvl4pPr lvl="3" algn="ctr">
              <a:spcBef>
                <a:spcPts val="0"/>
              </a:spcBef>
              <a:spcAft>
                <a:spcPts val="0"/>
              </a:spcAft>
              <a:buSzPts val="5200"/>
              <a:buNone/>
              <a:defRPr sz="11433"/>
            </a:lvl4pPr>
            <a:lvl5pPr lvl="4" algn="ctr">
              <a:spcBef>
                <a:spcPts val="0"/>
              </a:spcBef>
              <a:spcAft>
                <a:spcPts val="0"/>
              </a:spcAft>
              <a:buSzPts val="5200"/>
              <a:buNone/>
              <a:defRPr sz="11433"/>
            </a:lvl5pPr>
            <a:lvl6pPr lvl="5" algn="ctr">
              <a:spcBef>
                <a:spcPts val="0"/>
              </a:spcBef>
              <a:spcAft>
                <a:spcPts val="0"/>
              </a:spcAft>
              <a:buSzPts val="5200"/>
              <a:buNone/>
              <a:defRPr sz="11433"/>
            </a:lvl6pPr>
            <a:lvl7pPr lvl="6" algn="ctr">
              <a:spcBef>
                <a:spcPts val="0"/>
              </a:spcBef>
              <a:spcAft>
                <a:spcPts val="0"/>
              </a:spcAft>
              <a:buSzPts val="5200"/>
              <a:buNone/>
              <a:defRPr sz="11433"/>
            </a:lvl7pPr>
            <a:lvl8pPr lvl="7" algn="ctr">
              <a:spcBef>
                <a:spcPts val="0"/>
              </a:spcBef>
              <a:spcAft>
                <a:spcPts val="0"/>
              </a:spcAft>
              <a:buSzPts val="5200"/>
              <a:buNone/>
              <a:defRPr sz="11433"/>
            </a:lvl8pPr>
            <a:lvl9pPr lvl="8" algn="ctr">
              <a:spcBef>
                <a:spcPts val="0"/>
              </a:spcBef>
              <a:spcAft>
                <a:spcPts val="0"/>
              </a:spcAft>
              <a:buSzPts val="5200"/>
              <a:buNone/>
              <a:defRPr sz="11433"/>
            </a:lvl9pPr>
          </a:lstStyle>
          <a:p>
            <a:endParaRPr/>
          </a:p>
        </p:txBody>
      </p:sp>
      <p:sp>
        <p:nvSpPr>
          <p:cNvPr id="12" name="Google Shape;12;p2"/>
          <p:cNvSpPr txBox="1">
            <a:spLocks noGrp="1"/>
          </p:cNvSpPr>
          <p:nvPr>
            <p:ph type="subTitle" idx="1"/>
          </p:nvPr>
        </p:nvSpPr>
        <p:spPr>
          <a:xfrm>
            <a:off x="685307" y="6231576"/>
            <a:ext cx="18733486" cy="1742741"/>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6156"/>
            </a:lvl1pPr>
            <a:lvl2pPr lvl="1" algn="ctr">
              <a:lnSpc>
                <a:spcPct val="100000"/>
              </a:lnSpc>
              <a:spcBef>
                <a:spcPts val="0"/>
              </a:spcBef>
              <a:spcAft>
                <a:spcPts val="0"/>
              </a:spcAft>
              <a:buSzPts val="2800"/>
              <a:buNone/>
              <a:defRPr sz="6156"/>
            </a:lvl2pPr>
            <a:lvl3pPr lvl="2" algn="ctr">
              <a:lnSpc>
                <a:spcPct val="100000"/>
              </a:lnSpc>
              <a:spcBef>
                <a:spcPts val="0"/>
              </a:spcBef>
              <a:spcAft>
                <a:spcPts val="0"/>
              </a:spcAft>
              <a:buSzPts val="2800"/>
              <a:buNone/>
              <a:defRPr sz="6156"/>
            </a:lvl3pPr>
            <a:lvl4pPr lvl="3" algn="ctr">
              <a:lnSpc>
                <a:spcPct val="100000"/>
              </a:lnSpc>
              <a:spcBef>
                <a:spcPts val="0"/>
              </a:spcBef>
              <a:spcAft>
                <a:spcPts val="0"/>
              </a:spcAft>
              <a:buSzPts val="2800"/>
              <a:buNone/>
              <a:defRPr sz="6156"/>
            </a:lvl4pPr>
            <a:lvl5pPr lvl="4" algn="ctr">
              <a:lnSpc>
                <a:spcPct val="100000"/>
              </a:lnSpc>
              <a:spcBef>
                <a:spcPts val="0"/>
              </a:spcBef>
              <a:spcAft>
                <a:spcPts val="0"/>
              </a:spcAft>
              <a:buSzPts val="2800"/>
              <a:buNone/>
              <a:defRPr sz="6156"/>
            </a:lvl5pPr>
            <a:lvl6pPr lvl="5" algn="ctr">
              <a:lnSpc>
                <a:spcPct val="100000"/>
              </a:lnSpc>
              <a:spcBef>
                <a:spcPts val="0"/>
              </a:spcBef>
              <a:spcAft>
                <a:spcPts val="0"/>
              </a:spcAft>
              <a:buSzPts val="2800"/>
              <a:buNone/>
              <a:defRPr sz="6156"/>
            </a:lvl6pPr>
            <a:lvl7pPr lvl="6" algn="ctr">
              <a:lnSpc>
                <a:spcPct val="100000"/>
              </a:lnSpc>
              <a:spcBef>
                <a:spcPts val="0"/>
              </a:spcBef>
              <a:spcAft>
                <a:spcPts val="0"/>
              </a:spcAft>
              <a:buSzPts val="2800"/>
              <a:buNone/>
              <a:defRPr sz="6156"/>
            </a:lvl7pPr>
            <a:lvl8pPr lvl="7" algn="ctr">
              <a:lnSpc>
                <a:spcPct val="100000"/>
              </a:lnSpc>
              <a:spcBef>
                <a:spcPts val="0"/>
              </a:spcBef>
              <a:spcAft>
                <a:spcPts val="0"/>
              </a:spcAft>
              <a:buSzPts val="2800"/>
              <a:buNone/>
              <a:defRPr sz="6156"/>
            </a:lvl8pPr>
            <a:lvl9pPr lvl="8" algn="ctr">
              <a:lnSpc>
                <a:spcPct val="100000"/>
              </a:lnSpc>
              <a:spcBef>
                <a:spcPts val="0"/>
              </a:spcBef>
              <a:spcAft>
                <a:spcPts val="0"/>
              </a:spcAft>
              <a:buSzPts val="2800"/>
              <a:buNone/>
              <a:defRPr sz="6156"/>
            </a:lvl9pPr>
          </a:lstStyle>
          <a:p>
            <a:endParaRPr/>
          </a:p>
        </p:txBody>
      </p:sp>
      <p:sp>
        <p:nvSpPr>
          <p:cNvPr id="13" name="Google Shape;13;p2"/>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pic>
        <p:nvPicPr>
          <p:cNvPr id="14" name="Google Shape;14;p2"/>
          <p:cNvPicPr preferRelativeResize="0"/>
          <p:nvPr/>
        </p:nvPicPr>
        <p:blipFill>
          <a:blip r:embed="rId2">
            <a:alphaModFix/>
          </a:blip>
          <a:stretch>
            <a:fillRect/>
          </a:stretch>
        </p:blipFill>
        <p:spPr>
          <a:xfrm>
            <a:off x="7614259" y="10400272"/>
            <a:ext cx="4875583" cy="741534"/>
          </a:xfrm>
          <a:prstGeom prst="rect">
            <a:avLst/>
          </a:prstGeom>
          <a:noFill/>
          <a:ln>
            <a:noFill/>
          </a:ln>
        </p:spPr>
      </p:pic>
    </p:spTree>
    <p:extLst>
      <p:ext uri="{BB962C8B-B14F-4D97-AF65-F5344CB8AC3E}">
        <p14:creationId xmlns:p14="http://schemas.microsoft.com/office/powerpoint/2010/main" val="937315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861251" y="2053867"/>
            <a:ext cx="18733486" cy="125923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3"/>
          <p:cNvSpPr txBox="1">
            <a:spLocks noGrp="1"/>
          </p:cNvSpPr>
          <p:nvPr>
            <p:ph type="body" idx="1"/>
          </p:nvPr>
        </p:nvSpPr>
        <p:spPr>
          <a:xfrm>
            <a:off x="556798" y="4084207"/>
            <a:ext cx="18733486" cy="7511862"/>
          </a:xfrm>
          <a:prstGeom prst="rect">
            <a:avLst/>
          </a:prstGeom>
        </p:spPr>
        <p:txBody>
          <a:bodyPr spcFirstLastPara="1" wrap="square" lIns="91425" tIns="91425" rIns="91425" bIns="91425" anchor="t" anchorCtr="0">
            <a:normAutofit/>
          </a:bodyPr>
          <a:lstStyle>
            <a:lvl1pPr marL="1005200" lvl="0" indent="-753900">
              <a:spcBef>
                <a:spcPts val="0"/>
              </a:spcBef>
              <a:spcAft>
                <a:spcPts val="0"/>
              </a:spcAft>
              <a:buSzPts val="1800"/>
              <a:buChar char="●"/>
              <a:defRPr/>
            </a:lvl1pPr>
            <a:lvl2pPr marL="2010400" lvl="1" indent="-698056">
              <a:spcBef>
                <a:spcPts val="0"/>
              </a:spcBef>
              <a:spcAft>
                <a:spcPts val="0"/>
              </a:spcAft>
              <a:buSzPts val="1400"/>
              <a:buChar char="○"/>
              <a:defRPr/>
            </a:lvl2pPr>
            <a:lvl3pPr marL="3015600" lvl="2" indent="-698056">
              <a:spcBef>
                <a:spcPts val="0"/>
              </a:spcBef>
              <a:spcAft>
                <a:spcPts val="0"/>
              </a:spcAft>
              <a:buSzPts val="1400"/>
              <a:buChar char="■"/>
              <a:defRPr/>
            </a:lvl3pPr>
            <a:lvl4pPr marL="4020800" lvl="3" indent="-698056">
              <a:spcBef>
                <a:spcPts val="0"/>
              </a:spcBef>
              <a:spcAft>
                <a:spcPts val="0"/>
              </a:spcAft>
              <a:buSzPts val="1400"/>
              <a:buChar char="●"/>
              <a:defRPr/>
            </a:lvl4pPr>
            <a:lvl5pPr marL="5026000" lvl="4" indent="-698056">
              <a:spcBef>
                <a:spcPts val="0"/>
              </a:spcBef>
              <a:spcAft>
                <a:spcPts val="0"/>
              </a:spcAft>
              <a:buSzPts val="1400"/>
              <a:buChar char="○"/>
              <a:defRPr/>
            </a:lvl5pPr>
            <a:lvl6pPr marL="6031200" lvl="5" indent="-698056">
              <a:spcBef>
                <a:spcPts val="0"/>
              </a:spcBef>
              <a:spcAft>
                <a:spcPts val="0"/>
              </a:spcAft>
              <a:buSzPts val="1400"/>
              <a:buChar char="■"/>
              <a:defRPr/>
            </a:lvl6pPr>
            <a:lvl7pPr marL="7036399" lvl="6" indent="-698056">
              <a:spcBef>
                <a:spcPts val="0"/>
              </a:spcBef>
              <a:spcAft>
                <a:spcPts val="0"/>
              </a:spcAft>
              <a:buSzPts val="1400"/>
              <a:buChar char="●"/>
              <a:defRPr/>
            </a:lvl7pPr>
            <a:lvl8pPr marL="8041599" lvl="7" indent="-698056">
              <a:spcBef>
                <a:spcPts val="0"/>
              </a:spcBef>
              <a:spcAft>
                <a:spcPts val="0"/>
              </a:spcAft>
              <a:buSzPts val="1400"/>
              <a:buChar char="○"/>
              <a:defRPr/>
            </a:lvl8pPr>
            <a:lvl9pPr marL="9046799" lvl="8" indent="-698056">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pic>
        <p:nvPicPr>
          <p:cNvPr id="19" name="Google Shape;19;p3"/>
          <p:cNvPicPr preferRelativeResize="0"/>
          <p:nvPr/>
        </p:nvPicPr>
        <p:blipFill>
          <a:blip r:embed="rId2">
            <a:alphaModFix/>
          </a:blip>
          <a:stretch>
            <a:fillRect/>
          </a:stretch>
        </p:blipFill>
        <p:spPr>
          <a:xfrm>
            <a:off x="15354222" y="912874"/>
            <a:ext cx="4340170" cy="660014"/>
          </a:xfrm>
          <a:prstGeom prst="rect">
            <a:avLst/>
          </a:prstGeom>
          <a:noFill/>
          <a:ln>
            <a:noFill/>
          </a:ln>
        </p:spPr>
      </p:pic>
    </p:spTree>
    <p:extLst>
      <p:ext uri="{BB962C8B-B14F-4D97-AF65-F5344CB8AC3E}">
        <p14:creationId xmlns:p14="http://schemas.microsoft.com/office/powerpoint/2010/main" val="3279176061"/>
      </p:ext>
    </p:extLst>
  </p:cSld>
  <p:clrMapOvr>
    <a:masterClrMapping/>
  </p:clrMapOvr>
  <p:extLst mod="1">
    <p:ext uri="{DCECCB84-F9BA-43D5-87BE-67443E8EF086}">
      <p15:sldGuideLst xmlns:p15="http://schemas.microsoft.com/office/powerpoint/2012/main">
        <p15:guide id="1" orient="horz" pos="413">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861251" y="1707341"/>
            <a:ext cx="18733486" cy="125923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685307" y="2534022"/>
            <a:ext cx="8794225" cy="7511862"/>
          </a:xfrm>
          <a:prstGeom prst="rect">
            <a:avLst/>
          </a:prstGeom>
        </p:spPr>
        <p:txBody>
          <a:bodyPr spcFirstLastPara="1" wrap="square" lIns="91425" tIns="91425" rIns="91425" bIns="91425" anchor="t" anchorCtr="0">
            <a:normAutofit/>
          </a:bodyPr>
          <a:lstStyle>
            <a:lvl1pPr marL="1005200" lvl="0" indent="-698056">
              <a:spcBef>
                <a:spcPts val="0"/>
              </a:spcBef>
              <a:spcAft>
                <a:spcPts val="0"/>
              </a:spcAft>
              <a:buSzPts val="1400"/>
              <a:buChar char="●"/>
              <a:defRPr sz="3078"/>
            </a:lvl1pPr>
            <a:lvl2pPr marL="2010400" lvl="1" indent="-670133">
              <a:spcBef>
                <a:spcPts val="0"/>
              </a:spcBef>
              <a:spcAft>
                <a:spcPts val="0"/>
              </a:spcAft>
              <a:buSzPts val="1200"/>
              <a:buChar char="○"/>
              <a:defRPr sz="2638"/>
            </a:lvl2pPr>
            <a:lvl3pPr marL="3015600" lvl="2" indent="-670133">
              <a:spcBef>
                <a:spcPts val="0"/>
              </a:spcBef>
              <a:spcAft>
                <a:spcPts val="0"/>
              </a:spcAft>
              <a:buSzPts val="1200"/>
              <a:buChar char="■"/>
              <a:defRPr sz="2638"/>
            </a:lvl3pPr>
            <a:lvl4pPr marL="4020800" lvl="3" indent="-670133">
              <a:spcBef>
                <a:spcPts val="0"/>
              </a:spcBef>
              <a:spcAft>
                <a:spcPts val="0"/>
              </a:spcAft>
              <a:buSzPts val="1200"/>
              <a:buChar char="●"/>
              <a:defRPr sz="2638"/>
            </a:lvl4pPr>
            <a:lvl5pPr marL="5026000" lvl="4" indent="-670133">
              <a:spcBef>
                <a:spcPts val="0"/>
              </a:spcBef>
              <a:spcAft>
                <a:spcPts val="0"/>
              </a:spcAft>
              <a:buSzPts val="1200"/>
              <a:buChar char="○"/>
              <a:defRPr sz="2638"/>
            </a:lvl5pPr>
            <a:lvl6pPr marL="6031200" lvl="5" indent="-670133">
              <a:spcBef>
                <a:spcPts val="0"/>
              </a:spcBef>
              <a:spcAft>
                <a:spcPts val="0"/>
              </a:spcAft>
              <a:buSzPts val="1200"/>
              <a:buChar char="■"/>
              <a:defRPr sz="2638"/>
            </a:lvl6pPr>
            <a:lvl7pPr marL="7036399" lvl="6" indent="-670133">
              <a:spcBef>
                <a:spcPts val="0"/>
              </a:spcBef>
              <a:spcAft>
                <a:spcPts val="0"/>
              </a:spcAft>
              <a:buSzPts val="1200"/>
              <a:buChar char="●"/>
              <a:defRPr sz="2638"/>
            </a:lvl7pPr>
            <a:lvl8pPr marL="8041599" lvl="7" indent="-670133">
              <a:spcBef>
                <a:spcPts val="0"/>
              </a:spcBef>
              <a:spcAft>
                <a:spcPts val="0"/>
              </a:spcAft>
              <a:buSzPts val="1200"/>
              <a:buChar char="○"/>
              <a:defRPr sz="2638"/>
            </a:lvl8pPr>
            <a:lvl9pPr marL="9046799" lvl="8" indent="-670133">
              <a:spcBef>
                <a:spcPts val="0"/>
              </a:spcBef>
              <a:spcAft>
                <a:spcPts val="0"/>
              </a:spcAft>
              <a:buSzPts val="1200"/>
              <a:buChar char="■"/>
              <a:defRPr sz="2638"/>
            </a:lvl9pPr>
          </a:lstStyle>
          <a:p>
            <a:endParaRPr/>
          </a:p>
        </p:txBody>
      </p:sp>
      <p:sp>
        <p:nvSpPr>
          <p:cNvPr id="23" name="Google Shape;23;p4"/>
          <p:cNvSpPr txBox="1">
            <a:spLocks noGrp="1"/>
          </p:cNvSpPr>
          <p:nvPr>
            <p:ph type="body" idx="2"/>
          </p:nvPr>
        </p:nvSpPr>
        <p:spPr>
          <a:xfrm>
            <a:off x="10624568" y="2534022"/>
            <a:ext cx="8794225" cy="7511862"/>
          </a:xfrm>
          <a:prstGeom prst="rect">
            <a:avLst/>
          </a:prstGeom>
        </p:spPr>
        <p:txBody>
          <a:bodyPr spcFirstLastPara="1" wrap="square" lIns="91425" tIns="91425" rIns="91425" bIns="91425" anchor="t" anchorCtr="0">
            <a:normAutofit/>
          </a:bodyPr>
          <a:lstStyle>
            <a:lvl1pPr marL="1005200" lvl="0" indent="-698056">
              <a:spcBef>
                <a:spcPts val="0"/>
              </a:spcBef>
              <a:spcAft>
                <a:spcPts val="0"/>
              </a:spcAft>
              <a:buSzPts val="1400"/>
              <a:buChar char="●"/>
              <a:defRPr sz="3078"/>
            </a:lvl1pPr>
            <a:lvl2pPr marL="2010400" lvl="1" indent="-670133">
              <a:spcBef>
                <a:spcPts val="0"/>
              </a:spcBef>
              <a:spcAft>
                <a:spcPts val="0"/>
              </a:spcAft>
              <a:buSzPts val="1200"/>
              <a:buChar char="○"/>
              <a:defRPr sz="2638"/>
            </a:lvl2pPr>
            <a:lvl3pPr marL="3015600" lvl="2" indent="-670133">
              <a:spcBef>
                <a:spcPts val="0"/>
              </a:spcBef>
              <a:spcAft>
                <a:spcPts val="0"/>
              </a:spcAft>
              <a:buSzPts val="1200"/>
              <a:buChar char="■"/>
              <a:defRPr sz="2638"/>
            </a:lvl3pPr>
            <a:lvl4pPr marL="4020800" lvl="3" indent="-670133">
              <a:spcBef>
                <a:spcPts val="0"/>
              </a:spcBef>
              <a:spcAft>
                <a:spcPts val="0"/>
              </a:spcAft>
              <a:buSzPts val="1200"/>
              <a:buChar char="●"/>
              <a:defRPr sz="2638"/>
            </a:lvl4pPr>
            <a:lvl5pPr marL="5026000" lvl="4" indent="-670133">
              <a:spcBef>
                <a:spcPts val="0"/>
              </a:spcBef>
              <a:spcAft>
                <a:spcPts val="0"/>
              </a:spcAft>
              <a:buSzPts val="1200"/>
              <a:buChar char="○"/>
              <a:defRPr sz="2638"/>
            </a:lvl5pPr>
            <a:lvl6pPr marL="6031200" lvl="5" indent="-670133">
              <a:spcBef>
                <a:spcPts val="0"/>
              </a:spcBef>
              <a:spcAft>
                <a:spcPts val="0"/>
              </a:spcAft>
              <a:buSzPts val="1200"/>
              <a:buChar char="■"/>
              <a:defRPr sz="2638"/>
            </a:lvl6pPr>
            <a:lvl7pPr marL="7036399" lvl="6" indent="-670133">
              <a:spcBef>
                <a:spcPts val="0"/>
              </a:spcBef>
              <a:spcAft>
                <a:spcPts val="0"/>
              </a:spcAft>
              <a:buSzPts val="1200"/>
              <a:buChar char="●"/>
              <a:defRPr sz="2638"/>
            </a:lvl7pPr>
            <a:lvl8pPr marL="8041599" lvl="7" indent="-670133">
              <a:spcBef>
                <a:spcPts val="0"/>
              </a:spcBef>
              <a:spcAft>
                <a:spcPts val="0"/>
              </a:spcAft>
              <a:buSzPts val="1200"/>
              <a:buChar char="○"/>
              <a:defRPr sz="2638"/>
            </a:lvl8pPr>
            <a:lvl9pPr marL="9046799" lvl="8" indent="-670133">
              <a:spcBef>
                <a:spcPts val="0"/>
              </a:spcBef>
              <a:spcAft>
                <a:spcPts val="0"/>
              </a:spcAft>
              <a:buSzPts val="1200"/>
              <a:buChar char="■"/>
              <a:defRPr sz="2638"/>
            </a:lvl9pPr>
          </a:lstStyle>
          <a:p>
            <a:endParaRPr/>
          </a:p>
        </p:txBody>
      </p:sp>
      <p:sp>
        <p:nvSpPr>
          <p:cNvPr id="24" name="Google Shape;24;p4"/>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2486035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861251" y="1707341"/>
            <a:ext cx="18733486" cy="125923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2677434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685307" y="1221634"/>
            <a:ext cx="6173700" cy="1661607"/>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5277"/>
            </a:lvl1pPr>
            <a:lvl2pPr lvl="1">
              <a:spcBef>
                <a:spcPts val="0"/>
              </a:spcBef>
              <a:spcAft>
                <a:spcPts val="0"/>
              </a:spcAft>
              <a:buSzPts val="2400"/>
              <a:buNone/>
              <a:defRPr sz="5277"/>
            </a:lvl2pPr>
            <a:lvl3pPr lvl="2">
              <a:spcBef>
                <a:spcPts val="0"/>
              </a:spcBef>
              <a:spcAft>
                <a:spcPts val="0"/>
              </a:spcAft>
              <a:buSzPts val="2400"/>
              <a:buNone/>
              <a:defRPr sz="5277"/>
            </a:lvl3pPr>
            <a:lvl4pPr lvl="3">
              <a:spcBef>
                <a:spcPts val="0"/>
              </a:spcBef>
              <a:spcAft>
                <a:spcPts val="0"/>
              </a:spcAft>
              <a:buSzPts val="2400"/>
              <a:buNone/>
              <a:defRPr sz="5277"/>
            </a:lvl4pPr>
            <a:lvl5pPr lvl="4">
              <a:spcBef>
                <a:spcPts val="0"/>
              </a:spcBef>
              <a:spcAft>
                <a:spcPts val="0"/>
              </a:spcAft>
              <a:buSzPts val="2400"/>
              <a:buNone/>
              <a:defRPr sz="5277"/>
            </a:lvl5pPr>
            <a:lvl6pPr lvl="5">
              <a:spcBef>
                <a:spcPts val="0"/>
              </a:spcBef>
              <a:spcAft>
                <a:spcPts val="0"/>
              </a:spcAft>
              <a:buSzPts val="2400"/>
              <a:buNone/>
              <a:defRPr sz="5277"/>
            </a:lvl6pPr>
            <a:lvl7pPr lvl="6">
              <a:spcBef>
                <a:spcPts val="0"/>
              </a:spcBef>
              <a:spcAft>
                <a:spcPts val="0"/>
              </a:spcAft>
              <a:buSzPts val="2400"/>
              <a:buNone/>
              <a:defRPr sz="5277"/>
            </a:lvl7pPr>
            <a:lvl8pPr lvl="7">
              <a:spcBef>
                <a:spcPts val="0"/>
              </a:spcBef>
              <a:spcAft>
                <a:spcPts val="0"/>
              </a:spcAft>
              <a:buSzPts val="2400"/>
              <a:buNone/>
              <a:defRPr sz="5277"/>
            </a:lvl8pPr>
            <a:lvl9pPr lvl="8">
              <a:spcBef>
                <a:spcPts val="0"/>
              </a:spcBef>
              <a:spcAft>
                <a:spcPts val="0"/>
              </a:spcAft>
              <a:buSzPts val="2400"/>
              <a:buNone/>
              <a:defRPr sz="5277"/>
            </a:lvl9pPr>
          </a:lstStyle>
          <a:p>
            <a:endParaRPr/>
          </a:p>
        </p:txBody>
      </p:sp>
      <p:sp>
        <p:nvSpPr>
          <p:cNvPr id="30" name="Google Shape;30;p6"/>
          <p:cNvSpPr txBox="1">
            <a:spLocks noGrp="1"/>
          </p:cNvSpPr>
          <p:nvPr>
            <p:ph type="body" idx="1"/>
          </p:nvPr>
        </p:nvSpPr>
        <p:spPr>
          <a:xfrm>
            <a:off x="685307" y="3055404"/>
            <a:ext cx="6173700" cy="6990755"/>
          </a:xfrm>
          <a:prstGeom prst="rect">
            <a:avLst/>
          </a:prstGeom>
        </p:spPr>
        <p:txBody>
          <a:bodyPr spcFirstLastPara="1" wrap="square" lIns="91425" tIns="91425" rIns="91425" bIns="91425" anchor="t" anchorCtr="0">
            <a:normAutofit/>
          </a:bodyPr>
          <a:lstStyle>
            <a:lvl1pPr marL="1005200" lvl="0" indent="-670133">
              <a:spcBef>
                <a:spcPts val="0"/>
              </a:spcBef>
              <a:spcAft>
                <a:spcPts val="0"/>
              </a:spcAft>
              <a:buSzPts val="1200"/>
              <a:buChar char="●"/>
              <a:defRPr sz="2638"/>
            </a:lvl1pPr>
            <a:lvl2pPr marL="2010400" lvl="1" indent="-670133">
              <a:spcBef>
                <a:spcPts val="0"/>
              </a:spcBef>
              <a:spcAft>
                <a:spcPts val="0"/>
              </a:spcAft>
              <a:buSzPts val="1200"/>
              <a:buChar char="○"/>
              <a:defRPr sz="2638"/>
            </a:lvl2pPr>
            <a:lvl3pPr marL="3015600" lvl="2" indent="-670133">
              <a:spcBef>
                <a:spcPts val="0"/>
              </a:spcBef>
              <a:spcAft>
                <a:spcPts val="0"/>
              </a:spcAft>
              <a:buSzPts val="1200"/>
              <a:buChar char="■"/>
              <a:defRPr sz="2638"/>
            </a:lvl3pPr>
            <a:lvl4pPr marL="4020800" lvl="3" indent="-670133">
              <a:spcBef>
                <a:spcPts val="0"/>
              </a:spcBef>
              <a:spcAft>
                <a:spcPts val="0"/>
              </a:spcAft>
              <a:buSzPts val="1200"/>
              <a:buChar char="●"/>
              <a:defRPr sz="2638"/>
            </a:lvl4pPr>
            <a:lvl5pPr marL="5026000" lvl="4" indent="-670133">
              <a:spcBef>
                <a:spcPts val="0"/>
              </a:spcBef>
              <a:spcAft>
                <a:spcPts val="0"/>
              </a:spcAft>
              <a:buSzPts val="1200"/>
              <a:buChar char="○"/>
              <a:defRPr sz="2638"/>
            </a:lvl5pPr>
            <a:lvl6pPr marL="6031200" lvl="5" indent="-670133">
              <a:spcBef>
                <a:spcPts val="0"/>
              </a:spcBef>
              <a:spcAft>
                <a:spcPts val="0"/>
              </a:spcAft>
              <a:buSzPts val="1200"/>
              <a:buChar char="■"/>
              <a:defRPr sz="2638"/>
            </a:lvl6pPr>
            <a:lvl7pPr marL="7036399" lvl="6" indent="-670133">
              <a:spcBef>
                <a:spcPts val="0"/>
              </a:spcBef>
              <a:spcAft>
                <a:spcPts val="0"/>
              </a:spcAft>
              <a:buSzPts val="1200"/>
              <a:buChar char="●"/>
              <a:defRPr sz="2638"/>
            </a:lvl7pPr>
            <a:lvl8pPr marL="8041599" lvl="7" indent="-670133">
              <a:spcBef>
                <a:spcPts val="0"/>
              </a:spcBef>
              <a:spcAft>
                <a:spcPts val="0"/>
              </a:spcAft>
              <a:buSzPts val="1200"/>
              <a:buChar char="○"/>
              <a:defRPr sz="2638"/>
            </a:lvl8pPr>
            <a:lvl9pPr marL="9046799" lvl="8" indent="-670133">
              <a:spcBef>
                <a:spcPts val="0"/>
              </a:spcBef>
              <a:spcAft>
                <a:spcPts val="0"/>
              </a:spcAft>
              <a:buSzPts val="1200"/>
              <a:buChar char="■"/>
              <a:defRPr sz="2638"/>
            </a:lvl9pPr>
          </a:lstStyle>
          <a:p>
            <a:endParaRPr/>
          </a:p>
        </p:txBody>
      </p:sp>
      <p:sp>
        <p:nvSpPr>
          <p:cNvPr id="31" name="Google Shape;31;p6"/>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1151690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reserve="1">
  <p:cSld name="Main 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077869" y="989774"/>
            <a:ext cx="14000316" cy="899471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0553"/>
            </a:lvl1pPr>
            <a:lvl2pPr lvl="1">
              <a:spcBef>
                <a:spcPts val="0"/>
              </a:spcBef>
              <a:spcAft>
                <a:spcPts val="0"/>
              </a:spcAft>
              <a:buSzPts val="4800"/>
              <a:buNone/>
              <a:defRPr sz="10553"/>
            </a:lvl2pPr>
            <a:lvl3pPr lvl="2">
              <a:spcBef>
                <a:spcPts val="0"/>
              </a:spcBef>
              <a:spcAft>
                <a:spcPts val="0"/>
              </a:spcAft>
              <a:buSzPts val="4800"/>
              <a:buNone/>
              <a:defRPr sz="10553"/>
            </a:lvl3pPr>
            <a:lvl4pPr lvl="3">
              <a:spcBef>
                <a:spcPts val="0"/>
              </a:spcBef>
              <a:spcAft>
                <a:spcPts val="0"/>
              </a:spcAft>
              <a:buSzPts val="4800"/>
              <a:buNone/>
              <a:defRPr sz="10553"/>
            </a:lvl4pPr>
            <a:lvl5pPr lvl="4">
              <a:spcBef>
                <a:spcPts val="0"/>
              </a:spcBef>
              <a:spcAft>
                <a:spcPts val="0"/>
              </a:spcAft>
              <a:buSzPts val="4800"/>
              <a:buNone/>
              <a:defRPr sz="10553"/>
            </a:lvl5pPr>
            <a:lvl6pPr lvl="5">
              <a:spcBef>
                <a:spcPts val="0"/>
              </a:spcBef>
              <a:spcAft>
                <a:spcPts val="0"/>
              </a:spcAft>
              <a:buSzPts val="4800"/>
              <a:buNone/>
              <a:defRPr sz="10553"/>
            </a:lvl6pPr>
            <a:lvl7pPr lvl="6">
              <a:spcBef>
                <a:spcPts val="0"/>
              </a:spcBef>
              <a:spcAft>
                <a:spcPts val="0"/>
              </a:spcAft>
              <a:buSzPts val="4800"/>
              <a:buNone/>
              <a:defRPr sz="10553"/>
            </a:lvl7pPr>
            <a:lvl8pPr lvl="7">
              <a:spcBef>
                <a:spcPts val="0"/>
              </a:spcBef>
              <a:spcAft>
                <a:spcPts val="0"/>
              </a:spcAft>
              <a:buSzPts val="4800"/>
              <a:buNone/>
              <a:defRPr sz="10553"/>
            </a:lvl8pPr>
            <a:lvl9pPr lvl="8">
              <a:spcBef>
                <a:spcPts val="0"/>
              </a:spcBef>
              <a:spcAft>
                <a:spcPts val="0"/>
              </a:spcAft>
              <a:buSzPts val="4800"/>
              <a:buNone/>
              <a:defRPr sz="10553"/>
            </a:lvl9pPr>
          </a:lstStyle>
          <a:p>
            <a:endParaRPr/>
          </a:p>
        </p:txBody>
      </p:sp>
      <p:sp>
        <p:nvSpPr>
          <p:cNvPr id="34" name="Google Shape;34;p7"/>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3237578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35"/>
        <p:cNvGrpSpPr/>
        <p:nvPr/>
      </p:nvGrpSpPr>
      <p:grpSpPr>
        <a:xfrm>
          <a:off x="0" y="0"/>
          <a:ext cx="0" cy="0"/>
          <a:chOff x="0" y="0"/>
          <a:chExt cx="0" cy="0"/>
        </a:xfrm>
      </p:grpSpPr>
      <p:sp>
        <p:nvSpPr>
          <p:cNvPr id="36" name="Google Shape;36;p8"/>
          <p:cNvSpPr/>
          <p:nvPr/>
        </p:nvSpPr>
        <p:spPr>
          <a:xfrm>
            <a:off x="10052050" y="-275"/>
            <a:ext cx="10052050" cy="11309350"/>
          </a:xfrm>
          <a:prstGeom prst="rect">
            <a:avLst/>
          </a:prstGeom>
          <a:solidFill>
            <a:schemeClr val="lt2"/>
          </a:solidFill>
          <a:ln>
            <a:noFill/>
          </a:ln>
        </p:spPr>
        <p:txBody>
          <a:bodyPr spcFirstLastPara="1" wrap="square" lIns="201008" tIns="201008" rIns="201008" bIns="201008" anchor="ctr" anchorCtr="0">
            <a:noAutofit/>
          </a:bodyPr>
          <a:lstStyle/>
          <a:p>
            <a:pPr marL="0" marR="0" lvl="0" indent="0" algn="l" defTabSz="2010400" rtl="0" eaLnBrk="1" fontAlgn="auto" latinLnBrk="0" hangingPunct="1">
              <a:lnSpc>
                <a:spcPct val="100000"/>
              </a:lnSpc>
              <a:spcBef>
                <a:spcPts val="0"/>
              </a:spcBef>
              <a:spcAft>
                <a:spcPts val="0"/>
              </a:spcAft>
              <a:buClr>
                <a:srgbClr val="000000"/>
              </a:buClr>
              <a:buSzTx/>
              <a:buFont typeface="Arial"/>
              <a:buNone/>
              <a:tabLst/>
              <a:defRPr/>
            </a:pPr>
            <a:endParaRPr kumimoji="0" sz="3078"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37;p8"/>
          <p:cNvSpPr txBox="1">
            <a:spLocks noGrp="1"/>
          </p:cNvSpPr>
          <p:nvPr>
            <p:ph type="title"/>
          </p:nvPr>
        </p:nvSpPr>
        <p:spPr>
          <a:xfrm>
            <a:off x="583731" y="2711463"/>
            <a:ext cx="8893822" cy="325923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9234"/>
            </a:lvl1pPr>
            <a:lvl2pPr lvl="1" algn="ctr">
              <a:spcBef>
                <a:spcPts val="0"/>
              </a:spcBef>
              <a:spcAft>
                <a:spcPts val="0"/>
              </a:spcAft>
              <a:buSzPts val="4200"/>
              <a:buNone/>
              <a:defRPr sz="9234"/>
            </a:lvl2pPr>
            <a:lvl3pPr lvl="2" algn="ctr">
              <a:spcBef>
                <a:spcPts val="0"/>
              </a:spcBef>
              <a:spcAft>
                <a:spcPts val="0"/>
              </a:spcAft>
              <a:buSzPts val="4200"/>
              <a:buNone/>
              <a:defRPr sz="9234"/>
            </a:lvl3pPr>
            <a:lvl4pPr lvl="3" algn="ctr">
              <a:spcBef>
                <a:spcPts val="0"/>
              </a:spcBef>
              <a:spcAft>
                <a:spcPts val="0"/>
              </a:spcAft>
              <a:buSzPts val="4200"/>
              <a:buNone/>
              <a:defRPr sz="9234"/>
            </a:lvl4pPr>
            <a:lvl5pPr lvl="4" algn="ctr">
              <a:spcBef>
                <a:spcPts val="0"/>
              </a:spcBef>
              <a:spcAft>
                <a:spcPts val="0"/>
              </a:spcAft>
              <a:buSzPts val="4200"/>
              <a:buNone/>
              <a:defRPr sz="9234"/>
            </a:lvl5pPr>
            <a:lvl6pPr lvl="5" algn="ctr">
              <a:spcBef>
                <a:spcPts val="0"/>
              </a:spcBef>
              <a:spcAft>
                <a:spcPts val="0"/>
              </a:spcAft>
              <a:buSzPts val="4200"/>
              <a:buNone/>
              <a:defRPr sz="9234"/>
            </a:lvl6pPr>
            <a:lvl7pPr lvl="6" algn="ctr">
              <a:spcBef>
                <a:spcPts val="0"/>
              </a:spcBef>
              <a:spcAft>
                <a:spcPts val="0"/>
              </a:spcAft>
              <a:buSzPts val="4200"/>
              <a:buNone/>
              <a:defRPr sz="9234"/>
            </a:lvl7pPr>
            <a:lvl8pPr lvl="7" algn="ctr">
              <a:spcBef>
                <a:spcPts val="0"/>
              </a:spcBef>
              <a:spcAft>
                <a:spcPts val="0"/>
              </a:spcAft>
              <a:buSzPts val="4200"/>
              <a:buNone/>
              <a:defRPr sz="9234"/>
            </a:lvl8pPr>
            <a:lvl9pPr lvl="8" algn="ctr">
              <a:spcBef>
                <a:spcPts val="0"/>
              </a:spcBef>
              <a:spcAft>
                <a:spcPts val="0"/>
              </a:spcAft>
              <a:buSzPts val="4200"/>
              <a:buNone/>
              <a:defRPr sz="9234"/>
            </a:lvl9pPr>
          </a:lstStyle>
          <a:p>
            <a:endParaRPr/>
          </a:p>
        </p:txBody>
      </p:sp>
      <p:sp>
        <p:nvSpPr>
          <p:cNvPr id="38" name="Google Shape;38;p8"/>
          <p:cNvSpPr txBox="1">
            <a:spLocks noGrp="1"/>
          </p:cNvSpPr>
          <p:nvPr>
            <p:ph type="subTitle" idx="1"/>
          </p:nvPr>
        </p:nvSpPr>
        <p:spPr>
          <a:xfrm>
            <a:off x="583731" y="6163305"/>
            <a:ext cx="8893822" cy="2715695"/>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4617"/>
            </a:lvl1pPr>
            <a:lvl2pPr lvl="1" algn="ctr">
              <a:lnSpc>
                <a:spcPct val="100000"/>
              </a:lnSpc>
              <a:spcBef>
                <a:spcPts val="0"/>
              </a:spcBef>
              <a:spcAft>
                <a:spcPts val="0"/>
              </a:spcAft>
              <a:buSzPts val="2100"/>
              <a:buNone/>
              <a:defRPr sz="4617"/>
            </a:lvl2pPr>
            <a:lvl3pPr lvl="2" algn="ctr">
              <a:lnSpc>
                <a:spcPct val="100000"/>
              </a:lnSpc>
              <a:spcBef>
                <a:spcPts val="0"/>
              </a:spcBef>
              <a:spcAft>
                <a:spcPts val="0"/>
              </a:spcAft>
              <a:buSzPts val="2100"/>
              <a:buNone/>
              <a:defRPr sz="4617"/>
            </a:lvl3pPr>
            <a:lvl4pPr lvl="3" algn="ctr">
              <a:lnSpc>
                <a:spcPct val="100000"/>
              </a:lnSpc>
              <a:spcBef>
                <a:spcPts val="0"/>
              </a:spcBef>
              <a:spcAft>
                <a:spcPts val="0"/>
              </a:spcAft>
              <a:buSzPts val="2100"/>
              <a:buNone/>
              <a:defRPr sz="4617"/>
            </a:lvl4pPr>
            <a:lvl5pPr lvl="4" algn="ctr">
              <a:lnSpc>
                <a:spcPct val="100000"/>
              </a:lnSpc>
              <a:spcBef>
                <a:spcPts val="0"/>
              </a:spcBef>
              <a:spcAft>
                <a:spcPts val="0"/>
              </a:spcAft>
              <a:buSzPts val="2100"/>
              <a:buNone/>
              <a:defRPr sz="4617"/>
            </a:lvl5pPr>
            <a:lvl6pPr lvl="5" algn="ctr">
              <a:lnSpc>
                <a:spcPct val="100000"/>
              </a:lnSpc>
              <a:spcBef>
                <a:spcPts val="0"/>
              </a:spcBef>
              <a:spcAft>
                <a:spcPts val="0"/>
              </a:spcAft>
              <a:buSzPts val="2100"/>
              <a:buNone/>
              <a:defRPr sz="4617"/>
            </a:lvl6pPr>
            <a:lvl7pPr lvl="6" algn="ctr">
              <a:lnSpc>
                <a:spcPct val="100000"/>
              </a:lnSpc>
              <a:spcBef>
                <a:spcPts val="0"/>
              </a:spcBef>
              <a:spcAft>
                <a:spcPts val="0"/>
              </a:spcAft>
              <a:buSzPts val="2100"/>
              <a:buNone/>
              <a:defRPr sz="4617"/>
            </a:lvl7pPr>
            <a:lvl8pPr lvl="7" algn="ctr">
              <a:lnSpc>
                <a:spcPct val="100000"/>
              </a:lnSpc>
              <a:spcBef>
                <a:spcPts val="0"/>
              </a:spcBef>
              <a:spcAft>
                <a:spcPts val="0"/>
              </a:spcAft>
              <a:buSzPts val="2100"/>
              <a:buNone/>
              <a:defRPr sz="4617"/>
            </a:lvl8pPr>
            <a:lvl9pPr lvl="8" algn="ctr">
              <a:lnSpc>
                <a:spcPct val="100000"/>
              </a:lnSpc>
              <a:spcBef>
                <a:spcPts val="0"/>
              </a:spcBef>
              <a:spcAft>
                <a:spcPts val="0"/>
              </a:spcAft>
              <a:buSzPts val="2100"/>
              <a:buNone/>
              <a:defRPr sz="4617"/>
            </a:lvl9pPr>
          </a:lstStyle>
          <a:p>
            <a:endParaRPr/>
          </a:p>
        </p:txBody>
      </p:sp>
      <p:sp>
        <p:nvSpPr>
          <p:cNvPr id="39" name="Google Shape;39;p8"/>
          <p:cNvSpPr txBox="1">
            <a:spLocks noGrp="1"/>
          </p:cNvSpPr>
          <p:nvPr>
            <p:ph type="body" idx="2"/>
          </p:nvPr>
        </p:nvSpPr>
        <p:spPr>
          <a:xfrm>
            <a:off x="10860040" y="1592071"/>
            <a:ext cx="8436071" cy="8124658"/>
          </a:xfrm>
          <a:prstGeom prst="rect">
            <a:avLst/>
          </a:prstGeom>
        </p:spPr>
        <p:txBody>
          <a:bodyPr spcFirstLastPara="1" wrap="square" lIns="91425" tIns="91425" rIns="91425" bIns="91425" anchor="ctr" anchorCtr="0">
            <a:normAutofit/>
          </a:bodyPr>
          <a:lstStyle>
            <a:lvl1pPr marL="1005200" lvl="0" indent="-753900">
              <a:spcBef>
                <a:spcPts val="0"/>
              </a:spcBef>
              <a:spcAft>
                <a:spcPts val="0"/>
              </a:spcAft>
              <a:buSzPts val="1800"/>
              <a:buChar char="●"/>
              <a:defRPr/>
            </a:lvl1pPr>
            <a:lvl2pPr marL="2010400" lvl="1" indent="-698056">
              <a:spcBef>
                <a:spcPts val="0"/>
              </a:spcBef>
              <a:spcAft>
                <a:spcPts val="0"/>
              </a:spcAft>
              <a:buSzPts val="1400"/>
              <a:buChar char="○"/>
              <a:defRPr/>
            </a:lvl2pPr>
            <a:lvl3pPr marL="3015600" lvl="2" indent="-698056">
              <a:spcBef>
                <a:spcPts val="0"/>
              </a:spcBef>
              <a:spcAft>
                <a:spcPts val="0"/>
              </a:spcAft>
              <a:buSzPts val="1400"/>
              <a:buChar char="■"/>
              <a:defRPr/>
            </a:lvl3pPr>
            <a:lvl4pPr marL="4020800" lvl="3" indent="-698056">
              <a:spcBef>
                <a:spcPts val="0"/>
              </a:spcBef>
              <a:spcAft>
                <a:spcPts val="0"/>
              </a:spcAft>
              <a:buSzPts val="1400"/>
              <a:buChar char="●"/>
              <a:defRPr/>
            </a:lvl4pPr>
            <a:lvl5pPr marL="5026000" lvl="4" indent="-698056">
              <a:spcBef>
                <a:spcPts val="0"/>
              </a:spcBef>
              <a:spcAft>
                <a:spcPts val="0"/>
              </a:spcAft>
              <a:buSzPts val="1400"/>
              <a:buChar char="○"/>
              <a:defRPr/>
            </a:lvl5pPr>
            <a:lvl6pPr marL="6031200" lvl="5" indent="-698056">
              <a:spcBef>
                <a:spcPts val="0"/>
              </a:spcBef>
              <a:spcAft>
                <a:spcPts val="0"/>
              </a:spcAft>
              <a:buSzPts val="1400"/>
              <a:buChar char="■"/>
              <a:defRPr/>
            </a:lvl6pPr>
            <a:lvl7pPr marL="7036399" lvl="6" indent="-698056">
              <a:spcBef>
                <a:spcPts val="0"/>
              </a:spcBef>
              <a:spcAft>
                <a:spcPts val="0"/>
              </a:spcAft>
              <a:buSzPts val="1400"/>
              <a:buChar char="●"/>
              <a:defRPr/>
            </a:lvl7pPr>
            <a:lvl8pPr marL="8041599" lvl="7" indent="-698056">
              <a:spcBef>
                <a:spcPts val="0"/>
              </a:spcBef>
              <a:spcAft>
                <a:spcPts val="0"/>
              </a:spcAft>
              <a:buSzPts val="1400"/>
              <a:buChar char="○"/>
              <a:defRPr/>
            </a:lvl8pPr>
            <a:lvl9pPr marL="9046799" lvl="8" indent="-698056">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24202664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685307" y="9302042"/>
            <a:ext cx="13189028" cy="1330473"/>
          </a:xfrm>
          <a:prstGeom prst="rect">
            <a:avLst/>
          </a:prstGeom>
        </p:spPr>
        <p:txBody>
          <a:bodyPr spcFirstLastPara="1" wrap="square" lIns="91425" tIns="91425" rIns="91425" bIns="91425" anchor="ctr" anchorCtr="0">
            <a:normAutofit/>
          </a:bodyPr>
          <a:lstStyle>
            <a:lvl1pPr marL="1005200" lvl="0" indent="-502600">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1211273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685307" y="2432109"/>
            <a:ext cx="18733486" cy="4317276"/>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26383"/>
            </a:lvl1pPr>
            <a:lvl2pPr lvl="1" algn="ctr">
              <a:spcBef>
                <a:spcPts val="0"/>
              </a:spcBef>
              <a:spcAft>
                <a:spcPts val="0"/>
              </a:spcAft>
              <a:buSzPts val="12000"/>
              <a:buNone/>
              <a:defRPr sz="26383"/>
            </a:lvl2pPr>
            <a:lvl3pPr lvl="2" algn="ctr">
              <a:spcBef>
                <a:spcPts val="0"/>
              </a:spcBef>
              <a:spcAft>
                <a:spcPts val="0"/>
              </a:spcAft>
              <a:buSzPts val="12000"/>
              <a:buNone/>
              <a:defRPr sz="26383"/>
            </a:lvl3pPr>
            <a:lvl4pPr lvl="3" algn="ctr">
              <a:spcBef>
                <a:spcPts val="0"/>
              </a:spcBef>
              <a:spcAft>
                <a:spcPts val="0"/>
              </a:spcAft>
              <a:buSzPts val="12000"/>
              <a:buNone/>
              <a:defRPr sz="26383"/>
            </a:lvl4pPr>
            <a:lvl5pPr lvl="4" algn="ctr">
              <a:spcBef>
                <a:spcPts val="0"/>
              </a:spcBef>
              <a:spcAft>
                <a:spcPts val="0"/>
              </a:spcAft>
              <a:buSzPts val="12000"/>
              <a:buNone/>
              <a:defRPr sz="26383"/>
            </a:lvl5pPr>
            <a:lvl6pPr lvl="5" algn="ctr">
              <a:spcBef>
                <a:spcPts val="0"/>
              </a:spcBef>
              <a:spcAft>
                <a:spcPts val="0"/>
              </a:spcAft>
              <a:buSzPts val="12000"/>
              <a:buNone/>
              <a:defRPr sz="26383"/>
            </a:lvl6pPr>
            <a:lvl7pPr lvl="6" algn="ctr">
              <a:spcBef>
                <a:spcPts val="0"/>
              </a:spcBef>
              <a:spcAft>
                <a:spcPts val="0"/>
              </a:spcAft>
              <a:buSzPts val="12000"/>
              <a:buNone/>
              <a:defRPr sz="26383"/>
            </a:lvl7pPr>
            <a:lvl8pPr lvl="7" algn="ctr">
              <a:spcBef>
                <a:spcPts val="0"/>
              </a:spcBef>
              <a:spcAft>
                <a:spcPts val="0"/>
              </a:spcAft>
              <a:buSzPts val="12000"/>
              <a:buNone/>
              <a:defRPr sz="26383"/>
            </a:lvl8pPr>
            <a:lvl9pPr lvl="8" algn="ctr">
              <a:spcBef>
                <a:spcPts val="0"/>
              </a:spcBef>
              <a:spcAft>
                <a:spcPts val="0"/>
              </a:spcAft>
              <a:buSzPts val="12000"/>
              <a:buNone/>
              <a:defRPr sz="26383"/>
            </a:lvl9pPr>
          </a:lstStyle>
          <a:p>
            <a:r>
              <a:t>xx%</a:t>
            </a:r>
          </a:p>
        </p:txBody>
      </p:sp>
      <p:sp>
        <p:nvSpPr>
          <p:cNvPr id="46" name="Google Shape;46;p10"/>
          <p:cNvSpPr txBox="1">
            <a:spLocks noGrp="1"/>
          </p:cNvSpPr>
          <p:nvPr>
            <p:ph type="body" idx="1"/>
          </p:nvPr>
        </p:nvSpPr>
        <p:spPr>
          <a:xfrm>
            <a:off x="685307" y="6931003"/>
            <a:ext cx="18733486" cy="2860154"/>
          </a:xfrm>
          <a:prstGeom prst="rect">
            <a:avLst/>
          </a:prstGeom>
        </p:spPr>
        <p:txBody>
          <a:bodyPr spcFirstLastPara="1" wrap="square" lIns="91425" tIns="91425" rIns="91425" bIns="91425" anchor="t" anchorCtr="0">
            <a:normAutofit/>
          </a:bodyPr>
          <a:lstStyle>
            <a:lvl1pPr marL="1005200" lvl="0" indent="-753900" algn="ctr">
              <a:spcBef>
                <a:spcPts val="0"/>
              </a:spcBef>
              <a:spcAft>
                <a:spcPts val="0"/>
              </a:spcAft>
              <a:buSzPts val="1800"/>
              <a:buChar char="●"/>
              <a:defRPr/>
            </a:lvl1pPr>
            <a:lvl2pPr marL="2010400" lvl="1" indent="-698056" algn="ctr">
              <a:spcBef>
                <a:spcPts val="0"/>
              </a:spcBef>
              <a:spcAft>
                <a:spcPts val="0"/>
              </a:spcAft>
              <a:buSzPts val="1400"/>
              <a:buChar char="○"/>
              <a:defRPr/>
            </a:lvl2pPr>
            <a:lvl3pPr marL="3015600" lvl="2" indent="-698056" algn="ctr">
              <a:spcBef>
                <a:spcPts val="0"/>
              </a:spcBef>
              <a:spcAft>
                <a:spcPts val="0"/>
              </a:spcAft>
              <a:buSzPts val="1400"/>
              <a:buChar char="■"/>
              <a:defRPr/>
            </a:lvl3pPr>
            <a:lvl4pPr marL="4020800" lvl="3" indent="-698056" algn="ctr">
              <a:spcBef>
                <a:spcPts val="0"/>
              </a:spcBef>
              <a:spcAft>
                <a:spcPts val="0"/>
              </a:spcAft>
              <a:buSzPts val="1400"/>
              <a:buChar char="●"/>
              <a:defRPr/>
            </a:lvl4pPr>
            <a:lvl5pPr marL="5026000" lvl="4" indent="-698056" algn="ctr">
              <a:spcBef>
                <a:spcPts val="0"/>
              </a:spcBef>
              <a:spcAft>
                <a:spcPts val="0"/>
              </a:spcAft>
              <a:buSzPts val="1400"/>
              <a:buChar char="○"/>
              <a:defRPr/>
            </a:lvl5pPr>
            <a:lvl6pPr marL="6031200" lvl="5" indent="-698056" algn="ctr">
              <a:spcBef>
                <a:spcPts val="0"/>
              </a:spcBef>
              <a:spcAft>
                <a:spcPts val="0"/>
              </a:spcAft>
              <a:buSzPts val="1400"/>
              <a:buChar char="■"/>
              <a:defRPr/>
            </a:lvl6pPr>
            <a:lvl7pPr marL="7036399" lvl="6" indent="-698056" algn="ctr">
              <a:spcBef>
                <a:spcPts val="0"/>
              </a:spcBef>
              <a:spcAft>
                <a:spcPts val="0"/>
              </a:spcAft>
              <a:buSzPts val="1400"/>
              <a:buChar char="●"/>
              <a:defRPr/>
            </a:lvl7pPr>
            <a:lvl8pPr marL="8041599" lvl="7" indent="-698056" algn="ctr">
              <a:spcBef>
                <a:spcPts val="0"/>
              </a:spcBef>
              <a:spcAft>
                <a:spcPts val="0"/>
              </a:spcAft>
              <a:buSzPts val="1400"/>
              <a:buChar char="○"/>
              <a:defRPr/>
            </a:lvl8pPr>
            <a:lvl9pPr marL="9046799" lvl="8" indent="-698056"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582190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
        <p:nvSpPr>
          <p:cNvPr id="49" name="Google Shape;49;p11"/>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17421940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685325" y="1637146"/>
            <a:ext cx="18733486" cy="4513186"/>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1433"/>
            </a:lvl1pPr>
            <a:lvl2pPr lvl="1" algn="ctr">
              <a:spcBef>
                <a:spcPts val="0"/>
              </a:spcBef>
              <a:spcAft>
                <a:spcPts val="0"/>
              </a:spcAft>
              <a:buSzPts val="5200"/>
              <a:buNone/>
              <a:defRPr sz="11433"/>
            </a:lvl2pPr>
            <a:lvl3pPr lvl="2" algn="ctr">
              <a:spcBef>
                <a:spcPts val="0"/>
              </a:spcBef>
              <a:spcAft>
                <a:spcPts val="0"/>
              </a:spcAft>
              <a:buSzPts val="5200"/>
              <a:buNone/>
              <a:defRPr sz="11433"/>
            </a:lvl3pPr>
            <a:lvl4pPr lvl="3" algn="ctr">
              <a:spcBef>
                <a:spcPts val="0"/>
              </a:spcBef>
              <a:spcAft>
                <a:spcPts val="0"/>
              </a:spcAft>
              <a:buSzPts val="5200"/>
              <a:buNone/>
              <a:defRPr sz="11433"/>
            </a:lvl4pPr>
            <a:lvl5pPr lvl="4" algn="ctr">
              <a:spcBef>
                <a:spcPts val="0"/>
              </a:spcBef>
              <a:spcAft>
                <a:spcPts val="0"/>
              </a:spcAft>
              <a:buSzPts val="5200"/>
              <a:buNone/>
              <a:defRPr sz="11433"/>
            </a:lvl5pPr>
            <a:lvl6pPr lvl="5" algn="ctr">
              <a:spcBef>
                <a:spcPts val="0"/>
              </a:spcBef>
              <a:spcAft>
                <a:spcPts val="0"/>
              </a:spcAft>
              <a:buSzPts val="5200"/>
              <a:buNone/>
              <a:defRPr sz="11433"/>
            </a:lvl6pPr>
            <a:lvl7pPr lvl="6" algn="ctr">
              <a:spcBef>
                <a:spcPts val="0"/>
              </a:spcBef>
              <a:spcAft>
                <a:spcPts val="0"/>
              </a:spcAft>
              <a:buSzPts val="5200"/>
              <a:buNone/>
              <a:defRPr sz="11433"/>
            </a:lvl7pPr>
            <a:lvl8pPr lvl="7" algn="ctr">
              <a:spcBef>
                <a:spcPts val="0"/>
              </a:spcBef>
              <a:spcAft>
                <a:spcPts val="0"/>
              </a:spcAft>
              <a:buSzPts val="5200"/>
              <a:buNone/>
              <a:defRPr sz="11433"/>
            </a:lvl8pPr>
            <a:lvl9pPr lvl="8" algn="ctr">
              <a:spcBef>
                <a:spcPts val="0"/>
              </a:spcBef>
              <a:spcAft>
                <a:spcPts val="0"/>
              </a:spcAft>
              <a:buSzPts val="5200"/>
              <a:buNone/>
              <a:defRPr sz="11433"/>
            </a:lvl9pPr>
          </a:lstStyle>
          <a:p>
            <a:endParaRPr/>
          </a:p>
        </p:txBody>
      </p:sp>
      <p:sp>
        <p:nvSpPr>
          <p:cNvPr id="12" name="Google Shape;12;p2"/>
          <p:cNvSpPr txBox="1">
            <a:spLocks noGrp="1"/>
          </p:cNvSpPr>
          <p:nvPr>
            <p:ph type="subTitle" idx="1"/>
          </p:nvPr>
        </p:nvSpPr>
        <p:spPr>
          <a:xfrm>
            <a:off x="685307" y="6231576"/>
            <a:ext cx="18733486" cy="1742741"/>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6156"/>
            </a:lvl1pPr>
            <a:lvl2pPr lvl="1" algn="ctr">
              <a:lnSpc>
                <a:spcPct val="100000"/>
              </a:lnSpc>
              <a:spcBef>
                <a:spcPts val="0"/>
              </a:spcBef>
              <a:spcAft>
                <a:spcPts val="0"/>
              </a:spcAft>
              <a:buSzPts val="2800"/>
              <a:buNone/>
              <a:defRPr sz="6156"/>
            </a:lvl2pPr>
            <a:lvl3pPr lvl="2" algn="ctr">
              <a:lnSpc>
                <a:spcPct val="100000"/>
              </a:lnSpc>
              <a:spcBef>
                <a:spcPts val="0"/>
              </a:spcBef>
              <a:spcAft>
                <a:spcPts val="0"/>
              </a:spcAft>
              <a:buSzPts val="2800"/>
              <a:buNone/>
              <a:defRPr sz="6156"/>
            </a:lvl3pPr>
            <a:lvl4pPr lvl="3" algn="ctr">
              <a:lnSpc>
                <a:spcPct val="100000"/>
              </a:lnSpc>
              <a:spcBef>
                <a:spcPts val="0"/>
              </a:spcBef>
              <a:spcAft>
                <a:spcPts val="0"/>
              </a:spcAft>
              <a:buSzPts val="2800"/>
              <a:buNone/>
              <a:defRPr sz="6156"/>
            </a:lvl4pPr>
            <a:lvl5pPr lvl="4" algn="ctr">
              <a:lnSpc>
                <a:spcPct val="100000"/>
              </a:lnSpc>
              <a:spcBef>
                <a:spcPts val="0"/>
              </a:spcBef>
              <a:spcAft>
                <a:spcPts val="0"/>
              </a:spcAft>
              <a:buSzPts val="2800"/>
              <a:buNone/>
              <a:defRPr sz="6156"/>
            </a:lvl5pPr>
            <a:lvl6pPr lvl="5" algn="ctr">
              <a:lnSpc>
                <a:spcPct val="100000"/>
              </a:lnSpc>
              <a:spcBef>
                <a:spcPts val="0"/>
              </a:spcBef>
              <a:spcAft>
                <a:spcPts val="0"/>
              </a:spcAft>
              <a:buSzPts val="2800"/>
              <a:buNone/>
              <a:defRPr sz="6156"/>
            </a:lvl6pPr>
            <a:lvl7pPr lvl="6" algn="ctr">
              <a:lnSpc>
                <a:spcPct val="100000"/>
              </a:lnSpc>
              <a:spcBef>
                <a:spcPts val="0"/>
              </a:spcBef>
              <a:spcAft>
                <a:spcPts val="0"/>
              </a:spcAft>
              <a:buSzPts val="2800"/>
              <a:buNone/>
              <a:defRPr sz="6156"/>
            </a:lvl7pPr>
            <a:lvl8pPr lvl="7" algn="ctr">
              <a:lnSpc>
                <a:spcPct val="100000"/>
              </a:lnSpc>
              <a:spcBef>
                <a:spcPts val="0"/>
              </a:spcBef>
              <a:spcAft>
                <a:spcPts val="0"/>
              </a:spcAft>
              <a:buSzPts val="2800"/>
              <a:buNone/>
              <a:defRPr sz="6156"/>
            </a:lvl8pPr>
            <a:lvl9pPr lvl="8" algn="ctr">
              <a:lnSpc>
                <a:spcPct val="100000"/>
              </a:lnSpc>
              <a:spcBef>
                <a:spcPts val="0"/>
              </a:spcBef>
              <a:spcAft>
                <a:spcPts val="0"/>
              </a:spcAft>
              <a:buSzPts val="2800"/>
              <a:buNone/>
              <a:defRPr sz="6156"/>
            </a:lvl9pPr>
          </a:lstStyle>
          <a:p>
            <a:endParaRPr/>
          </a:p>
        </p:txBody>
      </p:sp>
      <p:sp>
        <p:nvSpPr>
          <p:cNvPr id="13" name="Google Shape;13;p2"/>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pic>
        <p:nvPicPr>
          <p:cNvPr id="14" name="Google Shape;14;p2"/>
          <p:cNvPicPr preferRelativeResize="0"/>
          <p:nvPr/>
        </p:nvPicPr>
        <p:blipFill>
          <a:blip r:embed="rId2">
            <a:alphaModFix/>
          </a:blip>
          <a:stretch>
            <a:fillRect/>
          </a:stretch>
        </p:blipFill>
        <p:spPr>
          <a:xfrm>
            <a:off x="7614259" y="10400272"/>
            <a:ext cx="4875583" cy="741534"/>
          </a:xfrm>
          <a:prstGeom prst="rect">
            <a:avLst/>
          </a:prstGeom>
          <a:noFill/>
          <a:ln>
            <a:noFill/>
          </a:ln>
        </p:spPr>
      </p:pic>
    </p:spTree>
    <p:extLst>
      <p:ext uri="{BB962C8B-B14F-4D97-AF65-F5344CB8AC3E}">
        <p14:creationId xmlns:p14="http://schemas.microsoft.com/office/powerpoint/2010/main" val="17776334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861251" y="2053867"/>
            <a:ext cx="18733486" cy="125923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3"/>
          <p:cNvSpPr txBox="1">
            <a:spLocks noGrp="1"/>
          </p:cNvSpPr>
          <p:nvPr>
            <p:ph type="body" idx="1"/>
          </p:nvPr>
        </p:nvSpPr>
        <p:spPr>
          <a:xfrm>
            <a:off x="556798" y="4084207"/>
            <a:ext cx="18733486" cy="7511862"/>
          </a:xfrm>
          <a:prstGeom prst="rect">
            <a:avLst/>
          </a:prstGeom>
        </p:spPr>
        <p:txBody>
          <a:bodyPr spcFirstLastPara="1" wrap="square" lIns="91425" tIns="91425" rIns="91425" bIns="91425" anchor="t" anchorCtr="0">
            <a:normAutofit/>
          </a:bodyPr>
          <a:lstStyle>
            <a:lvl1pPr marL="1005200" lvl="0" indent="-753900">
              <a:spcBef>
                <a:spcPts val="0"/>
              </a:spcBef>
              <a:spcAft>
                <a:spcPts val="0"/>
              </a:spcAft>
              <a:buSzPts val="1800"/>
              <a:buChar char="●"/>
              <a:defRPr/>
            </a:lvl1pPr>
            <a:lvl2pPr marL="2010400" lvl="1" indent="-698056">
              <a:spcBef>
                <a:spcPts val="0"/>
              </a:spcBef>
              <a:spcAft>
                <a:spcPts val="0"/>
              </a:spcAft>
              <a:buSzPts val="1400"/>
              <a:buChar char="○"/>
              <a:defRPr/>
            </a:lvl2pPr>
            <a:lvl3pPr marL="3015600" lvl="2" indent="-698056">
              <a:spcBef>
                <a:spcPts val="0"/>
              </a:spcBef>
              <a:spcAft>
                <a:spcPts val="0"/>
              </a:spcAft>
              <a:buSzPts val="1400"/>
              <a:buChar char="■"/>
              <a:defRPr/>
            </a:lvl3pPr>
            <a:lvl4pPr marL="4020800" lvl="3" indent="-698056">
              <a:spcBef>
                <a:spcPts val="0"/>
              </a:spcBef>
              <a:spcAft>
                <a:spcPts val="0"/>
              </a:spcAft>
              <a:buSzPts val="1400"/>
              <a:buChar char="●"/>
              <a:defRPr/>
            </a:lvl4pPr>
            <a:lvl5pPr marL="5026000" lvl="4" indent="-698056">
              <a:spcBef>
                <a:spcPts val="0"/>
              </a:spcBef>
              <a:spcAft>
                <a:spcPts val="0"/>
              </a:spcAft>
              <a:buSzPts val="1400"/>
              <a:buChar char="○"/>
              <a:defRPr/>
            </a:lvl5pPr>
            <a:lvl6pPr marL="6031200" lvl="5" indent="-698056">
              <a:spcBef>
                <a:spcPts val="0"/>
              </a:spcBef>
              <a:spcAft>
                <a:spcPts val="0"/>
              </a:spcAft>
              <a:buSzPts val="1400"/>
              <a:buChar char="■"/>
              <a:defRPr/>
            </a:lvl6pPr>
            <a:lvl7pPr marL="7036399" lvl="6" indent="-698056">
              <a:spcBef>
                <a:spcPts val="0"/>
              </a:spcBef>
              <a:spcAft>
                <a:spcPts val="0"/>
              </a:spcAft>
              <a:buSzPts val="1400"/>
              <a:buChar char="●"/>
              <a:defRPr/>
            </a:lvl7pPr>
            <a:lvl8pPr marL="8041599" lvl="7" indent="-698056">
              <a:spcBef>
                <a:spcPts val="0"/>
              </a:spcBef>
              <a:spcAft>
                <a:spcPts val="0"/>
              </a:spcAft>
              <a:buSzPts val="1400"/>
              <a:buChar char="○"/>
              <a:defRPr/>
            </a:lvl8pPr>
            <a:lvl9pPr marL="9046799" lvl="8" indent="-698056">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pic>
        <p:nvPicPr>
          <p:cNvPr id="19" name="Google Shape;19;p3"/>
          <p:cNvPicPr preferRelativeResize="0"/>
          <p:nvPr/>
        </p:nvPicPr>
        <p:blipFill>
          <a:blip r:embed="rId2">
            <a:alphaModFix/>
          </a:blip>
          <a:stretch>
            <a:fillRect/>
          </a:stretch>
        </p:blipFill>
        <p:spPr>
          <a:xfrm>
            <a:off x="15354222" y="912874"/>
            <a:ext cx="4340170" cy="660014"/>
          </a:xfrm>
          <a:prstGeom prst="rect">
            <a:avLst/>
          </a:prstGeom>
          <a:noFill/>
          <a:ln>
            <a:noFill/>
          </a:ln>
        </p:spPr>
      </p:pic>
    </p:spTree>
    <p:extLst>
      <p:ext uri="{BB962C8B-B14F-4D97-AF65-F5344CB8AC3E}">
        <p14:creationId xmlns:p14="http://schemas.microsoft.com/office/powerpoint/2010/main" val="162828255"/>
      </p:ext>
    </p:extLst>
  </p:cSld>
  <p:clrMapOvr>
    <a:masterClrMapping/>
  </p:clrMapOvr>
  <p:extLst mod="1">
    <p:ext uri="{DCECCB84-F9BA-43D5-87BE-67443E8EF086}">
      <p15:sldGuideLst xmlns:p15="http://schemas.microsoft.com/office/powerpoint/2012/main">
        <p15:guide id="1" orient="horz" pos="413">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861251" y="1707341"/>
            <a:ext cx="18733486" cy="125923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685307" y="2534022"/>
            <a:ext cx="8794225" cy="7511862"/>
          </a:xfrm>
          <a:prstGeom prst="rect">
            <a:avLst/>
          </a:prstGeom>
        </p:spPr>
        <p:txBody>
          <a:bodyPr spcFirstLastPara="1" wrap="square" lIns="91425" tIns="91425" rIns="91425" bIns="91425" anchor="t" anchorCtr="0">
            <a:normAutofit/>
          </a:bodyPr>
          <a:lstStyle>
            <a:lvl1pPr marL="1005200" lvl="0" indent="-698056">
              <a:spcBef>
                <a:spcPts val="0"/>
              </a:spcBef>
              <a:spcAft>
                <a:spcPts val="0"/>
              </a:spcAft>
              <a:buSzPts val="1400"/>
              <a:buChar char="●"/>
              <a:defRPr sz="3078"/>
            </a:lvl1pPr>
            <a:lvl2pPr marL="2010400" lvl="1" indent="-670133">
              <a:spcBef>
                <a:spcPts val="0"/>
              </a:spcBef>
              <a:spcAft>
                <a:spcPts val="0"/>
              </a:spcAft>
              <a:buSzPts val="1200"/>
              <a:buChar char="○"/>
              <a:defRPr sz="2638"/>
            </a:lvl2pPr>
            <a:lvl3pPr marL="3015600" lvl="2" indent="-670133">
              <a:spcBef>
                <a:spcPts val="0"/>
              </a:spcBef>
              <a:spcAft>
                <a:spcPts val="0"/>
              </a:spcAft>
              <a:buSzPts val="1200"/>
              <a:buChar char="■"/>
              <a:defRPr sz="2638"/>
            </a:lvl3pPr>
            <a:lvl4pPr marL="4020800" lvl="3" indent="-670133">
              <a:spcBef>
                <a:spcPts val="0"/>
              </a:spcBef>
              <a:spcAft>
                <a:spcPts val="0"/>
              </a:spcAft>
              <a:buSzPts val="1200"/>
              <a:buChar char="●"/>
              <a:defRPr sz="2638"/>
            </a:lvl4pPr>
            <a:lvl5pPr marL="5026000" lvl="4" indent="-670133">
              <a:spcBef>
                <a:spcPts val="0"/>
              </a:spcBef>
              <a:spcAft>
                <a:spcPts val="0"/>
              </a:spcAft>
              <a:buSzPts val="1200"/>
              <a:buChar char="○"/>
              <a:defRPr sz="2638"/>
            </a:lvl5pPr>
            <a:lvl6pPr marL="6031200" lvl="5" indent="-670133">
              <a:spcBef>
                <a:spcPts val="0"/>
              </a:spcBef>
              <a:spcAft>
                <a:spcPts val="0"/>
              </a:spcAft>
              <a:buSzPts val="1200"/>
              <a:buChar char="■"/>
              <a:defRPr sz="2638"/>
            </a:lvl6pPr>
            <a:lvl7pPr marL="7036399" lvl="6" indent="-670133">
              <a:spcBef>
                <a:spcPts val="0"/>
              </a:spcBef>
              <a:spcAft>
                <a:spcPts val="0"/>
              </a:spcAft>
              <a:buSzPts val="1200"/>
              <a:buChar char="●"/>
              <a:defRPr sz="2638"/>
            </a:lvl7pPr>
            <a:lvl8pPr marL="8041599" lvl="7" indent="-670133">
              <a:spcBef>
                <a:spcPts val="0"/>
              </a:spcBef>
              <a:spcAft>
                <a:spcPts val="0"/>
              </a:spcAft>
              <a:buSzPts val="1200"/>
              <a:buChar char="○"/>
              <a:defRPr sz="2638"/>
            </a:lvl8pPr>
            <a:lvl9pPr marL="9046799" lvl="8" indent="-670133">
              <a:spcBef>
                <a:spcPts val="0"/>
              </a:spcBef>
              <a:spcAft>
                <a:spcPts val="0"/>
              </a:spcAft>
              <a:buSzPts val="1200"/>
              <a:buChar char="■"/>
              <a:defRPr sz="2638"/>
            </a:lvl9pPr>
          </a:lstStyle>
          <a:p>
            <a:endParaRPr/>
          </a:p>
        </p:txBody>
      </p:sp>
      <p:sp>
        <p:nvSpPr>
          <p:cNvPr id="23" name="Google Shape;23;p4"/>
          <p:cNvSpPr txBox="1">
            <a:spLocks noGrp="1"/>
          </p:cNvSpPr>
          <p:nvPr>
            <p:ph type="body" idx="2"/>
          </p:nvPr>
        </p:nvSpPr>
        <p:spPr>
          <a:xfrm>
            <a:off x="10624568" y="2534022"/>
            <a:ext cx="8794225" cy="7511862"/>
          </a:xfrm>
          <a:prstGeom prst="rect">
            <a:avLst/>
          </a:prstGeom>
        </p:spPr>
        <p:txBody>
          <a:bodyPr spcFirstLastPara="1" wrap="square" lIns="91425" tIns="91425" rIns="91425" bIns="91425" anchor="t" anchorCtr="0">
            <a:normAutofit/>
          </a:bodyPr>
          <a:lstStyle>
            <a:lvl1pPr marL="1005200" lvl="0" indent="-698056">
              <a:spcBef>
                <a:spcPts val="0"/>
              </a:spcBef>
              <a:spcAft>
                <a:spcPts val="0"/>
              </a:spcAft>
              <a:buSzPts val="1400"/>
              <a:buChar char="●"/>
              <a:defRPr sz="3078"/>
            </a:lvl1pPr>
            <a:lvl2pPr marL="2010400" lvl="1" indent="-670133">
              <a:spcBef>
                <a:spcPts val="0"/>
              </a:spcBef>
              <a:spcAft>
                <a:spcPts val="0"/>
              </a:spcAft>
              <a:buSzPts val="1200"/>
              <a:buChar char="○"/>
              <a:defRPr sz="2638"/>
            </a:lvl2pPr>
            <a:lvl3pPr marL="3015600" lvl="2" indent="-670133">
              <a:spcBef>
                <a:spcPts val="0"/>
              </a:spcBef>
              <a:spcAft>
                <a:spcPts val="0"/>
              </a:spcAft>
              <a:buSzPts val="1200"/>
              <a:buChar char="■"/>
              <a:defRPr sz="2638"/>
            </a:lvl3pPr>
            <a:lvl4pPr marL="4020800" lvl="3" indent="-670133">
              <a:spcBef>
                <a:spcPts val="0"/>
              </a:spcBef>
              <a:spcAft>
                <a:spcPts val="0"/>
              </a:spcAft>
              <a:buSzPts val="1200"/>
              <a:buChar char="●"/>
              <a:defRPr sz="2638"/>
            </a:lvl4pPr>
            <a:lvl5pPr marL="5026000" lvl="4" indent="-670133">
              <a:spcBef>
                <a:spcPts val="0"/>
              </a:spcBef>
              <a:spcAft>
                <a:spcPts val="0"/>
              </a:spcAft>
              <a:buSzPts val="1200"/>
              <a:buChar char="○"/>
              <a:defRPr sz="2638"/>
            </a:lvl5pPr>
            <a:lvl6pPr marL="6031200" lvl="5" indent="-670133">
              <a:spcBef>
                <a:spcPts val="0"/>
              </a:spcBef>
              <a:spcAft>
                <a:spcPts val="0"/>
              </a:spcAft>
              <a:buSzPts val="1200"/>
              <a:buChar char="■"/>
              <a:defRPr sz="2638"/>
            </a:lvl6pPr>
            <a:lvl7pPr marL="7036399" lvl="6" indent="-670133">
              <a:spcBef>
                <a:spcPts val="0"/>
              </a:spcBef>
              <a:spcAft>
                <a:spcPts val="0"/>
              </a:spcAft>
              <a:buSzPts val="1200"/>
              <a:buChar char="●"/>
              <a:defRPr sz="2638"/>
            </a:lvl7pPr>
            <a:lvl8pPr marL="8041599" lvl="7" indent="-670133">
              <a:spcBef>
                <a:spcPts val="0"/>
              </a:spcBef>
              <a:spcAft>
                <a:spcPts val="0"/>
              </a:spcAft>
              <a:buSzPts val="1200"/>
              <a:buChar char="○"/>
              <a:defRPr sz="2638"/>
            </a:lvl8pPr>
            <a:lvl9pPr marL="9046799" lvl="8" indent="-670133">
              <a:spcBef>
                <a:spcPts val="0"/>
              </a:spcBef>
              <a:spcAft>
                <a:spcPts val="0"/>
              </a:spcAft>
              <a:buSzPts val="1200"/>
              <a:buChar char="■"/>
              <a:defRPr sz="2638"/>
            </a:lvl9pPr>
          </a:lstStyle>
          <a:p>
            <a:endParaRPr/>
          </a:p>
        </p:txBody>
      </p:sp>
      <p:sp>
        <p:nvSpPr>
          <p:cNvPr id="24" name="Google Shape;24;p4"/>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2391528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861251" y="1707341"/>
            <a:ext cx="18733486" cy="125923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34682417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685307" y="1221634"/>
            <a:ext cx="6173700" cy="1661607"/>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5277"/>
            </a:lvl1pPr>
            <a:lvl2pPr lvl="1">
              <a:spcBef>
                <a:spcPts val="0"/>
              </a:spcBef>
              <a:spcAft>
                <a:spcPts val="0"/>
              </a:spcAft>
              <a:buSzPts val="2400"/>
              <a:buNone/>
              <a:defRPr sz="5277"/>
            </a:lvl2pPr>
            <a:lvl3pPr lvl="2">
              <a:spcBef>
                <a:spcPts val="0"/>
              </a:spcBef>
              <a:spcAft>
                <a:spcPts val="0"/>
              </a:spcAft>
              <a:buSzPts val="2400"/>
              <a:buNone/>
              <a:defRPr sz="5277"/>
            </a:lvl3pPr>
            <a:lvl4pPr lvl="3">
              <a:spcBef>
                <a:spcPts val="0"/>
              </a:spcBef>
              <a:spcAft>
                <a:spcPts val="0"/>
              </a:spcAft>
              <a:buSzPts val="2400"/>
              <a:buNone/>
              <a:defRPr sz="5277"/>
            </a:lvl4pPr>
            <a:lvl5pPr lvl="4">
              <a:spcBef>
                <a:spcPts val="0"/>
              </a:spcBef>
              <a:spcAft>
                <a:spcPts val="0"/>
              </a:spcAft>
              <a:buSzPts val="2400"/>
              <a:buNone/>
              <a:defRPr sz="5277"/>
            </a:lvl5pPr>
            <a:lvl6pPr lvl="5">
              <a:spcBef>
                <a:spcPts val="0"/>
              </a:spcBef>
              <a:spcAft>
                <a:spcPts val="0"/>
              </a:spcAft>
              <a:buSzPts val="2400"/>
              <a:buNone/>
              <a:defRPr sz="5277"/>
            </a:lvl6pPr>
            <a:lvl7pPr lvl="6">
              <a:spcBef>
                <a:spcPts val="0"/>
              </a:spcBef>
              <a:spcAft>
                <a:spcPts val="0"/>
              </a:spcAft>
              <a:buSzPts val="2400"/>
              <a:buNone/>
              <a:defRPr sz="5277"/>
            </a:lvl7pPr>
            <a:lvl8pPr lvl="7">
              <a:spcBef>
                <a:spcPts val="0"/>
              </a:spcBef>
              <a:spcAft>
                <a:spcPts val="0"/>
              </a:spcAft>
              <a:buSzPts val="2400"/>
              <a:buNone/>
              <a:defRPr sz="5277"/>
            </a:lvl8pPr>
            <a:lvl9pPr lvl="8">
              <a:spcBef>
                <a:spcPts val="0"/>
              </a:spcBef>
              <a:spcAft>
                <a:spcPts val="0"/>
              </a:spcAft>
              <a:buSzPts val="2400"/>
              <a:buNone/>
              <a:defRPr sz="5277"/>
            </a:lvl9pPr>
          </a:lstStyle>
          <a:p>
            <a:endParaRPr/>
          </a:p>
        </p:txBody>
      </p:sp>
      <p:sp>
        <p:nvSpPr>
          <p:cNvPr id="30" name="Google Shape;30;p6"/>
          <p:cNvSpPr txBox="1">
            <a:spLocks noGrp="1"/>
          </p:cNvSpPr>
          <p:nvPr>
            <p:ph type="body" idx="1"/>
          </p:nvPr>
        </p:nvSpPr>
        <p:spPr>
          <a:xfrm>
            <a:off x="685307" y="3055404"/>
            <a:ext cx="6173700" cy="6990755"/>
          </a:xfrm>
          <a:prstGeom prst="rect">
            <a:avLst/>
          </a:prstGeom>
        </p:spPr>
        <p:txBody>
          <a:bodyPr spcFirstLastPara="1" wrap="square" lIns="91425" tIns="91425" rIns="91425" bIns="91425" anchor="t" anchorCtr="0">
            <a:normAutofit/>
          </a:bodyPr>
          <a:lstStyle>
            <a:lvl1pPr marL="1005200" lvl="0" indent="-670133">
              <a:spcBef>
                <a:spcPts val="0"/>
              </a:spcBef>
              <a:spcAft>
                <a:spcPts val="0"/>
              </a:spcAft>
              <a:buSzPts val="1200"/>
              <a:buChar char="●"/>
              <a:defRPr sz="2638"/>
            </a:lvl1pPr>
            <a:lvl2pPr marL="2010400" lvl="1" indent="-670133">
              <a:spcBef>
                <a:spcPts val="0"/>
              </a:spcBef>
              <a:spcAft>
                <a:spcPts val="0"/>
              </a:spcAft>
              <a:buSzPts val="1200"/>
              <a:buChar char="○"/>
              <a:defRPr sz="2638"/>
            </a:lvl2pPr>
            <a:lvl3pPr marL="3015600" lvl="2" indent="-670133">
              <a:spcBef>
                <a:spcPts val="0"/>
              </a:spcBef>
              <a:spcAft>
                <a:spcPts val="0"/>
              </a:spcAft>
              <a:buSzPts val="1200"/>
              <a:buChar char="■"/>
              <a:defRPr sz="2638"/>
            </a:lvl3pPr>
            <a:lvl4pPr marL="4020800" lvl="3" indent="-670133">
              <a:spcBef>
                <a:spcPts val="0"/>
              </a:spcBef>
              <a:spcAft>
                <a:spcPts val="0"/>
              </a:spcAft>
              <a:buSzPts val="1200"/>
              <a:buChar char="●"/>
              <a:defRPr sz="2638"/>
            </a:lvl4pPr>
            <a:lvl5pPr marL="5026000" lvl="4" indent="-670133">
              <a:spcBef>
                <a:spcPts val="0"/>
              </a:spcBef>
              <a:spcAft>
                <a:spcPts val="0"/>
              </a:spcAft>
              <a:buSzPts val="1200"/>
              <a:buChar char="○"/>
              <a:defRPr sz="2638"/>
            </a:lvl5pPr>
            <a:lvl6pPr marL="6031200" lvl="5" indent="-670133">
              <a:spcBef>
                <a:spcPts val="0"/>
              </a:spcBef>
              <a:spcAft>
                <a:spcPts val="0"/>
              </a:spcAft>
              <a:buSzPts val="1200"/>
              <a:buChar char="■"/>
              <a:defRPr sz="2638"/>
            </a:lvl6pPr>
            <a:lvl7pPr marL="7036399" lvl="6" indent="-670133">
              <a:spcBef>
                <a:spcPts val="0"/>
              </a:spcBef>
              <a:spcAft>
                <a:spcPts val="0"/>
              </a:spcAft>
              <a:buSzPts val="1200"/>
              <a:buChar char="●"/>
              <a:defRPr sz="2638"/>
            </a:lvl7pPr>
            <a:lvl8pPr marL="8041599" lvl="7" indent="-670133">
              <a:spcBef>
                <a:spcPts val="0"/>
              </a:spcBef>
              <a:spcAft>
                <a:spcPts val="0"/>
              </a:spcAft>
              <a:buSzPts val="1200"/>
              <a:buChar char="○"/>
              <a:defRPr sz="2638"/>
            </a:lvl8pPr>
            <a:lvl9pPr marL="9046799" lvl="8" indent="-670133">
              <a:spcBef>
                <a:spcPts val="0"/>
              </a:spcBef>
              <a:spcAft>
                <a:spcPts val="0"/>
              </a:spcAft>
              <a:buSzPts val="1200"/>
              <a:buChar char="■"/>
              <a:defRPr sz="2638"/>
            </a:lvl9pPr>
          </a:lstStyle>
          <a:p>
            <a:endParaRPr/>
          </a:p>
        </p:txBody>
      </p:sp>
      <p:sp>
        <p:nvSpPr>
          <p:cNvPr id="31" name="Google Shape;31;p6"/>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2721369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reserve="1">
  <p:cSld name="Main 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077869" y="989774"/>
            <a:ext cx="14000316" cy="899471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0553"/>
            </a:lvl1pPr>
            <a:lvl2pPr lvl="1">
              <a:spcBef>
                <a:spcPts val="0"/>
              </a:spcBef>
              <a:spcAft>
                <a:spcPts val="0"/>
              </a:spcAft>
              <a:buSzPts val="4800"/>
              <a:buNone/>
              <a:defRPr sz="10553"/>
            </a:lvl2pPr>
            <a:lvl3pPr lvl="2">
              <a:spcBef>
                <a:spcPts val="0"/>
              </a:spcBef>
              <a:spcAft>
                <a:spcPts val="0"/>
              </a:spcAft>
              <a:buSzPts val="4800"/>
              <a:buNone/>
              <a:defRPr sz="10553"/>
            </a:lvl3pPr>
            <a:lvl4pPr lvl="3">
              <a:spcBef>
                <a:spcPts val="0"/>
              </a:spcBef>
              <a:spcAft>
                <a:spcPts val="0"/>
              </a:spcAft>
              <a:buSzPts val="4800"/>
              <a:buNone/>
              <a:defRPr sz="10553"/>
            </a:lvl4pPr>
            <a:lvl5pPr lvl="4">
              <a:spcBef>
                <a:spcPts val="0"/>
              </a:spcBef>
              <a:spcAft>
                <a:spcPts val="0"/>
              </a:spcAft>
              <a:buSzPts val="4800"/>
              <a:buNone/>
              <a:defRPr sz="10553"/>
            </a:lvl5pPr>
            <a:lvl6pPr lvl="5">
              <a:spcBef>
                <a:spcPts val="0"/>
              </a:spcBef>
              <a:spcAft>
                <a:spcPts val="0"/>
              </a:spcAft>
              <a:buSzPts val="4800"/>
              <a:buNone/>
              <a:defRPr sz="10553"/>
            </a:lvl6pPr>
            <a:lvl7pPr lvl="6">
              <a:spcBef>
                <a:spcPts val="0"/>
              </a:spcBef>
              <a:spcAft>
                <a:spcPts val="0"/>
              </a:spcAft>
              <a:buSzPts val="4800"/>
              <a:buNone/>
              <a:defRPr sz="10553"/>
            </a:lvl7pPr>
            <a:lvl8pPr lvl="7">
              <a:spcBef>
                <a:spcPts val="0"/>
              </a:spcBef>
              <a:spcAft>
                <a:spcPts val="0"/>
              </a:spcAft>
              <a:buSzPts val="4800"/>
              <a:buNone/>
              <a:defRPr sz="10553"/>
            </a:lvl8pPr>
            <a:lvl9pPr lvl="8">
              <a:spcBef>
                <a:spcPts val="0"/>
              </a:spcBef>
              <a:spcAft>
                <a:spcPts val="0"/>
              </a:spcAft>
              <a:buSzPts val="4800"/>
              <a:buNone/>
              <a:defRPr sz="10553"/>
            </a:lvl9pPr>
          </a:lstStyle>
          <a:p>
            <a:endParaRPr/>
          </a:p>
        </p:txBody>
      </p:sp>
      <p:sp>
        <p:nvSpPr>
          <p:cNvPr id="34" name="Google Shape;34;p7"/>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3494213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35"/>
        <p:cNvGrpSpPr/>
        <p:nvPr/>
      </p:nvGrpSpPr>
      <p:grpSpPr>
        <a:xfrm>
          <a:off x="0" y="0"/>
          <a:ext cx="0" cy="0"/>
          <a:chOff x="0" y="0"/>
          <a:chExt cx="0" cy="0"/>
        </a:xfrm>
      </p:grpSpPr>
      <p:sp>
        <p:nvSpPr>
          <p:cNvPr id="36" name="Google Shape;36;p8"/>
          <p:cNvSpPr/>
          <p:nvPr/>
        </p:nvSpPr>
        <p:spPr>
          <a:xfrm>
            <a:off x="10052050" y="-275"/>
            <a:ext cx="10052050" cy="11309350"/>
          </a:xfrm>
          <a:prstGeom prst="rect">
            <a:avLst/>
          </a:prstGeom>
          <a:solidFill>
            <a:schemeClr val="lt2"/>
          </a:solidFill>
          <a:ln>
            <a:noFill/>
          </a:ln>
        </p:spPr>
        <p:txBody>
          <a:bodyPr spcFirstLastPara="1" wrap="square" lIns="201008" tIns="201008" rIns="201008" bIns="201008" anchor="ctr" anchorCtr="0">
            <a:noAutofit/>
          </a:bodyPr>
          <a:lstStyle/>
          <a:p>
            <a:pPr marL="0" marR="0" lvl="0" indent="0" algn="l" defTabSz="2010400" rtl="0" eaLnBrk="1" fontAlgn="auto" latinLnBrk="0" hangingPunct="1">
              <a:lnSpc>
                <a:spcPct val="100000"/>
              </a:lnSpc>
              <a:spcBef>
                <a:spcPts val="0"/>
              </a:spcBef>
              <a:spcAft>
                <a:spcPts val="0"/>
              </a:spcAft>
              <a:buClr>
                <a:srgbClr val="000000"/>
              </a:buClr>
              <a:buSzTx/>
              <a:buFont typeface="Arial"/>
              <a:buNone/>
              <a:tabLst/>
              <a:defRPr/>
            </a:pPr>
            <a:endParaRPr kumimoji="0" sz="3078"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37;p8"/>
          <p:cNvSpPr txBox="1">
            <a:spLocks noGrp="1"/>
          </p:cNvSpPr>
          <p:nvPr>
            <p:ph type="title"/>
          </p:nvPr>
        </p:nvSpPr>
        <p:spPr>
          <a:xfrm>
            <a:off x="583731" y="2711463"/>
            <a:ext cx="8893822" cy="325923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9234"/>
            </a:lvl1pPr>
            <a:lvl2pPr lvl="1" algn="ctr">
              <a:spcBef>
                <a:spcPts val="0"/>
              </a:spcBef>
              <a:spcAft>
                <a:spcPts val="0"/>
              </a:spcAft>
              <a:buSzPts val="4200"/>
              <a:buNone/>
              <a:defRPr sz="9234"/>
            </a:lvl2pPr>
            <a:lvl3pPr lvl="2" algn="ctr">
              <a:spcBef>
                <a:spcPts val="0"/>
              </a:spcBef>
              <a:spcAft>
                <a:spcPts val="0"/>
              </a:spcAft>
              <a:buSzPts val="4200"/>
              <a:buNone/>
              <a:defRPr sz="9234"/>
            </a:lvl3pPr>
            <a:lvl4pPr lvl="3" algn="ctr">
              <a:spcBef>
                <a:spcPts val="0"/>
              </a:spcBef>
              <a:spcAft>
                <a:spcPts val="0"/>
              </a:spcAft>
              <a:buSzPts val="4200"/>
              <a:buNone/>
              <a:defRPr sz="9234"/>
            </a:lvl4pPr>
            <a:lvl5pPr lvl="4" algn="ctr">
              <a:spcBef>
                <a:spcPts val="0"/>
              </a:spcBef>
              <a:spcAft>
                <a:spcPts val="0"/>
              </a:spcAft>
              <a:buSzPts val="4200"/>
              <a:buNone/>
              <a:defRPr sz="9234"/>
            </a:lvl5pPr>
            <a:lvl6pPr lvl="5" algn="ctr">
              <a:spcBef>
                <a:spcPts val="0"/>
              </a:spcBef>
              <a:spcAft>
                <a:spcPts val="0"/>
              </a:spcAft>
              <a:buSzPts val="4200"/>
              <a:buNone/>
              <a:defRPr sz="9234"/>
            </a:lvl6pPr>
            <a:lvl7pPr lvl="6" algn="ctr">
              <a:spcBef>
                <a:spcPts val="0"/>
              </a:spcBef>
              <a:spcAft>
                <a:spcPts val="0"/>
              </a:spcAft>
              <a:buSzPts val="4200"/>
              <a:buNone/>
              <a:defRPr sz="9234"/>
            </a:lvl7pPr>
            <a:lvl8pPr lvl="7" algn="ctr">
              <a:spcBef>
                <a:spcPts val="0"/>
              </a:spcBef>
              <a:spcAft>
                <a:spcPts val="0"/>
              </a:spcAft>
              <a:buSzPts val="4200"/>
              <a:buNone/>
              <a:defRPr sz="9234"/>
            </a:lvl8pPr>
            <a:lvl9pPr lvl="8" algn="ctr">
              <a:spcBef>
                <a:spcPts val="0"/>
              </a:spcBef>
              <a:spcAft>
                <a:spcPts val="0"/>
              </a:spcAft>
              <a:buSzPts val="4200"/>
              <a:buNone/>
              <a:defRPr sz="9234"/>
            </a:lvl9pPr>
          </a:lstStyle>
          <a:p>
            <a:endParaRPr/>
          </a:p>
        </p:txBody>
      </p:sp>
      <p:sp>
        <p:nvSpPr>
          <p:cNvPr id="38" name="Google Shape;38;p8"/>
          <p:cNvSpPr txBox="1">
            <a:spLocks noGrp="1"/>
          </p:cNvSpPr>
          <p:nvPr>
            <p:ph type="subTitle" idx="1"/>
          </p:nvPr>
        </p:nvSpPr>
        <p:spPr>
          <a:xfrm>
            <a:off x="583731" y="6163305"/>
            <a:ext cx="8893822" cy="2715695"/>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4617"/>
            </a:lvl1pPr>
            <a:lvl2pPr lvl="1" algn="ctr">
              <a:lnSpc>
                <a:spcPct val="100000"/>
              </a:lnSpc>
              <a:spcBef>
                <a:spcPts val="0"/>
              </a:spcBef>
              <a:spcAft>
                <a:spcPts val="0"/>
              </a:spcAft>
              <a:buSzPts val="2100"/>
              <a:buNone/>
              <a:defRPr sz="4617"/>
            </a:lvl2pPr>
            <a:lvl3pPr lvl="2" algn="ctr">
              <a:lnSpc>
                <a:spcPct val="100000"/>
              </a:lnSpc>
              <a:spcBef>
                <a:spcPts val="0"/>
              </a:spcBef>
              <a:spcAft>
                <a:spcPts val="0"/>
              </a:spcAft>
              <a:buSzPts val="2100"/>
              <a:buNone/>
              <a:defRPr sz="4617"/>
            </a:lvl3pPr>
            <a:lvl4pPr lvl="3" algn="ctr">
              <a:lnSpc>
                <a:spcPct val="100000"/>
              </a:lnSpc>
              <a:spcBef>
                <a:spcPts val="0"/>
              </a:spcBef>
              <a:spcAft>
                <a:spcPts val="0"/>
              </a:spcAft>
              <a:buSzPts val="2100"/>
              <a:buNone/>
              <a:defRPr sz="4617"/>
            </a:lvl4pPr>
            <a:lvl5pPr lvl="4" algn="ctr">
              <a:lnSpc>
                <a:spcPct val="100000"/>
              </a:lnSpc>
              <a:spcBef>
                <a:spcPts val="0"/>
              </a:spcBef>
              <a:spcAft>
                <a:spcPts val="0"/>
              </a:spcAft>
              <a:buSzPts val="2100"/>
              <a:buNone/>
              <a:defRPr sz="4617"/>
            </a:lvl5pPr>
            <a:lvl6pPr lvl="5" algn="ctr">
              <a:lnSpc>
                <a:spcPct val="100000"/>
              </a:lnSpc>
              <a:spcBef>
                <a:spcPts val="0"/>
              </a:spcBef>
              <a:spcAft>
                <a:spcPts val="0"/>
              </a:spcAft>
              <a:buSzPts val="2100"/>
              <a:buNone/>
              <a:defRPr sz="4617"/>
            </a:lvl6pPr>
            <a:lvl7pPr lvl="6" algn="ctr">
              <a:lnSpc>
                <a:spcPct val="100000"/>
              </a:lnSpc>
              <a:spcBef>
                <a:spcPts val="0"/>
              </a:spcBef>
              <a:spcAft>
                <a:spcPts val="0"/>
              </a:spcAft>
              <a:buSzPts val="2100"/>
              <a:buNone/>
              <a:defRPr sz="4617"/>
            </a:lvl7pPr>
            <a:lvl8pPr lvl="7" algn="ctr">
              <a:lnSpc>
                <a:spcPct val="100000"/>
              </a:lnSpc>
              <a:spcBef>
                <a:spcPts val="0"/>
              </a:spcBef>
              <a:spcAft>
                <a:spcPts val="0"/>
              </a:spcAft>
              <a:buSzPts val="2100"/>
              <a:buNone/>
              <a:defRPr sz="4617"/>
            </a:lvl8pPr>
            <a:lvl9pPr lvl="8" algn="ctr">
              <a:lnSpc>
                <a:spcPct val="100000"/>
              </a:lnSpc>
              <a:spcBef>
                <a:spcPts val="0"/>
              </a:spcBef>
              <a:spcAft>
                <a:spcPts val="0"/>
              </a:spcAft>
              <a:buSzPts val="2100"/>
              <a:buNone/>
              <a:defRPr sz="4617"/>
            </a:lvl9pPr>
          </a:lstStyle>
          <a:p>
            <a:endParaRPr/>
          </a:p>
        </p:txBody>
      </p:sp>
      <p:sp>
        <p:nvSpPr>
          <p:cNvPr id="39" name="Google Shape;39;p8"/>
          <p:cNvSpPr txBox="1">
            <a:spLocks noGrp="1"/>
          </p:cNvSpPr>
          <p:nvPr>
            <p:ph type="body" idx="2"/>
          </p:nvPr>
        </p:nvSpPr>
        <p:spPr>
          <a:xfrm>
            <a:off x="10860040" y="1592071"/>
            <a:ext cx="8436071" cy="8124658"/>
          </a:xfrm>
          <a:prstGeom prst="rect">
            <a:avLst/>
          </a:prstGeom>
        </p:spPr>
        <p:txBody>
          <a:bodyPr spcFirstLastPara="1" wrap="square" lIns="91425" tIns="91425" rIns="91425" bIns="91425" anchor="ctr" anchorCtr="0">
            <a:normAutofit/>
          </a:bodyPr>
          <a:lstStyle>
            <a:lvl1pPr marL="1005200" lvl="0" indent="-753900">
              <a:spcBef>
                <a:spcPts val="0"/>
              </a:spcBef>
              <a:spcAft>
                <a:spcPts val="0"/>
              </a:spcAft>
              <a:buSzPts val="1800"/>
              <a:buChar char="●"/>
              <a:defRPr/>
            </a:lvl1pPr>
            <a:lvl2pPr marL="2010400" lvl="1" indent="-698056">
              <a:spcBef>
                <a:spcPts val="0"/>
              </a:spcBef>
              <a:spcAft>
                <a:spcPts val="0"/>
              </a:spcAft>
              <a:buSzPts val="1400"/>
              <a:buChar char="○"/>
              <a:defRPr/>
            </a:lvl2pPr>
            <a:lvl3pPr marL="3015600" lvl="2" indent="-698056">
              <a:spcBef>
                <a:spcPts val="0"/>
              </a:spcBef>
              <a:spcAft>
                <a:spcPts val="0"/>
              </a:spcAft>
              <a:buSzPts val="1400"/>
              <a:buChar char="■"/>
              <a:defRPr/>
            </a:lvl3pPr>
            <a:lvl4pPr marL="4020800" lvl="3" indent="-698056">
              <a:spcBef>
                <a:spcPts val="0"/>
              </a:spcBef>
              <a:spcAft>
                <a:spcPts val="0"/>
              </a:spcAft>
              <a:buSzPts val="1400"/>
              <a:buChar char="●"/>
              <a:defRPr/>
            </a:lvl4pPr>
            <a:lvl5pPr marL="5026000" lvl="4" indent="-698056">
              <a:spcBef>
                <a:spcPts val="0"/>
              </a:spcBef>
              <a:spcAft>
                <a:spcPts val="0"/>
              </a:spcAft>
              <a:buSzPts val="1400"/>
              <a:buChar char="○"/>
              <a:defRPr/>
            </a:lvl5pPr>
            <a:lvl6pPr marL="6031200" lvl="5" indent="-698056">
              <a:spcBef>
                <a:spcPts val="0"/>
              </a:spcBef>
              <a:spcAft>
                <a:spcPts val="0"/>
              </a:spcAft>
              <a:buSzPts val="1400"/>
              <a:buChar char="■"/>
              <a:defRPr/>
            </a:lvl6pPr>
            <a:lvl7pPr marL="7036399" lvl="6" indent="-698056">
              <a:spcBef>
                <a:spcPts val="0"/>
              </a:spcBef>
              <a:spcAft>
                <a:spcPts val="0"/>
              </a:spcAft>
              <a:buSzPts val="1400"/>
              <a:buChar char="●"/>
              <a:defRPr/>
            </a:lvl7pPr>
            <a:lvl8pPr marL="8041599" lvl="7" indent="-698056">
              <a:spcBef>
                <a:spcPts val="0"/>
              </a:spcBef>
              <a:spcAft>
                <a:spcPts val="0"/>
              </a:spcAft>
              <a:buSzPts val="1400"/>
              <a:buChar char="○"/>
              <a:defRPr/>
            </a:lvl8pPr>
            <a:lvl9pPr marL="9046799" lvl="8" indent="-698056">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9254417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685307" y="9302042"/>
            <a:ext cx="13189028" cy="1330473"/>
          </a:xfrm>
          <a:prstGeom prst="rect">
            <a:avLst/>
          </a:prstGeom>
        </p:spPr>
        <p:txBody>
          <a:bodyPr spcFirstLastPara="1" wrap="square" lIns="91425" tIns="91425" rIns="91425" bIns="91425" anchor="ctr" anchorCtr="0">
            <a:normAutofit/>
          </a:bodyPr>
          <a:lstStyle>
            <a:lvl1pPr marL="1005200" lvl="0" indent="-502600">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19788427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685307" y="2432109"/>
            <a:ext cx="18733486" cy="4317276"/>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26383"/>
            </a:lvl1pPr>
            <a:lvl2pPr lvl="1" algn="ctr">
              <a:spcBef>
                <a:spcPts val="0"/>
              </a:spcBef>
              <a:spcAft>
                <a:spcPts val="0"/>
              </a:spcAft>
              <a:buSzPts val="12000"/>
              <a:buNone/>
              <a:defRPr sz="26383"/>
            </a:lvl2pPr>
            <a:lvl3pPr lvl="2" algn="ctr">
              <a:spcBef>
                <a:spcPts val="0"/>
              </a:spcBef>
              <a:spcAft>
                <a:spcPts val="0"/>
              </a:spcAft>
              <a:buSzPts val="12000"/>
              <a:buNone/>
              <a:defRPr sz="26383"/>
            </a:lvl3pPr>
            <a:lvl4pPr lvl="3" algn="ctr">
              <a:spcBef>
                <a:spcPts val="0"/>
              </a:spcBef>
              <a:spcAft>
                <a:spcPts val="0"/>
              </a:spcAft>
              <a:buSzPts val="12000"/>
              <a:buNone/>
              <a:defRPr sz="26383"/>
            </a:lvl4pPr>
            <a:lvl5pPr lvl="4" algn="ctr">
              <a:spcBef>
                <a:spcPts val="0"/>
              </a:spcBef>
              <a:spcAft>
                <a:spcPts val="0"/>
              </a:spcAft>
              <a:buSzPts val="12000"/>
              <a:buNone/>
              <a:defRPr sz="26383"/>
            </a:lvl5pPr>
            <a:lvl6pPr lvl="5" algn="ctr">
              <a:spcBef>
                <a:spcPts val="0"/>
              </a:spcBef>
              <a:spcAft>
                <a:spcPts val="0"/>
              </a:spcAft>
              <a:buSzPts val="12000"/>
              <a:buNone/>
              <a:defRPr sz="26383"/>
            </a:lvl6pPr>
            <a:lvl7pPr lvl="6" algn="ctr">
              <a:spcBef>
                <a:spcPts val="0"/>
              </a:spcBef>
              <a:spcAft>
                <a:spcPts val="0"/>
              </a:spcAft>
              <a:buSzPts val="12000"/>
              <a:buNone/>
              <a:defRPr sz="26383"/>
            </a:lvl7pPr>
            <a:lvl8pPr lvl="7" algn="ctr">
              <a:spcBef>
                <a:spcPts val="0"/>
              </a:spcBef>
              <a:spcAft>
                <a:spcPts val="0"/>
              </a:spcAft>
              <a:buSzPts val="12000"/>
              <a:buNone/>
              <a:defRPr sz="26383"/>
            </a:lvl8pPr>
            <a:lvl9pPr lvl="8" algn="ctr">
              <a:spcBef>
                <a:spcPts val="0"/>
              </a:spcBef>
              <a:spcAft>
                <a:spcPts val="0"/>
              </a:spcAft>
              <a:buSzPts val="12000"/>
              <a:buNone/>
              <a:defRPr sz="26383"/>
            </a:lvl9pPr>
          </a:lstStyle>
          <a:p>
            <a:r>
              <a:t>xx%</a:t>
            </a:r>
          </a:p>
        </p:txBody>
      </p:sp>
      <p:sp>
        <p:nvSpPr>
          <p:cNvPr id="46" name="Google Shape;46;p10"/>
          <p:cNvSpPr txBox="1">
            <a:spLocks noGrp="1"/>
          </p:cNvSpPr>
          <p:nvPr>
            <p:ph type="body" idx="1"/>
          </p:nvPr>
        </p:nvSpPr>
        <p:spPr>
          <a:xfrm>
            <a:off x="685307" y="6931003"/>
            <a:ext cx="18733486" cy="2860154"/>
          </a:xfrm>
          <a:prstGeom prst="rect">
            <a:avLst/>
          </a:prstGeom>
        </p:spPr>
        <p:txBody>
          <a:bodyPr spcFirstLastPara="1" wrap="square" lIns="91425" tIns="91425" rIns="91425" bIns="91425" anchor="t" anchorCtr="0">
            <a:normAutofit/>
          </a:bodyPr>
          <a:lstStyle>
            <a:lvl1pPr marL="1005200" lvl="0" indent="-753900" algn="ctr">
              <a:spcBef>
                <a:spcPts val="0"/>
              </a:spcBef>
              <a:spcAft>
                <a:spcPts val="0"/>
              </a:spcAft>
              <a:buSzPts val="1800"/>
              <a:buChar char="●"/>
              <a:defRPr/>
            </a:lvl1pPr>
            <a:lvl2pPr marL="2010400" lvl="1" indent="-698056" algn="ctr">
              <a:spcBef>
                <a:spcPts val="0"/>
              </a:spcBef>
              <a:spcAft>
                <a:spcPts val="0"/>
              </a:spcAft>
              <a:buSzPts val="1400"/>
              <a:buChar char="○"/>
              <a:defRPr/>
            </a:lvl2pPr>
            <a:lvl3pPr marL="3015600" lvl="2" indent="-698056" algn="ctr">
              <a:spcBef>
                <a:spcPts val="0"/>
              </a:spcBef>
              <a:spcAft>
                <a:spcPts val="0"/>
              </a:spcAft>
              <a:buSzPts val="1400"/>
              <a:buChar char="■"/>
              <a:defRPr/>
            </a:lvl3pPr>
            <a:lvl4pPr marL="4020800" lvl="3" indent="-698056" algn="ctr">
              <a:spcBef>
                <a:spcPts val="0"/>
              </a:spcBef>
              <a:spcAft>
                <a:spcPts val="0"/>
              </a:spcAft>
              <a:buSzPts val="1400"/>
              <a:buChar char="●"/>
              <a:defRPr/>
            </a:lvl4pPr>
            <a:lvl5pPr marL="5026000" lvl="4" indent="-698056" algn="ctr">
              <a:spcBef>
                <a:spcPts val="0"/>
              </a:spcBef>
              <a:spcAft>
                <a:spcPts val="0"/>
              </a:spcAft>
              <a:buSzPts val="1400"/>
              <a:buChar char="○"/>
              <a:defRPr/>
            </a:lvl5pPr>
            <a:lvl6pPr marL="6031200" lvl="5" indent="-698056" algn="ctr">
              <a:spcBef>
                <a:spcPts val="0"/>
              </a:spcBef>
              <a:spcAft>
                <a:spcPts val="0"/>
              </a:spcAft>
              <a:buSzPts val="1400"/>
              <a:buChar char="■"/>
              <a:defRPr/>
            </a:lvl6pPr>
            <a:lvl7pPr marL="7036399" lvl="6" indent="-698056" algn="ctr">
              <a:spcBef>
                <a:spcPts val="0"/>
              </a:spcBef>
              <a:spcAft>
                <a:spcPts val="0"/>
              </a:spcAft>
              <a:buSzPts val="1400"/>
              <a:buChar char="●"/>
              <a:defRPr/>
            </a:lvl7pPr>
            <a:lvl8pPr marL="8041599" lvl="7" indent="-698056" algn="ctr">
              <a:spcBef>
                <a:spcPts val="0"/>
              </a:spcBef>
              <a:spcAft>
                <a:spcPts val="0"/>
              </a:spcAft>
              <a:buSzPts val="1400"/>
              <a:buChar char="○"/>
              <a:defRPr/>
            </a:lvl8pPr>
            <a:lvl9pPr marL="9046799" lvl="8" indent="-698056"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2121126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
        <p:nvSpPr>
          <p:cNvPr id="49" name="Google Shape;49;p11"/>
          <p:cNvSpPr txBox="1">
            <a:spLocks noGrp="1"/>
          </p:cNvSpPr>
          <p:nvPr>
            <p:ph type="sldNum" idx="12"/>
          </p:nvPr>
        </p:nvSpPr>
        <p:spPr>
          <a:xfrm>
            <a:off x="18627640" y="10253320"/>
            <a:ext cx="1206378" cy="865434"/>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spTree>
    <p:extLst>
      <p:ext uri="{BB962C8B-B14F-4D97-AF65-F5344CB8AC3E}">
        <p14:creationId xmlns:p14="http://schemas.microsoft.com/office/powerpoint/2010/main" val="3401798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2.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3.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k object 16"/>
          <p:cNvSpPr>
            <a:spLocks/>
          </p:cNvSpPr>
          <p:nvPr/>
        </p:nvSpPr>
        <p:spPr bwMode="auto">
          <a:xfrm>
            <a:off x="0" y="11296650"/>
            <a:ext cx="201041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22859">
            <a:solidFill>
              <a:srgbClr val="E76A8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7" name="bk object 17"/>
          <p:cNvSpPr>
            <a:spLocks/>
          </p:cNvSpPr>
          <p:nvPr/>
        </p:nvSpPr>
        <p:spPr bwMode="auto">
          <a:xfrm>
            <a:off x="0" y="11274425"/>
            <a:ext cx="20075525" cy="0"/>
          </a:xfrm>
          <a:custGeom>
            <a:avLst/>
            <a:gdLst>
              <a:gd name="T0" fmla="*/ 0 w 20076160"/>
              <a:gd name="T1" fmla="*/ 20068417 w 20076160"/>
              <a:gd name="T2" fmla="*/ 0 60000 65536"/>
              <a:gd name="T3" fmla="*/ 0 60000 65536"/>
            </a:gdLst>
            <a:ahLst/>
            <a:cxnLst>
              <a:cxn ang="T2">
                <a:pos x="T0" y="0"/>
              </a:cxn>
              <a:cxn ang="T3">
                <a:pos x="T1" y="0"/>
              </a:cxn>
            </a:cxnLst>
            <a:rect l="0" t="0" r="r" b="b"/>
            <a:pathLst>
              <a:path w="20076160">
                <a:moveTo>
                  <a:pt x="0" y="0"/>
                </a:moveTo>
                <a:lnTo>
                  <a:pt x="20076037" y="0"/>
                </a:lnTo>
              </a:path>
            </a:pathLst>
          </a:custGeom>
          <a:noFill/>
          <a:ln w="22859">
            <a:solidFill>
              <a:srgbClr val="E76A8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8" name="bk object 18"/>
          <p:cNvSpPr>
            <a:spLocks/>
          </p:cNvSpPr>
          <p:nvPr/>
        </p:nvSpPr>
        <p:spPr bwMode="auto">
          <a:xfrm>
            <a:off x="28575" y="47625"/>
            <a:ext cx="0" cy="11214100"/>
          </a:xfrm>
          <a:custGeom>
            <a:avLst/>
            <a:gdLst>
              <a:gd name="T0" fmla="*/ 0 h 11215370"/>
              <a:gd name="T1" fmla="*/ 11200139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218">
            <a:solidFill>
              <a:srgbClr val="E76A8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9" name="bk object 19"/>
          <p:cNvSpPr>
            <a:spLocks/>
          </p:cNvSpPr>
          <p:nvPr/>
        </p:nvSpPr>
        <p:spPr bwMode="auto">
          <a:xfrm>
            <a:off x="0" y="23813"/>
            <a:ext cx="201041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46990">
            <a:solidFill>
              <a:srgbClr val="E76A8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30" name="bk object 20"/>
          <p:cNvSpPr>
            <a:spLocks/>
          </p:cNvSpPr>
          <p:nvPr/>
        </p:nvSpPr>
        <p:spPr bwMode="auto">
          <a:xfrm>
            <a:off x="20075525" y="11261725"/>
            <a:ext cx="28575" cy="23813"/>
          </a:xfrm>
          <a:custGeom>
            <a:avLst/>
            <a:gdLst>
              <a:gd name="T0" fmla="*/ 0 w 28575"/>
              <a:gd name="T1" fmla="*/ 37332 h 22859"/>
              <a:gd name="T2" fmla="*/ 28061 w 28575"/>
              <a:gd name="T3" fmla="*/ 37332 h 22859"/>
              <a:gd name="T4" fmla="*/ 28061 w 28575"/>
              <a:gd name="T5" fmla="*/ 0 h 22859"/>
              <a:gd name="T6" fmla="*/ 0 w 28575"/>
              <a:gd name="T7" fmla="*/ 0 h 22859"/>
              <a:gd name="T8" fmla="*/ 0 w 28575"/>
              <a:gd name="T9" fmla="*/ 37332 h 228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75" h="22859">
                <a:moveTo>
                  <a:pt x="0" y="22856"/>
                </a:moveTo>
                <a:lnTo>
                  <a:pt x="28061" y="22856"/>
                </a:lnTo>
                <a:lnTo>
                  <a:pt x="28061" y="0"/>
                </a:lnTo>
                <a:lnTo>
                  <a:pt x="0" y="0"/>
                </a:lnTo>
                <a:lnTo>
                  <a:pt x="0" y="22856"/>
                </a:lnTo>
                <a:close/>
              </a:path>
            </a:pathLst>
          </a:custGeom>
          <a:solidFill>
            <a:srgbClr val="E76A81"/>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1031" name="bk object 21"/>
          <p:cNvSpPr>
            <a:spLocks/>
          </p:cNvSpPr>
          <p:nvPr/>
        </p:nvSpPr>
        <p:spPr bwMode="auto">
          <a:xfrm>
            <a:off x="20075525" y="47625"/>
            <a:ext cx="0" cy="11214100"/>
          </a:xfrm>
          <a:custGeom>
            <a:avLst/>
            <a:gdLst>
              <a:gd name="T0" fmla="*/ 0 h 11215370"/>
              <a:gd name="T1" fmla="*/ 11200139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176">
            <a:solidFill>
              <a:srgbClr val="E76A8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32" name="Holder 2"/>
          <p:cNvSpPr>
            <a:spLocks noGrp="1"/>
          </p:cNvSpPr>
          <p:nvPr>
            <p:ph type="title"/>
          </p:nvPr>
        </p:nvSpPr>
        <p:spPr bwMode="auto">
          <a:xfrm>
            <a:off x="581025" y="407988"/>
            <a:ext cx="1894205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33" name="Holder 3"/>
          <p:cNvSpPr>
            <a:spLocks noGrp="1"/>
          </p:cNvSpPr>
          <p:nvPr>
            <p:ph type="body" idx="1"/>
          </p:nvPr>
        </p:nvSpPr>
        <p:spPr bwMode="auto">
          <a:xfrm>
            <a:off x="2746375" y="2613025"/>
            <a:ext cx="14611350"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p:cNvSpPr>
            <a:spLocks noGrp="1"/>
          </p:cNvSpPr>
          <p:nvPr>
            <p:ph type="ftr" sz="quarter" idx="5"/>
          </p:nvPr>
        </p:nvSpPr>
        <p:spPr>
          <a:xfrm>
            <a:off x="6835775" y="10517188"/>
            <a:ext cx="6432550" cy="566737"/>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ea typeface="+mn-ea"/>
                <a:cs typeface="+mn-cs"/>
              </a:defRPr>
            </a:lvl1pPr>
          </a:lstStyle>
          <a:p>
            <a:pPr>
              <a:defRPr/>
            </a:pPr>
            <a:endParaRPr/>
          </a:p>
        </p:txBody>
      </p:sp>
      <p:sp>
        <p:nvSpPr>
          <p:cNvPr id="5" name="Holder 5"/>
          <p:cNvSpPr>
            <a:spLocks noGrp="1"/>
          </p:cNvSpPr>
          <p:nvPr>
            <p:ph type="dt" sz="half" idx="6"/>
          </p:nvPr>
        </p:nvSpPr>
        <p:spPr>
          <a:xfrm>
            <a:off x="1004888" y="10517188"/>
            <a:ext cx="4624387" cy="566737"/>
          </a:xfrm>
          <a:prstGeom prst="rect">
            <a:avLst/>
          </a:prstGeom>
        </p:spPr>
        <p:txBody>
          <a:bodyPr vert="horz" wrap="square" lIns="0" tIns="0" rIns="0" bIns="0" numCol="1" anchor="t" anchorCtr="0" compatLnSpc="1">
            <a:prstTxWarp prst="textNoShape">
              <a:avLst/>
            </a:prstTxWarp>
            <a:spAutoFit/>
          </a:bodyPr>
          <a:lstStyle>
            <a:lvl1pPr eaLnBrk="1" hangingPunct="1">
              <a:defRPr>
                <a:solidFill>
                  <a:srgbClr val="898989"/>
                </a:solidFill>
                <a:ea typeface="ＭＳ Ｐゴシック" panose="020B0600070205080204" pitchFamily="34" charset="-128"/>
              </a:defRPr>
            </a:lvl1pPr>
          </a:lstStyle>
          <a:p>
            <a:pPr>
              <a:defRPr/>
            </a:pPr>
            <a:fld id="{4A2B6EE7-9D46-4730-9C6F-8145B591B8A9}" type="datetimeFigureOut">
              <a:rPr lang="en-US" altLang="en-US"/>
              <a:pPr>
                <a:defRPr/>
              </a:pPr>
              <a:t>9/17/2025</a:t>
            </a:fld>
            <a:endParaRPr lang="en-US" altLang="en-US"/>
          </a:p>
        </p:txBody>
      </p:sp>
      <p:sp>
        <p:nvSpPr>
          <p:cNvPr id="6" name="Holder 6"/>
          <p:cNvSpPr>
            <a:spLocks noGrp="1"/>
          </p:cNvSpPr>
          <p:nvPr>
            <p:ph type="sldNum" sz="quarter" idx="7"/>
          </p:nvPr>
        </p:nvSpPr>
        <p:spPr>
          <a:xfrm>
            <a:off x="14474825" y="10517188"/>
            <a:ext cx="4624388" cy="566737"/>
          </a:xfrm>
          <a:prstGeom prst="rect">
            <a:avLst/>
          </a:prstGeom>
        </p:spPr>
        <p:txBody>
          <a:bodyPr vert="horz" wrap="square" lIns="0" tIns="0" rIns="0" bIns="0" numCol="1" anchor="t" anchorCtr="0" compatLnSpc="1">
            <a:prstTxWarp prst="textNoShape">
              <a:avLst/>
            </a:prstTxWarp>
            <a:spAutoFit/>
          </a:bodyPr>
          <a:lstStyle>
            <a:lvl1pPr algn="r" eaLnBrk="1" hangingPunct="1">
              <a:defRPr>
                <a:solidFill>
                  <a:srgbClr val="898989"/>
                </a:solidFill>
                <a:ea typeface="ＭＳ Ｐゴシック" panose="020B0600070205080204" pitchFamily="34" charset="-128"/>
              </a:defRPr>
            </a:lvl1pPr>
          </a:lstStyle>
          <a:p>
            <a:pPr>
              <a:defRPr/>
            </a:pPr>
            <a:fld id="{4C1F6B32-DDA6-42CD-B270-F22DD721FD8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Lst>
  <p:txStyles>
    <p:title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p:titleStyle>
    <p:bodyStyle>
      <a:lvl1pPr marL="342900" indent="-342900" algn="l" rtl="0" eaLnBrk="0" fontAlgn="base" hangingPunct="0">
        <a:spcBef>
          <a:spcPct val="20000"/>
        </a:spcBef>
        <a:spcAft>
          <a:spcPct val="0"/>
        </a:spcAft>
        <a:defRPr>
          <a:solidFill>
            <a:schemeClr val="tx1"/>
          </a:solidFill>
          <a:latin typeface="+mn-lt"/>
          <a:ea typeface="MS PGothic" panose="020B0600070205080204" pitchFamily="34" charset="-128"/>
          <a:cs typeface="ＭＳ Ｐゴシック" charset="0"/>
        </a:defRPr>
      </a:lvl1pPr>
      <a:lvl2pPr marL="457200" algn="l" rtl="0" eaLnBrk="0" fontAlgn="base" hangingPunct="0">
        <a:spcBef>
          <a:spcPct val="20000"/>
        </a:spcBef>
        <a:spcAft>
          <a:spcPct val="0"/>
        </a:spcAft>
        <a:defRPr>
          <a:solidFill>
            <a:schemeClr val="tx1"/>
          </a:solidFill>
          <a:latin typeface="+mn-lt"/>
          <a:ea typeface="MS PGothic" panose="020B0600070205080204" pitchFamily="34" charset="-128"/>
          <a:cs typeface="+mn-cs"/>
        </a:defRPr>
      </a:lvl2pPr>
      <a:lvl3pPr marL="914400" algn="l" rtl="0" eaLnBrk="0" fontAlgn="base" hangingPunct="0">
        <a:spcBef>
          <a:spcPct val="20000"/>
        </a:spcBef>
        <a:spcAft>
          <a:spcPct val="0"/>
        </a:spcAft>
        <a:defRPr>
          <a:solidFill>
            <a:schemeClr val="tx1"/>
          </a:solidFill>
          <a:latin typeface="+mn-lt"/>
          <a:ea typeface="MS PGothic" panose="020B0600070205080204" pitchFamily="34" charset="-128"/>
          <a:cs typeface="+mn-cs"/>
        </a:defRPr>
      </a:lvl3pPr>
      <a:lvl4pPr marL="1371600" algn="l" rtl="0" eaLnBrk="0" fontAlgn="base" hangingPunct="0">
        <a:spcBef>
          <a:spcPct val="20000"/>
        </a:spcBef>
        <a:spcAft>
          <a:spcPct val="0"/>
        </a:spcAft>
        <a:defRPr>
          <a:solidFill>
            <a:schemeClr val="tx1"/>
          </a:solidFill>
          <a:latin typeface="+mn-lt"/>
          <a:ea typeface="MS PGothic" panose="020B0600070205080204" pitchFamily="34" charset="-128"/>
          <a:cs typeface="+mn-cs"/>
        </a:defRPr>
      </a:lvl4pPr>
      <a:lvl5pPr marL="1828800" algn="l" rtl="0" eaLnBrk="0" fontAlgn="base" hangingPunct="0">
        <a:spcBef>
          <a:spcPct val="20000"/>
        </a:spcBef>
        <a:spcAft>
          <a:spcPct val="0"/>
        </a:spcAft>
        <a:defRPr>
          <a:solidFill>
            <a:schemeClr val="tx1"/>
          </a:solidFill>
          <a:latin typeface="+mn-lt"/>
          <a:ea typeface="MS PGothic" panose="020B0600070205080204" pitchFamily="34" charset="-128"/>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61251" y="1707341"/>
            <a:ext cx="18733486" cy="1259233"/>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685307" y="3313100"/>
            <a:ext cx="18733486" cy="7511862"/>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8627640" y="10253320"/>
            <a:ext cx="1206378" cy="865434"/>
          </a:xfrm>
          <a:prstGeom prst="rect">
            <a:avLst/>
          </a:prstGeom>
          <a:noFill/>
          <a:ln>
            <a:noFill/>
          </a:ln>
        </p:spPr>
        <p:txBody>
          <a:bodyPr spcFirstLastPara="1" wrap="square" lIns="91425" tIns="91425" rIns="91425" bIns="91425" anchor="ctr" anchorCtr="0">
            <a:normAutofit/>
          </a:bodyPr>
          <a:lstStyle>
            <a:lvl1pPr lvl="0" algn="r">
              <a:buNone/>
              <a:defRPr sz="2199">
                <a:solidFill>
                  <a:schemeClr val="dk2"/>
                </a:solidFill>
              </a:defRPr>
            </a:lvl1pPr>
            <a:lvl2pPr lvl="1" algn="r">
              <a:buNone/>
              <a:defRPr sz="2199">
                <a:solidFill>
                  <a:schemeClr val="dk2"/>
                </a:solidFill>
              </a:defRPr>
            </a:lvl2pPr>
            <a:lvl3pPr lvl="2" algn="r">
              <a:buNone/>
              <a:defRPr sz="2199">
                <a:solidFill>
                  <a:schemeClr val="dk2"/>
                </a:solidFill>
              </a:defRPr>
            </a:lvl3pPr>
            <a:lvl4pPr lvl="3" algn="r">
              <a:buNone/>
              <a:defRPr sz="2199">
                <a:solidFill>
                  <a:schemeClr val="dk2"/>
                </a:solidFill>
              </a:defRPr>
            </a:lvl4pPr>
            <a:lvl5pPr lvl="4" algn="r">
              <a:buNone/>
              <a:defRPr sz="2199">
                <a:solidFill>
                  <a:schemeClr val="dk2"/>
                </a:solidFill>
              </a:defRPr>
            </a:lvl5pPr>
            <a:lvl6pPr lvl="5" algn="r">
              <a:buNone/>
              <a:defRPr sz="2199">
                <a:solidFill>
                  <a:schemeClr val="dk2"/>
                </a:solidFill>
              </a:defRPr>
            </a:lvl6pPr>
            <a:lvl7pPr lvl="6" algn="r">
              <a:buNone/>
              <a:defRPr sz="2199">
                <a:solidFill>
                  <a:schemeClr val="dk2"/>
                </a:solidFill>
              </a:defRPr>
            </a:lvl7pPr>
            <a:lvl8pPr lvl="7" algn="r">
              <a:buNone/>
              <a:defRPr sz="2199">
                <a:solidFill>
                  <a:schemeClr val="dk2"/>
                </a:solidFill>
              </a:defRPr>
            </a:lvl8pPr>
            <a:lvl9pPr lvl="8" algn="r">
              <a:buNone/>
              <a:defRPr sz="2199">
                <a:solidFill>
                  <a:schemeClr val="dk2"/>
                </a:solidFill>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pic>
        <p:nvPicPr>
          <p:cNvPr id="9" name="Google Shape;9;p1"/>
          <p:cNvPicPr preferRelativeResize="0"/>
          <p:nvPr/>
        </p:nvPicPr>
        <p:blipFill>
          <a:blip r:embed="rId13">
            <a:alphaModFix/>
          </a:blip>
          <a:stretch>
            <a:fillRect/>
          </a:stretch>
        </p:blipFill>
        <p:spPr>
          <a:xfrm>
            <a:off x="474901" y="474934"/>
            <a:ext cx="3314804" cy="1424798"/>
          </a:xfrm>
          <a:prstGeom prst="rect">
            <a:avLst/>
          </a:prstGeom>
          <a:noFill/>
          <a:ln>
            <a:noFill/>
          </a:ln>
        </p:spPr>
      </p:pic>
    </p:spTree>
    <p:extLst>
      <p:ext uri="{BB962C8B-B14F-4D97-AF65-F5344CB8AC3E}">
        <p14:creationId xmlns:p14="http://schemas.microsoft.com/office/powerpoint/2010/main" val="3373473240"/>
      </p:ext>
    </p:extLst>
  </p:cSld>
  <p:clrMap bg1="lt1" tx1="dk1" bg2="dk2" tx2="lt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61251" y="1707341"/>
            <a:ext cx="18733486" cy="1259233"/>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685307" y="3313100"/>
            <a:ext cx="18733486" cy="7511862"/>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18627640" y="10253320"/>
            <a:ext cx="1206378" cy="865434"/>
          </a:xfrm>
          <a:prstGeom prst="rect">
            <a:avLst/>
          </a:prstGeom>
          <a:noFill/>
          <a:ln>
            <a:noFill/>
          </a:ln>
        </p:spPr>
        <p:txBody>
          <a:bodyPr spcFirstLastPara="1" wrap="square" lIns="91425" tIns="91425" rIns="91425" bIns="91425" anchor="ctr" anchorCtr="0">
            <a:normAutofit/>
          </a:bodyPr>
          <a:lstStyle>
            <a:lvl1pPr lvl="0" algn="r">
              <a:buNone/>
              <a:defRPr sz="2199">
                <a:solidFill>
                  <a:schemeClr val="dk2"/>
                </a:solidFill>
              </a:defRPr>
            </a:lvl1pPr>
            <a:lvl2pPr lvl="1" algn="r">
              <a:buNone/>
              <a:defRPr sz="2199">
                <a:solidFill>
                  <a:schemeClr val="dk2"/>
                </a:solidFill>
              </a:defRPr>
            </a:lvl2pPr>
            <a:lvl3pPr lvl="2" algn="r">
              <a:buNone/>
              <a:defRPr sz="2199">
                <a:solidFill>
                  <a:schemeClr val="dk2"/>
                </a:solidFill>
              </a:defRPr>
            </a:lvl3pPr>
            <a:lvl4pPr lvl="3" algn="r">
              <a:buNone/>
              <a:defRPr sz="2199">
                <a:solidFill>
                  <a:schemeClr val="dk2"/>
                </a:solidFill>
              </a:defRPr>
            </a:lvl4pPr>
            <a:lvl5pPr lvl="4" algn="r">
              <a:buNone/>
              <a:defRPr sz="2199">
                <a:solidFill>
                  <a:schemeClr val="dk2"/>
                </a:solidFill>
              </a:defRPr>
            </a:lvl5pPr>
            <a:lvl6pPr lvl="5" algn="r">
              <a:buNone/>
              <a:defRPr sz="2199">
                <a:solidFill>
                  <a:schemeClr val="dk2"/>
                </a:solidFill>
              </a:defRPr>
            </a:lvl6pPr>
            <a:lvl7pPr lvl="6" algn="r">
              <a:buNone/>
              <a:defRPr sz="2199">
                <a:solidFill>
                  <a:schemeClr val="dk2"/>
                </a:solidFill>
              </a:defRPr>
            </a:lvl7pPr>
            <a:lvl8pPr lvl="7" algn="r">
              <a:buNone/>
              <a:defRPr sz="2199">
                <a:solidFill>
                  <a:schemeClr val="dk2"/>
                </a:solidFill>
              </a:defRPr>
            </a:lvl8pPr>
            <a:lvl9pPr lvl="8" algn="r">
              <a:buNone/>
              <a:defRPr sz="2199">
                <a:solidFill>
                  <a:schemeClr val="dk2"/>
                </a:solidFill>
              </a:defRPr>
            </a:lvl9pPr>
          </a:lstStyle>
          <a:p>
            <a:pPr defTabSz="2010400" eaLnBrk="1" fontAlgn="auto" hangingPunct="1">
              <a:spcBef>
                <a:spcPts val="0"/>
              </a:spcBef>
              <a:spcAft>
                <a:spcPts val="0"/>
              </a:spcAft>
              <a:buClr>
                <a:srgbClr val="000000"/>
              </a:buClr>
            </a:pPr>
            <a:fld id="{00000000-1234-1234-1234-123412341234}" type="slidenum">
              <a:rPr lang="en-GB" kern="0" smtClean="0">
                <a:solidFill>
                  <a:srgbClr val="595959"/>
                </a:solidFill>
                <a:latin typeface="Arial"/>
                <a:cs typeface="Arial"/>
                <a:sym typeface="Arial"/>
              </a:rPr>
              <a:pPr defTabSz="2010400" eaLnBrk="1" fontAlgn="auto" hangingPunct="1">
                <a:spcBef>
                  <a:spcPts val="0"/>
                </a:spcBef>
                <a:spcAft>
                  <a:spcPts val="0"/>
                </a:spcAft>
                <a:buClr>
                  <a:srgbClr val="000000"/>
                </a:buClr>
              </a:pPr>
              <a:t>‹#›</a:t>
            </a:fld>
            <a:endParaRPr lang="en-GB" kern="0">
              <a:solidFill>
                <a:srgbClr val="595959"/>
              </a:solidFill>
              <a:latin typeface="Arial"/>
              <a:cs typeface="Arial"/>
              <a:sym typeface="Arial"/>
            </a:endParaRPr>
          </a:p>
        </p:txBody>
      </p:sp>
      <p:pic>
        <p:nvPicPr>
          <p:cNvPr id="9" name="Google Shape;9;p1"/>
          <p:cNvPicPr preferRelativeResize="0"/>
          <p:nvPr/>
        </p:nvPicPr>
        <p:blipFill>
          <a:blip r:embed="rId13">
            <a:alphaModFix/>
          </a:blip>
          <a:stretch>
            <a:fillRect/>
          </a:stretch>
        </p:blipFill>
        <p:spPr>
          <a:xfrm>
            <a:off x="474901" y="474934"/>
            <a:ext cx="3314804" cy="1424798"/>
          </a:xfrm>
          <a:prstGeom prst="rect">
            <a:avLst/>
          </a:prstGeom>
          <a:noFill/>
          <a:ln>
            <a:noFill/>
          </a:ln>
        </p:spPr>
      </p:pic>
    </p:spTree>
    <p:extLst>
      <p:ext uri="{BB962C8B-B14F-4D97-AF65-F5344CB8AC3E}">
        <p14:creationId xmlns:p14="http://schemas.microsoft.com/office/powerpoint/2010/main" val="1565597845"/>
      </p:ext>
    </p:extLst>
  </p:cSld>
  <p:clrMap bg1="lt1" tx1="dk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078"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hyperlink" Target="mailto:vidyac@rvce.edu.i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61.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236483"/>
            <a:ext cx="2010410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7172" name="object 3"/>
          <p:cNvSpPr>
            <a:spLocks/>
          </p:cNvSpPr>
          <p:nvPr/>
        </p:nvSpPr>
        <p:spPr bwMode="auto">
          <a:xfrm>
            <a:off x="43047" y="-270516"/>
            <a:ext cx="9377363" cy="6477000"/>
          </a:xfrm>
          <a:custGeom>
            <a:avLst/>
            <a:gdLst>
              <a:gd name="T0" fmla="*/ 59944928 w 7436484"/>
              <a:gd name="T1" fmla="*/ 0 h 5134610"/>
              <a:gd name="T2" fmla="*/ 0 w 7436484"/>
              <a:gd name="T3" fmla="*/ 0 h 5134610"/>
              <a:gd name="T4" fmla="*/ 0 w 7436484"/>
              <a:gd name="T5" fmla="*/ 41531511 h 5134610"/>
              <a:gd name="T6" fmla="*/ 59944928 w 7436484"/>
              <a:gd name="T7" fmla="*/ 0 h 51346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36484" h="5134610">
                <a:moveTo>
                  <a:pt x="7435941" y="0"/>
                </a:moveTo>
                <a:lnTo>
                  <a:pt x="0" y="0"/>
                </a:lnTo>
                <a:lnTo>
                  <a:pt x="0" y="5134513"/>
                </a:lnTo>
                <a:lnTo>
                  <a:pt x="7435941" y="0"/>
                </a:lnTo>
                <a:close/>
              </a:path>
            </a:pathLst>
          </a:custGeom>
          <a:solidFill>
            <a:srgbClr val="00589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7173" name="object 4"/>
          <p:cNvSpPr>
            <a:spLocks noChangeArrowheads="1"/>
          </p:cNvSpPr>
          <p:nvPr/>
        </p:nvSpPr>
        <p:spPr bwMode="auto">
          <a:xfrm>
            <a:off x="471488" y="415925"/>
            <a:ext cx="1846262" cy="184150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7174" name="object 5"/>
          <p:cNvSpPr>
            <a:spLocks noChangeArrowheads="1"/>
          </p:cNvSpPr>
          <p:nvPr/>
        </p:nvSpPr>
        <p:spPr bwMode="auto">
          <a:xfrm>
            <a:off x="5603875" y="1336675"/>
            <a:ext cx="146050" cy="147638"/>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6" name="object 6"/>
          <p:cNvSpPr txBox="1"/>
          <p:nvPr/>
        </p:nvSpPr>
        <p:spPr>
          <a:xfrm>
            <a:off x="2508250" y="720725"/>
            <a:ext cx="3810000" cy="1231900"/>
          </a:xfrm>
          <a:prstGeom prst="rect">
            <a:avLst/>
          </a:prstGeom>
        </p:spPr>
        <p:txBody>
          <a:bodyPr lIns="0" tIns="13335" rIns="0" bIns="0">
            <a:spAutoFit/>
          </a:bodyPr>
          <a:lstStyle/>
          <a:p>
            <a:pPr marL="12700" eaLnBrk="1" hangingPunct="1">
              <a:lnSpc>
                <a:spcPts val="4695"/>
              </a:lnSpc>
              <a:spcBef>
                <a:spcPts val="105"/>
              </a:spcBef>
              <a:defRPr/>
            </a:pPr>
            <a:r>
              <a:rPr lang="en-IN" sz="4250" b="1" spc="-35" dirty="0">
                <a:solidFill>
                  <a:srgbClr val="FFFFFF"/>
                </a:solidFill>
                <a:latin typeface="Helvetica-Bold"/>
                <a:ea typeface="ＭＳ Ｐゴシック" charset="0"/>
                <a:cs typeface="Helvetica-Bold"/>
              </a:rPr>
              <a:t>RV College of </a:t>
            </a:r>
          </a:p>
          <a:p>
            <a:pPr marL="12700" eaLnBrk="1" hangingPunct="1">
              <a:lnSpc>
                <a:spcPts val="4695"/>
              </a:lnSpc>
              <a:spcBef>
                <a:spcPts val="105"/>
              </a:spcBef>
              <a:defRPr/>
            </a:pPr>
            <a:r>
              <a:rPr lang="en-IN" sz="4250" b="1" spc="-35" dirty="0">
                <a:solidFill>
                  <a:srgbClr val="FFFFFF"/>
                </a:solidFill>
                <a:latin typeface="Helvetica-Bold"/>
                <a:ea typeface="ＭＳ Ｐゴシック" charset="0"/>
                <a:cs typeface="Helvetica-Bold"/>
              </a:rPr>
              <a:t>Engineering</a:t>
            </a:r>
            <a:endParaRPr sz="4250" dirty="0">
              <a:latin typeface="Helvetica-Bold"/>
              <a:ea typeface="ＭＳ Ｐゴシック" charset="0"/>
              <a:cs typeface="Helvetica-Bold"/>
            </a:endParaRPr>
          </a:p>
        </p:txBody>
      </p:sp>
      <p:sp>
        <p:nvSpPr>
          <p:cNvPr id="7" name="object 7"/>
          <p:cNvSpPr txBox="1"/>
          <p:nvPr/>
        </p:nvSpPr>
        <p:spPr>
          <a:xfrm>
            <a:off x="16117888" y="407988"/>
            <a:ext cx="3405187" cy="484187"/>
          </a:xfrm>
          <a:prstGeom prst="rect">
            <a:avLst/>
          </a:prstGeom>
        </p:spPr>
        <p:txBody>
          <a:bodyPr lIns="0" tIns="12700" rIns="0" bIns="0">
            <a:spAutoFit/>
          </a:bodyPr>
          <a:lstStyle/>
          <a:p>
            <a:pPr marL="12700" eaLnBrk="1" hangingPunct="1">
              <a:spcBef>
                <a:spcPts val="100"/>
              </a:spcBef>
              <a:defRPr/>
            </a:pPr>
            <a:r>
              <a:rPr sz="3000" i="1" spc="-5" dirty="0">
                <a:solidFill>
                  <a:srgbClr val="422C75"/>
                </a:solidFill>
                <a:latin typeface="Playfair Display"/>
                <a:ea typeface="ＭＳ Ｐゴシック" charset="0"/>
                <a:cs typeface="Playfair Display"/>
              </a:rPr>
              <a:t>Go, change </a:t>
            </a:r>
            <a:r>
              <a:rPr sz="3000" i="1" dirty="0">
                <a:solidFill>
                  <a:srgbClr val="422C75"/>
                </a:solidFill>
                <a:latin typeface="Playfair Display"/>
                <a:ea typeface="ＭＳ Ｐゴシック" charset="0"/>
                <a:cs typeface="Playfair Display"/>
              </a:rPr>
              <a:t>the</a:t>
            </a:r>
            <a:r>
              <a:rPr sz="3000" i="1" spc="-80" dirty="0">
                <a:solidFill>
                  <a:srgbClr val="422C75"/>
                </a:solidFill>
                <a:latin typeface="Playfair Display"/>
                <a:ea typeface="ＭＳ Ｐゴシック" charset="0"/>
                <a:cs typeface="Playfair Display"/>
              </a:rPr>
              <a:t> </a:t>
            </a:r>
            <a:r>
              <a:rPr sz="3000" i="1" spc="-5" dirty="0">
                <a:solidFill>
                  <a:srgbClr val="422C75"/>
                </a:solidFill>
                <a:latin typeface="Playfair Display"/>
                <a:ea typeface="ＭＳ Ｐゴシック" charset="0"/>
                <a:cs typeface="Playfair Display"/>
              </a:rPr>
              <a:t>world</a:t>
            </a:r>
            <a:endParaRPr sz="3000" dirty="0">
              <a:latin typeface="Playfair Display"/>
              <a:ea typeface="ＭＳ Ｐゴシック" charset="0"/>
              <a:cs typeface="Playfair Display"/>
            </a:endParaRPr>
          </a:p>
        </p:txBody>
      </p:sp>
      <p:sp>
        <p:nvSpPr>
          <p:cNvPr id="9" name="Subtitle 2"/>
          <p:cNvSpPr txBox="1">
            <a:spLocks/>
          </p:cNvSpPr>
          <p:nvPr/>
        </p:nvSpPr>
        <p:spPr>
          <a:xfrm>
            <a:off x="4014586" y="3638452"/>
            <a:ext cx="15902560" cy="1080120"/>
          </a:xfrm>
          <a:prstGeom prst="rect">
            <a:avLst/>
          </a:prstGeom>
        </p:spPr>
        <p:txBody>
          <a:bodyPr>
            <a:noAutofit/>
          </a:bodyPr>
          <a:lstStyle>
            <a:lvl1pPr marL="342900" indent="-342900" algn="l" rtl="0" eaLnBrk="0" fontAlgn="base" hangingPunct="0">
              <a:spcBef>
                <a:spcPct val="20000"/>
              </a:spcBef>
              <a:spcAft>
                <a:spcPct val="0"/>
              </a:spcAft>
              <a:defRPr>
                <a:solidFill>
                  <a:schemeClr val="tx1"/>
                </a:solidFill>
                <a:latin typeface="+mn-lt"/>
                <a:ea typeface="MS PGothic" panose="020B0600070205080204" pitchFamily="34" charset="-128"/>
                <a:cs typeface="ＭＳ Ｐゴシック" charset="0"/>
              </a:defRPr>
            </a:lvl1pPr>
            <a:lvl2pPr marL="457200" algn="l" rtl="0" eaLnBrk="0" fontAlgn="base" hangingPunct="0">
              <a:spcBef>
                <a:spcPct val="20000"/>
              </a:spcBef>
              <a:spcAft>
                <a:spcPct val="0"/>
              </a:spcAft>
              <a:defRPr>
                <a:solidFill>
                  <a:schemeClr val="tx1"/>
                </a:solidFill>
                <a:latin typeface="+mn-lt"/>
                <a:ea typeface="MS PGothic" panose="020B0600070205080204" pitchFamily="34" charset="-128"/>
                <a:cs typeface="+mn-cs"/>
              </a:defRPr>
            </a:lvl2pPr>
            <a:lvl3pPr marL="914400" algn="l" rtl="0" eaLnBrk="0" fontAlgn="base" hangingPunct="0">
              <a:spcBef>
                <a:spcPct val="20000"/>
              </a:spcBef>
              <a:spcAft>
                <a:spcPct val="0"/>
              </a:spcAft>
              <a:defRPr>
                <a:solidFill>
                  <a:schemeClr val="tx1"/>
                </a:solidFill>
                <a:latin typeface="+mn-lt"/>
                <a:ea typeface="MS PGothic" panose="020B0600070205080204" pitchFamily="34" charset="-128"/>
                <a:cs typeface="+mn-cs"/>
              </a:defRPr>
            </a:lvl3pPr>
            <a:lvl4pPr marL="1371600" algn="l" rtl="0" eaLnBrk="0" fontAlgn="base" hangingPunct="0">
              <a:spcBef>
                <a:spcPct val="20000"/>
              </a:spcBef>
              <a:spcAft>
                <a:spcPct val="0"/>
              </a:spcAft>
              <a:defRPr>
                <a:solidFill>
                  <a:schemeClr val="tx1"/>
                </a:solidFill>
                <a:latin typeface="+mn-lt"/>
                <a:ea typeface="MS PGothic" panose="020B0600070205080204" pitchFamily="34" charset="-128"/>
                <a:cs typeface="+mn-cs"/>
              </a:defRPr>
            </a:lvl4pPr>
            <a:lvl5pPr marL="1828800" algn="l" rtl="0" eaLnBrk="0" fontAlgn="base" hangingPunct="0">
              <a:spcBef>
                <a:spcPct val="20000"/>
              </a:spcBef>
              <a:spcAft>
                <a:spcPct val="0"/>
              </a:spcAft>
              <a:defRPr>
                <a:solidFill>
                  <a:schemeClr val="tx1"/>
                </a:solidFill>
                <a:latin typeface="+mn-lt"/>
                <a:ea typeface="MS PGothic" panose="020B0600070205080204" pitchFamily="34" charset="-128"/>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defTabSz="914400"/>
            <a:r>
              <a:rPr lang="en-US" sz="5400" b="1" kern="0" dirty="0">
                <a:solidFill>
                  <a:srgbClr val="7030A0"/>
                </a:solidFill>
                <a:latin typeface="Adobe Devanagari" panose="02040503050201020203" pitchFamily="18" charset="0"/>
                <a:cs typeface="Adobe Devanagari" panose="02040503050201020203" pitchFamily="18" charset="0"/>
              </a:rPr>
              <a:t>PARTICULATE TECHNOLOGY</a:t>
            </a:r>
            <a:endParaRPr lang="en-IN" sz="5400" b="1" kern="0" dirty="0">
              <a:solidFill>
                <a:srgbClr val="7030A0"/>
              </a:solidFill>
              <a:latin typeface="Adobe Devanagari" panose="02040503050201020203" pitchFamily="18" charset="0"/>
              <a:cs typeface="Adobe Devanagari" panose="02040503050201020203" pitchFamily="18" charset="0"/>
            </a:endParaRPr>
          </a:p>
        </p:txBody>
      </p:sp>
      <p:sp>
        <p:nvSpPr>
          <p:cNvPr id="13" name="Subtitle 2"/>
          <p:cNvSpPr txBox="1">
            <a:spLocks/>
          </p:cNvSpPr>
          <p:nvPr/>
        </p:nvSpPr>
        <p:spPr>
          <a:xfrm>
            <a:off x="12490450" y="7464849"/>
            <a:ext cx="7426696" cy="326332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IN" sz="4000" b="1" u="sng" dirty="0">
                <a:solidFill>
                  <a:schemeClr val="accent4">
                    <a:lumMod val="50000"/>
                  </a:schemeClr>
                </a:solidFill>
                <a:latin typeface="Adobe Devanagari" panose="02040503050201020203" pitchFamily="18" charset="0"/>
                <a:cs typeface="Adobe Devanagari" panose="02040503050201020203" pitchFamily="18" charset="0"/>
              </a:rPr>
              <a:t>Course Coordinator</a:t>
            </a:r>
          </a:p>
          <a:p>
            <a:pPr>
              <a:spcBef>
                <a:spcPts val="0"/>
              </a:spcBef>
            </a:pPr>
            <a:r>
              <a:rPr lang="en-IN" sz="4000" b="1" dirty="0" err="1">
                <a:solidFill>
                  <a:schemeClr val="accent4">
                    <a:lumMod val="50000"/>
                  </a:schemeClr>
                </a:solidFill>
                <a:latin typeface="Adobe Devanagari" panose="02040503050201020203" pitchFamily="18" charset="0"/>
                <a:cs typeface="Adobe Devanagari" panose="02040503050201020203" pitchFamily="18" charset="0"/>
              </a:rPr>
              <a:t>Dr.</a:t>
            </a:r>
            <a:r>
              <a:rPr lang="en-IN" sz="4000" b="1" dirty="0">
                <a:solidFill>
                  <a:schemeClr val="accent4">
                    <a:lumMod val="50000"/>
                  </a:schemeClr>
                </a:solidFill>
                <a:latin typeface="Adobe Devanagari" panose="02040503050201020203" pitchFamily="18" charset="0"/>
                <a:cs typeface="Adobe Devanagari" panose="02040503050201020203" pitchFamily="18" charset="0"/>
              </a:rPr>
              <a:t> Vidya C </a:t>
            </a:r>
          </a:p>
          <a:p>
            <a:pPr>
              <a:spcBef>
                <a:spcPts val="0"/>
              </a:spcBef>
            </a:pPr>
            <a:r>
              <a:rPr lang="en-IN" sz="4000" b="1" dirty="0">
                <a:solidFill>
                  <a:schemeClr val="accent4">
                    <a:lumMod val="50000"/>
                  </a:schemeClr>
                </a:solidFill>
                <a:latin typeface="Adobe Devanagari" panose="02040503050201020203" pitchFamily="18" charset="0"/>
                <a:cs typeface="Adobe Devanagari" panose="02040503050201020203" pitchFamily="18" charset="0"/>
              </a:rPr>
              <a:t>Department of Chemical </a:t>
            </a:r>
            <a:r>
              <a:rPr lang="en-IN" sz="4000" b="1" dirty="0" err="1">
                <a:solidFill>
                  <a:schemeClr val="accent4">
                    <a:lumMod val="50000"/>
                  </a:schemeClr>
                </a:solidFill>
                <a:latin typeface="Adobe Devanagari" panose="02040503050201020203" pitchFamily="18" charset="0"/>
                <a:cs typeface="Adobe Devanagari" panose="02040503050201020203" pitchFamily="18" charset="0"/>
              </a:rPr>
              <a:t>Engg</a:t>
            </a:r>
            <a:r>
              <a:rPr lang="en-IN" sz="4000" b="1" dirty="0">
                <a:solidFill>
                  <a:schemeClr val="accent4">
                    <a:lumMod val="50000"/>
                  </a:schemeClr>
                </a:solidFill>
                <a:latin typeface="Adobe Devanagari" panose="02040503050201020203" pitchFamily="18" charset="0"/>
                <a:cs typeface="Adobe Devanagari" panose="02040503050201020203" pitchFamily="18" charset="0"/>
              </a:rPr>
              <a:t>, RVCE</a:t>
            </a:r>
          </a:p>
          <a:p>
            <a:pPr>
              <a:spcBef>
                <a:spcPts val="0"/>
              </a:spcBef>
            </a:pPr>
            <a:r>
              <a:rPr lang="en-IN" sz="4000" b="1" dirty="0">
                <a:solidFill>
                  <a:schemeClr val="accent4">
                    <a:lumMod val="50000"/>
                  </a:schemeClr>
                </a:solidFill>
                <a:latin typeface="Adobe Devanagari" panose="02040503050201020203" pitchFamily="18" charset="0"/>
                <a:cs typeface="Adobe Devanagari" panose="02040503050201020203" pitchFamily="18" charset="0"/>
                <a:hlinkClick r:id="rId4"/>
              </a:rPr>
              <a:t>vidyac@rvce.edu.in</a:t>
            </a: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a:p>
            <a:pPr>
              <a:spcBef>
                <a:spcPts val="0"/>
              </a:spcBef>
            </a:pPr>
            <a:r>
              <a:rPr lang="en-IN" sz="4000" b="1" dirty="0">
                <a:solidFill>
                  <a:schemeClr val="accent4">
                    <a:lumMod val="50000"/>
                  </a:schemeClr>
                </a:solidFill>
                <a:latin typeface="Adobe Devanagari" panose="02040503050201020203" pitchFamily="18" charset="0"/>
                <a:cs typeface="Adobe Devanagari" panose="02040503050201020203" pitchFamily="18" charset="0"/>
              </a:rPr>
              <a:t>Mob No:9620166222</a:t>
            </a:r>
          </a:p>
          <a:p>
            <a:pPr>
              <a:spcBef>
                <a:spcPts val="0"/>
              </a:spcBef>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3C172EF7-D053-3EC8-5A92-67D23271FD13}"/>
                  </a:ext>
                </a:extLst>
              </p:cNvPr>
              <p:cNvGraphicFramePr>
                <a:graphicFrameLocks noGrp="1"/>
              </p:cNvGraphicFramePr>
              <p:nvPr>
                <p:extLst>
                  <p:ext uri="{D42A27DB-BD31-4B8C-83A1-F6EECF244321}">
                    <p14:modId xmlns:p14="http://schemas.microsoft.com/office/powerpoint/2010/main" val="655170314"/>
                  </p:ext>
                </p:extLst>
              </p:nvPr>
            </p:nvGraphicFramePr>
            <p:xfrm>
              <a:off x="835026" y="2526442"/>
              <a:ext cx="18362040" cy="8070117"/>
            </p:xfrm>
            <a:graphic>
              <a:graphicData uri="http://schemas.openxmlformats.org/drawingml/2006/table">
                <a:tbl>
                  <a:tblPr>
                    <a:tableStyleId>{5C22544A-7EE6-4342-B048-85BDC9FD1C3A}</a:tableStyleId>
                  </a:tblPr>
                  <a:tblGrid>
                    <a:gridCol w="18362040">
                      <a:extLst>
                        <a:ext uri="{9D8B030D-6E8A-4147-A177-3AD203B41FA5}">
                          <a16:colId xmlns:a16="http://schemas.microsoft.com/office/drawing/2014/main" val="1239253962"/>
                        </a:ext>
                      </a:extLst>
                    </a:gridCol>
                  </a:tblGrid>
                  <a:tr h="8070117">
                    <a:tc>
                      <a:txBody>
                        <a:bodyPr/>
                        <a:lstStyle/>
                        <a:p>
                          <a:pPr marL="0" marR="0" lvl="0" indent="0" algn="just">
                            <a:spcBef>
                              <a:spcPts val="0"/>
                            </a:spcBef>
                            <a:spcAft>
                              <a:spcPts val="0"/>
                            </a:spcAft>
                            <a:buFont typeface="+mj-lt"/>
                            <a:buNone/>
                          </a:pPr>
                          <a:r>
                            <a:rPr lang="en-US" sz="2800" dirty="0">
                              <a:effectLst/>
                            </a:rPr>
                            <a:t>Mass Fraction </a:t>
                          </a:r>
                          <a14:m>
                            <m:oMath xmlns:m="http://schemas.openxmlformats.org/officeDocument/2006/math">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𝒙</m:t>
                                  </m:r>
                                </m:e>
                                <m:sub>
                                  <m:r>
                                    <a:rPr lang="en-US" sz="2800">
                                      <a:effectLst/>
                                      <a:latin typeface="Cambria Math" panose="02040503050406030204" pitchFamily="18" charset="0"/>
                                    </a:rPr>
                                    <m:t>𝒊</m:t>
                                  </m:r>
                                </m:sub>
                              </m:sSub>
                              <m:r>
                                <a:rPr lang="en-US" sz="2800">
                                  <a:effectLst/>
                                  <a:latin typeface="Cambria Math" panose="02040503050406030204" pitchFamily="18" charset="0"/>
                                </a:rPr>
                                <m:t>=</m:t>
                              </m:r>
                              <m:f>
                                <m:fPr>
                                  <m:ctrlPr>
                                    <a:rPr lang="en-US" sz="2800" i="1">
                                      <a:effectLst/>
                                      <a:latin typeface="Cambria Math" panose="02040503050406030204" pitchFamily="18" charset="0"/>
                                    </a:rPr>
                                  </m:ctrlPr>
                                </m:fPr>
                                <m:num>
                                  <m:r>
                                    <a:rPr lang="en-US" sz="2800">
                                      <a:effectLst/>
                                      <a:latin typeface="Cambria Math" panose="02040503050406030204" pitchFamily="18" charset="0"/>
                                    </a:rPr>
                                    <m:t>𝑰𝒏𝒅𝒊𝒗𝒊𝒅𝒖𝒂𝒍</m:t>
                                  </m:r>
                                  <m:r>
                                    <a:rPr lang="en-US" sz="2800">
                                      <a:effectLst/>
                                      <a:latin typeface="Cambria Math" panose="02040503050406030204" pitchFamily="18" charset="0"/>
                                    </a:rPr>
                                    <m:t> </m:t>
                                  </m:r>
                                  <m:r>
                                    <a:rPr lang="en-US" sz="2800">
                                      <a:effectLst/>
                                      <a:latin typeface="Cambria Math" panose="02040503050406030204" pitchFamily="18" charset="0"/>
                                    </a:rPr>
                                    <m:t>𝒘𝒆𝒊𝒈𝒉𝒕</m:t>
                                  </m:r>
                                </m:num>
                                <m:den>
                                  <m:r>
                                    <a:rPr lang="en-US" sz="2800">
                                      <a:effectLst/>
                                      <a:latin typeface="Cambria Math" panose="02040503050406030204" pitchFamily="18" charset="0"/>
                                    </a:rPr>
                                    <m:t>𝑻𝒐𝒕𝒂𝒍</m:t>
                                  </m:r>
                                  <m:r>
                                    <a:rPr lang="en-US" sz="2800">
                                      <a:effectLst/>
                                      <a:latin typeface="Cambria Math" panose="02040503050406030204" pitchFamily="18" charset="0"/>
                                    </a:rPr>
                                    <m:t> </m:t>
                                  </m:r>
                                  <m:r>
                                    <a:rPr lang="en-US" sz="2800">
                                      <a:effectLst/>
                                      <a:latin typeface="Cambria Math" panose="02040503050406030204" pitchFamily="18" charset="0"/>
                                    </a:rPr>
                                    <m:t>𝒘𝒆𝒊𝒈𝒉𝒕</m:t>
                                  </m:r>
                                </m:den>
                              </m:f>
                              <m:r>
                                <a:rPr lang="en-US" sz="2800">
                                  <a:effectLst/>
                                  <a:latin typeface="Cambria Math" panose="02040503050406030204" pitchFamily="18" charset="0"/>
                                </a:rPr>
                                <m:t> </m:t>
                              </m:r>
                            </m:oMath>
                          </a14:m>
                          <a:endParaRPr lang="en-US" sz="2800" dirty="0">
                            <a:effectLst/>
                          </a:endParaRPr>
                        </a:p>
                        <a:p>
                          <a:pPr marL="457200" marR="0" algn="just">
                            <a:spcBef>
                              <a:spcPts val="0"/>
                            </a:spcBef>
                            <a:spcAft>
                              <a:spcPts val="0"/>
                            </a:spcAft>
                          </a:pPr>
                          <a:r>
                            <a:rPr lang="en-US" sz="2800" dirty="0">
                              <a:effectLst/>
                            </a:rPr>
                            <a:t> </a:t>
                          </a:r>
                        </a:p>
                        <a:p>
                          <a:pPr marL="0" marR="0" lvl="0" indent="0" algn="just">
                            <a:spcBef>
                              <a:spcPts val="0"/>
                            </a:spcBef>
                            <a:spcAft>
                              <a:spcPts val="0"/>
                            </a:spcAft>
                            <a:buFont typeface="+mj-lt"/>
                            <a:buNone/>
                          </a:pPr>
                          <a:r>
                            <a:rPr lang="en-US" sz="2800" dirty="0">
                              <a:effectLst/>
                            </a:rPr>
                            <a:t>Volume surface mean diameter or </a:t>
                          </a:r>
                          <a14:m>
                            <m:oMath xmlns:m="http://schemas.openxmlformats.org/officeDocument/2006/math">
                              <m:r>
                                <a:rPr lang="en-US" sz="2800">
                                  <a:effectLst/>
                                  <a:latin typeface="Cambria Math" panose="02040503050406030204" pitchFamily="18" charset="0"/>
                                </a:rPr>
                                <m:t>𝑺𝒂𝒖𝒕𝒆𝒓</m:t>
                              </m:r>
                              <m:r>
                                <a:rPr lang="en-US" sz="2800">
                                  <a:effectLst/>
                                  <a:latin typeface="Cambria Math" panose="02040503050406030204" pitchFamily="18" charset="0"/>
                                </a:rPr>
                                <m:t> </m:t>
                              </m:r>
                              <m:r>
                                <a:rPr lang="en-US" sz="2800">
                                  <a:effectLst/>
                                  <a:latin typeface="Cambria Math" panose="02040503050406030204" pitchFamily="18" charset="0"/>
                                </a:rPr>
                                <m:t>𝒎𝒆𝒂𝒏</m:t>
                              </m:r>
                              <m:r>
                                <a:rPr lang="en-US" sz="2800">
                                  <a:effectLst/>
                                  <a:latin typeface="Cambria Math" panose="02040503050406030204" pitchFamily="18" charset="0"/>
                                </a:rPr>
                                <m:t> </m:t>
                              </m:r>
                              <m:r>
                                <a:rPr lang="en-US" sz="2800">
                                  <a:effectLst/>
                                  <a:latin typeface="Cambria Math" panose="02040503050406030204" pitchFamily="18" charset="0"/>
                                </a:rPr>
                                <m:t>𝒅𝒊𝒂𝒎𝒆𝒕𝒆𝒓</m:t>
                              </m:r>
                            </m:oMath>
                          </a14:m>
                          <a:r>
                            <a:rPr lang="en-US" sz="2800" dirty="0">
                              <a:effectLst/>
                            </a:rPr>
                            <a:t> </a:t>
                          </a:r>
                          <a14:m>
                            <m:oMath xmlns:m="http://schemas.openxmlformats.org/officeDocument/2006/math">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𝑫</m:t>
                                      </m:r>
                                    </m:e>
                                    <m:sub>
                                      <m:r>
                                        <a:rPr lang="en-US" sz="2800">
                                          <a:effectLst/>
                                          <a:latin typeface="Cambria Math" panose="02040503050406030204" pitchFamily="18" charset="0"/>
                                        </a:rPr>
                                        <m:t>𝒔</m:t>
                                      </m:r>
                                    </m:sub>
                                  </m:sSub>
                                </m:e>
                              </m:acc>
                            </m:oMath>
                          </a14:m>
                          <a:r>
                            <a:rPr lang="en-US" sz="2800" dirty="0">
                              <a:effectLst/>
                            </a:rPr>
                            <a:t> :</a:t>
                          </a:r>
                        </a:p>
                        <a:p>
                          <a:pPr marL="0" marR="0" lvl="0" indent="0" algn="just">
                            <a:spcBef>
                              <a:spcPts val="0"/>
                            </a:spcBef>
                            <a:spcAft>
                              <a:spcPts val="0"/>
                            </a:spcAft>
                            <a:buFont typeface="+mj-lt"/>
                            <a:buNone/>
                          </a:pPr>
                          <a14:m>
                            <m:oMathPara xmlns:m="http://schemas.openxmlformats.org/officeDocument/2006/math">
                              <m:oMathParaPr>
                                <m:jc m:val="centerGroup"/>
                              </m:oMathParaPr>
                              <m:oMath xmlns:m="http://schemas.openxmlformats.org/officeDocument/2006/math">
                                <m:r>
                                  <a:rPr lang="en-US" sz="2800">
                                    <a:effectLst/>
                                    <a:latin typeface="Cambria Math" panose="02040503050406030204" pitchFamily="18" charset="0"/>
                                  </a:rPr>
                                  <m:t>∴</m:t>
                                </m:r>
                                <m:r>
                                  <a:rPr lang="en-US" sz="2800">
                                    <a:effectLst/>
                                    <a:latin typeface="Cambria Math" panose="02040503050406030204" pitchFamily="18" charset="0"/>
                                  </a:rPr>
                                  <m:t>𝑆𝑎𝑢𝑡𝑒𝑟</m:t>
                                </m:r>
                                <m:r>
                                  <a:rPr lang="en-US" sz="2800">
                                    <a:effectLst/>
                                    <a:latin typeface="Cambria Math" panose="02040503050406030204" pitchFamily="18" charset="0"/>
                                  </a:rPr>
                                  <m:t> </m:t>
                                </m:r>
                                <m:r>
                                  <a:rPr lang="en-US" sz="2800">
                                    <a:effectLst/>
                                    <a:latin typeface="Cambria Math" panose="02040503050406030204" pitchFamily="18" charset="0"/>
                                  </a:rPr>
                                  <m:t>𝑚𝑒𝑎𝑛</m:t>
                                </m:r>
                                <m:r>
                                  <a:rPr lang="en-US" sz="2800">
                                    <a:effectLst/>
                                    <a:latin typeface="Cambria Math" panose="02040503050406030204" pitchFamily="18" charset="0"/>
                                  </a:rPr>
                                  <m:t> </m:t>
                                </m:r>
                                <m:r>
                                  <a:rPr lang="en-US" sz="2800">
                                    <a:effectLst/>
                                    <a:latin typeface="Cambria Math" panose="02040503050406030204" pitchFamily="18" charset="0"/>
                                  </a:rPr>
                                  <m:t>𝑑𝑖𝑎𝑚𝑒𝑡𝑒𝑟</m:t>
                                </m:r>
                                <m:r>
                                  <a:rPr lang="en-US" sz="2800">
                                    <a:effectLst/>
                                    <a:latin typeface="Cambria Math" panose="02040503050406030204" pitchFamily="18" charset="0"/>
                                  </a:rPr>
                                  <m:t> </m:t>
                                </m:r>
                                <m:r>
                                  <a:rPr lang="en-US" sz="2800">
                                    <a:effectLst/>
                                    <a:latin typeface="Cambria Math" panose="02040503050406030204" pitchFamily="18" charset="0"/>
                                  </a:rPr>
                                  <m:t>𝑜𝑟𝑣𝑜𝑙𝑢𝑚𝑒</m:t>
                                </m:r>
                                <m:r>
                                  <a:rPr lang="en-US" sz="2800">
                                    <a:effectLst/>
                                    <a:latin typeface="Cambria Math" panose="02040503050406030204" pitchFamily="18" charset="0"/>
                                  </a:rPr>
                                  <m:t> </m:t>
                                </m:r>
                                <m:r>
                                  <a:rPr lang="en-US" sz="2800">
                                    <a:effectLst/>
                                    <a:latin typeface="Cambria Math" panose="02040503050406030204" pitchFamily="18" charset="0"/>
                                  </a:rPr>
                                  <m:t>𝑚𝑒𝑎𝑛</m:t>
                                </m:r>
                                <m:r>
                                  <a:rPr lang="en-US" sz="2800">
                                    <a:effectLst/>
                                    <a:latin typeface="Cambria Math" panose="02040503050406030204" pitchFamily="18" charset="0"/>
                                  </a:rPr>
                                  <m:t> </m:t>
                                </m:r>
                                <m:r>
                                  <a:rPr lang="en-US" sz="2800">
                                    <a:effectLst/>
                                    <a:latin typeface="Cambria Math" panose="02040503050406030204" pitchFamily="18" charset="0"/>
                                  </a:rPr>
                                  <m:t>𝑑𝑖𝑎𝑚𝑒𝑡𝑒𝑟</m:t>
                                </m:r>
                                <m:r>
                                  <a:rPr lang="en-US" sz="2800">
                                    <a:effectLst/>
                                    <a:latin typeface="Cambria Math" panose="02040503050406030204" pitchFamily="18" charset="0"/>
                                  </a:rPr>
                                  <m:t> </m:t>
                                </m:r>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𝑠</m:t>
                                        </m:r>
                                      </m:sub>
                                    </m:sSub>
                                  </m:e>
                                </m:acc>
                                <m:r>
                                  <a:rPr lang="en-US" sz="2800">
                                    <a:effectLst/>
                                    <a:latin typeface="Cambria Math" panose="02040503050406030204" pitchFamily="18" charset="0"/>
                                  </a:rPr>
                                  <m:t>=</m:t>
                                </m:r>
                                <m:f>
                                  <m:fPr>
                                    <m:ctrlPr>
                                      <a:rPr lang="en-US" sz="2800" i="1">
                                        <a:effectLst/>
                                        <a:latin typeface="Cambria Math" panose="02040503050406030204" pitchFamily="18" charset="0"/>
                                      </a:rPr>
                                    </m:ctrlPr>
                                  </m:fPr>
                                  <m:num>
                                    <m:r>
                                      <a:rPr lang="en-US" sz="2800">
                                        <a:effectLst/>
                                        <a:latin typeface="Cambria Math" panose="02040503050406030204" pitchFamily="18" charset="0"/>
                                      </a:rPr>
                                      <m:t>1</m:t>
                                    </m:r>
                                  </m:num>
                                  <m:den>
                                    <m:nary>
                                      <m:naryPr>
                                        <m:chr m:val="∑"/>
                                        <m:limLoc m:val="undOvr"/>
                                        <m:ctrlPr>
                                          <a:rPr lang="en-US" sz="2800" i="1">
                                            <a:effectLst/>
                                            <a:latin typeface="Cambria Math" panose="02040503050406030204" pitchFamily="18" charset="0"/>
                                          </a:rPr>
                                        </m:ctrlPr>
                                      </m:naryPr>
                                      <m:sub>
                                        <m:r>
                                          <a:rPr lang="en-US" sz="2800">
                                            <a:effectLst/>
                                            <a:latin typeface="Cambria Math" panose="02040503050406030204" pitchFamily="18" charset="0"/>
                                          </a:rPr>
                                          <m:t>𝑖</m:t>
                                        </m:r>
                                        <m:r>
                                          <a:rPr lang="en-US" sz="2800">
                                            <a:effectLst/>
                                            <a:latin typeface="Cambria Math" panose="02040503050406030204" pitchFamily="18" charset="0"/>
                                          </a:rPr>
                                          <m:t>=1</m:t>
                                        </m:r>
                                      </m:sub>
                                      <m:sup>
                                        <m:r>
                                          <a:rPr lang="en-US" sz="2800">
                                            <a:effectLst/>
                                            <a:latin typeface="Cambria Math" panose="02040503050406030204" pitchFamily="18" charset="0"/>
                                          </a:rPr>
                                          <m:t>𝑖</m:t>
                                        </m:r>
                                        <m:r>
                                          <a:rPr lang="en-US" sz="2800">
                                            <a:effectLst/>
                                            <a:latin typeface="Cambria Math" panose="02040503050406030204" pitchFamily="18" charset="0"/>
                                          </a:rPr>
                                          <m:t>=</m:t>
                                        </m:r>
                                        <m:r>
                                          <a:rPr lang="en-US" sz="2800">
                                            <a:effectLst/>
                                            <a:latin typeface="Cambria Math" panose="02040503050406030204" pitchFamily="18" charset="0"/>
                                          </a:rPr>
                                          <m:t>𝑛</m:t>
                                        </m:r>
                                      </m:sup>
                                      <m:e>
                                        <m:f>
                                          <m:fPr>
                                            <m:ctrlPr>
                                              <a:rPr lang="en-US" sz="2800" i="1">
                                                <a:effectLst/>
                                                <a:latin typeface="Cambria Math" panose="02040503050406030204" pitchFamily="18" charset="0"/>
                                              </a:rPr>
                                            </m:ctrlPr>
                                          </m:fPr>
                                          <m:num>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num>
                                          <m:den>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𝑃𝑖</m:t>
                                                    </m:r>
                                                  </m:sub>
                                                </m:sSub>
                                              </m:e>
                                            </m:acc>
                                          </m:den>
                                        </m:f>
                                      </m:e>
                                    </m:nary>
                                  </m:den>
                                </m:f>
                              </m:oMath>
                            </m:oMathPara>
                          </a14:m>
                          <a:endParaRPr lang="en-US" sz="2800" dirty="0">
                            <a:effectLst/>
                          </a:endParaRPr>
                        </a:p>
                        <a:p>
                          <a:pPr marL="0" marR="0" algn="just">
                            <a:spcBef>
                              <a:spcPts val="0"/>
                            </a:spcBef>
                            <a:spcAft>
                              <a:spcPts val="0"/>
                            </a:spcAft>
                          </a:pPr>
                          <a:r>
                            <a:rPr lang="en-US" sz="2800" dirty="0">
                              <a:effectLst/>
                            </a:rPr>
                            <a:t> </a:t>
                          </a:r>
                        </a:p>
                        <a:p>
                          <a:pPr marL="0" marR="0" algn="just">
                            <a:spcBef>
                              <a:spcPts val="0"/>
                            </a:spcBef>
                            <a:spcAft>
                              <a:spcPts val="0"/>
                            </a:spcAft>
                          </a:pPr>
                          <a:r>
                            <a:rPr lang="en-US" sz="2800" dirty="0">
                              <a:effectLst/>
                            </a:rPr>
                            <a:t> Mass mean diameter </a:t>
                          </a:r>
                          <a14:m>
                            <m:oMath xmlns:m="http://schemas.openxmlformats.org/officeDocument/2006/math">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𝑫</m:t>
                                      </m:r>
                                    </m:e>
                                    <m:sub>
                                      <m:r>
                                        <a:rPr lang="en-US" sz="2800">
                                          <a:effectLst/>
                                          <a:latin typeface="Cambria Math" panose="02040503050406030204" pitchFamily="18" charset="0"/>
                                        </a:rPr>
                                        <m:t>𝒘</m:t>
                                      </m:r>
                                    </m:sub>
                                  </m:sSub>
                                </m:e>
                              </m:acc>
                              <m:r>
                                <a:rPr lang="en-GB" sz="2800" b="0" i="0" smtClean="0">
                                  <a:effectLst/>
                                  <a:latin typeface="Cambria Math" panose="02040503050406030204" pitchFamily="18" charset="0"/>
                                </a:rPr>
                                <m:t> :                            </m:t>
                              </m:r>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𝑤</m:t>
                                      </m:r>
                                    </m:sub>
                                  </m:sSub>
                                </m:e>
                              </m:acc>
                              <m:r>
                                <a:rPr lang="en-US" sz="2800">
                                  <a:effectLst/>
                                  <a:latin typeface="Cambria Math" panose="02040503050406030204" pitchFamily="18" charset="0"/>
                                </a:rPr>
                                <m:t>=</m:t>
                              </m:r>
                              <m:nary>
                                <m:naryPr>
                                  <m:chr m:val="∑"/>
                                  <m:limLoc m:val="undOvr"/>
                                  <m:ctrlPr>
                                    <a:rPr lang="en-US" sz="2800" i="1">
                                      <a:effectLst/>
                                      <a:latin typeface="Cambria Math" panose="02040503050406030204" pitchFamily="18" charset="0"/>
                                    </a:rPr>
                                  </m:ctrlPr>
                                </m:naryPr>
                                <m:sub>
                                  <m:r>
                                    <a:rPr lang="en-US" sz="2800">
                                      <a:effectLst/>
                                      <a:latin typeface="Cambria Math" panose="02040503050406030204" pitchFamily="18" charset="0"/>
                                    </a:rPr>
                                    <m:t>𝑖</m:t>
                                  </m:r>
                                  <m:r>
                                    <a:rPr lang="en-US" sz="2800">
                                      <a:effectLst/>
                                      <a:latin typeface="Cambria Math" panose="02040503050406030204" pitchFamily="18" charset="0"/>
                                    </a:rPr>
                                    <m:t>=1</m:t>
                                  </m:r>
                                </m:sub>
                                <m:sup>
                                  <m:r>
                                    <a:rPr lang="en-US" sz="2800">
                                      <a:effectLst/>
                                      <a:latin typeface="Cambria Math" panose="02040503050406030204" pitchFamily="18" charset="0"/>
                                    </a:rPr>
                                    <m:t>𝑖</m:t>
                                  </m:r>
                                  <m:r>
                                    <a:rPr lang="en-US" sz="2800">
                                      <a:effectLst/>
                                      <a:latin typeface="Cambria Math" panose="02040503050406030204" pitchFamily="18" charset="0"/>
                                    </a:rPr>
                                    <m:t>=</m:t>
                                  </m:r>
                                  <m:r>
                                    <a:rPr lang="en-US" sz="2800">
                                      <a:effectLst/>
                                      <a:latin typeface="Cambria Math" panose="02040503050406030204" pitchFamily="18" charset="0"/>
                                    </a:rPr>
                                    <m:t>𝑛</m:t>
                                  </m:r>
                                </m:sup>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e>
                              </m:nary>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𝑃𝑖</m:t>
                                      </m:r>
                                    </m:sub>
                                  </m:sSub>
                                </m:e>
                              </m:acc>
                            </m:oMath>
                          </a14:m>
                          <a:r>
                            <a:rPr lang="en-US" sz="2800" dirty="0">
                              <a:effectLst/>
                            </a:rPr>
                            <a:t> </a:t>
                          </a:r>
                        </a:p>
                        <a:p>
                          <a:pPr marL="0" marR="0" algn="ctr">
                            <a:spcBef>
                              <a:spcPts val="0"/>
                            </a:spcBef>
                            <a:spcAft>
                              <a:spcPts val="0"/>
                            </a:spcAft>
                          </a:pPr>
                          <a:r>
                            <a:rPr lang="en-US" sz="2800" dirty="0">
                              <a:effectLst/>
                            </a:rPr>
                            <a:t> </a:t>
                          </a:r>
                        </a:p>
                        <a:p>
                          <a:pPr marL="0" marR="0" algn="l">
                            <a:spcBef>
                              <a:spcPts val="0"/>
                            </a:spcBef>
                            <a:spcAft>
                              <a:spcPts val="0"/>
                            </a:spcAft>
                          </a:pPr>
                          <a:r>
                            <a:rPr lang="en-US" sz="2800" dirty="0">
                              <a:effectLst/>
                            </a:rPr>
                            <a:t>Volume mean diameter </a:t>
                          </a:r>
                          <a14:m>
                            <m:oMath xmlns:m="http://schemas.openxmlformats.org/officeDocument/2006/math">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𝑫</m:t>
                                      </m:r>
                                    </m:e>
                                    <m:sub>
                                      <m:r>
                                        <a:rPr lang="en-US" sz="2800">
                                          <a:effectLst/>
                                          <a:latin typeface="Cambria Math" panose="02040503050406030204" pitchFamily="18" charset="0"/>
                                        </a:rPr>
                                        <m:t>𝒗</m:t>
                                      </m:r>
                                    </m:sub>
                                  </m:sSub>
                                </m:e>
                              </m:acc>
                            </m:oMath>
                          </a14:m>
                          <a:r>
                            <a:rPr lang="en-US" sz="2800" dirty="0">
                              <a:effectLst/>
                            </a:rPr>
                            <a:t>:</a:t>
                          </a:r>
                          <a:r>
                            <a:rPr lang="en-US" sz="2800" baseline="0" dirty="0">
                              <a:effectLst/>
                            </a:rPr>
                            <a:t>            </a:t>
                          </a:r>
                          <a14:m>
                            <m:oMath xmlns:m="http://schemas.openxmlformats.org/officeDocument/2006/math">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𝑣</m:t>
                                      </m:r>
                                    </m:sub>
                                  </m:sSub>
                                </m:e>
                              </m:acc>
                              <m:r>
                                <a:rPr lang="en-US" sz="2800">
                                  <a:effectLst/>
                                  <a:latin typeface="Cambria Math" panose="02040503050406030204" pitchFamily="18" charset="0"/>
                                </a:rPr>
                                <m:t>=</m:t>
                              </m:r>
                              <m:sSup>
                                <m:sSupPr>
                                  <m:ctrlPr>
                                    <a:rPr lang="en-US" sz="2800" i="1">
                                      <a:effectLst/>
                                      <a:latin typeface="Cambria Math" panose="02040503050406030204" pitchFamily="18" charset="0"/>
                                    </a:rPr>
                                  </m:ctrlPr>
                                </m:sSupPr>
                                <m:e>
                                  <m:d>
                                    <m:dPr>
                                      <m:ctrlPr>
                                        <a:rPr lang="en-US" sz="2800" i="1">
                                          <a:effectLst/>
                                          <a:latin typeface="Cambria Math" panose="02040503050406030204" pitchFamily="18" charset="0"/>
                                        </a:rPr>
                                      </m:ctrlPr>
                                    </m:dPr>
                                    <m:e>
                                      <m:f>
                                        <m:fPr>
                                          <m:ctrlPr>
                                            <a:rPr lang="en-US" sz="2800" i="1">
                                              <a:effectLst/>
                                              <a:latin typeface="Cambria Math" panose="02040503050406030204" pitchFamily="18" charset="0"/>
                                            </a:rPr>
                                          </m:ctrlPr>
                                        </m:fPr>
                                        <m:num>
                                          <m:r>
                                            <a:rPr lang="en-US" sz="2800">
                                              <a:effectLst/>
                                              <a:latin typeface="Cambria Math" panose="02040503050406030204" pitchFamily="18" charset="0"/>
                                            </a:rPr>
                                            <m:t>1</m:t>
                                          </m:r>
                                        </m:num>
                                        <m:den>
                                          <m:nary>
                                            <m:naryPr>
                                              <m:chr m:val="∑"/>
                                              <m:limLoc m:val="undOvr"/>
                                              <m:ctrlPr>
                                                <a:rPr lang="en-US" sz="2800" i="1">
                                                  <a:effectLst/>
                                                  <a:latin typeface="Cambria Math" panose="02040503050406030204" pitchFamily="18" charset="0"/>
                                                </a:rPr>
                                              </m:ctrlPr>
                                            </m:naryPr>
                                            <m:sub>
                                              <m:r>
                                                <a:rPr lang="en-US" sz="2800">
                                                  <a:effectLst/>
                                                  <a:latin typeface="Cambria Math" panose="02040503050406030204" pitchFamily="18" charset="0"/>
                                                </a:rPr>
                                                <m:t>𝑖</m:t>
                                              </m:r>
                                              <m:r>
                                                <a:rPr lang="en-US" sz="2800">
                                                  <a:effectLst/>
                                                  <a:latin typeface="Cambria Math" panose="02040503050406030204" pitchFamily="18" charset="0"/>
                                                </a:rPr>
                                                <m:t>=1</m:t>
                                              </m:r>
                                            </m:sub>
                                            <m:sup>
                                              <m:r>
                                                <a:rPr lang="en-US" sz="2800">
                                                  <a:effectLst/>
                                                  <a:latin typeface="Cambria Math" panose="02040503050406030204" pitchFamily="18" charset="0"/>
                                                </a:rPr>
                                                <m:t>𝑖</m:t>
                                              </m:r>
                                              <m:r>
                                                <a:rPr lang="en-US" sz="2800">
                                                  <a:effectLst/>
                                                  <a:latin typeface="Cambria Math" panose="02040503050406030204" pitchFamily="18" charset="0"/>
                                                </a:rPr>
                                                <m:t>=</m:t>
                                              </m:r>
                                              <m:r>
                                                <a:rPr lang="en-US" sz="2800">
                                                  <a:effectLst/>
                                                  <a:latin typeface="Cambria Math" panose="02040503050406030204" pitchFamily="18" charset="0"/>
                                                </a:rPr>
                                                <m:t>𝑛</m:t>
                                              </m:r>
                                            </m:sup>
                                            <m:e>
                                              <m:f>
                                                <m:fPr>
                                                  <m:ctrlPr>
                                                    <a:rPr lang="en-US" sz="2800" i="1">
                                                      <a:effectLst/>
                                                      <a:latin typeface="Cambria Math" panose="02040503050406030204" pitchFamily="18" charset="0"/>
                                                    </a:rPr>
                                                  </m:ctrlPr>
                                                </m:fPr>
                                                <m:num>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num>
                                                <m:den>
                                                  <m:sSubSup>
                                                    <m:sSubSupPr>
                                                      <m:ctrlPr>
                                                        <a:rPr lang="en-US" sz="2800" i="1">
                                                          <a:effectLst/>
                                                          <a:latin typeface="Cambria Math" panose="02040503050406030204" pitchFamily="18" charset="0"/>
                                                        </a:rPr>
                                                      </m:ctrlPr>
                                                    </m:sSubSupPr>
                                                    <m:e>
                                                      <m:acc>
                                                        <m:accPr>
                                                          <m:chr m:val="̅"/>
                                                          <m:ctrlPr>
                                                            <a:rPr lang="en-US" sz="2800" i="1">
                                                              <a:effectLst/>
                                                              <a:latin typeface="Cambria Math" panose="02040503050406030204" pitchFamily="18" charset="0"/>
                                                            </a:rPr>
                                                          </m:ctrlPr>
                                                        </m:accPr>
                                                        <m:e>
                                                          <m:r>
                                                            <a:rPr lang="en-US" sz="2800">
                                                              <a:effectLst/>
                                                              <a:latin typeface="Cambria Math" panose="02040503050406030204" pitchFamily="18" charset="0"/>
                                                            </a:rPr>
                                                            <m:t>𝐷</m:t>
                                                          </m:r>
                                                        </m:e>
                                                      </m:acc>
                                                    </m:e>
                                                    <m:sub>
                                                      <m:r>
                                                        <a:rPr lang="en-US" sz="2800">
                                                          <a:effectLst/>
                                                          <a:latin typeface="Cambria Math" panose="02040503050406030204" pitchFamily="18" charset="0"/>
                                                        </a:rPr>
                                                        <m:t>𝑝𝑖</m:t>
                                                      </m:r>
                                                    </m:sub>
                                                    <m:sup>
                                                      <m:r>
                                                        <a:rPr lang="en-US" sz="2800">
                                                          <a:effectLst/>
                                                          <a:latin typeface="Cambria Math" panose="02040503050406030204" pitchFamily="18" charset="0"/>
                                                        </a:rPr>
                                                        <m:t>3</m:t>
                                                      </m:r>
                                                    </m:sup>
                                                  </m:sSubSup>
                                                </m:den>
                                              </m:f>
                                            </m:e>
                                          </m:nary>
                                        </m:den>
                                      </m:f>
                                    </m:e>
                                  </m:d>
                                </m:e>
                                <m:sup>
                                  <m:r>
                                    <a:rPr lang="en-US" sz="2800">
                                      <a:effectLst/>
                                      <a:latin typeface="Cambria Math" panose="02040503050406030204" pitchFamily="18" charset="0"/>
                                    </a:rPr>
                                    <m:t>1/3</m:t>
                                  </m:r>
                                </m:sup>
                              </m:sSup>
                              <m:r>
                                <a:rPr lang="en-US" sz="2800">
                                  <a:effectLst/>
                                  <a:latin typeface="Cambria Math" panose="02040503050406030204" pitchFamily="18" charset="0"/>
                                </a:rPr>
                                <m:t> </m:t>
                              </m:r>
                            </m:oMath>
                          </a14:m>
                          <a:endParaRPr lang="en-US" sz="2800" dirty="0">
                            <a:effectLst/>
                          </a:endParaRPr>
                        </a:p>
                        <a:p>
                          <a:pPr marL="457200" marR="0" algn="just">
                            <a:spcBef>
                              <a:spcPts val="0"/>
                            </a:spcBef>
                            <a:spcAft>
                              <a:spcPts val="0"/>
                            </a:spcAft>
                          </a:pPr>
                          <a:endParaRPr lang="en-US" sz="2800" dirty="0">
                            <a:effectLst/>
                          </a:endParaRPr>
                        </a:p>
                        <a:p>
                          <a:pPr marL="457200" marR="0" algn="just">
                            <a:spcBef>
                              <a:spcPts val="0"/>
                            </a:spcBef>
                            <a:spcAft>
                              <a:spcPts val="0"/>
                            </a:spcAft>
                          </a:pPr>
                          <a:endParaRPr lang="en-US" sz="2800" dirty="0">
                            <a:effectLst/>
                          </a:endParaRPr>
                        </a:p>
                        <a:p>
                          <a:pPr marL="457200" marR="0" algn="l">
                            <a:spcBef>
                              <a:spcPts val="0"/>
                            </a:spcBef>
                            <a:spcAft>
                              <a:spcPts val="0"/>
                            </a:spcAft>
                          </a:pPr>
                          <a:r>
                            <a:rPr lang="en-US" sz="2800" dirty="0">
                              <a:effectLst/>
                            </a:rPr>
                            <a:t>Number of particles in the mixture:</a:t>
                          </a:r>
                          <a:r>
                            <a:rPr lang="en-US" sz="2800" baseline="0" dirty="0">
                              <a:effectLst/>
                            </a:rPr>
                            <a:t>       </a:t>
                          </a:r>
                          <a14:m>
                            <m:oMath xmlns:m="http://schemas.openxmlformats.org/officeDocument/2006/math">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𝑁</m:t>
                                  </m:r>
                                  <m:r>
                                    <a:rPr lang="en-US" sz="2800">
                                      <a:effectLst/>
                                      <a:latin typeface="Cambria Math" panose="02040503050406030204" pitchFamily="18" charset="0"/>
                                    </a:rPr>
                                    <m:t> </m:t>
                                  </m:r>
                                </m:e>
                                <m:sub>
                                  <m:r>
                                    <a:rPr lang="en-US" sz="2800">
                                      <a:effectLst/>
                                      <a:latin typeface="Cambria Math" panose="02040503050406030204" pitchFamily="18" charset="0"/>
                                    </a:rPr>
                                    <m:t>𝑊</m:t>
                                  </m:r>
                                </m:sub>
                              </m:sSub>
                              <m:r>
                                <a:rPr lang="en-US" sz="2800">
                                  <a:effectLst/>
                                  <a:latin typeface="Cambria Math" panose="02040503050406030204" pitchFamily="18" charset="0"/>
                                </a:rPr>
                                <m:t> </m:t>
                              </m:r>
                            </m:oMath>
                          </a14:m>
                          <a:r>
                            <a:rPr lang="en-US" sz="2800" dirty="0">
                              <a:effectLst/>
                            </a:rPr>
                            <a:t>= </a:t>
                          </a:r>
                          <a14:m>
                            <m:oMath xmlns:m="http://schemas.openxmlformats.org/officeDocument/2006/math">
                              <m:f>
                                <m:fPr>
                                  <m:ctrlPr>
                                    <a:rPr lang="en-US" sz="2800" i="1">
                                      <a:effectLst/>
                                      <a:latin typeface="Cambria Math" panose="02040503050406030204" pitchFamily="18" charset="0"/>
                                    </a:rPr>
                                  </m:ctrlPr>
                                </m:fPr>
                                <m:num>
                                  <m:r>
                                    <a:rPr lang="en-US" sz="2800">
                                      <a:effectLst/>
                                      <a:latin typeface="Cambria Math" panose="02040503050406030204" pitchFamily="18" charset="0"/>
                                    </a:rPr>
                                    <m:t>1 </m:t>
                                  </m:r>
                                </m:num>
                                <m:den>
                                  <m:r>
                                    <a:rPr lang="en-US" sz="2800">
                                      <a:effectLst/>
                                      <a:latin typeface="Cambria Math" panose="02040503050406030204" pitchFamily="18" charset="0"/>
                                    </a:rPr>
                                    <m:t>𝑎</m:t>
                                  </m:r>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m:t>
                                      </m:r>
                                    </m:e>
                                    <m:sub>
                                      <m:r>
                                        <a:rPr lang="en-US" sz="2800">
                                          <a:effectLst/>
                                          <a:latin typeface="Cambria Math" panose="02040503050406030204" pitchFamily="18" charset="0"/>
                                        </a:rPr>
                                        <m:t>𝑝</m:t>
                                      </m:r>
                                    </m:sub>
                                  </m:sSub>
                                </m:den>
                              </m:f>
                              <m:nary>
                                <m:naryPr>
                                  <m:chr m:val="∑"/>
                                  <m:limLoc m:val="undOvr"/>
                                  <m:ctrlPr>
                                    <a:rPr lang="en-US" sz="2800" i="1">
                                      <a:effectLst/>
                                      <a:latin typeface="Cambria Math" panose="02040503050406030204" pitchFamily="18" charset="0"/>
                                    </a:rPr>
                                  </m:ctrlPr>
                                </m:naryPr>
                                <m:sub>
                                  <m:r>
                                    <a:rPr lang="en-US" sz="2800">
                                      <a:effectLst/>
                                      <a:latin typeface="Cambria Math" panose="02040503050406030204" pitchFamily="18" charset="0"/>
                                    </a:rPr>
                                    <m:t>𝑖</m:t>
                                  </m:r>
                                  <m:r>
                                    <a:rPr lang="en-US" sz="2800">
                                      <a:effectLst/>
                                      <a:latin typeface="Cambria Math" panose="02040503050406030204" pitchFamily="18" charset="0"/>
                                    </a:rPr>
                                    <m:t>=1</m:t>
                                  </m:r>
                                </m:sub>
                                <m:sup>
                                  <m:r>
                                    <a:rPr lang="en-US" sz="2800">
                                      <a:effectLst/>
                                      <a:latin typeface="Cambria Math" panose="02040503050406030204" pitchFamily="18" charset="0"/>
                                    </a:rPr>
                                    <m:t>𝑖</m:t>
                                  </m:r>
                                  <m:r>
                                    <a:rPr lang="en-US" sz="2800">
                                      <a:effectLst/>
                                      <a:latin typeface="Cambria Math" panose="02040503050406030204" pitchFamily="18" charset="0"/>
                                    </a:rPr>
                                    <m:t>=</m:t>
                                  </m:r>
                                  <m:r>
                                    <a:rPr lang="en-US" sz="2800">
                                      <a:effectLst/>
                                      <a:latin typeface="Cambria Math" panose="02040503050406030204" pitchFamily="18" charset="0"/>
                                    </a:rPr>
                                    <m:t>𝑛</m:t>
                                  </m:r>
                                </m:sup>
                                <m:e>
                                  <m:f>
                                    <m:fPr>
                                      <m:ctrlPr>
                                        <a:rPr lang="en-US" sz="2800" i="1">
                                          <a:effectLst/>
                                          <a:latin typeface="Cambria Math" panose="02040503050406030204" pitchFamily="18" charset="0"/>
                                        </a:rPr>
                                      </m:ctrlPr>
                                    </m:fPr>
                                    <m:num>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num>
                                    <m:den>
                                      <m:acc>
                                        <m:accPr>
                                          <m:chr m:val="̅"/>
                                          <m:ctrlPr>
                                            <a:rPr lang="en-US" sz="2800" i="1">
                                              <a:effectLst/>
                                              <a:latin typeface="Cambria Math" panose="02040503050406030204" pitchFamily="18" charset="0"/>
                                            </a:rPr>
                                          </m:ctrlPr>
                                        </m:accPr>
                                        <m:e>
                                          <m:sSubSup>
                                            <m:sSubSupPr>
                                              <m:ctrlPr>
                                                <a:rPr lang="en-US" sz="2800" i="1">
                                                  <a:effectLst/>
                                                  <a:latin typeface="Cambria Math" panose="02040503050406030204" pitchFamily="18" charset="0"/>
                                                </a:rPr>
                                              </m:ctrlPr>
                                            </m:sSubSupPr>
                                            <m:e>
                                              <m:acc>
                                                <m:accPr>
                                                  <m:chr m:val="̅"/>
                                                  <m:ctrlPr>
                                                    <a:rPr lang="en-US" sz="2800" i="1">
                                                      <a:effectLst/>
                                                      <a:latin typeface="Cambria Math" panose="02040503050406030204" pitchFamily="18" charset="0"/>
                                                    </a:rPr>
                                                  </m:ctrlPr>
                                                </m:accPr>
                                                <m:e>
                                                  <m:r>
                                                    <a:rPr lang="en-US" sz="2800">
                                                      <a:effectLst/>
                                                      <a:latin typeface="Cambria Math" panose="02040503050406030204" pitchFamily="18" charset="0"/>
                                                    </a:rPr>
                                                    <m:t>𝐷</m:t>
                                                  </m:r>
                                                </m:e>
                                              </m:acc>
                                            </m:e>
                                            <m:sub>
                                              <m:r>
                                                <a:rPr lang="en-US" sz="2800">
                                                  <a:effectLst/>
                                                  <a:latin typeface="Cambria Math" panose="02040503050406030204" pitchFamily="18" charset="0"/>
                                                </a:rPr>
                                                <m:t>𝑝𝑖</m:t>
                                              </m:r>
                                            </m:sub>
                                            <m:sup>
                                              <m:r>
                                                <a:rPr lang="en-US" sz="2800">
                                                  <a:effectLst/>
                                                  <a:latin typeface="Cambria Math" panose="02040503050406030204" pitchFamily="18" charset="0"/>
                                                </a:rPr>
                                                <m:t>3</m:t>
                                              </m:r>
                                            </m:sup>
                                          </m:sSubSup>
                                        </m:e>
                                      </m:acc>
                                    </m:den>
                                  </m:f>
                                  <m:r>
                                    <a:rPr lang="en-US" sz="2800">
                                      <a:effectLst/>
                                      <a:latin typeface="Cambria Math" panose="02040503050406030204" pitchFamily="18" charset="0"/>
                                    </a:rPr>
                                    <m:t>= </m:t>
                                  </m:r>
                                  <m:f>
                                    <m:fPr>
                                      <m:ctrlPr>
                                        <a:rPr lang="en-US" sz="2800" i="1">
                                          <a:effectLst/>
                                          <a:latin typeface="Cambria Math" panose="02040503050406030204" pitchFamily="18" charset="0"/>
                                        </a:rPr>
                                      </m:ctrlPr>
                                    </m:fPr>
                                    <m:num>
                                      <m:r>
                                        <a:rPr lang="en-US" sz="2800">
                                          <a:effectLst/>
                                          <a:latin typeface="Cambria Math" panose="02040503050406030204" pitchFamily="18" charset="0"/>
                                        </a:rPr>
                                        <m:t>1 </m:t>
                                      </m:r>
                                    </m:num>
                                    <m:den>
                                      <m:r>
                                        <a:rPr lang="en-US" sz="2800">
                                          <a:effectLst/>
                                          <a:latin typeface="Cambria Math" panose="02040503050406030204" pitchFamily="18" charset="0"/>
                                        </a:rPr>
                                        <m:t>𝑎</m:t>
                                      </m:r>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m:t>
                                          </m:r>
                                        </m:e>
                                        <m:sub>
                                          <m:r>
                                            <a:rPr lang="en-US" sz="2800">
                                              <a:effectLst/>
                                              <a:latin typeface="Cambria Math" panose="02040503050406030204" pitchFamily="18" charset="0"/>
                                            </a:rPr>
                                            <m:t>𝑝</m:t>
                                          </m:r>
                                        </m:sub>
                                      </m:sSub>
                                      <m:sSubSup>
                                        <m:sSubSupPr>
                                          <m:ctrlPr>
                                            <a:rPr lang="en-US" sz="2800" i="1">
                                              <a:effectLst/>
                                              <a:latin typeface="Cambria Math" panose="02040503050406030204" pitchFamily="18" charset="0"/>
                                            </a:rPr>
                                          </m:ctrlPr>
                                        </m:sSubSupPr>
                                        <m:e>
                                          <m:acc>
                                            <m:accPr>
                                              <m:chr m:val="̅"/>
                                              <m:ctrlPr>
                                                <a:rPr lang="en-US" sz="2800" i="1">
                                                  <a:effectLst/>
                                                  <a:latin typeface="Cambria Math" panose="02040503050406030204" pitchFamily="18" charset="0"/>
                                                </a:rPr>
                                              </m:ctrlPr>
                                            </m:accPr>
                                            <m:e>
                                              <m:r>
                                                <a:rPr lang="en-US" sz="2800">
                                                  <a:effectLst/>
                                                  <a:latin typeface="Cambria Math" panose="02040503050406030204" pitchFamily="18" charset="0"/>
                                                </a:rPr>
                                                <m:t>𝐷</m:t>
                                              </m:r>
                                            </m:e>
                                          </m:acc>
                                        </m:e>
                                        <m:sub>
                                          <m:r>
                                            <a:rPr lang="en-US" sz="2800">
                                              <a:effectLst/>
                                              <a:latin typeface="Cambria Math" panose="02040503050406030204" pitchFamily="18" charset="0"/>
                                            </a:rPr>
                                            <m:t>𝑣</m:t>
                                          </m:r>
                                        </m:sub>
                                        <m:sup>
                                          <m:r>
                                            <a:rPr lang="en-US" sz="2800">
                                              <a:effectLst/>
                                              <a:latin typeface="Cambria Math" panose="02040503050406030204" pitchFamily="18" charset="0"/>
                                            </a:rPr>
                                            <m:t>3</m:t>
                                          </m:r>
                                        </m:sup>
                                      </m:sSubSup>
                                    </m:den>
                                  </m:f>
                                </m:e>
                              </m:nary>
                            </m:oMath>
                          </a14:m>
                          <a:r>
                            <a:rPr lang="en-US" sz="2800" dirty="0">
                              <a:effectLst/>
                            </a:rPr>
                            <a:t> </a:t>
                          </a:r>
                          <a:endParaRPr lang="en-US" sz="2800" dirty="0">
                            <a:effectLst/>
                            <a:latin typeface="Times New Roman" panose="02020603050405020304" pitchFamily="18" charset="0"/>
                            <a:ea typeface="Times New Roman" panose="02020603050405020304" pitchFamily="18" charset="0"/>
                          </a:endParaRPr>
                        </a:p>
                      </a:txBody>
                      <a:tcPr marL="53104" marR="53104" marT="0" marB="0"/>
                    </a:tc>
                    <a:extLst>
                      <a:ext uri="{0D108BD9-81ED-4DB2-BD59-A6C34878D82A}">
                        <a16:rowId xmlns:a16="http://schemas.microsoft.com/office/drawing/2014/main" val="3285356856"/>
                      </a:ext>
                    </a:extLst>
                  </a:tr>
                </a:tbl>
              </a:graphicData>
            </a:graphic>
          </p:graphicFrame>
        </mc:Choice>
        <mc:Fallback xmlns="">
          <p:graphicFrame>
            <p:nvGraphicFramePr>
              <p:cNvPr id="8" name="Table 7">
                <a:extLst>
                  <a:ext uri="{FF2B5EF4-FFF2-40B4-BE49-F238E27FC236}">
                    <a16:creationId xmlns:a16="http://schemas.microsoft.com/office/drawing/2014/main" id="{3C172EF7-D053-3EC8-5A92-67D23271FD13}"/>
                  </a:ext>
                </a:extLst>
              </p:cNvPr>
              <p:cNvGraphicFramePr>
                <a:graphicFrameLocks noGrp="1"/>
              </p:cNvGraphicFramePr>
              <p:nvPr>
                <p:extLst>
                  <p:ext uri="{D42A27DB-BD31-4B8C-83A1-F6EECF244321}">
                    <p14:modId xmlns:p14="http://schemas.microsoft.com/office/powerpoint/2010/main" val="655170314"/>
                  </p:ext>
                </p:extLst>
              </p:nvPr>
            </p:nvGraphicFramePr>
            <p:xfrm>
              <a:off x="835026" y="2526442"/>
              <a:ext cx="18362040" cy="8070117"/>
            </p:xfrm>
            <a:graphic>
              <a:graphicData uri="http://schemas.openxmlformats.org/drawingml/2006/table">
                <a:tbl>
                  <a:tblPr>
                    <a:tableStyleId>{5C22544A-7EE6-4342-B048-85BDC9FD1C3A}</a:tableStyleId>
                  </a:tblPr>
                  <a:tblGrid>
                    <a:gridCol w="18362040">
                      <a:extLst>
                        <a:ext uri="{9D8B030D-6E8A-4147-A177-3AD203B41FA5}">
                          <a16:colId xmlns:a16="http://schemas.microsoft.com/office/drawing/2014/main" val="1239253962"/>
                        </a:ext>
                      </a:extLst>
                    </a:gridCol>
                  </a:tblGrid>
                  <a:tr h="8070117">
                    <a:tc>
                      <a:txBody>
                        <a:bodyPr/>
                        <a:lstStyle/>
                        <a:p>
                          <a:endParaRPr lang="en-US"/>
                        </a:p>
                      </a:txBody>
                      <a:tcPr marL="53104" marR="53104" marT="0" marB="0">
                        <a:blipFill>
                          <a:blip r:embed="rId3"/>
                          <a:stretch>
                            <a:fillRect l="-33" t="-75" r="-66" b="-151"/>
                          </a:stretch>
                        </a:blipFill>
                      </a:tcPr>
                    </a:tc>
                    <a:extLst>
                      <a:ext uri="{0D108BD9-81ED-4DB2-BD59-A6C34878D82A}">
                        <a16:rowId xmlns:a16="http://schemas.microsoft.com/office/drawing/2014/main" val="3285356856"/>
                      </a:ext>
                    </a:extLst>
                  </a:tr>
                </a:tbl>
              </a:graphicData>
            </a:graphic>
          </p:graphicFrame>
        </mc:Fallback>
      </mc:AlternateContent>
      <p:sp>
        <p:nvSpPr>
          <p:cNvPr id="9" name="TextBox 8">
            <a:extLst>
              <a:ext uri="{FF2B5EF4-FFF2-40B4-BE49-F238E27FC236}">
                <a16:creationId xmlns:a16="http://schemas.microsoft.com/office/drawing/2014/main" id="{F5CA0176-E133-98B3-AEFE-D1C059EF869B}"/>
              </a:ext>
            </a:extLst>
          </p:cNvPr>
          <p:cNvSpPr txBox="1"/>
          <p:nvPr/>
        </p:nvSpPr>
        <p:spPr>
          <a:xfrm>
            <a:off x="2203178" y="1550219"/>
            <a:ext cx="10153128" cy="584775"/>
          </a:xfrm>
          <a:prstGeom prst="rect">
            <a:avLst/>
          </a:prstGeom>
          <a:noFill/>
        </p:spPr>
        <p:txBody>
          <a:bodyPr wrap="square" rtlCol="0">
            <a:spAutoFit/>
          </a:bodyPr>
          <a:lstStyle/>
          <a:p>
            <a:r>
              <a:rPr lang="en-GB" sz="3200" dirty="0"/>
              <a:t>Average Particle Size</a:t>
            </a:r>
            <a:endParaRPr lang="en-US" sz="3200" dirty="0"/>
          </a:p>
        </p:txBody>
      </p:sp>
    </p:spTree>
    <p:extLst>
      <p:ext uri="{BB962C8B-B14F-4D97-AF65-F5344CB8AC3E}">
        <p14:creationId xmlns:p14="http://schemas.microsoft.com/office/powerpoint/2010/main" val="1889970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sp>
        <p:nvSpPr>
          <p:cNvPr id="12" name="TextBox 11">
            <a:extLst>
              <a:ext uri="{FF2B5EF4-FFF2-40B4-BE49-F238E27FC236}">
                <a16:creationId xmlns:a16="http://schemas.microsoft.com/office/drawing/2014/main" id="{10911F75-F447-A1C8-11F0-199D8D02EB17}"/>
              </a:ext>
            </a:extLst>
          </p:cNvPr>
          <p:cNvSpPr txBox="1"/>
          <p:nvPr/>
        </p:nvSpPr>
        <p:spPr>
          <a:xfrm>
            <a:off x="1004888" y="1373189"/>
            <a:ext cx="18624226" cy="954107"/>
          </a:xfrm>
          <a:prstGeom prst="rect">
            <a:avLst/>
          </a:prstGeom>
          <a:noFill/>
        </p:spPr>
        <p:txBody>
          <a:bodyPr wrap="square">
            <a:spAutoFit/>
          </a:bodyPr>
          <a:lstStyle/>
          <a:p>
            <a:pPr marL="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Pb 1. Determine the Volume surface mean diameter, Volume mean diameter, specific surface area of a given powder sample using the data given in table. Density of particle is 2650 kg/m3 and sphericity is 0.7</a:t>
            </a:r>
          </a:p>
        </p:txBody>
      </p:sp>
      <p:graphicFrame>
        <p:nvGraphicFramePr>
          <p:cNvPr id="13" name="Table 12">
            <a:extLst>
              <a:ext uri="{FF2B5EF4-FFF2-40B4-BE49-F238E27FC236}">
                <a16:creationId xmlns:a16="http://schemas.microsoft.com/office/drawing/2014/main" id="{139D639F-157D-892A-2E5A-46142A1E87F6}"/>
              </a:ext>
            </a:extLst>
          </p:cNvPr>
          <p:cNvGraphicFramePr>
            <a:graphicFrameLocks noGrp="1"/>
          </p:cNvGraphicFramePr>
          <p:nvPr>
            <p:extLst>
              <p:ext uri="{D42A27DB-BD31-4B8C-83A1-F6EECF244321}">
                <p14:modId xmlns:p14="http://schemas.microsoft.com/office/powerpoint/2010/main" val="3239449675"/>
              </p:ext>
            </p:extLst>
          </p:nvPr>
        </p:nvGraphicFramePr>
        <p:xfrm>
          <a:off x="1245418" y="2689247"/>
          <a:ext cx="18277654" cy="3901533"/>
        </p:xfrm>
        <a:graphic>
          <a:graphicData uri="http://schemas.openxmlformats.org/drawingml/2006/table">
            <a:tbl>
              <a:tblPr firstRow="1" firstCol="1" lastRow="1" lastCol="1" bandRow="1" bandCol="1">
                <a:tableStyleId>{5C22544A-7EE6-4342-B048-85BDC9FD1C3A}</a:tableStyleId>
              </a:tblPr>
              <a:tblGrid>
                <a:gridCol w="2842752">
                  <a:extLst>
                    <a:ext uri="{9D8B030D-6E8A-4147-A177-3AD203B41FA5}">
                      <a16:colId xmlns:a16="http://schemas.microsoft.com/office/drawing/2014/main" val="2508823397"/>
                    </a:ext>
                  </a:extLst>
                </a:gridCol>
                <a:gridCol w="1394318">
                  <a:extLst>
                    <a:ext uri="{9D8B030D-6E8A-4147-A177-3AD203B41FA5}">
                      <a16:colId xmlns:a16="http://schemas.microsoft.com/office/drawing/2014/main" val="2503031961"/>
                    </a:ext>
                  </a:extLst>
                </a:gridCol>
                <a:gridCol w="1394318">
                  <a:extLst>
                    <a:ext uri="{9D8B030D-6E8A-4147-A177-3AD203B41FA5}">
                      <a16:colId xmlns:a16="http://schemas.microsoft.com/office/drawing/2014/main" val="995439645"/>
                    </a:ext>
                  </a:extLst>
                </a:gridCol>
                <a:gridCol w="1394318">
                  <a:extLst>
                    <a:ext uri="{9D8B030D-6E8A-4147-A177-3AD203B41FA5}">
                      <a16:colId xmlns:a16="http://schemas.microsoft.com/office/drawing/2014/main" val="339962858"/>
                    </a:ext>
                  </a:extLst>
                </a:gridCol>
                <a:gridCol w="1394318">
                  <a:extLst>
                    <a:ext uri="{9D8B030D-6E8A-4147-A177-3AD203B41FA5}">
                      <a16:colId xmlns:a16="http://schemas.microsoft.com/office/drawing/2014/main" val="1643485220"/>
                    </a:ext>
                  </a:extLst>
                </a:gridCol>
                <a:gridCol w="1394318">
                  <a:extLst>
                    <a:ext uri="{9D8B030D-6E8A-4147-A177-3AD203B41FA5}">
                      <a16:colId xmlns:a16="http://schemas.microsoft.com/office/drawing/2014/main" val="658363505"/>
                    </a:ext>
                  </a:extLst>
                </a:gridCol>
                <a:gridCol w="1394318">
                  <a:extLst>
                    <a:ext uri="{9D8B030D-6E8A-4147-A177-3AD203B41FA5}">
                      <a16:colId xmlns:a16="http://schemas.microsoft.com/office/drawing/2014/main" val="4054272905"/>
                    </a:ext>
                  </a:extLst>
                </a:gridCol>
                <a:gridCol w="1394318">
                  <a:extLst>
                    <a:ext uri="{9D8B030D-6E8A-4147-A177-3AD203B41FA5}">
                      <a16:colId xmlns:a16="http://schemas.microsoft.com/office/drawing/2014/main" val="3617383460"/>
                    </a:ext>
                  </a:extLst>
                </a:gridCol>
                <a:gridCol w="1394318">
                  <a:extLst>
                    <a:ext uri="{9D8B030D-6E8A-4147-A177-3AD203B41FA5}">
                      <a16:colId xmlns:a16="http://schemas.microsoft.com/office/drawing/2014/main" val="3065910678"/>
                    </a:ext>
                  </a:extLst>
                </a:gridCol>
                <a:gridCol w="1394318">
                  <a:extLst>
                    <a:ext uri="{9D8B030D-6E8A-4147-A177-3AD203B41FA5}">
                      <a16:colId xmlns:a16="http://schemas.microsoft.com/office/drawing/2014/main" val="2566082122"/>
                    </a:ext>
                  </a:extLst>
                </a:gridCol>
                <a:gridCol w="1491722">
                  <a:extLst>
                    <a:ext uri="{9D8B030D-6E8A-4147-A177-3AD203B41FA5}">
                      <a16:colId xmlns:a16="http://schemas.microsoft.com/office/drawing/2014/main" val="1143673945"/>
                    </a:ext>
                  </a:extLst>
                </a:gridCol>
                <a:gridCol w="1394318">
                  <a:extLst>
                    <a:ext uri="{9D8B030D-6E8A-4147-A177-3AD203B41FA5}">
                      <a16:colId xmlns:a16="http://schemas.microsoft.com/office/drawing/2014/main" val="1945374554"/>
                    </a:ext>
                  </a:extLst>
                </a:gridCol>
              </a:tblGrid>
              <a:tr h="1300511">
                <a:tc>
                  <a:txBody>
                    <a:bodyPr/>
                    <a:lstStyle/>
                    <a:p>
                      <a:pPr marL="0" marR="0" algn="just">
                        <a:spcBef>
                          <a:spcPts val="0"/>
                        </a:spcBef>
                        <a:spcAft>
                          <a:spcPts val="0"/>
                        </a:spcAft>
                      </a:pPr>
                      <a:r>
                        <a:rPr lang="en-US" sz="2800">
                          <a:effectLst/>
                        </a:rPr>
                        <a:t>Mesh No.</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8/10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10/14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14/20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20/28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28/35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35/48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48/65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58146714"/>
                  </a:ext>
                </a:extLst>
              </a:tr>
              <a:tr h="1300511">
                <a:tc>
                  <a:txBody>
                    <a:bodyPr/>
                    <a:lstStyle/>
                    <a:p>
                      <a:pPr marL="0" marR="0" algn="just">
                        <a:spcBef>
                          <a:spcPts val="0"/>
                        </a:spcBef>
                        <a:spcAft>
                          <a:spcPts val="0"/>
                        </a:spcAft>
                      </a:pPr>
                      <a:r>
                        <a:rPr lang="en-US" sz="2800">
                          <a:effectLst/>
                        </a:rPr>
                        <a:t>Screen opening</a:t>
                      </a:r>
                    </a:p>
                    <a:p>
                      <a:pPr marL="0" marR="0" algn="just">
                        <a:spcBef>
                          <a:spcPts val="0"/>
                        </a:spcBef>
                        <a:spcAft>
                          <a:spcPts val="0"/>
                        </a:spcAft>
                      </a:pPr>
                      <a:r>
                        <a:rPr lang="en-US" sz="2800">
                          <a:effectLst/>
                        </a:rPr>
                        <a:t>Dpi, mm</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4.699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dirty="0">
                          <a:effectLst/>
                        </a:rPr>
                        <a:t> </a:t>
                      </a:r>
                    </a:p>
                    <a:p>
                      <a:pPr marL="0" marR="0" algn="just">
                        <a:spcBef>
                          <a:spcPts val="0"/>
                        </a:spcBef>
                        <a:spcAft>
                          <a:spcPts val="0"/>
                        </a:spcAft>
                      </a:pPr>
                      <a:r>
                        <a:rPr lang="en-US" sz="2800" dirty="0">
                          <a:effectLst/>
                        </a:rPr>
                        <a:t>3.327</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2.362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1.651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1.168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0.833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0.589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0.417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0.295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0.208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0.208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2888737"/>
                  </a:ext>
                </a:extLst>
              </a:tr>
              <a:tr h="1300511">
                <a:tc>
                  <a:txBody>
                    <a:bodyPr/>
                    <a:lstStyle/>
                    <a:p>
                      <a:pPr marL="0" marR="0" algn="just">
                        <a:spcBef>
                          <a:spcPts val="0"/>
                        </a:spcBef>
                        <a:spcAft>
                          <a:spcPts val="0"/>
                        </a:spcAft>
                      </a:pPr>
                      <a:r>
                        <a:rPr lang="en-US" sz="2800">
                          <a:effectLst/>
                        </a:rPr>
                        <a:t>Mass fraction retained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0.031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0.103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0.186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0.152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0.120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0.095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a:effectLst/>
                        </a:rPr>
                        <a:t> </a:t>
                      </a:r>
                    </a:p>
                    <a:p>
                      <a:pPr marL="0" marR="0" algn="just">
                        <a:spcBef>
                          <a:spcPts val="0"/>
                        </a:spcBef>
                        <a:spcAft>
                          <a:spcPts val="0"/>
                        </a:spcAft>
                      </a:pPr>
                      <a:r>
                        <a:rPr lang="en-US" sz="2800">
                          <a:effectLst/>
                        </a:rPr>
                        <a:t>0.043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just">
                        <a:spcBef>
                          <a:spcPts val="0"/>
                        </a:spcBef>
                        <a:spcAft>
                          <a:spcPts val="0"/>
                        </a:spcAft>
                      </a:pPr>
                      <a:r>
                        <a:rPr lang="en-US" sz="2800" dirty="0">
                          <a:effectLst/>
                        </a:rPr>
                        <a:t> </a:t>
                      </a:r>
                    </a:p>
                    <a:p>
                      <a:pPr marL="0" marR="0" algn="just">
                        <a:spcBef>
                          <a:spcPts val="0"/>
                        </a:spcBef>
                        <a:spcAft>
                          <a:spcPts val="0"/>
                        </a:spcAft>
                      </a:pPr>
                      <a:r>
                        <a:rPr lang="en-US" sz="2800" dirty="0">
                          <a:effectLst/>
                        </a:rPr>
                        <a:t>0.005</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4507522"/>
                  </a:ext>
                </a:extLst>
              </a:tr>
            </a:tbl>
          </a:graphicData>
        </a:graphic>
      </p:graphicFrame>
    </p:spTree>
    <p:extLst>
      <p:ext uri="{BB962C8B-B14F-4D97-AF65-F5344CB8AC3E}">
        <p14:creationId xmlns:p14="http://schemas.microsoft.com/office/powerpoint/2010/main" val="2707872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dirty="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sp>
        <p:nvSpPr>
          <p:cNvPr id="9" name="TextBox 8">
            <a:extLst>
              <a:ext uri="{FF2B5EF4-FFF2-40B4-BE49-F238E27FC236}">
                <a16:creationId xmlns:a16="http://schemas.microsoft.com/office/drawing/2014/main" id="{D915CFB2-0EDA-EF49-0C79-ED4CAC2E12B8}"/>
              </a:ext>
            </a:extLst>
          </p:cNvPr>
          <p:cNvSpPr txBox="1"/>
          <p:nvPr/>
        </p:nvSpPr>
        <p:spPr>
          <a:xfrm>
            <a:off x="889204" y="1595269"/>
            <a:ext cx="18624226" cy="523220"/>
          </a:xfrm>
          <a:prstGeom prst="rect">
            <a:avLst/>
          </a:prstGeom>
          <a:noFill/>
        </p:spPr>
        <p:txBody>
          <a:bodyPr wrap="square">
            <a:spAutoFit/>
          </a:bodyPr>
          <a:lstStyle/>
          <a:p>
            <a:pPr marL="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Solution</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020D2E00-1030-2BD5-452B-609D37C7FB4F}"/>
                  </a:ext>
                </a:extLst>
              </p:cNvPr>
              <p:cNvGraphicFramePr>
                <a:graphicFrameLocks noGrp="1"/>
              </p:cNvGraphicFramePr>
              <p:nvPr>
                <p:extLst>
                  <p:ext uri="{D42A27DB-BD31-4B8C-83A1-F6EECF244321}">
                    <p14:modId xmlns:p14="http://schemas.microsoft.com/office/powerpoint/2010/main" val="1024853472"/>
                  </p:ext>
                </p:extLst>
              </p:nvPr>
            </p:nvGraphicFramePr>
            <p:xfrm>
              <a:off x="1221253" y="2118489"/>
              <a:ext cx="16711966" cy="7399222"/>
            </p:xfrm>
            <a:graphic>
              <a:graphicData uri="http://schemas.openxmlformats.org/drawingml/2006/table">
                <a:tbl>
                  <a:tblPr firstRow="1" firstCol="1" bandRow="1">
                    <a:tableStyleId>{5C22544A-7EE6-4342-B048-85BDC9FD1C3A}</a:tableStyleId>
                  </a:tblPr>
                  <a:tblGrid>
                    <a:gridCol w="1897182">
                      <a:extLst>
                        <a:ext uri="{9D8B030D-6E8A-4147-A177-3AD203B41FA5}">
                          <a16:colId xmlns:a16="http://schemas.microsoft.com/office/drawing/2014/main" val="2660604138"/>
                        </a:ext>
                      </a:extLst>
                    </a:gridCol>
                    <a:gridCol w="2687497">
                      <a:extLst>
                        <a:ext uri="{9D8B030D-6E8A-4147-A177-3AD203B41FA5}">
                          <a16:colId xmlns:a16="http://schemas.microsoft.com/office/drawing/2014/main" val="3784490724"/>
                        </a:ext>
                      </a:extLst>
                    </a:gridCol>
                    <a:gridCol w="3004048">
                      <a:extLst>
                        <a:ext uri="{9D8B030D-6E8A-4147-A177-3AD203B41FA5}">
                          <a16:colId xmlns:a16="http://schemas.microsoft.com/office/drawing/2014/main" val="2737571399"/>
                        </a:ext>
                      </a:extLst>
                    </a:gridCol>
                    <a:gridCol w="3463141">
                      <a:extLst>
                        <a:ext uri="{9D8B030D-6E8A-4147-A177-3AD203B41FA5}">
                          <a16:colId xmlns:a16="http://schemas.microsoft.com/office/drawing/2014/main" val="1748483340"/>
                        </a:ext>
                      </a:extLst>
                    </a:gridCol>
                    <a:gridCol w="2081657">
                      <a:extLst>
                        <a:ext uri="{9D8B030D-6E8A-4147-A177-3AD203B41FA5}">
                          <a16:colId xmlns:a16="http://schemas.microsoft.com/office/drawing/2014/main" val="1447956851"/>
                        </a:ext>
                      </a:extLst>
                    </a:gridCol>
                    <a:gridCol w="3578441">
                      <a:extLst>
                        <a:ext uri="{9D8B030D-6E8A-4147-A177-3AD203B41FA5}">
                          <a16:colId xmlns:a16="http://schemas.microsoft.com/office/drawing/2014/main" val="1000691754"/>
                        </a:ext>
                      </a:extLst>
                    </a:gridCol>
                  </a:tblGrid>
                  <a:tr h="727819">
                    <a:tc>
                      <a:txBody>
                        <a:bodyPr/>
                        <a:lstStyle/>
                        <a:p>
                          <a:pPr marL="0" marR="0" algn="just">
                            <a:spcBef>
                              <a:spcPts val="0"/>
                            </a:spcBef>
                            <a:spcAft>
                              <a:spcPts val="0"/>
                            </a:spcAft>
                          </a:pPr>
                          <a:r>
                            <a:rPr lang="en-US" sz="2800">
                              <a:effectLst/>
                            </a:rPr>
                            <a:t>Mesh no</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Screen opening (</a:t>
                          </a:r>
                          <a14:m>
                            <m:oMath xmlns:m="http://schemas.openxmlformats.org/officeDocument/2006/math">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𝑃</m:t>
                                  </m:r>
                                </m:sub>
                              </m:sSub>
                            </m:oMath>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Mass fraction (</a:t>
                          </a:r>
                          <a14:m>
                            <m:oMath xmlns:m="http://schemas.openxmlformats.org/officeDocument/2006/math">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r>
                                <a:rPr lang="en-US" sz="2800">
                                  <a:effectLst/>
                                  <a:latin typeface="Cambria Math" panose="02040503050406030204" pitchFamily="18" charset="0"/>
                                </a:rPr>
                                <m:t>)</m:t>
                              </m:r>
                            </m:oMath>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14:m>
                            <m:oMath xmlns:m="http://schemas.openxmlformats.org/officeDocument/2006/math">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𝑃𝑖</m:t>
                                      </m:r>
                                    </m:sub>
                                  </m:sSub>
                                </m:e>
                              </m:acc>
                            </m:oMath>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14:m>
                            <m:oMath xmlns:m="http://schemas.openxmlformats.org/officeDocument/2006/math">
                              <m:f>
                                <m:fPr>
                                  <m:ctrlPr>
                                    <a:rPr lang="en-US" sz="2800" i="1">
                                      <a:effectLst/>
                                      <a:latin typeface="Cambria Math" panose="02040503050406030204" pitchFamily="18" charset="0"/>
                                    </a:rPr>
                                  </m:ctrlPr>
                                </m:fPr>
                                <m:num>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num>
                                <m:den>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𝑃𝑖</m:t>
                                          </m:r>
                                        </m:sub>
                                      </m:sSub>
                                    </m:e>
                                  </m:acc>
                                </m:den>
                              </m:f>
                            </m:oMath>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14:m>
                            <m:oMath xmlns:m="http://schemas.openxmlformats.org/officeDocument/2006/math">
                              <m:f>
                                <m:fPr>
                                  <m:ctrlPr>
                                    <a:rPr lang="en-US" sz="2800" i="1">
                                      <a:effectLst/>
                                      <a:latin typeface="Cambria Math" panose="02040503050406030204" pitchFamily="18" charset="0"/>
                                    </a:rPr>
                                  </m:ctrlPr>
                                </m:fPr>
                                <m:num>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num>
                                <m:den>
                                  <m:sSubSup>
                                    <m:sSubSupPr>
                                      <m:ctrlPr>
                                        <a:rPr lang="en-US" sz="2800" i="1">
                                          <a:effectLst/>
                                          <a:latin typeface="Cambria Math" panose="02040503050406030204" pitchFamily="18" charset="0"/>
                                        </a:rPr>
                                      </m:ctrlPr>
                                    </m:sSubSupPr>
                                    <m:e>
                                      <m:acc>
                                        <m:accPr>
                                          <m:chr m:val="̅"/>
                                          <m:ctrlPr>
                                            <a:rPr lang="en-US" sz="2800" i="1">
                                              <a:effectLst/>
                                              <a:latin typeface="Cambria Math" panose="02040503050406030204" pitchFamily="18" charset="0"/>
                                            </a:rPr>
                                          </m:ctrlPr>
                                        </m:accPr>
                                        <m:e>
                                          <m:r>
                                            <a:rPr lang="en-US" sz="2800">
                                              <a:effectLst/>
                                              <a:latin typeface="Cambria Math" panose="02040503050406030204" pitchFamily="18" charset="0"/>
                                            </a:rPr>
                                            <m:t>𝐷</m:t>
                                          </m:r>
                                        </m:e>
                                      </m:acc>
                                    </m:e>
                                    <m:sub>
                                      <m:r>
                                        <a:rPr lang="en-US" sz="2800">
                                          <a:effectLst/>
                                          <a:latin typeface="Cambria Math" panose="02040503050406030204" pitchFamily="18" charset="0"/>
                                        </a:rPr>
                                        <m:t>𝑝𝑖</m:t>
                                      </m:r>
                                    </m:sub>
                                    <m:sup>
                                      <m:r>
                                        <a:rPr lang="en-US" sz="2800">
                                          <a:effectLst/>
                                          <a:latin typeface="Cambria Math" panose="02040503050406030204" pitchFamily="18" charset="0"/>
                                        </a:rPr>
                                        <m:t>3</m:t>
                                      </m:r>
                                    </m:sup>
                                  </m:sSubSup>
                                </m:den>
                              </m:f>
                            </m:oMath>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78894302"/>
                      </a:ext>
                    </a:extLst>
                  </a:tr>
                  <a:tr h="231104">
                    <a:tc>
                      <a:txBody>
                        <a:bodyPr/>
                        <a:lstStyle/>
                        <a:p>
                          <a:pPr marL="0" marR="0" algn="just">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4.699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endParaRPr lang="en-US" sz="2800">
                            <a:effectLst/>
                            <a:latin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2872516699"/>
                      </a:ext>
                    </a:extLst>
                  </a:tr>
                  <a:tr h="557943">
                    <a:tc>
                      <a:txBody>
                        <a:bodyPr/>
                        <a:lstStyle/>
                        <a:p>
                          <a:pPr marL="0" marR="0" algn="just">
                            <a:spcBef>
                              <a:spcPts val="0"/>
                            </a:spcBef>
                            <a:spcAft>
                              <a:spcPts val="0"/>
                            </a:spcAft>
                          </a:pPr>
                          <a:r>
                            <a:rPr lang="en-US" sz="2800">
                              <a:effectLst/>
                            </a:rPr>
                            <a:t>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dirty="0">
                              <a:effectLst/>
                            </a:rPr>
                            <a:t>3.327</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0.031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14:m>
                            <m:oMath xmlns:m="http://schemas.openxmlformats.org/officeDocument/2006/math">
                              <m:f>
                                <m:fPr>
                                  <m:ctrlPr>
                                    <a:rPr lang="en-US" sz="2800" i="1">
                                      <a:effectLst/>
                                      <a:latin typeface="Cambria Math" panose="02040503050406030204" pitchFamily="18" charset="0"/>
                                    </a:rPr>
                                  </m:ctrlPr>
                                </m:fPr>
                                <m:num>
                                  <m:r>
                                    <a:rPr lang="en-US" sz="2800">
                                      <a:effectLst/>
                                      <a:latin typeface="Cambria Math" panose="02040503050406030204" pitchFamily="18" charset="0"/>
                                    </a:rPr>
                                    <m:t>3.327+4.699</m:t>
                                  </m:r>
                                </m:num>
                                <m:den>
                                  <m:r>
                                    <a:rPr lang="en-US" sz="2800">
                                      <a:effectLst/>
                                      <a:latin typeface="Cambria Math" panose="02040503050406030204" pitchFamily="18" charset="0"/>
                                    </a:rPr>
                                    <m:t>2</m:t>
                                  </m:r>
                                </m:den>
                              </m:f>
                            </m:oMath>
                          </a14:m>
                          <a:r>
                            <a:rPr lang="en-US" sz="2800">
                              <a:effectLst/>
                            </a:rPr>
                            <a:t>=4.013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0.007725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0.00048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1592069178"/>
                      </a:ext>
                    </a:extLst>
                  </a:tr>
                  <a:tr h="557943">
                    <a:tc>
                      <a:txBody>
                        <a:bodyPr/>
                        <a:lstStyle/>
                        <a:p>
                          <a:pPr marL="0" marR="0" algn="just">
                            <a:spcBef>
                              <a:spcPts val="0"/>
                            </a:spcBef>
                            <a:spcAft>
                              <a:spcPts val="0"/>
                            </a:spcAft>
                          </a:pPr>
                          <a:r>
                            <a:rPr lang="en-US" sz="2800">
                              <a:effectLst/>
                            </a:rPr>
                            <a:t>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2.362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14:m>
                            <m:oMath xmlns:m="http://schemas.openxmlformats.org/officeDocument/2006/math">
                              <m:f>
                                <m:fPr>
                                  <m:ctrlPr>
                                    <a:rPr lang="en-US" sz="2800" i="1">
                                      <a:effectLst/>
                                      <a:latin typeface="Cambria Math" panose="02040503050406030204" pitchFamily="18" charset="0"/>
                                    </a:rPr>
                                  </m:ctrlPr>
                                </m:fPr>
                                <m:num>
                                  <m:r>
                                    <a:rPr lang="en-US" sz="2800">
                                      <a:effectLst/>
                                      <a:latin typeface="Cambria Math" panose="02040503050406030204" pitchFamily="18" charset="0"/>
                                    </a:rPr>
                                    <m:t>2.362+3.327</m:t>
                                  </m:r>
                                </m:num>
                                <m:den>
                                  <m:r>
                                    <a:rPr lang="en-US" sz="2800">
                                      <a:effectLst/>
                                      <a:latin typeface="Cambria Math" panose="02040503050406030204" pitchFamily="18" charset="0"/>
                                    </a:rPr>
                                    <m:t>2</m:t>
                                  </m:r>
                                </m:den>
                              </m:f>
                            </m:oMath>
                          </a14:m>
                          <a:r>
                            <a:rPr lang="en-US" sz="2800" dirty="0">
                              <a:effectLst/>
                            </a:rPr>
                            <a:t> = 2.8445</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0.03621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0.004475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3659812468"/>
                      </a:ext>
                    </a:extLst>
                  </a:tr>
                  <a:tr h="462210">
                    <a:tc>
                      <a:txBody>
                        <a:bodyPr/>
                        <a:lstStyle/>
                        <a:p>
                          <a:pPr marL="0" marR="0" algn="just">
                            <a:spcBef>
                              <a:spcPts val="0"/>
                            </a:spcBef>
                            <a:spcAft>
                              <a:spcPts val="0"/>
                            </a:spcAft>
                          </a:pPr>
                          <a:r>
                            <a:rPr lang="en-US" sz="2800">
                              <a:effectLst/>
                            </a:rPr>
                            <a:t>8/10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1.651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2.0065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0.099676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0.024758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3687776760"/>
                      </a:ext>
                    </a:extLst>
                  </a:tr>
                  <a:tr h="462210">
                    <a:tc>
                      <a:txBody>
                        <a:bodyPr/>
                        <a:lstStyle/>
                        <a:p>
                          <a:pPr marL="0" marR="0" algn="just">
                            <a:spcBef>
                              <a:spcPts val="0"/>
                            </a:spcBef>
                            <a:spcAft>
                              <a:spcPts val="0"/>
                            </a:spcAft>
                          </a:pPr>
                          <a:r>
                            <a:rPr lang="en-US" sz="2800">
                              <a:effectLst/>
                            </a:rPr>
                            <a:t>10/12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1.168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0.186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1.4095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0.131962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0.066423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1363538603"/>
                      </a:ext>
                    </a:extLst>
                  </a:tr>
                  <a:tr h="462210">
                    <a:tc>
                      <a:txBody>
                        <a:bodyPr/>
                        <a:lstStyle/>
                        <a:p>
                          <a:pPr marL="0" marR="0" algn="just">
                            <a:spcBef>
                              <a:spcPts val="0"/>
                            </a:spcBef>
                            <a:spcAft>
                              <a:spcPts val="0"/>
                            </a:spcAft>
                          </a:pPr>
                          <a:r>
                            <a:rPr lang="en-US" sz="2800">
                              <a:effectLst/>
                            </a:rPr>
                            <a:t>14/20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0.833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0.152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0.151924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0.151772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864630570"/>
                      </a:ext>
                    </a:extLst>
                  </a:tr>
                  <a:tr h="462210">
                    <a:tc>
                      <a:txBody>
                        <a:bodyPr/>
                        <a:lstStyle/>
                        <a:p>
                          <a:pPr marL="0" marR="0" algn="just">
                            <a:spcBef>
                              <a:spcPts val="0"/>
                            </a:spcBef>
                            <a:spcAft>
                              <a:spcPts val="0"/>
                            </a:spcAft>
                          </a:pPr>
                          <a:r>
                            <a:rPr lang="en-US" sz="2800">
                              <a:effectLst/>
                            </a:rPr>
                            <a:t>20/28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0.589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0.711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0.168776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0.333866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4287142615"/>
                      </a:ext>
                    </a:extLst>
                  </a:tr>
                  <a:tr h="462210">
                    <a:tc>
                      <a:txBody>
                        <a:bodyPr/>
                        <a:lstStyle/>
                        <a:p>
                          <a:pPr marL="0" marR="0" algn="just">
                            <a:spcBef>
                              <a:spcPts val="0"/>
                            </a:spcBef>
                            <a:spcAft>
                              <a:spcPts val="0"/>
                            </a:spcAft>
                          </a:pPr>
                          <a:r>
                            <a:rPr lang="en-US" sz="2800">
                              <a:effectLst/>
                            </a:rPr>
                            <a:t>28/35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0.417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0.503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0.188867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0.746483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4123266403"/>
                      </a:ext>
                    </a:extLst>
                  </a:tr>
                  <a:tr h="462210">
                    <a:tc>
                      <a:txBody>
                        <a:bodyPr/>
                        <a:lstStyle/>
                        <a:p>
                          <a:pPr marL="0" marR="0" algn="just">
                            <a:spcBef>
                              <a:spcPts val="0"/>
                            </a:spcBef>
                            <a:spcAft>
                              <a:spcPts val="0"/>
                            </a:spcAft>
                          </a:pPr>
                          <a:r>
                            <a:rPr lang="en-US" sz="2800">
                              <a:effectLst/>
                            </a:rPr>
                            <a:t>35/48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0.356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0.182584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1.440666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1539539352"/>
                      </a:ext>
                    </a:extLst>
                  </a:tr>
                  <a:tr h="462210">
                    <a:tc>
                      <a:txBody>
                        <a:bodyPr/>
                        <a:lstStyle/>
                        <a:p>
                          <a:pPr marL="0" marR="0" algn="just">
                            <a:spcBef>
                              <a:spcPts val="0"/>
                            </a:spcBef>
                            <a:spcAft>
                              <a:spcPts val="0"/>
                            </a:spcAft>
                          </a:pPr>
                          <a:r>
                            <a:rPr lang="en-US" sz="2800">
                              <a:effectLst/>
                            </a:rPr>
                            <a:t>48/65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0.208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0.043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0.2515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0.170974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2.703053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4133824406"/>
                      </a:ext>
                    </a:extLst>
                  </a:tr>
                  <a:tr h="462210">
                    <a:tc>
                      <a:txBody>
                        <a:bodyPr/>
                        <a:lstStyle/>
                        <a:p>
                          <a:pPr marL="0" marR="0" algn="just">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0.208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0.208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0.024038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0.555623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1014133699"/>
                      </a:ext>
                    </a:extLst>
                  </a:tr>
                  <a:tr h="889032">
                    <a:tc>
                      <a:txBody>
                        <a:bodyPr/>
                        <a:lstStyle/>
                        <a:p>
                          <a:endParaRPr lang="en-US" sz="2800" dirty="0">
                            <a:effectLst/>
                            <a:latin typeface="Times New Roman" panose="02020603050405020304" pitchFamily="18" charset="0"/>
                          </a:endParaRPr>
                        </a:p>
                      </a:txBody>
                      <a:tcPr marL="29554" marR="29554" marT="0" marB="0"/>
                    </a:tc>
                    <a:tc>
                      <a:txBody>
                        <a:bodyPr/>
                        <a:lstStyle/>
                        <a:p>
                          <a:endParaRPr lang="en-US" sz="2800">
                            <a:effectLst/>
                            <a:latin typeface="Times New Roman" panose="02020603050405020304" pitchFamily="18" charset="0"/>
                          </a:endParaRPr>
                        </a:p>
                      </a:txBody>
                      <a:tcPr marL="29554" marR="29554" marT="0" marB="0"/>
                    </a:tc>
                    <a:tc>
                      <a:txBody>
                        <a:bodyPr/>
                        <a:lstStyle/>
                        <a:p>
                          <a:endParaRPr lang="en-US" sz="2800">
                            <a:effectLst/>
                            <a:latin typeface="Times New Roman" panose="02020603050405020304" pitchFamily="18" charset="0"/>
                          </a:endParaRPr>
                        </a:p>
                      </a:txBody>
                      <a:tcPr marL="29554" marR="29554" marT="0" marB="0"/>
                    </a:tc>
                    <a:tc gridSpan="2">
                      <a:txBody>
                        <a:bodyPr/>
                        <a:lstStyle/>
                        <a:p>
                          <a:pPr marL="0" marR="0" algn="just">
                            <a:spcBef>
                              <a:spcPts val="0"/>
                            </a:spcBef>
                            <a:spcAft>
                              <a:spcPts val="0"/>
                            </a:spcAft>
                          </a:pPr>
                          <a:r>
                            <a:rPr lang="en-US" sz="2800">
                              <a:effectLst/>
                            </a:rPr>
                            <a:t> </a:t>
                          </a:r>
                          <a14:m>
                            <m:oMath xmlns:m="http://schemas.openxmlformats.org/officeDocument/2006/math">
                              <m:r>
                                <a:rPr lang="en-US" sz="2800">
                                  <a:effectLst/>
                                  <a:latin typeface="Cambria Math" panose="02040503050406030204" pitchFamily="18" charset="0"/>
                                </a:rPr>
                                <m:t>               </m:t>
                              </m:r>
                              <m:nary>
                                <m:naryPr>
                                  <m:chr m:val="∑"/>
                                  <m:limLoc m:val="undOvr"/>
                                  <m:ctrlPr>
                                    <a:rPr lang="en-US" sz="2800" i="1">
                                      <a:effectLst/>
                                      <a:latin typeface="Cambria Math" panose="02040503050406030204" pitchFamily="18" charset="0"/>
                                    </a:rPr>
                                  </m:ctrlPr>
                                </m:naryPr>
                                <m:sub>
                                  <m:r>
                                    <a:rPr lang="en-US" sz="2800">
                                      <a:effectLst/>
                                      <a:latin typeface="Cambria Math" panose="02040503050406030204" pitchFamily="18" charset="0"/>
                                    </a:rPr>
                                    <m:t>𝑖</m:t>
                                  </m:r>
                                  <m:r>
                                    <a:rPr lang="en-US" sz="2800">
                                      <a:effectLst/>
                                      <a:latin typeface="Cambria Math" panose="02040503050406030204" pitchFamily="18" charset="0"/>
                                    </a:rPr>
                                    <m:t>=1</m:t>
                                  </m:r>
                                </m:sub>
                                <m:sup>
                                  <m:r>
                                    <a:rPr lang="en-US" sz="2800">
                                      <a:effectLst/>
                                      <a:latin typeface="Cambria Math" panose="02040503050406030204" pitchFamily="18" charset="0"/>
                                    </a:rPr>
                                    <m:t>𝑖</m:t>
                                  </m:r>
                                  <m:r>
                                    <a:rPr lang="en-US" sz="2800">
                                      <a:effectLst/>
                                      <a:latin typeface="Cambria Math" panose="02040503050406030204" pitchFamily="18" charset="0"/>
                                    </a:rPr>
                                    <m:t>=</m:t>
                                  </m:r>
                                  <m:r>
                                    <a:rPr lang="en-US" sz="2800">
                                      <a:effectLst/>
                                      <a:latin typeface="Cambria Math" panose="02040503050406030204" pitchFamily="18" charset="0"/>
                                    </a:rPr>
                                    <m:t>𝑛</m:t>
                                  </m:r>
                                </m:sup>
                                <m:e>
                                  <m:f>
                                    <m:fPr>
                                      <m:ctrlPr>
                                        <a:rPr lang="en-US" sz="2800" i="1">
                                          <a:effectLst/>
                                          <a:latin typeface="Cambria Math" panose="02040503050406030204" pitchFamily="18" charset="0"/>
                                        </a:rPr>
                                      </m:ctrlPr>
                                    </m:fPr>
                                    <m:num>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num>
                                    <m:den>
                                      <m:acc>
                                        <m:accPr>
                                          <m:chr m:val="̅"/>
                                          <m:ctrlPr>
                                            <a:rPr lang="en-US" sz="2800" i="1">
                                              <a:effectLst/>
                                              <a:latin typeface="Cambria Math" panose="02040503050406030204" pitchFamily="18" charset="0"/>
                                            </a:rPr>
                                          </m:ctrlPr>
                                        </m:accPr>
                                        <m:e>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𝐷</m:t>
                                              </m:r>
                                            </m:e>
                                            <m:sub>
                                              <m:r>
                                                <a:rPr lang="en-US" sz="2800">
                                                  <a:effectLst/>
                                                  <a:latin typeface="Cambria Math" panose="02040503050406030204" pitchFamily="18" charset="0"/>
                                                </a:rPr>
                                                <m:t>𝑃𝑖</m:t>
                                              </m:r>
                                            </m:sub>
                                          </m:sSub>
                                        </m:e>
                                      </m:acc>
                                    </m:den>
                                  </m:f>
                                </m:e>
                              </m:nary>
                            </m:oMath>
                          </a14:m>
                          <a:r>
                            <a:rPr lang="en-US" sz="2800">
                              <a:effectLst/>
                            </a:rPr>
                            <a:t> =1.162737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hMerge="1">
                      <a:txBody>
                        <a:bodyPr/>
                        <a:lstStyle/>
                        <a:p>
                          <a:endParaRPr lang="en-US"/>
                        </a:p>
                      </a:txBody>
                      <a:tcPr/>
                    </a:tc>
                    <a:tc>
                      <a:txBody>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nary>
                                  <m:naryPr>
                                    <m:chr m:val="∑"/>
                                    <m:limLoc m:val="undOvr"/>
                                    <m:ctrlPr>
                                      <a:rPr lang="en-US" sz="2800" i="1">
                                        <a:effectLst/>
                                        <a:latin typeface="Cambria Math" panose="02040503050406030204" pitchFamily="18" charset="0"/>
                                      </a:rPr>
                                    </m:ctrlPr>
                                  </m:naryPr>
                                  <m:sub>
                                    <m:r>
                                      <a:rPr lang="en-US" sz="2800">
                                        <a:effectLst/>
                                        <a:latin typeface="Cambria Math" panose="02040503050406030204" pitchFamily="18" charset="0"/>
                                      </a:rPr>
                                      <m:t>𝑖</m:t>
                                    </m:r>
                                    <m:r>
                                      <a:rPr lang="en-US" sz="2800">
                                        <a:effectLst/>
                                        <a:latin typeface="Cambria Math" panose="02040503050406030204" pitchFamily="18" charset="0"/>
                                      </a:rPr>
                                      <m:t>=1</m:t>
                                    </m:r>
                                  </m:sub>
                                  <m:sup>
                                    <m:r>
                                      <a:rPr lang="en-US" sz="2800">
                                        <a:effectLst/>
                                        <a:latin typeface="Cambria Math" panose="02040503050406030204" pitchFamily="18" charset="0"/>
                                      </a:rPr>
                                      <m:t>𝑖</m:t>
                                    </m:r>
                                    <m:r>
                                      <a:rPr lang="en-US" sz="2800">
                                        <a:effectLst/>
                                        <a:latin typeface="Cambria Math" panose="02040503050406030204" pitchFamily="18" charset="0"/>
                                      </a:rPr>
                                      <m:t>=</m:t>
                                    </m:r>
                                    <m:r>
                                      <a:rPr lang="en-US" sz="2800">
                                        <a:effectLst/>
                                        <a:latin typeface="Cambria Math" panose="02040503050406030204" pitchFamily="18" charset="0"/>
                                      </a:rPr>
                                      <m:t>𝑛</m:t>
                                    </m:r>
                                  </m:sup>
                                  <m:e>
                                    <m:f>
                                      <m:fPr>
                                        <m:ctrlPr>
                                          <a:rPr lang="en-US" sz="2800" i="1">
                                            <a:effectLst/>
                                            <a:latin typeface="Cambria Math" panose="02040503050406030204" pitchFamily="18" charset="0"/>
                                          </a:rPr>
                                        </m:ctrlPr>
                                      </m:fPr>
                                      <m:num>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𝑖</m:t>
                                            </m:r>
                                          </m:sub>
                                        </m:sSub>
                                      </m:num>
                                      <m:den>
                                        <m:sSubSup>
                                          <m:sSubSupPr>
                                            <m:ctrlPr>
                                              <a:rPr lang="en-US" sz="2800" i="1">
                                                <a:effectLst/>
                                                <a:latin typeface="Cambria Math" panose="02040503050406030204" pitchFamily="18" charset="0"/>
                                              </a:rPr>
                                            </m:ctrlPr>
                                          </m:sSubSupPr>
                                          <m:e>
                                            <m:acc>
                                              <m:accPr>
                                                <m:chr m:val="̅"/>
                                                <m:ctrlPr>
                                                  <a:rPr lang="en-US" sz="2800" i="1">
                                                    <a:effectLst/>
                                                    <a:latin typeface="Cambria Math" panose="02040503050406030204" pitchFamily="18" charset="0"/>
                                                  </a:rPr>
                                                </m:ctrlPr>
                                              </m:accPr>
                                              <m:e>
                                                <m:r>
                                                  <a:rPr lang="en-US" sz="2800">
                                                    <a:effectLst/>
                                                    <a:latin typeface="Cambria Math" panose="02040503050406030204" pitchFamily="18" charset="0"/>
                                                  </a:rPr>
                                                  <m:t>𝐷</m:t>
                                                </m:r>
                                              </m:e>
                                            </m:acc>
                                          </m:e>
                                          <m:sub>
                                            <m:r>
                                              <a:rPr lang="en-US" sz="2800">
                                                <a:effectLst/>
                                                <a:latin typeface="Cambria Math" panose="02040503050406030204" pitchFamily="18" charset="0"/>
                                              </a:rPr>
                                              <m:t>𝑝𝑖</m:t>
                                            </m:r>
                                          </m:sub>
                                          <m:sup>
                                            <m:r>
                                              <a:rPr lang="en-US" sz="2800">
                                                <a:effectLst/>
                                                <a:latin typeface="Cambria Math" panose="02040503050406030204" pitchFamily="18" charset="0"/>
                                              </a:rPr>
                                              <m:t>3</m:t>
                                            </m:r>
                                          </m:sup>
                                        </m:sSubSup>
                                      </m:den>
                                    </m:f>
                                  </m:e>
                                </m:nary>
                                <m:r>
                                  <a:rPr lang="en-US" sz="2800">
                                    <a:effectLst/>
                                    <a:latin typeface="Cambria Math" panose="02040503050406030204" pitchFamily="18" charset="0"/>
                                  </a:rPr>
                                  <m:t>=6.0275</m:t>
                                </m:r>
                              </m:oMath>
                            </m:oMathPara>
                          </a14:m>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4293416032"/>
                      </a:ext>
                    </a:extLst>
                  </a:tr>
                </a:tbl>
              </a:graphicData>
            </a:graphic>
          </p:graphicFrame>
        </mc:Choice>
        <mc:Fallback xmlns="">
          <p:graphicFrame>
            <p:nvGraphicFramePr>
              <p:cNvPr id="10" name="Table 9">
                <a:extLst>
                  <a:ext uri="{FF2B5EF4-FFF2-40B4-BE49-F238E27FC236}">
                    <a16:creationId xmlns:a16="http://schemas.microsoft.com/office/drawing/2014/main" id="{020D2E00-1030-2BD5-452B-609D37C7FB4F}"/>
                  </a:ext>
                </a:extLst>
              </p:cNvPr>
              <p:cNvGraphicFramePr>
                <a:graphicFrameLocks noGrp="1"/>
              </p:cNvGraphicFramePr>
              <p:nvPr>
                <p:extLst>
                  <p:ext uri="{D42A27DB-BD31-4B8C-83A1-F6EECF244321}">
                    <p14:modId xmlns:p14="http://schemas.microsoft.com/office/powerpoint/2010/main" val="1024853472"/>
                  </p:ext>
                </p:extLst>
              </p:nvPr>
            </p:nvGraphicFramePr>
            <p:xfrm>
              <a:off x="1221253" y="2118489"/>
              <a:ext cx="16711966" cy="7412494"/>
            </p:xfrm>
            <a:graphic>
              <a:graphicData uri="http://schemas.openxmlformats.org/drawingml/2006/table">
                <a:tbl>
                  <a:tblPr firstRow="1" firstCol="1" bandRow="1">
                    <a:tableStyleId>{5C22544A-7EE6-4342-B048-85BDC9FD1C3A}</a:tableStyleId>
                  </a:tblPr>
                  <a:tblGrid>
                    <a:gridCol w="1897182">
                      <a:extLst>
                        <a:ext uri="{9D8B030D-6E8A-4147-A177-3AD203B41FA5}">
                          <a16:colId xmlns:a16="http://schemas.microsoft.com/office/drawing/2014/main" val="2660604138"/>
                        </a:ext>
                      </a:extLst>
                    </a:gridCol>
                    <a:gridCol w="2687497">
                      <a:extLst>
                        <a:ext uri="{9D8B030D-6E8A-4147-A177-3AD203B41FA5}">
                          <a16:colId xmlns:a16="http://schemas.microsoft.com/office/drawing/2014/main" val="3784490724"/>
                        </a:ext>
                      </a:extLst>
                    </a:gridCol>
                    <a:gridCol w="3004048">
                      <a:extLst>
                        <a:ext uri="{9D8B030D-6E8A-4147-A177-3AD203B41FA5}">
                          <a16:colId xmlns:a16="http://schemas.microsoft.com/office/drawing/2014/main" val="2737571399"/>
                        </a:ext>
                      </a:extLst>
                    </a:gridCol>
                    <a:gridCol w="3463141">
                      <a:extLst>
                        <a:ext uri="{9D8B030D-6E8A-4147-A177-3AD203B41FA5}">
                          <a16:colId xmlns:a16="http://schemas.microsoft.com/office/drawing/2014/main" val="1748483340"/>
                        </a:ext>
                      </a:extLst>
                    </a:gridCol>
                    <a:gridCol w="2081657">
                      <a:extLst>
                        <a:ext uri="{9D8B030D-6E8A-4147-A177-3AD203B41FA5}">
                          <a16:colId xmlns:a16="http://schemas.microsoft.com/office/drawing/2014/main" val="1447956851"/>
                        </a:ext>
                      </a:extLst>
                    </a:gridCol>
                    <a:gridCol w="3578441">
                      <a:extLst>
                        <a:ext uri="{9D8B030D-6E8A-4147-A177-3AD203B41FA5}">
                          <a16:colId xmlns:a16="http://schemas.microsoft.com/office/drawing/2014/main" val="1000691754"/>
                        </a:ext>
                      </a:extLst>
                    </a:gridCol>
                  </a:tblGrid>
                  <a:tr h="853440">
                    <a:tc>
                      <a:txBody>
                        <a:bodyPr/>
                        <a:lstStyle/>
                        <a:p>
                          <a:pPr marL="0" marR="0" algn="just">
                            <a:spcBef>
                              <a:spcPts val="0"/>
                            </a:spcBef>
                            <a:spcAft>
                              <a:spcPts val="0"/>
                            </a:spcAft>
                          </a:pPr>
                          <a:r>
                            <a:rPr lang="en-US" sz="2800">
                              <a:effectLst/>
                            </a:rPr>
                            <a:t>Mesh no</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endParaRPr lang="en-US"/>
                        </a:p>
                      </a:txBody>
                      <a:tcPr marL="29554" marR="29554" marT="0" marB="0">
                        <a:blipFill>
                          <a:blip r:embed="rId3"/>
                          <a:stretch>
                            <a:fillRect l="-70748" t="-12143" r="-452154" b="-770714"/>
                          </a:stretch>
                        </a:blipFill>
                      </a:tcPr>
                    </a:tc>
                    <a:tc>
                      <a:txBody>
                        <a:bodyPr/>
                        <a:lstStyle/>
                        <a:p>
                          <a:endParaRPr lang="en-US"/>
                        </a:p>
                      </a:txBody>
                      <a:tcPr marL="29554" marR="29554" marT="0" marB="0">
                        <a:blipFill>
                          <a:blip r:embed="rId3"/>
                          <a:stretch>
                            <a:fillRect l="-152738" t="-12143" r="-304462" b="-770714"/>
                          </a:stretch>
                        </a:blipFill>
                      </a:tcPr>
                    </a:tc>
                    <a:tc>
                      <a:txBody>
                        <a:bodyPr/>
                        <a:lstStyle/>
                        <a:p>
                          <a:endParaRPr lang="en-US"/>
                        </a:p>
                      </a:txBody>
                      <a:tcPr marL="29554" marR="29554" marT="0" marB="0">
                        <a:blipFill>
                          <a:blip r:embed="rId3"/>
                          <a:stretch>
                            <a:fillRect l="-219366" t="-12143" r="-164261" b="-770714"/>
                          </a:stretch>
                        </a:blipFill>
                      </a:tcPr>
                    </a:tc>
                    <a:tc>
                      <a:txBody>
                        <a:bodyPr/>
                        <a:lstStyle/>
                        <a:p>
                          <a:endParaRPr lang="en-US"/>
                        </a:p>
                      </a:txBody>
                      <a:tcPr marL="29554" marR="29554" marT="0" marB="0">
                        <a:blipFill>
                          <a:blip r:embed="rId3"/>
                          <a:stretch>
                            <a:fillRect l="-530409" t="-12143" r="-172807" b="-770714"/>
                          </a:stretch>
                        </a:blipFill>
                      </a:tcPr>
                    </a:tc>
                    <a:tc>
                      <a:txBody>
                        <a:bodyPr/>
                        <a:lstStyle/>
                        <a:p>
                          <a:endParaRPr lang="en-US"/>
                        </a:p>
                      </a:txBody>
                      <a:tcPr marL="29554" marR="29554" marT="0" marB="0">
                        <a:blipFill>
                          <a:blip r:embed="rId3"/>
                          <a:stretch>
                            <a:fillRect l="-367291" t="-12143" r="-681" b="-770714"/>
                          </a:stretch>
                        </a:blipFill>
                      </a:tcPr>
                    </a:tc>
                    <a:extLst>
                      <a:ext uri="{0D108BD9-81ED-4DB2-BD59-A6C34878D82A}">
                        <a16:rowId xmlns:a16="http://schemas.microsoft.com/office/drawing/2014/main" val="78894302"/>
                      </a:ext>
                    </a:extLst>
                  </a:tr>
                  <a:tr h="426720">
                    <a:tc>
                      <a:txBody>
                        <a:bodyPr/>
                        <a:lstStyle/>
                        <a:p>
                          <a:pPr marL="0" marR="0" algn="just">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4.699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endParaRPr lang="en-US" sz="2800">
                            <a:effectLst/>
                            <a:latin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2872516699"/>
                      </a:ext>
                    </a:extLst>
                  </a:tr>
                  <a:tr h="614299">
                    <a:tc>
                      <a:txBody>
                        <a:bodyPr/>
                        <a:lstStyle/>
                        <a:p>
                          <a:pPr marL="0" marR="0" algn="just">
                            <a:spcBef>
                              <a:spcPts val="0"/>
                            </a:spcBef>
                            <a:spcAft>
                              <a:spcPts val="0"/>
                            </a:spcAft>
                          </a:pPr>
                          <a:r>
                            <a:rPr lang="en-US" sz="2800">
                              <a:effectLst/>
                            </a:rPr>
                            <a:t>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3.327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0.031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endParaRPr lang="en-US"/>
                        </a:p>
                      </a:txBody>
                      <a:tcPr marL="29554" marR="29554" marT="0" marB="0">
                        <a:blipFill>
                          <a:blip r:embed="rId3"/>
                          <a:stretch>
                            <a:fillRect l="-219366" t="-224752" r="-164261" b="-899010"/>
                          </a:stretch>
                        </a:blipFill>
                      </a:tcPr>
                    </a:tc>
                    <a:tc>
                      <a:txBody>
                        <a:bodyPr/>
                        <a:lstStyle/>
                        <a:p>
                          <a:pPr marL="0" marR="0" algn="just">
                            <a:spcBef>
                              <a:spcPts val="0"/>
                            </a:spcBef>
                            <a:spcAft>
                              <a:spcPts val="0"/>
                            </a:spcAft>
                          </a:pPr>
                          <a:r>
                            <a:rPr lang="en-US" sz="2800">
                              <a:effectLst/>
                            </a:rPr>
                            <a:t>0.007725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0.00048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1592069178"/>
                      </a:ext>
                    </a:extLst>
                  </a:tr>
                  <a:tr h="614299">
                    <a:tc>
                      <a:txBody>
                        <a:bodyPr/>
                        <a:lstStyle/>
                        <a:p>
                          <a:pPr marL="0" marR="0" algn="just">
                            <a:spcBef>
                              <a:spcPts val="0"/>
                            </a:spcBef>
                            <a:spcAft>
                              <a:spcPts val="0"/>
                            </a:spcAft>
                          </a:pPr>
                          <a:r>
                            <a:rPr lang="en-US" sz="2800">
                              <a:effectLst/>
                            </a:rPr>
                            <a:t>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2.362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endParaRPr lang="en-US"/>
                        </a:p>
                      </a:txBody>
                      <a:tcPr marL="29554" marR="29554" marT="0" marB="0">
                        <a:blipFill>
                          <a:blip r:embed="rId3"/>
                          <a:stretch>
                            <a:fillRect l="-219366" t="-324752" r="-164261" b="-799010"/>
                          </a:stretch>
                        </a:blipFill>
                      </a:tcPr>
                    </a:tc>
                    <a:tc>
                      <a:txBody>
                        <a:bodyPr/>
                        <a:lstStyle/>
                        <a:p>
                          <a:pPr marL="0" marR="0" algn="just">
                            <a:spcBef>
                              <a:spcPts val="0"/>
                            </a:spcBef>
                            <a:spcAft>
                              <a:spcPts val="0"/>
                            </a:spcAft>
                          </a:pPr>
                          <a:r>
                            <a:rPr lang="en-US" sz="2800">
                              <a:effectLst/>
                            </a:rPr>
                            <a:t>0.03621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0.004475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3659812468"/>
                      </a:ext>
                    </a:extLst>
                  </a:tr>
                  <a:tr h="462210">
                    <a:tc>
                      <a:txBody>
                        <a:bodyPr/>
                        <a:lstStyle/>
                        <a:p>
                          <a:pPr marL="0" marR="0" algn="just">
                            <a:spcBef>
                              <a:spcPts val="0"/>
                            </a:spcBef>
                            <a:spcAft>
                              <a:spcPts val="0"/>
                            </a:spcAft>
                          </a:pPr>
                          <a:r>
                            <a:rPr lang="en-US" sz="2800">
                              <a:effectLst/>
                            </a:rPr>
                            <a:t>8/10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1.651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2.0065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0.099676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0.024758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3687776760"/>
                      </a:ext>
                    </a:extLst>
                  </a:tr>
                  <a:tr h="462210">
                    <a:tc>
                      <a:txBody>
                        <a:bodyPr/>
                        <a:lstStyle/>
                        <a:p>
                          <a:pPr marL="0" marR="0" algn="just">
                            <a:spcBef>
                              <a:spcPts val="0"/>
                            </a:spcBef>
                            <a:spcAft>
                              <a:spcPts val="0"/>
                            </a:spcAft>
                          </a:pPr>
                          <a:r>
                            <a:rPr lang="en-US" sz="2800">
                              <a:effectLst/>
                            </a:rPr>
                            <a:t>10/12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1.168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0.186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1.4095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0.131962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0.066423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1363538603"/>
                      </a:ext>
                    </a:extLst>
                  </a:tr>
                  <a:tr h="462210">
                    <a:tc>
                      <a:txBody>
                        <a:bodyPr/>
                        <a:lstStyle/>
                        <a:p>
                          <a:pPr marL="0" marR="0" algn="just">
                            <a:spcBef>
                              <a:spcPts val="0"/>
                            </a:spcBef>
                            <a:spcAft>
                              <a:spcPts val="0"/>
                            </a:spcAft>
                          </a:pPr>
                          <a:r>
                            <a:rPr lang="en-US" sz="2800">
                              <a:effectLst/>
                            </a:rPr>
                            <a:t>14/20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0.833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0.152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0.151924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0.151772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864630570"/>
                      </a:ext>
                    </a:extLst>
                  </a:tr>
                  <a:tr h="462210">
                    <a:tc>
                      <a:txBody>
                        <a:bodyPr/>
                        <a:lstStyle/>
                        <a:p>
                          <a:pPr marL="0" marR="0" algn="just">
                            <a:spcBef>
                              <a:spcPts val="0"/>
                            </a:spcBef>
                            <a:spcAft>
                              <a:spcPts val="0"/>
                            </a:spcAft>
                          </a:pPr>
                          <a:r>
                            <a:rPr lang="en-US" sz="2800">
                              <a:effectLst/>
                            </a:rPr>
                            <a:t>20/28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0.589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0.711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0.168776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0.333866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4287142615"/>
                      </a:ext>
                    </a:extLst>
                  </a:tr>
                  <a:tr h="462210">
                    <a:tc>
                      <a:txBody>
                        <a:bodyPr/>
                        <a:lstStyle/>
                        <a:p>
                          <a:pPr marL="0" marR="0" algn="just">
                            <a:spcBef>
                              <a:spcPts val="0"/>
                            </a:spcBef>
                            <a:spcAft>
                              <a:spcPts val="0"/>
                            </a:spcAft>
                          </a:pPr>
                          <a:r>
                            <a:rPr lang="en-US" sz="2800">
                              <a:effectLst/>
                            </a:rPr>
                            <a:t>28/35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0.417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0.503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0.188867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0.746483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4123266403"/>
                      </a:ext>
                    </a:extLst>
                  </a:tr>
                  <a:tr h="462210">
                    <a:tc>
                      <a:txBody>
                        <a:bodyPr/>
                        <a:lstStyle/>
                        <a:p>
                          <a:pPr marL="0" marR="0" algn="just">
                            <a:spcBef>
                              <a:spcPts val="0"/>
                            </a:spcBef>
                            <a:spcAft>
                              <a:spcPts val="0"/>
                            </a:spcAft>
                          </a:pPr>
                          <a:r>
                            <a:rPr lang="en-US" sz="2800">
                              <a:effectLst/>
                            </a:rPr>
                            <a:t>35/48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0.356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0.182584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1.440666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1539539352"/>
                      </a:ext>
                    </a:extLst>
                  </a:tr>
                  <a:tr h="462210">
                    <a:tc>
                      <a:txBody>
                        <a:bodyPr/>
                        <a:lstStyle/>
                        <a:p>
                          <a:pPr marL="0" marR="0" algn="just">
                            <a:spcBef>
                              <a:spcPts val="0"/>
                            </a:spcBef>
                            <a:spcAft>
                              <a:spcPts val="0"/>
                            </a:spcAft>
                          </a:pPr>
                          <a:r>
                            <a:rPr lang="en-US" sz="2800">
                              <a:effectLst/>
                            </a:rPr>
                            <a:t>48/65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0.208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0.043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0.2515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0.170974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2.703053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4133824406"/>
                      </a:ext>
                    </a:extLst>
                  </a:tr>
                  <a:tr h="462210">
                    <a:tc>
                      <a:txBody>
                        <a:bodyPr/>
                        <a:lstStyle/>
                        <a:p>
                          <a:pPr marL="0" marR="0" algn="just">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0.208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0.208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0.024038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tc>
                      <a:txBody>
                        <a:bodyPr/>
                        <a:lstStyle/>
                        <a:p>
                          <a:pPr marL="0" marR="0" algn="just">
                            <a:spcBef>
                              <a:spcPts val="0"/>
                            </a:spcBef>
                            <a:spcAft>
                              <a:spcPts val="0"/>
                            </a:spcAft>
                          </a:pPr>
                          <a:r>
                            <a:rPr lang="en-US" sz="2800">
                              <a:effectLst/>
                            </a:rPr>
                            <a:t>0.555623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9554" marR="29554" marT="0" marB="0"/>
                    </a:tc>
                    <a:extLst>
                      <a:ext uri="{0D108BD9-81ED-4DB2-BD59-A6C34878D82A}">
                        <a16:rowId xmlns:a16="http://schemas.microsoft.com/office/drawing/2014/main" val="1014133699"/>
                      </a:ext>
                    </a:extLst>
                  </a:tr>
                  <a:tr h="1206056">
                    <a:tc>
                      <a:txBody>
                        <a:bodyPr/>
                        <a:lstStyle/>
                        <a:p>
                          <a:endParaRPr lang="en-US" sz="2800" dirty="0">
                            <a:effectLst/>
                            <a:latin typeface="Times New Roman" panose="02020603050405020304" pitchFamily="18" charset="0"/>
                          </a:endParaRPr>
                        </a:p>
                      </a:txBody>
                      <a:tcPr marL="29554" marR="29554" marT="0" marB="0"/>
                    </a:tc>
                    <a:tc>
                      <a:txBody>
                        <a:bodyPr/>
                        <a:lstStyle/>
                        <a:p>
                          <a:endParaRPr lang="en-US" sz="2800">
                            <a:effectLst/>
                            <a:latin typeface="Times New Roman" panose="02020603050405020304" pitchFamily="18" charset="0"/>
                          </a:endParaRPr>
                        </a:p>
                      </a:txBody>
                      <a:tcPr marL="29554" marR="29554" marT="0" marB="0"/>
                    </a:tc>
                    <a:tc>
                      <a:txBody>
                        <a:bodyPr/>
                        <a:lstStyle/>
                        <a:p>
                          <a:endParaRPr lang="en-US" sz="2800">
                            <a:effectLst/>
                            <a:latin typeface="Times New Roman" panose="02020603050405020304" pitchFamily="18" charset="0"/>
                          </a:endParaRPr>
                        </a:p>
                      </a:txBody>
                      <a:tcPr marL="29554" marR="29554" marT="0" marB="0"/>
                    </a:tc>
                    <a:tc gridSpan="2">
                      <a:txBody>
                        <a:bodyPr/>
                        <a:lstStyle/>
                        <a:p>
                          <a:endParaRPr lang="en-US"/>
                        </a:p>
                      </a:txBody>
                      <a:tcPr marL="29554" marR="29554" marT="0" marB="0">
                        <a:blipFill>
                          <a:blip r:embed="rId3"/>
                          <a:stretch>
                            <a:fillRect l="-136923" t="-523232" r="-64945" b="-1010"/>
                          </a:stretch>
                        </a:blipFill>
                      </a:tcPr>
                    </a:tc>
                    <a:tc hMerge="1">
                      <a:txBody>
                        <a:bodyPr/>
                        <a:lstStyle/>
                        <a:p>
                          <a:endParaRPr lang="en-US"/>
                        </a:p>
                      </a:txBody>
                      <a:tcPr/>
                    </a:tc>
                    <a:tc>
                      <a:txBody>
                        <a:bodyPr/>
                        <a:lstStyle/>
                        <a:p>
                          <a:endParaRPr lang="en-US"/>
                        </a:p>
                      </a:txBody>
                      <a:tcPr marL="29554" marR="29554" marT="0" marB="0">
                        <a:blipFill>
                          <a:blip r:embed="rId3"/>
                          <a:stretch>
                            <a:fillRect l="-367291" t="-523232" r="-681" b="-1010"/>
                          </a:stretch>
                        </a:blipFill>
                      </a:tcPr>
                    </a:tc>
                    <a:extLst>
                      <a:ext uri="{0D108BD9-81ED-4DB2-BD59-A6C34878D82A}">
                        <a16:rowId xmlns:a16="http://schemas.microsoft.com/office/drawing/2014/main" val="4293416032"/>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2837200-7CB2-F63E-9249-BD2FA4FA035B}"/>
                  </a:ext>
                </a:extLst>
              </p:cNvPr>
              <p:cNvSpPr txBox="1"/>
              <p:nvPr/>
            </p:nvSpPr>
            <p:spPr>
              <a:xfrm>
                <a:off x="1822450" y="9677816"/>
                <a:ext cx="13054136" cy="1701428"/>
              </a:xfrm>
              <a:prstGeom prst="rect">
                <a:avLst/>
              </a:prstGeom>
              <a:noFill/>
            </p:spPr>
            <p:txBody>
              <a:bodyPr wrap="square">
                <a:spAutoFit/>
              </a:bodyPr>
              <a:lstStyle/>
              <a:p>
                <a:pPr marL="0" marR="0" indent="457200">
                  <a:spcBef>
                    <a:spcPts val="0"/>
                  </a:spcBef>
                  <a:spcAft>
                    <a:spcPts val="0"/>
                  </a:spcAft>
                </a:pPr>
                <a14:m>
                  <m:oMath xmlns:m="http://schemas.openxmlformats.org/officeDocument/2006/math">
                    <m:acc>
                      <m:accPr>
                        <m:chr m:val="̅"/>
                        <m:ctrlPr>
                          <a:rPr lang="en-US" sz="2800" i="1" smtClean="0">
                            <a:effectLst/>
                            <a:latin typeface="Cambria Math" panose="02040503050406030204" pitchFamily="18" charset="0"/>
                            <a:ea typeface="Times New Roman" panose="02020603050405020304" pitchFamily="18" charset="0"/>
                          </a:rPr>
                        </m:ctrlPr>
                      </m:accPr>
                      <m:e>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𝐷</m:t>
                            </m:r>
                          </m:e>
                          <m:sub>
                            <m:r>
                              <a:rPr lang="en-US" sz="2800" i="1">
                                <a:effectLst/>
                                <a:latin typeface="Cambria Math" panose="02040503050406030204" pitchFamily="18" charset="0"/>
                                <a:ea typeface="Times New Roman" panose="02020603050405020304" pitchFamily="18" charset="0"/>
                              </a:rPr>
                              <m:t>𝑠</m:t>
                            </m:r>
                          </m:sub>
                        </m:sSub>
                      </m:e>
                    </m:acc>
                    <m:r>
                      <a:rPr lang="en-US" sz="2800" i="1">
                        <a:effectLst/>
                        <a:latin typeface="Cambria Math" panose="02040503050406030204" pitchFamily="18" charset="0"/>
                        <a:ea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rPr>
                          <m:t>1</m:t>
                        </m:r>
                      </m:num>
                      <m:den>
                        <m:r>
                          <a:rPr lang="en-US" sz="2800">
                            <a:solidFill>
                              <a:srgbClr val="000000"/>
                            </a:solidFill>
                            <a:effectLst/>
                            <a:latin typeface="Cambria Math" panose="02040503050406030204" pitchFamily="18" charset="0"/>
                            <a:ea typeface="Times New Roman" panose="02020603050405020304" pitchFamily="18" charset="0"/>
                          </a:rPr>
                          <m:t>1.162737</m:t>
                        </m:r>
                      </m:den>
                    </m:f>
                    <m:r>
                      <a:rPr lang="en-US" sz="2800" i="1">
                        <a:effectLst/>
                        <a:latin typeface="Cambria Math" panose="02040503050406030204" pitchFamily="18" charset="0"/>
                        <a:ea typeface="Times New Roman" panose="02020603050405020304" pitchFamily="18" charset="0"/>
                      </a:rPr>
                      <m:t>=0.8604</m:t>
                    </m:r>
                    <m:r>
                      <a:rPr lang="en-GB" sz="2800" b="0" i="1" smtClean="0">
                        <a:effectLst/>
                        <a:latin typeface="Cambria Math" panose="02040503050406030204" pitchFamily="18" charset="0"/>
                        <a:ea typeface="Times New Roman" panose="02020603050405020304" pitchFamily="18" charset="0"/>
                      </a:rPr>
                      <m:t>                                                  </m:t>
                    </m:r>
                    <m:r>
                      <a:rPr lang="en-US" sz="2800" i="1" smtClean="0">
                        <a:effectLst/>
                        <a:latin typeface="Cambria Math" panose="02040503050406030204" pitchFamily="18" charset="0"/>
                        <a:ea typeface="Times New Roman" panose="02020603050405020304" pitchFamily="18" charset="0"/>
                      </a:rPr>
                      <m:t> </m:t>
                    </m:r>
                    <m:acc>
                      <m:accPr>
                        <m:chr m:val="̅"/>
                        <m:ctrlPr>
                          <a:rPr lang="en-US" sz="2800" i="1">
                            <a:latin typeface="Cambria Math" panose="02040503050406030204" pitchFamily="18" charset="0"/>
                            <a:ea typeface="Times New Roman" panose="02020603050405020304" pitchFamily="18" charset="0"/>
                          </a:rPr>
                        </m:ctrlPr>
                      </m:accPr>
                      <m:e>
                        <m:sSub>
                          <m:sSubPr>
                            <m:ctrlPr>
                              <a:rPr lang="en-US" sz="2800" i="1">
                                <a:latin typeface="Cambria Math" panose="02040503050406030204" pitchFamily="18" charset="0"/>
                                <a:ea typeface="Times New Roman" panose="02020603050405020304" pitchFamily="18" charset="0"/>
                              </a:rPr>
                            </m:ctrlPr>
                          </m:sSubPr>
                          <m:e>
                            <m:r>
                              <a:rPr lang="en-US" sz="2800" i="1">
                                <a:latin typeface="Cambria Math" panose="02040503050406030204" pitchFamily="18" charset="0"/>
                                <a:ea typeface="Times New Roman" panose="02020603050405020304" pitchFamily="18" charset="0"/>
                              </a:rPr>
                              <m:t>𝐷</m:t>
                            </m:r>
                          </m:e>
                          <m:sub>
                            <m:r>
                              <a:rPr lang="en-US" sz="2800" i="1">
                                <a:latin typeface="Cambria Math" panose="02040503050406030204" pitchFamily="18" charset="0"/>
                                <a:ea typeface="Times New Roman" panose="02020603050405020304" pitchFamily="18" charset="0"/>
                              </a:rPr>
                              <m:t>𝑣</m:t>
                            </m:r>
                          </m:sub>
                        </m:sSub>
                      </m:e>
                    </m:acc>
                    <m:r>
                      <a:rPr lang="en-US" sz="2800" i="1">
                        <a:latin typeface="Cambria Math" panose="02040503050406030204" pitchFamily="18" charset="0"/>
                        <a:ea typeface="Times New Roman" panose="02020603050405020304" pitchFamily="18" charset="0"/>
                      </a:rPr>
                      <m:t>=</m:t>
                    </m:r>
                    <m:sSup>
                      <m:sSupPr>
                        <m:ctrlPr>
                          <a:rPr lang="en-US" sz="2800" i="1">
                            <a:latin typeface="Cambria Math" panose="02040503050406030204" pitchFamily="18" charset="0"/>
                            <a:ea typeface="Times New Roman" panose="02020603050405020304" pitchFamily="18" charset="0"/>
                          </a:rPr>
                        </m:ctrlPr>
                      </m:sSupPr>
                      <m:e>
                        <m:d>
                          <m:dPr>
                            <m:ctrlPr>
                              <a:rPr lang="en-US" sz="2800" i="1">
                                <a:latin typeface="Cambria Math" panose="02040503050406030204" pitchFamily="18" charset="0"/>
                                <a:ea typeface="Times New Roman" panose="02020603050405020304" pitchFamily="18" charset="0"/>
                              </a:rPr>
                            </m:ctrlPr>
                          </m:dPr>
                          <m:e>
                            <m:f>
                              <m:fPr>
                                <m:ctrlPr>
                                  <a:rPr lang="en-US" sz="2800" i="1">
                                    <a:latin typeface="Cambria Math" panose="02040503050406030204" pitchFamily="18" charset="0"/>
                                    <a:ea typeface="Times New Roman" panose="02020603050405020304" pitchFamily="18" charset="0"/>
                                  </a:rPr>
                                </m:ctrlPr>
                              </m:fPr>
                              <m:num>
                                <m:r>
                                  <a:rPr lang="en-US" sz="2800" i="1">
                                    <a:latin typeface="Cambria Math" panose="02040503050406030204" pitchFamily="18" charset="0"/>
                                    <a:ea typeface="Times New Roman" panose="02020603050405020304" pitchFamily="18" charset="0"/>
                                  </a:rPr>
                                  <m:t>1</m:t>
                                </m:r>
                              </m:num>
                              <m:den>
                                <m:r>
                                  <a:rPr lang="en-US" sz="2800" i="1">
                                    <a:latin typeface="Cambria Math" panose="02040503050406030204" pitchFamily="18" charset="0"/>
                                    <a:ea typeface="Times New Roman" panose="02020603050405020304" pitchFamily="18" charset="0"/>
                                  </a:rPr>
                                  <m:t>6.0275</m:t>
                                </m:r>
                              </m:den>
                            </m:f>
                          </m:e>
                        </m:d>
                      </m:e>
                      <m:sup>
                        <m:r>
                          <a:rPr lang="en-US" sz="2800" i="1">
                            <a:latin typeface="Cambria Math" panose="02040503050406030204" pitchFamily="18" charset="0"/>
                            <a:ea typeface="Times New Roman" panose="02020603050405020304" pitchFamily="18" charset="0"/>
                          </a:rPr>
                          <m:t>1/3</m:t>
                        </m:r>
                      </m:sup>
                    </m:sSup>
                  </m:oMath>
                </a14:m>
                <a:r>
                  <a:rPr lang="en-US" sz="2800" dirty="0">
                    <a:latin typeface="Times New Roman" panose="02020603050405020304" pitchFamily="18" charset="0"/>
                    <a:ea typeface="Times New Roman" panose="02020603050405020304" pitchFamily="18" charset="0"/>
                  </a:rPr>
                  <a:t>= 1.8199</a:t>
                </a:r>
                <a:endParaRPr lang="en-US" sz="2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800" b="1"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800" dirty="0">
                  <a:effectLst/>
                  <a:latin typeface="Times New Roman" panose="02020603050405020304" pitchFamily="18" charset="0"/>
                  <a:ea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22837200-7CB2-F63E-9249-BD2FA4FA035B}"/>
                  </a:ext>
                </a:extLst>
              </p:cNvPr>
              <p:cNvSpPr txBox="1">
                <a:spLocks noRot="1" noChangeAspect="1" noMove="1" noResize="1" noEditPoints="1" noAdjustHandles="1" noChangeArrowheads="1" noChangeShapeType="1" noTextEdit="1"/>
              </p:cNvSpPr>
              <p:nvPr/>
            </p:nvSpPr>
            <p:spPr>
              <a:xfrm>
                <a:off x="1822450" y="9677816"/>
                <a:ext cx="13054136" cy="170142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98213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BF6477A-7BD7-4DD7-2566-51B4AB3C1C1C}"/>
                  </a:ext>
                </a:extLst>
              </p:cNvPr>
              <p:cNvSpPr txBox="1"/>
              <p:nvPr/>
            </p:nvSpPr>
            <p:spPr>
              <a:xfrm>
                <a:off x="1004888" y="1561713"/>
                <a:ext cx="18624226" cy="2449325"/>
              </a:xfrm>
              <a:prstGeom prst="rect">
                <a:avLst/>
              </a:prstGeom>
              <a:noFill/>
            </p:spPr>
            <p:txBody>
              <a:bodyPr wrap="square">
                <a:spAutoFit/>
              </a:bodyPr>
              <a:lstStyle/>
              <a:p>
                <a:pPr marL="0" marR="0" algn="just">
                  <a:spcBef>
                    <a:spcPts val="0"/>
                  </a:spcBef>
                  <a:spcAft>
                    <a:spcPts val="0"/>
                  </a:spcAft>
                </a:pPr>
                <a:r>
                  <a:rPr lang="en-US" sz="2400">
                    <a:effectLst/>
                    <a:latin typeface="Times New Roman" panose="02020603050405020304" pitchFamily="18" charset="0"/>
                    <a:ea typeface="Times New Roman" panose="02020603050405020304" pitchFamily="18" charset="0"/>
                  </a:rPr>
                  <a:t>Pb 2.  </a:t>
                </a:r>
                <a:r>
                  <a:rPr lang="en-US" sz="2400" dirty="0">
                    <a:effectLst/>
                    <a:latin typeface="Times New Roman" panose="02020603050405020304" pitchFamily="18" charset="0"/>
                    <a:ea typeface="Times New Roman" panose="02020603050405020304" pitchFamily="18" charset="0"/>
                  </a:rPr>
                  <a:t>The screen analysis shown in the below table applies to crushed quartz. The density of the particle is 2650 kg/m</a:t>
                </a:r>
                <a:r>
                  <a:rPr lang="en-US" sz="2400" baseline="30000" dirty="0">
                    <a:effectLst/>
                    <a:latin typeface="Times New Roman" panose="02020603050405020304" pitchFamily="18" charset="0"/>
                    <a:ea typeface="Times New Roman" panose="02020603050405020304" pitchFamily="18" charset="0"/>
                  </a:rPr>
                  <a:t>3 </a:t>
                </a:r>
                <a:r>
                  <a:rPr lang="en-US" sz="2400" dirty="0">
                    <a:effectLst/>
                    <a:latin typeface="Times New Roman" panose="02020603050405020304" pitchFamily="18" charset="0"/>
                    <a:ea typeface="Times New Roman" panose="02020603050405020304" pitchFamily="18" charset="0"/>
                  </a:rPr>
                  <a:t>or 0.00265 g/mm</a:t>
                </a:r>
                <a:r>
                  <a:rPr lang="en-US" sz="2400" baseline="30000" dirty="0">
                    <a:effectLst/>
                    <a:latin typeface="Times New Roman" panose="02020603050405020304" pitchFamily="18" charset="0"/>
                    <a:ea typeface="Times New Roman" panose="02020603050405020304" pitchFamily="18" charset="0"/>
                  </a:rPr>
                  <a:t>3</a:t>
                </a:r>
                <a:r>
                  <a:rPr lang="en-US" sz="2400" dirty="0">
                    <a:effectLst/>
                    <a:latin typeface="Times New Roman" panose="02020603050405020304" pitchFamily="18" charset="0"/>
                    <a:ea typeface="Times New Roman" panose="02020603050405020304" pitchFamily="18" charset="0"/>
                  </a:rPr>
                  <a:t> And the shape factors are a =2, sphericity 0.571. For the material between 4 mesh and 200 mesh in particle size calculate</a:t>
                </a:r>
              </a:p>
              <a:p>
                <a:pPr marL="342900" marR="0" lvl="0" indent="-342900" algn="just">
                  <a:spcBef>
                    <a:spcPts val="0"/>
                  </a:spcBef>
                  <a:spcAft>
                    <a:spcPts val="0"/>
                  </a:spcAft>
                  <a:buFont typeface="+mj-lt"/>
                  <a:buAutoNum type="alphaLcParenBoth"/>
                </a:pP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𝐴</m:t>
                        </m:r>
                      </m:e>
                      <m:sub>
                        <m:r>
                          <a:rPr lang="en-US" sz="2400" i="1">
                            <a:effectLst/>
                            <a:latin typeface="Cambria Math" panose="02040503050406030204" pitchFamily="18" charset="0"/>
                            <a:ea typeface="Times New Roman" panose="02020603050405020304" pitchFamily="18" charset="0"/>
                          </a:rPr>
                          <m:t>𝑊</m:t>
                        </m:r>
                      </m:sub>
                    </m:sSub>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𝑖𝑛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𝑠𝑞𝑢𝑎𝑟𝑒</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𝑚𝑖𝑙𝑙𝑖𝑚𝑒𝑡𝑒𝑟</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𝑝𝑒𝑟</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𝑔𝑟𝑎𝑚</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𝑎𝑛𝑑</m:t>
                    </m:r>
                    <m:r>
                      <a:rPr lang="en-US" sz="2400" i="1">
                        <a:effectLst/>
                        <a:latin typeface="Cambria Math" panose="02040503050406030204" pitchFamily="18" charset="0"/>
                        <a:ea typeface="Times New Roman" panose="02020603050405020304" pitchFamily="18" charset="0"/>
                      </a:rPr>
                      <m:t> </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𝑁</m:t>
                        </m:r>
                      </m:e>
                      <m:sub>
                        <m:r>
                          <a:rPr lang="en-US" sz="2400" i="1">
                            <a:effectLst/>
                            <a:latin typeface="Cambria Math" panose="02040503050406030204" pitchFamily="18" charset="0"/>
                            <a:ea typeface="Times New Roman" panose="02020603050405020304" pitchFamily="18" charset="0"/>
                          </a:rPr>
                          <m:t>𝑤</m:t>
                        </m:r>
                      </m:sub>
                    </m:sSub>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𝑖𝑛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𝑝𝑎𝑟𝑡𝑖𝑐𝑙𝑒𝑠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𝑔𝑚</m:t>
                    </m:r>
                  </m:oMath>
                </a14:m>
                <a:endParaRPr lang="en-US" sz="2400" dirty="0">
                  <a:effectLst/>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mj-lt"/>
                  <a:buAutoNum type="alphaLcParenBoth"/>
                </a:pP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acc>
                          <m:accPr>
                            <m:chr m:val="̅"/>
                            <m:ctrlPr>
                              <a:rPr lang="en-US" sz="2400" i="1">
                                <a:effectLst/>
                                <a:latin typeface="Cambria Math" panose="02040503050406030204" pitchFamily="18" charset="0"/>
                                <a:ea typeface="Times New Roman" panose="02020603050405020304" pitchFamily="18" charset="0"/>
                              </a:rPr>
                            </m:ctrlPr>
                          </m:accPr>
                          <m:e>
                            <m:r>
                              <a:rPr lang="en-US" sz="2400" i="1">
                                <a:effectLst/>
                                <a:latin typeface="Cambria Math" panose="02040503050406030204" pitchFamily="18" charset="0"/>
                                <a:ea typeface="Times New Roman" panose="02020603050405020304" pitchFamily="18" charset="0"/>
                              </a:rPr>
                              <m:t>𝐷</m:t>
                            </m:r>
                          </m:e>
                        </m:acc>
                      </m:e>
                      <m:sub>
                        <m:r>
                          <a:rPr lang="en-US" sz="2400" i="1">
                            <a:effectLst/>
                            <a:latin typeface="Cambria Math" panose="02040503050406030204" pitchFamily="18" charset="0"/>
                            <a:ea typeface="Times New Roman" panose="02020603050405020304" pitchFamily="18" charset="0"/>
                          </a:rPr>
                          <m:t>𝑉</m:t>
                        </m:r>
                      </m:sub>
                    </m:sSub>
                    <m:r>
                      <a:rPr lang="en-US" sz="2400" i="1">
                        <a:effectLst/>
                        <a:latin typeface="Cambria Math" panose="02040503050406030204" pitchFamily="18" charset="0"/>
                        <a:ea typeface="Times New Roman" panose="02020603050405020304" pitchFamily="18" charset="0"/>
                      </a:rPr>
                      <m:t>,  </m:t>
                    </m:r>
                  </m:oMath>
                </a14:m>
                <a:endParaRPr lang="en-US" sz="2400" dirty="0">
                  <a:effectLst/>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mj-lt"/>
                  <a:buAutoNum type="alphaLcParenBoth"/>
                </a:pPr>
                <a14:m>
                  <m:oMath xmlns:m="http://schemas.openxmlformats.org/officeDocument/2006/math">
                    <m:r>
                      <a:rPr lang="en-US" sz="2400" i="1">
                        <a:effectLst/>
                        <a:latin typeface="Cambria Math" panose="02040503050406030204" pitchFamily="18" charset="0"/>
                        <a:ea typeface="Times New Roman" panose="02020603050405020304" pitchFamily="18" charset="0"/>
                      </a:rPr>
                      <m:t> </m:t>
                    </m:r>
                    <m:sSub>
                      <m:sSubPr>
                        <m:ctrlPr>
                          <a:rPr lang="en-US" sz="2400" i="1">
                            <a:effectLst/>
                            <a:latin typeface="Cambria Math" panose="02040503050406030204" pitchFamily="18" charset="0"/>
                            <a:ea typeface="Times New Roman" panose="02020603050405020304" pitchFamily="18" charset="0"/>
                          </a:rPr>
                        </m:ctrlPr>
                      </m:sSubPr>
                      <m:e>
                        <m:acc>
                          <m:accPr>
                            <m:chr m:val="̅"/>
                            <m:ctrlPr>
                              <a:rPr lang="en-US" sz="2400" i="1">
                                <a:effectLst/>
                                <a:latin typeface="Cambria Math" panose="02040503050406030204" pitchFamily="18" charset="0"/>
                                <a:ea typeface="Times New Roman" panose="02020603050405020304" pitchFamily="18" charset="0"/>
                              </a:rPr>
                            </m:ctrlPr>
                          </m:accPr>
                          <m:e>
                            <m:r>
                              <a:rPr lang="en-US" sz="2400" i="1">
                                <a:effectLst/>
                                <a:latin typeface="Cambria Math" panose="02040503050406030204" pitchFamily="18" charset="0"/>
                                <a:ea typeface="Times New Roman" panose="02020603050405020304" pitchFamily="18" charset="0"/>
                              </a:rPr>
                              <m:t>𝐷</m:t>
                            </m:r>
                          </m:e>
                        </m:acc>
                      </m:e>
                      <m:sub>
                        <m:r>
                          <a:rPr lang="en-US" sz="2400" i="1">
                            <a:effectLst/>
                            <a:latin typeface="Cambria Math" panose="02040503050406030204" pitchFamily="18" charset="0"/>
                            <a:ea typeface="Times New Roman" panose="02020603050405020304" pitchFamily="18" charset="0"/>
                          </a:rPr>
                          <m:t>𝑆</m:t>
                        </m:r>
                      </m:sub>
                    </m:sSub>
                    <m:r>
                      <a:rPr lang="en-US" sz="2400" i="1">
                        <a:effectLst/>
                        <a:latin typeface="Cambria Math" panose="02040503050406030204" pitchFamily="18" charset="0"/>
                        <a:ea typeface="Times New Roman" panose="02020603050405020304" pitchFamily="18" charset="0"/>
                      </a:rPr>
                      <m:t>, </m:t>
                    </m:r>
                    <m:sSub>
                      <m:sSubPr>
                        <m:ctrlPr>
                          <a:rPr lang="en-US" sz="2400" i="1">
                            <a:effectLst/>
                            <a:latin typeface="Cambria Math" panose="02040503050406030204" pitchFamily="18" charset="0"/>
                            <a:ea typeface="Times New Roman" panose="02020603050405020304" pitchFamily="18" charset="0"/>
                          </a:rPr>
                        </m:ctrlPr>
                      </m:sSubPr>
                      <m:e>
                        <m:eqArr>
                          <m:eqArrPr>
                            <m:ctrlPr>
                              <a:rPr lang="en-US" sz="2400" i="1">
                                <a:effectLst/>
                                <a:latin typeface="Cambria Math" panose="02040503050406030204" pitchFamily="18" charset="0"/>
                                <a:ea typeface="Times New Roman" panose="02020603050405020304" pitchFamily="18" charset="0"/>
                              </a:rPr>
                            </m:ctrlPr>
                          </m:eqArrPr>
                          <m:e>
                            <m:r>
                              <a:rPr lang="en-US" sz="2400" i="1">
                                <a:effectLst/>
                                <a:latin typeface="Cambria Math" panose="02040503050406030204" pitchFamily="18" charset="0"/>
                                <a:ea typeface="Times New Roman" panose="02020603050405020304" pitchFamily="18" charset="0"/>
                              </a:rPr>
                              <m:t>    </m:t>
                            </m:r>
                          </m:e>
                          <m:e>
                            <m:r>
                              <a:rPr lang="en-US" sz="2400" i="1">
                                <a:effectLst/>
                                <a:latin typeface="Cambria Math" panose="02040503050406030204" pitchFamily="18" charset="0"/>
                                <a:ea typeface="Times New Roman" panose="02020603050405020304" pitchFamily="18" charset="0"/>
                              </a:rPr>
                              <m:t>   </m:t>
                            </m:r>
                            <m:d>
                              <m:dPr>
                                <m:ctrlPr>
                                  <a:rPr lang="en-US" sz="2400" i="1">
                                    <a:effectLst/>
                                    <a:latin typeface="Cambria Math" panose="02040503050406030204" pitchFamily="18" charset="0"/>
                                    <a:ea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rPr>
                                  <m:t>𝑑</m:t>
                                </m:r>
                              </m:e>
                            </m:d>
                            <m:r>
                              <a:rPr lang="en-US" sz="2400" i="1">
                                <a:effectLst/>
                                <a:latin typeface="Cambria Math" panose="02040503050406030204" pitchFamily="18" charset="0"/>
                                <a:ea typeface="Times New Roman" panose="02020603050405020304" pitchFamily="18" charset="0"/>
                              </a:rPr>
                              <m:t> </m:t>
                            </m:r>
                            <m:acc>
                              <m:accPr>
                                <m:chr m:val="̅"/>
                                <m:ctrlPr>
                                  <a:rPr lang="en-US" sz="2400" i="1">
                                    <a:effectLst/>
                                    <a:latin typeface="Cambria Math" panose="02040503050406030204" pitchFamily="18" charset="0"/>
                                    <a:ea typeface="Times New Roman" panose="02020603050405020304" pitchFamily="18" charset="0"/>
                                  </a:rPr>
                                </m:ctrlPr>
                              </m:accPr>
                              <m:e>
                                <m:r>
                                  <a:rPr lang="en-US" sz="2400" i="1">
                                    <a:effectLst/>
                                    <a:latin typeface="Cambria Math" panose="02040503050406030204" pitchFamily="18" charset="0"/>
                                    <a:ea typeface="Times New Roman" panose="02020603050405020304" pitchFamily="18" charset="0"/>
                                  </a:rPr>
                                  <m:t>𝐷</m:t>
                                </m:r>
                              </m:e>
                            </m:acc>
                          </m:e>
                        </m:eqArr>
                      </m:e>
                      <m:sub>
                        <m:r>
                          <a:rPr lang="en-US" sz="2400" i="1">
                            <a:effectLst/>
                            <a:latin typeface="Cambria Math" panose="02040503050406030204" pitchFamily="18" charset="0"/>
                            <a:ea typeface="Times New Roman" panose="02020603050405020304" pitchFamily="18" charset="0"/>
                          </a:rPr>
                          <m:t>𝑤</m:t>
                        </m:r>
                      </m:sub>
                    </m:sSub>
                    <m:r>
                      <a:rPr lang="en-US" sz="2400" i="1">
                        <a:effectLst/>
                        <a:latin typeface="Cambria Math" panose="02040503050406030204" pitchFamily="18" charset="0"/>
                        <a:ea typeface="Times New Roman" panose="02020603050405020304" pitchFamily="18" charset="0"/>
                      </a:rPr>
                      <m:t>       </m:t>
                    </m:r>
                    <m:d>
                      <m:dPr>
                        <m:ctrlPr>
                          <a:rPr lang="en-US" sz="2400" i="1">
                            <a:effectLst/>
                            <a:latin typeface="Cambria Math" panose="02040503050406030204" pitchFamily="18" charset="0"/>
                            <a:ea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rPr>
                          <m:t>𝑒</m:t>
                        </m:r>
                      </m:e>
                    </m:d>
                    <m:r>
                      <a:rPr lang="en-US" sz="2400" i="1">
                        <a:effectLst/>
                        <a:latin typeface="Cambria Math" panose="02040503050406030204" pitchFamily="18" charset="0"/>
                        <a:ea typeface="Times New Roman" panose="02020603050405020304" pitchFamily="18" charset="0"/>
                      </a:rPr>
                      <m:t> </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𝑁</m:t>
                        </m:r>
                      </m:e>
                      <m:sub>
                        <m:r>
                          <a:rPr lang="en-US" sz="2400" i="1">
                            <a:effectLst/>
                            <a:latin typeface="Cambria Math" panose="02040503050406030204" pitchFamily="18" charset="0"/>
                            <a:ea typeface="Times New Roman" panose="02020603050405020304" pitchFamily="18" charset="0"/>
                          </a:rPr>
                          <m:t>𝑖</m:t>
                        </m:r>
                        <m:r>
                          <a:rPr lang="en-US" sz="2400" i="1">
                            <a:effectLst/>
                            <a:latin typeface="Cambria Math" panose="02040503050406030204" pitchFamily="18" charset="0"/>
                            <a:ea typeface="Times New Roman" panose="02020603050405020304" pitchFamily="18" charset="0"/>
                          </a:rPr>
                          <m:t> </m:t>
                        </m:r>
                      </m:sub>
                    </m:sSub>
                    <m:r>
                      <a:rPr lang="en-US" sz="2400" i="1">
                        <a:effectLst/>
                        <a:latin typeface="Cambria Math" panose="02040503050406030204" pitchFamily="18" charset="0"/>
                        <a:ea typeface="Times New Roman" panose="02020603050405020304" pitchFamily="18" charset="0"/>
                      </a:rPr>
                      <m:t>𝑓𝑜𝑟</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𝑡h𝑒</m:t>
                    </m:r>
                    <m:r>
                      <a:rPr lang="en-US" sz="2400" i="1">
                        <a:effectLst/>
                        <a:latin typeface="Cambria Math" panose="02040503050406030204" pitchFamily="18" charset="0"/>
                        <a:ea typeface="Times New Roman" panose="02020603050405020304" pitchFamily="18" charset="0"/>
                      </a:rPr>
                      <m:t> </m:t>
                    </m:r>
                    <m:f>
                      <m:fPr>
                        <m:type m:val="skw"/>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150</m:t>
                        </m:r>
                      </m:num>
                      <m:den>
                        <m:r>
                          <a:rPr lang="en-US" sz="2400" i="1">
                            <a:effectLst/>
                            <a:latin typeface="Cambria Math" panose="02040503050406030204" pitchFamily="18" charset="0"/>
                            <a:ea typeface="Times New Roman" panose="02020603050405020304" pitchFamily="18" charset="0"/>
                          </a:rPr>
                          <m:t>200</m:t>
                        </m:r>
                      </m:den>
                    </m:f>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𝑚𝑒𝑠h</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𝑖𝑛𝑐𝑟𝑒𝑚𝑒𝑛𝑡</m:t>
                    </m:r>
                  </m:oMath>
                </a14:m>
                <a:endParaRPr lang="en-US" sz="2400" dirty="0">
                  <a:effectLst/>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mj-lt"/>
                  <a:buAutoNum type="alphaLcParenBoth" startAt="6"/>
                </a:pPr>
                <a:r>
                  <a:rPr lang="en-US" sz="2400" dirty="0">
                    <a:effectLst/>
                    <a:latin typeface="Times New Roman" panose="02020603050405020304" pitchFamily="18" charset="0"/>
                    <a:ea typeface="Times New Roman" panose="02020603050405020304" pitchFamily="18" charset="0"/>
                  </a:rPr>
                  <a:t>What fraction of the total </a:t>
                </a:r>
                <a:r>
                  <a:rPr lang="en-US" sz="2400" dirty="0" err="1">
                    <a:effectLst/>
                    <a:latin typeface="Times New Roman" panose="02020603050405020304" pitchFamily="18" charset="0"/>
                    <a:ea typeface="Times New Roman" panose="02020603050405020304" pitchFamily="18" charset="0"/>
                  </a:rPr>
                  <a:t>numberof</a:t>
                </a:r>
                <a:r>
                  <a:rPr lang="en-US" sz="2400" dirty="0">
                    <a:effectLst/>
                    <a:latin typeface="Times New Roman" panose="02020603050405020304" pitchFamily="18" charset="0"/>
                    <a:ea typeface="Times New Roman" panose="02020603050405020304" pitchFamily="18" charset="0"/>
                  </a:rPr>
                  <a:t> particles is in the 150/200 mesh increment</a:t>
                </a:r>
              </a:p>
            </p:txBody>
          </p:sp>
        </mc:Choice>
        <mc:Fallback xmlns="">
          <p:sp>
            <p:nvSpPr>
              <p:cNvPr id="9" name="TextBox 8">
                <a:extLst>
                  <a:ext uri="{FF2B5EF4-FFF2-40B4-BE49-F238E27FC236}">
                    <a16:creationId xmlns:a16="http://schemas.microsoft.com/office/drawing/2014/main" id="{3BF6477A-7BD7-4DD7-2566-51B4AB3C1C1C}"/>
                  </a:ext>
                </a:extLst>
              </p:cNvPr>
              <p:cNvSpPr txBox="1">
                <a:spLocks noRot="1" noChangeAspect="1" noMove="1" noResize="1" noEditPoints="1" noAdjustHandles="1" noChangeArrowheads="1" noChangeShapeType="1" noTextEdit="1"/>
              </p:cNvSpPr>
              <p:nvPr/>
            </p:nvSpPr>
            <p:spPr>
              <a:xfrm>
                <a:off x="1004888" y="1561713"/>
                <a:ext cx="18624226" cy="2449325"/>
              </a:xfrm>
              <a:prstGeom prst="rect">
                <a:avLst/>
              </a:prstGeom>
              <a:blipFill>
                <a:blip r:embed="rId3"/>
                <a:stretch>
                  <a:fillRect l="-524" t="-1990" r="-491" b="-4726"/>
                </a:stretch>
              </a:blipFill>
            </p:spPr>
            <p:txBody>
              <a:bodyPr/>
              <a:lstStyle/>
              <a:p>
                <a:r>
                  <a:rPr lang="en-US">
                    <a:noFill/>
                  </a:rPr>
                  <a:t> </a:t>
                </a:r>
              </a:p>
            </p:txBody>
          </p:sp>
        </mc:Fallback>
      </mc:AlternateContent>
      <p:graphicFrame>
        <p:nvGraphicFramePr>
          <p:cNvPr id="10" name="Table 9">
            <a:extLst>
              <a:ext uri="{FF2B5EF4-FFF2-40B4-BE49-F238E27FC236}">
                <a16:creationId xmlns:a16="http://schemas.microsoft.com/office/drawing/2014/main" id="{FA4270D0-6FE2-102C-9D7C-3250288B6D2D}"/>
              </a:ext>
            </a:extLst>
          </p:cNvPr>
          <p:cNvGraphicFramePr>
            <a:graphicFrameLocks noGrp="1"/>
          </p:cNvGraphicFramePr>
          <p:nvPr>
            <p:extLst>
              <p:ext uri="{D42A27DB-BD31-4B8C-83A1-F6EECF244321}">
                <p14:modId xmlns:p14="http://schemas.microsoft.com/office/powerpoint/2010/main" val="2754290591"/>
              </p:ext>
            </p:extLst>
          </p:nvPr>
        </p:nvGraphicFramePr>
        <p:xfrm>
          <a:off x="1822450" y="4121803"/>
          <a:ext cx="8979937" cy="6042648"/>
        </p:xfrm>
        <a:graphic>
          <a:graphicData uri="http://schemas.openxmlformats.org/drawingml/2006/table">
            <a:tbl>
              <a:tblPr firstRow="1" firstCol="1" bandRow="1">
                <a:tableStyleId>{5C22544A-7EE6-4342-B048-85BDC9FD1C3A}</a:tableStyleId>
              </a:tblPr>
              <a:tblGrid>
                <a:gridCol w="1597911">
                  <a:extLst>
                    <a:ext uri="{9D8B030D-6E8A-4147-A177-3AD203B41FA5}">
                      <a16:colId xmlns:a16="http://schemas.microsoft.com/office/drawing/2014/main" val="4191745144"/>
                    </a:ext>
                  </a:extLst>
                </a:gridCol>
                <a:gridCol w="3487113">
                  <a:extLst>
                    <a:ext uri="{9D8B030D-6E8A-4147-A177-3AD203B41FA5}">
                      <a16:colId xmlns:a16="http://schemas.microsoft.com/office/drawing/2014/main" val="1569913226"/>
                    </a:ext>
                  </a:extLst>
                </a:gridCol>
                <a:gridCol w="3894913">
                  <a:extLst>
                    <a:ext uri="{9D8B030D-6E8A-4147-A177-3AD203B41FA5}">
                      <a16:colId xmlns:a16="http://schemas.microsoft.com/office/drawing/2014/main" val="2921561207"/>
                    </a:ext>
                  </a:extLst>
                </a:gridCol>
              </a:tblGrid>
              <a:tr h="922008">
                <a:tc>
                  <a:txBody>
                    <a:bodyPr/>
                    <a:lstStyle/>
                    <a:p>
                      <a:pPr marL="0" marR="0" algn="ctr">
                        <a:spcBef>
                          <a:spcPts val="0"/>
                        </a:spcBef>
                        <a:spcAft>
                          <a:spcPts val="0"/>
                        </a:spcAft>
                      </a:pPr>
                      <a:r>
                        <a:rPr lang="en-US" sz="2400">
                          <a:effectLst/>
                        </a:rPr>
                        <a:t>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Screen Opening</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1054899450"/>
                  </a:ext>
                </a:extLst>
              </a:tr>
              <a:tr h="307336">
                <a:tc>
                  <a:txBody>
                    <a:bodyPr/>
                    <a:lstStyle/>
                    <a:p>
                      <a:pPr marL="0" marR="0" algn="ctr">
                        <a:spcBef>
                          <a:spcPts val="0"/>
                        </a:spcBef>
                        <a:spcAft>
                          <a:spcPts val="0"/>
                        </a:spcAft>
                      </a:pPr>
                      <a:r>
                        <a:rPr lang="en-US" sz="2400">
                          <a:effectLst/>
                        </a:rPr>
                        <a:t>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4.699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774111427"/>
                  </a:ext>
                </a:extLst>
              </a:tr>
              <a:tr h="307336">
                <a:tc>
                  <a:txBody>
                    <a:bodyPr/>
                    <a:lstStyle/>
                    <a:p>
                      <a:pPr marL="0" marR="0" algn="ctr">
                        <a:spcBef>
                          <a:spcPts val="0"/>
                        </a:spcBef>
                        <a:spcAft>
                          <a:spcPts val="0"/>
                        </a:spcAft>
                      </a:pPr>
                      <a:r>
                        <a:rPr lang="en-US" sz="2400">
                          <a:effectLst/>
                        </a:rPr>
                        <a:t>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3.327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0.0251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73472873"/>
                  </a:ext>
                </a:extLst>
              </a:tr>
              <a:tr h="307336">
                <a:tc>
                  <a:txBody>
                    <a:bodyPr/>
                    <a:lstStyle/>
                    <a:p>
                      <a:pPr marL="0" marR="0" algn="ctr">
                        <a:spcBef>
                          <a:spcPts val="0"/>
                        </a:spcBef>
                        <a:spcAft>
                          <a:spcPts val="0"/>
                        </a:spcAft>
                      </a:pPr>
                      <a:r>
                        <a:rPr lang="en-US" sz="2400">
                          <a:effectLst/>
                        </a:rPr>
                        <a:t>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2.362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0.125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4003571978"/>
                  </a:ext>
                </a:extLst>
              </a:tr>
              <a:tr h="307336">
                <a:tc>
                  <a:txBody>
                    <a:bodyPr/>
                    <a:lstStyle/>
                    <a:p>
                      <a:pPr marL="0" marR="0" algn="ctr">
                        <a:spcBef>
                          <a:spcPts val="0"/>
                        </a:spcBef>
                        <a:spcAft>
                          <a:spcPts val="0"/>
                        </a:spcAft>
                      </a:pPr>
                      <a:r>
                        <a:rPr lang="en-US" sz="2400">
                          <a:effectLst/>
                        </a:rPr>
                        <a:t>10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1.651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0.3207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1755584015"/>
                  </a:ext>
                </a:extLst>
              </a:tr>
              <a:tr h="307336">
                <a:tc>
                  <a:txBody>
                    <a:bodyPr/>
                    <a:lstStyle/>
                    <a:p>
                      <a:pPr marL="0" marR="0" algn="ctr">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1.168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0.257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1194256748"/>
                  </a:ext>
                </a:extLst>
              </a:tr>
              <a:tr h="307336">
                <a:tc>
                  <a:txBody>
                    <a:bodyPr/>
                    <a:lstStyle/>
                    <a:p>
                      <a:pPr marL="0" marR="0" algn="ctr">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0.833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0.159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863346994"/>
                  </a:ext>
                </a:extLst>
              </a:tr>
              <a:tr h="307336">
                <a:tc>
                  <a:txBody>
                    <a:bodyPr/>
                    <a:lstStyle/>
                    <a:p>
                      <a:pPr marL="0" marR="0" algn="ctr">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0.589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0.0538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645942859"/>
                  </a:ext>
                </a:extLst>
              </a:tr>
              <a:tr h="307336">
                <a:tc>
                  <a:txBody>
                    <a:bodyPr/>
                    <a:lstStyle/>
                    <a:p>
                      <a:pPr marL="0" marR="0" algn="ctr">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0.417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0.021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353444567"/>
                  </a:ext>
                </a:extLst>
              </a:tr>
              <a:tr h="307336">
                <a:tc>
                  <a:txBody>
                    <a:bodyPr/>
                    <a:lstStyle/>
                    <a:p>
                      <a:pPr marL="0" marR="0" algn="ctr">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0.295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0.0102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1822077371"/>
                  </a:ext>
                </a:extLst>
              </a:tr>
              <a:tr h="307336">
                <a:tc>
                  <a:txBody>
                    <a:bodyPr/>
                    <a:lstStyle/>
                    <a:p>
                      <a:pPr marL="0" marR="0" algn="ctr">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0.208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0.0077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2287947082"/>
                  </a:ext>
                </a:extLst>
              </a:tr>
              <a:tr h="325113">
                <a:tc>
                  <a:txBody>
                    <a:bodyPr/>
                    <a:lstStyle/>
                    <a:p>
                      <a:pPr marL="0" marR="0" algn="ctr">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0.147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0.0058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2072817212"/>
                  </a:ext>
                </a:extLst>
              </a:tr>
              <a:tr h="288032">
                <a:tc>
                  <a:txBody>
                    <a:bodyPr/>
                    <a:lstStyle/>
                    <a:p>
                      <a:pPr marL="0" marR="0" algn="ctr">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0.104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0.0041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25490252"/>
                  </a:ext>
                </a:extLst>
              </a:tr>
              <a:tr h="343272">
                <a:tc>
                  <a:txBody>
                    <a:bodyPr/>
                    <a:lstStyle/>
                    <a:p>
                      <a:pPr marL="0" marR="0" algn="ctr">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0.074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a:effectLst/>
                        </a:rPr>
                        <a:t>0.0031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408756078"/>
                  </a:ext>
                </a:extLst>
              </a:tr>
              <a:tr h="236727">
                <a:tc>
                  <a:txBody>
                    <a:bodyPr/>
                    <a:lstStyle/>
                    <a:p>
                      <a:pPr marL="0" marR="0" algn="ctr">
                        <a:spcBef>
                          <a:spcPts val="0"/>
                        </a:spcBef>
                        <a:spcAft>
                          <a:spcPts val="0"/>
                        </a:spcAft>
                      </a:pPr>
                      <a:r>
                        <a:rPr lang="en-US" sz="2400">
                          <a:effectLst/>
                        </a:rPr>
                        <a:t>Pan</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algn="ctr"/>
                      <a:endParaRPr lang="en-US" sz="2400">
                        <a:effectLst/>
                        <a:latin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400" dirty="0">
                          <a:effectLst/>
                        </a:rPr>
                        <a:t>0.0075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1098496710"/>
                  </a:ext>
                </a:extLst>
              </a:tr>
            </a:tbl>
          </a:graphicData>
        </a:graphic>
      </p:graphicFrame>
    </p:spTree>
    <p:extLst>
      <p:ext uri="{BB962C8B-B14F-4D97-AF65-F5344CB8AC3E}">
        <p14:creationId xmlns:p14="http://schemas.microsoft.com/office/powerpoint/2010/main" val="2849565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sp>
        <p:nvSpPr>
          <p:cNvPr id="8" name="TextBox 7">
            <a:extLst>
              <a:ext uri="{FF2B5EF4-FFF2-40B4-BE49-F238E27FC236}">
                <a16:creationId xmlns:a16="http://schemas.microsoft.com/office/drawing/2014/main" id="{5DDCFC37-06C9-AD5B-BBEE-4C92D740FA9F}"/>
              </a:ext>
            </a:extLst>
          </p:cNvPr>
          <p:cNvSpPr txBox="1"/>
          <p:nvPr/>
        </p:nvSpPr>
        <p:spPr>
          <a:xfrm>
            <a:off x="889204" y="1595269"/>
            <a:ext cx="18624226" cy="523220"/>
          </a:xfrm>
          <a:prstGeom prst="rect">
            <a:avLst/>
          </a:prstGeom>
          <a:noFill/>
        </p:spPr>
        <p:txBody>
          <a:bodyPr wrap="square">
            <a:spAutoFit/>
          </a:bodyPr>
          <a:lstStyle/>
          <a:p>
            <a:pPr marL="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Solution</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E0811AED-8865-0FC5-4DC2-0476D6DD8499}"/>
                  </a:ext>
                </a:extLst>
              </p:cNvPr>
              <p:cNvGraphicFramePr>
                <a:graphicFrameLocks noGrp="1"/>
              </p:cNvGraphicFramePr>
              <p:nvPr>
                <p:extLst>
                  <p:ext uri="{D42A27DB-BD31-4B8C-83A1-F6EECF244321}">
                    <p14:modId xmlns:p14="http://schemas.microsoft.com/office/powerpoint/2010/main" val="1513769192"/>
                  </p:ext>
                </p:extLst>
              </p:nvPr>
            </p:nvGraphicFramePr>
            <p:xfrm>
              <a:off x="1029264" y="2270298"/>
              <a:ext cx="18239811" cy="8313968"/>
            </p:xfrm>
            <a:graphic>
              <a:graphicData uri="http://schemas.openxmlformats.org/drawingml/2006/table">
                <a:tbl>
                  <a:tblPr firstRow="1" firstCol="1" bandRow="1">
                    <a:tableStyleId>{5C22544A-7EE6-4342-B048-85BDC9FD1C3A}</a:tableStyleId>
                  </a:tblPr>
                  <a:tblGrid>
                    <a:gridCol w="1200340">
                      <a:extLst>
                        <a:ext uri="{9D8B030D-6E8A-4147-A177-3AD203B41FA5}">
                          <a16:colId xmlns:a16="http://schemas.microsoft.com/office/drawing/2014/main" val="4208853369"/>
                        </a:ext>
                      </a:extLst>
                    </a:gridCol>
                    <a:gridCol w="1629512">
                      <a:extLst>
                        <a:ext uri="{9D8B030D-6E8A-4147-A177-3AD203B41FA5}">
                          <a16:colId xmlns:a16="http://schemas.microsoft.com/office/drawing/2014/main" val="634473850"/>
                        </a:ext>
                      </a:extLst>
                    </a:gridCol>
                    <a:gridCol w="1631193">
                      <a:extLst>
                        <a:ext uri="{9D8B030D-6E8A-4147-A177-3AD203B41FA5}">
                          <a16:colId xmlns:a16="http://schemas.microsoft.com/office/drawing/2014/main" val="2604812176"/>
                        </a:ext>
                      </a:extLst>
                    </a:gridCol>
                    <a:gridCol w="1904450">
                      <a:extLst>
                        <a:ext uri="{9D8B030D-6E8A-4147-A177-3AD203B41FA5}">
                          <a16:colId xmlns:a16="http://schemas.microsoft.com/office/drawing/2014/main" val="681632178"/>
                        </a:ext>
                      </a:extLst>
                    </a:gridCol>
                    <a:gridCol w="2355419">
                      <a:extLst>
                        <a:ext uri="{9D8B030D-6E8A-4147-A177-3AD203B41FA5}">
                          <a16:colId xmlns:a16="http://schemas.microsoft.com/office/drawing/2014/main" val="3295456792"/>
                        </a:ext>
                      </a:extLst>
                    </a:gridCol>
                    <a:gridCol w="2440914">
                      <a:extLst>
                        <a:ext uri="{9D8B030D-6E8A-4147-A177-3AD203B41FA5}">
                          <a16:colId xmlns:a16="http://schemas.microsoft.com/office/drawing/2014/main" val="2095034162"/>
                        </a:ext>
                      </a:extLst>
                    </a:gridCol>
                    <a:gridCol w="3134967">
                      <a:extLst>
                        <a:ext uri="{9D8B030D-6E8A-4147-A177-3AD203B41FA5}">
                          <a16:colId xmlns:a16="http://schemas.microsoft.com/office/drawing/2014/main" val="81680055"/>
                        </a:ext>
                      </a:extLst>
                    </a:gridCol>
                    <a:gridCol w="1971508">
                      <a:extLst>
                        <a:ext uri="{9D8B030D-6E8A-4147-A177-3AD203B41FA5}">
                          <a16:colId xmlns:a16="http://schemas.microsoft.com/office/drawing/2014/main" val="4097241508"/>
                        </a:ext>
                      </a:extLst>
                    </a:gridCol>
                    <a:gridCol w="1971508">
                      <a:extLst>
                        <a:ext uri="{9D8B030D-6E8A-4147-A177-3AD203B41FA5}">
                          <a16:colId xmlns:a16="http://schemas.microsoft.com/office/drawing/2014/main" val="3308780251"/>
                        </a:ext>
                      </a:extLst>
                    </a:gridCol>
                  </a:tblGrid>
                  <a:tr h="1470316">
                    <a:tc>
                      <a:txBody>
                        <a:bodyPr/>
                        <a:lstStyle/>
                        <a:p>
                          <a:pPr marL="0" marR="0" algn="just">
                            <a:spcBef>
                              <a:spcPts val="0"/>
                            </a:spcBef>
                            <a:spcAft>
                              <a:spcPts val="0"/>
                            </a:spcAft>
                          </a:pPr>
                          <a:r>
                            <a:rPr lang="en-US" sz="2400">
                              <a:effectLst/>
                            </a:rPr>
                            <a:t>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r>
                            <a:rPr lang="en-US" sz="2400">
                              <a:effectLst/>
                            </a:rPr>
                            <a:t>Screen Opening</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r>
                            <a:rPr lang="en-US" sz="2400">
                              <a:effectLst/>
                            </a:rPr>
                            <a:t>Average diameter in increment </a:t>
                          </a:r>
                          <a14:m>
                            <m:oMath xmlns:m="http://schemas.openxmlformats.org/officeDocument/2006/math">
                              <m:acc>
                                <m:accPr>
                                  <m:chr m:val="̅"/>
                                  <m:ctrlPr>
                                    <a:rPr lang="en-US" sz="2400" i="1">
                                      <a:effectLst/>
                                      <a:latin typeface="Cambria Math" panose="02040503050406030204" pitchFamily="18" charset="0"/>
                                    </a:rPr>
                                  </m:ctrlPr>
                                </m:accPr>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𝐷</m:t>
                                      </m:r>
                                    </m:e>
                                    <m:sub>
                                      <m:r>
                                        <a:rPr lang="en-US" sz="2400">
                                          <a:effectLst/>
                                          <a:latin typeface="Cambria Math" panose="02040503050406030204" pitchFamily="18" charset="0"/>
                                        </a:rPr>
                                        <m:t>𝑃𝑖</m:t>
                                      </m:r>
                                    </m:sub>
                                  </m:sSub>
                                </m:e>
                              </m:acc>
                            </m:oMath>
                          </a14:m>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r>
                            <a:rPr lang="en-US" sz="2400">
                              <a:effectLst/>
                            </a:rPr>
                            <a:t>Cummulative mass fraction larger than </a:t>
                          </a:r>
                          <a14:m>
                            <m:oMath xmlns:m="http://schemas.openxmlformats.org/officeDocument/2006/math">
                              <m:acc>
                                <m:accPr>
                                  <m:chr m:val="̅"/>
                                  <m:ctrlPr>
                                    <a:rPr lang="en-US" sz="2400" i="1">
                                      <a:effectLst/>
                                      <a:latin typeface="Cambria Math" panose="02040503050406030204" pitchFamily="18" charset="0"/>
                                    </a:rPr>
                                  </m:ctrlPr>
                                </m:accPr>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𝐷</m:t>
                                      </m:r>
                                    </m:e>
                                    <m:sub>
                                      <m:r>
                                        <a:rPr lang="en-US" sz="2400">
                                          <a:effectLst/>
                                          <a:latin typeface="Cambria Math" panose="02040503050406030204" pitchFamily="18" charset="0"/>
                                        </a:rPr>
                                        <m:t>𝑃𝑖</m:t>
                                      </m:r>
                                    </m:sub>
                                  </m:sSub>
                                </m:e>
                              </m:acc>
                            </m:oMath>
                          </a14:m>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r>
                            <a:rPr lang="en-US" sz="2400">
                              <a:effectLst/>
                            </a:rPr>
                            <a:t>Cummlualtive fraction smaller than </a:t>
                          </a:r>
                          <a14:m>
                            <m:oMath xmlns:m="http://schemas.openxmlformats.org/officeDocument/2006/math">
                              <m:acc>
                                <m:accPr>
                                  <m:chr m:val="̅"/>
                                  <m:ctrlPr>
                                    <a:rPr lang="en-US" sz="2400" i="1">
                                      <a:effectLst/>
                                      <a:latin typeface="Cambria Math" panose="02040503050406030204" pitchFamily="18" charset="0"/>
                                    </a:rPr>
                                  </m:ctrlPr>
                                </m:accPr>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𝐷</m:t>
                                      </m:r>
                                    </m:e>
                                    <m:sub>
                                      <m:r>
                                        <a:rPr lang="en-US" sz="2400">
                                          <a:effectLst/>
                                          <a:latin typeface="Cambria Math" panose="02040503050406030204" pitchFamily="18" charset="0"/>
                                        </a:rPr>
                                        <m:t>𝑃𝑖</m:t>
                                      </m:r>
                                    </m:sub>
                                  </m:sSub>
                                </m:e>
                              </m:acc>
                            </m:oMath>
                          </a14:m>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𝑖</m:t>
                                        </m:r>
                                      </m:sub>
                                    </m:sSub>
                                  </m:num>
                                  <m:den>
                                    <m:acc>
                                      <m:accPr>
                                        <m:chr m:val="̅"/>
                                        <m:ctrlPr>
                                          <a:rPr lang="en-US" sz="2400" i="1">
                                            <a:effectLst/>
                                            <a:latin typeface="Cambria Math" panose="02040503050406030204" pitchFamily="18" charset="0"/>
                                          </a:rPr>
                                        </m:ctrlPr>
                                      </m:accPr>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𝐷</m:t>
                                            </m:r>
                                          </m:e>
                                          <m:sub>
                                            <m:r>
                                              <a:rPr lang="en-US" sz="2400">
                                                <a:effectLst/>
                                                <a:latin typeface="Cambria Math" panose="02040503050406030204" pitchFamily="18" charset="0"/>
                                              </a:rPr>
                                              <m:t>𝑃𝑖</m:t>
                                            </m:r>
                                          </m:sub>
                                        </m:sSub>
                                      </m:e>
                                    </m:acc>
                                  </m:den>
                                </m:f>
                              </m:oMath>
                            </m:oMathPara>
                          </a14:m>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𝑖</m:t>
                                        </m:r>
                                      </m:sub>
                                    </m:sSub>
                                  </m:num>
                                  <m:den>
                                    <m:sSubSup>
                                      <m:sSubSupPr>
                                        <m:ctrlPr>
                                          <a:rPr lang="en-US" sz="2400" i="1">
                                            <a:effectLst/>
                                            <a:latin typeface="Cambria Math" panose="02040503050406030204" pitchFamily="18" charset="0"/>
                                          </a:rPr>
                                        </m:ctrlPr>
                                      </m:sSubSupPr>
                                      <m:e>
                                        <m:acc>
                                          <m:accPr>
                                            <m:chr m:val="̅"/>
                                            <m:ctrlPr>
                                              <a:rPr lang="en-US" sz="2400" i="1">
                                                <a:effectLst/>
                                                <a:latin typeface="Cambria Math" panose="02040503050406030204" pitchFamily="18" charset="0"/>
                                              </a:rPr>
                                            </m:ctrlPr>
                                          </m:accPr>
                                          <m:e>
                                            <m:r>
                                              <a:rPr lang="en-US" sz="2400">
                                                <a:effectLst/>
                                                <a:latin typeface="Cambria Math" panose="02040503050406030204" pitchFamily="18" charset="0"/>
                                              </a:rPr>
                                              <m:t>𝐷</m:t>
                                            </m:r>
                                          </m:e>
                                        </m:acc>
                                      </m:e>
                                      <m:sub>
                                        <m:r>
                                          <a:rPr lang="en-US" sz="2400">
                                            <a:effectLst/>
                                            <a:latin typeface="Cambria Math" panose="02040503050406030204" pitchFamily="18" charset="0"/>
                                          </a:rPr>
                                          <m:t>𝑝𝑖</m:t>
                                        </m:r>
                                      </m:sub>
                                      <m:sup>
                                        <m:r>
                                          <a:rPr lang="en-US" sz="2400">
                                            <a:effectLst/>
                                            <a:latin typeface="Cambria Math" panose="02040503050406030204" pitchFamily="18" charset="0"/>
                                          </a:rPr>
                                          <m:t>3</m:t>
                                        </m:r>
                                      </m:sup>
                                    </m:sSubSup>
                                  </m:den>
                                </m:f>
                              </m:oMath>
                            </m:oMathPara>
                          </a14:m>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𝑖</m:t>
                                    </m:r>
                                  </m:sub>
                                </m:sSub>
                                <m:acc>
                                  <m:accPr>
                                    <m:chr m:val="̅"/>
                                    <m:ctrlPr>
                                      <a:rPr lang="en-US" sz="2400" i="1">
                                        <a:effectLst/>
                                        <a:latin typeface="Cambria Math" panose="02040503050406030204" pitchFamily="18" charset="0"/>
                                      </a:rPr>
                                    </m:ctrlPr>
                                  </m:accPr>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𝐷</m:t>
                                        </m:r>
                                      </m:e>
                                      <m:sub>
                                        <m:r>
                                          <a:rPr lang="en-US" sz="2400">
                                            <a:effectLst/>
                                            <a:latin typeface="Cambria Math" panose="02040503050406030204" pitchFamily="18" charset="0"/>
                                          </a:rPr>
                                          <m:t>𝑃𝑖</m:t>
                                        </m:r>
                                      </m:sub>
                                    </m:sSub>
                                  </m:e>
                                </m:acc>
                              </m:oMath>
                            </m:oMathPara>
                          </a14:m>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extLst>
                      <a:ext uri="{0D108BD9-81ED-4DB2-BD59-A6C34878D82A}">
                        <a16:rowId xmlns:a16="http://schemas.microsoft.com/office/drawing/2014/main" val="3150517882"/>
                      </a:ext>
                    </a:extLst>
                  </a:tr>
                  <a:tr h="367579">
                    <a:tc>
                      <a:txBody>
                        <a:bodyPr/>
                        <a:lstStyle/>
                        <a:p>
                          <a:pPr marL="0" marR="0" algn="just">
                            <a:spcBef>
                              <a:spcPts val="0"/>
                            </a:spcBef>
                            <a:spcAft>
                              <a:spcPts val="0"/>
                            </a:spcAft>
                          </a:pPr>
                          <a:r>
                            <a:rPr lang="en-US" sz="2400">
                              <a:effectLst/>
                            </a:rPr>
                            <a:t>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4.699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extLst>
                      <a:ext uri="{0D108BD9-81ED-4DB2-BD59-A6C34878D82A}">
                        <a16:rowId xmlns:a16="http://schemas.microsoft.com/office/drawing/2014/main" val="1746236773"/>
                      </a:ext>
                    </a:extLst>
                  </a:tr>
                  <a:tr h="391799">
                    <a:tc>
                      <a:txBody>
                        <a:bodyPr/>
                        <a:lstStyle/>
                        <a:p>
                          <a:pPr marL="0" marR="0" algn="just">
                            <a:spcBef>
                              <a:spcPts val="0"/>
                            </a:spcBef>
                            <a:spcAft>
                              <a:spcPts val="0"/>
                            </a:spcAft>
                          </a:pPr>
                          <a:r>
                            <a:rPr lang="en-US" sz="2400">
                              <a:effectLst/>
                            </a:rPr>
                            <a:t>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3.327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4.013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0.9749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0.006255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0.000388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0.100726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1180220517"/>
                      </a:ext>
                    </a:extLst>
                  </a:tr>
                  <a:tr h="391799">
                    <a:tc>
                      <a:txBody>
                        <a:bodyPr/>
                        <a:lstStyle/>
                        <a:p>
                          <a:pPr marL="0" marR="0" algn="just">
                            <a:spcBef>
                              <a:spcPts val="0"/>
                            </a:spcBef>
                            <a:spcAft>
                              <a:spcPts val="0"/>
                            </a:spcAft>
                          </a:pPr>
                          <a:r>
                            <a:rPr lang="en-US" sz="2400">
                              <a:effectLst/>
                            </a:rPr>
                            <a:t>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2.362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0.125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2.8445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0.1501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0.8499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0.043944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0.005431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0.355563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1407150080"/>
                      </a:ext>
                    </a:extLst>
                  </a:tr>
                  <a:tr h="391799">
                    <a:tc>
                      <a:txBody>
                        <a:bodyPr/>
                        <a:lstStyle/>
                        <a:p>
                          <a:pPr marL="0" marR="0" algn="just">
                            <a:spcBef>
                              <a:spcPts val="0"/>
                            </a:spcBef>
                            <a:spcAft>
                              <a:spcPts val="0"/>
                            </a:spcAft>
                          </a:pPr>
                          <a:r>
                            <a:rPr lang="en-US" sz="2400">
                              <a:effectLst/>
                            </a:rPr>
                            <a:t>10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1.651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0.3207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2.0065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0.4708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0.5292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0.159831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0.039699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0.643485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769962684"/>
                      </a:ext>
                    </a:extLst>
                  </a:tr>
                  <a:tr h="391799">
                    <a:tc>
                      <a:txBody>
                        <a:bodyPr/>
                        <a:lstStyle/>
                        <a:p>
                          <a:pPr marL="0" marR="0" algn="just">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1.168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0.257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1.4095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0.7278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0.2722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0.182334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0.091778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0.362242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2050970405"/>
                      </a:ext>
                    </a:extLst>
                  </a:tr>
                  <a:tr h="391799">
                    <a:tc>
                      <a:txBody>
                        <a:bodyPr/>
                        <a:lstStyle/>
                        <a:p>
                          <a:pPr marL="0" marR="0" algn="just">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0.833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1.0005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0.8868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0.1132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0.158921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0.158762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0.15908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3912100938"/>
                      </a:ext>
                    </a:extLst>
                  </a:tr>
                  <a:tr h="391799">
                    <a:tc>
                      <a:txBody>
                        <a:bodyPr/>
                        <a:lstStyle/>
                        <a:p>
                          <a:pPr marL="0" marR="0" algn="just">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0.589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0.0538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0.711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0.9406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0.0594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0.075668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0.149683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0.038252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921517434"/>
                      </a:ext>
                    </a:extLst>
                  </a:tr>
                  <a:tr h="391799">
                    <a:tc>
                      <a:txBody>
                        <a:bodyPr/>
                        <a:lstStyle/>
                        <a:p>
                          <a:pPr marL="0" marR="0" algn="just">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0.417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0.503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0.9616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0.0384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0.04175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0.165012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0.010563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515614668"/>
                      </a:ext>
                    </a:extLst>
                  </a:tr>
                  <a:tr h="391799">
                    <a:tc>
                      <a:txBody>
                        <a:bodyPr/>
                        <a:lstStyle/>
                        <a:p>
                          <a:pPr marL="0" marR="0" algn="just">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0.295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0.0102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0.356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0.9718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0.0282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0.028652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0.226074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0.003631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4166112667"/>
                      </a:ext>
                    </a:extLst>
                  </a:tr>
                  <a:tr h="391799">
                    <a:tc>
                      <a:txBody>
                        <a:bodyPr/>
                        <a:lstStyle/>
                        <a:p>
                          <a:pPr marL="0" marR="0" algn="just">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0.208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0.0077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0.2515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0.9795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0.030616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0.484035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0.001937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3773768890"/>
                      </a:ext>
                    </a:extLst>
                  </a:tr>
                  <a:tr h="391799">
                    <a:tc>
                      <a:txBody>
                        <a:bodyPr/>
                        <a:lstStyle/>
                        <a:p>
                          <a:pPr marL="0" marR="0" algn="just">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0.147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0.0058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0.1775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0.9853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0.0147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0.032676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1.037129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0.00103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412605385"/>
                      </a:ext>
                    </a:extLst>
                  </a:tr>
                  <a:tr h="391799">
                    <a:tc>
                      <a:txBody>
                        <a:bodyPr/>
                        <a:lstStyle/>
                        <a:p>
                          <a:pPr marL="0" marR="0" algn="just">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0.104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0.0041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0.1255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0.9894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0.0106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0.032669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2.07421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0.000515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1398231406"/>
                      </a:ext>
                    </a:extLst>
                  </a:tr>
                  <a:tr h="391799">
                    <a:tc>
                      <a:txBody>
                        <a:bodyPr/>
                        <a:lstStyle/>
                        <a:p>
                          <a:pPr marL="0" marR="0" algn="just">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0.074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0.9925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0.0075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0.034831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4.397356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0.000276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1313327455"/>
                      </a:ext>
                    </a:extLst>
                  </a:tr>
                  <a:tr h="367579">
                    <a:tc>
                      <a:txBody>
                        <a:bodyPr/>
                        <a:lstStyle/>
                        <a:p>
                          <a:pPr marL="0" marR="0" algn="just">
                            <a:spcBef>
                              <a:spcPts val="0"/>
                            </a:spcBef>
                            <a:spcAft>
                              <a:spcPts val="0"/>
                            </a:spcAft>
                          </a:pPr>
                          <a:r>
                            <a:rPr lang="en-US" sz="2400">
                              <a:effectLst/>
                            </a:rPr>
                            <a:t>Pan</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0.0075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extLst>
                      <a:ext uri="{0D108BD9-81ED-4DB2-BD59-A6C34878D82A}">
                        <a16:rowId xmlns:a16="http://schemas.microsoft.com/office/drawing/2014/main" val="2554509792"/>
                      </a:ext>
                    </a:extLst>
                  </a:tr>
                  <a:tr h="1406501">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pPr marL="0" marR="0" algn="just">
                            <a:spcBef>
                              <a:spcPts val="0"/>
                            </a:spcBef>
                            <a:spcAft>
                              <a:spcPts val="0"/>
                            </a:spcAft>
                          </a:pPr>
                          <a14:m>
                            <m:oMath xmlns:m="http://schemas.openxmlformats.org/officeDocument/2006/math">
                              <m:nary>
                                <m:naryPr>
                                  <m:chr m:val="∑"/>
                                  <m:limLoc m:val="undOvr"/>
                                  <m:ctrlPr>
                                    <a:rPr lang="en-US" sz="2400" i="1">
                                      <a:effectLst/>
                                      <a:latin typeface="Cambria Math" panose="02040503050406030204" pitchFamily="18" charset="0"/>
                                    </a:rPr>
                                  </m:ctrlPr>
                                </m:naryPr>
                                <m:sub>
                                  <m:r>
                                    <a:rPr lang="en-US" sz="2400">
                                      <a:effectLst/>
                                      <a:latin typeface="Cambria Math" panose="02040503050406030204" pitchFamily="18" charset="0"/>
                                    </a:rPr>
                                    <m:t>𝑖</m:t>
                                  </m:r>
                                  <m:r>
                                    <a:rPr lang="en-US" sz="2400">
                                      <a:effectLst/>
                                      <a:latin typeface="Cambria Math" panose="02040503050406030204" pitchFamily="18" charset="0"/>
                                    </a:rPr>
                                    <m:t>=1</m:t>
                                  </m:r>
                                </m:sub>
                                <m:sup>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𝑛</m:t>
                                  </m:r>
                                </m:sup>
                                <m:e>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𝑖</m:t>
                                          </m:r>
                                        </m:sub>
                                      </m:sSub>
                                    </m:num>
                                    <m:den>
                                      <m:acc>
                                        <m:accPr>
                                          <m:chr m:val="̅"/>
                                          <m:ctrlPr>
                                            <a:rPr lang="en-US" sz="2400" i="1">
                                              <a:effectLst/>
                                              <a:latin typeface="Cambria Math" panose="02040503050406030204" pitchFamily="18" charset="0"/>
                                            </a:rPr>
                                          </m:ctrlPr>
                                        </m:accPr>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𝐷</m:t>
                                              </m:r>
                                            </m:e>
                                            <m:sub>
                                              <m:r>
                                                <a:rPr lang="en-US" sz="2400">
                                                  <a:effectLst/>
                                                  <a:latin typeface="Cambria Math" panose="02040503050406030204" pitchFamily="18" charset="0"/>
                                                </a:rPr>
                                                <m:t>𝑃𝑖</m:t>
                                              </m:r>
                                            </m:sub>
                                          </m:sSub>
                                        </m:e>
                                      </m:acc>
                                    </m:den>
                                  </m:f>
                                </m:e>
                              </m:nary>
                              <m:r>
                                <a:rPr lang="en-US" sz="2400">
                                  <a:effectLst/>
                                  <a:latin typeface="Cambria Math" panose="02040503050406030204" pitchFamily="18" charset="0"/>
                                </a:rPr>
                                <m:t>=</m:t>
                              </m:r>
                            </m:oMath>
                          </a14:m>
                          <a:r>
                            <a:rPr lang="en-US" sz="2400">
                              <a:effectLst/>
                            </a:rPr>
                            <a:t>0.8284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nary>
                                  <m:naryPr>
                                    <m:chr m:val="∑"/>
                                    <m:limLoc m:val="undOvr"/>
                                    <m:ctrlPr>
                                      <a:rPr lang="en-US" sz="2400" i="1">
                                        <a:effectLst/>
                                        <a:latin typeface="Cambria Math" panose="02040503050406030204" pitchFamily="18" charset="0"/>
                                      </a:rPr>
                                    </m:ctrlPr>
                                  </m:naryPr>
                                  <m:sub>
                                    <m:r>
                                      <a:rPr lang="en-US" sz="2400">
                                        <a:effectLst/>
                                        <a:latin typeface="Cambria Math" panose="02040503050406030204" pitchFamily="18" charset="0"/>
                                      </a:rPr>
                                      <m:t>𝑖</m:t>
                                    </m:r>
                                    <m:r>
                                      <a:rPr lang="en-US" sz="2400">
                                        <a:effectLst/>
                                        <a:latin typeface="Cambria Math" panose="02040503050406030204" pitchFamily="18" charset="0"/>
                                      </a:rPr>
                                      <m:t>=1</m:t>
                                    </m:r>
                                  </m:sub>
                                  <m:sup>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𝑛</m:t>
                                    </m:r>
                                  </m:sup>
                                  <m:e>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𝑖</m:t>
                                            </m:r>
                                          </m:sub>
                                        </m:sSub>
                                      </m:num>
                                      <m:den>
                                        <m:sSubSup>
                                          <m:sSubSupPr>
                                            <m:ctrlPr>
                                              <a:rPr lang="en-US" sz="2400" i="1">
                                                <a:effectLst/>
                                                <a:latin typeface="Cambria Math" panose="02040503050406030204" pitchFamily="18" charset="0"/>
                                              </a:rPr>
                                            </m:ctrlPr>
                                          </m:sSubSupPr>
                                          <m:e>
                                            <m:acc>
                                              <m:accPr>
                                                <m:chr m:val="̅"/>
                                                <m:ctrlPr>
                                                  <a:rPr lang="en-US" sz="2400" i="1">
                                                    <a:effectLst/>
                                                    <a:latin typeface="Cambria Math" panose="02040503050406030204" pitchFamily="18" charset="0"/>
                                                  </a:rPr>
                                                </m:ctrlPr>
                                              </m:accPr>
                                              <m:e>
                                                <m:r>
                                                  <a:rPr lang="en-US" sz="2400">
                                                    <a:effectLst/>
                                                    <a:latin typeface="Cambria Math" panose="02040503050406030204" pitchFamily="18" charset="0"/>
                                                  </a:rPr>
                                                  <m:t>𝐷</m:t>
                                                </m:r>
                                              </m:e>
                                            </m:acc>
                                          </m:e>
                                          <m:sub>
                                            <m:r>
                                              <a:rPr lang="en-US" sz="2400">
                                                <a:effectLst/>
                                                <a:latin typeface="Cambria Math" panose="02040503050406030204" pitchFamily="18" charset="0"/>
                                              </a:rPr>
                                              <m:t>𝑝𝑖</m:t>
                                            </m:r>
                                          </m:sub>
                                          <m:sup>
                                            <m:r>
                                              <a:rPr lang="en-US" sz="2400">
                                                <a:effectLst/>
                                                <a:latin typeface="Cambria Math" panose="02040503050406030204" pitchFamily="18" charset="0"/>
                                              </a:rPr>
                                              <m:t>3</m:t>
                                            </m:r>
                                          </m:sup>
                                        </m:sSubSup>
                                      </m:den>
                                    </m:f>
                                  </m:e>
                                </m:nary>
                                <m:r>
                                  <a:rPr lang="en-US" sz="2400">
                                    <a:effectLst/>
                                    <a:latin typeface="Cambria Math" panose="02040503050406030204" pitchFamily="18" charset="0"/>
                                  </a:rPr>
                                  <m:t>=8.8295</m:t>
                                </m:r>
                              </m:oMath>
                            </m:oMathPara>
                          </a14:m>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nary>
                                  <m:naryPr>
                                    <m:chr m:val="∑"/>
                                    <m:limLoc m:val="undOvr"/>
                                    <m:ctrlPr>
                                      <a:rPr lang="en-US" sz="2400" i="1">
                                        <a:effectLst/>
                                        <a:latin typeface="Cambria Math" panose="02040503050406030204" pitchFamily="18" charset="0"/>
                                      </a:rPr>
                                    </m:ctrlPr>
                                  </m:naryPr>
                                  <m:sub>
                                    <m:r>
                                      <a:rPr lang="en-US" sz="2400">
                                        <a:effectLst/>
                                        <a:latin typeface="Cambria Math" panose="02040503050406030204" pitchFamily="18" charset="0"/>
                                      </a:rPr>
                                      <m:t>𝑖</m:t>
                                    </m:r>
                                    <m:r>
                                      <a:rPr lang="en-US" sz="2400">
                                        <a:effectLst/>
                                        <a:latin typeface="Cambria Math" panose="02040503050406030204" pitchFamily="18" charset="0"/>
                                      </a:rPr>
                                      <m:t>=1</m:t>
                                    </m:r>
                                  </m:sub>
                                  <m:sup>
                                    <m:r>
                                      <a:rPr lang="en-US" sz="2400">
                                        <a:effectLst/>
                                        <a:latin typeface="Cambria Math" panose="02040503050406030204" pitchFamily="18" charset="0"/>
                                      </a:rPr>
                                      <m:t>𝑖</m:t>
                                    </m:r>
                                    <m:r>
                                      <a:rPr lang="en-US" sz="2400">
                                        <a:effectLst/>
                                        <a:latin typeface="Cambria Math" panose="02040503050406030204" pitchFamily="18" charset="0"/>
                                      </a:rPr>
                                      <m:t>=</m:t>
                                    </m:r>
                                    <m:r>
                                      <a:rPr lang="en-US" sz="2400">
                                        <a:effectLst/>
                                        <a:latin typeface="Cambria Math" panose="02040503050406030204" pitchFamily="18" charset="0"/>
                                      </a:rPr>
                                      <m:t>𝑛</m:t>
                                    </m:r>
                                  </m:sup>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𝑖</m:t>
                                        </m:r>
                                      </m:sub>
                                    </m:sSub>
                                  </m:e>
                                </m:nary>
                                <m:acc>
                                  <m:accPr>
                                    <m:chr m:val="̅"/>
                                    <m:ctrlPr>
                                      <a:rPr lang="en-US" sz="2400" i="1">
                                        <a:effectLst/>
                                        <a:latin typeface="Cambria Math" panose="02040503050406030204" pitchFamily="18" charset="0"/>
                                      </a:rPr>
                                    </m:ctrlPr>
                                  </m:accPr>
                                  <m:e>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𝐷</m:t>
                                        </m:r>
                                      </m:e>
                                      <m:sub>
                                        <m:r>
                                          <a:rPr lang="en-US" sz="2400">
                                            <a:effectLst/>
                                            <a:latin typeface="Cambria Math" panose="02040503050406030204" pitchFamily="18" charset="0"/>
                                          </a:rPr>
                                          <m:t>𝑃𝑖</m:t>
                                        </m:r>
                                      </m:sub>
                                    </m:sSub>
                                  </m:e>
                                </m:acc>
                                <m:r>
                                  <a:rPr lang="en-US" sz="2400">
                                    <a:effectLst/>
                                    <a:latin typeface="Cambria Math" panose="02040503050406030204" pitchFamily="18" charset="0"/>
                                  </a:rPr>
                                  <m:t>=1.67739 </m:t>
                                </m:r>
                              </m:oMath>
                            </m:oMathPara>
                          </a14:m>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extLst>
                      <a:ext uri="{0D108BD9-81ED-4DB2-BD59-A6C34878D82A}">
                        <a16:rowId xmlns:a16="http://schemas.microsoft.com/office/drawing/2014/main" val="1659181610"/>
                      </a:ext>
                    </a:extLst>
                  </a:tr>
                </a:tbl>
              </a:graphicData>
            </a:graphic>
          </p:graphicFrame>
        </mc:Choice>
        <mc:Fallback xmlns="">
          <p:graphicFrame>
            <p:nvGraphicFramePr>
              <p:cNvPr id="9" name="Table 8">
                <a:extLst>
                  <a:ext uri="{FF2B5EF4-FFF2-40B4-BE49-F238E27FC236}">
                    <a16:creationId xmlns:a16="http://schemas.microsoft.com/office/drawing/2014/main" id="{E0811AED-8865-0FC5-4DC2-0476D6DD8499}"/>
                  </a:ext>
                </a:extLst>
              </p:cNvPr>
              <p:cNvGraphicFramePr>
                <a:graphicFrameLocks noGrp="1"/>
              </p:cNvGraphicFramePr>
              <p:nvPr>
                <p:extLst>
                  <p:ext uri="{D42A27DB-BD31-4B8C-83A1-F6EECF244321}">
                    <p14:modId xmlns:p14="http://schemas.microsoft.com/office/powerpoint/2010/main" val="1513769192"/>
                  </p:ext>
                </p:extLst>
              </p:nvPr>
            </p:nvGraphicFramePr>
            <p:xfrm>
              <a:off x="1029264" y="2270298"/>
              <a:ext cx="18239811" cy="8313563"/>
            </p:xfrm>
            <a:graphic>
              <a:graphicData uri="http://schemas.openxmlformats.org/drawingml/2006/table">
                <a:tbl>
                  <a:tblPr firstRow="1" firstCol="1" bandRow="1">
                    <a:tableStyleId>{5C22544A-7EE6-4342-B048-85BDC9FD1C3A}</a:tableStyleId>
                  </a:tblPr>
                  <a:tblGrid>
                    <a:gridCol w="1200340">
                      <a:extLst>
                        <a:ext uri="{9D8B030D-6E8A-4147-A177-3AD203B41FA5}">
                          <a16:colId xmlns:a16="http://schemas.microsoft.com/office/drawing/2014/main" val="4208853369"/>
                        </a:ext>
                      </a:extLst>
                    </a:gridCol>
                    <a:gridCol w="1629512">
                      <a:extLst>
                        <a:ext uri="{9D8B030D-6E8A-4147-A177-3AD203B41FA5}">
                          <a16:colId xmlns:a16="http://schemas.microsoft.com/office/drawing/2014/main" val="634473850"/>
                        </a:ext>
                      </a:extLst>
                    </a:gridCol>
                    <a:gridCol w="1631193">
                      <a:extLst>
                        <a:ext uri="{9D8B030D-6E8A-4147-A177-3AD203B41FA5}">
                          <a16:colId xmlns:a16="http://schemas.microsoft.com/office/drawing/2014/main" val="2604812176"/>
                        </a:ext>
                      </a:extLst>
                    </a:gridCol>
                    <a:gridCol w="1904450">
                      <a:extLst>
                        <a:ext uri="{9D8B030D-6E8A-4147-A177-3AD203B41FA5}">
                          <a16:colId xmlns:a16="http://schemas.microsoft.com/office/drawing/2014/main" val="681632178"/>
                        </a:ext>
                      </a:extLst>
                    </a:gridCol>
                    <a:gridCol w="2355419">
                      <a:extLst>
                        <a:ext uri="{9D8B030D-6E8A-4147-A177-3AD203B41FA5}">
                          <a16:colId xmlns:a16="http://schemas.microsoft.com/office/drawing/2014/main" val="3295456792"/>
                        </a:ext>
                      </a:extLst>
                    </a:gridCol>
                    <a:gridCol w="2440914">
                      <a:extLst>
                        <a:ext uri="{9D8B030D-6E8A-4147-A177-3AD203B41FA5}">
                          <a16:colId xmlns:a16="http://schemas.microsoft.com/office/drawing/2014/main" val="2095034162"/>
                        </a:ext>
                      </a:extLst>
                    </a:gridCol>
                    <a:gridCol w="3134967">
                      <a:extLst>
                        <a:ext uri="{9D8B030D-6E8A-4147-A177-3AD203B41FA5}">
                          <a16:colId xmlns:a16="http://schemas.microsoft.com/office/drawing/2014/main" val="81680055"/>
                        </a:ext>
                      </a:extLst>
                    </a:gridCol>
                    <a:gridCol w="1971508">
                      <a:extLst>
                        <a:ext uri="{9D8B030D-6E8A-4147-A177-3AD203B41FA5}">
                          <a16:colId xmlns:a16="http://schemas.microsoft.com/office/drawing/2014/main" val="4097241508"/>
                        </a:ext>
                      </a:extLst>
                    </a:gridCol>
                    <a:gridCol w="1971508">
                      <a:extLst>
                        <a:ext uri="{9D8B030D-6E8A-4147-A177-3AD203B41FA5}">
                          <a16:colId xmlns:a16="http://schemas.microsoft.com/office/drawing/2014/main" val="3308780251"/>
                        </a:ext>
                      </a:extLst>
                    </a:gridCol>
                  </a:tblGrid>
                  <a:tr h="1470316">
                    <a:tc>
                      <a:txBody>
                        <a:bodyPr/>
                        <a:lstStyle/>
                        <a:p>
                          <a:pPr marL="0" marR="0" algn="just">
                            <a:spcBef>
                              <a:spcPts val="0"/>
                            </a:spcBef>
                            <a:spcAft>
                              <a:spcPts val="0"/>
                            </a:spcAft>
                          </a:pPr>
                          <a:r>
                            <a:rPr lang="en-US" sz="2400">
                              <a:effectLst/>
                            </a:rPr>
                            <a:t>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r>
                            <a:rPr lang="en-US" sz="2400">
                              <a:effectLst/>
                            </a:rPr>
                            <a:t>Screen Opening</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pPr marL="0" marR="0" algn="just">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tc>
                      <a:txBody>
                        <a:bodyPr/>
                        <a:lstStyle/>
                        <a:p>
                          <a:endParaRPr lang="en-US"/>
                        </a:p>
                      </a:txBody>
                      <a:tcPr marL="37287" marR="37287" marT="0" marB="0">
                        <a:blipFill>
                          <a:blip r:embed="rId3"/>
                          <a:stretch>
                            <a:fillRect l="-234185" t="-6224" r="-623962" b="-470539"/>
                          </a:stretch>
                        </a:blipFill>
                      </a:tcPr>
                    </a:tc>
                    <a:tc>
                      <a:txBody>
                        <a:bodyPr/>
                        <a:lstStyle/>
                        <a:p>
                          <a:endParaRPr lang="en-US"/>
                        </a:p>
                      </a:txBody>
                      <a:tcPr marL="37287" marR="37287" marT="0" marB="0">
                        <a:blipFill>
                          <a:blip r:embed="rId3"/>
                          <a:stretch>
                            <a:fillRect l="-270984" t="-6224" r="-405959" b="-470539"/>
                          </a:stretch>
                        </a:blipFill>
                      </a:tcPr>
                    </a:tc>
                    <a:tc>
                      <a:txBody>
                        <a:bodyPr/>
                        <a:lstStyle/>
                        <a:p>
                          <a:endParaRPr lang="en-US"/>
                        </a:p>
                      </a:txBody>
                      <a:tcPr marL="37287" marR="37287" marT="0" marB="0">
                        <a:blipFill>
                          <a:blip r:embed="rId3"/>
                          <a:stretch>
                            <a:fillRect l="-357107" t="-6224" r="-290773" b="-470539"/>
                          </a:stretch>
                        </a:blipFill>
                      </a:tcPr>
                    </a:tc>
                    <a:tc>
                      <a:txBody>
                        <a:bodyPr/>
                        <a:lstStyle/>
                        <a:p>
                          <a:endParaRPr lang="en-US"/>
                        </a:p>
                      </a:txBody>
                      <a:tcPr marL="37287" marR="37287" marT="0" marB="0">
                        <a:blipFill>
                          <a:blip r:embed="rId3"/>
                          <a:stretch>
                            <a:fillRect l="-356615" t="-6224" r="-126848" b="-470539"/>
                          </a:stretch>
                        </a:blipFill>
                      </a:tcPr>
                    </a:tc>
                    <a:tc>
                      <a:txBody>
                        <a:bodyPr/>
                        <a:lstStyle/>
                        <a:p>
                          <a:endParaRPr lang="en-US"/>
                        </a:p>
                      </a:txBody>
                      <a:tcPr marL="37287" marR="37287" marT="0" marB="0">
                        <a:blipFill>
                          <a:blip r:embed="rId3"/>
                          <a:stretch>
                            <a:fillRect l="-726625" t="-6224" r="-101858" b="-470539"/>
                          </a:stretch>
                        </a:blipFill>
                      </a:tcPr>
                    </a:tc>
                    <a:tc>
                      <a:txBody>
                        <a:bodyPr/>
                        <a:lstStyle/>
                        <a:p>
                          <a:endParaRPr lang="en-US"/>
                        </a:p>
                      </a:txBody>
                      <a:tcPr marL="37287" marR="37287" marT="0" marB="0">
                        <a:blipFill>
                          <a:blip r:embed="rId3"/>
                          <a:stretch>
                            <a:fillRect l="-824074" t="-6224" r="-1543" b="-470539"/>
                          </a:stretch>
                        </a:blipFill>
                      </a:tcPr>
                    </a:tc>
                    <a:extLst>
                      <a:ext uri="{0D108BD9-81ED-4DB2-BD59-A6C34878D82A}">
                        <a16:rowId xmlns:a16="http://schemas.microsoft.com/office/drawing/2014/main" val="3150517882"/>
                      </a:ext>
                    </a:extLst>
                  </a:tr>
                  <a:tr h="367579">
                    <a:tc>
                      <a:txBody>
                        <a:bodyPr/>
                        <a:lstStyle/>
                        <a:p>
                          <a:pPr marL="0" marR="0" algn="just">
                            <a:spcBef>
                              <a:spcPts val="0"/>
                            </a:spcBef>
                            <a:spcAft>
                              <a:spcPts val="0"/>
                            </a:spcAft>
                          </a:pPr>
                          <a:r>
                            <a:rPr lang="en-US" sz="2400">
                              <a:effectLst/>
                            </a:rPr>
                            <a:t>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4.699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extLst>
                      <a:ext uri="{0D108BD9-81ED-4DB2-BD59-A6C34878D82A}">
                        <a16:rowId xmlns:a16="http://schemas.microsoft.com/office/drawing/2014/main" val="1746236773"/>
                      </a:ext>
                    </a:extLst>
                  </a:tr>
                  <a:tr h="391799">
                    <a:tc>
                      <a:txBody>
                        <a:bodyPr/>
                        <a:lstStyle/>
                        <a:p>
                          <a:pPr marL="0" marR="0" algn="just">
                            <a:spcBef>
                              <a:spcPts val="0"/>
                            </a:spcBef>
                            <a:spcAft>
                              <a:spcPts val="0"/>
                            </a:spcAft>
                          </a:pPr>
                          <a:r>
                            <a:rPr lang="en-US" sz="2400">
                              <a:effectLst/>
                            </a:rPr>
                            <a:t>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3.327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4.013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0.9749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0.006255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0.000388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0.100726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1180220517"/>
                      </a:ext>
                    </a:extLst>
                  </a:tr>
                  <a:tr h="391799">
                    <a:tc>
                      <a:txBody>
                        <a:bodyPr/>
                        <a:lstStyle/>
                        <a:p>
                          <a:pPr marL="0" marR="0" algn="just">
                            <a:spcBef>
                              <a:spcPts val="0"/>
                            </a:spcBef>
                            <a:spcAft>
                              <a:spcPts val="0"/>
                            </a:spcAft>
                          </a:pPr>
                          <a:r>
                            <a:rPr lang="en-US" sz="2400">
                              <a:effectLst/>
                            </a:rPr>
                            <a:t>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2.362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0.125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2.8445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0.1501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0.8499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0.043944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0.005431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0.355563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1407150080"/>
                      </a:ext>
                    </a:extLst>
                  </a:tr>
                  <a:tr h="391799">
                    <a:tc>
                      <a:txBody>
                        <a:bodyPr/>
                        <a:lstStyle/>
                        <a:p>
                          <a:pPr marL="0" marR="0" algn="just">
                            <a:spcBef>
                              <a:spcPts val="0"/>
                            </a:spcBef>
                            <a:spcAft>
                              <a:spcPts val="0"/>
                            </a:spcAft>
                          </a:pPr>
                          <a:r>
                            <a:rPr lang="en-US" sz="2400">
                              <a:effectLst/>
                            </a:rPr>
                            <a:t>10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1.651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0.3207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2.0065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0.4708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0.5292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0.159831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0.039699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0.643485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769962684"/>
                      </a:ext>
                    </a:extLst>
                  </a:tr>
                  <a:tr h="391799">
                    <a:tc>
                      <a:txBody>
                        <a:bodyPr/>
                        <a:lstStyle/>
                        <a:p>
                          <a:pPr marL="0" marR="0" algn="just">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1.168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0.257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1.4095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0.7278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0.2722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0.182334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0.091778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0.362242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2050970405"/>
                      </a:ext>
                    </a:extLst>
                  </a:tr>
                  <a:tr h="391799">
                    <a:tc>
                      <a:txBody>
                        <a:bodyPr/>
                        <a:lstStyle/>
                        <a:p>
                          <a:pPr marL="0" marR="0" algn="just">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0.833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1.0005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0.8868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0.1132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0.158921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0.158762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0.15908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3912100938"/>
                      </a:ext>
                    </a:extLst>
                  </a:tr>
                  <a:tr h="391799">
                    <a:tc>
                      <a:txBody>
                        <a:bodyPr/>
                        <a:lstStyle/>
                        <a:p>
                          <a:pPr marL="0" marR="0" algn="just">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0.589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0.0538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0.711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0.9406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0.0594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0.075668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0.149683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0.038252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921517434"/>
                      </a:ext>
                    </a:extLst>
                  </a:tr>
                  <a:tr h="391799">
                    <a:tc>
                      <a:txBody>
                        <a:bodyPr/>
                        <a:lstStyle/>
                        <a:p>
                          <a:pPr marL="0" marR="0" algn="just">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0.417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0.503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0.9616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0.0384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0.04175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0.165012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0.010563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515614668"/>
                      </a:ext>
                    </a:extLst>
                  </a:tr>
                  <a:tr h="391799">
                    <a:tc>
                      <a:txBody>
                        <a:bodyPr/>
                        <a:lstStyle/>
                        <a:p>
                          <a:pPr marL="0" marR="0" algn="just">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0.295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0.0102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0.356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0.9718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0.0282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0.028652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0.226074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0.003631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4166112667"/>
                      </a:ext>
                    </a:extLst>
                  </a:tr>
                  <a:tr h="391799">
                    <a:tc>
                      <a:txBody>
                        <a:bodyPr/>
                        <a:lstStyle/>
                        <a:p>
                          <a:pPr marL="0" marR="0" algn="just">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0.208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0.0077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0.2515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0.9795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0.0205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0.030616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0.484035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0.001937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3773768890"/>
                      </a:ext>
                    </a:extLst>
                  </a:tr>
                  <a:tr h="391799">
                    <a:tc>
                      <a:txBody>
                        <a:bodyPr/>
                        <a:lstStyle/>
                        <a:p>
                          <a:pPr marL="0" marR="0" algn="just">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0.147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0.0058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0.1775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0.9853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0.0147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0.032676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1.037129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0.00103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412605385"/>
                      </a:ext>
                    </a:extLst>
                  </a:tr>
                  <a:tr h="391799">
                    <a:tc>
                      <a:txBody>
                        <a:bodyPr/>
                        <a:lstStyle/>
                        <a:p>
                          <a:pPr marL="0" marR="0" algn="just">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0.104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0.0041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0.1255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0.9894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0.0106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0.032669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2.07421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0.000515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1398231406"/>
                      </a:ext>
                    </a:extLst>
                  </a:tr>
                  <a:tr h="391799">
                    <a:tc>
                      <a:txBody>
                        <a:bodyPr/>
                        <a:lstStyle/>
                        <a:p>
                          <a:pPr marL="0" marR="0" algn="just">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0.074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0.9925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0.0075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0.034831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4.397356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0.000276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extLst>
                      <a:ext uri="{0D108BD9-81ED-4DB2-BD59-A6C34878D82A}">
                        <a16:rowId xmlns:a16="http://schemas.microsoft.com/office/drawing/2014/main" val="1313327455"/>
                      </a:ext>
                    </a:extLst>
                  </a:tr>
                  <a:tr h="367579">
                    <a:tc>
                      <a:txBody>
                        <a:bodyPr/>
                        <a:lstStyle/>
                        <a:p>
                          <a:pPr marL="0" marR="0" algn="just">
                            <a:spcBef>
                              <a:spcPts val="0"/>
                            </a:spcBef>
                            <a:spcAft>
                              <a:spcPts val="0"/>
                            </a:spcAft>
                          </a:pPr>
                          <a:r>
                            <a:rPr lang="en-US" sz="2400">
                              <a:effectLst/>
                            </a:rPr>
                            <a:t>Pan</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0.0075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0.037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nchor="b"/>
                    </a:tc>
                    <a:tc>
                      <a:txBody>
                        <a:bodyPr/>
                        <a:lstStyle/>
                        <a:p>
                          <a:pPr marL="0" marR="0" algn="just">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7287" marR="37287" marT="0" marB="0"/>
                    </a:tc>
                    <a:extLst>
                      <a:ext uri="{0D108BD9-81ED-4DB2-BD59-A6C34878D82A}">
                        <a16:rowId xmlns:a16="http://schemas.microsoft.com/office/drawing/2014/main" val="2554509792"/>
                      </a:ext>
                    </a:extLst>
                  </a:tr>
                  <a:tr h="1406501">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sz="2400">
                            <a:effectLst/>
                            <a:latin typeface="Times New Roman" panose="02020603050405020304" pitchFamily="18" charset="0"/>
                          </a:endParaRPr>
                        </a:p>
                      </a:txBody>
                      <a:tcPr marL="37287" marR="37287" marT="0" marB="0" anchor="b"/>
                    </a:tc>
                    <a:tc>
                      <a:txBody>
                        <a:bodyPr/>
                        <a:lstStyle/>
                        <a:p>
                          <a:endParaRPr lang="en-US"/>
                        </a:p>
                      </a:txBody>
                      <a:tcPr marL="37287" marR="37287" marT="0" marB="0" anchor="b">
                        <a:blipFill>
                          <a:blip r:embed="rId3"/>
                          <a:stretch>
                            <a:fillRect l="-356615" t="-497403" r="-126848" b="-4329"/>
                          </a:stretch>
                        </a:blipFill>
                      </a:tcPr>
                    </a:tc>
                    <a:tc>
                      <a:txBody>
                        <a:bodyPr/>
                        <a:lstStyle/>
                        <a:p>
                          <a:endParaRPr lang="en-US"/>
                        </a:p>
                      </a:txBody>
                      <a:tcPr marL="37287" marR="37287" marT="0" marB="0">
                        <a:blipFill>
                          <a:blip r:embed="rId3"/>
                          <a:stretch>
                            <a:fillRect l="-726625" t="-497403" r="-101858" b="-4329"/>
                          </a:stretch>
                        </a:blipFill>
                      </a:tcPr>
                    </a:tc>
                    <a:tc>
                      <a:txBody>
                        <a:bodyPr/>
                        <a:lstStyle/>
                        <a:p>
                          <a:endParaRPr lang="en-US"/>
                        </a:p>
                      </a:txBody>
                      <a:tcPr marL="37287" marR="37287" marT="0" marB="0">
                        <a:blipFill>
                          <a:blip r:embed="rId3"/>
                          <a:stretch>
                            <a:fillRect l="-824074" t="-497403" r="-1543" b="-4329"/>
                          </a:stretch>
                        </a:blipFill>
                      </a:tcPr>
                    </a:tc>
                    <a:extLst>
                      <a:ext uri="{0D108BD9-81ED-4DB2-BD59-A6C34878D82A}">
                        <a16:rowId xmlns:a16="http://schemas.microsoft.com/office/drawing/2014/main" val="1659181610"/>
                      </a:ext>
                    </a:extLst>
                  </a:tr>
                </a:tbl>
              </a:graphicData>
            </a:graphic>
          </p:graphicFrame>
        </mc:Fallback>
      </mc:AlternateContent>
    </p:spTree>
    <p:extLst>
      <p:ext uri="{BB962C8B-B14F-4D97-AF65-F5344CB8AC3E}">
        <p14:creationId xmlns:p14="http://schemas.microsoft.com/office/powerpoint/2010/main" val="62447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01C8297-C245-19C4-DB78-7F8F255250F2}"/>
                  </a:ext>
                </a:extLst>
              </p:cNvPr>
              <p:cNvSpPr txBox="1"/>
              <p:nvPr/>
            </p:nvSpPr>
            <p:spPr>
              <a:xfrm>
                <a:off x="1004888" y="1386376"/>
                <a:ext cx="10050516" cy="787588"/>
              </a:xfrm>
              <a:prstGeom prst="rect">
                <a:avLst/>
              </a:prstGeom>
              <a:noFill/>
            </p:spPr>
            <p:txBody>
              <a:bodyPr wrap="square">
                <a:spAutoFit/>
              </a:bodyPr>
              <a:lstStyle/>
              <a:p>
                <a:pPr marL="0" marR="0" algn="just">
                  <a:spcBef>
                    <a:spcPts val="0"/>
                  </a:spcBef>
                  <a:spcAft>
                    <a:spcPts val="0"/>
                  </a:spcAft>
                </a:pPr>
                <a14:m>
                  <m:oMath xmlns:m="http://schemas.openxmlformats.org/officeDocument/2006/math">
                    <m:sSub>
                      <m:sSubPr>
                        <m:ctrlPr>
                          <a:rPr lang="en-US" sz="2600" i="1" smtClean="0">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𝐴</m:t>
                        </m:r>
                        <m:r>
                          <a:rPr lang="en-US" sz="2600" i="1">
                            <a:effectLst/>
                            <a:latin typeface="Cambria Math" panose="02040503050406030204" pitchFamily="18" charset="0"/>
                            <a:ea typeface="Times New Roman" panose="02020603050405020304" pitchFamily="18" charset="0"/>
                          </a:rPr>
                          <m:t> </m:t>
                        </m:r>
                      </m:e>
                      <m:sub>
                        <m:r>
                          <a:rPr lang="en-US" sz="2600" i="1">
                            <a:effectLst/>
                            <a:latin typeface="Cambria Math" panose="02040503050406030204" pitchFamily="18" charset="0"/>
                            <a:ea typeface="Times New Roman" panose="02020603050405020304" pitchFamily="18" charset="0"/>
                          </a:rPr>
                          <m:t>𝑊</m:t>
                        </m:r>
                      </m:sub>
                    </m:sSub>
                    <m:r>
                      <a:rPr lang="en-US" sz="2600" i="1">
                        <a:effectLst/>
                        <a:latin typeface="Cambria Math" panose="02040503050406030204" pitchFamily="18" charset="0"/>
                        <a:ea typeface="Times New Roman" panose="02020603050405020304" pitchFamily="18" charset="0"/>
                      </a:rPr>
                      <m:t> </m:t>
                    </m:r>
                  </m:oMath>
                </a14:m>
                <a:r>
                  <a:rPr lang="en-US" sz="2600" dirty="0">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6 </m:t>
                        </m:r>
                      </m:num>
                      <m:den>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𝜑</m:t>
                            </m:r>
                          </m:e>
                          <m:sub>
                            <m:r>
                              <a:rPr lang="en-US" sz="2600" i="1">
                                <a:effectLst/>
                                <a:latin typeface="Cambria Math" panose="02040503050406030204" pitchFamily="18" charset="0"/>
                                <a:ea typeface="Times New Roman" panose="02020603050405020304" pitchFamily="18" charset="0"/>
                              </a:rPr>
                              <m:t>𝑠</m:t>
                            </m:r>
                          </m:sub>
                        </m:sSub>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m:t>
                            </m:r>
                          </m:e>
                          <m:sub>
                            <m:r>
                              <a:rPr lang="en-US" sz="2600" i="1">
                                <a:effectLst/>
                                <a:latin typeface="Cambria Math" panose="02040503050406030204" pitchFamily="18" charset="0"/>
                                <a:ea typeface="Times New Roman" panose="02020603050405020304" pitchFamily="18" charset="0"/>
                              </a:rPr>
                              <m:t>𝑝</m:t>
                            </m:r>
                          </m:sub>
                        </m:sSub>
                      </m:den>
                    </m:f>
                    <m:nary>
                      <m:naryPr>
                        <m:chr m:val="∑"/>
                        <m:limLoc m:val="undOvr"/>
                        <m:ctrlPr>
                          <a:rPr lang="en-US" sz="2600" i="1">
                            <a:effectLst/>
                            <a:latin typeface="Cambria Math" panose="02040503050406030204" pitchFamily="18" charset="0"/>
                            <a:ea typeface="Times New Roman" panose="02020603050405020304" pitchFamily="18" charset="0"/>
                          </a:rPr>
                        </m:ctrlPr>
                      </m:naryPr>
                      <m:sub>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=1</m:t>
                        </m:r>
                      </m:sub>
                      <m:sup>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m:t>
                        </m:r>
                        <m:r>
                          <a:rPr lang="en-US" sz="2600" i="1">
                            <a:effectLst/>
                            <a:latin typeface="Cambria Math" panose="02040503050406030204" pitchFamily="18" charset="0"/>
                            <a:ea typeface="Times New Roman" panose="02020603050405020304" pitchFamily="18" charset="0"/>
                          </a:rPr>
                          <m:t>𝑛</m:t>
                        </m:r>
                      </m:sup>
                      <m:e>
                        <m:f>
                          <m:fPr>
                            <m:ctrlPr>
                              <a:rPr lang="en-US" sz="2600" i="1">
                                <a:effectLst/>
                                <a:latin typeface="Cambria Math" panose="02040503050406030204" pitchFamily="18" charset="0"/>
                                <a:ea typeface="Times New Roman" panose="02020603050405020304" pitchFamily="18" charset="0"/>
                              </a:rPr>
                            </m:ctrlPr>
                          </m:fPr>
                          <m:num>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𝑥</m:t>
                                </m:r>
                              </m:e>
                              <m:sub>
                                <m:r>
                                  <a:rPr lang="en-US" sz="2600" i="1">
                                    <a:effectLst/>
                                    <a:latin typeface="Cambria Math" panose="02040503050406030204" pitchFamily="18" charset="0"/>
                                    <a:ea typeface="Times New Roman" panose="02020603050405020304" pitchFamily="18" charset="0"/>
                                  </a:rPr>
                                  <m:t>𝑖</m:t>
                                </m:r>
                              </m:sub>
                            </m:sSub>
                          </m:num>
                          <m:den>
                            <m:acc>
                              <m:accPr>
                                <m:chr m:val="̅"/>
                                <m:ctrlPr>
                                  <a:rPr lang="en-US" sz="2600" i="1">
                                    <a:effectLst/>
                                    <a:latin typeface="Cambria Math" panose="02040503050406030204" pitchFamily="18" charset="0"/>
                                    <a:ea typeface="Times New Roman" panose="02020603050405020304" pitchFamily="18" charset="0"/>
                                  </a:rPr>
                                </m:ctrlPr>
                              </m:accPr>
                              <m:e>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𝐷</m:t>
                                    </m:r>
                                  </m:e>
                                  <m:sub>
                                    <m:r>
                                      <a:rPr lang="en-US" sz="2600" i="1">
                                        <a:effectLst/>
                                        <a:latin typeface="Cambria Math" panose="02040503050406030204" pitchFamily="18" charset="0"/>
                                        <a:ea typeface="Times New Roman" panose="02020603050405020304" pitchFamily="18" charset="0"/>
                                      </a:rPr>
                                      <m:t>𝑃𝑖</m:t>
                                    </m:r>
                                  </m:sub>
                                </m:sSub>
                              </m:e>
                            </m:acc>
                          </m:den>
                        </m:f>
                      </m:e>
                    </m:nary>
                    <m:r>
                      <a:rPr lang="en-US" sz="2600" i="1">
                        <a:effectLst/>
                        <a:latin typeface="Cambria Math" panose="02040503050406030204" pitchFamily="18" charset="0"/>
                        <a:ea typeface="Times New Roman" panose="02020603050405020304" pitchFamily="18" charset="0"/>
                      </a:rPr>
                      <m:t>=</m:t>
                    </m:r>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6</m:t>
                        </m:r>
                      </m:num>
                      <m:den>
                        <m:r>
                          <a:rPr lang="en-US" sz="2600" i="1">
                            <a:effectLst/>
                            <a:latin typeface="Cambria Math" panose="02040503050406030204" pitchFamily="18" charset="0"/>
                            <a:ea typeface="Times New Roman" panose="02020603050405020304" pitchFamily="18" charset="0"/>
                          </a:rPr>
                          <m:t>0.571 </m:t>
                        </m:r>
                        <m:r>
                          <a:rPr lang="en-US" sz="2600" i="1">
                            <a:effectLst/>
                            <a:latin typeface="Cambria Math" panose="02040503050406030204" pitchFamily="18" charset="0"/>
                            <a:ea typeface="Times New Roman" panose="02020603050405020304" pitchFamily="18" charset="0"/>
                          </a:rPr>
                          <m:t>𝑥</m:t>
                        </m:r>
                        <m:r>
                          <a:rPr lang="en-US" sz="2600" i="1">
                            <a:effectLst/>
                            <a:latin typeface="Cambria Math" panose="02040503050406030204" pitchFamily="18" charset="0"/>
                            <a:ea typeface="Times New Roman" panose="02020603050405020304" pitchFamily="18" charset="0"/>
                          </a:rPr>
                          <m:t> 0.00265</m:t>
                        </m:r>
                      </m:den>
                    </m:f>
                    <m:r>
                      <a:rPr lang="en-US" sz="2600" i="1">
                        <a:effectLst/>
                        <a:latin typeface="Cambria Math" panose="02040503050406030204" pitchFamily="18" charset="0"/>
                        <a:ea typeface="Times New Roman" panose="02020603050405020304" pitchFamily="18" charset="0"/>
                      </a:rPr>
                      <m:t>𝑋</m:t>
                    </m:r>
                    <m:r>
                      <a:rPr lang="en-US" sz="2600" i="1">
                        <a:effectLst/>
                        <a:latin typeface="Cambria Math" panose="02040503050406030204" pitchFamily="18" charset="0"/>
                        <a:ea typeface="Times New Roman" panose="02020603050405020304" pitchFamily="18" charset="0"/>
                      </a:rPr>
                      <m:t> 0.08284=3309 </m:t>
                    </m:r>
                    <m:f>
                      <m:fPr>
                        <m:type m:val="skw"/>
                        <m:ctrlPr>
                          <a:rPr lang="en-US" sz="2600" i="1">
                            <a:effectLst/>
                            <a:latin typeface="Cambria Math" panose="02040503050406030204" pitchFamily="18" charset="0"/>
                            <a:ea typeface="Times New Roman" panose="02020603050405020304" pitchFamily="18" charset="0"/>
                          </a:rPr>
                        </m:ctrlPr>
                      </m:fPr>
                      <m:num>
                        <m:sSup>
                          <m:sSupPr>
                            <m:ctrlPr>
                              <a:rPr lang="en-US" sz="2600" i="1">
                                <a:effectLst/>
                                <a:latin typeface="Cambria Math" panose="02040503050406030204" pitchFamily="18" charset="0"/>
                                <a:ea typeface="Times New Roman" panose="02020603050405020304" pitchFamily="18" charset="0"/>
                              </a:rPr>
                            </m:ctrlPr>
                          </m:sSupPr>
                          <m:e>
                            <m:r>
                              <a:rPr lang="en-US" sz="2600" i="1">
                                <a:effectLst/>
                                <a:latin typeface="Cambria Math" panose="02040503050406030204" pitchFamily="18" charset="0"/>
                                <a:ea typeface="Times New Roman" panose="02020603050405020304" pitchFamily="18" charset="0"/>
                              </a:rPr>
                              <m:t>𝑚𝑚</m:t>
                            </m:r>
                          </m:e>
                          <m:sup>
                            <m:r>
                              <a:rPr lang="en-US" sz="2600" i="1">
                                <a:effectLst/>
                                <a:latin typeface="Cambria Math" panose="02040503050406030204" pitchFamily="18" charset="0"/>
                                <a:ea typeface="Times New Roman" panose="02020603050405020304" pitchFamily="18" charset="0"/>
                              </a:rPr>
                              <m:t>2</m:t>
                            </m:r>
                          </m:sup>
                        </m:sSup>
                      </m:num>
                      <m:den>
                        <m:r>
                          <a:rPr lang="en-US" sz="2600" i="1">
                            <a:effectLst/>
                            <a:latin typeface="Cambria Math" panose="02040503050406030204" pitchFamily="18" charset="0"/>
                            <a:ea typeface="Times New Roman" panose="02020603050405020304" pitchFamily="18" charset="0"/>
                          </a:rPr>
                          <m:t>𝑔𝑚</m:t>
                        </m:r>
                      </m:den>
                    </m:f>
                  </m:oMath>
                </a14:m>
                <a:endParaRPr lang="en-US" sz="2600" dirty="0">
                  <a:effectLst/>
                  <a:latin typeface="Times New Roman" panose="02020603050405020304" pitchFamily="18" charset="0"/>
                  <a:ea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501C8297-C245-19C4-DB78-7F8F255250F2}"/>
                  </a:ext>
                </a:extLst>
              </p:cNvPr>
              <p:cNvSpPr txBox="1">
                <a:spLocks noRot="1" noChangeAspect="1" noMove="1" noResize="1" noEditPoints="1" noAdjustHandles="1" noChangeArrowheads="1" noChangeShapeType="1" noTextEdit="1"/>
              </p:cNvSpPr>
              <p:nvPr/>
            </p:nvSpPr>
            <p:spPr>
              <a:xfrm>
                <a:off x="1004888" y="1386376"/>
                <a:ext cx="10050516" cy="78758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285C6FA-4052-2940-1ABD-7EF0400FE312}"/>
                  </a:ext>
                </a:extLst>
              </p:cNvPr>
              <p:cNvSpPr txBox="1"/>
              <p:nvPr/>
            </p:nvSpPr>
            <p:spPr>
              <a:xfrm>
                <a:off x="725060" y="2243845"/>
                <a:ext cx="18653980" cy="10184455"/>
              </a:xfrm>
              <a:prstGeom prst="rect">
                <a:avLst/>
              </a:prstGeom>
              <a:noFill/>
            </p:spPr>
            <p:txBody>
              <a:bodyPr wrap="square">
                <a:spAutoFit/>
              </a:bodyPr>
              <a:lstStyle/>
              <a:p>
                <a:pPr marL="0" marR="0">
                  <a:spcBef>
                    <a:spcPts val="0"/>
                  </a:spcBef>
                  <a:spcAft>
                    <a:spcPts val="0"/>
                  </a:spcAft>
                </a:pPr>
                <a14:m>
                  <m:oMath xmlns:m="http://schemas.openxmlformats.org/officeDocument/2006/math">
                    <m:sSub>
                      <m:sSubPr>
                        <m:ctrlPr>
                          <a:rPr lang="en-US" sz="2600" i="1" smtClean="0">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𝑁</m:t>
                        </m:r>
                        <m:r>
                          <a:rPr lang="en-US" sz="2600" i="1">
                            <a:effectLst/>
                            <a:latin typeface="Cambria Math" panose="02040503050406030204" pitchFamily="18" charset="0"/>
                            <a:ea typeface="Times New Roman" panose="02020603050405020304" pitchFamily="18" charset="0"/>
                          </a:rPr>
                          <m:t> </m:t>
                        </m:r>
                      </m:e>
                      <m:sub>
                        <m:r>
                          <a:rPr lang="en-US" sz="2600" i="1">
                            <a:effectLst/>
                            <a:latin typeface="Cambria Math" panose="02040503050406030204" pitchFamily="18" charset="0"/>
                            <a:ea typeface="Times New Roman" panose="02020603050405020304" pitchFamily="18" charset="0"/>
                          </a:rPr>
                          <m:t>𝑊</m:t>
                        </m:r>
                      </m:sub>
                    </m:sSub>
                    <m:r>
                      <a:rPr lang="en-US" sz="2600" i="1">
                        <a:effectLst/>
                        <a:latin typeface="Cambria Math" panose="02040503050406030204" pitchFamily="18" charset="0"/>
                        <a:ea typeface="Times New Roman" panose="02020603050405020304" pitchFamily="18" charset="0"/>
                      </a:rPr>
                      <m:t> </m:t>
                    </m:r>
                  </m:oMath>
                </a14:m>
                <a:r>
                  <a:rPr lang="en-US" sz="2600" dirty="0">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1 </m:t>
                        </m:r>
                      </m:num>
                      <m:den>
                        <m:r>
                          <a:rPr lang="en-US" sz="2600" i="1">
                            <a:effectLst/>
                            <a:latin typeface="Cambria Math" panose="02040503050406030204" pitchFamily="18" charset="0"/>
                            <a:ea typeface="Times New Roman" panose="02020603050405020304" pitchFamily="18" charset="0"/>
                          </a:rPr>
                          <m:t>𝑎</m:t>
                        </m:r>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m:t>
                            </m:r>
                          </m:e>
                          <m:sub>
                            <m:r>
                              <a:rPr lang="en-US" sz="2600" i="1">
                                <a:effectLst/>
                                <a:latin typeface="Cambria Math" panose="02040503050406030204" pitchFamily="18" charset="0"/>
                                <a:ea typeface="Times New Roman" panose="02020603050405020304" pitchFamily="18" charset="0"/>
                              </a:rPr>
                              <m:t>𝑝</m:t>
                            </m:r>
                          </m:sub>
                        </m:sSub>
                      </m:den>
                    </m:f>
                    <m:nary>
                      <m:naryPr>
                        <m:chr m:val="∑"/>
                        <m:limLoc m:val="undOvr"/>
                        <m:ctrlPr>
                          <a:rPr lang="en-US" sz="2600" i="1">
                            <a:effectLst/>
                            <a:latin typeface="Cambria Math" panose="02040503050406030204" pitchFamily="18" charset="0"/>
                            <a:ea typeface="Times New Roman" panose="02020603050405020304" pitchFamily="18" charset="0"/>
                          </a:rPr>
                        </m:ctrlPr>
                      </m:naryPr>
                      <m:sub>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=1</m:t>
                        </m:r>
                      </m:sub>
                      <m:sup>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m:t>
                        </m:r>
                        <m:r>
                          <a:rPr lang="en-US" sz="2600" i="1">
                            <a:effectLst/>
                            <a:latin typeface="Cambria Math" panose="02040503050406030204" pitchFamily="18" charset="0"/>
                            <a:ea typeface="Times New Roman" panose="02020603050405020304" pitchFamily="18" charset="0"/>
                          </a:rPr>
                          <m:t>𝑛</m:t>
                        </m:r>
                      </m:sup>
                      <m:e>
                        <m:f>
                          <m:fPr>
                            <m:ctrlPr>
                              <a:rPr lang="en-US" sz="2600" i="1">
                                <a:effectLst/>
                                <a:latin typeface="Cambria Math" panose="02040503050406030204" pitchFamily="18" charset="0"/>
                                <a:ea typeface="Times New Roman" panose="02020603050405020304" pitchFamily="18" charset="0"/>
                              </a:rPr>
                            </m:ctrlPr>
                          </m:fPr>
                          <m:num>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𝑥</m:t>
                                </m:r>
                              </m:e>
                              <m:sub>
                                <m:r>
                                  <a:rPr lang="en-US" sz="2600" i="1">
                                    <a:effectLst/>
                                    <a:latin typeface="Cambria Math" panose="02040503050406030204" pitchFamily="18" charset="0"/>
                                    <a:ea typeface="Times New Roman" panose="02020603050405020304" pitchFamily="18" charset="0"/>
                                  </a:rPr>
                                  <m:t>𝑖</m:t>
                                </m:r>
                              </m:sub>
                            </m:sSub>
                          </m:num>
                          <m:den>
                            <m:acc>
                              <m:accPr>
                                <m:chr m:val="̅"/>
                                <m:ctrlPr>
                                  <a:rPr lang="en-US" sz="2600" i="1">
                                    <a:effectLst/>
                                    <a:latin typeface="Cambria Math" panose="02040503050406030204" pitchFamily="18" charset="0"/>
                                    <a:ea typeface="Times New Roman" panose="02020603050405020304" pitchFamily="18" charset="0"/>
                                  </a:rPr>
                                </m:ctrlPr>
                              </m:accPr>
                              <m:e>
                                <m:sSubSup>
                                  <m:sSubSupPr>
                                    <m:ctrlPr>
                                      <a:rPr lang="en-US" sz="2600" i="1">
                                        <a:effectLst/>
                                        <a:latin typeface="Cambria Math" panose="02040503050406030204" pitchFamily="18" charset="0"/>
                                        <a:ea typeface="Times New Roman" panose="02020603050405020304" pitchFamily="18" charset="0"/>
                                      </a:rPr>
                                    </m:ctrlPr>
                                  </m:sSubSupPr>
                                  <m:e>
                                    <m:acc>
                                      <m:accPr>
                                        <m:chr m:val="̅"/>
                                        <m:ctrlPr>
                                          <a:rPr lang="en-US" sz="2600" i="1">
                                            <a:effectLst/>
                                            <a:latin typeface="Cambria Math" panose="02040503050406030204" pitchFamily="18" charset="0"/>
                                            <a:ea typeface="Times New Roman" panose="02020603050405020304" pitchFamily="18" charset="0"/>
                                          </a:rPr>
                                        </m:ctrlPr>
                                      </m:accPr>
                                      <m:e>
                                        <m:r>
                                          <a:rPr lang="en-US" sz="2600" i="1">
                                            <a:effectLst/>
                                            <a:latin typeface="Cambria Math" panose="02040503050406030204" pitchFamily="18" charset="0"/>
                                            <a:ea typeface="Times New Roman" panose="02020603050405020304" pitchFamily="18" charset="0"/>
                                          </a:rPr>
                                          <m:t>𝐷</m:t>
                                        </m:r>
                                      </m:e>
                                    </m:acc>
                                  </m:e>
                                  <m:sub>
                                    <m:r>
                                      <a:rPr lang="en-US" sz="2600" i="1">
                                        <a:effectLst/>
                                        <a:latin typeface="Cambria Math" panose="02040503050406030204" pitchFamily="18" charset="0"/>
                                        <a:ea typeface="Times New Roman" panose="02020603050405020304" pitchFamily="18" charset="0"/>
                                      </a:rPr>
                                      <m:t>𝑝𝑖</m:t>
                                    </m:r>
                                  </m:sub>
                                  <m:sup>
                                    <m:r>
                                      <a:rPr lang="en-US" sz="2600" i="1">
                                        <a:effectLst/>
                                        <a:latin typeface="Cambria Math" panose="02040503050406030204" pitchFamily="18" charset="0"/>
                                        <a:ea typeface="Times New Roman" panose="02020603050405020304" pitchFamily="18" charset="0"/>
                                      </a:rPr>
                                      <m:t>3</m:t>
                                    </m:r>
                                  </m:sup>
                                </m:sSubSup>
                              </m:e>
                            </m:acc>
                          </m:den>
                        </m:f>
                        <m:r>
                          <a:rPr lang="en-US" sz="2600" i="1">
                            <a:effectLst/>
                            <a:latin typeface="Cambria Math" panose="02040503050406030204" pitchFamily="18" charset="0"/>
                            <a:ea typeface="Times New Roman" panose="02020603050405020304" pitchFamily="18" charset="0"/>
                          </a:rPr>
                          <m:t>= </m:t>
                        </m:r>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1</m:t>
                            </m:r>
                          </m:num>
                          <m:den>
                            <m:r>
                              <a:rPr lang="en-US" sz="2600" i="1">
                                <a:effectLst/>
                                <a:latin typeface="Cambria Math" panose="02040503050406030204" pitchFamily="18" charset="0"/>
                                <a:ea typeface="Times New Roman" panose="02020603050405020304" pitchFamily="18" charset="0"/>
                              </a:rPr>
                              <m:t>2 </m:t>
                            </m:r>
                            <m:r>
                              <a:rPr lang="en-US" sz="2600" i="1">
                                <a:effectLst/>
                                <a:latin typeface="Cambria Math" panose="02040503050406030204" pitchFamily="18" charset="0"/>
                                <a:ea typeface="Times New Roman" panose="02020603050405020304" pitchFamily="18" charset="0"/>
                              </a:rPr>
                              <m:t>𝑥</m:t>
                            </m:r>
                            <m:r>
                              <a:rPr lang="en-US" sz="2600" i="1">
                                <a:effectLst/>
                                <a:latin typeface="Cambria Math" panose="02040503050406030204" pitchFamily="18" charset="0"/>
                                <a:ea typeface="Times New Roman" panose="02020603050405020304" pitchFamily="18" charset="0"/>
                              </a:rPr>
                              <m:t> 0.00265</m:t>
                            </m:r>
                          </m:den>
                        </m:f>
                      </m:e>
                    </m:nary>
                    <m:r>
                      <a:rPr lang="en-US" sz="2600" i="1">
                        <a:effectLst/>
                        <a:latin typeface="Cambria Math" panose="02040503050406030204" pitchFamily="18" charset="0"/>
                        <a:ea typeface="Times New Roman" panose="02020603050405020304" pitchFamily="18" charset="0"/>
                      </a:rPr>
                      <m:t>𝑥</m:t>
                    </m:r>
                    <m:r>
                      <a:rPr lang="en-US" sz="2600" i="1">
                        <a:effectLst/>
                        <a:latin typeface="Cambria Math" panose="02040503050406030204" pitchFamily="18" charset="0"/>
                        <a:ea typeface="Times New Roman" panose="02020603050405020304" pitchFamily="18" charset="0"/>
                      </a:rPr>
                      <m:t> 8.8296=1679 </m:t>
                    </m:r>
                    <m:f>
                      <m:fPr>
                        <m:type m:val="skw"/>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𝑝𝑎𝑟𝑡𝑖𝑐𝑙𝑒𝑠</m:t>
                        </m:r>
                      </m:num>
                      <m:den>
                        <m:r>
                          <a:rPr lang="en-US" sz="2600" i="1">
                            <a:effectLst/>
                            <a:latin typeface="Cambria Math" panose="02040503050406030204" pitchFamily="18" charset="0"/>
                            <a:ea typeface="Times New Roman" panose="02020603050405020304" pitchFamily="18" charset="0"/>
                          </a:rPr>
                          <m:t>𝑔𝑚</m:t>
                        </m:r>
                      </m:den>
                    </m:f>
                  </m:oMath>
                </a14:m>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600" dirty="0">
                    <a:effectLst/>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en-US" sz="2600" i="1">
                            <a:effectLst/>
                            <a:latin typeface="Cambria Math" panose="02040503050406030204" pitchFamily="18" charset="0"/>
                            <a:ea typeface="Times New Roman" panose="02020603050405020304" pitchFamily="18" charset="0"/>
                          </a:rPr>
                        </m:ctrlPr>
                      </m:accPr>
                      <m:e>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𝐷</m:t>
                            </m:r>
                          </m:e>
                          <m:sub>
                            <m:r>
                              <a:rPr lang="en-US" sz="2600" i="1">
                                <a:effectLst/>
                                <a:latin typeface="Cambria Math" panose="02040503050406030204" pitchFamily="18" charset="0"/>
                                <a:ea typeface="Times New Roman" panose="02020603050405020304" pitchFamily="18" charset="0"/>
                              </a:rPr>
                              <m:t>𝑣</m:t>
                            </m:r>
                          </m:sub>
                        </m:sSub>
                      </m:e>
                    </m:acc>
                    <m:r>
                      <a:rPr lang="en-US" sz="2600" i="1">
                        <a:effectLst/>
                        <a:latin typeface="Cambria Math" panose="02040503050406030204" pitchFamily="18" charset="0"/>
                        <a:ea typeface="Times New Roman" panose="02020603050405020304" pitchFamily="18" charset="0"/>
                      </a:rPr>
                      <m:t>=</m:t>
                    </m:r>
                    <m:sSup>
                      <m:sSupPr>
                        <m:ctrlPr>
                          <a:rPr lang="en-US" sz="2600" i="1">
                            <a:effectLst/>
                            <a:latin typeface="Cambria Math" panose="02040503050406030204" pitchFamily="18" charset="0"/>
                            <a:ea typeface="Times New Roman" panose="02020603050405020304" pitchFamily="18" charset="0"/>
                          </a:rPr>
                        </m:ctrlPr>
                      </m:sSupPr>
                      <m:e>
                        <m:d>
                          <m:dPr>
                            <m:ctrlPr>
                              <a:rPr lang="en-US" sz="2600" i="1">
                                <a:effectLst/>
                                <a:latin typeface="Cambria Math" panose="02040503050406030204" pitchFamily="18" charset="0"/>
                                <a:ea typeface="Times New Roman" panose="02020603050405020304" pitchFamily="18" charset="0"/>
                              </a:rPr>
                            </m:ctrlPr>
                          </m:dPr>
                          <m:e>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1</m:t>
                                </m:r>
                              </m:num>
                              <m:den>
                                <m:nary>
                                  <m:naryPr>
                                    <m:chr m:val="∑"/>
                                    <m:limLoc m:val="undOvr"/>
                                    <m:ctrlPr>
                                      <a:rPr lang="en-US" sz="2600" i="1">
                                        <a:effectLst/>
                                        <a:latin typeface="Cambria Math" panose="02040503050406030204" pitchFamily="18" charset="0"/>
                                        <a:ea typeface="Times New Roman" panose="02020603050405020304" pitchFamily="18" charset="0"/>
                                      </a:rPr>
                                    </m:ctrlPr>
                                  </m:naryPr>
                                  <m:sub>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=1</m:t>
                                    </m:r>
                                  </m:sub>
                                  <m:sup>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m:t>
                                    </m:r>
                                    <m:r>
                                      <a:rPr lang="en-US" sz="2600" i="1">
                                        <a:effectLst/>
                                        <a:latin typeface="Cambria Math" panose="02040503050406030204" pitchFamily="18" charset="0"/>
                                        <a:ea typeface="Times New Roman" panose="02020603050405020304" pitchFamily="18" charset="0"/>
                                      </a:rPr>
                                      <m:t>𝑛</m:t>
                                    </m:r>
                                  </m:sup>
                                  <m:e>
                                    <m:f>
                                      <m:fPr>
                                        <m:ctrlPr>
                                          <a:rPr lang="en-US" sz="2600" i="1">
                                            <a:effectLst/>
                                            <a:latin typeface="Cambria Math" panose="02040503050406030204" pitchFamily="18" charset="0"/>
                                            <a:ea typeface="Times New Roman" panose="02020603050405020304" pitchFamily="18" charset="0"/>
                                          </a:rPr>
                                        </m:ctrlPr>
                                      </m:fPr>
                                      <m:num>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𝑥</m:t>
                                            </m:r>
                                          </m:e>
                                          <m:sub>
                                            <m:r>
                                              <a:rPr lang="en-US" sz="2600" i="1">
                                                <a:effectLst/>
                                                <a:latin typeface="Cambria Math" panose="02040503050406030204" pitchFamily="18" charset="0"/>
                                                <a:ea typeface="Times New Roman" panose="02020603050405020304" pitchFamily="18" charset="0"/>
                                              </a:rPr>
                                              <m:t>𝑖</m:t>
                                            </m:r>
                                          </m:sub>
                                        </m:sSub>
                                      </m:num>
                                      <m:den>
                                        <m:sSubSup>
                                          <m:sSubSupPr>
                                            <m:ctrlPr>
                                              <a:rPr lang="en-US" sz="2600" i="1">
                                                <a:effectLst/>
                                                <a:latin typeface="Cambria Math" panose="02040503050406030204" pitchFamily="18" charset="0"/>
                                                <a:ea typeface="Times New Roman" panose="02020603050405020304" pitchFamily="18" charset="0"/>
                                              </a:rPr>
                                            </m:ctrlPr>
                                          </m:sSubSupPr>
                                          <m:e>
                                            <m:acc>
                                              <m:accPr>
                                                <m:chr m:val="̅"/>
                                                <m:ctrlPr>
                                                  <a:rPr lang="en-US" sz="2600" i="1">
                                                    <a:effectLst/>
                                                    <a:latin typeface="Cambria Math" panose="02040503050406030204" pitchFamily="18" charset="0"/>
                                                    <a:ea typeface="Times New Roman" panose="02020603050405020304" pitchFamily="18" charset="0"/>
                                                  </a:rPr>
                                                </m:ctrlPr>
                                              </m:accPr>
                                              <m:e>
                                                <m:r>
                                                  <a:rPr lang="en-US" sz="2600" i="1">
                                                    <a:effectLst/>
                                                    <a:latin typeface="Cambria Math" panose="02040503050406030204" pitchFamily="18" charset="0"/>
                                                    <a:ea typeface="Times New Roman" panose="02020603050405020304" pitchFamily="18" charset="0"/>
                                                  </a:rPr>
                                                  <m:t>𝐷</m:t>
                                                </m:r>
                                              </m:e>
                                            </m:acc>
                                          </m:e>
                                          <m:sub>
                                            <m:r>
                                              <a:rPr lang="en-US" sz="2600" i="1">
                                                <a:effectLst/>
                                                <a:latin typeface="Cambria Math" panose="02040503050406030204" pitchFamily="18" charset="0"/>
                                                <a:ea typeface="Times New Roman" panose="02020603050405020304" pitchFamily="18" charset="0"/>
                                              </a:rPr>
                                              <m:t>𝑝𝑖</m:t>
                                            </m:r>
                                          </m:sub>
                                          <m:sup>
                                            <m:r>
                                              <a:rPr lang="en-US" sz="2600" i="1">
                                                <a:effectLst/>
                                                <a:latin typeface="Cambria Math" panose="02040503050406030204" pitchFamily="18" charset="0"/>
                                                <a:ea typeface="Times New Roman" panose="02020603050405020304" pitchFamily="18" charset="0"/>
                                              </a:rPr>
                                              <m:t>3</m:t>
                                            </m:r>
                                          </m:sup>
                                        </m:sSubSup>
                                      </m:den>
                                    </m:f>
                                  </m:e>
                                </m:nary>
                              </m:den>
                            </m:f>
                          </m:e>
                        </m:d>
                      </m:e>
                      <m:sup>
                        <m:r>
                          <a:rPr lang="en-US" sz="2600" i="1">
                            <a:effectLst/>
                            <a:latin typeface="Cambria Math" panose="02040503050406030204" pitchFamily="18" charset="0"/>
                            <a:ea typeface="Times New Roman" panose="02020603050405020304" pitchFamily="18" charset="0"/>
                          </a:rPr>
                          <m:t>1/3</m:t>
                        </m:r>
                      </m:sup>
                    </m:sSup>
                    <m:r>
                      <a:rPr lang="en-US" sz="2600" i="1">
                        <a:effectLst/>
                        <a:latin typeface="Cambria Math" panose="02040503050406030204" pitchFamily="18" charset="0"/>
                        <a:ea typeface="Times New Roman" panose="02020603050405020304" pitchFamily="18" charset="0"/>
                      </a:rPr>
                      <m:t>=</m:t>
                    </m:r>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1</m:t>
                        </m:r>
                      </m:num>
                      <m:den>
                        <m:sSup>
                          <m:sSupPr>
                            <m:ctrlPr>
                              <a:rPr lang="en-US" sz="2600" i="1">
                                <a:effectLst/>
                                <a:latin typeface="Cambria Math" panose="02040503050406030204" pitchFamily="18" charset="0"/>
                                <a:ea typeface="Times New Roman" panose="02020603050405020304" pitchFamily="18" charset="0"/>
                              </a:rPr>
                            </m:ctrlPr>
                          </m:sSupPr>
                          <m:e>
                            <m:r>
                              <a:rPr lang="en-US" sz="2600" i="1">
                                <a:effectLst/>
                                <a:latin typeface="Cambria Math" panose="02040503050406030204" pitchFamily="18" charset="0"/>
                                <a:ea typeface="Times New Roman" panose="02020603050405020304" pitchFamily="18" charset="0"/>
                              </a:rPr>
                              <m:t>8.8296</m:t>
                            </m:r>
                          </m:e>
                          <m:sup>
                            <m:r>
                              <a:rPr lang="en-US" sz="2600" i="1">
                                <a:effectLst/>
                                <a:latin typeface="Cambria Math" panose="02040503050406030204" pitchFamily="18" charset="0"/>
                                <a:ea typeface="Times New Roman" panose="02020603050405020304" pitchFamily="18" charset="0"/>
                              </a:rPr>
                              <m:t>1/3</m:t>
                            </m:r>
                          </m:sup>
                        </m:sSup>
                      </m:den>
                    </m:f>
                    <m:r>
                      <a:rPr lang="en-US" sz="2600" i="1">
                        <a:effectLst/>
                        <a:latin typeface="Cambria Math" panose="02040503050406030204" pitchFamily="18" charset="0"/>
                        <a:ea typeface="Times New Roman" panose="02020603050405020304" pitchFamily="18" charset="0"/>
                      </a:rPr>
                      <m:t>=0.4238 </m:t>
                    </m:r>
                    <m:r>
                      <a:rPr lang="en-US" sz="2600" i="1">
                        <a:effectLst/>
                        <a:latin typeface="Cambria Math" panose="02040503050406030204" pitchFamily="18" charset="0"/>
                        <a:ea typeface="Times New Roman" panose="02020603050405020304" pitchFamily="18" charset="0"/>
                      </a:rPr>
                      <m:t>𝑚𝑚</m:t>
                    </m:r>
                  </m:oMath>
                </a14:m>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600" b="1" dirty="0">
                    <a:effectLst/>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en-US" sz="2600" i="1">
                            <a:effectLst/>
                            <a:latin typeface="Cambria Math" panose="02040503050406030204" pitchFamily="18" charset="0"/>
                            <a:ea typeface="Times New Roman" panose="02020603050405020304" pitchFamily="18" charset="0"/>
                          </a:rPr>
                        </m:ctrlPr>
                      </m:accPr>
                      <m:e>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𝐷</m:t>
                            </m:r>
                          </m:e>
                          <m:sub>
                            <m:r>
                              <a:rPr lang="en-US" sz="2600" i="1">
                                <a:effectLst/>
                                <a:latin typeface="Cambria Math" panose="02040503050406030204" pitchFamily="18" charset="0"/>
                                <a:ea typeface="Times New Roman" panose="02020603050405020304" pitchFamily="18" charset="0"/>
                              </a:rPr>
                              <m:t>𝑠</m:t>
                            </m:r>
                          </m:sub>
                        </m:sSub>
                      </m:e>
                    </m:acc>
                    <m:r>
                      <a:rPr lang="en-US" sz="2600" i="1">
                        <a:effectLst/>
                        <a:latin typeface="Cambria Math" panose="02040503050406030204" pitchFamily="18" charset="0"/>
                        <a:ea typeface="Times New Roman" panose="02020603050405020304" pitchFamily="18" charset="0"/>
                      </a:rPr>
                      <m:t>=</m:t>
                    </m:r>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1</m:t>
                        </m:r>
                      </m:num>
                      <m:den>
                        <m:nary>
                          <m:naryPr>
                            <m:chr m:val="∑"/>
                            <m:limLoc m:val="undOvr"/>
                            <m:ctrlPr>
                              <a:rPr lang="en-US" sz="2600" i="1">
                                <a:effectLst/>
                                <a:latin typeface="Cambria Math" panose="02040503050406030204" pitchFamily="18" charset="0"/>
                                <a:ea typeface="Times New Roman" panose="02020603050405020304" pitchFamily="18" charset="0"/>
                              </a:rPr>
                            </m:ctrlPr>
                          </m:naryPr>
                          <m:sub>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=1</m:t>
                            </m:r>
                          </m:sub>
                          <m:sup>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m:t>
                            </m:r>
                            <m:r>
                              <a:rPr lang="en-US" sz="2600" i="1">
                                <a:effectLst/>
                                <a:latin typeface="Cambria Math" panose="02040503050406030204" pitchFamily="18" charset="0"/>
                                <a:ea typeface="Times New Roman" panose="02020603050405020304" pitchFamily="18" charset="0"/>
                              </a:rPr>
                              <m:t>𝑛</m:t>
                            </m:r>
                          </m:sup>
                          <m:e>
                            <m:f>
                              <m:fPr>
                                <m:ctrlPr>
                                  <a:rPr lang="en-US" sz="2600" i="1">
                                    <a:effectLst/>
                                    <a:latin typeface="Cambria Math" panose="02040503050406030204" pitchFamily="18" charset="0"/>
                                    <a:ea typeface="Times New Roman" panose="02020603050405020304" pitchFamily="18" charset="0"/>
                                  </a:rPr>
                                </m:ctrlPr>
                              </m:fPr>
                              <m:num>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𝑥</m:t>
                                    </m:r>
                                  </m:e>
                                  <m:sub>
                                    <m:r>
                                      <a:rPr lang="en-US" sz="2600" i="1">
                                        <a:effectLst/>
                                        <a:latin typeface="Cambria Math" panose="02040503050406030204" pitchFamily="18" charset="0"/>
                                        <a:ea typeface="Times New Roman" panose="02020603050405020304" pitchFamily="18" charset="0"/>
                                      </a:rPr>
                                      <m:t>𝑖</m:t>
                                    </m:r>
                                  </m:sub>
                                </m:sSub>
                              </m:num>
                              <m:den>
                                <m:acc>
                                  <m:accPr>
                                    <m:chr m:val="̅"/>
                                    <m:ctrlPr>
                                      <a:rPr lang="en-US" sz="2600" i="1">
                                        <a:effectLst/>
                                        <a:latin typeface="Cambria Math" panose="02040503050406030204" pitchFamily="18" charset="0"/>
                                        <a:ea typeface="Times New Roman" panose="02020603050405020304" pitchFamily="18" charset="0"/>
                                      </a:rPr>
                                    </m:ctrlPr>
                                  </m:accPr>
                                  <m:e>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𝐷</m:t>
                                        </m:r>
                                      </m:e>
                                      <m:sub>
                                        <m:r>
                                          <a:rPr lang="en-US" sz="2600" i="1">
                                            <a:effectLst/>
                                            <a:latin typeface="Cambria Math" panose="02040503050406030204" pitchFamily="18" charset="0"/>
                                            <a:ea typeface="Times New Roman" panose="02020603050405020304" pitchFamily="18" charset="0"/>
                                          </a:rPr>
                                          <m:t>𝑃𝑖</m:t>
                                        </m:r>
                                      </m:sub>
                                    </m:sSub>
                                  </m:e>
                                </m:acc>
                              </m:den>
                            </m:f>
                          </m:e>
                        </m:nary>
                      </m:den>
                    </m:f>
                    <m:r>
                      <a:rPr lang="en-US" sz="2600" i="1">
                        <a:effectLst/>
                        <a:latin typeface="Cambria Math" panose="02040503050406030204" pitchFamily="18" charset="0"/>
                        <a:ea typeface="Times New Roman" panose="02020603050405020304" pitchFamily="18" charset="0"/>
                      </a:rPr>
                      <m:t>=</m:t>
                    </m:r>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1</m:t>
                        </m:r>
                      </m:num>
                      <m:den>
                        <m:r>
                          <a:rPr lang="en-US" sz="2600" i="1">
                            <a:effectLst/>
                            <a:latin typeface="Cambria Math" panose="02040503050406030204" pitchFamily="18" charset="0"/>
                            <a:ea typeface="Times New Roman" panose="02020603050405020304" pitchFamily="18" charset="0"/>
                          </a:rPr>
                          <m:t>0.8284</m:t>
                        </m:r>
                      </m:den>
                    </m:f>
                    <m:r>
                      <a:rPr lang="en-US" sz="2600" i="1">
                        <a:effectLst/>
                        <a:latin typeface="Cambria Math" panose="02040503050406030204" pitchFamily="18" charset="0"/>
                        <a:ea typeface="Times New Roman" panose="02020603050405020304" pitchFamily="18" charset="0"/>
                      </a:rPr>
                      <m:t>=1.207 </m:t>
                    </m:r>
                    <m:r>
                      <a:rPr lang="en-US" sz="2600" i="1">
                        <a:effectLst/>
                        <a:latin typeface="Cambria Math" panose="02040503050406030204" pitchFamily="18" charset="0"/>
                        <a:ea typeface="Times New Roman" panose="02020603050405020304" pitchFamily="18" charset="0"/>
                      </a:rPr>
                      <m:t>𝑚𝑚</m:t>
                    </m:r>
                  </m:oMath>
                </a14:m>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600" dirty="0">
                    <a:effectLst/>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en-US" sz="2600" i="1">
                            <a:effectLst/>
                            <a:latin typeface="Cambria Math" panose="02040503050406030204" pitchFamily="18" charset="0"/>
                            <a:ea typeface="Times New Roman" panose="02020603050405020304" pitchFamily="18" charset="0"/>
                          </a:rPr>
                        </m:ctrlPr>
                      </m:accPr>
                      <m:e>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𝐷</m:t>
                            </m:r>
                          </m:e>
                          <m:sub>
                            <m:r>
                              <a:rPr lang="en-US" sz="2600" i="1">
                                <a:effectLst/>
                                <a:latin typeface="Cambria Math" panose="02040503050406030204" pitchFamily="18" charset="0"/>
                                <a:ea typeface="Times New Roman" panose="02020603050405020304" pitchFamily="18" charset="0"/>
                              </a:rPr>
                              <m:t>𝑤</m:t>
                            </m:r>
                          </m:sub>
                        </m:sSub>
                      </m:e>
                    </m:acc>
                    <m:r>
                      <a:rPr lang="en-US" sz="2600" i="1">
                        <a:effectLst/>
                        <a:latin typeface="Cambria Math" panose="02040503050406030204" pitchFamily="18" charset="0"/>
                        <a:ea typeface="Times New Roman" panose="02020603050405020304" pitchFamily="18" charset="0"/>
                      </a:rPr>
                      <m:t>=</m:t>
                    </m:r>
                    <m:nary>
                      <m:naryPr>
                        <m:chr m:val="∑"/>
                        <m:limLoc m:val="undOvr"/>
                        <m:ctrlPr>
                          <a:rPr lang="en-US" sz="2600" i="1">
                            <a:effectLst/>
                            <a:latin typeface="Cambria Math" panose="02040503050406030204" pitchFamily="18" charset="0"/>
                            <a:ea typeface="Times New Roman" panose="02020603050405020304" pitchFamily="18" charset="0"/>
                          </a:rPr>
                        </m:ctrlPr>
                      </m:naryPr>
                      <m:sub>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=1</m:t>
                        </m:r>
                      </m:sub>
                      <m:sup>
                        <m:r>
                          <a:rPr lang="en-US" sz="2600" i="1">
                            <a:effectLst/>
                            <a:latin typeface="Cambria Math" panose="02040503050406030204" pitchFamily="18" charset="0"/>
                            <a:ea typeface="Times New Roman" panose="02020603050405020304" pitchFamily="18" charset="0"/>
                          </a:rPr>
                          <m:t>𝑖</m:t>
                        </m:r>
                        <m:r>
                          <a:rPr lang="en-US" sz="2600" i="1">
                            <a:effectLst/>
                            <a:latin typeface="Cambria Math" panose="02040503050406030204" pitchFamily="18" charset="0"/>
                            <a:ea typeface="Times New Roman" panose="02020603050405020304" pitchFamily="18" charset="0"/>
                          </a:rPr>
                          <m:t>=</m:t>
                        </m:r>
                        <m:r>
                          <a:rPr lang="en-US" sz="2600" i="1">
                            <a:effectLst/>
                            <a:latin typeface="Cambria Math" panose="02040503050406030204" pitchFamily="18" charset="0"/>
                            <a:ea typeface="Times New Roman" panose="02020603050405020304" pitchFamily="18" charset="0"/>
                          </a:rPr>
                          <m:t>𝑛</m:t>
                        </m:r>
                      </m:sup>
                      <m:e>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𝑥</m:t>
                            </m:r>
                          </m:e>
                          <m:sub>
                            <m:r>
                              <a:rPr lang="en-US" sz="2600" i="1">
                                <a:effectLst/>
                                <a:latin typeface="Cambria Math" panose="02040503050406030204" pitchFamily="18" charset="0"/>
                                <a:ea typeface="Times New Roman" panose="02020603050405020304" pitchFamily="18" charset="0"/>
                              </a:rPr>
                              <m:t>𝑖</m:t>
                            </m:r>
                          </m:sub>
                        </m:sSub>
                      </m:e>
                    </m:nary>
                    <m:acc>
                      <m:accPr>
                        <m:chr m:val="̅"/>
                        <m:ctrlPr>
                          <a:rPr lang="en-US" sz="2600" i="1">
                            <a:effectLst/>
                            <a:latin typeface="Cambria Math" panose="02040503050406030204" pitchFamily="18" charset="0"/>
                            <a:ea typeface="Times New Roman" panose="02020603050405020304" pitchFamily="18" charset="0"/>
                          </a:rPr>
                        </m:ctrlPr>
                      </m:accPr>
                      <m:e>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𝐷</m:t>
                            </m:r>
                          </m:e>
                          <m:sub>
                            <m:r>
                              <a:rPr lang="en-US" sz="2600" i="1">
                                <a:effectLst/>
                                <a:latin typeface="Cambria Math" panose="02040503050406030204" pitchFamily="18" charset="0"/>
                                <a:ea typeface="Times New Roman" panose="02020603050405020304" pitchFamily="18" charset="0"/>
                              </a:rPr>
                              <m:t>𝑃𝑖</m:t>
                            </m:r>
                          </m:sub>
                        </m:sSub>
                      </m:e>
                    </m:acc>
                    <m:r>
                      <a:rPr lang="en-US" sz="2600" i="1">
                        <a:effectLst/>
                        <a:latin typeface="Cambria Math" panose="02040503050406030204" pitchFamily="18" charset="0"/>
                        <a:ea typeface="Times New Roman" panose="02020603050405020304" pitchFamily="18" charset="0"/>
                      </a:rPr>
                      <m:t>=1.677 </m:t>
                    </m:r>
                    <m:r>
                      <a:rPr lang="en-US" sz="2600" i="1">
                        <a:effectLst/>
                        <a:latin typeface="Cambria Math" panose="02040503050406030204" pitchFamily="18" charset="0"/>
                        <a:ea typeface="Times New Roman" panose="02020603050405020304" pitchFamily="18" charset="0"/>
                      </a:rPr>
                      <m:t>𝑚𝑚</m:t>
                    </m:r>
                  </m:oMath>
                </a14:m>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600" dirty="0">
                    <a:effectLst/>
                    <a:latin typeface="Times New Roman" panose="02020603050405020304" pitchFamily="18" charset="0"/>
                    <a:ea typeface="Times New Roman" panose="02020603050405020304" pitchFamily="18" charset="0"/>
                  </a:rPr>
                  <a:t>No of particles in the 150/200 mesh increment is found from </a:t>
                </a:r>
              </a:p>
              <a:p>
                <a:pPr marL="0" marR="0">
                  <a:spcBef>
                    <a:spcPts val="0"/>
                  </a:spcBef>
                  <a:spcAft>
                    <a:spcPts val="0"/>
                  </a:spcAft>
                </a:pPr>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 xmlns:m="http://schemas.openxmlformats.org/officeDocument/2006/math">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𝑁</m:t>
                        </m:r>
                        <m:r>
                          <a:rPr lang="en-US" sz="2600" i="1">
                            <a:effectLst/>
                            <a:latin typeface="Cambria Math" panose="02040503050406030204" pitchFamily="18" charset="0"/>
                            <a:ea typeface="Times New Roman" panose="02020603050405020304" pitchFamily="18" charset="0"/>
                          </a:rPr>
                          <m:t> </m:t>
                        </m:r>
                      </m:e>
                      <m:sub>
                        <m:r>
                          <a:rPr lang="en-US" sz="2600" i="1">
                            <a:effectLst/>
                            <a:latin typeface="Cambria Math" panose="02040503050406030204" pitchFamily="18" charset="0"/>
                            <a:ea typeface="Times New Roman" panose="02020603050405020304" pitchFamily="18" charset="0"/>
                          </a:rPr>
                          <m:t>𝑊</m:t>
                        </m:r>
                      </m:sub>
                    </m:sSub>
                    <m:r>
                      <a:rPr lang="en-US" sz="2600" i="1">
                        <a:effectLst/>
                        <a:latin typeface="Cambria Math" panose="02040503050406030204" pitchFamily="18" charset="0"/>
                        <a:ea typeface="Times New Roman" panose="02020603050405020304" pitchFamily="18" charset="0"/>
                      </a:rPr>
                      <m:t> </m:t>
                    </m:r>
                  </m:oMath>
                </a14:m>
                <a:r>
                  <a:rPr lang="en-US" sz="2600" dirty="0">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US" sz="2600" i="1">
                            <a:effectLst/>
                            <a:latin typeface="Cambria Math" panose="02040503050406030204" pitchFamily="18" charset="0"/>
                            <a:ea typeface="Times New Roman" panose="02020603050405020304" pitchFamily="18" charset="0"/>
                          </a:rPr>
                        </m:ctrlPr>
                      </m:fPr>
                      <m:num>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𝑥</m:t>
                            </m:r>
                          </m:e>
                          <m:sub>
                            <m:r>
                              <a:rPr lang="en-US" sz="2600" i="1">
                                <a:effectLst/>
                                <a:latin typeface="Cambria Math" panose="02040503050406030204" pitchFamily="18" charset="0"/>
                                <a:ea typeface="Times New Roman" panose="02020603050405020304" pitchFamily="18" charset="0"/>
                              </a:rPr>
                              <m:t>2</m:t>
                            </m:r>
                          </m:sub>
                        </m:sSub>
                        <m:r>
                          <a:rPr lang="en-US" sz="2600" i="1">
                            <a:effectLst/>
                            <a:latin typeface="Cambria Math" panose="02040503050406030204" pitchFamily="18" charset="0"/>
                            <a:ea typeface="Times New Roman" panose="02020603050405020304" pitchFamily="18" charset="0"/>
                          </a:rPr>
                          <m:t> </m:t>
                        </m:r>
                      </m:num>
                      <m:den>
                        <m:r>
                          <a:rPr lang="en-US" sz="2600" i="1">
                            <a:effectLst/>
                            <a:latin typeface="Cambria Math" panose="02040503050406030204" pitchFamily="18" charset="0"/>
                            <a:ea typeface="Times New Roman" panose="02020603050405020304" pitchFamily="18" charset="0"/>
                          </a:rPr>
                          <m:t>𝑎</m:t>
                        </m:r>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m:t>
                            </m:r>
                          </m:e>
                          <m:sub>
                            <m:r>
                              <a:rPr lang="en-US" sz="2600" i="1">
                                <a:effectLst/>
                                <a:latin typeface="Cambria Math" panose="02040503050406030204" pitchFamily="18" charset="0"/>
                                <a:ea typeface="Times New Roman" panose="02020603050405020304" pitchFamily="18" charset="0"/>
                              </a:rPr>
                              <m:t>𝑝</m:t>
                            </m:r>
                          </m:sub>
                        </m:sSub>
                        <m:sSubSup>
                          <m:sSubSupPr>
                            <m:ctrlPr>
                              <a:rPr lang="en-US" sz="2600" i="1">
                                <a:effectLst/>
                                <a:latin typeface="Cambria Math" panose="02040503050406030204" pitchFamily="18" charset="0"/>
                                <a:ea typeface="Times New Roman" panose="02020603050405020304" pitchFamily="18" charset="0"/>
                              </a:rPr>
                            </m:ctrlPr>
                          </m:sSubSupPr>
                          <m:e>
                            <m:acc>
                              <m:accPr>
                                <m:chr m:val="̅"/>
                                <m:ctrlPr>
                                  <a:rPr lang="en-US" sz="2600" i="1">
                                    <a:effectLst/>
                                    <a:latin typeface="Cambria Math" panose="02040503050406030204" pitchFamily="18" charset="0"/>
                                    <a:ea typeface="Times New Roman" panose="02020603050405020304" pitchFamily="18" charset="0"/>
                                  </a:rPr>
                                </m:ctrlPr>
                              </m:accPr>
                              <m:e>
                                <m:r>
                                  <a:rPr lang="en-US" sz="2600" i="1">
                                    <a:effectLst/>
                                    <a:latin typeface="Cambria Math" panose="02040503050406030204" pitchFamily="18" charset="0"/>
                                    <a:ea typeface="Times New Roman" panose="02020603050405020304" pitchFamily="18" charset="0"/>
                                  </a:rPr>
                                  <m:t>𝐷</m:t>
                                </m:r>
                              </m:e>
                            </m:acc>
                          </m:e>
                          <m:sub>
                            <m:r>
                              <a:rPr lang="en-US" sz="2600" i="1">
                                <a:effectLst/>
                                <a:latin typeface="Cambria Math" panose="02040503050406030204" pitchFamily="18" charset="0"/>
                                <a:ea typeface="Times New Roman" panose="02020603050405020304" pitchFamily="18" charset="0"/>
                              </a:rPr>
                              <m:t>𝑝</m:t>
                            </m:r>
                            <m:r>
                              <a:rPr lang="en-US" sz="2600" i="1">
                                <a:effectLst/>
                                <a:latin typeface="Cambria Math" panose="02040503050406030204" pitchFamily="18" charset="0"/>
                                <a:ea typeface="Times New Roman" panose="02020603050405020304" pitchFamily="18" charset="0"/>
                              </a:rPr>
                              <m:t>2</m:t>
                            </m:r>
                          </m:sub>
                          <m:sup>
                            <m:r>
                              <a:rPr lang="en-US" sz="2600" i="1">
                                <a:effectLst/>
                                <a:latin typeface="Cambria Math" panose="02040503050406030204" pitchFamily="18" charset="0"/>
                                <a:ea typeface="Times New Roman" panose="02020603050405020304" pitchFamily="18" charset="0"/>
                              </a:rPr>
                              <m:t>3</m:t>
                            </m:r>
                          </m:sup>
                        </m:sSubSup>
                      </m:den>
                    </m:f>
                    <m:r>
                      <a:rPr lang="en-US" sz="2600" i="1">
                        <a:effectLst/>
                        <a:latin typeface="Cambria Math" panose="02040503050406030204" pitchFamily="18" charset="0"/>
                        <a:ea typeface="Times New Roman" panose="02020603050405020304" pitchFamily="18" charset="0"/>
                      </a:rPr>
                      <m:t>=</m:t>
                    </m:r>
                    <m:f>
                      <m:fPr>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0.0031</m:t>
                        </m:r>
                      </m:num>
                      <m:den>
                        <m:r>
                          <a:rPr lang="en-US" sz="2600" i="1">
                            <a:effectLst/>
                            <a:latin typeface="Cambria Math" panose="02040503050406030204" pitchFamily="18" charset="0"/>
                            <a:ea typeface="Times New Roman" panose="02020603050405020304" pitchFamily="18" charset="0"/>
                          </a:rPr>
                          <m:t>2 </m:t>
                        </m:r>
                        <m:r>
                          <a:rPr lang="en-US" sz="2600" i="1">
                            <a:effectLst/>
                            <a:latin typeface="Cambria Math" panose="02040503050406030204" pitchFamily="18" charset="0"/>
                            <a:ea typeface="Times New Roman" panose="02020603050405020304" pitchFamily="18" charset="0"/>
                          </a:rPr>
                          <m:t>𝑥</m:t>
                        </m:r>
                        <m:r>
                          <a:rPr lang="en-US" sz="2600" i="1">
                            <a:effectLst/>
                            <a:latin typeface="Cambria Math" panose="02040503050406030204" pitchFamily="18" charset="0"/>
                            <a:ea typeface="Times New Roman" panose="02020603050405020304" pitchFamily="18" charset="0"/>
                          </a:rPr>
                          <m:t> 0.00265 </m:t>
                        </m:r>
                        <m:r>
                          <a:rPr lang="en-US" sz="2600" i="1">
                            <a:effectLst/>
                            <a:latin typeface="Cambria Math" panose="02040503050406030204" pitchFamily="18" charset="0"/>
                            <a:ea typeface="Times New Roman" panose="02020603050405020304" pitchFamily="18" charset="0"/>
                          </a:rPr>
                          <m:t>𝑥</m:t>
                        </m:r>
                        <m:sSup>
                          <m:sSupPr>
                            <m:ctrlPr>
                              <a:rPr lang="en-US" sz="2600" i="1">
                                <a:effectLst/>
                                <a:latin typeface="Cambria Math" panose="02040503050406030204" pitchFamily="18" charset="0"/>
                                <a:ea typeface="Times New Roman" panose="02020603050405020304" pitchFamily="18" charset="0"/>
                              </a:rPr>
                            </m:ctrlPr>
                          </m:sSupPr>
                          <m:e>
                            <m:r>
                              <a:rPr lang="en-US" sz="2600" i="1">
                                <a:effectLst/>
                                <a:latin typeface="Cambria Math" panose="02040503050406030204" pitchFamily="18" charset="0"/>
                                <a:ea typeface="Times New Roman" panose="02020603050405020304" pitchFamily="18" charset="0"/>
                              </a:rPr>
                              <m:t>0.089</m:t>
                            </m:r>
                          </m:e>
                          <m:sup>
                            <m:r>
                              <a:rPr lang="en-US" sz="2600" i="1">
                                <a:effectLst/>
                                <a:latin typeface="Cambria Math" panose="02040503050406030204" pitchFamily="18" charset="0"/>
                                <a:ea typeface="Times New Roman" panose="02020603050405020304" pitchFamily="18" charset="0"/>
                              </a:rPr>
                              <m:t>3</m:t>
                            </m:r>
                          </m:sup>
                        </m:sSup>
                      </m:den>
                    </m:f>
                    <m:r>
                      <a:rPr lang="en-US" sz="2600" i="1">
                        <a:effectLst/>
                        <a:latin typeface="Cambria Math" panose="02040503050406030204" pitchFamily="18" charset="0"/>
                        <a:ea typeface="Times New Roman" panose="02020603050405020304" pitchFamily="18" charset="0"/>
                      </a:rPr>
                      <m:t>=836 </m:t>
                    </m:r>
                    <m:r>
                      <a:rPr lang="en-US" sz="2600" i="1">
                        <a:effectLst/>
                        <a:latin typeface="Cambria Math" panose="02040503050406030204" pitchFamily="18" charset="0"/>
                        <a:ea typeface="Times New Roman" panose="02020603050405020304" pitchFamily="18" charset="0"/>
                      </a:rPr>
                      <m:t>𝑝𝑎𝑟𝑡𝑖𝑐𝑙𝑒</m:t>
                    </m:r>
                    <m:r>
                      <a:rPr lang="en-US" sz="2600" i="1">
                        <a:effectLst/>
                        <a:latin typeface="Cambria Math" panose="02040503050406030204" pitchFamily="18" charset="0"/>
                        <a:ea typeface="Times New Roman" panose="02020603050405020304" pitchFamily="18" charset="0"/>
                      </a:rPr>
                      <m:t>/</m:t>
                    </m:r>
                    <m:r>
                      <a:rPr lang="en-US" sz="2600" i="1">
                        <a:effectLst/>
                        <a:latin typeface="Cambria Math" panose="02040503050406030204" pitchFamily="18" charset="0"/>
                        <a:ea typeface="Times New Roman" panose="02020603050405020304" pitchFamily="18" charset="0"/>
                      </a:rPr>
                      <m:t>𝑔𝑚</m:t>
                    </m:r>
                  </m:oMath>
                </a14:m>
                <a:r>
                  <a:rPr lang="en-US" sz="2600" dirty="0">
                    <a:effectLst/>
                    <a:latin typeface="Times New Roman" panose="02020603050405020304" pitchFamily="18" charset="0"/>
                    <a:ea typeface="Times New Roman" panose="02020603050405020304" pitchFamily="18" charset="0"/>
                  </a:rPr>
                  <a:t>,  </a:t>
                </a:r>
              </a:p>
              <a:p>
                <a:pPr marL="0" marR="0">
                  <a:spcBef>
                    <a:spcPts val="0"/>
                  </a:spcBef>
                  <a:spcAft>
                    <a:spcPts val="0"/>
                  </a:spcAft>
                </a:pPr>
                <a:r>
                  <a:rPr lang="en-US" sz="2600" dirty="0">
                    <a:effectLst/>
                    <a:latin typeface="Times New Roman" panose="02020603050405020304" pitchFamily="18" charset="0"/>
                    <a:ea typeface="Times New Roman" panose="02020603050405020304" pitchFamily="18" charset="0"/>
                  </a:rPr>
                  <a:t>  </a:t>
                </a:r>
              </a:p>
              <a:p>
                <a:pPr marL="0" marR="0">
                  <a:spcBef>
                    <a:spcPts val="0"/>
                  </a:spcBef>
                  <a:spcAft>
                    <a:spcPts val="0"/>
                  </a:spcAft>
                </a:pPr>
                <a:r>
                  <a:rPr lang="en-US" sz="2600" dirty="0">
                    <a:effectLst/>
                    <a:latin typeface="Times New Roman" panose="02020603050405020304" pitchFamily="18" charset="0"/>
                    <a:ea typeface="Times New Roman" panose="02020603050405020304" pitchFamily="18" charset="0"/>
                  </a:rPr>
                  <a:t> </a:t>
                </a:r>
                <a14:m>
                  <m:oMath xmlns:m="http://schemas.openxmlformats.org/officeDocument/2006/math">
                    <m:r>
                      <a:rPr lang="en-US" sz="2600" i="1">
                        <a:effectLst/>
                        <a:latin typeface="Cambria Math" panose="02040503050406030204" pitchFamily="18" charset="0"/>
                        <a:ea typeface="Times New Roman" panose="02020603050405020304" pitchFamily="18" charset="0"/>
                      </a:rPr>
                      <m:t>𝑇𝑜𝑡𝑎𝑙</m:t>
                    </m:r>
                    <m:r>
                      <a:rPr lang="en-US" sz="2600" i="1">
                        <a:effectLst/>
                        <a:latin typeface="Cambria Math" panose="02040503050406030204" pitchFamily="18" charset="0"/>
                        <a:ea typeface="Times New Roman" panose="02020603050405020304" pitchFamily="18" charset="0"/>
                      </a:rPr>
                      <m:t>  </m:t>
                    </m:r>
                    <m:r>
                      <a:rPr lang="en-US" sz="2600" i="1">
                        <a:effectLst/>
                        <a:latin typeface="Cambria Math" panose="02040503050406030204" pitchFamily="18" charset="0"/>
                        <a:ea typeface="Times New Roman" panose="02020603050405020304" pitchFamily="18" charset="0"/>
                      </a:rPr>
                      <m:t>𝑛𝑜</m:t>
                    </m:r>
                    <m:r>
                      <a:rPr lang="en-US" sz="2600" i="1">
                        <a:effectLst/>
                        <a:latin typeface="Cambria Math" panose="02040503050406030204" pitchFamily="18" charset="0"/>
                        <a:ea typeface="Times New Roman" panose="02020603050405020304" pitchFamily="18" charset="0"/>
                      </a:rPr>
                      <m:t> </m:t>
                    </m:r>
                    <m:r>
                      <a:rPr lang="en-US" sz="2600" i="1">
                        <a:effectLst/>
                        <a:latin typeface="Cambria Math" panose="02040503050406030204" pitchFamily="18" charset="0"/>
                        <a:ea typeface="Times New Roman" panose="02020603050405020304" pitchFamily="18" charset="0"/>
                      </a:rPr>
                      <m:t>𝑜𝑓</m:t>
                    </m:r>
                    <m:r>
                      <a:rPr lang="en-US" sz="2600" i="1">
                        <a:effectLst/>
                        <a:latin typeface="Cambria Math" panose="02040503050406030204" pitchFamily="18" charset="0"/>
                        <a:ea typeface="Times New Roman" panose="02020603050405020304" pitchFamily="18" charset="0"/>
                      </a:rPr>
                      <m:t> </m:t>
                    </m:r>
                    <m:r>
                      <a:rPr lang="en-US" sz="2600" i="1">
                        <a:effectLst/>
                        <a:latin typeface="Cambria Math" panose="02040503050406030204" pitchFamily="18" charset="0"/>
                        <a:ea typeface="Times New Roman" panose="02020603050405020304" pitchFamily="18" charset="0"/>
                      </a:rPr>
                      <m:t>𝑝𝑎𝑟𝑡𝑖𝑐𝑙𝑒𝑠</m:t>
                    </m:r>
                    <m:r>
                      <a:rPr lang="en-US" sz="2600" i="1">
                        <a:effectLst/>
                        <a:latin typeface="Cambria Math" panose="02040503050406030204" pitchFamily="18" charset="0"/>
                        <a:ea typeface="Times New Roman" panose="02020603050405020304" pitchFamily="18" charset="0"/>
                      </a:rPr>
                      <m:t> </m:t>
                    </m:r>
                    <m:sSub>
                      <m:sSubPr>
                        <m:ctrlPr>
                          <a:rPr lang="en-US" sz="2600" i="1">
                            <a:effectLst/>
                            <a:latin typeface="Cambria Math" panose="02040503050406030204" pitchFamily="18" charset="0"/>
                            <a:ea typeface="Times New Roman" panose="02020603050405020304" pitchFamily="18" charset="0"/>
                          </a:rPr>
                        </m:ctrlPr>
                      </m:sSubPr>
                      <m:e>
                        <m:r>
                          <a:rPr lang="en-US" sz="2600" i="1">
                            <a:effectLst/>
                            <a:latin typeface="Cambria Math" panose="02040503050406030204" pitchFamily="18" charset="0"/>
                            <a:ea typeface="Times New Roman" panose="02020603050405020304" pitchFamily="18" charset="0"/>
                          </a:rPr>
                          <m:t>𝑁</m:t>
                        </m:r>
                        <m:r>
                          <a:rPr lang="en-US" sz="2600" i="1">
                            <a:effectLst/>
                            <a:latin typeface="Cambria Math" panose="02040503050406030204" pitchFamily="18" charset="0"/>
                            <a:ea typeface="Times New Roman" panose="02020603050405020304" pitchFamily="18" charset="0"/>
                          </a:rPr>
                          <m:t> </m:t>
                        </m:r>
                      </m:e>
                      <m:sub>
                        <m:r>
                          <a:rPr lang="en-US" sz="2600" i="1">
                            <a:effectLst/>
                            <a:latin typeface="Cambria Math" panose="02040503050406030204" pitchFamily="18" charset="0"/>
                            <a:ea typeface="Times New Roman" panose="02020603050405020304" pitchFamily="18" charset="0"/>
                          </a:rPr>
                          <m:t>𝑊</m:t>
                        </m:r>
                      </m:sub>
                    </m:sSub>
                    <m:r>
                      <a:rPr lang="en-US" sz="2600" i="1">
                        <a:effectLst/>
                        <a:latin typeface="Cambria Math" panose="02040503050406030204" pitchFamily="18" charset="0"/>
                        <a:ea typeface="Times New Roman" panose="02020603050405020304" pitchFamily="18" charset="0"/>
                      </a:rPr>
                      <m:t> =1679 </m:t>
                    </m:r>
                    <m:f>
                      <m:fPr>
                        <m:type m:val="skw"/>
                        <m:ctrlPr>
                          <a:rPr lang="en-US" sz="2600" i="1">
                            <a:effectLst/>
                            <a:latin typeface="Cambria Math" panose="02040503050406030204" pitchFamily="18" charset="0"/>
                            <a:ea typeface="Times New Roman" panose="02020603050405020304" pitchFamily="18" charset="0"/>
                          </a:rPr>
                        </m:ctrlPr>
                      </m:fPr>
                      <m:num>
                        <m:r>
                          <a:rPr lang="en-US" sz="2600" i="1">
                            <a:effectLst/>
                            <a:latin typeface="Cambria Math" panose="02040503050406030204" pitchFamily="18" charset="0"/>
                            <a:ea typeface="Times New Roman" panose="02020603050405020304" pitchFamily="18" charset="0"/>
                          </a:rPr>
                          <m:t>𝑝𝑎𝑟𝑡𝑖𝑐𝑙𝑒𝑠</m:t>
                        </m:r>
                      </m:num>
                      <m:den>
                        <m:r>
                          <a:rPr lang="en-US" sz="2600" i="1">
                            <a:effectLst/>
                            <a:latin typeface="Cambria Math" panose="02040503050406030204" pitchFamily="18" charset="0"/>
                            <a:ea typeface="Times New Roman" panose="02020603050405020304" pitchFamily="18" charset="0"/>
                          </a:rPr>
                          <m:t>𝑔𝑚</m:t>
                        </m:r>
                      </m:den>
                    </m:f>
                  </m:oMath>
                </a14:m>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600" dirty="0">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600" dirty="0">
                    <a:effectLst/>
                    <a:latin typeface="Times New Roman" panose="02020603050405020304" pitchFamily="18" charset="0"/>
                    <a:ea typeface="Times New Roman" panose="02020603050405020304" pitchFamily="18" charset="0"/>
                  </a:rPr>
                  <a:t>This is 836/1679 =0.498 or 49.8 percent of the particles in the top 12 increments. For the material in the pan fraction, the number of particles and specific surface area are enormously greater than for the coarse material, but they cannot be accurately estimated from the data table.</a:t>
                </a:r>
              </a:p>
              <a:p>
                <a:pPr marL="0" marR="0">
                  <a:spcBef>
                    <a:spcPts val="0"/>
                  </a:spcBef>
                  <a:spcAft>
                    <a:spcPts val="0"/>
                  </a:spcAft>
                </a:pPr>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600" dirty="0">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6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600" dirty="0">
                  <a:effectLst/>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0285C6FA-4052-2940-1ABD-7EF0400FE312}"/>
                  </a:ext>
                </a:extLst>
              </p:cNvPr>
              <p:cNvSpPr txBox="1">
                <a:spLocks noRot="1" noChangeAspect="1" noMove="1" noResize="1" noEditPoints="1" noAdjustHandles="1" noChangeArrowheads="1" noChangeShapeType="1" noTextEdit="1"/>
              </p:cNvSpPr>
              <p:nvPr/>
            </p:nvSpPr>
            <p:spPr>
              <a:xfrm>
                <a:off x="725060" y="2243845"/>
                <a:ext cx="18653980" cy="10184455"/>
              </a:xfrm>
              <a:prstGeom prst="rect">
                <a:avLst/>
              </a:prstGeom>
              <a:blipFill>
                <a:blip r:embed="rId4"/>
                <a:stretch>
                  <a:fillRect l="-588" r="-588"/>
                </a:stretch>
              </a:blipFill>
            </p:spPr>
            <p:txBody>
              <a:bodyPr/>
              <a:lstStyle/>
              <a:p>
                <a:r>
                  <a:rPr lang="en-US">
                    <a:noFill/>
                  </a:rPr>
                  <a:t> </a:t>
                </a:r>
              </a:p>
            </p:txBody>
          </p:sp>
        </mc:Fallback>
      </mc:AlternateContent>
    </p:spTree>
    <p:extLst>
      <p:ext uri="{BB962C8B-B14F-4D97-AF65-F5344CB8AC3E}">
        <p14:creationId xmlns:p14="http://schemas.microsoft.com/office/powerpoint/2010/main" val="4032213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ECB2A4D-37FC-BD93-28D0-40650D6290A7}"/>
                  </a:ext>
                </a:extLst>
              </p:cNvPr>
              <p:cNvSpPr txBox="1"/>
              <p:nvPr/>
            </p:nvSpPr>
            <p:spPr>
              <a:xfrm>
                <a:off x="1245417" y="1815516"/>
                <a:ext cx="18277657" cy="1732782"/>
              </a:xfrm>
              <a:prstGeom prst="rect">
                <a:avLst/>
              </a:prstGeom>
              <a:noFill/>
            </p:spPr>
            <p:txBody>
              <a:bodyPr wrap="square">
                <a:spAutoFit/>
              </a:bodyPr>
              <a:lstStyle/>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Volume surface mean </a:t>
                </a:r>
                <a:r>
                  <a:rPr lang="en-US" sz="2800" b="1" dirty="0" err="1">
                    <a:effectLst/>
                    <a:latin typeface="Times New Roman" panose="02020603050405020304" pitchFamily="18" charset="0"/>
                    <a:ea typeface="Times New Roman" panose="02020603050405020304" pitchFamily="18" charset="0"/>
                  </a:rPr>
                  <a:t>dia</a:t>
                </a:r>
                <a:r>
                  <a:rPr lang="en-US" sz="2800" b="1" dirty="0">
                    <a:effectLst/>
                    <a:latin typeface="Times New Roman" panose="02020603050405020304" pitchFamily="18" charset="0"/>
                    <a:ea typeface="Times New Roman" panose="02020603050405020304" pitchFamily="18" charset="0"/>
                  </a:rPr>
                  <a:t> by </a:t>
                </a:r>
                <a:r>
                  <a:rPr lang="en-US" sz="2800" b="1" dirty="0" err="1">
                    <a:effectLst/>
                    <a:latin typeface="Times New Roman" panose="02020603050405020304" pitchFamily="18" charset="0"/>
                    <a:ea typeface="Times New Roman" panose="02020603050405020304" pitchFamily="18" charset="0"/>
                  </a:rPr>
                  <a:t>Cummulative</a:t>
                </a:r>
                <a:r>
                  <a:rPr lang="en-US" sz="2800" b="1" dirty="0">
                    <a:effectLst/>
                    <a:latin typeface="Times New Roman" panose="02020603050405020304" pitchFamily="18" charset="0"/>
                    <a:ea typeface="Times New Roman" panose="02020603050405020304" pitchFamily="18" charset="0"/>
                  </a:rPr>
                  <a:t> Analysis: </a:t>
                </a:r>
                <a:endParaRPr lang="en-US" sz="2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800" i="1">
                              <a:effectLst/>
                              <a:latin typeface="Cambria Math" panose="02040503050406030204" pitchFamily="18" charset="0"/>
                              <a:ea typeface="Times New Roman" panose="02020603050405020304" pitchFamily="18" charset="0"/>
                            </a:rPr>
                          </m:ctrlPr>
                        </m:accPr>
                        <m:e>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𝐷</m:t>
                              </m:r>
                            </m:e>
                            <m:sub>
                              <m:r>
                                <a:rPr lang="en-US" sz="2800" i="1">
                                  <a:effectLst/>
                                  <a:latin typeface="Cambria Math" panose="02040503050406030204" pitchFamily="18" charset="0"/>
                                  <a:ea typeface="Times New Roman" panose="02020603050405020304" pitchFamily="18" charset="0"/>
                                </a:rPr>
                                <m:t>𝑠</m:t>
                              </m:r>
                            </m:sub>
                          </m:sSub>
                        </m:e>
                      </m:acc>
                      <m:r>
                        <a:rPr lang="en-US" sz="2800" i="1">
                          <a:effectLst/>
                          <a:latin typeface="Cambria Math" panose="02040503050406030204" pitchFamily="18" charset="0"/>
                          <a:ea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rPr>
                            <m:t>1</m:t>
                          </m:r>
                        </m:num>
                        <m:den>
                          <m:nary>
                            <m:naryPr>
                              <m:limLoc m:val="subSup"/>
                              <m:ctrlPr>
                                <a:rPr lang="en-US" sz="2800" i="1">
                                  <a:effectLst/>
                                  <a:latin typeface="Cambria Math" panose="02040503050406030204" pitchFamily="18" charset="0"/>
                                  <a:ea typeface="Times New Roman" panose="02020603050405020304" pitchFamily="18" charset="0"/>
                                </a:rPr>
                              </m:ctrlPr>
                            </m:naryPr>
                            <m:sub>
                              <m:r>
                                <a:rPr lang="en-US" sz="2800" i="1">
                                  <a:effectLst/>
                                  <a:latin typeface="Cambria Math" panose="02040503050406030204" pitchFamily="18" charset="0"/>
                                  <a:ea typeface="Times New Roman" panose="02020603050405020304" pitchFamily="18" charset="0"/>
                                </a:rPr>
                                <m:t>0</m:t>
                              </m:r>
                            </m:sub>
                            <m:sup>
                              <m:r>
                                <a:rPr lang="en-US" sz="2800" i="1">
                                  <a:effectLst/>
                                  <a:latin typeface="Cambria Math" panose="02040503050406030204" pitchFamily="18" charset="0"/>
                                  <a:ea typeface="Times New Roman" panose="02020603050405020304" pitchFamily="18" charset="0"/>
                                </a:rPr>
                                <m:t>1</m:t>
                              </m:r>
                            </m:sup>
                            <m:e>
                              <m:f>
                                <m:fPr>
                                  <m:ctrlPr>
                                    <a:rPr lang="en-US" sz="2800" i="1">
                                      <a:effectLst/>
                                      <a:latin typeface="Cambria Math" panose="02040503050406030204" pitchFamily="18" charset="0"/>
                                      <a:ea typeface="Times New Roman" panose="02020603050405020304" pitchFamily="18" charset="0"/>
                                    </a:rPr>
                                  </m:ctrlPr>
                                </m:fPr>
                                <m:num>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𝑖</m:t>
                                      </m:r>
                                    </m:sub>
                                  </m:sSub>
                                </m:num>
                                <m:den>
                                  <m:acc>
                                    <m:accPr>
                                      <m:chr m:val="̅"/>
                                      <m:ctrlPr>
                                        <a:rPr lang="en-US" sz="2800" i="1">
                                          <a:effectLst/>
                                          <a:latin typeface="Cambria Math" panose="02040503050406030204" pitchFamily="18" charset="0"/>
                                          <a:ea typeface="Times New Roman" panose="02020603050405020304" pitchFamily="18" charset="0"/>
                                        </a:rPr>
                                      </m:ctrlPr>
                                    </m:accPr>
                                    <m:e>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𝐷</m:t>
                                          </m:r>
                                        </m:e>
                                        <m:sub>
                                          <m:r>
                                            <a:rPr lang="en-US" sz="2800" i="1">
                                              <a:effectLst/>
                                              <a:latin typeface="Cambria Math" panose="02040503050406030204" pitchFamily="18" charset="0"/>
                                              <a:ea typeface="Times New Roman" panose="02020603050405020304" pitchFamily="18" charset="0"/>
                                            </a:rPr>
                                            <m:t>𝑃𝑖</m:t>
                                          </m:r>
                                        </m:sub>
                                      </m:sSub>
                                    </m:e>
                                  </m:acc>
                                </m:den>
                              </m:f>
                            </m:e>
                          </m:nary>
                        </m:den>
                      </m:f>
                      <m:r>
                        <a:rPr lang="en-US" sz="2800" i="1">
                          <a:effectLst/>
                          <a:latin typeface="Cambria Math" panose="02040503050406030204" pitchFamily="18" charset="0"/>
                          <a:ea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rPr>
                            <m:t>1</m:t>
                          </m:r>
                        </m:num>
                        <m:den>
                          <m:r>
                            <a:rPr lang="en-US" sz="2800" i="1">
                              <a:effectLst/>
                              <a:latin typeface="Cambria Math" panose="02040503050406030204" pitchFamily="18" charset="0"/>
                              <a:ea typeface="Times New Roman" panose="02020603050405020304" pitchFamily="18" charset="0"/>
                            </a:rPr>
                            <m:t>0.55</m:t>
                          </m:r>
                        </m:den>
                      </m:f>
                      <m:r>
                        <a:rPr lang="en-US" sz="2800" i="1">
                          <a:effectLst/>
                          <a:latin typeface="Cambria Math" panose="02040503050406030204" pitchFamily="18" charset="0"/>
                          <a:ea typeface="Times New Roman" panose="02020603050405020304" pitchFamily="18" charset="0"/>
                        </a:rPr>
                        <m:t>=1.8 </m:t>
                      </m:r>
                      <m:r>
                        <a:rPr lang="en-US" sz="2800" i="1">
                          <a:effectLst/>
                          <a:latin typeface="Cambria Math" panose="02040503050406030204" pitchFamily="18" charset="0"/>
                          <a:ea typeface="Times New Roman" panose="02020603050405020304" pitchFamily="18" charset="0"/>
                        </a:rPr>
                        <m:t>𝑚𝑚</m:t>
                      </m:r>
                      <m:r>
                        <a:rPr lang="en-US" sz="2800" i="1">
                          <a:effectLst/>
                          <a:latin typeface="Cambria Math" panose="02040503050406030204" pitchFamily="18" charset="0"/>
                          <a:ea typeface="Times New Roman" panose="02020603050405020304" pitchFamily="18" charset="0"/>
                        </a:rPr>
                        <m:t> </m:t>
                      </m:r>
                    </m:oMath>
                  </m:oMathPara>
                </a14:m>
                <a:endParaRPr lang="en-US" sz="2800" dirty="0">
                  <a:effectLst/>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6ECB2A4D-37FC-BD93-28D0-40650D6290A7}"/>
                  </a:ext>
                </a:extLst>
              </p:cNvPr>
              <p:cNvSpPr txBox="1">
                <a:spLocks noRot="1" noChangeAspect="1" noMove="1" noResize="1" noEditPoints="1" noAdjustHandles="1" noChangeArrowheads="1" noChangeShapeType="1" noTextEdit="1"/>
              </p:cNvSpPr>
              <p:nvPr/>
            </p:nvSpPr>
            <p:spPr>
              <a:xfrm>
                <a:off x="1245417" y="1815516"/>
                <a:ext cx="18277657" cy="1732782"/>
              </a:xfrm>
              <a:prstGeom prst="rect">
                <a:avLst/>
              </a:prstGeom>
              <a:blipFill>
                <a:blip r:embed="rId3"/>
                <a:stretch>
                  <a:fillRect l="-667" t="-3873"/>
                </a:stretch>
              </a:blipFill>
            </p:spPr>
            <p:txBody>
              <a:bodyPr/>
              <a:lstStyle/>
              <a:p>
                <a:r>
                  <a:rPr lang="en-US">
                    <a:noFill/>
                  </a:rPr>
                  <a:t> </a:t>
                </a:r>
              </a:p>
            </p:txBody>
          </p:sp>
        </mc:Fallback>
      </mc:AlternateContent>
      <p:graphicFrame>
        <p:nvGraphicFramePr>
          <p:cNvPr id="13" name="Chart 12">
            <a:extLst>
              <a:ext uri="{FF2B5EF4-FFF2-40B4-BE49-F238E27FC236}">
                <a16:creationId xmlns:a16="http://schemas.microsoft.com/office/drawing/2014/main" id="{4EF4623D-4CE2-5622-6686-518D5B627703}"/>
              </a:ext>
            </a:extLst>
          </p:cNvPr>
          <p:cNvGraphicFramePr/>
          <p:nvPr>
            <p:extLst>
              <p:ext uri="{D42A27DB-BD31-4B8C-83A1-F6EECF244321}">
                <p14:modId xmlns:p14="http://schemas.microsoft.com/office/powerpoint/2010/main" val="2606650262"/>
              </p:ext>
            </p:extLst>
          </p:nvPr>
        </p:nvGraphicFramePr>
        <p:xfrm>
          <a:off x="2505272" y="3934744"/>
          <a:ext cx="14961400" cy="618239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82203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sp>
        <p:nvSpPr>
          <p:cNvPr id="14" name="TextBox 13">
            <a:extLst>
              <a:ext uri="{FF2B5EF4-FFF2-40B4-BE49-F238E27FC236}">
                <a16:creationId xmlns:a16="http://schemas.microsoft.com/office/drawing/2014/main" id="{32332F91-25B8-EB86-CA5D-6B1B010C48D5}"/>
              </a:ext>
            </a:extLst>
          </p:cNvPr>
          <p:cNvSpPr txBox="1"/>
          <p:nvPr/>
        </p:nvSpPr>
        <p:spPr>
          <a:xfrm>
            <a:off x="1004888" y="2030174"/>
            <a:ext cx="18120170" cy="523220"/>
          </a:xfrm>
          <a:prstGeom prst="rect">
            <a:avLst/>
          </a:prstGeom>
          <a:noFill/>
        </p:spPr>
        <p:txBody>
          <a:bodyPr wrap="square">
            <a:spAutoFit/>
          </a:bodyPr>
          <a:lstStyle/>
          <a:p>
            <a:pPr marL="0" marR="0" algn="just">
              <a:spcBef>
                <a:spcPts val="0"/>
              </a:spcBef>
              <a:spcAft>
                <a:spcPts val="0"/>
              </a:spcAft>
            </a:pPr>
            <a:r>
              <a:rPr lang="en-GB" sz="2800" dirty="0">
                <a:effectLst/>
                <a:latin typeface="Times New Roman" panose="02020603050405020304" pitchFamily="18" charset="0"/>
                <a:ea typeface="Times New Roman" panose="02020603050405020304" pitchFamily="18" charset="0"/>
              </a:rPr>
              <a:t>EFFECTIVENESS OF SCREENS</a:t>
            </a:r>
            <a:endParaRPr lang="en-US" sz="28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CF65A9-0AA7-942C-5FBE-F47E2B1163EB}"/>
                  </a:ext>
                </a:extLst>
              </p:cNvPr>
              <p:cNvSpPr txBox="1"/>
              <p:nvPr/>
            </p:nvSpPr>
            <p:spPr>
              <a:xfrm>
                <a:off x="1213264" y="3042088"/>
                <a:ext cx="7598399" cy="10604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 </m:t>
                      </m:r>
                      <m:r>
                        <a:rPr lang="en-US" sz="2800" i="1">
                          <a:latin typeface="Cambria Math" panose="02040503050406030204" pitchFamily="18" charset="0"/>
                        </a:rPr>
                        <m:t>𝐸</m:t>
                      </m:r>
                      <m:r>
                        <a:rPr lang="en-US" sz="2800" i="0">
                          <a:latin typeface="Cambria Math" panose="02040503050406030204" pitchFamily="18" charset="0"/>
                        </a:rPr>
                        <m:t>=</m:t>
                      </m:r>
                      <m:d>
                        <m:dPr>
                          <m:begChr m:val="["/>
                          <m:endChr m:val="]"/>
                          <m:ctrlPr>
                            <a:rPr lang="en-US" sz="2800" i="1">
                              <a:solidFill>
                                <a:srgbClr val="836967"/>
                              </a:solidFill>
                              <a:latin typeface="Cambria Math" panose="02040503050406030204" pitchFamily="18" charset="0"/>
                            </a:rPr>
                          </m:ctrlPr>
                        </m:dPr>
                        <m:e>
                          <m:d>
                            <m:dPr>
                              <m:ctrlPr>
                                <a:rPr lang="en-US" sz="2800" i="1">
                                  <a:solidFill>
                                    <a:srgbClr val="836967"/>
                                  </a:solidFill>
                                  <a:latin typeface="Cambria Math" panose="02040503050406030204" pitchFamily="18" charset="0"/>
                                </a:rPr>
                              </m:ctrlPr>
                            </m:dPr>
                            <m:e>
                              <m:f>
                                <m:fPr>
                                  <m:ctrlPr>
                                    <a:rPr lang="en-US" sz="2800" i="1">
                                      <a:solidFill>
                                        <a:srgbClr val="836967"/>
                                      </a:solidFill>
                                      <a:latin typeface="Cambria Math" panose="02040503050406030204" pitchFamily="18" charset="0"/>
                                    </a:rPr>
                                  </m:ctrlPr>
                                </m:fPr>
                                <m:num>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𝐴</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𝐶</m:t>
                                      </m:r>
                                    </m:sub>
                                  </m:sSub>
                                </m:num>
                                <m:den>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𝐵</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𝐶</m:t>
                                      </m:r>
                                    </m:sub>
                                  </m:sSub>
                                </m:den>
                              </m:f>
                            </m:e>
                          </m:d>
                          <m:r>
                            <a:rPr lang="en-US" sz="2800" i="0">
                              <a:latin typeface="Cambria Math" panose="02040503050406030204" pitchFamily="18" charset="0"/>
                            </a:rPr>
                            <m:t> </m:t>
                          </m:r>
                          <m:f>
                            <m:fPr>
                              <m:ctrlPr>
                                <a:rPr lang="en-US" sz="2800" i="1">
                                  <a:solidFill>
                                    <a:srgbClr val="836967"/>
                                  </a:solidFill>
                                  <a:latin typeface="Cambria Math" panose="02040503050406030204" pitchFamily="18" charset="0"/>
                                </a:rPr>
                              </m:ctrlPr>
                            </m:fPr>
                            <m:num>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𝐵</m:t>
                                  </m:r>
                                </m:sub>
                              </m:sSub>
                            </m:num>
                            <m:den>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𝐴</m:t>
                                  </m:r>
                                </m:sub>
                              </m:sSub>
                            </m:den>
                          </m:f>
                        </m:e>
                      </m:d>
                      <m:r>
                        <a:rPr lang="en-US" sz="2800" i="0">
                          <a:latin typeface="Cambria Math" panose="02040503050406030204" pitchFamily="18" charset="0"/>
                        </a:rPr>
                        <m:t> </m:t>
                      </m:r>
                      <m:d>
                        <m:dPr>
                          <m:begChr m:val="["/>
                          <m:endChr m:val="]"/>
                          <m:ctrlPr>
                            <a:rPr lang="en-US" sz="2800" i="1">
                              <a:solidFill>
                                <a:srgbClr val="836967"/>
                              </a:solidFill>
                              <a:latin typeface="Cambria Math" panose="02040503050406030204" pitchFamily="18" charset="0"/>
                            </a:rPr>
                          </m:ctrlPr>
                        </m:dPr>
                        <m:e>
                          <m:r>
                            <a:rPr lang="en-US" sz="2800" i="0">
                              <a:latin typeface="Cambria Math" panose="02040503050406030204" pitchFamily="18" charset="0"/>
                            </a:rPr>
                            <m:t>1−</m:t>
                          </m:r>
                          <m:d>
                            <m:dPr>
                              <m:ctrlPr>
                                <a:rPr lang="en-US" sz="2800" i="1">
                                  <a:solidFill>
                                    <a:srgbClr val="836967"/>
                                  </a:solidFill>
                                  <a:latin typeface="Cambria Math" panose="02040503050406030204" pitchFamily="18" charset="0"/>
                                </a:rPr>
                              </m:ctrlPr>
                            </m:dPr>
                            <m:e>
                              <m:f>
                                <m:fPr>
                                  <m:ctrlPr>
                                    <a:rPr lang="en-US" sz="2800" i="1">
                                      <a:solidFill>
                                        <a:srgbClr val="836967"/>
                                      </a:solidFill>
                                      <a:latin typeface="Cambria Math" panose="02040503050406030204" pitchFamily="18" charset="0"/>
                                    </a:rPr>
                                  </m:ctrlPr>
                                </m:fPr>
                                <m:num>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𝐴</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𝐶</m:t>
                                      </m:r>
                                    </m:sub>
                                  </m:sSub>
                                </m:num>
                                <m:den>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𝐵</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𝐶</m:t>
                                      </m:r>
                                    </m:sub>
                                  </m:sSub>
                                </m:den>
                              </m:f>
                            </m:e>
                          </m:d>
                          <m:d>
                            <m:dPr>
                              <m:ctrlPr>
                                <a:rPr lang="en-US" sz="2800" i="1">
                                  <a:solidFill>
                                    <a:srgbClr val="836967"/>
                                  </a:solidFill>
                                  <a:latin typeface="Cambria Math" panose="02040503050406030204" pitchFamily="18" charset="0"/>
                                </a:rPr>
                              </m:ctrlPr>
                            </m:dPr>
                            <m:e>
                              <m:f>
                                <m:fPr>
                                  <m:ctrlPr>
                                    <a:rPr lang="en-US" sz="2800" i="1">
                                      <a:solidFill>
                                        <a:srgbClr val="836967"/>
                                      </a:solidFill>
                                      <a:latin typeface="Cambria Math" panose="02040503050406030204" pitchFamily="18" charset="0"/>
                                    </a:rPr>
                                  </m:ctrlPr>
                                </m:fPr>
                                <m:num>
                                  <m:r>
                                    <a:rPr lang="en-US" sz="2800" i="0">
                                      <a:latin typeface="Cambria Math" panose="02040503050406030204" pitchFamily="18" charset="0"/>
                                    </a:rPr>
                                    <m:t>1−</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𝐵</m:t>
                                      </m:r>
                                    </m:sub>
                                  </m:sSub>
                                </m:num>
                                <m:den>
                                  <m:r>
                                    <a:rPr lang="en-US" sz="2800" i="0">
                                      <a:latin typeface="Cambria Math" panose="02040503050406030204" pitchFamily="18" charset="0"/>
                                    </a:rPr>
                                    <m:t>1−</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𝐴</m:t>
                                      </m:r>
                                    </m:sub>
                                  </m:sSub>
                                </m:den>
                              </m:f>
                            </m:e>
                          </m:d>
                        </m:e>
                      </m:d>
                    </m:oMath>
                  </m:oMathPara>
                </a14:m>
                <a:endParaRPr lang="en-US" sz="2800" dirty="0"/>
              </a:p>
            </p:txBody>
          </p:sp>
        </mc:Choice>
        <mc:Fallback xmlns="">
          <p:sp>
            <p:nvSpPr>
              <p:cNvPr id="9" name="TextBox 8">
                <a:extLst>
                  <a:ext uri="{FF2B5EF4-FFF2-40B4-BE49-F238E27FC236}">
                    <a16:creationId xmlns:a16="http://schemas.microsoft.com/office/drawing/2014/main" id="{B4CF65A9-0AA7-942C-5FBE-F47E2B1163EB}"/>
                  </a:ext>
                </a:extLst>
              </p:cNvPr>
              <p:cNvSpPr txBox="1">
                <a:spLocks noRot="1" noChangeAspect="1" noMove="1" noResize="1" noEditPoints="1" noAdjustHandles="1" noChangeArrowheads="1" noChangeShapeType="1" noTextEdit="1"/>
              </p:cNvSpPr>
              <p:nvPr/>
            </p:nvSpPr>
            <p:spPr>
              <a:xfrm>
                <a:off x="1213264" y="3042088"/>
                <a:ext cx="7598399" cy="106048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78FAF7B-8195-1BBF-DC87-61728FA479CB}"/>
                  </a:ext>
                </a:extLst>
              </p:cNvPr>
              <p:cNvSpPr txBox="1"/>
              <p:nvPr/>
            </p:nvSpPr>
            <p:spPr>
              <a:xfrm>
                <a:off x="11425615" y="2808813"/>
                <a:ext cx="8691636" cy="3416320"/>
              </a:xfrm>
              <a:prstGeom prst="rect">
                <a:avLst/>
              </a:prstGeom>
              <a:noFill/>
            </p:spPr>
            <p:txBody>
              <a:bodyPr wrap="square">
                <a:spAutoFit/>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smtClean="0">
                          <a:effectLst/>
                          <a:latin typeface="Cambria Math" panose="02040503050406030204" pitchFamily="18" charset="0"/>
                          <a:ea typeface="Times New Roman" panose="02020603050405020304" pitchFamily="18" charset="0"/>
                        </a:rPr>
                        <m:t>𝐴</m:t>
                      </m:r>
                      <m:r>
                        <a:rPr lang="en-US" sz="2400" i="1" smtClean="0">
                          <a:effectLst/>
                          <a:latin typeface="Cambria Math" panose="02040503050406030204" pitchFamily="18" charset="0"/>
                          <a:ea typeface="Times New Roman" panose="02020603050405020304" pitchFamily="18" charset="0"/>
                        </a:rPr>
                        <m:t>=</m:t>
                      </m:r>
                      <m:r>
                        <a:rPr lang="en-US" sz="2400" i="1" smtClean="0">
                          <a:effectLst/>
                          <a:latin typeface="Cambria Math" panose="02040503050406030204" pitchFamily="18" charset="0"/>
                          <a:ea typeface="Times New Roman" panose="02020603050405020304" pitchFamily="18" charset="0"/>
                        </a:rPr>
                        <m:t>𝑀𝑎𝑠𝑠</m:t>
                      </m:r>
                      <m:r>
                        <a:rPr lang="en-US" sz="2400" i="1" smtClean="0">
                          <a:effectLst/>
                          <a:latin typeface="Cambria Math" panose="02040503050406030204" pitchFamily="18" charset="0"/>
                          <a:ea typeface="Times New Roman" panose="02020603050405020304" pitchFamily="18" charset="0"/>
                        </a:rPr>
                        <m:t> </m:t>
                      </m:r>
                      <m:r>
                        <a:rPr lang="en-US" sz="2400" i="1" smtClean="0">
                          <a:effectLst/>
                          <a:latin typeface="Cambria Math" panose="02040503050406030204" pitchFamily="18" charset="0"/>
                          <a:ea typeface="Times New Roman" panose="02020603050405020304" pitchFamily="18" charset="0"/>
                        </a:rPr>
                        <m:t>𝑓𝑙𝑜𝑤</m:t>
                      </m:r>
                      <m:r>
                        <a:rPr lang="en-US" sz="2400" i="1" smtClean="0">
                          <a:effectLst/>
                          <a:latin typeface="Cambria Math" panose="02040503050406030204" pitchFamily="18" charset="0"/>
                          <a:ea typeface="Times New Roman" panose="02020603050405020304" pitchFamily="18" charset="0"/>
                        </a:rPr>
                        <m:t> </m:t>
                      </m:r>
                      <m:r>
                        <a:rPr lang="en-US" sz="2400" i="1" smtClean="0">
                          <a:effectLst/>
                          <a:latin typeface="Cambria Math" panose="02040503050406030204" pitchFamily="18" charset="0"/>
                          <a:ea typeface="Times New Roman" panose="02020603050405020304" pitchFamily="18" charset="0"/>
                        </a:rPr>
                        <m:t>𝑟𝑎𝑡𝑒</m:t>
                      </m:r>
                      <m:r>
                        <a:rPr lang="en-US" sz="2400" i="1" smtClean="0">
                          <a:effectLst/>
                          <a:latin typeface="Cambria Math" panose="02040503050406030204" pitchFamily="18" charset="0"/>
                          <a:ea typeface="Times New Roman" panose="02020603050405020304" pitchFamily="18" charset="0"/>
                        </a:rPr>
                        <m:t> </m:t>
                      </m:r>
                      <m:r>
                        <a:rPr lang="en-US" sz="2400" i="1" smtClean="0">
                          <a:effectLst/>
                          <a:latin typeface="Cambria Math" panose="02040503050406030204" pitchFamily="18" charset="0"/>
                          <a:ea typeface="Times New Roman" panose="02020603050405020304" pitchFamily="18" charset="0"/>
                        </a:rPr>
                        <m:t>𝑜𝑓</m:t>
                      </m:r>
                      <m:r>
                        <a:rPr lang="en-US" sz="2400" i="1" smtClean="0">
                          <a:effectLst/>
                          <a:latin typeface="Cambria Math" panose="02040503050406030204" pitchFamily="18" charset="0"/>
                          <a:ea typeface="Times New Roman" panose="02020603050405020304" pitchFamily="18" charset="0"/>
                        </a:rPr>
                        <m:t> </m:t>
                      </m:r>
                      <m:r>
                        <a:rPr lang="en-US" sz="2400" i="1" smtClean="0">
                          <a:effectLst/>
                          <a:latin typeface="Cambria Math" panose="02040503050406030204" pitchFamily="18" charset="0"/>
                          <a:ea typeface="Times New Roman" panose="02020603050405020304" pitchFamily="18" charset="0"/>
                        </a:rPr>
                        <m:t>𝑡h𝑒</m:t>
                      </m:r>
                      <m:r>
                        <a:rPr lang="en-US" sz="2400" i="1" smtClean="0">
                          <a:effectLst/>
                          <a:latin typeface="Cambria Math" panose="02040503050406030204" pitchFamily="18" charset="0"/>
                          <a:ea typeface="Times New Roman" panose="02020603050405020304" pitchFamily="18" charset="0"/>
                        </a:rPr>
                        <m:t> </m:t>
                      </m:r>
                      <m:r>
                        <a:rPr lang="en-US" sz="2400" i="1" smtClean="0">
                          <a:effectLst/>
                          <a:latin typeface="Cambria Math" panose="02040503050406030204" pitchFamily="18" charset="0"/>
                          <a:ea typeface="Times New Roman" panose="02020603050405020304" pitchFamily="18" charset="0"/>
                        </a:rPr>
                        <m:t>𝑓𝑒𝑒𝑑</m:t>
                      </m:r>
                    </m:oMath>
                  </m:oMathPara>
                </a14:m>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rPr>
                        <m:t>𝐵</m:t>
                      </m:r>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𝑀𝑎𝑠𝑠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𝑓𝑙𝑜𝑤</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𝑟𝑎𝑡𝑒</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𝑜𝑣𝑒𝑟𝑓𝑙𝑜𝑤</m:t>
                      </m:r>
                    </m:oMath>
                  </m:oMathPara>
                </a14:m>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rPr>
                        <m:t>𝐶</m:t>
                      </m:r>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𝑀𝑎𝑠𝑠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𝑓𝑙𝑜𝑤</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𝑟𝑎𝑡𝑒</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𝑢𝑛𝑑𝑒𝑟𝑓𝑙𝑜𝑤</m:t>
                      </m:r>
                    </m:oMath>
                  </m:oMathPara>
                </a14:m>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𝑚𝑎𝑠𝑠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𝑓𝑟𝑎𝑐𝑡𝑖𝑜𝑛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rPr>
                        <m:t>  </m:t>
                      </m:r>
                      <m:r>
                        <m:rPr>
                          <m:sty m:val="p"/>
                        </m:rPr>
                        <a:rPr lang="en-US" sz="2400">
                          <a:effectLst/>
                          <a:latin typeface="Cambria Math" panose="02040503050406030204" pitchFamily="18" charset="0"/>
                          <a:ea typeface="Times New Roman" panose="02020603050405020304" pitchFamily="18" charset="0"/>
                        </a:rPr>
                        <m:t>desired</m:t>
                      </m:r>
                      <m:r>
                        <a:rPr lang="en-US" sz="2400">
                          <a:effectLst/>
                          <a:latin typeface="Cambria Math" panose="02040503050406030204" pitchFamily="18" charset="0"/>
                          <a:ea typeface="Times New Roman" panose="02020603050405020304" pitchFamily="18" charset="0"/>
                        </a:rPr>
                        <m:t> </m:t>
                      </m:r>
                      <m:r>
                        <m:rPr>
                          <m:sty m:val="p"/>
                        </m:rPr>
                        <a:rPr lang="en-US" sz="2400">
                          <a:effectLst/>
                          <a:latin typeface="Cambria Math" panose="02040503050406030204" pitchFamily="18" charset="0"/>
                          <a:ea typeface="Times New Roman" panose="02020603050405020304" pitchFamily="18" charset="0"/>
                        </a:rPr>
                        <m:t>product</m:t>
                      </m:r>
                      <m:r>
                        <a:rPr lang="en-US" sz="2400">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𝑖𝑛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𝑓𝑒𝑒𝑑</m:t>
                      </m:r>
                    </m:oMath>
                  </m:oMathPara>
                </a14:m>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𝑚𝑎𝑠𝑠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𝑓𝑟𝑎𝑐𝑡𝑖𝑜𝑛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𝑑𝑒𝑠𝑖𝑟𝑒𝑑</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𝑝𝑟𝑜𝑑𝑢𝑐𝑡</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𝑖𝑛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𝑜𝑣𝑒𝑟𝑓𝑙𝑜𝑤</m:t>
                      </m:r>
                    </m:oMath>
                  </m:oMathPara>
                </a14:m>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𝑀𝑎𝑠𝑠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𝑓𝑟𝑎𝑐𝑡𝑖𝑜𝑛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𝑑𝑒𝑠𝑖𝑟𝑒𝑑</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𝑝𝑟𝑜𝑑𝑢𝑐𝑡</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𝑖𝑛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𝑢𝑛𝑑𝑒𝑟𝑓𝑙𝑜𝑤</m:t>
                      </m:r>
                    </m:oMath>
                  </m:oMathPara>
                </a14:m>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1−</m:t>
                          </m:r>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𝑚𝑎𝑠𝑠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𝑓𝑟𝑎𝑐𝑡𝑖𝑜𝑛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𝑢𝑛𝑑𝑒𝑠𝑖𝑟𝑒𝑑</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𝑝𝑟𝑜𝑑𝑢𝑐𝑡</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𝑖𝑛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𝑓𝑒𝑒𝑑</m:t>
                      </m:r>
                    </m:oMath>
                  </m:oMathPara>
                </a14:m>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1−</m:t>
                          </m:r>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𝑚𝑎𝑠𝑠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𝑓𝑟𝑎𝑐𝑡𝑖𝑜𝑛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𝑢𝑛𝑑𝑒𝑟𝑠𝑖𝑟𝑒𝑑</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𝑝𝑟𝑜𝑑𝑢𝑐𝑡</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𝑜𝑣𝑒𝑟𝑓𝑙𝑜𝑤</m:t>
                      </m:r>
                    </m:oMath>
                  </m:oMathPara>
                </a14:m>
                <a:endParaRPr lang="en-US" sz="2400" dirty="0">
                  <a:effectLst/>
                  <a:latin typeface="Times New Roman" panose="02020603050405020304" pitchFamily="18" charset="0"/>
                  <a:ea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rPr>
                        <m:t>1−</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r>
                        <a:rPr lang="en-US" sz="2400" i="1">
                          <a:effectLst/>
                          <a:latin typeface="Cambria Math" panose="02040503050406030204" pitchFamily="18" charset="0"/>
                          <a:ea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rPr>
                        <m:t>𝑀𝑎𝑠𝑠</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𝑓𝑟𝑎𝑐𝑡𝑖𝑜𝑛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𝑜𝑓</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𝑢𝑛𝑑𝑒𝑠𝑖𝑟𝑒𝑑</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𝑝𝑟𝑜𝑑𝑢𝑐𝑡</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𝑖𝑛</m:t>
                      </m:r>
                      <m:r>
                        <a:rPr lang="en-US" sz="2400" i="1">
                          <a:effectLst/>
                          <a:latin typeface="Cambria Math" panose="02040503050406030204" pitchFamily="18" charset="0"/>
                          <a:ea typeface="Times New Roman" panose="02020603050405020304" pitchFamily="18" charset="0"/>
                        </a:rPr>
                        <m:t> </m:t>
                      </m:r>
                      <m:r>
                        <a:rPr lang="en-US" sz="2400" i="1">
                          <a:effectLst/>
                          <a:latin typeface="Cambria Math" panose="02040503050406030204" pitchFamily="18" charset="0"/>
                          <a:ea typeface="Times New Roman" panose="02020603050405020304" pitchFamily="18" charset="0"/>
                        </a:rPr>
                        <m:t>𝑢𝑛𝑑𝑒𝑟𝑓𝑙𝑜𝑤</m:t>
                      </m:r>
                    </m:oMath>
                  </m:oMathPara>
                </a14:m>
                <a:endParaRPr lang="en-US" sz="2400" dirty="0">
                  <a:effectLst/>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D78FAF7B-8195-1BBF-DC87-61728FA479CB}"/>
                  </a:ext>
                </a:extLst>
              </p:cNvPr>
              <p:cNvSpPr txBox="1">
                <a:spLocks noRot="1" noChangeAspect="1" noMove="1" noResize="1" noEditPoints="1" noAdjustHandles="1" noChangeArrowheads="1" noChangeShapeType="1" noTextEdit="1"/>
              </p:cNvSpPr>
              <p:nvPr/>
            </p:nvSpPr>
            <p:spPr>
              <a:xfrm>
                <a:off x="11425615" y="2808813"/>
                <a:ext cx="8691636" cy="3416320"/>
              </a:xfrm>
              <a:prstGeom prst="rect">
                <a:avLst/>
              </a:prstGeom>
              <a:blipFill>
                <a:blip r:embed="rId4"/>
                <a:stretch>
                  <a:fillRect b="-17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1C5B863-9DB2-F74A-8814-4DBB34BB13AD}"/>
                  </a:ext>
                </a:extLst>
              </p:cNvPr>
              <p:cNvSpPr txBox="1"/>
              <p:nvPr/>
            </p:nvSpPr>
            <p:spPr>
              <a:xfrm>
                <a:off x="284157" y="6491198"/>
                <a:ext cx="9587427" cy="9750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𝑅𝑎𝑡𝑖𝑜</m:t>
                      </m:r>
                      <m:r>
                        <a:rPr lang="en-US" sz="2800" i="0">
                          <a:latin typeface="Cambria Math" panose="02040503050406030204" pitchFamily="18" charset="0"/>
                        </a:rPr>
                        <m:t> </m:t>
                      </m:r>
                      <m:r>
                        <a:rPr lang="en-US" sz="2800" i="1">
                          <a:latin typeface="Cambria Math" panose="02040503050406030204" pitchFamily="18" charset="0"/>
                        </a:rPr>
                        <m:t>𝑜𝑓</m:t>
                      </m:r>
                      <m:r>
                        <a:rPr lang="en-US" sz="2800" i="0">
                          <a:latin typeface="Cambria Math" panose="02040503050406030204" pitchFamily="18" charset="0"/>
                        </a:rPr>
                        <m:t> </m:t>
                      </m:r>
                      <m:r>
                        <a:rPr lang="en-US" sz="2800" i="1">
                          <a:latin typeface="Cambria Math" panose="02040503050406030204" pitchFamily="18" charset="0"/>
                        </a:rPr>
                        <m:t>𝑢𝑛𝑑𝑒𝑟𝑓𝑜𝑤</m:t>
                      </m:r>
                      <m:r>
                        <a:rPr lang="en-US" sz="2800" i="0">
                          <a:latin typeface="Cambria Math" panose="02040503050406030204" pitchFamily="18" charset="0"/>
                        </a:rPr>
                        <m:t> </m:t>
                      </m:r>
                      <m:r>
                        <a:rPr lang="en-US" sz="2800" i="1">
                          <a:latin typeface="Cambria Math" panose="02040503050406030204" pitchFamily="18" charset="0"/>
                        </a:rPr>
                        <m:t>𝑡𝑜</m:t>
                      </m:r>
                      <m:r>
                        <a:rPr lang="en-US" sz="2800" i="0">
                          <a:latin typeface="Cambria Math" panose="02040503050406030204" pitchFamily="18" charset="0"/>
                        </a:rPr>
                        <m:t> </m:t>
                      </m:r>
                      <m:r>
                        <a:rPr lang="en-US" sz="2800" i="1">
                          <a:latin typeface="Cambria Math" panose="02040503050406030204" pitchFamily="18" charset="0"/>
                        </a:rPr>
                        <m:t>𝑓𝑒𝑒𝑑</m:t>
                      </m:r>
                      <m:r>
                        <a:rPr lang="en-US" sz="2800" i="0">
                          <a:latin typeface="Cambria Math" panose="02040503050406030204" pitchFamily="18" charset="0"/>
                        </a:rPr>
                        <m:t>= </m:t>
                      </m:r>
                      <m:f>
                        <m:fPr>
                          <m:ctrlPr>
                            <a:rPr lang="en-US" sz="2800" i="1">
                              <a:solidFill>
                                <a:srgbClr val="836967"/>
                              </a:solidFill>
                              <a:latin typeface="Cambria Math" panose="02040503050406030204" pitchFamily="18" charset="0"/>
                            </a:rPr>
                          </m:ctrlPr>
                        </m:fPr>
                        <m:num>
                          <m:r>
                            <a:rPr lang="en-US" sz="2800" i="1">
                              <a:latin typeface="Cambria Math" panose="02040503050406030204" pitchFamily="18" charset="0"/>
                            </a:rPr>
                            <m:t>𝐶</m:t>
                          </m:r>
                        </m:num>
                        <m:den>
                          <m:r>
                            <a:rPr lang="en-US" sz="2800" i="1">
                              <a:latin typeface="Cambria Math" panose="02040503050406030204" pitchFamily="18" charset="0"/>
                            </a:rPr>
                            <m:t>𝐴</m:t>
                          </m:r>
                        </m:den>
                      </m:f>
                      <m:r>
                        <a:rPr lang="en-US" sz="2800" i="0">
                          <a:latin typeface="Cambria Math" panose="02040503050406030204" pitchFamily="18" charset="0"/>
                        </a:rPr>
                        <m:t>=</m:t>
                      </m:r>
                      <m:f>
                        <m:fPr>
                          <m:ctrlPr>
                            <a:rPr lang="en-US" sz="2800" i="1">
                              <a:solidFill>
                                <a:srgbClr val="836967"/>
                              </a:solidFill>
                              <a:latin typeface="Cambria Math" panose="02040503050406030204" pitchFamily="18" charset="0"/>
                            </a:rPr>
                          </m:ctrlPr>
                        </m:fPr>
                        <m:num>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𝐴</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𝐵</m:t>
                              </m:r>
                            </m:sub>
                          </m:sSub>
                        </m:num>
                        <m:den>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𝐶</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𝐵</m:t>
                              </m:r>
                            </m:sub>
                          </m:sSub>
                        </m:den>
                      </m:f>
                      <m:r>
                        <a:rPr lang="en-US" sz="2800" i="0">
                          <a:latin typeface="Cambria Math" panose="02040503050406030204" pitchFamily="18" charset="0"/>
                        </a:rPr>
                        <m:t>=1−</m:t>
                      </m:r>
                      <m:f>
                        <m:fPr>
                          <m:ctrlPr>
                            <a:rPr lang="en-US" sz="2800" i="1">
                              <a:solidFill>
                                <a:srgbClr val="836967"/>
                              </a:solidFill>
                              <a:latin typeface="Cambria Math" panose="02040503050406030204" pitchFamily="18" charset="0"/>
                            </a:rPr>
                          </m:ctrlPr>
                        </m:fPr>
                        <m:num>
                          <m:r>
                            <a:rPr lang="en-US" sz="2800" i="1">
                              <a:latin typeface="Cambria Math" panose="02040503050406030204" pitchFamily="18" charset="0"/>
                            </a:rPr>
                            <m:t>𝐵</m:t>
                          </m:r>
                        </m:num>
                        <m:den>
                          <m:r>
                            <a:rPr lang="en-US" sz="2800" i="1">
                              <a:latin typeface="Cambria Math" panose="02040503050406030204" pitchFamily="18" charset="0"/>
                            </a:rPr>
                            <m:t>𝐴</m:t>
                          </m:r>
                        </m:den>
                      </m:f>
                      <m:r>
                        <a:rPr lang="en-US" sz="2800" i="0">
                          <a:latin typeface="Cambria Math" panose="02040503050406030204" pitchFamily="18" charset="0"/>
                        </a:rPr>
                        <m:t> </m:t>
                      </m:r>
                    </m:oMath>
                  </m:oMathPara>
                </a14:m>
                <a:endParaRPr lang="en-US" sz="2800" dirty="0"/>
              </a:p>
            </p:txBody>
          </p:sp>
        </mc:Choice>
        <mc:Fallback xmlns="">
          <p:sp>
            <p:nvSpPr>
              <p:cNvPr id="18" name="TextBox 17">
                <a:extLst>
                  <a:ext uri="{FF2B5EF4-FFF2-40B4-BE49-F238E27FC236}">
                    <a16:creationId xmlns:a16="http://schemas.microsoft.com/office/drawing/2014/main" id="{F1C5B863-9DB2-F74A-8814-4DBB34BB13AD}"/>
                  </a:ext>
                </a:extLst>
              </p:cNvPr>
              <p:cNvSpPr txBox="1">
                <a:spLocks noRot="1" noChangeAspect="1" noMove="1" noResize="1" noEditPoints="1" noAdjustHandles="1" noChangeArrowheads="1" noChangeShapeType="1" noTextEdit="1"/>
              </p:cNvSpPr>
              <p:nvPr/>
            </p:nvSpPr>
            <p:spPr>
              <a:xfrm>
                <a:off x="284157" y="6491198"/>
                <a:ext cx="9587427" cy="97507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3EF3B73-A9F8-679B-D6C8-4FCEAA3B22E8}"/>
                  </a:ext>
                </a:extLst>
              </p:cNvPr>
              <p:cNvSpPr txBox="1"/>
              <p:nvPr/>
            </p:nvSpPr>
            <p:spPr>
              <a:xfrm>
                <a:off x="221403" y="4955685"/>
                <a:ext cx="8136905" cy="9722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𝑅𝑎𝑡𝑖𝑜</m:t>
                      </m:r>
                      <m:r>
                        <a:rPr lang="en-US" sz="2800" i="0">
                          <a:latin typeface="Cambria Math" panose="02040503050406030204" pitchFamily="18" charset="0"/>
                        </a:rPr>
                        <m:t> </m:t>
                      </m:r>
                      <m:r>
                        <a:rPr lang="en-US" sz="2800" i="1">
                          <a:latin typeface="Cambria Math" panose="02040503050406030204" pitchFamily="18" charset="0"/>
                        </a:rPr>
                        <m:t>𝑜𝑓</m:t>
                      </m:r>
                      <m:r>
                        <a:rPr lang="en-US" sz="2800" i="0">
                          <a:latin typeface="Cambria Math" panose="02040503050406030204" pitchFamily="18" charset="0"/>
                        </a:rPr>
                        <m:t> </m:t>
                      </m:r>
                      <m:r>
                        <a:rPr lang="en-US" sz="2800" i="1">
                          <a:latin typeface="Cambria Math" panose="02040503050406030204" pitchFamily="18" charset="0"/>
                        </a:rPr>
                        <m:t>𝑜𝑣𝑒𝑟𝑠𝑖𝑧𝑒</m:t>
                      </m:r>
                      <m:r>
                        <a:rPr lang="en-US" sz="2800" i="0">
                          <a:latin typeface="Cambria Math" panose="02040503050406030204" pitchFamily="18" charset="0"/>
                        </a:rPr>
                        <m:t> </m:t>
                      </m:r>
                      <m:r>
                        <a:rPr lang="en-US" sz="2800" i="1">
                          <a:latin typeface="Cambria Math" panose="02040503050406030204" pitchFamily="18" charset="0"/>
                        </a:rPr>
                        <m:t>𝑡𝑜</m:t>
                      </m:r>
                      <m:r>
                        <a:rPr lang="en-US" sz="2800" i="0">
                          <a:latin typeface="Cambria Math" panose="02040503050406030204" pitchFamily="18" charset="0"/>
                        </a:rPr>
                        <m:t> </m:t>
                      </m:r>
                      <m:r>
                        <a:rPr lang="en-US" sz="2800" i="1">
                          <a:latin typeface="Cambria Math" panose="02040503050406030204" pitchFamily="18" charset="0"/>
                        </a:rPr>
                        <m:t>𝑓𝑒𝑒𝑑</m:t>
                      </m:r>
                      <m:r>
                        <a:rPr lang="en-US" sz="2800" i="0">
                          <a:latin typeface="Cambria Math" panose="02040503050406030204" pitchFamily="18" charset="0"/>
                        </a:rPr>
                        <m:t>= </m:t>
                      </m:r>
                      <m:f>
                        <m:fPr>
                          <m:ctrlPr>
                            <a:rPr lang="en-US" sz="2800" i="1">
                              <a:solidFill>
                                <a:srgbClr val="836967"/>
                              </a:solidFill>
                              <a:latin typeface="Cambria Math" panose="02040503050406030204" pitchFamily="18" charset="0"/>
                            </a:rPr>
                          </m:ctrlPr>
                        </m:fPr>
                        <m:num>
                          <m:r>
                            <a:rPr lang="en-US" sz="2800" i="1">
                              <a:latin typeface="Cambria Math" panose="02040503050406030204" pitchFamily="18" charset="0"/>
                            </a:rPr>
                            <m:t>𝐵</m:t>
                          </m:r>
                        </m:num>
                        <m:den>
                          <m:r>
                            <a:rPr lang="en-US" sz="2800" i="1">
                              <a:latin typeface="Cambria Math" panose="02040503050406030204" pitchFamily="18" charset="0"/>
                            </a:rPr>
                            <m:t>𝐴</m:t>
                          </m:r>
                        </m:den>
                      </m:f>
                      <m:r>
                        <a:rPr lang="en-US" sz="2800" i="0">
                          <a:latin typeface="Cambria Math" panose="02040503050406030204" pitchFamily="18" charset="0"/>
                        </a:rPr>
                        <m:t>=</m:t>
                      </m:r>
                      <m:f>
                        <m:fPr>
                          <m:ctrlPr>
                            <a:rPr lang="en-US" sz="2800" i="1">
                              <a:solidFill>
                                <a:srgbClr val="836967"/>
                              </a:solidFill>
                              <a:latin typeface="Cambria Math" panose="02040503050406030204" pitchFamily="18" charset="0"/>
                            </a:rPr>
                          </m:ctrlPr>
                        </m:fPr>
                        <m:num>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𝐴</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𝐶</m:t>
                              </m:r>
                            </m:sub>
                          </m:sSub>
                        </m:num>
                        <m:den>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𝐵</m:t>
                              </m:r>
                            </m:sub>
                          </m:sSub>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𝐶</m:t>
                              </m:r>
                            </m:sub>
                          </m:sSub>
                        </m:den>
                      </m:f>
                    </m:oMath>
                  </m:oMathPara>
                </a14:m>
                <a:endParaRPr lang="en-US" sz="2800" dirty="0"/>
              </a:p>
            </p:txBody>
          </p:sp>
        </mc:Choice>
        <mc:Fallback xmlns="">
          <p:sp>
            <p:nvSpPr>
              <p:cNvPr id="20" name="TextBox 19">
                <a:extLst>
                  <a:ext uri="{FF2B5EF4-FFF2-40B4-BE49-F238E27FC236}">
                    <a16:creationId xmlns:a16="http://schemas.microsoft.com/office/drawing/2014/main" id="{B3EF3B73-A9F8-679B-D6C8-4FCEAA3B22E8}"/>
                  </a:ext>
                </a:extLst>
              </p:cNvPr>
              <p:cNvSpPr txBox="1">
                <a:spLocks noRot="1" noChangeAspect="1" noMove="1" noResize="1" noEditPoints="1" noAdjustHandles="1" noChangeArrowheads="1" noChangeShapeType="1" noTextEdit="1"/>
              </p:cNvSpPr>
              <p:nvPr/>
            </p:nvSpPr>
            <p:spPr>
              <a:xfrm>
                <a:off x="221403" y="4955685"/>
                <a:ext cx="8136905" cy="972254"/>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76108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6D29E6AC-4E4F-05E8-A40B-74BFA627120F}"/>
              </a:ext>
            </a:extLst>
          </p:cNvPr>
          <p:cNvSpPr txBox="1"/>
          <p:nvPr/>
        </p:nvSpPr>
        <p:spPr>
          <a:xfrm>
            <a:off x="993920" y="1514477"/>
            <a:ext cx="18419169" cy="1815882"/>
          </a:xfrm>
          <a:prstGeom prst="rect">
            <a:avLst/>
          </a:prstGeom>
          <a:noFill/>
        </p:spPr>
        <p:txBody>
          <a:bodyPr wrap="square">
            <a:spAutoFit/>
          </a:bodyPr>
          <a:lstStyle/>
          <a:p>
            <a:pPr marL="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PB. Powdered coal with following screen analysis is fed to a vibrating </a:t>
            </a:r>
            <a:r>
              <a:rPr lang="en-US" sz="2800" b="1" dirty="0">
                <a:solidFill>
                  <a:srgbClr val="C00000"/>
                </a:solidFill>
                <a:effectLst/>
                <a:latin typeface="Times New Roman" panose="02020603050405020304" pitchFamily="18" charset="0"/>
                <a:ea typeface="Times New Roman" panose="02020603050405020304" pitchFamily="18" charset="0"/>
              </a:rPr>
              <a:t>48 mesh screen. </a:t>
            </a:r>
            <a:r>
              <a:rPr lang="en-US" sz="2800" dirty="0">
                <a:effectLst/>
                <a:latin typeface="Times New Roman" panose="02020603050405020304" pitchFamily="18" charset="0"/>
                <a:ea typeface="Times New Roman" panose="02020603050405020304" pitchFamily="18" charset="0"/>
              </a:rPr>
              <a:t>The particle size distribution is shown in the table.</a:t>
            </a:r>
          </a:p>
          <a:p>
            <a:pPr marL="342900" marR="0" lvl="0" indent="-342900" algn="just">
              <a:spcBef>
                <a:spcPts val="0"/>
              </a:spcBef>
              <a:spcAft>
                <a:spcPts val="0"/>
              </a:spcAft>
              <a:buFont typeface="+mj-lt"/>
              <a:buAutoNum type="alphaLcParenBoth"/>
            </a:pPr>
            <a:r>
              <a:rPr lang="en-US" sz="2800" dirty="0">
                <a:effectLst/>
                <a:latin typeface="Times New Roman" panose="02020603050405020304" pitchFamily="18" charset="0"/>
                <a:ea typeface="Times New Roman" panose="02020603050405020304" pitchFamily="18" charset="0"/>
              </a:rPr>
              <a:t>Determine the effectiveness of the screen taking oversize as product </a:t>
            </a:r>
          </a:p>
          <a:p>
            <a:pPr marL="342900" marR="0" lvl="0" indent="-342900" algn="just">
              <a:spcBef>
                <a:spcPts val="0"/>
              </a:spcBef>
              <a:spcAft>
                <a:spcPts val="0"/>
              </a:spcAft>
              <a:buFont typeface="+mj-lt"/>
              <a:buAutoNum type="alphaLcParenBoth"/>
            </a:pPr>
            <a:r>
              <a:rPr lang="en-US" sz="2800" dirty="0">
                <a:effectLst/>
                <a:latin typeface="Times New Roman" panose="02020603050405020304" pitchFamily="18" charset="0"/>
                <a:ea typeface="Times New Roman" panose="02020603050405020304" pitchFamily="18" charset="0"/>
              </a:rPr>
              <a:t> Determine the effectiveness of the screen taking under size as product</a:t>
            </a:r>
          </a:p>
        </p:txBody>
      </p:sp>
      <p:graphicFrame>
        <p:nvGraphicFramePr>
          <p:cNvPr id="10" name="Table 9">
            <a:extLst>
              <a:ext uri="{FF2B5EF4-FFF2-40B4-BE49-F238E27FC236}">
                <a16:creationId xmlns:a16="http://schemas.microsoft.com/office/drawing/2014/main" id="{CC1AADF5-3304-F0D4-110B-6DCBE55E64EB}"/>
              </a:ext>
            </a:extLst>
          </p:cNvPr>
          <p:cNvGraphicFramePr>
            <a:graphicFrameLocks noGrp="1"/>
          </p:cNvGraphicFramePr>
          <p:nvPr>
            <p:extLst>
              <p:ext uri="{D42A27DB-BD31-4B8C-83A1-F6EECF244321}">
                <p14:modId xmlns:p14="http://schemas.microsoft.com/office/powerpoint/2010/main" val="2951295111"/>
              </p:ext>
            </p:extLst>
          </p:nvPr>
        </p:nvGraphicFramePr>
        <p:xfrm>
          <a:off x="2121790" y="3652621"/>
          <a:ext cx="14410981" cy="7067179"/>
        </p:xfrm>
        <a:graphic>
          <a:graphicData uri="http://schemas.openxmlformats.org/drawingml/2006/table">
            <a:tbl>
              <a:tblPr firstRow="1" firstCol="1" bandRow="1">
                <a:tableStyleId>{5C22544A-7EE6-4342-B048-85BDC9FD1C3A}</a:tableStyleId>
              </a:tblPr>
              <a:tblGrid>
                <a:gridCol w="3859493">
                  <a:extLst>
                    <a:ext uri="{9D8B030D-6E8A-4147-A177-3AD203B41FA5}">
                      <a16:colId xmlns:a16="http://schemas.microsoft.com/office/drawing/2014/main" val="292955006"/>
                    </a:ext>
                  </a:extLst>
                </a:gridCol>
                <a:gridCol w="2779496">
                  <a:extLst>
                    <a:ext uri="{9D8B030D-6E8A-4147-A177-3AD203B41FA5}">
                      <a16:colId xmlns:a16="http://schemas.microsoft.com/office/drawing/2014/main" val="988000572"/>
                    </a:ext>
                  </a:extLst>
                </a:gridCol>
                <a:gridCol w="3885996">
                  <a:extLst>
                    <a:ext uri="{9D8B030D-6E8A-4147-A177-3AD203B41FA5}">
                      <a16:colId xmlns:a16="http://schemas.microsoft.com/office/drawing/2014/main" val="1948330810"/>
                    </a:ext>
                  </a:extLst>
                </a:gridCol>
                <a:gridCol w="3885996">
                  <a:extLst>
                    <a:ext uri="{9D8B030D-6E8A-4147-A177-3AD203B41FA5}">
                      <a16:colId xmlns:a16="http://schemas.microsoft.com/office/drawing/2014/main" val="2905175706"/>
                    </a:ext>
                  </a:extLst>
                </a:gridCol>
              </a:tblGrid>
              <a:tr h="1184008">
                <a:tc>
                  <a:txBody>
                    <a:bodyPr/>
                    <a:lstStyle/>
                    <a:p>
                      <a:pPr marL="0" marR="0" algn="ctr">
                        <a:spcBef>
                          <a:spcPts val="0"/>
                        </a:spcBef>
                        <a:spcAft>
                          <a:spcPts val="0"/>
                        </a:spcAft>
                      </a:pPr>
                      <a:r>
                        <a:rPr lang="en-US" sz="2800">
                          <a:effectLst/>
                        </a:rPr>
                        <a:t>Mesh 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%Mass Feed</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%Retained Oversize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%Retained undersize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2398004567"/>
                  </a:ext>
                </a:extLst>
              </a:tr>
              <a:tr h="394669">
                <a:tc>
                  <a:txBody>
                    <a:bodyPr/>
                    <a:lstStyle/>
                    <a:p>
                      <a:pPr marL="0" marR="0" algn="ctr">
                        <a:spcBef>
                          <a:spcPts val="0"/>
                        </a:spcBef>
                        <a:spcAft>
                          <a:spcPts val="0"/>
                        </a:spcAft>
                      </a:pPr>
                      <a:r>
                        <a:rPr lang="en-US" sz="2800">
                          <a:effectLst/>
                        </a:rPr>
                        <a:t>-3+4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1847005617"/>
                  </a:ext>
                </a:extLst>
              </a:tr>
              <a:tr h="394669">
                <a:tc>
                  <a:txBody>
                    <a:bodyPr/>
                    <a:lstStyle/>
                    <a:p>
                      <a:pPr marL="0" marR="0" algn="ctr">
                        <a:spcBef>
                          <a:spcPts val="0"/>
                        </a:spcBef>
                        <a:spcAft>
                          <a:spcPts val="0"/>
                        </a:spcAft>
                      </a:pPr>
                      <a:r>
                        <a:rPr lang="en-US" sz="2800">
                          <a:effectLst/>
                        </a:rPr>
                        <a:t>-4+6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2.35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755820611"/>
                  </a:ext>
                </a:extLst>
              </a:tr>
              <a:tr h="394669">
                <a:tc>
                  <a:txBody>
                    <a:bodyPr/>
                    <a:lstStyle/>
                    <a:p>
                      <a:pPr marL="0" marR="0" algn="ctr">
                        <a:spcBef>
                          <a:spcPts val="0"/>
                        </a:spcBef>
                        <a:spcAft>
                          <a:spcPts val="0"/>
                        </a:spcAft>
                      </a:pPr>
                      <a:r>
                        <a:rPr lang="en-US" sz="2800">
                          <a:effectLst/>
                        </a:rPr>
                        <a:t>-6+8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6.72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8.8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4244554878"/>
                  </a:ext>
                </a:extLst>
              </a:tr>
              <a:tr h="394669">
                <a:tc>
                  <a:txBody>
                    <a:bodyPr/>
                    <a:lstStyle/>
                    <a:p>
                      <a:pPr marL="0" marR="0" algn="ctr">
                        <a:spcBef>
                          <a:spcPts val="0"/>
                        </a:spcBef>
                        <a:spcAft>
                          <a:spcPts val="0"/>
                        </a:spcAft>
                      </a:pPr>
                      <a:r>
                        <a:rPr lang="en-US" sz="2800">
                          <a:effectLst/>
                        </a:rPr>
                        <a:t>-8+10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8.64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322685057"/>
                  </a:ext>
                </a:extLst>
              </a:tr>
              <a:tr h="394669">
                <a:tc>
                  <a:txBody>
                    <a:bodyPr/>
                    <a:lstStyle/>
                    <a:p>
                      <a:pPr marL="0" marR="0" algn="ctr">
                        <a:spcBef>
                          <a:spcPts val="0"/>
                        </a:spcBef>
                        <a:spcAft>
                          <a:spcPts val="0"/>
                        </a:spcAft>
                      </a:pPr>
                      <a:r>
                        <a:rPr lang="en-US" sz="2800">
                          <a:effectLst/>
                        </a:rPr>
                        <a:t>-10+14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10.87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14.2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2845918247"/>
                  </a:ext>
                </a:extLst>
              </a:tr>
              <a:tr h="394669">
                <a:tc>
                  <a:txBody>
                    <a:bodyPr/>
                    <a:lstStyle/>
                    <a:p>
                      <a:pPr marL="0" marR="0" algn="ctr">
                        <a:spcBef>
                          <a:spcPts val="0"/>
                        </a:spcBef>
                        <a:spcAft>
                          <a:spcPts val="0"/>
                        </a:spcAft>
                      </a:pPr>
                      <a:r>
                        <a:rPr lang="en-US" sz="2800">
                          <a:effectLst/>
                        </a:rPr>
                        <a:t>-14+20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17.59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22.9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2235562258"/>
                  </a:ext>
                </a:extLst>
              </a:tr>
              <a:tr h="394669">
                <a:tc>
                  <a:txBody>
                    <a:bodyPr/>
                    <a:lstStyle/>
                    <a:p>
                      <a:pPr marL="0" marR="0" algn="ctr">
                        <a:spcBef>
                          <a:spcPts val="0"/>
                        </a:spcBef>
                        <a:spcAft>
                          <a:spcPts val="0"/>
                        </a:spcAft>
                      </a:pPr>
                      <a:r>
                        <a:rPr lang="en-US" sz="2800">
                          <a:effectLst/>
                        </a:rPr>
                        <a:t>-20+28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13.97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18.2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778337023"/>
                  </a:ext>
                </a:extLst>
              </a:tr>
              <a:tr h="394669">
                <a:tc>
                  <a:txBody>
                    <a:bodyPr/>
                    <a:lstStyle/>
                    <a:p>
                      <a:pPr marL="0" marR="0" algn="ctr">
                        <a:spcBef>
                          <a:spcPts val="0"/>
                        </a:spcBef>
                        <a:spcAft>
                          <a:spcPts val="0"/>
                        </a:spcAft>
                      </a:pPr>
                      <a:r>
                        <a:rPr lang="en-US" sz="2800">
                          <a:effectLst/>
                        </a:rPr>
                        <a:t>-28+35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10.77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10.4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11.95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624020691"/>
                  </a:ext>
                </a:extLst>
              </a:tr>
              <a:tr h="394669">
                <a:tc>
                  <a:txBody>
                    <a:bodyPr/>
                    <a:lstStyle/>
                    <a:p>
                      <a:pPr marL="0" marR="0" algn="ctr">
                        <a:spcBef>
                          <a:spcPts val="0"/>
                        </a:spcBef>
                        <a:spcAft>
                          <a:spcPts val="0"/>
                        </a:spcAft>
                      </a:pPr>
                      <a:r>
                        <a:rPr lang="en-US" sz="2800">
                          <a:effectLst/>
                        </a:rPr>
                        <a:t>-35+48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10.13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21.98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121308865"/>
                  </a:ext>
                </a:extLst>
              </a:tr>
              <a:tr h="394669">
                <a:tc>
                  <a:txBody>
                    <a:bodyPr/>
                    <a:lstStyle/>
                    <a:p>
                      <a:pPr marL="0" marR="0" algn="ctr">
                        <a:spcBef>
                          <a:spcPts val="0"/>
                        </a:spcBef>
                        <a:spcAft>
                          <a:spcPts val="0"/>
                        </a:spcAft>
                      </a:pPr>
                      <a:r>
                        <a:rPr lang="en-US" sz="2800">
                          <a:effectLst/>
                        </a:rPr>
                        <a:t>-48+65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7.46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2.5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23.91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2054098527"/>
                  </a:ext>
                </a:extLst>
              </a:tr>
              <a:tr h="394669">
                <a:tc>
                  <a:txBody>
                    <a:bodyPr/>
                    <a:lstStyle/>
                    <a:p>
                      <a:pPr marL="0" marR="0" algn="ctr">
                        <a:spcBef>
                          <a:spcPts val="0"/>
                        </a:spcBef>
                        <a:spcAft>
                          <a:spcPts val="0"/>
                        </a:spcAft>
                      </a:pPr>
                      <a:r>
                        <a:rPr lang="en-US" sz="2800">
                          <a:effectLst/>
                        </a:rPr>
                        <a:t>-65+100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18.77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115272723"/>
                  </a:ext>
                </a:extLst>
              </a:tr>
              <a:tr h="394669">
                <a:tc>
                  <a:txBody>
                    <a:bodyPr/>
                    <a:lstStyle/>
                    <a:p>
                      <a:pPr marL="0" marR="0" algn="ctr">
                        <a:spcBef>
                          <a:spcPts val="0"/>
                        </a:spcBef>
                        <a:spcAft>
                          <a:spcPts val="0"/>
                        </a:spcAft>
                      </a:pPr>
                      <a:r>
                        <a:rPr lang="en-US" sz="2800">
                          <a:effectLst/>
                        </a:rPr>
                        <a:t>-100+150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14.27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2016602866"/>
                  </a:ext>
                </a:extLst>
              </a:tr>
              <a:tr h="762531">
                <a:tc>
                  <a:txBody>
                    <a:bodyPr/>
                    <a:lstStyle/>
                    <a:p>
                      <a:pPr marL="0" marR="0" algn="ctr">
                        <a:spcBef>
                          <a:spcPts val="0"/>
                        </a:spcBef>
                        <a:spcAft>
                          <a:spcPts val="0"/>
                        </a:spcAft>
                      </a:pPr>
                      <a:r>
                        <a:rPr lang="en-US" sz="2800">
                          <a:effectLst/>
                        </a:rPr>
                        <a:t>-150+200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0.0212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tc>
                  <a:txBody>
                    <a:bodyPr/>
                    <a:lstStyle/>
                    <a:p>
                      <a:pPr marL="0" marR="0" algn="ctr">
                        <a:spcBef>
                          <a:spcPts val="0"/>
                        </a:spcBef>
                        <a:spcAft>
                          <a:spcPts val="0"/>
                        </a:spcAft>
                      </a:pPr>
                      <a:r>
                        <a:rPr lang="en-US" sz="2800" dirty="0">
                          <a:effectLst/>
                        </a:rPr>
                        <a:t>0.0912</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3243" marR="53243" marT="0" marB="0" anchor="b"/>
                </a:tc>
                <a:extLst>
                  <a:ext uri="{0D108BD9-81ED-4DB2-BD59-A6C34878D82A}">
                    <a16:rowId xmlns:a16="http://schemas.microsoft.com/office/drawing/2014/main" val="3123203267"/>
                  </a:ext>
                </a:extLst>
              </a:tr>
            </a:tbl>
          </a:graphicData>
        </a:graphic>
      </p:graphicFrame>
    </p:spTree>
    <p:extLst>
      <p:ext uri="{BB962C8B-B14F-4D97-AF65-F5344CB8AC3E}">
        <p14:creationId xmlns:p14="http://schemas.microsoft.com/office/powerpoint/2010/main" val="600559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dirty="0">
                <a:latin typeface="Playfair Display" charset="0"/>
              </a:rPr>
              <a:t>Go, change the world</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B110823-3B4E-1FDB-645F-862F72ED3CB1}"/>
                  </a:ext>
                </a:extLst>
              </p:cNvPr>
              <p:cNvSpPr txBox="1"/>
              <p:nvPr/>
            </p:nvSpPr>
            <p:spPr>
              <a:xfrm>
                <a:off x="1004888" y="1518718"/>
                <a:ext cx="8039050" cy="2677656"/>
              </a:xfrm>
              <a:prstGeom prst="rect">
                <a:avLst/>
              </a:prstGeom>
              <a:noFill/>
            </p:spPr>
            <p:txBody>
              <a:bodyPr wrap="square">
                <a:spAutoFit/>
              </a:bodyPr>
              <a:lstStyle/>
              <a:p>
                <a:pPr algn="just">
                  <a:spcBef>
                    <a:spcPts val="0"/>
                  </a:spcBef>
                  <a:spcAft>
                    <a:spcPts val="0"/>
                  </a:spcAft>
                </a:pPr>
                <a:r>
                  <a:rPr lang="en-US" sz="2400" b="1" dirty="0">
                    <a:effectLst/>
                    <a:latin typeface="Times New Roman" panose="02020603050405020304" pitchFamily="18" charset="0"/>
                    <a:ea typeface="Times New Roman" panose="02020603050405020304" pitchFamily="18" charset="0"/>
                  </a:rPr>
                  <a:t>Method 1: </a:t>
                </a:r>
                <a:r>
                  <a:rPr lang="en-US" sz="2400" b="1" dirty="0">
                    <a:solidFill>
                      <a:srgbClr val="FF0000"/>
                    </a:solidFill>
                    <a:effectLst/>
                    <a:latin typeface="Times New Roman" panose="02020603050405020304" pitchFamily="18" charset="0"/>
                    <a:ea typeface="Times New Roman" panose="02020603050405020304" pitchFamily="18" charset="0"/>
                  </a:rPr>
                  <a:t>(Given: 48 mesh screen)</a:t>
                </a:r>
              </a:p>
              <a:p>
                <a:pPr marL="0" marR="0" algn="just">
                  <a:spcBef>
                    <a:spcPts val="0"/>
                  </a:spcBef>
                  <a:spcAft>
                    <a:spcPts val="0"/>
                  </a:spcAft>
                </a:pPr>
                <a:r>
                  <a:rPr lang="en-US" sz="2400" b="1" dirty="0">
                    <a:effectLst/>
                    <a:latin typeface="Times New Roman" panose="02020603050405020304" pitchFamily="18" charset="0"/>
                    <a:ea typeface="Times New Roman" panose="02020603050405020304" pitchFamily="18" charset="0"/>
                  </a:rPr>
                  <a:t> Desired product is </a:t>
                </a:r>
                <a:r>
                  <a:rPr lang="en-US" sz="2400" b="1" dirty="0">
                    <a:solidFill>
                      <a:srgbClr val="FF0000"/>
                    </a:solidFill>
                    <a:effectLst/>
                    <a:latin typeface="Times New Roman" panose="02020603050405020304" pitchFamily="18" charset="0"/>
                    <a:ea typeface="Times New Roman" panose="02020603050405020304" pitchFamily="18" charset="0"/>
                  </a:rPr>
                  <a:t>oversize</a:t>
                </a:r>
                <a:r>
                  <a:rPr lang="en-US" sz="2400" b="1" dirty="0">
                    <a:effectLst/>
                    <a:latin typeface="Times New Roman" panose="02020603050405020304" pitchFamily="18" charset="0"/>
                    <a:ea typeface="Times New Roman" panose="02020603050405020304" pitchFamily="18" charset="0"/>
                  </a:rPr>
                  <a:t> and </a:t>
                </a:r>
                <a:r>
                  <a:rPr lang="en-US" sz="2400" b="1" dirty="0">
                    <a:solidFill>
                      <a:srgbClr val="FF0000"/>
                    </a:solidFill>
                    <a:effectLst/>
                    <a:latin typeface="Times New Roman" panose="02020603050405020304" pitchFamily="18" charset="0"/>
                    <a:ea typeface="Times New Roman" panose="02020603050405020304" pitchFamily="18" charset="0"/>
                  </a:rPr>
                  <a:t>without calculating cumulative mass </a:t>
                </a:r>
                <a:r>
                  <a:rPr lang="en-US" sz="2400" dirty="0">
                    <a:latin typeface="Times New Roman" panose="02020603050405020304" pitchFamily="18" charset="0"/>
                    <a:ea typeface="Times New Roman" panose="02020603050405020304" pitchFamily="18" charset="0"/>
                  </a:rPr>
                  <a:t>Take the mesh number on which material is retained. If it is -3+4 then material passes through 3 and retained on 4 so mesh number 4 is considered</a:t>
                </a:r>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400" b="1"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Add the fraction retained from 4 mesh to 48 mesh to get </a:t>
                </a:r>
                <a14:m>
                  <m:oMath xmlns:m="http://schemas.openxmlformats.org/officeDocument/2006/math">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𝐴</m:t>
                        </m:r>
                      </m:sub>
                    </m:s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𝐵</m:t>
                        </m:r>
                      </m:sub>
                    </m:s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𝐶</m:t>
                        </m:r>
                      </m:sub>
                    </m:s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2400" dirty="0">
                    <a:effectLst/>
                    <a:latin typeface="Times New Roman" panose="02020603050405020304" pitchFamily="18" charset="0"/>
                    <a:ea typeface="Times New Roman" panose="02020603050405020304" pitchFamily="18" charset="0"/>
                  </a:rPr>
                  <a:t>as it is effectiveness based on oversize</a:t>
                </a:r>
              </a:p>
            </p:txBody>
          </p:sp>
        </mc:Choice>
        <mc:Fallback xmlns="">
          <p:sp>
            <p:nvSpPr>
              <p:cNvPr id="9" name="TextBox 8">
                <a:extLst>
                  <a:ext uri="{FF2B5EF4-FFF2-40B4-BE49-F238E27FC236}">
                    <a16:creationId xmlns:a16="http://schemas.microsoft.com/office/drawing/2014/main" id="{BB110823-3B4E-1FDB-645F-862F72ED3CB1}"/>
                  </a:ext>
                </a:extLst>
              </p:cNvPr>
              <p:cNvSpPr txBox="1">
                <a:spLocks noRot="1" noChangeAspect="1" noMove="1" noResize="1" noEditPoints="1" noAdjustHandles="1" noChangeArrowheads="1" noChangeShapeType="1" noTextEdit="1"/>
              </p:cNvSpPr>
              <p:nvPr/>
            </p:nvSpPr>
            <p:spPr>
              <a:xfrm>
                <a:off x="1004888" y="1518718"/>
                <a:ext cx="8039050" cy="2677656"/>
              </a:xfrm>
              <a:prstGeom prst="rect">
                <a:avLst/>
              </a:prstGeom>
              <a:blipFill>
                <a:blip r:embed="rId3"/>
                <a:stretch>
                  <a:fillRect l="-1213" t="-1822" r="-1137" b="-4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F55DFDBC-555C-EF6B-718A-5B32F436DA07}"/>
                  </a:ext>
                </a:extLst>
              </p:cNvPr>
              <p:cNvGraphicFramePr>
                <a:graphicFrameLocks noGrp="1"/>
              </p:cNvGraphicFramePr>
              <p:nvPr>
                <p:extLst>
                  <p:ext uri="{D42A27DB-BD31-4B8C-83A1-F6EECF244321}">
                    <p14:modId xmlns:p14="http://schemas.microsoft.com/office/powerpoint/2010/main" val="741414808"/>
                  </p:ext>
                </p:extLst>
              </p:nvPr>
            </p:nvGraphicFramePr>
            <p:xfrm>
              <a:off x="835027" y="4358533"/>
              <a:ext cx="7776864" cy="5511436"/>
            </p:xfrm>
            <a:graphic>
              <a:graphicData uri="http://schemas.openxmlformats.org/drawingml/2006/table">
                <a:tbl>
                  <a:tblPr firstRow="1" firstCol="1" bandRow="1">
                    <a:tableStyleId>{5C22544A-7EE6-4342-B048-85BDC9FD1C3A}</a:tableStyleId>
                  </a:tblPr>
                  <a:tblGrid>
                    <a:gridCol w="1457763">
                      <a:extLst>
                        <a:ext uri="{9D8B030D-6E8A-4147-A177-3AD203B41FA5}">
                          <a16:colId xmlns:a16="http://schemas.microsoft.com/office/drawing/2014/main" val="847630243"/>
                        </a:ext>
                      </a:extLst>
                    </a:gridCol>
                    <a:gridCol w="2300007">
                      <a:extLst>
                        <a:ext uri="{9D8B030D-6E8A-4147-A177-3AD203B41FA5}">
                          <a16:colId xmlns:a16="http://schemas.microsoft.com/office/drawing/2014/main" val="2105634950"/>
                        </a:ext>
                      </a:extLst>
                    </a:gridCol>
                    <a:gridCol w="1859308">
                      <a:extLst>
                        <a:ext uri="{9D8B030D-6E8A-4147-A177-3AD203B41FA5}">
                          <a16:colId xmlns:a16="http://schemas.microsoft.com/office/drawing/2014/main" val="1573780405"/>
                        </a:ext>
                      </a:extLst>
                    </a:gridCol>
                    <a:gridCol w="2159786">
                      <a:extLst>
                        <a:ext uri="{9D8B030D-6E8A-4147-A177-3AD203B41FA5}">
                          <a16:colId xmlns:a16="http://schemas.microsoft.com/office/drawing/2014/main" val="3264177395"/>
                        </a:ext>
                      </a:extLst>
                    </a:gridCol>
                  </a:tblGrid>
                  <a:tr h="715750">
                    <a:tc>
                      <a:txBody>
                        <a:bodyPr/>
                        <a:lstStyle/>
                        <a:p>
                          <a:pPr marL="0" marR="0">
                            <a:spcBef>
                              <a:spcPts val="0"/>
                            </a:spcBef>
                            <a:spcAft>
                              <a:spcPts val="0"/>
                            </a:spcAft>
                          </a:pPr>
                          <a:r>
                            <a:rPr lang="en-US" sz="2000">
                              <a:effectLst/>
                            </a:rPr>
                            <a:t>Mesh Number</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Mass Fraction Feed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rPr>
                            <a:t>Mass fraction Over size </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Mass Fraction under size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270918832"/>
                      </a:ext>
                    </a:extLst>
                  </a:tr>
                  <a:tr h="342549">
                    <a:tc>
                      <a:txBody>
                        <a:bodyPr/>
                        <a:lstStyle/>
                        <a:p>
                          <a:pPr marL="0" marR="0">
                            <a:spcBef>
                              <a:spcPts val="0"/>
                            </a:spcBef>
                            <a:spcAft>
                              <a:spcPts val="0"/>
                            </a:spcAft>
                          </a:pPr>
                          <a:r>
                            <a:rPr lang="en-US" sz="2000">
                              <a:effectLst/>
                            </a:rPr>
                            <a:t>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0.0107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0.018</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4041420009"/>
                      </a:ext>
                    </a:extLst>
                  </a:tr>
                  <a:tr h="342549">
                    <a:tc>
                      <a:txBody>
                        <a:bodyPr/>
                        <a:lstStyle/>
                        <a:p>
                          <a:pPr marL="0" marR="0">
                            <a:spcBef>
                              <a:spcPts val="0"/>
                            </a:spcBef>
                            <a:spcAft>
                              <a:spcPts val="0"/>
                            </a:spcAft>
                          </a:pPr>
                          <a:r>
                            <a:rPr lang="en-US" sz="2000">
                              <a:effectLst/>
                            </a:rPr>
                            <a:t>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0.0235</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0.033</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3898859851"/>
                      </a:ext>
                    </a:extLst>
                  </a:tr>
                  <a:tr h="342549">
                    <a:tc>
                      <a:txBody>
                        <a:bodyPr/>
                        <a:lstStyle/>
                        <a:p>
                          <a:pPr marL="0" marR="0">
                            <a:spcBef>
                              <a:spcPts val="0"/>
                            </a:spcBef>
                            <a:spcAft>
                              <a:spcPts val="0"/>
                            </a:spcAft>
                          </a:pPr>
                          <a:r>
                            <a:rPr lang="en-US" sz="2000">
                              <a:effectLst/>
                            </a:rPr>
                            <a:t>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0.0672</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0.088</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2915574926"/>
                      </a:ext>
                    </a:extLst>
                  </a:tr>
                  <a:tr h="342549">
                    <a:tc>
                      <a:txBody>
                        <a:bodyPr/>
                        <a:lstStyle/>
                        <a:p>
                          <a:pPr marL="0" marR="0">
                            <a:spcBef>
                              <a:spcPts val="0"/>
                            </a:spcBef>
                            <a:spcAft>
                              <a:spcPts val="0"/>
                            </a:spcAft>
                          </a:pPr>
                          <a:r>
                            <a:rPr lang="en-US" sz="2000">
                              <a:effectLst/>
                            </a:rPr>
                            <a:t>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0.0864</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0.112</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424292295"/>
                      </a:ext>
                    </a:extLst>
                  </a:tr>
                  <a:tr h="342549">
                    <a:tc>
                      <a:txBody>
                        <a:bodyPr/>
                        <a:lstStyle/>
                        <a:p>
                          <a:pPr marL="0" marR="0">
                            <a:spcBef>
                              <a:spcPts val="0"/>
                            </a:spcBef>
                            <a:spcAft>
                              <a:spcPts val="0"/>
                            </a:spcAft>
                          </a:pPr>
                          <a:r>
                            <a:rPr lang="en-US" sz="2000">
                              <a:effectLst/>
                            </a:rPr>
                            <a:t>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0.1087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0.142</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3330245841"/>
                      </a:ext>
                    </a:extLst>
                  </a:tr>
                  <a:tr h="342549">
                    <a:tc>
                      <a:txBody>
                        <a:bodyPr/>
                        <a:lstStyle/>
                        <a:p>
                          <a:pPr marL="0" marR="0">
                            <a:spcBef>
                              <a:spcPts val="0"/>
                            </a:spcBef>
                            <a:spcAft>
                              <a:spcPts val="0"/>
                            </a:spcAft>
                          </a:pPr>
                          <a:r>
                            <a:rPr lang="en-US" sz="2000">
                              <a:effectLst/>
                            </a:rPr>
                            <a:t>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0.1759</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0.229</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820561704"/>
                      </a:ext>
                    </a:extLst>
                  </a:tr>
                  <a:tr h="342549">
                    <a:tc>
                      <a:txBody>
                        <a:bodyPr/>
                        <a:lstStyle/>
                        <a:p>
                          <a:pPr marL="0" marR="0">
                            <a:spcBef>
                              <a:spcPts val="0"/>
                            </a:spcBef>
                            <a:spcAft>
                              <a:spcPts val="0"/>
                            </a:spcAft>
                          </a:pPr>
                          <a:r>
                            <a:rPr lang="en-US" sz="2000">
                              <a:effectLst/>
                            </a:rPr>
                            <a:t>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0.1397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0.182</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4250689699"/>
                      </a:ext>
                    </a:extLst>
                  </a:tr>
                  <a:tr h="342549">
                    <a:tc>
                      <a:txBody>
                        <a:bodyPr/>
                        <a:lstStyle/>
                        <a:p>
                          <a:pPr marL="0" marR="0">
                            <a:spcBef>
                              <a:spcPts val="0"/>
                            </a:spcBef>
                            <a:spcAft>
                              <a:spcPts val="0"/>
                            </a:spcAft>
                          </a:pPr>
                          <a:r>
                            <a:rPr lang="en-US" sz="2000">
                              <a:effectLst/>
                            </a:rPr>
                            <a:t>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0.1077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0.104</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0.1195</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3453048612"/>
                      </a:ext>
                    </a:extLst>
                  </a:tr>
                  <a:tr h="342549">
                    <a:tc>
                      <a:txBody>
                        <a:bodyPr/>
                        <a:lstStyle/>
                        <a:p>
                          <a:pPr marL="0" marR="0">
                            <a:spcBef>
                              <a:spcPts val="0"/>
                            </a:spcBef>
                            <a:spcAft>
                              <a:spcPts val="0"/>
                            </a:spcAft>
                          </a:pPr>
                          <a:r>
                            <a:rPr lang="en-US" sz="2000">
                              <a:effectLst/>
                            </a:rPr>
                            <a:t>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0.1013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0.065</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0.2198</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2417946804"/>
                      </a:ext>
                    </a:extLst>
                  </a:tr>
                  <a:tr h="342549">
                    <a:tc>
                      <a:txBody>
                        <a:bodyPr/>
                        <a:lstStyle/>
                        <a:p>
                          <a:pPr marL="0" marR="0">
                            <a:spcBef>
                              <a:spcPts val="0"/>
                            </a:spcBef>
                            <a:spcAft>
                              <a:spcPts val="0"/>
                            </a:spcAft>
                          </a:pPr>
                          <a:r>
                            <a:rPr lang="en-US" sz="2000">
                              <a:effectLst/>
                            </a:rPr>
                            <a:t>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0.0746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0.025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0.2391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93487430"/>
                      </a:ext>
                    </a:extLst>
                  </a:tr>
                  <a:tr h="342549">
                    <a:tc>
                      <a:txBody>
                        <a:bodyPr/>
                        <a:lstStyle/>
                        <a:p>
                          <a:pPr marL="0" marR="0">
                            <a:spcBef>
                              <a:spcPts val="0"/>
                            </a:spcBef>
                            <a:spcAft>
                              <a:spcPts val="0"/>
                            </a:spcAft>
                          </a:pPr>
                          <a:r>
                            <a:rPr lang="en-US" sz="2000">
                              <a:effectLst/>
                            </a:rPr>
                            <a:t>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0.002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0.1877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2680708391"/>
                      </a:ext>
                    </a:extLst>
                  </a:tr>
                  <a:tr h="342549">
                    <a:tc>
                      <a:txBody>
                        <a:bodyPr/>
                        <a:lstStyle/>
                        <a:p>
                          <a:pPr marL="0" marR="0">
                            <a:spcBef>
                              <a:spcPts val="0"/>
                            </a:spcBef>
                            <a:spcAft>
                              <a:spcPts val="0"/>
                            </a:spcAft>
                          </a:pPr>
                          <a:r>
                            <a:rPr lang="en-US" sz="2000">
                              <a:effectLst/>
                            </a:rPr>
                            <a:t>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0.1427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2290389460"/>
                      </a:ext>
                    </a:extLst>
                  </a:tr>
                  <a:tr h="342549">
                    <a:tc>
                      <a:txBody>
                        <a:bodyPr/>
                        <a:lstStyle/>
                        <a:p>
                          <a:pPr marL="0" marR="0">
                            <a:spcBef>
                              <a:spcPts val="0"/>
                            </a:spcBef>
                            <a:spcAft>
                              <a:spcPts val="0"/>
                            </a:spcAft>
                          </a:pPr>
                          <a:r>
                            <a:rPr lang="en-US" sz="2000">
                              <a:effectLst/>
                            </a:rPr>
                            <a:t>200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0.0212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0.0912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127767055"/>
                      </a:ext>
                    </a:extLst>
                  </a:tr>
                  <a:tr h="342549">
                    <a:tc>
                      <a:txBody>
                        <a:bodyPr/>
                        <a:lstStyle/>
                        <a:p>
                          <a:pPr marL="0" marR="0">
                            <a:spcBef>
                              <a:spcPts val="0"/>
                            </a:spcBef>
                            <a:spcAft>
                              <a:spcPts val="0"/>
                            </a:spcAft>
                          </a:pPr>
                          <a:r>
                            <a:rPr lang="en-US" sz="2000">
                              <a:effectLst/>
                            </a:rPr>
                            <a:t>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𝐴</m:t>
                                  </m:r>
                                </m:sub>
                              </m:sSub>
                              <m:r>
                                <a:rPr lang="en-US" sz="2000">
                                  <a:effectLst/>
                                  <a:highlight>
                                    <a:srgbClr val="FFFF00"/>
                                  </a:highlight>
                                  <a:latin typeface="Cambria Math" panose="02040503050406030204" pitchFamily="18" charset="0"/>
                                </a:rPr>
                                <m:t>=</m:t>
                              </m:r>
                            </m:oMath>
                          </a14:m>
                          <a:r>
                            <a:rPr lang="en-US" sz="2000" dirty="0">
                              <a:effectLst/>
                              <a:highlight>
                                <a:srgbClr val="FFFF00"/>
                              </a:highlight>
                            </a:rPr>
                            <a:t> 0.8211</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𝐵</m:t>
                                  </m:r>
                                </m:sub>
                              </m:sSub>
                              <m:r>
                                <a:rPr lang="en-US" sz="2000">
                                  <a:effectLst/>
                                  <a:highlight>
                                    <a:srgbClr val="FFFF00"/>
                                  </a:highlight>
                                  <a:latin typeface="Cambria Math" panose="02040503050406030204" pitchFamily="18" charset="0"/>
                                </a:rPr>
                                <m:t>= </m:t>
                              </m:r>
                            </m:oMath>
                          </a14:m>
                          <a:r>
                            <a:rPr lang="en-US" sz="2000" dirty="0">
                              <a:effectLst/>
                              <a:highlight>
                                <a:srgbClr val="FFFF00"/>
                              </a:highlight>
                            </a:rPr>
                            <a:t>0.973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𝐶</m:t>
                                  </m:r>
                                </m:sub>
                              </m:sSub>
                              <m:r>
                                <a:rPr lang="en-US" sz="2000">
                                  <a:effectLst/>
                                  <a:highlight>
                                    <a:srgbClr val="FFFF00"/>
                                  </a:highlight>
                                  <a:latin typeface="Cambria Math" panose="02040503050406030204" pitchFamily="18" charset="0"/>
                                </a:rPr>
                                <m:t>= </m:t>
                              </m:r>
                            </m:oMath>
                          </a14:m>
                          <a:r>
                            <a:rPr lang="en-US" sz="2000" dirty="0">
                              <a:effectLst/>
                              <a:highlight>
                                <a:srgbClr val="FFFF00"/>
                              </a:highlight>
                            </a:rPr>
                            <a:t>0.3393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3026921941"/>
                      </a:ext>
                    </a:extLst>
                  </a:tr>
                </a:tbl>
              </a:graphicData>
            </a:graphic>
          </p:graphicFrame>
        </mc:Choice>
        <mc:Fallback xmlns="">
          <p:graphicFrame>
            <p:nvGraphicFramePr>
              <p:cNvPr id="10" name="Table 9">
                <a:extLst>
                  <a:ext uri="{FF2B5EF4-FFF2-40B4-BE49-F238E27FC236}">
                    <a16:creationId xmlns:a16="http://schemas.microsoft.com/office/drawing/2014/main" id="{F55DFDBC-555C-EF6B-718A-5B32F436DA07}"/>
                  </a:ext>
                </a:extLst>
              </p:cNvPr>
              <p:cNvGraphicFramePr>
                <a:graphicFrameLocks noGrp="1"/>
              </p:cNvGraphicFramePr>
              <p:nvPr>
                <p:extLst>
                  <p:ext uri="{D42A27DB-BD31-4B8C-83A1-F6EECF244321}">
                    <p14:modId xmlns:p14="http://schemas.microsoft.com/office/powerpoint/2010/main" val="741414808"/>
                  </p:ext>
                </p:extLst>
              </p:nvPr>
            </p:nvGraphicFramePr>
            <p:xfrm>
              <a:off x="835027" y="4358533"/>
              <a:ext cx="7776864" cy="5511436"/>
            </p:xfrm>
            <a:graphic>
              <a:graphicData uri="http://schemas.openxmlformats.org/drawingml/2006/table">
                <a:tbl>
                  <a:tblPr firstRow="1" firstCol="1" bandRow="1">
                    <a:tableStyleId>{5C22544A-7EE6-4342-B048-85BDC9FD1C3A}</a:tableStyleId>
                  </a:tblPr>
                  <a:tblGrid>
                    <a:gridCol w="1457763">
                      <a:extLst>
                        <a:ext uri="{9D8B030D-6E8A-4147-A177-3AD203B41FA5}">
                          <a16:colId xmlns:a16="http://schemas.microsoft.com/office/drawing/2014/main" val="847630243"/>
                        </a:ext>
                      </a:extLst>
                    </a:gridCol>
                    <a:gridCol w="2300007">
                      <a:extLst>
                        <a:ext uri="{9D8B030D-6E8A-4147-A177-3AD203B41FA5}">
                          <a16:colId xmlns:a16="http://schemas.microsoft.com/office/drawing/2014/main" val="2105634950"/>
                        </a:ext>
                      </a:extLst>
                    </a:gridCol>
                    <a:gridCol w="1859308">
                      <a:extLst>
                        <a:ext uri="{9D8B030D-6E8A-4147-A177-3AD203B41FA5}">
                          <a16:colId xmlns:a16="http://schemas.microsoft.com/office/drawing/2014/main" val="1573780405"/>
                        </a:ext>
                      </a:extLst>
                    </a:gridCol>
                    <a:gridCol w="2159786">
                      <a:extLst>
                        <a:ext uri="{9D8B030D-6E8A-4147-A177-3AD203B41FA5}">
                          <a16:colId xmlns:a16="http://schemas.microsoft.com/office/drawing/2014/main" val="3264177395"/>
                        </a:ext>
                      </a:extLst>
                    </a:gridCol>
                  </a:tblGrid>
                  <a:tr h="715750">
                    <a:tc>
                      <a:txBody>
                        <a:bodyPr/>
                        <a:lstStyle/>
                        <a:p>
                          <a:pPr marL="0" marR="0">
                            <a:spcBef>
                              <a:spcPts val="0"/>
                            </a:spcBef>
                            <a:spcAft>
                              <a:spcPts val="0"/>
                            </a:spcAft>
                          </a:pPr>
                          <a:r>
                            <a:rPr lang="en-US" sz="2000">
                              <a:effectLst/>
                            </a:rPr>
                            <a:t>Mesh Number</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Mass Fraction Feed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rPr>
                            <a:t>Mass fraction Over size </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Mass Fraction under size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270918832"/>
                      </a:ext>
                    </a:extLst>
                  </a:tr>
                  <a:tr h="342549">
                    <a:tc>
                      <a:txBody>
                        <a:bodyPr/>
                        <a:lstStyle/>
                        <a:p>
                          <a:pPr marL="0" marR="0">
                            <a:spcBef>
                              <a:spcPts val="0"/>
                            </a:spcBef>
                            <a:spcAft>
                              <a:spcPts val="0"/>
                            </a:spcAft>
                          </a:pPr>
                          <a:r>
                            <a:rPr lang="en-US" sz="2000">
                              <a:effectLst/>
                            </a:rPr>
                            <a:t>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0.0107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0.018</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4041420009"/>
                      </a:ext>
                    </a:extLst>
                  </a:tr>
                  <a:tr h="342549">
                    <a:tc>
                      <a:txBody>
                        <a:bodyPr/>
                        <a:lstStyle/>
                        <a:p>
                          <a:pPr marL="0" marR="0">
                            <a:spcBef>
                              <a:spcPts val="0"/>
                            </a:spcBef>
                            <a:spcAft>
                              <a:spcPts val="0"/>
                            </a:spcAft>
                          </a:pPr>
                          <a:r>
                            <a:rPr lang="en-US" sz="2000">
                              <a:effectLst/>
                            </a:rPr>
                            <a:t>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0.0235</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0.033</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3898859851"/>
                      </a:ext>
                    </a:extLst>
                  </a:tr>
                  <a:tr h="342549">
                    <a:tc>
                      <a:txBody>
                        <a:bodyPr/>
                        <a:lstStyle/>
                        <a:p>
                          <a:pPr marL="0" marR="0">
                            <a:spcBef>
                              <a:spcPts val="0"/>
                            </a:spcBef>
                            <a:spcAft>
                              <a:spcPts val="0"/>
                            </a:spcAft>
                          </a:pPr>
                          <a:r>
                            <a:rPr lang="en-US" sz="2000">
                              <a:effectLst/>
                            </a:rPr>
                            <a:t>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0.0672</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0.088</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2915574926"/>
                      </a:ext>
                    </a:extLst>
                  </a:tr>
                  <a:tr h="342549">
                    <a:tc>
                      <a:txBody>
                        <a:bodyPr/>
                        <a:lstStyle/>
                        <a:p>
                          <a:pPr marL="0" marR="0">
                            <a:spcBef>
                              <a:spcPts val="0"/>
                            </a:spcBef>
                            <a:spcAft>
                              <a:spcPts val="0"/>
                            </a:spcAft>
                          </a:pPr>
                          <a:r>
                            <a:rPr lang="en-US" sz="2000">
                              <a:effectLst/>
                            </a:rPr>
                            <a:t>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0.0864</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0.112</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424292295"/>
                      </a:ext>
                    </a:extLst>
                  </a:tr>
                  <a:tr h="342549">
                    <a:tc>
                      <a:txBody>
                        <a:bodyPr/>
                        <a:lstStyle/>
                        <a:p>
                          <a:pPr marL="0" marR="0">
                            <a:spcBef>
                              <a:spcPts val="0"/>
                            </a:spcBef>
                            <a:spcAft>
                              <a:spcPts val="0"/>
                            </a:spcAft>
                          </a:pPr>
                          <a:r>
                            <a:rPr lang="en-US" sz="2000">
                              <a:effectLst/>
                            </a:rPr>
                            <a:t>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0.1087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0.142</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3330245841"/>
                      </a:ext>
                    </a:extLst>
                  </a:tr>
                  <a:tr h="342549">
                    <a:tc>
                      <a:txBody>
                        <a:bodyPr/>
                        <a:lstStyle/>
                        <a:p>
                          <a:pPr marL="0" marR="0">
                            <a:spcBef>
                              <a:spcPts val="0"/>
                            </a:spcBef>
                            <a:spcAft>
                              <a:spcPts val="0"/>
                            </a:spcAft>
                          </a:pPr>
                          <a:r>
                            <a:rPr lang="en-US" sz="2000">
                              <a:effectLst/>
                            </a:rPr>
                            <a:t>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0.1759</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0.229</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820561704"/>
                      </a:ext>
                    </a:extLst>
                  </a:tr>
                  <a:tr h="342549">
                    <a:tc>
                      <a:txBody>
                        <a:bodyPr/>
                        <a:lstStyle/>
                        <a:p>
                          <a:pPr marL="0" marR="0">
                            <a:spcBef>
                              <a:spcPts val="0"/>
                            </a:spcBef>
                            <a:spcAft>
                              <a:spcPts val="0"/>
                            </a:spcAft>
                          </a:pPr>
                          <a:r>
                            <a:rPr lang="en-US" sz="2000">
                              <a:effectLst/>
                            </a:rPr>
                            <a:t>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0.1397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0.182</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4250689699"/>
                      </a:ext>
                    </a:extLst>
                  </a:tr>
                  <a:tr h="342549">
                    <a:tc>
                      <a:txBody>
                        <a:bodyPr/>
                        <a:lstStyle/>
                        <a:p>
                          <a:pPr marL="0" marR="0">
                            <a:spcBef>
                              <a:spcPts val="0"/>
                            </a:spcBef>
                            <a:spcAft>
                              <a:spcPts val="0"/>
                            </a:spcAft>
                          </a:pPr>
                          <a:r>
                            <a:rPr lang="en-US" sz="2000">
                              <a:effectLst/>
                            </a:rPr>
                            <a:t>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0.1077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0.104</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highlight>
                                <a:srgbClr val="FFFF00"/>
                              </a:highlight>
                            </a:rPr>
                            <a:t>0.1195</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3453048612"/>
                      </a:ext>
                    </a:extLst>
                  </a:tr>
                  <a:tr h="342549">
                    <a:tc>
                      <a:txBody>
                        <a:bodyPr/>
                        <a:lstStyle/>
                        <a:p>
                          <a:pPr marL="0" marR="0">
                            <a:spcBef>
                              <a:spcPts val="0"/>
                            </a:spcBef>
                            <a:spcAft>
                              <a:spcPts val="0"/>
                            </a:spcAft>
                          </a:pPr>
                          <a:r>
                            <a:rPr lang="en-US" sz="2000">
                              <a:effectLst/>
                            </a:rPr>
                            <a:t>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0.1013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0.065</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dirty="0">
                              <a:effectLst/>
                              <a:highlight>
                                <a:srgbClr val="FFFF00"/>
                              </a:highlight>
                            </a:rPr>
                            <a:t>0.2198</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2417946804"/>
                      </a:ext>
                    </a:extLst>
                  </a:tr>
                  <a:tr h="342549">
                    <a:tc>
                      <a:txBody>
                        <a:bodyPr/>
                        <a:lstStyle/>
                        <a:p>
                          <a:pPr marL="0" marR="0">
                            <a:spcBef>
                              <a:spcPts val="0"/>
                            </a:spcBef>
                            <a:spcAft>
                              <a:spcPts val="0"/>
                            </a:spcAft>
                          </a:pPr>
                          <a:r>
                            <a:rPr lang="en-US" sz="2000">
                              <a:effectLst/>
                            </a:rPr>
                            <a:t>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0.0746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0.025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0.2391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93487430"/>
                      </a:ext>
                    </a:extLst>
                  </a:tr>
                  <a:tr h="342549">
                    <a:tc>
                      <a:txBody>
                        <a:bodyPr/>
                        <a:lstStyle/>
                        <a:p>
                          <a:pPr marL="0" marR="0">
                            <a:spcBef>
                              <a:spcPts val="0"/>
                            </a:spcBef>
                            <a:spcAft>
                              <a:spcPts val="0"/>
                            </a:spcAft>
                          </a:pPr>
                          <a:r>
                            <a:rPr lang="en-US" sz="2000">
                              <a:effectLst/>
                            </a:rPr>
                            <a:t>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0.002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0.1877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2680708391"/>
                      </a:ext>
                    </a:extLst>
                  </a:tr>
                  <a:tr h="342549">
                    <a:tc>
                      <a:txBody>
                        <a:bodyPr/>
                        <a:lstStyle/>
                        <a:p>
                          <a:pPr marL="0" marR="0">
                            <a:spcBef>
                              <a:spcPts val="0"/>
                            </a:spcBef>
                            <a:spcAft>
                              <a:spcPts val="0"/>
                            </a:spcAft>
                          </a:pPr>
                          <a:r>
                            <a:rPr lang="en-US" sz="2000">
                              <a:effectLst/>
                            </a:rPr>
                            <a:t>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0.1427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2290389460"/>
                      </a:ext>
                    </a:extLst>
                  </a:tr>
                  <a:tr h="342549">
                    <a:tc>
                      <a:txBody>
                        <a:bodyPr/>
                        <a:lstStyle/>
                        <a:p>
                          <a:pPr marL="0" marR="0">
                            <a:spcBef>
                              <a:spcPts val="0"/>
                            </a:spcBef>
                            <a:spcAft>
                              <a:spcPts val="0"/>
                            </a:spcAft>
                          </a:pPr>
                          <a:r>
                            <a:rPr lang="en-US" sz="2000">
                              <a:effectLst/>
                            </a:rPr>
                            <a:t>200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0.0212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pPr marL="0" marR="0">
                            <a:spcBef>
                              <a:spcPts val="0"/>
                            </a:spcBef>
                            <a:spcAft>
                              <a:spcPts val="0"/>
                            </a:spcAft>
                          </a:pPr>
                          <a:r>
                            <a:rPr lang="en-US" sz="2000">
                              <a:effectLst/>
                            </a:rPr>
                            <a:t>0.0912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extLst>
                      <a:ext uri="{0D108BD9-81ED-4DB2-BD59-A6C34878D82A}">
                        <a16:rowId xmlns:a16="http://schemas.microsoft.com/office/drawing/2014/main" val="1127767055"/>
                      </a:ext>
                    </a:extLst>
                  </a:tr>
                  <a:tr h="342549">
                    <a:tc>
                      <a:txBody>
                        <a:bodyPr/>
                        <a:lstStyle/>
                        <a:p>
                          <a:pPr marL="0" marR="0">
                            <a:spcBef>
                              <a:spcPts val="0"/>
                            </a:spcBef>
                            <a:spcAft>
                              <a:spcPts val="0"/>
                            </a:spcAft>
                          </a:pPr>
                          <a:r>
                            <a:rPr lang="en-US" sz="2000">
                              <a:effectLst/>
                            </a:rPr>
                            <a:t>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079" marR="49079" marT="0" marB="0"/>
                    </a:tc>
                    <a:tc>
                      <a:txBody>
                        <a:bodyPr/>
                        <a:lstStyle/>
                        <a:p>
                          <a:endParaRPr lang="en-US"/>
                        </a:p>
                      </a:txBody>
                      <a:tcPr marL="49079" marR="49079" marT="0" marB="0">
                        <a:blipFill>
                          <a:blip r:embed="rId4"/>
                          <a:stretch>
                            <a:fillRect l="-63492" t="-1539286" r="-175661" b="-32143"/>
                          </a:stretch>
                        </a:blipFill>
                      </a:tcPr>
                    </a:tc>
                    <a:tc>
                      <a:txBody>
                        <a:bodyPr/>
                        <a:lstStyle/>
                        <a:p>
                          <a:endParaRPr lang="en-US"/>
                        </a:p>
                      </a:txBody>
                      <a:tcPr marL="49079" marR="49079" marT="0" marB="0">
                        <a:blipFill>
                          <a:blip r:embed="rId4"/>
                          <a:stretch>
                            <a:fillRect l="-202623" t="-1539286" r="-117705" b="-32143"/>
                          </a:stretch>
                        </a:blipFill>
                      </a:tcPr>
                    </a:tc>
                    <a:tc>
                      <a:txBody>
                        <a:bodyPr/>
                        <a:lstStyle/>
                        <a:p>
                          <a:endParaRPr lang="en-US"/>
                        </a:p>
                      </a:txBody>
                      <a:tcPr marL="49079" marR="49079" marT="0" marB="0">
                        <a:blipFill>
                          <a:blip r:embed="rId4"/>
                          <a:stretch>
                            <a:fillRect l="-260000" t="-1539286" r="-1127" b="-32143"/>
                          </a:stretch>
                        </a:blipFill>
                      </a:tcPr>
                    </a:tc>
                    <a:extLst>
                      <a:ext uri="{0D108BD9-81ED-4DB2-BD59-A6C34878D82A}">
                        <a16:rowId xmlns:a16="http://schemas.microsoft.com/office/drawing/2014/main" val="3026921941"/>
                      </a:ext>
                    </a:extLst>
                  </a:tr>
                </a:tbl>
              </a:graphicData>
            </a:graphic>
          </p:graphicFrame>
        </mc:Fallback>
      </mc:AlternateContent>
      <p:sp>
        <p:nvSpPr>
          <p:cNvPr id="12" name="TextBox 11">
            <a:extLst>
              <a:ext uri="{FF2B5EF4-FFF2-40B4-BE49-F238E27FC236}">
                <a16:creationId xmlns:a16="http://schemas.microsoft.com/office/drawing/2014/main" id="{DE705550-0576-28AA-0815-8EDD37169A02}"/>
              </a:ext>
            </a:extLst>
          </p:cNvPr>
          <p:cNvSpPr txBox="1"/>
          <p:nvPr/>
        </p:nvSpPr>
        <p:spPr>
          <a:xfrm>
            <a:off x="10052050" y="1291622"/>
            <a:ext cx="9793088" cy="1015663"/>
          </a:xfrm>
          <a:prstGeom prst="rect">
            <a:avLst/>
          </a:prstGeom>
          <a:noFill/>
        </p:spPr>
        <p:txBody>
          <a:bodyPr wrap="square">
            <a:spAutoFit/>
          </a:bodyPr>
          <a:lstStyle/>
          <a:p>
            <a:pPr algn="just">
              <a:spcBef>
                <a:spcPts val="0"/>
              </a:spcBef>
              <a:spcAft>
                <a:spcPts val="0"/>
              </a:spcAft>
            </a:pPr>
            <a:r>
              <a:rPr lang="en-US" sz="2000" b="1" dirty="0">
                <a:effectLst/>
                <a:latin typeface="Times New Roman" panose="02020603050405020304" pitchFamily="18" charset="0"/>
                <a:ea typeface="Times New Roman" panose="02020603050405020304" pitchFamily="18" charset="0"/>
              </a:rPr>
              <a:t>Method 2: </a:t>
            </a:r>
            <a:r>
              <a:rPr lang="en-US" sz="2000" b="1" dirty="0">
                <a:solidFill>
                  <a:srgbClr val="FF0000"/>
                </a:solidFill>
                <a:effectLst/>
                <a:latin typeface="Times New Roman" panose="02020603050405020304" pitchFamily="18" charset="0"/>
                <a:ea typeface="Times New Roman" panose="02020603050405020304" pitchFamily="18" charset="0"/>
              </a:rPr>
              <a:t>(Given 48 mesh screen)</a:t>
            </a:r>
          </a:p>
          <a:p>
            <a:pPr algn="just">
              <a:spcBef>
                <a:spcPts val="0"/>
              </a:spcBef>
              <a:spcAft>
                <a:spcPts val="0"/>
              </a:spcAft>
            </a:pPr>
            <a:r>
              <a:rPr lang="en-US" sz="2000" b="1" dirty="0">
                <a:effectLst/>
                <a:latin typeface="Times New Roman" panose="02020603050405020304" pitchFamily="18" charset="0"/>
                <a:ea typeface="Times New Roman" panose="02020603050405020304" pitchFamily="18" charset="0"/>
              </a:rPr>
              <a:t>Desired product is oversize </a:t>
            </a:r>
            <a:r>
              <a:rPr lang="en-US" sz="2000" b="1" dirty="0">
                <a:solidFill>
                  <a:srgbClr val="FF0000"/>
                </a:solidFill>
                <a:effectLst/>
                <a:latin typeface="Times New Roman" panose="02020603050405020304" pitchFamily="18" charset="0"/>
                <a:ea typeface="Times New Roman" panose="02020603050405020304" pitchFamily="18" charset="0"/>
              </a:rPr>
              <a:t>calculating cumulative mass fraction </a:t>
            </a:r>
            <a:r>
              <a:rPr lang="en-US" sz="2000" b="1" dirty="0">
                <a:solidFill>
                  <a:srgbClr val="7030A0"/>
                </a:solidFill>
                <a:effectLst/>
                <a:highlight>
                  <a:srgbClr val="FFFF00"/>
                </a:highlight>
                <a:latin typeface="Times New Roman" panose="02020603050405020304" pitchFamily="18" charset="0"/>
                <a:ea typeface="Times New Roman" panose="02020603050405020304" pitchFamily="18" charset="0"/>
              </a:rPr>
              <a:t>(Starting from 0 to 1).</a:t>
            </a:r>
          </a:p>
          <a:p>
            <a:pPr algn="just">
              <a:spcBef>
                <a:spcPts val="0"/>
              </a:spcBef>
              <a:spcAft>
                <a:spcPts val="0"/>
              </a:spcAft>
            </a:pPr>
            <a:r>
              <a:rPr lang="en-US" sz="2000" b="1" dirty="0">
                <a:solidFill>
                  <a:srgbClr val="FF0000"/>
                </a:solidFill>
                <a:latin typeface="Times New Roman" panose="02020603050405020304" pitchFamily="18" charset="0"/>
                <a:ea typeface="Times New Roman" panose="02020603050405020304" pitchFamily="18" charset="0"/>
              </a:rPr>
              <a:t>Refer to Row with 48 mesh and take the cumulative fractions directly from the row</a:t>
            </a:r>
            <a:endParaRPr lang="en-US" sz="20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4C1F00EF-BA49-D7A4-43D8-4BDD6D13D5A7}"/>
                  </a:ext>
                </a:extLst>
              </p:cNvPr>
              <p:cNvGraphicFramePr>
                <a:graphicFrameLocks noGrp="1"/>
              </p:cNvGraphicFramePr>
              <p:nvPr>
                <p:extLst>
                  <p:ext uri="{D42A27DB-BD31-4B8C-83A1-F6EECF244321}">
                    <p14:modId xmlns:p14="http://schemas.microsoft.com/office/powerpoint/2010/main" val="202881415"/>
                  </p:ext>
                </p:extLst>
              </p:nvPr>
            </p:nvGraphicFramePr>
            <p:xfrm>
              <a:off x="10362557" y="2451421"/>
              <a:ext cx="9190316" cy="7463777"/>
            </p:xfrm>
            <a:graphic>
              <a:graphicData uri="http://schemas.openxmlformats.org/drawingml/2006/table">
                <a:tbl>
                  <a:tblPr firstRow="1" firstCol="1" bandRow="1">
                    <a:tableStyleId>{5C22544A-7EE6-4342-B048-85BDC9FD1C3A}</a:tableStyleId>
                  </a:tblPr>
                  <a:tblGrid>
                    <a:gridCol w="1046011">
                      <a:extLst>
                        <a:ext uri="{9D8B030D-6E8A-4147-A177-3AD203B41FA5}">
                          <a16:colId xmlns:a16="http://schemas.microsoft.com/office/drawing/2014/main" val="1535760769"/>
                        </a:ext>
                      </a:extLst>
                    </a:gridCol>
                    <a:gridCol w="704478">
                      <a:extLst>
                        <a:ext uri="{9D8B030D-6E8A-4147-A177-3AD203B41FA5}">
                          <a16:colId xmlns:a16="http://schemas.microsoft.com/office/drawing/2014/main" val="1517190333"/>
                        </a:ext>
                      </a:extLst>
                    </a:gridCol>
                    <a:gridCol w="852380">
                      <a:extLst>
                        <a:ext uri="{9D8B030D-6E8A-4147-A177-3AD203B41FA5}">
                          <a16:colId xmlns:a16="http://schemas.microsoft.com/office/drawing/2014/main" val="4219275223"/>
                        </a:ext>
                      </a:extLst>
                    </a:gridCol>
                    <a:gridCol w="881571">
                      <a:extLst>
                        <a:ext uri="{9D8B030D-6E8A-4147-A177-3AD203B41FA5}">
                          <a16:colId xmlns:a16="http://schemas.microsoft.com/office/drawing/2014/main" val="2951161087"/>
                        </a:ext>
                      </a:extLst>
                    </a:gridCol>
                    <a:gridCol w="823187">
                      <a:extLst>
                        <a:ext uri="{9D8B030D-6E8A-4147-A177-3AD203B41FA5}">
                          <a16:colId xmlns:a16="http://schemas.microsoft.com/office/drawing/2014/main" val="2037250052"/>
                        </a:ext>
                      </a:extLst>
                    </a:gridCol>
                    <a:gridCol w="2343069">
                      <a:extLst>
                        <a:ext uri="{9D8B030D-6E8A-4147-A177-3AD203B41FA5}">
                          <a16:colId xmlns:a16="http://schemas.microsoft.com/office/drawing/2014/main" val="332594344"/>
                        </a:ext>
                      </a:extLst>
                    </a:gridCol>
                    <a:gridCol w="1226024">
                      <a:extLst>
                        <a:ext uri="{9D8B030D-6E8A-4147-A177-3AD203B41FA5}">
                          <a16:colId xmlns:a16="http://schemas.microsoft.com/office/drawing/2014/main" val="407664623"/>
                        </a:ext>
                      </a:extLst>
                    </a:gridCol>
                    <a:gridCol w="1313596">
                      <a:extLst>
                        <a:ext uri="{9D8B030D-6E8A-4147-A177-3AD203B41FA5}">
                          <a16:colId xmlns:a16="http://schemas.microsoft.com/office/drawing/2014/main" val="4076820270"/>
                        </a:ext>
                      </a:extLst>
                    </a:gridCol>
                  </a:tblGrid>
                  <a:tr h="1532964">
                    <a:tc>
                      <a:txBody>
                        <a:bodyPr/>
                        <a:lstStyle/>
                        <a:p>
                          <a:pPr marL="0" marR="0">
                            <a:spcBef>
                              <a:spcPts val="0"/>
                            </a:spcBef>
                            <a:spcAft>
                              <a:spcPts val="0"/>
                            </a:spcAft>
                          </a:pPr>
                          <a:r>
                            <a:rPr lang="en-US" sz="2000">
                              <a:effectLst/>
                            </a:rPr>
                            <a:t>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dirty="0">
                              <a:effectLst/>
                            </a:rPr>
                            <a:t>Mesh Number</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Mass Fraction Feed</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dirty="0">
                              <a:effectLst/>
                            </a:rPr>
                            <a:t>Mass Fraction in Oversize</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Mass fraction in under 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Cummulative mass Fraction Feed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Cummulative Mass Fraction in Oversize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Cummulative Mass fraction in under 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4057325478"/>
                      </a:ext>
                    </a:extLst>
                  </a:tr>
                  <a:tr h="337045">
                    <a:tc>
                      <a:txBody>
                        <a:bodyPr/>
                        <a:lstStyle/>
                        <a:p>
                          <a:pPr marL="0" marR="0">
                            <a:spcBef>
                              <a:spcPts val="0"/>
                            </a:spcBef>
                            <a:spcAft>
                              <a:spcPts val="0"/>
                            </a:spcAft>
                          </a:pPr>
                          <a:r>
                            <a:rPr lang="en-US" sz="2000">
                              <a:effectLst/>
                            </a:rPr>
                            <a:t>-3+4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215825965"/>
                      </a:ext>
                    </a:extLst>
                  </a:tr>
                  <a:tr h="613186">
                    <a:tc>
                      <a:txBody>
                        <a:bodyPr/>
                        <a:lstStyle/>
                        <a:p>
                          <a:pPr marL="0" marR="0">
                            <a:spcBef>
                              <a:spcPts val="0"/>
                            </a:spcBef>
                            <a:spcAft>
                              <a:spcPts val="0"/>
                            </a:spcAft>
                          </a:pPr>
                          <a:r>
                            <a:rPr lang="en-US" sz="2000">
                              <a:effectLst/>
                            </a:rPr>
                            <a:t>-4+6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0.0235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(0.0107+0.0235)= 0.0342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597943318"/>
                      </a:ext>
                    </a:extLst>
                  </a:tr>
                  <a:tr h="613186">
                    <a:tc>
                      <a:txBody>
                        <a:bodyPr/>
                        <a:lstStyle/>
                        <a:p>
                          <a:pPr marL="0" marR="0">
                            <a:spcBef>
                              <a:spcPts val="0"/>
                            </a:spcBef>
                            <a:spcAft>
                              <a:spcPts val="0"/>
                            </a:spcAft>
                          </a:pPr>
                          <a:r>
                            <a:rPr lang="en-US" sz="2000">
                              <a:effectLst/>
                            </a:rPr>
                            <a:t>-6+8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0.0672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dirty="0">
                              <a:effectLst/>
                            </a:rPr>
                            <a:t>0</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(0.0107+0.0235+0.0672)= 0.1014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0.139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4017798389"/>
                      </a:ext>
                    </a:extLst>
                  </a:tr>
                  <a:tr h="337045">
                    <a:tc>
                      <a:txBody>
                        <a:bodyPr/>
                        <a:lstStyle/>
                        <a:p>
                          <a:pPr marL="0" marR="0">
                            <a:spcBef>
                              <a:spcPts val="0"/>
                            </a:spcBef>
                            <a:spcAft>
                              <a:spcPts val="0"/>
                            </a:spcAft>
                          </a:pPr>
                          <a:r>
                            <a:rPr lang="en-US" sz="2000">
                              <a:effectLst/>
                            </a:rPr>
                            <a:t>-8+10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0.0864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0.1878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4264633617"/>
                      </a:ext>
                    </a:extLst>
                  </a:tr>
                  <a:tr h="337045">
                    <a:tc>
                      <a:txBody>
                        <a:bodyPr/>
                        <a:lstStyle/>
                        <a:p>
                          <a:pPr marL="0" marR="0">
                            <a:spcBef>
                              <a:spcPts val="0"/>
                            </a:spcBef>
                            <a:spcAft>
                              <a:spcPts val="0"/>
                            </a:spcAft>
                          </a:pPr>
                          <a:r>
                            <a:rPr lang="en-US" sz="2000">
                              <a:effectLst/>
                            </a:rPr>
                            <a:t>-10+14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0.1087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0.2965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0.393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2499273293"/>
                      </a:ext>
                    </a:extLst>
                  </a:tr>
                  <a:tr h="337045">
                    <a:tc>
                      <a:txBody>
                        <a:bodyPr/>
                        <a:lstStyle/>
                        <a:p>
                          <a:pPr marL="0" marR="0">
                            <a:spcBef>
                              <a:spcPts val="0"/>
                            </a:spcBef>
                            <a:spcAft>
                              <a:spcPts val="0"/>
                            </a:spcAft>
                          </a:pPr>
                          <a:r>
                            <a:rPr lang="en-US" sz="2000">
                              <a:effectLst/>
                            </a:rPr>
                            <a:t>-14+20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0.1759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0.229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0.4724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0.622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183098570"/>
                      </a:ext>
                    </a:extLst>
                  </a:tr>
                  <a:tr h="337045">
                    <a:tc>
                      <a:txBody>
                        <a:bodyPr/>
                        <a:lstStyle/>
                        <a:p>
                          <a:pPr marL="0" marR="0">
                            <a:spcBef>
                              <a:spcPts val="0"/>
                            </a:spcBef>
                            <a:spcAft>
                              <a:spcPts val="0"/>
                            </a:spcAft>
                          </a:pPr>
                          <a:r>
                            <a:rPr lang="en-US" sz="2000">
                              <a:effectLst/>
                            </a:rPr>
                            <a:t>-20+28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0.1397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0.182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0.6121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0.804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831644884"/>
                      </a:ext>
                    </a:extLst>
                  </a:tr>
                  <a:tr h="337045">
                    <a:tc>
                      <a:txBody>
                        <a:bodyPr/>
                        <a:lstStyle/>
                        <a:p>
                          <a:pPr marL="0" marR="0">
                            <a:spcBef>
                              <a:spcPts val="0"/>
                            </a:spcBef>
                            <a:spcAft>
                              <a:spcPts val="0"/>
                            </a:spcAft>
                          </a:pPr>
                          <a:r>
                            <a:rPr lang="en-US" sz="2000">
                              <a:effectLst/>
                            </a:rPr>
                            <a:t>-28+35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0.1077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0.7198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0.908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4087221046"/>
                      </a:ext>
                    </a:extLst>
                  </a:tr>
                  <a:tr h="613186">
                    <a:tc>
                      <a:txBody>
                        <a:bodyPr/>
                        <a:lstStyle/>
                        <a:p>
                          <a:pPr marL="0" marR="0">
                            <a:spcBef>
                              <a:spcPts val="0"/>
                            </a:spcBef>
                            <a:spcAft>
                              <a:spcPts val="0"/>
                            </a:spcAft>
                          </a:pPr>
                          <a:r>
                            <a:rPr lang="en-US" sz="2000">
                              <a:effectLst/>
                            </a:rPr>
                            <a:t>-35+48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0.1013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𝐴</m:t>
                                  </m:r>
                                </m:sub>
                              </m:sSub>
                              <m:r>
                                <a:rPr lang="en-US" sz="2000">
                                  <a:effectLst/>
                                  <a:highlight>
                                    <a:srgbClr val="FFFF00"/>
                                  </a:highlight>
                                  <a:latin typeface="Cambria Math" panose="02040503050406030204" pitchFamily="18" charset="0"/>
                                </a:rPr>
                                <m:t>=</m:t>
                              </m:r>
                            </m:oMath>
                          </a14:m>
                          <a:r>
                            <a:rPr lang="en-US" sz="2000" dirty="0">
                              <a:effectLst/>
                              <a:highlight>
                                <a:srgbClr val="FFFF00"/>
                              </a:highlight>
                            </a:rPr>
                            <a:t> 0.8211</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𝐵</m:t>
                                  </m:r>
                                </m:sub>
                              </m:sSub>
                              <m:r>
                                <a:rPr lang="en-US" sz="2000">
                                  <a:effectLst/>
                                  <a:highlight>
                                    <a:srgbClr val="FFFF00"/>
                                  </a:highlight>
                                  <a:latin typeface="Cambria Math" panose="02040503050406030204" pitchFamily="18" charset="0"/>
                                </a:rPr>
                                <m:t>=</m:t>
                              </m:r>
                            </m:oMath>
                          </a14:m>
                          <a:r>
                            <a:rPr lang="en-US" sz="2000" dirty="0">
                              <a:effectLst/>
                              <a:highlight>
                                <a:srgbClr val="FFFF00"/>
                              </a:highlight>
                            </a:rPr>
                            <a:t>0.973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𝐶</m:t>
                                  </m:r>
                                </m:sub>
                              </m:sSub>
                              <m:r>
                                <a:rPr lang="en-US" sz="2000">
                                  <a:effectLst/>
                                  <a:highlight>
                                    <a:srgbClr val="FFFF00"/>
                                  </a:highlight>
                                  <a:latin typeface="Cambria Math" panose="02040503050406030204" pitchFamily="18" charset="0"/>
                                </a:rPr>
                                <m:t>=</m:t>
                              </m:r>
                            </m:oMath>
                          </a14:m>
                          <a:r>
                            <a:rPr lang="en-US" sz="2000" dirty="0">
                              <a:effectLst/>
                              <a:highlight>
                                <a:srgbClr val="FFFF00"/>
                              </a:highlight>
                            </a:rPr>
                            <a:t>0.3393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189679991"/>
                      </a:ext>
                    </a:extLst>
                  </a:tr>
                  <a:tr h="337045">
                    <a:tc>
                      <a:txBody>
                        <a:bodyPr/>
                        <a:lstStyle/>
                        <a:p>
                          <a:pPr marL="0" marR="0">
                            <a:spcBef>
                              <a:spcPts val="0"/>
                            </a:spcBef>
                            <a:spcAft>
                              <a:spcPts val="0"/>
                            </a:spcAft>
                          </a:pPr>
                          <a:r>
                            <a:rPr lang="en-US" sz="2000">
                              <a:effectLst/>
                            </a:rPr>
                            <a:t>-48+65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0.0746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0.025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0.2391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0.8957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0.5784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322715120"/>
                      </a:ext>
                    </a:extLst>
                  </a:tr>
                  <a:tr h="505568">
                    <a:tc>
                      <a:txBody>
                        <a:bodyPr/>
                        <a:lstStyle/>
                        <a:p>
                          <a:pPr marL="0" marR="0">
                            <a:spcBef>
                              <a:spcPts val="0"/>
                            </a:spcBef>
                            <a:spcAft>
                              <a:spcPts val="0"/>
                            </a:spcAft>
                          </a:pPr>
                          <a:r>
                            <a:rPr lang="en-US" sz="2000">
                              <a:effectLst/>
                            </a:rPr>
                            <a:t>-65+100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0.002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0.1877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0.9467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0.7661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664562930"/>
                      </a:ext>
                    </a:extLst>
                  </a:tr>
                  <a:tr h="613186">
                    <a:tc>
                      <a:txBody>
                        <a:bodyPr/>
                        <a:lstStyle/>
                        <a:p>
                          <a:pPr marL="0" marR="0">
                            <a:spcBef>
                              <a:spcPts val="0"/>
                            </a:spcBef>
                            <a:spcAft>
                              <a:spcPts val="0"/>
                            </a:spcAft>
                          </a:pPr>
                          <a:r>
                            <a:rPr lang="en-US" sz="2000">
                              <a:effectLst/>
                            </a:rPr>
                            <a:t>-100+150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0.1427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0.9797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87072217"/>
                      </a:ext>
                    </a:extLst>
                  </a:tr>
                  <a:tr h="613186">
                    <a:tc>
                      <a:txBody>
                        <a:bodyPr/>
                        <a:lstStyle/>
                        <a:p>
                          <a:pPr marL="0" marR="0">
                            <a:spcBef>
                              <a:spcPts val="0"/>
                            </a:spcBef>
                            <a:spcAft>
                              <a:spcPts val="0"/>
                            </a:spcAft>
                          </a:pPr>
                          <a:r>
                            <a:rPr lang="en-US" sz="2000" dirty="0">
                              <a:effectLst/>
                            </a:rPr>
                            <a:t>-150+200</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200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0.0212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0.0912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1.0009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dirty="0">
                              <a:effectLst/>
                            </a:rPr>
                            <a:t>1</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dirty="0">
                              <a:effectLst/>
                            </a:rPr>
                            <a:t>1</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690498183"/>
                      </a:ext>
                    </a:extLst>
                  </a:tr>
                </a:tbl>
              </a:graphicData>
            </a:graphic>
          </p:graphicFrame>
        </mc:Choice>
        <mc:Fallback xmlns="">
          <p:graphicFrame>
            <p:nvGraphicFramePr>
              <p:cNvPr id="13" name="Table 12">
                <a:extLst>
                  <a:ext uri="{FF2B5EF4-FFF2-40B4-BE49-F238E27FC236}">
                    <a16:creationId xmlns:a16="http://schemas.microsoft.com/office/drawing/2014/main" id="{4C1F00EF-BA49-D7A4-43D8-4BDD6D13D5A7}"/>
                  </a:ext>
                </a:extLst>
              </p:cNvPr>
              <p:cNvGraphicFramePr>
                <a:graphicFrameLocks noGrp="1"/>
              </p:cNvGraphicFramePr>
              <p:nvPr>
                <p:extLst>
                  <p:ext uri="{D42A27DB-BD31-4B8C-83A1-F6EECF244321}">
                    <p14:modId xmlns:p14="http://schemas.microsoft.com/office/powerpoint/2010/main" val="202881415"/>
                  </p:ext>
                </p:extLst>
              </p:nvPr>
            </p:nvGraphicFramePr>
            <p:xfrm>
              <a:off x="10362557" y="2451421"/>
              <a:ext cx="9190316" cy="7463777"/>
            </p:xfrm>
            <a:graphic>
              <a:graphicData uri="http://schemas.openxmlformats.org/drawingml/2006/table">
                <a:tbl>
                  <a:tblPr firstRow="1" firstCol="1" bandRow="1">
                    <a:tableStyleId>{5C22544A-7EE6-4342-B048-85BDC9FD1C3A}</a:tableStyleId>
                  </a:tblPr>
                  <a:tblGrid>
                    <a:gridCol w="1046011">
                      <a:extLst>
                        <a:ext uri="{9D8B030D-6E8A-4147-A177-3AD203B41FA5}">
                          <a16:colId xmlns:a16="http://schemas.microsoft.com/office/drawing/2014/main" val="1535760769"/>
                        </a:ext>
                      </a:extLst>
                    </a:gridCol>
                    <a:gridCol w="704478">
                      <a:extLst>
                        <a:ext uri="{9D8B030D-6E8A-4147-A177-3AD203B41FA5}">
                          <a16:colId xmlns:a16="http://schemas.microsoft.com/office/drawing/2014/main" val="1517190333"/>
                        </a:ext>
                      </a:extLst>
                    </a:gridCol>
                    <a:gridCol w="852380">
                      <a:extLst>
                        <a:ext uri="{9D8B030D-6E8A-4147-A177-3AD203B41FA5}">
                          <a16:colId xmlns:a16="http://schemas.microsoft.com/office/drawing/2014/main" val="4219275223"/>
                        </a:ext>
                      </a:extLst>
                    </a:gridCol>
                    <a:gridCol w="881571">
                      <a:extLst>
                        <a:ext uri="{9D8B030D-6E8A-4147-A177-3AD203B41FA5}">
                          <a16:colId xmlns:a16="http://schemas.microsoft.com/office/drawing/2014/main" val="2951161087"/>
                        </a:ext>
                      </a:extLst>
                    </a:gridCol>
                    <a:gridCol w="823187">
                      <a:extLst>
                        <a:ext uri="{9D8B030D-6E8A-4147-A177-3AD203B41FA5}">
                          <a16:colId xmlns:a16="http://schemas.microsoft.com/office/drawing/2014/main" val="2037250052"/>
                        </a:ext>
                      </a:extLst>
                    </a:gridCol>
                    <a:gridCol w="2343069">
                      <a:extLst>
                        <a:ext uri="{9D8B030D-6E8A-4147-A177-3AD203B41FA5}">
                          <a16:colId xmlns:a16="http://schemas.microsoft.com/office/drawing/2014/main" val="332594344"/>
                        </a:ext>
                      </a:extLst>
                    </a:gridCol>
                    <a:gridCol w="1226024">
                      <a:extLst>
                        <a:ext uri="{9D8B030D-6E8A-4147-A177-3AD203B41FA5}">
                          <a16:colId xmlns:a16="http://schemas.microsoft.com/office/drawing/2014/main" val="407664623"/>
                        </a:ext>
                      </a:extLst>
                    </a:gridCol>
                    <a:gridCol w="1313596">
                      <a:extLst>
                        <a:ext uri="{9D8B030D-6E8A-4147-A177-3AD203B41FA5}">
                          <a16:colId xmlns:a16="http://schemas.microsoft.com/office/drawing/2014/main" val="4076820270"/>
                        </a:ext>
                      </a:extLst>
                    </a:gridCol>
                  </a:tblGrid>
                  <a:tr h="1532964">
                    <a:tc>
                      <a:txBody>
                        <a:bodyPr/>
                        <a:lstStyle/>
                        <a:p>
                          <a:pPr marL="0" marR="0">
                            <a:spcBef>
                              <a:spcPts val="0"/>
                            </a:spcBef>
                            <a:spcAft>
                              <a:spcPts val="0"/>
                            </a:spcAft>
                          </a:pPr>
                          <a:r>
                            <a:rPr lang="en-US" sz="2000">
                              <a:effectLst/>
                            </a:rPr>
                            <a:t>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dirty="0">
                              <a:effectLst/>
                            </a:rPr>
                            <a:t>Mesh Number</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Mass Fraction Feed</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dirty="0">
                              <a:effectLst/>
                            </a:rPr>
                            <a:t>Mass Fraction in Oversize</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Mass fraction in under 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Cummulative mass Fraction Feed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Cummulative Mass Fraction in Oversize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spcBef>
                              <a:spcPts val="0"/>
                            </a:spcBef>
                            <a:spcAft>
                              <a:spcPts val="0"/>
                            </a:spcAft>
                          </a:pPr>
                          <a:r>
                            <a:rPr lang="en-US" sz="2000">
                              <a:effectLst/>
                            </a:rPr>
                            <a:t>Cummulative Mass fraction in under 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4057325478"/>
                      </a:ext>
                    </a:extLst>
                  </a:tr>
                  <a:tr h="337045">
                    <a:tc>
                      <a:txBody>
                        <a:bodyPr/>
                        <a:lstStyle/>
                        <a:p>
                          <a:pPr marL="0" marR="0">
                            <a:spcBef>
                              <a:spcPts val="0"/>
                            </a:spcBef>
                            <a:spcAft>
                              <a:spcPts val="0"/>
                            </a:spcAft>
                          </a:pPr>
                          <a:r>
                            <a:rPr lang="en-US" sz="2000">
                              <a:effectLst/>
                            </a:rPr>
                            <a:t>-3+4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215825965"/>
                      </a:ext>
                    </a:extLst>
                  </a:tr>
                  <a:tr h="613186">
                    <a:tc>
                      <a:txBody>
                        <a:bodyPr/>
                        <a:lstStyle/>
                        <a:p>
                          <a:pPr marL="0" marR="0">
                            <a:spcBef>
                              <a:spcPts val="0"/>
                            </a:spcBef>
                            <a:spcAft>
                              <a:spcPts val="0"/>
                            </a:spcAft>
                          </a:pPr>
                          <a:r>
                            <a:rPr lang="en-US" sz="2000">
                              <a:effectLst/>
                            </a:rPr>
                            <a:t>-4+6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0.0235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(0.0107+0.0235)= 0.0342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597943318"/>
                      </a:ext>
                    </a:extLst>
                  </a:tr>
                  <a:tr h="613186">
                    <a:tc>
                      <a:txBody>
                        <a:bodyPr/>
                        <a:lstStyle/>
                        <a:p>
                          <a:pPr marL="0" marR="0">
                            <a:spcBef>
                              <a:spcPts val="0"/>
                            </a:spcBef>
                            <a:spcAft>
                              <a:spcPts val="0"/>
                            </a:spcAft>
                          </a:pPr>
                          <a:r>
                            <a:rPr lang="en-US" sz="2000">
                              <a:effectLst/>
                            </a:rPr>
                            <a:t>-6+8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0.0672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dirty="0">
                              <a:effectLst/>
                            </a:rPr>
                            <a:t>0</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(0.0107+0.0235+0.0672)= 0.1014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0.139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4017798389"/>
                      </a:ext>
                    </a:extLst>
                  </a:tr>
                  <a:tr h="337045">
                    <a:tc>
                      <a:txBody>
                        <a:bodyPr/>
                        <a:lstStyle/>
                        <a:p>
                          <a:pPr marL="0" marR="0">
                            <a:spcBef>
                              <a:spcPts val="0"/>
                            </a:spcBef>
                            <a:spcAft>
                              <a:spcPts val="0"/>
                            </a:spcAft>
                          </a:pPr>
                          <a:r>
                            <a:rPr lang="en-US" sz="2000">
                              <a:effectLst/>
                            </a:rPr>
                            <a:t>-8+10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0.0864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0.1878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4264633617"/>
                      </a:ext>
                    </a:extLst>
                  </a:tr>
                  <a:tr h="337045">
                    <a:tc>
                      <a:txBody>
                        <a:bodyPr/>
                        <a:lstStyle/>
                        <a:p>
                          <a:pPr marL="0" marR="0">
                            <a:spcBef>
                              <a:spcPts val="0"/>
                            </a:spcBef>
                            <a:spcAft>
                              <a:spcPts val="0"/>
                            </a:spcAft>
                          </a:pPr>
                          <a:r>
                            <a:rPr lang="en-US" sz="2000">
                              <a:effectLst/>
                            </a:rPr>
                            <a:t>-10+14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0.1087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0.2965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0.393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2499273293"/>
                      </a:ext>
                    </a:extLst>
                  </a:tr>
                  <a:tr h="337045">
                    <a:tc>
                      <a:txBody>
                        <a:bodyPr/>
                        <a:lstStyle/>
                        <a:p>
                          <a:pPr marL="0" marR="0">
                            <a:spcBef>
                              <a:spcPts val="0"/>
                            </a:spcBef>
                            <a:spcAft>
                              <a:spcPts val="0"/>
                            </a:spcAft>
                          </a:pPr>
                          <a:r>
                            <a:rPr lang="en-US" sz="2000">
                              <a:effectLst/>
                            </a:rPr>
                            <a:t>-14+20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0.1759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0.229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0.4724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0.622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183098570"/>
                      </a:ext>
                    </a:extLst>
                  </a:tr>
                  <a:tr h="337045">
                    <a:tc>
                      <a:txBody>
                        <a:bodyPr/>
                        <a:lstStyle/>
                        <a:p>
                          <a:pPr marL="0" marR="0">
                            <a:spcBef>
                              <a:spcPts val="0"/>
                            </a:spcBef>
                            <a:spcAft>
                              <a:spcPts val="0"/>
                            </a:spcAft>
                          </a:pPr>
                          <a:r>
                            <a:rPr lang="en-US" sz="2000">
                              <a:effectLst/>
                            </a:rPr>
                            <a:t>-20+28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0.1397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0.182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0.6121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0.804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831644884"/>
                      </a:ext>
                    </a:extLst>
                  </a:tr>
                  <a:tr h="337045">
                    <a:tc>
                      <a:txBody>
                        <a:bodyPr/>
                        <a:lstStyle/>
                        <a:p>
                          <a:pPr marL="0" marR="0">
                            <a:spcBef>
                              <a:spcPts val="0"/>
                            </a:spcBef>
                            <a:spcAft>
                              <a:spcPts val="0"/>
                            </a:spcAft>
                          </a:pPr>
                          <a:r>
                            <a:rPr lang="en-US" sz="2000">
                              <a:effectLst/>
                            </a:rPr>
                            <a:t>-28+35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0.1077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0.7198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0.908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4087221046"/>
                      </a:ext>
                    </a:extLst>
                  </a:tr>
                  <a:tr h="613186">
                    <a:tc>
                      <a:txBody>
                        <a:bodyPr/>
                        <a:lstStyle/>
                        <a:p>
                          <a:pPr marL="0" marR="0">
                            <a:spcBef>
                              <a:spcPts val="0"/>
                            </a:spcBef>
                            <a:spcAft>
                              <a:spcPts val="0"/>
                            </a:spcAft>
                          </a:pPr>
                          <a:r>
                            <a:rPr lang="en-US" sz="2000">
                              <a:effectLst/>
                            </a:rPr>
                            <a:t>-35+48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0.1013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endParaRPr lang="en-US"/>
                        </a:p>
                      </a:txBody>
                      <a:tcPr marL="25815" marR="25815" marT="0" marB="0" anchor="b">
                        <a:blipFill>
                          <a:blip r:embed="rId5"/>
                          <a:stretch>
                            <a:fillRect l="-183896" t="-796000" r="-109351" b="-365000"/>
                          </a:stretch>
                        </a:blipFill>
                      </a:tcPr>
                    </a:tc>
                    <a:tc>
                      <a:txBody>
                        <a:bodyPr/>
                        <a:lstStyle/>
                        <a:p>
                          <a:endParaRPr lang="en-US"/>
                        </a:p>
                      </a:txBody>
                      <a:tcPr marL="25815" marR="25815" marT="0" marB="0" anchor="b">
                        <a:blipFill>
                          <a:blip r:embed="rId5"/>
                          <a:stretch>
                            <a:fillRect l="-543781" t="-796000" r="-109453" b="-365000"/>
                          </a:stretch>
                        </a:blipFill>
                      </a:tcPr>
                    </a:tc>
                    <a:tc>
                      <a:txBody>
                        <a:bodyPr/>
                        <a:lstStyle/>
                        <a:p>
                          <a:endParaRPr lang="en-US"/>
                        </a:p>
                      </a:txBody>
                      <a:tcPr marL="25815" marR="25815" marT="0" marB="0" anchor="b">
                        <a:blipFill>
                          <a:blip r:embed="rId5"/>
                          <a:stretch>
                            <a:fillRect l="-599074" t="-796000" r="-1852" b="-365000"/>
                          </a:stretch>
                        </a:blipFill>
                      </a:tcPr>
                    </a:tc>
                    <a:extLst>
                      <a:ext uri="{0D108BD9-81ED-4DB2-BD59-A6C34878D82A}">
                        <a16:rowId xmlns:a16="http://schemas.microsoft.com/office/drawing/2014/main" val="3189679991"/>
                      </a:ext>
                    </a:extLst>
                  </a:tr>
                  <a:tr h="337045">
                    <a:tc>
                      <a:txBody>
                        <a:bodyPr/>
                        <a:lstStyle/>
                        <a:p>
                          <a:pPr marL="0" marR="0">
                            <a:spcBef>
                              <a:spcPts val="0"/>
                            </a:spcBef>
                            <a:spcAft>
                              <a:spcPts val="0"/>
                            </a:spcAft>
                          </a:pPr>
                          <a:r>
                            <a:rPr lang="en-US" sz="2000">
                              <a:effectLst/>
                            </a:rPr>
                            <a:t>-48+65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0.0746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0.025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0.2391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0.8957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0.5784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322715120"/>
                      </a:ext>
                    </a:extLst>
                  </a:tr>
                  <a:tr h="505568">
                    <a:tc>
                      <a:txBody>
                        <a:bodyPr/>
                        <a:lstStyle/>
                        <a:p>
                          <a:pPr marL="0" marR="0">
                            <a:spcBef>
                              <a:spcPts val="0"/>
                            </a:spcBef>
                            <a:spcAft>
                              <a:spcPts val="0"/>
                            </a:spcAft>
                          </a:pPr>
                          <a:r>
                            <a:rPr lang="en-US" sz="2000">
                              <a:effectLst/>
                            </a:rPr>
                            <a:t>-65+100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0.002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0.1877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0.9467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0.7661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664562930"/>
                      </a:ext>
                    </a:extLst>
                  </a:tr>
                  <a:tr h="613186">
                    <a:tc>
                      <a:txBody>
                        <a:bodyPr/>
                        <a:lstStyle/>
                        <a:p>
                          <a:pPr marL="0" marR="0">
                            <a:spcBef>
                              <a:spcPts val="0"/>
                            </a:spcBef>
                            <a:spcAft>
                              <a:spcPts val="0"/>
                            </a:spcAft>
                          </a:pPr>
                          <a:r>
                            <a:rPr lang="en-US" sz="2000">
                              <a:effectLst/>
                            </a:rPr>
                            <a:t>-100+150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0.1427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0.9797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0.9088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87072217"/>
                      </a:ext>
                    </a:extLst>
                  </a:tr>
                  <a:tr h="613186">
                    <a:tc>
                      <a:txBody>
                        <a:bodyPr/>
                        <a:lstStyle/>
                        <a:p>
                          <a:pPr marL="0" marR="0">
                            <a:spcBef>
                              <a:spcPts val="0"/>
                            </a:spcBef>
                            <a:spcAft>
                              <a:spcPts val="0"/>
                            </a:spcAft>
                          </a:pPr>
                          <a:r>
                            <a:rPr lang="en-US" sz="2000" dirty="0">
                              <a:effectLst/>
                            </a:rPr>
                            <a:t>-150+200</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200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0.0212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0.0912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a:effectLst/>
                            </a:rPr>
                            <a:t>1.0009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dirty="0">
                              <a:effectLst/>
                            </a:rPr>
                            <a:t>1</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tc>
                      <a:txBody>
                        <a:bodyPr/>
                        <a:lstStyle/>
                        <a:p>
                          <a:pPr marL="0" marR="0" algn="r">
                            <a:spcBef>
                              <a:spcPts val="0"/>
                            </a:spcBef>
                            <a:spcAft>
                              <a:spcPts val="0"/>
                            </a:spcAft>
                          </a:pPr>
                          <a:r>
                            <a:rPr lang="en-US" sz="2000" dirty="0">
                              <a:effectLst/>
                            </a:rPr>
                            <a:t>1</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25815" marR="25815" marT="0" marB="0" anchor="b"/>
                    </a:tc>
                    <a:extLst>
                      <a:ext uri="{0D108BD9-81ED-4DB2-BD59-A6C34878D82A}">
                        <a16:rowId xmlns:a16="http://schemas.microsoft.com/office/drawing/2014/main" val="3690498183"/>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BAA2F14-ECE7-EDC2-21DD-E1707DC621BF}"/>
                  </a:ext>
                </a:extLst>
              </p:cNvPr>
              <p:cNvSpPr txBox="1"/>
              <p:nvPr/>
            </p:nvSpPr>
            <p:spPr>
              <a:xfrm>
                <a:off x="402978" y="10059334"/>
                <a:ext cx="19298144" cy="1091646"/>
              </a:xfrm>
              <a:prstGeom prst="rect">
                <a:avLst/>
              </a:prstGeom>
              <a:noFill/>
            </p:spPr>
            <p:txBody>
              <a:bodyPr wrap="square">
                <a:spAutoFit/>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r>
                        <a:rPr lang="en-US" sz="2000" b="1" i="1" smtClean="0">
                          <a:solidFill>
                            <a:srgbClr val="C00000"/>
                          </a:solidFill>
                          <a:effectLst/>
                          <a:latin typeface="Cambria Math" panose="02040503050406030204" pitchFamily="18" charset="0"/>
                          <a:ea typeface="Times New Roman" panose="02020603050405020304" pitchFamily="18" charset="0"/>
                        </a:rPr>
                        <m:t>𝑬</m:t>
                      </m:r>
                      <m:r>
                        <a:rPr lang="en-US" sz="2000" b="1" i="1" smtClean="0">
                          <a:solidFill>
                            <a:srgbClr val="C00000"/>
                          </a:solidFill>
                          <a:effectLst/>
                          <a:latin typeface="Cambria Math" panose="02040503050406030204" pitchFamily="18" charset="0"/>
                          <a:ea typeface="Times New Roman" panose="02020603050405020304" pitchFamily="18" charset="0"/>
                        </a:rPr>
                        <m:t>=</m:t>
                      </m:r>
                      <m:d>
                        <m:dPr>
                          <m:begChr m:val="["/>
                          <m:endChr m:val="]"/>
                          <m:ctrlPr>
                            <a:rPr lang="en-US" sz="2000" b="1" i="1">
                              <a:solidFill>
                                <a:srgbClr val="C00000"/>
                              </a:solidFill>
                              <a:effectLst/>
                              <a:latin typeface="Cambria Math" panose="02040503050406030204" pitchFamily="18" charset="0"/>
                              <a:ea typeface="Times New Roman" panose="02020603050405020304" pitchFamily="18" charset="0"/>
                            </a:rPr>
                          </m:ctrlPr>
                        </m:dPr>
                        <m:e>
                          <m:d>
                            <m:dPr>
                              <m:ctrlPr>
                                <a:rPr lang="en-US" sz="2000" b="1" i="1">
                                  <a:solidFill>
                                    <a:srgbClr val="C00000"/>
                                  </a:solidFill>
                                  <a:effectLst/>
                                  <a:latin typeface="Cambria Math" panose="02040503050406030204" pitchFamily="18" charset="0"/>
                                  <a:ea typeface="Times New Roman" panose="02020603050405020304" pitchFamily="18" charset="0"/>
                                </a:rPr>
                              </m:ctrlPr>
                            </m:dPr>
                            <m:e>
                              <m:f>
                                <m:fPr>
                                  <m:ctrlPr>
                                    <a:rPr lang="en-US" sz="2000" b="1" i="1">
                                      <a:solidFill>
                                        <a:srgbClr val="C00000"/>
                                      </a:solidFill>
                                      <a:effectLst/>
                                      <a:latin typeface="Cambria Math" panose="02040503050406030204" pitchFamily="18" charset="0"/>
                                      <a:ea typeface="Times New Roman" panose="02020603050405020304" pitchFamily="18" charset="0"/>
                                    </a:rPr>
                                  </m:ctrlPr>
                                </m:fPr>
                                <m:num>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𝑨</m:t>
                                      </m:r>
                                    </m:sub>
                                  </m:sSub>
                                  <m:r>
                                    <a:rPr lang="en-US" sz="2000" b="1" i="1">
                                      <a:solidFill>
                                        <a:srgbClr val="C00000"/>
                                      </a:solidFill>
                                      <a:effectLst/>
                                      <a:latin typeface="Cambria Math" panose="02040503050406030204" pitchFamily="18" charset="0"/>
                                      <a:ea typeface="Times New Roman" panose="02020603050405020304" pitchFamily="18" charset="0"/>
                                    </a:rPr>
                                    <m:t>−</m:t>
                                  </m:r>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𝑪</m:t>
                                      </m:r>
                                    </m:sub>
                                  </m:sSub>
                                </m:num>
                                <m:den>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𝑩</m:t>
                                      </m:r>
                                    </m:sub>
                                  </m:sSub>
                                  <m:r>
                                    <a:rPr lang="en-US" sz="2000" b="1" i="1">
                                      <a:solidFill>
                                        <a:srgbClr val="C00000"/>
                                      </a:solidFill>
                                      <a:effectLst/>
                                      <a:latin typeface="Cambria Math" panose="02040503050406030204" pitchFamily="18" charset="0"/>
                                      <a:ea typeface="Times New Roman" panose="02020603050405020304" pitchFamily="18" charset="0"/>
                                    </a:rPr>
                                    <m:t>−</m:t>
                                  </m:r>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𝑪</m:t>
                                      </m:r>
                                    </m:sub>
                                  </m:sSub>
                                </m:den>
                              </m:f>
                            </m:e>
                          </m:d>
                          <m:r>
                            <a:rPr lang="en-US" sz="2000" b="1" i="1">
                              <a:solidFill>
                                <a:srgbClr val="C00000"/>
                              </a:solidFill>
                              <a:effectLst/>
                              <a:latin typeface="Cambria Math" panose="02040503050406030204" pitchFamily="18" charset="0"/>
                              <a:ea typeface="Times New Roman" panose="02020603050405020304" pitchFamily="18" charset="0"/>
                            </a:rPr>
                            <m:t> </m:t>
                          </m:r>
                          <m:f>
                            <m:fPr>
                              <m:ctrlPr>
                                <a:rPr lang="en-US" sz="2000" b="1" i="1">
                                  <a:solidFill>
                                    <a:srgbClr val="C00000"/>
                                  </a:solidFill>
                                  <a:effectLst/>
                                  <a:latin typeface="Cambria Math" panose="02040503050406030204" pitchFamily="18" charset="0"/>
                                  <a:ea typeface="Times New Roman" panose="02020603050405020304" pitchFamily="18" charset="0"/>
                                </a:rPr>
                              </m:ctrlPr>
                            </m:fPr>
                            <m:num>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𝑩</m:t>
                                  </m:r>
                                </m:sub>
                              </m:sSub>
                            </m:num>
                            <m:den>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𝑨</m:t>
                                  </m:r>
                                </m:sub>
                              </m:sSub>
                            </m:den>
                          </m:f>
                        </m:e>
                      </m:d>
                      <m:r>
                        <a:rPr lang="en-US" sz="2000" b="1" i="1">
                          <a:solidFill>
                            <a:srgbClr val="C00000"/>
                          </a:solidFill>
                          <a:effectLst/>
                          <a:latin typeface="Cambria Math" panose="02040503050406030204" pitchFamily="18" charset="0"/>
                          <a:ea typeface="Times New Roman" panose="02020603050405020304" pitchFamily="18" charset="0"/>
                        </a:rPr>
                        <m:t> </m:t>
                      </m:r>
                      <m:d>
                        <m:dPr>
                          <m:begChr m:val="["/>
                          <m:endChr m:val="]"/>
                          <m:ctrlPr>
                            <a:rPr lang="en-US" sz="2000" b="1" i="1">
                              <a:solidFill>
                                <a:srgbClr val="C00000"/>
                              </a:solidFill>
                              <a:effectLst/>
                              <a:latin typeface="Cambria Math" panose="02040503050406030204" pitchFamily="18" charset="0"/>
                              <a:ea typeface="Times New Roman" panose="02020603050405020304" pitchFamily="18" charset="0"/>
                            </a:rPr>
                          </m:ctrlPr>
                        </m:dPr>
                        <m:e>
                          <m:r>
                            <a:rPr lang="en-US" sz="2000" b="1" i="1">
                              <a:solidFill>
                                <a:srgbClr val="C00000"/>
                              </a:solidFill>
                              <a:effectLst/>
                              <a:latin typeface="Cambria Math" panose="02040503050406030204" pitchFamily="18" charset="0"/>
                              <a:ea typeface="Times New Roman" panose="02020603050405020304" pitchFamily="18" charset="0"/>
                            </a:rPr>
                            <m:t>𝟏</m:t>
                          </m:r>
                          <m:r>
                            <a:rPr lang="en-US" sz="2000" b="1" i="1">
                              <a:solidFill>
                                <a:srgbClr val="C00000"/>
                              </a:solidFill>
                              <a:effectLst/>
                              <a:latin typeface="Cambria Math" panose="02040503050406030204" pitchFamily="18" charset="0"/>
                              <a:ea typeface="Times New Roman" panose="02020603050405020304" pitchFamily="18" charset="0"/>
                            </a:rPr>
                            <m:t>−</m:t>
                          </m:r>
                          <m:d>
                            <m:dPr>
                              <m:ctrlPr>
                                <a:rPr lang="en-US" sz="2000" b="1" i="1">
                                  <a:solidFill>
                                    <a:srgbClr val="C00000"/>
                                  </a:solidFill>
                                  <a:effectLst/>
                                  <a:latin typeface="Cambria Math" panose="02040503050406030204" pitchFamily="18" charset="0"/>
                                  <a:ea typeface="Times New Roman" panose="02020603050405020304" pitchFamily="18" charset="0"/>
                                </a:rPr>
                              </m:ctrlPr>
                            </m:dPr>
                            <m:e>
                              <m:f>
                                <m:fPr>
                                  <m:ctrlPr>
                                    <a:rPr lang="en-US" sz="2000" b="1" i="1">
                                      <a:solidFill>
                                        <a:srgbClr val="C00000"/>
                                      </a:solidFill>
                                      <a:effectLst/>
                                      <a:latin typeface="Cambria Math" panose="02040503050406030204" pitchFamily="18" charset="0"/>
                                      <a:ea typeface="Times New Roman" panose="02020603050405020304" pitchFamily="18" charset="0"/>
                                    </a:rPr>
                                  </m:ctrlPr>
                                </m:fPr>
                                <m:num>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𝑨</m:t>
                                      </m:r>
                                    </m:sub>
                                  </m:sSub>
                                  <m:r>
                                    <a:rPr lang="en-US" sz="2000" b="1" i="1">
                                      <a:solidFill>
                                        <a:srgbClr val="C00000"/>
                                      </a:solidFill>
                                      <a:effectLst/>
                                      <a:latin typeface="Cambria Math" panose="02040503050406030204" pitchFamily="18" charset="0"/>
                                      <a:ea typeface="Times New Roman" panose="02020603050405020304" pitchFamily="18" charset="0"/>
                                    </a:rPr>
                                    <m:t>−</m:t>
                                  </m:r>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𝑪</m:t>
                                      </m:r>
                                    </m:sub>
                                  </m:sSub>
                                </m:num>
                                <m:den>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𝑩</m:t>
                                      </m:r>
                                    </m:sub>
                                  </m:sSub>
                                  <m:r>
                                    <a:rPr lang="en-US" sz="2000" b="1" i="1">
                                      <a:solidFill>
                                        <a:srgbClr val="C00000"/>
                                      </a:solidFill>
                                      <a:effectLst/>
                                      <a:latin typeface="Cambria Math" panose="02040503050406030204" pitchFamily="18" charset="0"/>
                                      <a:ea typeface="Times New Roman" panose="02020603050405020304" pitchFamily="18" charset="0"/>
                                    </a:rPr>
                                    <m:t>−</m:t>
                                  </m:r>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𝑪</m:t>
                                      </m:r>
                                    </m:sub>
                                  </m:sSub>
                                </m:den>
                              </m:f>
                            </m:e>
                          </m:d>
                          <m:d>
                            <m:dPr>
                              <m:ctrlPr>
                                <a:rPr lang="en-US" sz="2000" b="1" i="1">
                                  <a:solidFill>
                                    <a:srgbClr val="C00000"/>
                                  </a:solidFill>
                                  <a:effectLst/>
                                  <a:latin typeface="Cambria Math" panose="02040503050406030204" pitchFamily="18" charset="0"/>
                                  <a:ea typeface="Times New Roman" panose="02020603050405020304" pitchFamily="18" charset="0"/>
                                </a:rPr>
                              </m:ctrlPr>
                            </m:dPr>
                            <m:e>
                              <m:f>
                                <m:fPr>
                                  <m:ctrlPr>
                                    <a:rPr lang="en-US" sz="2000" b="1" i="1">
                                      <a:solidFill>
                                        <a:srgbClr val="C00000"/>
                                      </a:solidFill>
                                      <a:effectLst/>
                                      <a:latin typeface="Cambria Math" panose="02040503050406030204" pitchFamily="18" charset="0"/>
                                      <a:ea typeface="Times New Roman" panose="02020603050405020304" pitchFamily="18" charset="0"/>
                                    </a:rPr>
                                  </m:ctrlPr>
                                </m:fPr>
                                <m:num>
                                  <m:r>
                                    <a:rPr lang="en-US" sz="2000" b="1" i="1">
                                      <a:solidFill>
                                        <a:srgbClr val="C00000"/>
                                      </a:solidFill>
                                      <a:effectLst/>
                                      <a:latin typeface="Cambria Math" panose="02040503050406030204" pitchFamily="18" charset="0"/>
                                      <a:ea typeface="Times New Roman" panose="02020603050405020304" pitchFamily="18" charset="0"/>
                                    </a:rPr>
                                    <m:t>𝟏</m:t>
                                  </m:r>
                                  <m:r>
                                    <a:rPr lang="en-US" sz="2000" b="1" i="1">
                                      <a:solidFill>
                                        <a:srgbClr val="C00000"/>
                                      </a:solidFill>
                                      <a:effectLst/>
                                      <a:latin typeface="Cambria Math" panose="02040503050406030204" pitchFamily="18" charset="0"/>
                                      <a:ea typeface="Times New Roman" panose="02020603050405020304" pitchFamily="18" charset="0"/>
                                    </a:rPr>
                                    <m:t>−</m:t>
                                  </m:r>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𝑩</m:t>
                                      </m:r>
                                    </m:sub>
                                  </m:sSub>
                                </m:num>
                                <m:den>
                                  <m:r>
                                    <a:rPr lang="en-US" sz="2000" b="1" i="1">
                                      <a:solidFill>
                                        <a:srgbClr val="C00000"/>
                                      </a:solidFill>
                                      <a:effectLst/>
                                      <a:latin typeface="Cambria Math" panose="02040503050406030204" pitchFamily="18" charset="0"/>
                                      <a:ea typeface="Times New Roman" panose="02020603050405020304" pitchFamily="18" charset="0"/>
                                    </a:rPr>
                                    <m:t>𝟏</m:t>
                                  </m:r>
                                  <m:r>
                                    <a:rPr lang="en-US" sz="2000" b="1" i="1">
                                      <a:solidFill>
                                        <a:srgbClr val="C00000"/>
                                      </a:solidFill>
                                      <a:effectLst/>
                                      <a:latin typeface="Cambria Math" panose="02040503050406030204" pitchFamily="18" charset="0"/>
                                      <a:ea typeface="Times New Roman" panose="02020603050405020304" pitchFamily="18" charset="0"/>
                                    </a:rPr>
                                    <m:t>−</m:t>
                                  </m:r>
                                  <m:sSub>
                                    <m:sSubPr>
                                      <m:ctrlPr>
                                        <a:rPr lang="en-US" sz="2000" b="1" i="1">
                                          <a:solidFill>
                                            <a:srgbClr val="C00000"/>
                                          </a:solidFill>
                                          <a:effectLst/>
                                          <a:latin typeface="Cambria Math" panose="02040503050406030204" pitchFamily="18" charset="0"/>
                                          <a:ea typeface="Times New Roman" panose="02020603050405020304" pitchFamily="18" charset="0"/>
                                        </a:rPr>
                                      </m:ctrlPr>
                                    </m:sSubPr>
                                    <m:e>
                                      <m:r>
                                        <a:rPr lang="en-US" sz="2000" b="1" i="1">
                                          <a:solidFill>
                                            <a:srgbClr val="C00000"/>
                                          </a:solidFill>
                                          <a:effectLst/>
                                          <a:latin typeface="Cambria Math" panose="02040503050406030204" pitchFamily="18" charset="0"/>
                                          <a:ea typeface="Times New Roman" panose="02020603050405020304" pitchFamily="18" charset="0"/>
                                        </a:rPr>
                                        <m:t>𝒙</m:t>
                                      </m:r>
                                    </m:e>
                                    <m:sub>
                                      <m:r>
                                        <a:rPr lang="en-US" sz="2000" b="1" i="1">
                                          <a:solidFill>
                                            <a:srgbClr val="C00000"/>
                                          </a:solidFill>
                                          <a:effectLst/>
                                          <a:latin typeface="Cambria Math" panose="02040503050406030204" pitchFamily="18" charset="0"/>
                                          <a:ea typeface="Times New Roman" panose="02020603050405020304" pitchFamily="18" charset="0"/>
                                        </a:rPr>
                                        <m:t>𝑨</m:t>
                                      </m:r>
                                    </m:sub>
                                  </m:sSub>
                                </m:den>
                              </m:f>
                            </m:e>
                          </m:d>
                        </m:e>
                      </m:d>
                      <m:r>
                        <a:rPr lang="en-US" sz="2000" b="1" i="1">
                          <a:solidFill>
                            <a:srgbClr val="C00000"/>
                          </a:solidFill>
                          <a:effectLst/>
                          <a:latin typeface="Cambria Math" panose="02040503050406030204" pitchFamily="18" charset="0"/>
                          <a:ea typeface="Times New Roman" panose="02020603050405020304" pitchFamily="18" charset="0"/>
                        </a:rPr>
                        <m:t>= </m:t>
                      </m:r>
                      <m:d>
                        <m:dPr>
                          <m:begChr m:val="["/>
                          <m:endChr m:val="]"/>
                          <m:ctrlPr>
                            <a:rPr lang="en-US" sz="2000" b="1" i="1">
                              <a:solidFill>
                                <a:srgbClr val="C00000"/>
                              </a:solidFill>
                              <a:effectLst/>
                              <a:latin typeface="Cambria Math" panose="02040503050406030204" pitchFamily="18" charset="0"/>
                              <a:ea typeface="Times New Roman" panose="02020603050405020304" pitchFamily="18" charset="0"/>
                            </a:rPr>
                          </m:ctrlPr>
                        </m:dPr>
                        <m:e>
                          <m:f>
                            <m:fPr>
                              <m:ctrlPr>
                                <a:rPr lang="en-US" sz="2000" b="1" i="1">
                                  <a:solidFill>
                                    <a:srgbClr val="C00000"/>
                                  </a:solidFill>
                                  <a:effectLst/>
                                  <a:latin typeface="Cambria Math" panose="02040503050406030204" pitchFamily="18" charset="0"/>
                                  <a:ea typeface="Times New Roman" panose="02020603050405020304" pitchFamily="18" charset="0"/>
                                </a:rPr>
                              </m:ctrlPr>
                            </m:fPr>
                            <m:num>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𝟖𝟐𝟏𝟏</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𝟑𝟑𝟗𝟑</m:t>
                              </m:r>
                            </m:num>
                            <m:den>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𝟗𝟕𝟑</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𝟑𝟑𝟗𝟑</m:t>
                              </m:r>
                            </m:den>
                          </m:f>
                        </m:e>
                      </m:d>
                      <m:f>
                        <m:fPr>
                          <m:ctrlPr>
                            <a:rPr lang="en-US" sz="2000" b="1" i="1">
                              <a:solidFill>
                                <a:srgbClr val="C00000"/>
                              </a:solidFill>
                              <a:effectLst/>
                              <a:latin typeface="Cambria Math" panose="02040503050406030204" pitchFamily="18" charset="0"/>
                              <a:ea typeface="Times New Roman" panose="02020603050405020304" pitchFamily="18" charset="0"/>
                            </a:rPr>
                          </m:ctrlPr>
                        </m:fPr>
                        <m:num>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𝟗𝟕𝟑</m:t>
                          </m:r>
                        </m:num>
                        <m:den>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𝟖𝟐𝟏</m:t>
                          </m:r>
                        </m:den>
                      </m:f>
                      <m:r>
                        <a:rPr lang="en-US" sz="2000" b="1" i="1">
                          <a:solidFill>
                            <a:srgbClr val="C00000"/>
                          </a:solidFill>
                          <a:effectLst/>
                          <a:latin typeface="Cambria Math" panose="02040503050406030204" pitchFamily="18" charset="0"/>
                          <a:ea typeface="Times New Roman" panose="02020603050405020304" pitchFamily="18" charset="0"/>
                        </a:rPr>
                        <m:t> </m:t>
                      </m:r>
                      <m:d>
                        <m:dPr>
                          <m:begChr m:val="["/>
                          <m:endChr m:val="]"/>
                          <m:ctrlPr>
                            <a:rPr lang="en-US" sz="2000" b="1" i="1">
                              <a:solidFill>
                                <a:srgbClr val="C00000"/>
                              </a:solidFill>
                              <a:effectLst/>
                              <a:latin typeface="Cambria Math" panose="02040503050406030204" pitchFamily="18" charset="0"/>
                              <a:ea typeface="Times New Roman" panose="02020603050405020304" pitchFamily="18" charset="0"/>
                            </a:rPr>
                          </m:ctrlPr>
                        </m:dPr>
                        <m:e>
                          <m:r>
                            <a:rPr lang="en-US" sz="2000" b="1" i="1">
                              <a:solidFill>
                                <a:srgbClr val="C00000"/>
                              </a:solidFill>
                              <a:effectLst/>
                              <a:latin typeface="Cambria Math" panose="02040503050406030204" pitchFamily="18" charset="0"/>
                              <a:ea typeface="Times New Roman" panose="02020603050405020304" pitchFamily="18" charset="0"/>
                            </a:rPr>
                            <m:t>𝟏</m:t>
                          </m:r>
                          <m:r>
                            <a:rPr lang="en-US" sz="2000" b="1" i="1">
                              <a:solidFill>
                                <a:srgbClr val="C00000"/>
                              </a:solidFill>
                              <a:effectLst/>
                              <a:latin typeface="Cambria Math" panose="02040503050406030204" pitchFamily="18" charset="0"/>
                              <a:ea typeface="Times New Roman" panose="02020603050405020304" pitchFamily="18" charset="0"/>
                            </a:rPr>
                            <m:t>−</m:t>
                          </m:r>
                          <m:d>
                            <m:dPr>
                              <m:begChr m:val="["/>
                              <m:endChr m:val="]"/>
                              <m:ctrlPr>
                                <a:rPr lang="en-US" sz="2000" b="1" i="1">
                                  <a:solidFill>
                                    <a:srgbClr val="C00000"/>
                                  </a:solidFill>
                                  <a:effectLst/>
                                  <a:latin typeface="Cambria Math" panose="02040503050406030204" pitchFamily="18" charset="0"/>
                                  <a:ea typeface="Times New Roman" panose="02020603050405020304" pitchFamily="18" charset="0"/>
                                </a:rPr>
                              </m:ctrlPr>
                            </m:dPr>
                            <m:e>
                              <m:f>
                                <m:fPr>
                                  <m:ctrlPr>
                                    <a:rPr lang="en-US" sz="2000" b="1" i="1">
                                      <a:solidFill>
                                        <a:srgbClr val="C00000"/>
                                      </a:solidFill>
                                      <a:effectLst/>
                                      <a:latin typeface="Cambria Math" panose="02040503050406030204" pitchFamily="18" charset="0"/>
                                      <a:ea typeface="Times New Roman" panose="02020603050405020304" pitchFamily="18" charset="0"/>
                                    </a:rPr>
                                  </m:ctrlPr>
                                </m:fPr>
                                <m:num>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𝟖𝟐𝟏𝟏</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𝟑𝟑𝟗𝟑</m:t>
                                  </m:r>
                                </m:num>
                                <m:den>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𝟗𝟕𝟑</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𝟑𝟑𝟗𝟑</m:t>
                                  </m:r>
                                </m:den>
                              </m:f>
                            </m:e>
                          </m:d>
                          <m:f>
                            <m:fPr>
                              <m:ctrlPr>
                                <a:rPr lang="en-US" sz="2000" b="1" i="1">
                                  <a:solidFill>
                                    <a:srgbClr val="C00000"/>
                                  </a:solidFill>
                                  <a:effectLst/>
                                  <a:latin typeface="Cambria Math" panose="02040503050406030204" pitchFamily="18" charset="0"/>
                                  <a:ea typeface="Times New Roman" panose="02020603050405020304" pitchFamily="18" charset="0"/>
                                </a:rPr>
                              </m:ctrlPr>
                            </m:fPr>
                            <m:num>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𝟏</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𝟗𝟕𝟑</m:t>
                              </m:r>
                              <m:r>
                                <a:rPr lang="en-US" sz="2000" b="1" i="1">
                                  <a:solidFill>
                                    <a:srgbClr val="C00000"/>
                                  </a:solidFill>
                                  <a:effectLst/>
                                  <a:latin typeface="Cambria Math" panose="02040503050406030204" pitchFamily="18" charset="0"/>
                                  <a:ea typeface="Times New Roman" panose="02020603050405020304" pitchFamily="18" charset="0"/>
                                </a:rPr>
                                <m:t>)</m:t>
                              </m:r>
                            </m:num>
                            <m:den>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𝟏</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𝟖𝟐𝟏</m:t>
                              </m:r>
                              <m:r>
                                <a:rPr lang="en-US" sz="2000" b="1" i="1">
                                  <a:solidFill>
                                    <a:srgbClr val="C00000"/>
                                  </a:solidFill>
                                  <a:effectLst/>
                                  <a:latin typeface="Cambria Math" panose="02040503050406030204" pitchFamily="18" charset="0"/>
                                  <a:ea typeface="Times New Roman" panose="02020603050405020304" pitchFamily="18" charset="0"/>
                                </a:rPr>
                                <m:t>)</m:t>
                              </m:r>
                            </m:den>
                          </m:f>
                        </m:e>
                      </m:d>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𝟗</m:t>
                      </m:r>
                      <m:r>
                        <a:rPr lang="en-US" sz="2000" b="1" i="1">
                          <a:solidFill>
                            <a:srgbClr val="C00000"/>
                          </a:solidFill>
                          <a:effectLst/>
                          <a:latin typeface="Cambria Math" panose="02040503050406030204" pitchFamily="18" charset="0"/>
                          <a:ea typeface="Times New Roman" panose="02020603050405020304" pitchFamily="18" charset="0"/>
                        </a:rPr>
                        <m:t> </m:t>
                      </m:r>
                      <m:r>
                        <a:rPr lang="en-US" sz="2000" b="1" i="1">
                          <a:solidFill>
                            <a:srgbClr val="C00000"/>
                          </a:solidFill>
                          <a:effectLst/>
                          <a:latin typeface="Cambria Math" panose="02040503050406030204" pitchFamily="18" charset="0"/>
                          <a:ea typeface="Times New Roman" panose="02020603050405020304" pitchFamily="18" charset="0"/>
                        </a:rPr>
                        <m:t>𝒙</m:t>
                      </m:r>
                      <m:r>
                        <a:rPr lang="en-US" sz="2000" b="1" i="1">
                          <a:solidFill>
                            <a:srgbClr val="C00000"/>
                          </a:solidFill>
                          <a:effectLst/>
                          <a:latin typeface="Cambria Math" panose="02040503050406030204" pitchFamily="18" charset="0"/>
                          <a:ea typeface="Times New Roman" panose="02020603050405020304" pitchFamily="18" charset="0"/>
                        </a:rPr>
                        <m:t> </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𝟖𝟖𝟓</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𝟎</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𝟕𝟗𝟕𝟓</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𝟕𝟗</m:t>
                      </m:r>
                      <m:r>
                        <a:rPr lang="en-US" sz="2000" b="1" i="1">
                          <a:solidFill>
                            <a:srgbClr val="C00000"/>
                          </a:solidFill>
                          <a:effectLst/>
                          <a:latin typeface="Cambria Math" panose="02040503050406030204" pitchFamily="18" charset="0"/>
                          <a:ea typeface="Times New Roman" panose="02020603050405020304" pitchFamily="18" charset="0"/>
                        </a:rPr>
                        <m:t>.</m:t>
                      </m:r>
                      <m:r>
                        <a:rPr lang="en-US" sz="2000" b="1" i="1">
                          <a:solidFill>
                            <a:srgbClr val="C00000"/>
                          </a:solidFill>
                          <a:effectLst/>
                          <a:latin typeface="Cambria Math" panose="02040503050406030204" pitchFamily="18" charset="0"/>
                          <a:ea typeface="Times New Roman" panose="02020603050405020304" pitchFamily="18" charset="0"/>
                        </a:rPr>
                        <m:t>𝟓𝟔</m:t>
                      </m:r>
                      <m:r>
                        <a:rPr lang="en-US" sz="2000" b="1" i="1">
                          <a:solidFill>
                            <a:srgbClr val="C00000"/>
                          </a:solidFill>
                          <a:effectLst/>
                          <a:latin typeface="Cambria Math" panose="02040503050406030204" pitchFamily="18" charset="0"/>
                          <a:ea typeface="Times New Roman" panose="02020603050405020304" pitchFamily="18" charset="0"/>
                        </a:rPr>
                        <m:t>%</m:t>
                      </m:r>
                    </m:oMath>
                  </m:oMathPara>
                </a14:m>
                <a:endParaRPr lang="en-US" sz="2000" b="1" dirty="0">
                  <a:solidFill>
                    <a:srgbClr val="C0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000" b="1" dirty="0">
                    <a:solidFill>
                      <a:srgbClr val="C00000"/>
                    </a:solidFill>
                    <a:effectLst/>
                    <a:latin typeface="Times New Roman" panose="02020603050405020304" pitchFamily="18" charset="0"/>
                    <a:ea typeface="Times New Roman" panose="02020603050405020304" pitchFamily="18" charset="0"/>
                  </a:rPr>
                  <a:t> </a:t>
                </a:r>
              </a:p>
            </p:txBody>
          </p:sp>
        </mc:Choice>
        <mc:Fallback xmlns="">
          <p:sp>
            <p:nvSpPr>
              <p:cNvPr id="16" name="TextBox 15">
                <a:extLst>
                  <a:ext uri="{FF2B5EF4-FFF2-40B4-BE49-F238E27FC236}">
                    <a16:creationId xmlns:a16="http://schemas.microsoft.com/office/drawing/2014/main" id="{6BAA2F14-ECE7-EDC2-21DD-E1707DC621BF}"/>
                  </a:ext>
                </a:extLst>
              </p:cNvPr>
              <p:cNvSpPr txBox="1">
                <a:spLocks noRot="1" noChangeAspect="1" noMove="1" noResize="1" noEditPoints="1" noAdjustHandles="1" noChangeArrowheads="1" noChangeShapeType="1" noTextEdit="1"/>
              </p:cNvSpPr>
              <p:nvPr/>
            </p:nvSpPr>
            <p:spPr>
              <a:xfrm>
                <a:off x="402978" y="10059334"/>
                <a:ext cx="19298144" cy="109164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17346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A2002BE5-841A-E113-62FC-A4F53B05DD34}"/>
              </a:ext>
            </a:extLst>
          </p:cNvPr>
          <p:cNvSpPr txBox="1"/>
          <p:nvPr/>
        </p:nvSpPr>
        <p:spPr>
          <a:xfrm>
            <a:off x="982667" y="1373189"/>
            <a:ext cx="7334630" cy="2246769"/>
          </a:xfrm>
          <a:prstGeom prst="rect">
            <a:avLst/>
          </a:prstGeom>
          <a:noFill/>
        </p:spPr>
        <p:txBody>
          <a:bodyPr wrap="square">
            <a:spAutoFit/>
          </a:bodyPr>
          <a:lstStyle/>
          <a:p>
            <a:pPr algn="just">
              <a:spcBef>
                <a:spcPts val="0"/>
              </a:spcBef>
              <a:spcAft>
                <a:spcPts val="0"/>
              </a:spcAft>
            </a:pPr>
            <a:r>
              <a:rPr lang="en-US" sz="2000" b="1" dirty="0">
                <a:effectLst/>
                <a:latin typeface="Times New Roman" panose="02020603050405020304" pitchFamily="18" charset="0"/>
                <a:ea typeface="Times New Roman" panose="02020603050405020304" pitchFamily="18" charset="0"/>
              </a:rPr>
              <a:t>Determine the effectiveness of the screen taking under size as desired product. </a:t>
            </a:r>
            <a:r>
              <a:rPr lang="en-US" sz="2000" b="1" dirty="0">
                <a:solidFill>
                  <a:srgbClr val="FF0000"/>
                </a:solidFill>
                <a:effectLst/>
                <a:latin typeface="Times New Roman" panose="02020603050405020304" pitchFamily="18" charset="0"/>
                <a:ea typeface="Times New Roman" panose="02020603050405020304" pitchFamily="18" charset="0"/>
              </a:rPr>
              <a:t>Given: (48 mesh screen). </a:t>
            </a:r>
          </a:p>
          <a:p>
            <a:pPr marL="0" marR="0" algn="just">
              <a:spcBef>
                <a:spcPts val="0"/>
              </a:spcBef>
              <a:spcAft>
                <a:spcPts val="0"/>
              </a:spcAft>
            </a:pPr>
            <a:r>
              <a:rPr lang="en-US" sz="2000" b="1" dirty="0">
                <a:effectLst/>
                <a:latin typeface="Times New Roman" panose="02020603050405020304" pitchFamily="18" charset="0"/>
                <a:ea typeface="Times New Roman" panose="02020603050405020304" pitchFamily="18" charset="0"/>
              </a:rPr>
              <a:t>Method 1: Without calculating cumulative mass fraction.</a:t>
            </a:r>
            <a:r>
              <a:rPr lang="en-US" sz="2000" b="1" dirty="0">
                <a:solidFill>
                  <a:srgbClr val="FF0000"/>
                </a:solidFill>
                <a:effectLst/>
                <a:latin typeface="Times New Roman" panose="02020603050405020304" pitchFamily="18" charset="0"/>
                <a:ea typeface="Times New Roman" panose="02020603050405020304" pitchFamily="18" charset="0"/>
              </a:rPr>
              <a:t> </a:t>
            </a:r>
            <a:endParaRPr lang="en-US" sz="2000" b="1" dirty="0">
              <a:solidFill>
                <a:srgbClr val="C00000"/>
              </a:solidFill>
              <a:effectLst/>
              <a:latin typeface="Times New Roman" panose="02020603050405020304" pitchFamily="18" charset="0"/>
              <a:ea typeface="Times New Roman" panose="02020603050405020304" pitchFamily="18" charset="0"/>
            </a:endParaRPr>
          </a:p>
          <a:p>
            <a:pPr algn="just">
              <a:spcBef>
                <a:spcPts val="0"/>
              </a:spcBef>
              <a:spcAft>
                <a:spcPts val="0"/>
              </a:spcAft>
            </a:pPr>
            <a:r>
              <a:rPr lang="en-US" sz="2000" b="1" dirty="0">
                <a:solidFill>
                  <a:srgbClr val="FF0000"/>
                </a:solidFill>
                <a:effectLst/>
                <a:latin typeface="Times New Roman" panose="02020603050405020304" pitchFamily="18" charset="0"/>
                <a:ea typeface="Times New Roman" panose="02020603050405020304" pitchFamily="18" charset="0"/>
              </a:rPr>
              <a:t>For undersize we have to consider the material </a:t>
            </a:r>
            <a:r>
              <a:rPr lang="en-US" sz="2000" b="1" dirty="0" err="1">
                <a:solidFill>
                  <a:srgbClr val="FF0000"/>
                </a:solidFill>
                <a:effectLst/>
                <a:latin typeface="Times New Roman" panose="02020603050405020304" pitchFamily="18" charset="0"/>
                <a:ea typeface="Times New Roman" panose="02020603050405020304" pitchFamily="18" charset="0"/>
              </a:rPr>
              <a:t>retaind</a:t>
            </a:r>
            <a:r>
              <a:rPr lang="en-US" sz="2000" b="1" dirty="0">
                <a:solidFill>
                  <a:srgbClr val="FF0000"/>
                </a:solidFill>
                <a:effectLst/>
                <a:latin typeface="Times New Roman" panose="02020603050405020304" pitchFamily="18" charset="0"/>
                <a:ea typeface="Times New Roman" panose="02020603050405020304" pitchFamily="18" charset="0"/>
              </a:rPr>
              <a:t> below 48 mesh, </a:t>
            </a:r>
            <a:r>
              <a:rPr lang="en-US" sz="2000" b="1" dirty="0">
                <a:solidFill>
                  <a:srgbClr val="FF0000"/>
                </a:solidFill>
                <a:latin typeface="Times New Roman" panose="02020603050405020304" pitchFamily="18" charset="0"/>
                <a:ea typeface="Times New Roman" panose="02020603050405020304" pitchFamily="18" charset="0"/>
              </a:rPr>
              <a:t>and hence add the fractions retained from 65 to 200</a:t>
            </a:r>
            <a:endParaRPr lang="en-US" sz="2000" b="1"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endParaRPr lang="en-US" sz="20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000" dirty="0">
                <a:effectLst/>
                <a:latin typeface="Times New Roman" panose="02020603050405020304" pitchFamily="18" charset="0"/>
                <a:ea typeface="Times New Roman" panose="02020603050405020304" pitchFamily="18" charset="0"/>
              </a:rPr>
              <a:t> </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B8261BF9-AEB6-734A-2C47-172E2B1A8D26}"/>
                  </a:ext>
                </a:extLst>
              </p:cNvPr>
              <p:cNvGraphicFramePr>
                <a:graphicFrameLocks noGrp="1"/>
              </p:cNvGraphicFramePr>
              <p:nvPr>
                <p:extLst>
                  <p:ext uri="{D42A27DB-BD31-4B8C-83A1-F6EECF244321}">
                    <p14:modId xmlns:p14="http://schemas.microsoft.com/office/powerpoint/2010/main" val="2599080323"/>
                  </p:ext>
                </p:extLst>
              </p:nvPr>
            </p:nvGraphicFramePr>
            <p:xfrm>
              <a:off x="1004888" y="3351492"/>
              <a:ext cx="6830574" cy="6336700"/>
            </p:xfrm>
            <a:graphic>
              <a:graphicData uri="http://schemas.openxmlformats.org/drawingml/2006/table">
                <a:tbl>
                  <a:tblPr firstRow="1" firstCol="1" bandRow="1">
                    <a:tableStyleId>{5C22544A-7EE6-4342-B048-85BDC9FD1C3A}</a:tableStyleId>
                  </a:tblPr>
                  <a:tblGrid>
                    <a:gridCol w="783904">
                      <a:extLst>
                        <a:ext uri="{9D8B030D-6E8A-4147-A177-3AD203B41FA5}">
                          <a16:colId xmlns:a16="http://schemas.microsoft.com/office/drawing/2014/main" val="3683368448"/>
                        </a:ext>
                      </a:extLst>
                    </a:gridCol>
                    <a:gridCol w="1637214">
                      <a:extLst>
                        <a:ext uri="{9D8B030D-6E8A-4147-A177-3AD203B41FA5}">
                          <a16:colId xmlns:a16="http://schemas.microsoft.com/office/drawing/2014/main" val="1894129643"/>
                        </a:ext>
                      </a:extLst>
                    </a:gridCol>
                    <a:gridCol w="2057746">
                      <a:extLst>
                        <a:ext uri="{9D8B030D-6E8A-4147-A177-3AD203B41FA5}">
                          <a16:colId xmlns:a16="http://schemas.microsoft.com/office/drawing/2014/main" val="485741976"/>
                        </a:ext>
                      </a:extLst>
                    </a:gridCol>
                    <a:gridCol w="2351710">
                      <a:extLst>
                        <a:ext uri="{9D8B030D-6E8A-4147-A177-3AD203B41FA5}">
                          <a16:colId xmlns:a16="http://schemas.microsoft.com/office/drawing/2014/main" val="606020736"/>
                        </a:ext>
                      </a:extLst>
                    </a:gridCol>
                  </a:tblGrid>
                  <a:tr h="1072434">
                    <a:tc>
                      <a:txBody>
                        <a:bodyPr/>
                        <a:lstStyle/>
                        <a:p>
                          <a:pPr marL="0" marR="0">
                            <a:spcBef>
                              <a:spcPts val="0"/>
                            </a:spcBef>
                            <a:spcAft>
                              <a:spcPts val="0"/>
                            </a:spcAft>
                          </a:pPr>
                          <a:r>
                            <a:rPr lang="en-US" sz="2000">
                              <a:effectLst/>
                            </a:rPr>
                            <a:t>Mesh Number</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Mass Fraction Feed</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Mass Fraction in Oversize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rPr>
                            <a:t>Mass fraction in under size</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490694822"/>
                      </a:ext>
                    </a:extLst>
                  </a:tr>
                  <a:tr h="376019">
                    <a:tc>
                      <a:txBody>
                        <a:bodyPr/>
                        <a:lstStyle/>
                        <a:p>
                          <a:pPr marL="0" marR="0">
                            <a:spcBef>
                              <a:spcPts val="0"/>
                            </a:spcBef>
                            <a:spcAft>
                              <a:spcPts val="0"/>
                            </a:spcAft>
                          </a:pPr>
                          <a:r>
                            <a:rPr lang="en-US" sz="2000">
                              <a:effectLst/>
                            </a:rPr>
                            <a:t>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66641396"/>
                      </a:ext>
                    </a:extLst>
                  </a:tr>
                  <a:tr h="376019">
                    <a:tc>
                      <a:txBody>
                        <a:bodyPr/>
                        <a:lstStyle/>
                        <a:p>
                          <a:pPr marL="0" marR="0">
                            <a:spcBef>
                              <a:spcPts val="0"/>
                            </a:spcBef>
                            <a:spcAft>
                              <a:spcPts val="0"/>
                            </a:spcAft>
                          </a:pPr>
                          <a:r>
                            <a:rPr lang="en-US" sz="2000">
                              <a:effectLst/>
                            </a:rPr>
                            <a:t>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0.0235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1258229123"/>
                      </a:ext>
                    </a:extLst>
                  </a:tr>
                  <a:tr h="376019">
                    <a:tc>
                      <a:txBody>
                        <a:bodyPr/>
                        <a:lstStyle/>
                        <a:p>
                          <a:pPr marL="0" marR="0">
                            <a:spcBef>
                              <a:spcPts val="0"/>
                            </a:spcBef>
                            <a:spcAft>
                              <a:spcPts val="0"/>
                            </a:spcAft>
                          </a:pPr>
                          <a:r>
                            <a:rPr lang="en-US" sz="2000">
                              <a:effectLst/>
                            </a:rPr>
                            <a:t>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0.0672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591068808"/>
                      </a:ext>
                    </a:extLst>
                  </a:tr>
                  <a:tr h="376019">
                    <a:tc>
                      <a:txBody>
                        <a:bodyPr/>
                        <a:lstStyle/>
                        <a:p>
                          <a:pPr marL="0" marR="0">
                            <a:spcBef>
                              <a:spcPts val="0"/>
                            </a:spcBef>
                            <a:spcAft>
                              <a:spcPts val="0"/>
                            </a:spcAft>
                          </a:pPr>
                          <a:r>
                            <a:rPr lang="en-US" sz="2000">
                              <a:effectLst/>
                            </a:rPr>
                            <a:t>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0.0864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70992121"/>
                      </a:ext>
                    </a:extLst>
                  </a:tr>
                  <a:tr h="376019">
                    <a:tc>
                      <a:txBody>
                        <a:bodyPr/>
                        <a:lstStyle/>
                        <a:p>
                          <a:pPr marL="0" marR="0">
                            <a:spcBef>
                              <a:spcPts val="0"/>
                            </a:spcBef>
                            <a:spcAft>
                              <a:spcPts val="0"/>
                            </a:spcAft>
                          </a:pPr>
                          <a:r>
                            <a:rPr lang="en-US" sz="2000">
                              <a:effectLst/>
                            </a:rPr>
                            <a:t>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0.1087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50652822"/>
                      </a:ext>
                    </a:extLst>
                  </a:tr>
                  <a:tr h="376019">
                    <a:tc>
                      <a:txBody>
                        <a:bodyPr/>
                        <a:lstStyle/>
                        <a:p>
                          <a:pPr marL="0" marR="0">
                            <a:spcBef>
                              <a:spcPts val="0"/>
                            </a:spcBef>
                            <a:spcAft>
                              <a:spcPts val="0"/>
                            </a:spcAft>
                          </a:pPr>
                          <a:r>
                            <a:rPr lang="en-US" sz="2000">
                              <a:effectLst/>
                            </a:rPr>
                            <a:t>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0.1759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0.229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919004874"/>
                      </a:ext>
                    </a:extLst>
                  </a:tr>
                  <a:tr h="376019">
                    <a:tc>
                      <a:txBody>
                        <a:bodyPr/>
                        <a:lstStyle/>
                        <a:p>
                          <a:pPr marL="0" marR="0">
                            <a:spcBef>
                              <a:spcPts val="0"/>
                            </a:spcBef>
                            <a:spcAft>
                              <a:spcPts val="0"/>
                            </a:spcAft>
                          </a:pPr>
                          <a:r>
                            <a:rPr lang="en-US" sz="2000">
                              <a:effectLst/>
                            </a:rPr>
                            <a:t>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0.1397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rPr>
                            <a:t>0.182</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906147580"/>
                      </a:ext>
                    </a:extLst>
                  </a:tr>
                  <a:tr h="376019">
                    <a:tc>
                      <a:txBody>
                        <a:bodyPr/>
                        <a:lstStyle/>
                        <a:p>
                          <a:pPr marL="0" marR="0">
                            <a:spcBef>
                              <a:spcPts val="0"/>
                            </a:spcBef>
                            <a:spcAft>
                              <a:spcPts val="0"/>
                            </a:spcAft>
                          </a:pPr>
                          <a:r>
                            <a:rPr lang="en-US" sz="2000">
                              <a:effectLst/>
                            </a:rPr>
                            <a:t>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0.1077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1498562009"/>
                      </a:ext>
                    </a:extLst>
                  </a:tr>
                  <a:tr h="376019">
                    <a:tc>
                      <a:txBody>
                        <a:bodyPr/>
                        <a:lstStyle/>
                        <a:p>
                          <a:pPr marL="0" marR="0">
                            <a:spcBef>
                              <a:spcPts val="0"/>
                            </a:spcBef>
                            <a:spcAft>
                              <a:spcPts val="0"/>
                            </a:spcAft>
                          </a:pPr>
                          <a:r>
                            <a:rPr lang="en-US" sz="2000">
                              <a:effectLst/>
                            </a:rPr>
                            <a:t>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0.1013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0.2198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714605417"/>
                      </a:ext>
                    </a:extLst>
                  </a:tr>
                  <a:tr h="376019">
                    <a:tc>
                      <a:txBody>
                        <a:bodyPr/>
                        <a:lstStyle/>
                        <a:p>
                          <a:pPr marL="0" marR="0">
                            <a:spcBef>
                              <a:spcPts val="0"/>
                            </a:spcBef>
                            <a:spcAft>
                              <a:spcPts val="0"/>
                            </a:spcAft>
                          </a:pPr>
                          <a:r>
                            <a:rPr lang="en-US" sz="2000">
                              <a:effectLst/>
                            </a:rPr>
                            <a:t>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0.0746</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0.025</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0.2391</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1363467463"/>
                      </a:ext>
                    </a:extLst>
                  </a:tr>
                  <a:tr h="376019">
                    <a:tc>
                      <a:txBody>
                        <a:bodyPr/>
                        <a:lstStyle/>
                        <a:p>
                          <a:pPr marL="0" marR="0">
                            <a:spcBef>
                              <a:spcPts val="0"/>
                            </a:spcBef>
                            <a:spcAft>
                              <a:spcPts val="0"/>
                            </a:spcAft>
                          </a:pPr>
                          <a:r>
                            <a:rPr lang="en-US" sz="2000">
                              <a:effectLst/>
                            </a:rPr>
                            <a:t>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0.051</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0.002</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0.1877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640655805"/>
                      </a:ext>
                    </a:extLst>
                  </a:tr>
                  <a:tr h="376019">
                    <a:tc>
                      <a:txBody>
                        <a:bodyPr/>
                        <a:lstStyle/>
                        <a:p>
                          <a:pPr marL="0" marR="0">
                            <a:spcBef>
                              <a:spcPts val="0"/>
                            </a:spcBef>
                            <a:spcAft>
                              <a:spcPts val="0"/>
                            </a:spcAft>
                          </a:pPr>
                          <a:r>
                            <a:rPr lang="en-US" sz="2000">
                              <a:effectLst/>
                            </a:rPr>
                            <a:t>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0.033</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0.1427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3375033532"/>
                      </a:ext>
                    </a:extLst>
                  </a:tr>
                  <a:tr h="376019">
                    <a:tc>
                      <a:txBody>
                        <a:bodyPr/>
                        <a:lstStyle/>
                        <a:p>
                          <a:pPr marL="0" marR="0">
                            <a:spcBef>
                              <a:spcPts val="0"/>
                            </a:spcBef>
                            <a:spcAft>
                              <a:spcPts val="0"/>
                            </a:spcAft>
                          </a:pPr>
                          <a:r>
                            <a:rPr lang="en-US" sz="2000">
                              <a:effectLst/>
                            </a:rPr>
                            <a:t>200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0.0212</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0.0912</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3480040132"/>
                      </a:ext>
                    </a:extLst>
                  </a:tr>
                  <a:tr h="376019">
                    <a:tc>
                      <a:txBody>
                        <a:bodyPr/>
                        <a:lstStyle/>
                        <a:p>
                          <a:endParaRPr lang="en-US" sz="2000">
                            <a:effectLst/>
                            <a:latin typeface="Times New Roman" panose="02020603050405020304" pitchFamily="18" charset="0"/>
                          </a:endParaRPr>
                        </a:p>
                      </a:txBody>
                      <a:tcPr marL="52740" marR="52740" marT="0" marB="0"/>
                    </a:tc>
                    <a:tc>
                      <a:txBody>
                        <a:bodyPr/>
                        <a:lstStyle/>
                        <a:p>
                          <a:pPr marL="0" marR="0">
                            <a:spcBef>
                              <a:spcPts val="0"/>
                            </a:spcBef>
                            <a:spcAft>
                              <a:spcPts val="0"/>
                            </a:spcAft>
                          </a:pPr>
                          <a14:m>
                            <m:oMath xmlns:m="http://schemas.openxmlformats.org/officeDocument/2006/math">
                              <m:sSub>
                                <m:sSubPr>
                                  <m:ctrlPr>
                                    <a:rPr lang="en-US" sz="2000" b="1" i="1">
                                      <a:effectLst/>
                                      <a:highlight>
                                        <a:srgbClr val="FFFF00"/>
                                      </a:highlight>
                                      <a:latin typeface="Cambria Math" panose="02040503050406030204" pitchFamily="18" charset="0"/>
                                    </a:rPr>
                                  </m:ctrlPr>
                                </m:sSubPr>
                                <m:e>
                                  <m:r>
                                    <a:rPr lang="en-US" sz="2000" b="1" i="1">
                                      <a:effectLst/>
                                      <a:highlight>
                                        <a:srgbClr val="FFFF00"/>
                                      </a:highlight>
                                      <a:latin typeface="Cambria Math" panose="02040503050406030204" pitchFamily="18" charset="0"/>
                                    </a:rPr>
                                    <m:t>𝐱</m:t>
                                  </m:r>
                                </m:e>
                                <m:sub>
                                  <m:r>
                                    <a:rPr lang="en-US" sz="2000" b="1" i="1">
                                      <a:effectLst/>
                                      <a:highlight>
                                        <a:srgbClr val="FFFF00"/>
                                      </a:highlight>
                                      <a:latin typeface="Cambria Math" panose="02040503050406030204" pitchFamily="18" charset="0"/>
                                    </a:rPr>
                                    <m:t>𝐀</m:t>
                                  </m:r>
                                </m:sub>
                              </m:sSub>
                              <m:r>
                                <a:rPr lang="en-US" sz="2000" b="1">
                                  <a:effectLst/>
                                  <a:highlight>
                                    <a:srgbClr val="FFFF00"/>
                                  </a:highlight>
                                  <a:latin typeface="Cambria Math" panose="02040503050406030204" pitchFamily="18" charset="0"/>
                                </a:rPr>
                                <m:t>=</m:t>
                              </m:r>
                            </m:oMath>
                          </a14:m>
                          <a:r>
                            <a:rPr lang="en-US" sz="2000" b="1" dirty="0">
                              <a:effectLst/>
                              <a:highlight>
                                <a:srgbClr val="FFFF00"/>
                              </a:highlight>
                            </a:rPr>
                            <a:t>0.1798</a:t>
                          </a:r>
                          <a:endParaRPr lang="en-US" sz="2000" b="1"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14:m>
                            <m:oMath xmlns:m="http://schemas.openxmlformats.org/officeDocument/2006/math">
                              <m:sSub>
                                <m:sSubPr>
                                  <m:ctrlPr>
                                    <a:rPr lang="en-US" sz="2000" b="1" i="1">
                                      <a:effectLst/>
                                      <a:highlight>
                                        <a:srgbClr val="FFFF00"/>
                                      </a:highlight>
                                      <a:latin typeface="Cambria Math" panose="02040503050406030204" pitchFamily="18" charset="0"/>
                                    </a:rPr>
                                  </m:ctrlPr>
                                </m:sSubPr>
                                <m:e>
                                  <m:r>
                                    <a:rPr lang="en-US" sz="2000" b="1" i="1">
                                      <a:effectLst/>
                                      <a:highlight>
                                        <a:srgbClr val="FFFF00"/>
                                      </a:highlight>
                                      <a:latin typeface="Cambria Math" panose="02040503050406030204" pitchFamily="18" charset="0"/>
                                    </a:rPr>
                                    <m:t>𝐱</m:t>
                                  </m:r>
                                </m:e>
                                <m:sub>
                                  <m:r>
                                    <a:rPr lang="en-US" sz="2000" b="1" i="1">
                                      <a:effectLst/>
                                      <a:highlight>
                                        <a:srgbClr val="FFFF00"/>
                                      </a:highlight>
                                      <a:latin typeface="Cambria Math" panose="02040503050406030204" pitchFamily="18" charset="0"/>
                                    </a:rPr>
                                    <m:t>𝐁</m:t>
                                  </m:r>
                                </m:sub>
                              </m:sSub>
                              <m:r>
                                <a:rPr lang="en-US" sz="2000" b="1">
                                  <a:effectLst/>
                                  <a:highlight>
                                    <a:srgbClr val="FFFF00"/>
                                  </a:highlight>
                                  <a:latin typeface="Cambria Math" panose="02040503050406030204" pitchFamily="18" charset="0"/>
                                </a:rPr>
                                <m:t>=</m:t>
                              </m:r>
                            </m:oMath>
                          </a14:m>
                          <a:r>
                            <a:rPr lang="en-US" sz="2000" b="1" dirty="0">
                              <a:effectLst/>
                              <a:highlight>
                                <a:srgbClr val="FFFF00"/>
                              </a:highlight>
                            </a:rPr>
                            <a:t>0.027</a:t>
                          </a:r>
                          <a:endParaRPr lang="en-US" sz="2000" b="1"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14:m>
                            <m:oMath xmlns:m="http://schemas.openxmlformats.org/officeDocument/2006/math">
                              <m:sSub>
                                <m:sSubPr>
                                  <m:ctrlPr>
                                    <a:rPr lang="en-US" sz="2000" b="1" i="1">
                                      <a:effectLst/>
                                      <a:highlight>
                                        <a:srgbClr val="FFFF00"/>
                                      </a:highlight>
                                      <a:latin typeface="Cambria Math" panose="02040503050406030204" pitchFamily="18" charset="0"/>
                                    </a:rPr>
                                  </m:ctrlPr>
                                </m:sSubPr>
                                <m:e>
                                  <m:r>
                                    <a:rPr lang="en-US" sz="2000" b="1" i="1">
                                      <a:effectLst/>
                                      <a:highlight>
                                        <a:srgbClr val="FFFF00"/>
                                      </a:highlight>
                                      <a:latin typeface="Cambria Math" panose="02040503050406030204" pitchFamily="18" charset="0"/>
                                    </a:rPr>
                                    <m:t>𝐱</m:t>
                                  </m:r>
                                </m:e>
                                <m:sub>
                                  <m:r>
                                    <a:rPr lang="en-US" sz="2000" b="1" i="1">
                                      <a:effectLst/>
                                      <a:highlight>
                                        <a:srgbClr val="FFFF00"/>
                                      </a:highlight>
                                      <a:latin typeface="Cambria Math" panose="02040503050406030204" pitchFamily="18" charset="0"/>
                                    </a:rPr>
                                    <m:t>𝐂</m:t>
                                  </m:r>
                                </m:sub>
                              </m:sSub>
                              <m:r>
                                <a:rPr lang="en-US" sz="2000" b="1">
                                  <a:effectLst/>
                                  <a:highlight>
                                    <a:srgbClr val="FFFF00"/>
                                  </a:highlight>
                                  <a:latin typeface="Cambria Math" panose="02040503050406030204" pitchFamily="18" charset="0"/>
                                </a:rPr>
                                <m:t>= </m:t>
                              </m:r>
                            </m:oMath>
                          </a14:m>
                          <a:r>
                            <a:rPr lang="en-US" sz="2000" b="1" dirty="0">
                              <a:effectLst/>
                              <a:highlight>
                                <a:srgbClr val="FFFF00"/>
                              </a:highlight>
                            </a:rPr>
                            <a:t>0.6607</a:t>
                          </a:r>
                          <a:endParaRPr lang="en-US" sz="2000" b="1"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30421508"/>
                      </a:ext>
                    </a:extLst>
                  </a:tr>
                </a:tbl>
              </a:graphicData>
            </a:graphic>
          </p:graphicFrame>
        </mc:Choice>
        <mc:Fallback xmlns="">
          <p:graphicFrame>
            <p:nvGraphicFramePr>
              <p:cNvPr id="10" name="Table 9">
                <a:extLst>
                  <a:ext uri="{FF2B5EF4-FFF2-40B4-BE49-F238E27FC236}">
                    <a16:creationId xmlns:a16="http://schemas.microsoft.com/office/drawing/2014/main" id="{B8261BF9-AEB6-734A-2C47-172E2B1A8D26}"/>
                  </a:ext>
                </a:extLst>
              </p:cNvPr>
              <p:cNvGraphicFramePr>
                <a:graphicFrameLocks noGrp="1"/>
              </p:cNvGraphicFramePr>
              <p:nvPr>
                <p:extLst>
                  <p:ext uri="{D42A27DB-BD31-4B8C-83A1-F6EECF244321}">
                    <p14:modId xmlns:p14="http://schemas.microsoft.com/office/powerpoint/2010/main" val="2599080323"/>
                  </p:ext>
                </p:extLst>
              </p:nvPr>
            </p:nvGraphicFramePr>
            <p:xfrm>
              <a:off x="1004888" y="3351492"/>
              <a:ext cx="6830574" cy="6336700"/>
            </p:xfrm>
            <a:graphic>
              <a:graphicData uri="http://schemas.openxmlformats.org/drawingml/2006/table">
                <a:tbl>
                  <a:tblPr firstRow="1" firstCol="1" bandRow="1">
                    <a:tableStyleId>{5C22544A-7EE6-4342-B048-85BDC9FD1C3A}</a:tableStyleId>
                  </a:tblPr>
                  <a:tblGrid>
                    <a:gridCol w="783904">
                      <a:extLst>
                        <a:ext uri="{9D8B030D-6E8A-4147-A177-3AD203B41FA5}">
                          <a16:colId xmlns:a16="http://schemas.microsoft.com/office/drawing/2014/main" val="3683368448"/>
                        </a:ext>
                      </a:extLst>
                    </a:gridCol>
                    <a:gridCol w="1637214">
                      <a:extLst>
                        <a:ext uri="{9D8B030D-6E8A-4147-A177-3AD203B41FA5}">
                          <a16:colId xmlns:a16="http://schemas.microsoft.com/office/drawing/2014/main" val="1894129643"/>
                        </a:ext>
                      </a:extLst>
                    </a:gridCol>
                    <a:gridCol w="2057746">
                      <a:extLst>
                        <a:ext uri="{9D8B030D-6E8A-4147-A177-3AD203B41FA5}">
                          <a16:colId xmlns:a16="http://schemas.microsoft.com/office/drawing/2014/main" val="485741976"/>
                        </a:ext>
                      </a:extLst>
                    </a:gridCol>
                    <a:gridCol w="2351710">
                      <a:extLst>
                        <a:ext uri="{9D8B030D-6E8A-4147-A177-3AD203B41FA5}">
                          <a16:colId xmlns:a16="http://schemas.microsoft.com/office/drawing/2014/main" val="606020736"/>
                        </a:ext>
                      </a:extLst>
                    </a:gridCol>
                  </a:tblGrid>
                  <a:tr h="1072434">
                    <a:tc>
                      <a:txBody>
                        <a:bodyPr/>
                        <a:lstStyle/>
                        <a:p>
                          <a:pPr marL="0" marR="0">
                            <a:spcBef>
                              <a:spcPts val="0"/>
                            </a:spcBef>
                            <a:spcAft>
                              <a:spcPts val="0"/>
                            </a:spcAft>
                          </a:pPr>
                          <a:r>
                            <a:rPr lang="en-US" sz="2000">
                              <a:effectLst/>
                            </a:rPr>
                            <a:t>Mesh Number</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Mass Fraction Feed</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Mass Fraction in Oversize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rPr>
                            <a:t>Mass fraction in under size</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490694822"/>
                      </a:ext>
                    </a:extLst>
                  </a:tr>
                  <a:tr h="376019">
                    <a:tc>
                      <a:txBody>
                        <a:bodyPr/>
                        <a:lstStyle/>
                        <a:p>
                          <a:pPr marL="0" marR="0">
                            <a:spcBef>
                              <a:spcPts val="0"/>
                            </a:spcBef>
                            <a:spcAft>
                              <a:spcPts val="0"/>
                            </a:spcAft>
                          </a:pPr>
                          <a:r>
                            <a:rPr lang="en-US" sz="2000">
                              <a:effectLst/>
                            </a:rPr>
                            <a:t>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66641396"/>
                      </a:ext>
                    </a:extLst>
                  </a:tr>
                  <a:tr h="376019">
                    <a:tc>
                      <a:txBody>
                        <a:bodyPr/>
                        <a:lstStyle/>
                        <a:p>
                          <a:pPr marL="0" marR="0">
                            <a:spcBef>
                              <a:spcPts val="0"/>
                            </a:spcBef>
                            <a:spcAft>
                              <a:spcPts val="0"/>
                            </a:spcAft>
                          </a:pPr>
                          <a:r>
                            <a:rPr lang="en-US" sz="2000">
                              <a:effectLst/>
                            </a:rPr>
                            <a:t>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0.0235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1258229123"/>
                      </a:ext>
                    </a:extLst>
                  </a:tr>
                  <a:tr h="376019">
                    <a:tc>
                      <a:txBody>
                        <a:bodyPr/>
                        <a:lstStyle/>
                        <a:p>
                          <a:pPr marL="0" marR="0">
                            <a:spcBef>
                              <a:spcPts val="0"/>
                            </a:spcBef>
                            <a:spcAft>
                              <a:spcPts val="0"/>
                            </a:spcAft>
                          </a:pPr>
                          <a:r>
                            <a:rPr lang="en-US" sz="2000">
                              <a:effectLst/>
                            </a:rPr>
                            <a:t>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0.0672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591068808"/>
                      </a:ext>
                    </a:extLst>
                  </a:tr>
                  <a:tr h="376019">
                    <a:tc>
                      <a:txBody>
                        <a:bodyPr/>
                        <a:lstStyle/>
                        <a:p>
                          <a:pPr marL="0" marR="0">
                            <a:spcBef>
                              <a:spcPts val="0"/>
                            </a:spcBef>
                            <a:spcAft>
                              <a:spcPts val="0"/>
                            </a:spcAft>
                          </a:pPr>
                          <a:r>
                            <a:rPr lang="en-US" sz="2000">
                              <a:effectLst/>
                            </a:rPr>
                            <a:t>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0.0864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70992121"/>
                      </a:ext>
                    </a:extLst>
                  </a:tr>
                  <a:tr h="376019">
                    <a:tc>
                      <a:txBody>
                        <a:bodyPr/>
                        <a:lstStyle/>
                        <a:p>
                          <a:pPr marL="0" marR="0">
                            <a:spcBef>
                              <a:spcPts val="0"/>
                            </a:spcBef>
                            <a:spcAft>
                              <a:spcPts val="0"/>
                            </a:spcAft>
                          </a:pPr>
                          <a:r>
                            <a:rPr lang="en-US" sz="2000">
                              <a:effectLst/>
                            </a:rPr>
                            <a:t>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0.1087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50652822"/>
                      </a:ext>
                    </a:extLst>
                  </a:tr>
                  <a:tr h="376019">
                    <a:tc>
                      <a:txBody>
                        <a:bodyPr/>
                        <a:lstStyle/>
                        <a:p>
                          <a:pPr marL="0" marR="0">
                            <a:spcBef>
                              <a:spcPts val="0"/>
                            </a:spcBef>
                            <a:spcAft>
                              <a:spcPts val="0"/>
                            </a:spcAft>
                          </a:pPr>
                          <a:r>
                            <a:rPr lang="en-US" sz="2000">
                              <a:effectLst/>
                            </a:rPr>
                            <a:t>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0.1759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0.229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919004874"/>
                      </a:ext>
                    </a:extLst>
                  </a:tr>
                  <a:tr h="376019">
                    <a:tc>
                      <a:txBody>
                        <a:bodyPr/>
                        <a:lstStyle/>
                        <a:p>
                          <a:pPr marL="0" marR="0">
                            <a:spcBef>
                              <a:spcPts val="0"/>
                            </a:spcBef>
                            <a:spcAft>
                              <a:spcPts val="0"/>
                            </a:spcAft>
                          </a:pPr>
                          <a:r>
                            <a:rPr lang="en-US" sz="2000">
                              <a:effectLst/>
                            </a:rPr>
                            <a:t>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0.1397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rPr>
                            <a:t>0.182</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906147580"/>
                      </a:ext>
                    </a:extLst>
                  </a:tr>
                  <a:tr h="376019">
                    <a:tc>
                      <a:txBody>
                        <a:bodyPr/>
                        <a:lstStyle/>
                        <a:p>
                          <a:pPr marL="0" marR="0">
                            <a:spcBef>
                              <a:spcPts val="0"/>
                            </a:spcBef>
                            <a:spcAft>
                              <a:spcPts val="0"/>
                            </a:spcAft>
                          </a:pPr>
                          <a:r>
                            <a:rPr lang="en-US" sz="2000">
                              <a:effectLst/>
                            </a:rPr>
                            <a:t>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0.1077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1498562009"/>
                      </a:ext>
                    </a:extLst>
                  </a:tr>
                  <a:tr h="376019">
                    <a:tc>
                      <a:txBody>
                        <a:bodyPr/>
                        <a:lstStyle/>
                        <a:p>
                          <a:pPr marL="0" marR="0">
                            <a:spcBef>
                              <a:spcPts val="0"/>
                            </a:spcBef>
                            <a:spcAft>
                              <a:spcPts val="0"/>
                            </a:spcAft>
                          </a:pPr>
                          <a:r>
                            <a:rPr lang="en-US" sz="2000">
                              <a:effectLst/>
                            </a:rPr>
                            <a:t>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0.1013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0.065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rPr>
                            <a:t>0.2198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2714605417"/>
                      </a:ext>
                    </a:extLst>
                  </a:tr>
                  <a:tr h="376019">
                    <a:tc>
                      <a:txBody>
                        <a:bodyPr/>
                        <a:lstStyle/>
                        <a:p>
                          <a:pPr marL="0" marR="0">
                            <a:spcBef>
                              <a:spcPts val="0"/>
                            </a:spcBef>
                            <a:spcAft>
                              <a:spcPts val="0"/>
                            </a:spcAft>
                          </a:pPr>
                          <a:r>
                            <a:rPr lang="en-US" sz="2000">
                              <a:effectLst/>
                            </a:rPr>
                            <a:t>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0.0746</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0.025</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0.2391</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1363467463"/>
                      </a:ext>
                    </a:extLst>
                  </a:tr>
                  <a:tr h="376019">
                    <a:tc>
                      <a:txBody>
                        <a:bodyPr/>
                        <a:lstStyle/>
                        <a:p>
                          <a:pPr marL="0" marR="0">
                            <a:spcBef>
                              <a:spcPts val="0"/>
                            </a:spcBef>
                            <a:spcAft>
                              <a:spcPts val="0"/>
                            </a:spcAft>
                          </a:pPr>
                          <a:r>
                            <a:rPr lang="en-US" sz="2000">
                              <a:effectLst/>
                            </a:rPr>
                            <a:t>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0.051</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0.002</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0.1877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640655805"/>
                      </a:ext>
                    </a:extLst>
                  </a:tr>
                  <a:tr h="376019">
                    <a:tc>
                      <a:txBody>
                        <a:bodyPr/>
                        <a:lstStyle/>
                        <a:p>
                          <a:pPr marL="0" marR="0">
                            <a:spcBef>
                              <a:spcPts val="0"/>
                            </a:spcBef>
                            <a:spcAft>
                              <a:spcPts val="0"/>
                            </a:spcAft>
                          </a:pPr>
                          <a:r>
                            <a:rPr lang="en-US" sz="2000">
                              <a:effectLst/>
                            </a:rPr>
                            <a:t>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0.033</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0.1427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3375033532"/>
                      </a:ext>
                    </a:extLst>
                  </a:tr>
                  <a:tr h="376019">
                    <a:tc>
                      <a:txBody>
                        <a:bodyPr/>
                        <a:lstStyle/>
                        <a:p>
                          <a:pPr marL="0" marR="0">
                            <a:spcBef>
                              <a:spcPts val="0"/>
                            </a:spcBef>
                            <a:spcAft>
                              <a:spcPts val="0"/>
                            </a:spcAft>
                          </a:pPr>
                          <a:r>
                            <a:rPr lang="en-US" sz="2000">
                              <a:effectLst/>
                            </a:rPr>
                            <a:t>200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0.0212</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a:effectLst/>
                              <a:highlight>
                                <a:srgbClr val="FFFF00"/>
                              </a:highlight>
                            </a:rPr>
                            <a:t>0</a:t>
                          </a:r>
                          <a:endParaRPr lang="en-US" sz="20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tc>
                      <a:txBody>
                        <a:bodyPr/>
                        <a:lstStyle/>
                        <a:p>
                          <a:pPr marL="0" marR="0">
                            <a:spcBef>
                              <a:spcPts val="0"/>
                            </a:spcBef>
                            <a:spcAft>
                              <a:spcPts val="0"/>
                            </a:spcAft>
                          </a:pPr>
                          <a:r>
                            <a:rPr lang="en-US" sz="2000" dirty="0">
                              <a:effectLst/>
                              <a:highlight>
                                <a:srgbClr val="FFFF00"/>
                              </a:highlight>
                            </a:rPr>
                            <a:t>0.0912</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2740" marR="52740" marT="0" marB="0"/>
                    </a:tc>
                    <a:extLst>
                      <a:ext uri="{0D108BD9-81ED-4DB2-BD59-A6C34878D82A}">
                        <a16:rowId xmlns:a16="http://schemas.microsoft.com/office/drawing/2014/main" val="3480040132"/>
                      </a:ext>
                    </a:extLst>
                  </a:tr>
                  <a:tr h="376019">
                    <a:tc>
                      <a:txBody>
                        <a:bodyPr/>
                        <a:lstStyle/>
                        <a:p>
                          <a:endParaRPr lang="en-US" sz="2000">
                            <a:effectLst/>
                            <a:latin typeface="Times New Roman" panose="02020603050405020304" pitchFamily="18" charset="0"/>
                          </a:endParaRPr>
                        </a:p>
                      </a:txBody>
                      <a:tcPr marL="52740" marR="52740" marT="0" marB="0"/>
                    </a:tc>
                    <a:tc>
                      <a:txBody>
                        <a:bodyPr/>
                        <a:lstStyle/>
                        <a:p>
                          <a:endParaRPr lang="en-US"/>
                        </a:p>
                      </a:txBody>
                      <a:tcPr marL="52740" marR="52740" marT="0" marB="0">
                        <a:blipFill>
                          <a:blip r:embed="rId3"/>
                          <a:stretch>
                            <a:fillRect l="-48327" t="-1598387" r="-270632" b="-20968"/>
                          </a:stretch>
                        </a:blipFill>
                      </a:tcPr>
                    </a:tc>
                    <a:tc>
                      <a:txBody>
                        <a:bodyPr/>
                        <a:lstStyle/>
                        <a:p>
                          <a:endParaRPr lang="en-US"/>
                        </a:p>
                      </a:txBody>
                      <a:tcPr marL="52740" marR="52740" marT="0" marB="0">
                        <a:blipFill>
                          <a:blip r:embed="rId3"/>
                          <a:stretch>
                            <a:fillRect l="-118047" t="-1598387" r="-115385" b="-20968"/>
                          </a:stretch>
                        </a:blipFill>
                      </a:tcPr>
                    </a:tc>
                    <a:tc>
                      <a:txBody>
                        <a:bodyPr/>
                        <a:lstStyle/>
                        <a:p>
                          <a:endParaRPr lang="en-US"/>
                        </a:p>
                      </a:txBody>
                      <a:tcPr marL="52740" marR="52740" marT="0" marB="0">
                        <a:blipFill>
                          <a:blip r:embed="rId3"/>
                          <a:stretch>
                            <a:fillRect l="-190933" t="-1598387" r="-1036" b="-20968"/>
                          </a:stretch>
                        </a:blipFill>
                      </a:tcPr>
                    </a:tc>
                    <a:extLst>
                      <a:ext uri="{0D108BD9-81ED-4DB2-BD59-A6C34878D82A}">
                        <a16:rowId xmlns:a16="http://schemas.microsoft.com/office/drawing/2014/main" val="230421508"/>
                      </a:ext>
                    </a:extLst>
                  </a:tr>
                </a:tbl>
              </a:graphicData>
            </a:graphic>
          </p:graphicFrame>
        </mc:Fallback>
      </mc:AlternateContent>
      <p:sp>
        <p:nvSpPr>
          <p:cNvPr id="12" name="TextBox 11">
            <a:extLst>
              <a:ext uri="{FF2B5EF4-FFF2-40B4-BE49-F238E27FC236}">
                <a16:creationId xmlns:a16="http://schemas.microsoft.com/office/drawing/2014/main" id="{05C72526-7E05-36CF-28BE-58A42410775A}"/>
              </a:ext>
            </a:extLst>
          </p:cNvPr>
          <p:cNvSpPr txBox="1"/>
          <p:nvPr/>
        </p:nvSpPr>
        <p:spPr>
          <a:xfrm>
            <a:off x="9267184" y="1373189"/>
            <a:ext cx="10073898" cy="646331"/>
          </a:xfrm>
          <a:prstGeom prst="rect">
            <a:avLst/>
          </a:prstGeom>
          <a:noFill/>
        </p:spPr>
        <p:txBody>
          <a:bodyPr wrap="square">
            <a:spAutoFit/>
          </a:bodyPr>
          <a:lstStyle/>
          <a:p>
            <a:pPr algn="just">
              <a:spcBef>
                <a:spcPts val="0"/>
              </a:spcBef>
              <a:spcAft>
                <a:spcPts val="0"/>
              </a:spcAft>
            </a:pPr>
            <a:r>
              <a:rPr lang="en-US" sz="1800" b="1" dirty="0">
                <a:effectLst/>
                <a:latin typeface="Times New Roman" panose="02020603050405020304" pitchFamily="18" charset="0"/>
                <a:ea typeface="Times New Roman" panose="02020603050405020304" pitchFamily="18" charset="0"/>
              </a:rPr>
              <a:t>Determine the effectiveness of the screen taking under size as product. </a:t>
            </a:r>
            <a:r>
              <a:rPr lang="en-US" sz="1800" b="1" dirty="0">
                <a:solidFill>
                  <a:srgbClr val="FF0000"/>
                </a:solidFill>
                <a:effectLst/>
                <a:latin typeface="Times New Roman" panose="02020603050405020304" pitchFamily="18" charset="0"/>
                <a:ea typeface="Times New Roman" panose="02020603050405020304" pitchFamily="18" charset="0"/>
              </a:rPr>
              <a:t>Given: (48 mesh screen). </a:t>
            </a:r>
          </a:p>
          <a:p>
            <a:pPr marL="0" marR="0" algn="just">
              <a:spcBef>
                <a:spcPts val="0"/>
              </a:spcBef>
              <a:spcAft>
                <a:spcPts val="0"/>
              </a:spcAft>
            </a:pPr>
            <a:r>
              <a:rPr lang="en-US" sz="1800" b="1" dirty="0">
                <a:effectLst/>
                <a:latin typeface="Times New Roman" panose="02020603050405020304" pitchFamily="18" charset="0"/>
                <a:ea typeface="Times New Roman" panose="02020603050405020304" pitchFamily="18" charset="0"/>
              </a:rPr>
              <a:t>Method 1: Considering cumulative fraction from top.</a:t>
            </a:r>
            <a:r>
              <a:rPr lang="en-US" sz="1800" b="1" dirty="0">
                <a:solidFill>
                  <a:srgbClr val="FF0000"/>
                </a:solidFill>
                <a:effectLst/>
                <a:latin typeface="Times New Roman" panose="02020603050405020304" pitchFamily="18" charset="0"/>
                <a:ea typeface="Times New Roman" panose="02020603050405020304" pitchFamily="18" charset="0"/>
              </a:rPr>
              <a:t> </a:t>
            </a:r>
            <a:endParaRPr lang="en-US" sz="1800" b="1" dirty="0">
              <a:solidFill>
                <a:srgbClr val="C00000"/>
              </a:solidFill>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55D51640-5EC8-BAB1-5289-69403AA97437}"/>
                  </a:ext>
                </a:extLst>
              </p:cNvPr>
              <p:cNvGraphicFramePr>
                <a:graphicFrameLocks noGrp="1"/>
              </p:cNvGraphicFramePr>
              <p:nvPr>
                <p:extLst>
                  <p:ext uri="{D42A27DB-BD31-4B8C-83A1-F6EECF244321}">
                    <p14:modId xmlns:p14="http://schemas.microsoft.com/office/powerpoint/2010/main" val="3449709655"/>
                  </p:ext>
                </p:extLst>
              </p:nvPr>
            </p:nvGraphicFramePr>
            <p:xfrm>
              <a:off x="9262807" y="2092948"/>
              <a:ext cx="10635853" cy="6294036"/>
            </p:xfrm>
            <a:graphic>
              <a:graphicData uri="http://schemas.openxmlformats.org/drawingml/2006/table">
                <a:tbl>
                  <a:tblPr firstRow="1" firstCol="1" bandRow="1">
                    <a:tableStyleId>{5C22544A-7EE6-4342-B048-85BDC9FD1C3A}</a:tableStyleId>
                  </a:tblPr>
                  <a:tblGrid>
                    <a:gridCol w="1139341">
                      <a:extLst>
                        <a:ext uri="{9D8B030D-6E8A-4147-A177-3AD203B41FA5}">
                          <a16:colId xmlns:a16="http://schemas.microsoft.com/office/drawing/2014/main" val="1558002954"/>
                        </a:ext>
                      </a:extLst>
                    </a:gridCol>
                    <a:gridCol w="1134555">
                      <a:extLst>
                        <a:ext uri="{9D8B030D-6E8A-4147-A177-3AD203B41FA5}">
                          <a16:colId xmlns:a16="http://schemas.microsoft.com/office/drawing/2014/main" val="4159810063"/>
                        </a:ext>
                      </a:extLst>
                    </a:gridCol>
                    <a:gridCol w="1174048">
                      <a:extLst>
                        <a:ext uri="{9D8B030D-6E8A-4147-A177-3AD203B41FA5}">
                          <a16:colId xmlns:a16="http://schemas.microsoft.com/office/drawing/2014/main" val="3524586890"/>
                        </a:ext>
                      </a:extLst>
                    </a:gridCol>
                    <a:gridCol w="1095062">
                      <a:extLst>
                        <a:ext uri="{9D8B030D-6E8A-4147-A177-3AD203B41FA5}">
                          <a16:colId xmlns:a16="http://schemas.microsoft.com/office/drawing/2014/main" val="4108594073"/>
                        </a:ext>
                      </a:extLst>
                    </a:gridCol>
                    <a:gridCol w="2078820">
                      <a:extLst>
                        <a:ext uri="{9D8B030D-6E8A-4147-A177-3AD203B41FA5}">
                          <a16:colId xmlns:a16="http://schemas.microsoft.com/office/drawing/2014/main" val="363072755"/>
                        </a:ext>
                      </a:extLst>
                    </a:gridCol>
                    <a:gridCol w="1902895">
                      <a:extLst>
                        <a:ext uri="{9D8B030D-6E8A-4147-A177-3AD203B41FA5}">
                          <a16:colId xmlns:a16="http://schemas.microsoft.com/office/drawing/2014/main" val="163023035"/>
                        </a:ext>
                      </a:extLst>
                    </a:gridCol>
                    <a:gridCol w="2111132">
                      <a:extLst>
                        <a:ext uri="{9D8B030D-6E8A-4147-A177-3AD203B41FA5}">
                          <a16:colId xmlns:a16="http://schemas.microsoft.com/office/drawing/2014/main" val="663371535"/>
                        </a:ext>
                      </a:extLst>
                    </a:gridCol>
                  </a:tblGrid>
                  <a:tr h="1409012">
                    <a:tc>
                      <a:txBody>
                        <a:bodyPr/>
                        <a:lstStyle/>
                        <a:p>
                          <a:pPr marL="0" marR="0" algn="ctr">
                            <a:spcBef>
                              <a:spcPts val="0"/>
                            </a:spcBef>
                            <a:spcAft>
                              <a:spcPts val="0"/>
                            </a:spcAft>
                          </a:pPr>
                          <a:r>
                            <a:rPr lang="en-US" sz="2000">
                              <a:effectLst/>
                            </a:rPr>
                            <a:t>Mesh Number</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Mass Fraction Feed</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Mass Fraction in Oversize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Mass fraction in under 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Cummulative mass Fraction Feed</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err="1">
                              <a:effectLst/>
                            </a:rPr>
                            <a:t>Cummulative</a:t>
                          </a:r>
                          <a:r>
                            <a:rPr lang="en-US" sz="2000" dirty="0">
                              <a:effectLst/>
                            </a:rPr>
                            <a:t> Mass Fraction in Oversize</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Cummulative Mass fraction in under 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2972912575"/>
                      </a:ext>
                    </a:extLst>
                  </a:tr>
                  <a:tr h="299942">
                    <a:tc>
                      <a:txBody>
                        <a:bodyPr/>
                        <a:lstStyle/>
                        <a:p>
                          <a:pPr marL="0" marR="0" algn="ctr">
                            <a:spcBef>
                              <a:spcPts val="0"/>
                            </a:spcBef>
                            <a:spcAft>
                              <a:spcPts val="0"/>
                            </a:spcAft>
                          </a:pPr>
                          <a:r>
                            <a:rPr lang="en-US" sz="2000">
                              <a:effectLst/>
                            </a:rPr>
                            <a:t>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435487655"/>
                      </a:ext>
                    </a:extLst>
                  </a:tr>
                  <a:tr h="299942">
                    <a:tc>
                      <a:txBody>
                        <a:bodyPr/>
                        <a:lstStyle/>
                        <a:p>
                          <a:pPr marL="0" marR="0" algn="ctr">
                            <a:spcBef>
                              <a:spcPts val="0"/>
                            </a:spcBef>
                            <a:spcAft>
                              <a:spcPts val="0"/>
                            </a:spcAft>
                          </a:pPr>
                          <a:r>
                            <a:rPr lang="en-US" sz="2000">
                              <a:effectLst/>
                            </a:rPr>
                            <a:t>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0.0235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0.0342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96623584"/>
                      </a:ext>
                    </a:extLst>
                  </a:tr>
                  <a:tr h="299942">
                    <a:tc>
                      <a:txBody>
                        <a:bodyPr/>
                        <a:lstStyle/>
                        <a:p>
                          <a:pPr marL="0" marR="0" algn="ctr">
                            <a:spcBef>
                              <a:spcPts val="0"/>
                            </a:spcBef>
                            <a:spcAft>
                              <a:spcPts val="0"/>
                            </a:spcAft>
                          </a:pPr>
                          <a:r>
                            <a:rPr lang="en-US" sz="2000">
                              <a:effectLst/>
                            </a:rPr>
                            <a:t>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0.0672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0.139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398631253"/>
                      </a:ext>
                    </a:extLst>
                  </a:tr>
                  <a:tr h="299942">
                    <a:tc>
                      <a:txBody>
                        <a:bodyPr/>
                        <a:lstStyle/>
                        <a:p>
                          <a:pPr marL="0" marR="0" algn="ctr">
                            <a:spcBef>
                              <a:spcPts val="0"/>
                            </a:spcBef>
                            <a:spcAft>
                              <a:spcPts val="0"/>
                            </a:spcAft>
                          </a:pPr>
                          <a:r>
                            <a:rPr lang="en-US" sz="2000">
                              <a:effectLst/>
                            </a:rPr>
                            <a:t>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0.0864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0.1878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924342118"/>
                      </a:ext>
                    </a:extLst>
                  </a:tr>
                  <a:tr h="299942">
                    <a:tc>
                      <a:txBody>
                        <a:bodyPr/>
                        <a:lstStyle/>
                        <a:p>
                          <a:pPr marL="0" marR="0" algn="ctr">
                            <a:spcBef>
                              <a:spcPts val="0"/>
                            </a:spcBef>
                            <a:spcAft>
                              <a:spcPts val="0"/>
                            </a:spcAft>
                          </a:pPr>
                          <a:r>
                            <a:rPr lang="en-US" sz="2000">
                              <a:effectLst/>
                            </a:rPr>
                            <a:t>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0.1087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0.2965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0.393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838012887"/>
                      </a:ext>
                    </a:extLst>
                  </a:tr>
                  <a:tr h="299942">
                    <a:tc>
                      <a:txBody>
                        <a:bodyPr/>
                        <a:lstStyle/>
                        <a:p>
                          <a:pPr marL="0" marR="0" algn="ctr">
                            <a:spcBef>
                              <a:spcPts val="0"/>
                            </a:spcBef>
                            <a:spcAft>
                              <a:spcPts val="0"/>
                            </a:spcAft>
                          </a:pPr>
                          <a:r>
                            <a:rPr lang="en-US" sz="2000">
                              <a:effectLst/>
                            </a:rPr>
                            <a:t>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0.1759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0.229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0.4724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0.622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2828961019"/>
                      </a:ext>
                    </a:extLst>
                  </a:tr>
                  <a:tr h="299942">
                    <a:tc>
                      <a:txBody>
                        <a:bodyPr/>
                        <a:lstStyle/>
                        <a:p>
                          <a:pPr marL="0" marR="0" algn="ctr">
                            <a:spcBef>
                              <a:spcPts val="0"/>
                            </a:spcBef>
                            <a:spcAft>
                              <a:spcPts val="0"/>
                            </a:spcAft>
                          </a:pPr>
                          <a:r>
                            <a:rPr lang="en-US" sz="2000">
                              <a:effectLst/>
                            </a:rPr>
                            <a:t>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0.1397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0.182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0.6121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0.804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3620692656"/>
                      </a:ext>
                    </a:extLst>
                  </a:tr>
                  <a:tr h="299942">
                    <a:tc>
                      <a:txBody>
                        <a:bodyPr/>
                        <a:lstStyle/>
                        <a:p>
                          <a:pPr marL="0" marR="0" algn="ctr">
                            <a:spcBef>
                              <a:spcPts val="0"/>
                            </a:spcBef>
                            <a:spcAft>
                              <a:spcPts val="0"/>
                            </a:spcAft>
                          </a:pPr>
                          <a:r>
                            <a:rPr lang="en-US" sz="2000">
                              <a:effectLst/>
                            </a:rPr>
                            <a:t>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0.7198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0.908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3925330646"/>
                      </a:ext>
                    </a:extLst>
                  </a:tr>
                  <a:tr h="299942">
                    <a:tc>
                      <a:txBody>
                        <a:bodyPr/>
                        <a:lstStyle/>
                        <a:p>
                          <a:pPr marL="0" marR="0" algn="ctr">
                            <a:spcBef>
                              <a:spcPts val="0"/>
                            </a:spcBef>
                            <a:spcAft>
                              <a:spcPts val="0"/>
                            </a:spcAft>
                          </a:pPr>
                          <a:r>
                            <a:rPr lang="en-US" sz="2000">
                              <a:effectLst/>
                            </a:rPr>
                            <a:t>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0.1013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a:effectLst/>
                              <a:highlight>
                                <a:srgbClr val="FFFF00"/>
                              </a:highlight>
                            </a:rPr>
                            <a:t>0.8211</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a:effectLst/>
                              <a:highlight>
                                <a:srgbClr val="FFFF00"/>
                              </a:highlight>
                            </a:rPr>
                            <a:t>0.973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a:effectLst/>
                              <a:highlight>
                                <a:srgbClr val="FFFF00"/>
                              </a:highlight>
                            </a:rPr>
                            <a:t>0.3393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844493625"/>
                      </a:ext>
                    </a:extLst>
                  </a:tr>
                  <a:tr h="299942">
                    <a:tc>
                      <a:txBody>
                        <a:bodyPr/>
                        <a:lstStyle/>
                        <a:p>
                          <a:pPr marL="0" marR="0" algn="ctr">
                            <a:spcBef>
                              <a:spcPts val="0"/>
                            </a:spcBef>
                            <a:spcAft>
                              <a:spcPts val="0"/>
                            </a:spcAft>
                          </a:pPr>
                          <a:r>
                            <a:rPr lang="en-US" sz="2000">
                              <a:effectLst/>
                            </a:rPr>
                            <a:t>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0.0746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0.025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0.2391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0.8957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a:effectLst/>
                            </a:rPr>
                            <a:t>0.5784</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079453667"/>
                      </a:ext>
                    </a:extLst>
                  </a:tr>
                  <a:tr h="299942">
                    <a:tc>
                      <a:txBody>
                        <a:bodyPr/>
                        <a:lstStyle/>
                        <a:p>
                          <a:pPr marL="0" marR="0" algn="ctr">
                            <a:spcBef>
                              <a:spcPts val="0"/>
                            </a:spcBef>
                            <a:spcAft>
                              <a:spcPts val="0"/>
                            </a:spcAft>
                          </a:pPr>
                          <a:r>
                            <a:rPr lang="en-US" sz="2000">
                              <a:effectLst/>
                            </a:rPr>
                            <a:t>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0.002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0.1877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0.9467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0.7661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993327152"/>
                      </a:ext>
                    </a:extLst>
                  </a:tr>
                  <a:tr h="299942">
                    <a:tc>
                      <a:txBody>
                        <a:bodyPr/>
                        <a:lstStyle/>
                        <a:p>
                          <a:pPr marL="0" marR="0" algn="ctr">
                            <a:spcBef>
                              <a:spcPts val="0"/>
                            </a:spcBef>
                            <a:spcAft>
                              <a:spcPts val="0"/>
                            </a:spcAft>
                          </a:pPr>
                          <a:r>
                            <a:rPr lang="en-US" sz="2000">
                              <a:effectLst/>
                            </a:rPr>
                            <a:t>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0.1427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0.9797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678316159"/>
                      </a:ext>
                    </a:extLst>
                  </a:tr>
                  <a:tr h="299942">
                    <a:tc>
                      <a:txBody>
                        <a:bodyPr/>
                        <a:lstStyle/>
                        <a:p>
                          <a:pPr marL="0" marR="0" algn="ctr">
                            <a:spcBef>
                              <a:spcPts val="0"/>
                            </a:spcBef>
                            <a:spcAft>
                              <a:spcPts val="0"/>
                            </a:spcAft>
                          </a:pPr>
                          <a:r>
                            <a:rPr lang="en-US" sz="2000">
                              <a:effectLst/>
                            </a:rPr>
                            <a:t>200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0.0212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0.0912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1.0009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2704092446"/>
                      </a:ext>
                    </a:extLst>
                  </a:tr>
                  <a:tr h="299942">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extLst>
                      <a:ext uri="{0D108BD9-81ED-4DB2-BD59-A6C34878D82A}">
                        <a16:rowId xmlns:a16="http://schemas.microsoft.com/office/drawing/2014/main" val="102446281"/>
                      </a:ext>
                    </a:extLst>
                  </a:tr>
                  <a:tr h="617824">
                    <a:tc gridSpan="4">
                      <a:txBody>
                        <a:bodyPr/>
                        <a:lstStyle/>
                        <a:p>
                          <a:pPr marL="0" marR="0" algn="ctr">
                            <a:spcBef>
                              <a:spcPts val="0"/>
                            </a:spcBef>
                            <a:spcAft>
                              <a:spcPts val="0"/>
                            </a:spcAft>
                          </a:pPr>
                          <a:r>
                            <a:rPr lang="en-US" sz="2000">
                              <a:effectLst/>
                            </a:rPr>
                            <a:t>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𝐴</m:t>
                                  </m:r>
                                </m:sub>
                              </m:sSub>
                              <m:r>
                                <a:rPr lang="en-US" sz="2000">
                                  <a:effectLst/>
                                  <a:highlight>
                                    <a:srgbClr val="FFFF00"/>
                                  </a:highlight>
                                  <a:latin typeface="Cambria Math" panose="02040503050406030204" pitchFamily="18" charset="0"/>
                                </a:rPr>
                                <m:t>=1−0.8211= </m:t>
                              </m:r>
                            </m:oMath>
                          </a14:m>
                          <a:r>
                            <a:rPr lang="en-US" sz="2000" dirty="0">
                              <a:effectLst/>
                              <a:highlight>
                                <a:srgbClr val="FFFF00"/>
                              </a:highlight>
                            </a:rPr>
                            <a:t>0.1789</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𝐵</m:t>
                                  </m:r>
                                </m:sub>
                              </m:sSub>
                              <m:r>
                                <a:rPr lang="en-US" sz="2000">
                                  <a:effectLst/>
                                  <a:highlight>
                                    <a:srgbClr val="FFFF00"/>
                                  </a:highlight>
                                  <a:latin typeface="Cambria Math" panose="02040503050406030204" pitchFamily="18" charset="0"/>
                                </a:rPr>
                                <m:t>=1−0.973= </m:t>
                              </m:r>
                            </m:oMath>
                          </a14:m>
                          <a:r>
                            <a:rPr lang="en-US" sz="2000" dirty="0">
                              <a:effectLst/>
                              <a:highlight>
                                <a:srgbClr val="FFFF00"/>
                              </a:highlight>
                            </a:rPr>
                            <a:t>0.027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14:m>
                            <m:oMath xmlns:m="http://schemas.openxmlformats.org/officeDocument/2006/math">
                              <m:sSub>
                                <m:sSubPr>
                                  <m:ctrlPr>
                                    <a:rPr lang="en-US" sz="2000" i="1">
                                      <a:effectLst/>
                                      <a:highlight>
                                        <a:srgbClr val="FFFF00"/>
                                      </a:highlight>
                                      <a:latin typeface="Cambria Math" panose="02040503050406030204" pitchFamily="18" charset="0"/>
                                    </a:rPr>
                                  </m:ctrlPr>
                                </m:sSubPr>
                                <m:e>
                                  <m:r>
                                    <a:rPr lang="en-US" sz="2000">
                                      <a:effectLst/>
                                      <a:highlight>
                                        <a:srgbClr val="FFFF00"/>
                                      </a:highlight>
                                      <a:latin typeface="Cambria Math" panose="02040503050406030204" pitchFamily="18" charset="0"/>
                                    </a:rPr>
                                    <m:t>𝑥</m:t>
                                  </m:r>
                                </m:e>
                                <m:sub>
                                  <m:r>
                                    <a:rPr lang="en-US" sz="2000">
                                      <a:effectLst/>
                                      <a:highlight>
                                        <a:srgbClr val="FFFF00"/>
                                      </a:highlight>
                                      <a:latin typeface="Cambria Math" panose="02040503050406030204" pitchFamily="18" charset="0"/>
                                    </a:rPr>
                                    <m:t>𝑐</m:t>
                                  </m:r>
                                </m:sub>
                              </m:sSub>
                              <m:r>
                                <a:rPr lang="en-US" sz="2000">
                                  <a:effectLst/>
                                  <a:highlight>
                                    <a:srgbClr val="FFFF00"/>
                                  </a:highlight>
                                  <a:latin typeface="Cambria Math" panose="02040503050406030204" pitchFamily="18" charset="0"/>
                                </a:rPr>
                                <m:t>=1−0.3393=  </m:t>
                              </m:r>
                            </m:oMath>
                          </a14:m>
                          <a:r>
                            <a:rPr lang="en-US" sz="2000" dirty="0">
                              <a:effectLst/>
                              <a:highlight>
                                <a:srgbClr val="FFFF00"/>
                              </a:highlight>
                            </a:rPr>
                            <a:t>0.6607</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340556651"/>
                      </a:ext>
                    </a:extLst>
                  </a:tr>
                </a:tbl>
              </a:graphicData>
            </a:graphic>
          </p:graphicFrame>
        </mc:Choice>
        <mc:Fallback xmlns="">
          <p:graphicFrame>
            <p:nvGraphicFramePr>
              <p:cNvPr id="13" name="Table 12">
                <a:extLst>
                  <a:ext uri="{FF2B5EF4-FFF2-40B4-BE49-F238E27FC236}">
                    <a16:creationId xmlns:a16="http://schemas.microsoft.com/office/drawing/2014/main" id="{55D51640-5EC8-BAB1-5289-69403AA97437}"/>
                  </a:ext>
                </a:extLst>
              </p:cNvPr>
              <p:cNvGraphicFramePr>
                <a:graphicFrameLocks noGrp="1"/>
              </p:cNvGraphicFramePr>
              <p:nvPr>
                <p:extLst>
                  <p:ext uri="{D42A27DB-BD31-4B8C-83A1-F6EECF244321}">
                    <p14:modId xmlns:p14="http://schemas.microsoft.com/office/powerpoint/2010/main" val="3449709655"/>
                  </p:ext>
                </p:extLst>
              </p:nvPr>
            </p:nvGraphicFramePr>
            <p:xfrm>
              <a:off x="9262807" y="2092948"/>
              <a:ext cx="10635853" cy="6294036"/>
            </p:xfrm>
            <a:graphic>
              <a:graphicData uri="http://schemas.openxmlformats.org/drawingml/2006/table">
                <a:tbl>
                  <a:tblPr firstRow="1" firstCol="1" bandRow="1">
                    <a:tableStyleId>{5C22544A-7EE6-4342-B048-85BDC9FD1C3A}</a:tableStyleId>
                  </a:tblPr>
                  <a:tblGrid>
                    <a:gridCol w="1139341">
                      <a:extLst>
                        <a:ext uri="{9D8B030D-6E8A-4147-A177-3AD203B41FA5}">
                          <a16:colId xmlns:a16="http://schemas.microsoft.com/office/drawing/2014/main" val="1558002954"/>
                        </a:ext>
                      </a:extLst>
                    </a:gridCol>
                    <a:gridCol w="1134555">
                      <a:extLst>
                        <a:ext uri="{9D8B030D-6E8A-4147-A177-3AD203B41FA5}">
                          <a16:colId xmlns:a16="http://schemas.microsoft.com/office/drawing/2014/main" val="4159810063"/>
                        </a:ext>
                      </a:extLst>
                    </a:gridCol>
                    <a:gridCol w="1174048">
                      <a:extLst>
                        <a:ext uri="{9D8B030D-6E8A-4147-A177-3AD203B41FA5}">
                          <a16:colId xmlns:a16="http://schemas.microsoft.com/office/drawing/2014/main" val="3524586890"/>
                        </a:ext>
                      </a:extLst>
                    </a:gridCol>
                    <a:gridCol w="1095062">
                      <a:extLst>
                        <a:ext uri="{9D8B030D-6E8A-4147-A177-3AD203B41FA5}">
                          <a16:colId xmlns:a16="http://schemas.microsoft.com/office/drawing/2014/main" val="4108594073"/>
                        </a:ext>
                      </a:extLst>
                    </a:gridCol>
                    <a:gridCol w="2078820">
                      <a:extLst>
                        <a:ext uri="{9D8B030D-6E8A-4147-A177-3AD203B41FA5}">
                          <a16:colId xmlns:a16="http://schemas.microsoft.com/office/drawing/2014/main" val="363072755"/>
                        </a:ext>
                      </a:extLst>
                    </a:gridCol>
                    <a:gridCol w="1902895">
                      <a:extLst>
                        <a:ext uri="{9D8B030D-6E8A-4147-A177-3AD203B41FA5}">
                          <a16:colId xmlns:a16="http://schemas.microsoft.com/office/drawing/2014/main" val="163023035"/>
                        </a:ext>
                      </a:extLst>
                    </a:gridCol>
                    <a:gridCol w="2111132">
                      <a:extLst>
                        <a:ext uri="{9D8B030D-6E8A-4147-A177-3AD203B41FA5}">
                          <a16:colId xmlns:a16="http://schemas.microsoft.com/office/drawing/2014/main" val="663371535"/>
                        </a:ext>
                      </a:extLst>
                    </a:gridCol>
                  </a:tblGrid>
                  <a:tr h="1409012">
                    <a:tc>
                      <a:txBody>
                        <a:bodyPr/>
                        <a:lstStyle/>
                        <a:p>
                          <a:pPr marL="0" marR="0" algn="ctr">
                            <a:spcBef>
                              <a:spcPts val="0"/>
                            </a:spcBef>
                            <a:spcAft>
                              <a:spcPts val="0"/>
                            </a:spcAft>
                          </a:pPr>
                          <a:r>
                            <a:rPr lang="en-US" sz="2000">
                              <a:effectLst/>
                            </a:rPr>
                            <a:t>Mesh Number</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Mass Fraction Feed</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Mass Fraction in Oversize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Mass fraction in under 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Cummulative mass Fraction Feed</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err="1">
                              <a:effectLst/>
                            </a:rPr>
                            <a:t>Cummulative</a:t>
                          </a:r>
                          <a:r>
                            <a:rPr lang="en-US" sz="2000" dirty="0">
                              <a:effectLst/>
                            </a:rPr>
                            <a:t> Mass Fraction in Oversize</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Cummulative Mass fraction in under size</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2972912575"/>
                      </a:ext>
                    </a:extLst>
                  </a:tr>
                  <a:tr h="304800">
                    <a:tc>
                      <a:txBody>
                        <a:bodyPr/>
                        <a:lstStyle/>
                        <a:p>
                          <a:pPr marL="0" marR="0" algn="ctr">
                            <a:spcBef>
                              <a:spcPts val="0"/>
                            </a:spcBef>
                            <a:spcAft>
                              <a:spcPts val="0"/>
                            </a:spcAft>
                          </a:pPr>
                          <a:r>
                            <a:rPr lang="en-US" sz="2000">
                              <a:effectLst/>
                            </a:rPr>
                            <a:t>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0.0107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0.018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435487655"/>
                      </a:ext>
                    </a:extLst>
                  </a:tr>
                  <a:tr h="304800">
                    <a:tc>
                      <a:txBody>
                        <a:bodyPr/>
                        <a:lstStyle/>
                        <a:p>
                          <a:pPr marL="0" marR="0" algn="ctr">
                            <a:spcBef>
                              <a:spcPts val="0"/>
                            </a:spcBef>
                            <a:spcAft>
                              <a:spcPts val="0"/>
                            </a:spcAft>
                          </a:pPr>
                          <a:r>
                            <a:rPr lang="en-US" sz="2000">
                              <a:effectLst/>
                            </a:rPr>
                            <a:t>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0.0235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0.0342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96623584"/>
                      </a:ext>
                    </a:extLst>
                  </a:tr>
                  <a:tr h="304800">
                    <a:tc>
                      <a:txBody>
                        <a:bodyPr/>
                        <a:lstStyle/>
                        <a:p>
                          <a:pPr marL="0" marR="0" algn="ctr">
                            <a:spcBef>
                              <a:spcPts val="0"/>
                            </a:spcBef>
                            <a:spcAft>
                              <a:spcPts val="0"/>
                            </a:spcAft>
                          </a:pPr>
                          <a:r>
                            <a:rPr lang="en-US" sz="2000">
                              <a:effectLst/>
                            </a:rPr>
                            <a:t>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0.0672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0.139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398631253"/>
                      </a:ext>
                    </a:extLst>
                  </a:tr>
                  <a:tr h="304800">
                    <a:tc>
                      <a:txBody>
                        <a:bodyPr/>
                        <a:lstStyle/>
                        <a:p>
                          <a:pPr marL="0" marR="0" algn="ctr">
                            <a:spcBef>
                              <a:spcPts val="0"/>
                            </a:spcBef>
                            <a:spcAft>
                              <a:spcPts val="0"/>
                            </a:spcAft>
                          </a:pPr>
                          <a:r>
                            <a:rPr lang="en-US" sz="2000">
                              <a:effectLst/>
                            </a:rPr>
                            <a:t>10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0.0864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0.1878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924342118"/>
                      </a:ext>
                    </a:extLst>
                  </a:tr>
                  <a:tr h="304800">
                    <a:tc>
                      <a:txBody>
                        <a:bodyPr/>
                        <a:lstStyle/>
                        <a:p>
                          <a:pPr marL="0" marR="0" algn="ctr">
                            <a:spcBef>
                              <a:spcPts val="0"/>
                            </a:spcBef>
                            <a:spcAft>
                              <a:spcPts val="0"/>
                            </a:spcAft>
                          </a:pPr>
                          <a:r>
                            <a:rPr lang="en-US" sz="2000">
                              <a:effectLst/>
                            </a:rPr>
                            <a:t>14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0.1087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0.142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0.2965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0.393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838012887"/>
                      </a:ext>
                    </a:extLst>
                  </a:tr>
                  <a:tr h="304800">
                    <a:tc>
                      <a:txBody>
                        <a:bodyPr/>
                        <a:lstStyle/>
                        <a:p>
                          <a:pPr marL="0" marR="0" algn="ctr">
                            <a:spcBef>
                              <a:spcPts val="0"/>
                            </a:spcBef>
                            <a:spcAft>
                              <a:spcPts val="0"/>
                            </a:spcAft>
                          </a:pPr>
                          <a:r>
                            <a:rPr lang="en-US" sz="2000">
                              <a:effectLst/>
                            </a:rPr>
                            <a:t>20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0.1759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0.229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0.4724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0.622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2828961019"/>
                      </a:ext>
                    </a:extLst>
                  </a:tr>
                  <a:tr h="304800">
                    <a:tc>
                      <a:txBody>
                        <a:bodyPr/>
                        <a:lstStyle/>
                        <a:p>
                          <a:pPr marL="0" marR="0" algn="ctr">
                            <a:spcBef>
                              <a:spcPts val="0"/>
                            </a:spcBef>
                            <a:spcAft>
                              <a:spcPts val="0"/>
                            </a:spcAft>
                          </a:pPr>
                          <a:r>
                            <a:rPr lang="en-US" sz="2000">
                              <a:effectLst/>
                            </a:rPr>
                            <a:t>28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0.1397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0.182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0.6121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0.804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3620692656"/>
                      </a:ext>
                    </a:extLst>
                  </a:tr>
                  <a:tr h="304800">
                    <a:tc>
                      <a:txBody>
                        <a:bodyPr/>
                        <a:lstStyle/>
                        <a:p>
                          <a:pPr marL="0" marR="0" algn="ctr">
                            <a:spcBef>
                              <a:spcPts val="0"/>
                            </a:spcBef>
                            <a:spcAft>
                              <a:spcPts val="0"/>
                            </a:spcAft>
                          </a:pPr>
                          <a:r>
                            <a:rPr lang="en-US" sz="2000">
                              <a:effectLst/>
                            </a:rPr>
                            <a:t>35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0.104</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0.7198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0.908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0.1195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3925330646"/>
                      </a:ext>
                    </a:extLst>
                  </a:tr>
                  <a:tr h="304800">
                    <a:tc>
                      <a:txBody>
                        <a:bodyPr/>
                        <a:lstStyle/>
                        <a:p>
                          <a:pPr marL="0" marR="0" algn="ctr">
                            <a:spcBef>
                              <a:spcPts val="0"/>
                            </a:spcBef>
                            <a:spcAft>
                              <a:spcPts val="0"/>
                            </a:spcAft>
                          </a:pPr>
                          <a:r>
                            <a:rPr lang="en-US" sz="2000">
                              <a:effectLst/>
                            </a:rPr>
                            <a:t>48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0.1013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0.2198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a:effectLst/>
                              <a:highlight>
                                <a:srgbClr val="FFFF00"/>
                              </a:highlight>
                            </a:rPr>
                            <a:t>0.8211</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a:effectLst/>
                              <a:highlight>
                                <a:srgbClr val="FFFF00"/>
                              </a:highlight>
                            </a:rPr>
                            <a:t>0.973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a:effectLst/>
                              <a:highlight>
                                <a:srgbClr val="FFFF00"/>
                              </a:highlight>
                            </a:rPr>
                            <a:t>0.3393</a:t>
                          </a:r>
                          <a:endParaRPr lang="en-US" sz="20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844493625"/>
                      </a:ext>
                    </a:extLst>
                  </a:tr>
                  <a:tr h="304800">
                    <a:tc>
                      <a:txBody>
                        <a:bodyPr/>
                        <a:lstStyle/>
                        <a:p>
                          <a:pPr marL="0" marR="0" algn="ctr">
                            <a:spcBef>
                              <a:spcPts val="0"/>
                            </a:spcBef>
                            <a:spcAft>
                              <a:spcPts val="0"/>
                            </a:spcAft>
                          </a:pPr>
                          <a:r>
                            <a:rPr lang="en-US" sz="2000">
                              <a:effectLst/>
                            </a:rPr>
                            <a:t>65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0.0746</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0.025</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0.2391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0.8957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0.998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dirty="0">
                              <a:effectLst/>
                            </a:rPr>
                            <a:t>0.5784</a:t>
                          </a:r>
                          <a:endParaRPr lang="en-US" sz="20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079453667"/>
                      </a:ext>
                    </a:extLst>
                  </a:tr>
                  <a:tr h="304800">
                    <a:tc>
                      <a:txBody>
                        <a:bodyPr/>
                        <a:lstStyle/>
                        <a:p>
                          <a:pPr marL="0" marR="0" algn="ctr">
                            <a:spcBef>
                              <a:spcPts val="0"/>
                            </a:spcBef>
                            <a:spcAft>
                              <a:spcPts val="0"/>
                            </a:spcAft>
                          </a:pPr>
                          <a:r>
                            <a:rPr lang="en-US" sz="2000">
                              <a:effectLst/>
                            </a:rPr>
                            <a:t>100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0.051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0.002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0.1877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0.9467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0.7661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993327152"/>
                      </a:ext>
                    </a:extLst>
                  </a:tr>
                  <a:tr h="304800">
                    <a:tc>
                      <a:txBody>
                        <a:bodyPr/>
                        <a:lstStyle/>
                        <a:p>
                          <a:pPr marL="0" marR="0" algn="ctr">
                            <a:spcBef>
                              <a:spcPts val="0"/>
                            </a:spcBef>
                            <a:spcAft>
                              <a:spcPts val="0"/>
                            </a:spcAft>
                          </a:pPr>
                          <a:r>
                            <a:rPr lang="en-US" sz="2000">
                              <a:effectLst/>
                            </a:rPr>
                            <a:t>150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0.033</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0.1427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0.9797</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0.9088</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1678316159"/>
                      </a:ext>
                    </a:extLst>
                  </a:tr>
                  <a:tr h="304800">
                    <a:tc>
                      <a:txBody>
                        <a:bodyPr/>
                        <a:lstStyle/>
                        <a:p>
                          <a:pPr marL="0" marR="0" algn="ctr">
                            <a:spcBef>
                              <a:spcPts val="0"/>
                            </a:spcBef>
                            <a:spcAft>
                              <a:spcPts val="0"/>
                            </a:spcAft>
                          </a:pPr>
                          <a:r>
                            <a:rPr lang="en-US" sz="2000">
                              <a:effectLst/>
                            </a:rPr>
                            <a:t>200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0.0212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0.0912</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1.0009</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a:txBody>
                        <a:bodyPr/>
                        <a:lstStyle/>
                        <a:p>
                          <a:pPr marL="0" marR="0" algn="ctr">
                            <a:spcBef>
                              <a:spcPts val="0"/>
                            </a:spcBef>
                            <a:spcAft>
                              <a:spcPts val="0"/>
                            </a:spcAft>
                          </a:pPr>
                          <a:r>
                            <a:rPr lang="en-US" sz="2000">
                              <a:effectLst/>
                            </a:rPr>
                            <a:t>1</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extLst>
                      <a:ext uri="{0D108BD9-81ED-4DB2-BD59-A6C34878D82A}">
                        <a16:rowId xmlns:a16="http://schemas.microsoft.com/office/drawing/2014/main" val="2704092446"/>
                      </a:ext>
                    </a:extLst>
                  </a:tr>
                  <a:tr h="304800">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tc>
                      <a:txBody>
                        <a:bodyPr/>
                        <a:lstStyle/>
                        <a:p>
                          <a:pPr algn="ctr"/>
                          <a:endParaRPr lang="en-US" sz="2000">
                            <a:effectLst/>
                            <a:latin typeface="Times New Roman" panose="02020603050405020304" pitchFamily="18" charset="0"/>
                          </a:endParaRPr>
                        </a:p>
                      </a:txBody>
                      <a:tcPr marL="38504" marR="38504" marT="0" marB="0" anchor="b"/>
                    </a:tc>
                    <a:extLst>
                      <a:ext uri="{0D108BD9-81ED-4DB2-BD59-A6C34878D82A}">
                        <a16:rowId xmlns:a16="http://schemas.microsoft.com/office/drawing/2014/main" val="102446281"/>
                      </a:ext>
                    </a:extLst>
                  </a:tr>
                  <a:tr h="617824">
                    <a:tc gridSpan="4">
                      <a:txBody>
                        <a:bodyPr/>
                        <a:lstStyle/>
                        <a:p>
                          <a:pPr marL="0" marR="0" algn="ctr">
                            <a:spcBef>
                              <a:spcPts val="0"/>
                            </a:spcBef>
                            <a:spcAft>
                              <a:spcPts val="0"/>
                            </a:spcAft>
                          </a:pPr>
                          <a:r>
                            <a:rPr lang="en-US" sz="2000">
                              <a:effectLst/>
                            </a:rPr>
                            <a:t> </a:t>
                          </a:r>
                          <a:endParaRPr lang="en-US" sz="20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38504" marR="38504"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endParaRPr lang="en-US"/>
                        </a:p>
                      </a:txBody>
                      <a:tcPr marL="38504" marR="38504" marT="0" marB="0" anchor="b">
                        <a:blipFill>
                          <a:blip r:embed="rId4"/>
                          <a:stretch>
                            <a:fillRect l="-219062" t="-923762" r="-194428" b="-24752"/>
                          </a:stretch>
                        </a:blipFill>
                      </a:tcPr>
                    </a:tc>
                    <a:tc>
                      <a:txBody>
                        <a:bodyPr/>
                        <a:lstStyle/>
                        <a:p>
                          <a:endParaRPr lang="en-US"/>
                        </a:p>
                      </a:txBody>
                      <a:tcPr marL="38504" marR="38504" marT="0" marB="0" anchor="b">
                        <a:blipFill>
                          <a:blip r:embed="rId4"/>
                          <a:stretch>
                            <a:fillRect l="-348718" t="-923762" r="-112500" b="-24752"/>
                          </a:stretch>
                        </a:blipFill>
                      </a:tcPr>
                    </a:tc>
                    <a:tc>
                      <a:txBody>
                        <a:bodyPr/>
                        <a:lstStyle/>
                        <a:p>
                          <a:endParaRPr lang="en-US"/>
                        </a:p>
                      </a:txBody>
                      <a:tcPr marL="38504" marR="38504" marT="0" marB="0" anchor="b">
                        <a:blipFill>
                          <a:blip r:embed="rId4"/>
                          <a:stretch>
                            <a:fillRect l="-403458" t="-923762" r="-1153" b="-24752"/>
                          </a:stretch>
                        </a:blipFill>
                      </a:tcPr>
                    </a:tc>
                    <a:extLst>
                      <a:ext uri="{0D108BD9-81ED-4DB2-BD59-A6C34878D82A}">
                        <a16:rowId xmlns:a16="http://schemas.microsoft.com/office/drawing/2014/main" val="1340556651"/>
                      </a:ext>
                    </a:extLst>
                  </a:tr>
                </a:tbl>
              </a:graphicData>
            </a:graphic>
          </p:graphicFrame>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7BC876F-151F-299D-0E97-E086E285CBD2}"/>
                  </a:ext>
                </a:extLst>
              </p:cNvPr>
              <p:cNvSpPr txBox="1"/>
              <p:nvPr/>
            </p:nvSpPr>
            <p:spPr>
              <a:xfrm>
                <a:off x="9262808" y="8704106"/>
                <a:ext cx="10635853" cy="400110"/>
              </a:xfrm>
              <a:prstGeom prst="rect">
                <a:avLst/>
              </a:prstGeom>
              <a:noFill/>
            </p:spPr>
            <p:txBody>
              <a:bodyPr wrap="square">
                <a:spAutoFit/>
              </a:bodyPr>
              <a:lstStyle/>
              <a:p>
                <a:pPr marL="0" marR="0" algn="just">
                  <a:spcBef>
                    <a:spcPts val="0"/>
                  </a:spcBef>
                  <a:spcAft>
                    <a:spcPts val="0"/>
                  </a:spcAft>
                </a:pPr>
                <a14:m>
                  <m:oMath xmlns:m="http://schemas.openxmlformats.org/officeDocument/2006/math">
                    <m:sSub>
                      <m:sSubPr>
                        <m:ctrlPr>
                          <a:rPr lang="en-US" sz="2000" b="1" i="1" smtClean="0">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ctrlPr>
                      </m:sSubPr>
                      <m:e>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𝒙</m:t>
                        </m:r>
                      </m:e>
                      <m:sub>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𝑨</m:t>
                        </m:r>
                      </m:sub>
                    </m:sSub>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𝟏</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𝟎</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𝟖𝟐𝟏𝟏</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 </m:t>
                    </m:r>
                  </m:oMath>
                </a14:m>
                <a:r>
                  <a:rPr lang="en-US" sz="2000" b="1" dirty="0">
                    <a:solidFill>
                      <a:schemeClr val="tx1"/>
                    </a:solidFill>
                    <a:effectLst/>
                    <a:highlight>
                      <a:srgbClr val="FFFF00"/>
                    </a:highlight>
                    <a:ea typeface="Times New Roman" panose="02020603050405020304" pitchFamily="18" charset="0"/>
                  </a:rPr>
                  <a:t>0.1789,</a:t>
                </a:r>
                <a:r>
                  <a:rPr lang="en-US" sz="2000" b="1" dirty="0">
                    <a:solidFill>
                      <a:schemeClr val="tx1"/>
                    </a:solidFill>
                    <a:effectLst/>
                    <a:ea typeface="Times New Roman" panose="02020603050405020304" pitchFamily="18" charset="0"/>
                  </a:rPr>
                  <a:t>               </a:t>
                </a:r>
                <a14:m>
                  <m:oMath xmlns:m="http://schemas.openxmlformats.org/officeDocument/2006/math">
                    <m:sSub>
                      <m:sSubPr>
                        <m:ctrlP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ctrlPr>
                      </m:sSubPr>
                      <m:e>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𝒙</m:t>
                        </m:r>
                      </m:e>
                      <m:sub>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𝑩</m:t>
                        </m:r>
                      </m:sub>
                    </m:sSub>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𝟏</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𝟎</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𝟗𝟕𝟑</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 </m:t>
                    </m:r>
                  </m:oMath>
                </a14:m>
                <a:r>
                  <a:rPr lang="en-US" sz="2000" b="1" dirty="0">
                    <a:solidFill>
                      <a:schemeClr val="tx1"/>
                    </a:solidFill>
                    <a:effectLst/>
                    <a:highlight>
                      <a:srgbClr val="FFFF00"/>
                    </a:highlight>
                    <a:ea typeface="Times New Roman" panose="02020603050405020304" pitchFamily="18" charset="0"/>
                  </a:rPr>
                  <a:t>0.027</a:t>
                </a:r>
                <a:r>
                  <a:rPr lang="en-US" sz="2000" b="1" dirty="0">
                    <a:solidFill>
                      <a:schemeClr val="tx1"/>
                    </a:solidFill>
                    <a:effectLst/>
                    <a:ea typeface="Times New Roman" panose="02020603050405020304" pitchFamily="18" charset="0"/>
                  </a:rPr>
                  <a:t>            </a:t>
                </a:r>
                <a:r>
                  <a:rPr lang="en-US" sz="2000" b="1" dirty="0">
                    <a:solidFill>
                      <a:schemeClr val="tx1"/>
                    </a:solidFill>
                    <a:effectLst/>
                    <a:highlight>
                      <a:srgbClr val="FFFF00"/>
                    </a:highlight>
                    <a:ea typeface="Times New Roman" panose="02020603050405020304" pitchFamily="18" charset="0"/>
                  </a:rPr>
                  <a:t> </a:t>
                </a:r>
                <a14:m>
                  <m:oMath xmlns:m="http://schemas.openxmlformats.org/officeDocument/2006/math">
                    <m:sSub>
                      <m:sSubPr>
                        <m:ctrlP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ctrlPr>
                      </m:sSubPr>
                      <m:e>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𝒙</m:t>
                        </m:r>
                      </m:e>
                      <m:sub>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𝒄</m:t>
                        </m:r>
                      </m:sub>
                    </m:sSub>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𝟏</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𝟎</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𝟑𝟑𝟗𝟑</m:t>
                    </m:r>
                    <m:r>
                      <a:rPr lang="en-US" sz="2000" b="1" i="1">
                        <a:solidFill>
                          <a:schemeClr val="tx1"/>
                        </a:solidFill>
                        <a:effectLst/>
                        <a:highlight>
                          <a:srgbClr val="FFFF00"/>
                        </a:highlight>
                        <a:latin typeface="Cambria Math" panose="02040503050406030204" pitchFamily="18" charset="0"/>
                        <a:ea typeface="Times New Roman" panose="02020603050405020304" pitchFamily="18" charset="0"/>
                        <a:cs typeface="Calibri" panose="020F0502020204030204" pitchFamily="34" charset="0"/>
                      </a:rPr>
                      <m:t>= </m:t>
                    </m:r>
                  </m:oMath>
                </a14:m>
                <a:r>
                  <a:rPr lang="en-US" sz="2000" b="1" dirty="0">
                    <a:solidFill>
                      <a:schemeClr val="tx1"/>
                    </a:solidFill>
                    <a:effectLst/>
                    <a:highlight>
                      <a:srgbClr val="FFFF00"/>
                    </a:highlight>
                    <a:ea typeface="Times New Roman" panose="02020603050405020304" pitchFamily="18" charset="0"/>
                  </a:rPr>
                  <a:t>0.6607</a:t>
                </a:r>
                <a:endParaRPr lang="en-US" sz="2000" b="1" dirty="0">
                  <a:solidFill>
                    <a:srgbClr val="FF0000"/>
                  </a:solidFill>
                  <a:effectLst/>
                  <a:highlight>
                    <a:srgbClr val="FFFF00"/>
                  </a:highlight>
                  <a:latin typeface="Times New Roman" panose="02020603050405020304" pitchFamily="18" charset="0"/>
                  <a:ea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67BC876F-151F-299D-0E97-E086E285CBD2}"/>
                  </a:ext>
                </a:extLst>
              </p:cNvPr>
              <p:cNvSpPr txBox="1">
                <a:spLocks noRot="1" noChangeAspect="1" noMove="1" noResize="1" noEditPoints="1" noAdjustHandles="1" noChangeArrowheads="1" noChangeShapeType="1" noTextEdit="1"/>
              </p:cNvSpPr>
              <p:nvPr/>
            </p:nvSpPr>
            <p:spPr>
              <a:xfrm>
                <a:off x="9262808" y="8704106"/>
                <a:ext cx="10635853" cy="400110"/>
              </a:xfrm>
              <a:prstGeom prst="rect">
                <a:avLst/>
              </a:prstGeom>
              <a:blipFill>
                <a:blip r:embed="rId5"/>
                <a:stretch>
                  <a:fillRect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FED34B-F38E-5AC3-C41D-2B9854D4C539}"/>
                  </a:ext>
                </a:extLst>
              </p:cNvPr>
              <p:cNvSpPr txBox="1"/>
              <p:nvPr/>
            </p:nvSpPr>
            <p:spPr>
              <a:xfrm>
                <a:off x="221402" y="9965076"/>
                <a:ext cx="8095895"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𝑬</m:t>
                      </m:r>
                      <m:r>
                        <a:rPr lang="en-US" b="1" i="0">
                          <a:solidFill>
                            <a:srgbClr val="FF0000"/>
                          </a:solidFill>
                          <a:latin typeface="Cambria Math" panose="02040503050406030204" pitchFamily="18" charset="0"/>
                        </a:rPr>
                        <m:t>=</m:t>
                      </m:r>
                      <m:d>
                        <m:dPr>
                          <m:begChr m:val="["/>
                          <m:endChr m:val="]"/>
                          <m:ctrlPr>
                            <a:rPr lang="en-US" b="1" i="1">
                              <a:solidFill>
                                <a:srgbClr val="FF0000"/>
                              </a:solidFill>
                              <a:latin typeface="Cambria Math" panose="02040503050406030204" pitchFamily="18" charset="0"/>
                            </a:rPr>
                          </m:ctrlPr>
                        </m:dPr>
                        <m:e>
                          <m:d>
                            <m:dPr>
                              <m:ctrlPr>
                                <a:rPr lang="en-US" b="1" i="1">
                                  <a:solidFill>
                                    <a:srgbClr val="FF0000"/>
                                  </a:solidFill>
                                  <a:latin typeface="Cambria Math" panose="02040503050406030204" pitchFamily="18" charset="0"/>
                                </a:rPr>
                              </m:ctrlPr>
                            </m:dPr>
                            <m:e>
                              <m:f>
                                <m:fPr>
                                  <m:ctrlPr>
                                    <a:rPr lang="en-US" b="1" i="1">
                                      <a:solidFill>
                                        <a:srgbClr val="FF0000"/>
                                      </a:solidFill>
                                      <a:latin typeface="Cambria Math" panose="02040503050406030204" pitchFamily="18" charset="0"/>
                                    </a:rPr>
                                  </m:ctrlPr>
                                </m:fPr>
                                <m:num>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𝑨</m:t>
                                      </m:r>
                                    </m:sub>
                                  </m:sSub>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𝑪</m:t>
                                      </m:r>
                                    </m:sub>
                                  </m:sSub>
                                </m:num>
                                <m:den>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𝑩</m:t>
                                      </m:r>
                                    </m:sub>
                                  </m:sSub>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𝑪</m:t>
                                      </m:r>
                                    </m:sub>
                                  </m:sSub>
                                </m:den>
                              </m:f>
                            </m:e>
                          </m:d>
                          <m:r>
                            <a:rPr lang="en-US" b="1" i="0">
                              <a:solidFill>
                                <a:srgbClr val="FF0000"/>
                              </a:solidFill>
                              <a:latin typeface="Cambria Math" panose="02040503050406030204" pitchFamily="18" charset="0"/>
                            </a:rPr>
                            <m:t> </m:t>
                          </m:r>
                          <m:f>
                            <m:fPr>
                              <m:ctrlPr>
                                <a:rPr lang="en-US" b="1" i="1">
                                  <a:solidFill>
                                    <a:srgbClr val="FF0000"/>
                                  </a:solidFill>
                                  <a:latin typeface="Cambria Math" panose="02040503050406030204" pitchFamily="18" charset="0"/>
                                </a:rPr>
                              </m:ctrlPr>
                            </m:fPr>
                            <m:num>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𝑩</m:t>
                                  </m:r>
                                </m:sub>
                              </m:sSub>
                            </m:num>
                            <m:den>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𝑨</m:t>
                                  </m:r>
                                </m:sub>
                              </m:sSub>
                            </m:den>
                          </m:f>
                        </m:e>
                      </m:d>
                      <m:r>
                        <a:rPr lang="en-US" b="1" i="0">
                          <a:solidFill>
                            <a:srgbClr val="FF0000"/>
                          </a:solidFill>
                          <a:latin typeface="Cambria Math" panose="02040503050406030204" pitchFamily="18" charset="0"/>
                        </a:rPr>
                        <m:t> </m:t>
                      </m:r>
                      <m:d>
                        <m:dPr>
                          <m:begChr m:val="["/>
                          <m:endChr m:val="]"/>
                          <m:ctrlPr>
                            <a:rPr lang="en-US"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𝟏</m:t>
                          </m:r>
                          <m:r>
                            <a:rPr lang="en-US" b="1" i="0">
                              <a:solidFill>
                                <a:srgbClr val="FF0000"/>
                              </a:solidFill>
                              <a:latin typeface="Cambria Math" panose="02040503050406030204" pitchFamily="18" charset="0"/>
                            </a:rPr>
                            <m:t>−</m:t>
                          </m:r>
                          <m:d>
                            <m:dPr>
                              <m:ctrlPr>
                                <a:rPr lang="en-US" b="1" i="1">
                                  <a:solidFill>
                                    <a:srgbClr val="FF0000"/>
                                  </a:solidFill>
                                  <a:latin typeface="Cambria Math" panose="02040503050406030204" pitchFamily="18" charset="0"/>
                                </a:rPr>
                              </m:ctrlPr>
                            </m:dPr>
                            <m:e>
                              <m:f>
                                <m:fPr>
                                  <m:ctrlPr>
                                    <a:rPr lang="en-US" b="1" i="1">
                                      <a:solidFill>
                                        <a:srgbClr val="FF0000"/>
                                      </a:solidFill>
                                      <a:latin typeface="Cambria Math" panose="02040503050406030204" pitchFamily="18" charset="0"/>
                                    </a:rPr>
                                  </m:ctrlPr>
                                </m:fPr>
                                <m:num>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𝑨</m:t>
                                      </m:r>
                                    </m:sub>
                                  </m:sSub>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𝑪</m:t>
                                      </m:r>
                                    </m:sub>
                                  </m:sSub>
                                </m:num>
                                <m:den>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𝑩</m:t>
                                      </m:r>
                                    </m:sub>
                                  </m:sSub>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𝑪</m:t>
                                      </m:r>
                                    </m:sub>
                                  </m:sSub>
                                </m:den>
                              </m:f>
                            </m:e>
                          </m:d>
                          <m:d>
                            <m:dPr>
                              <m:ctrlPr>
                                <a:rPr lang="en-US" b="1" i="1">
                                  <a:solidFill>
                                    <a:srgbClr val="FF0000"/>
                                  </a:solidFill>
                                  <a:latin typeface="Cambria Math" panose="02040503050406030204" pitchFamily="18" charset="0"/>
                                </a:rPr>
                              </m:ctrlPr>
                            </m:dPr>
                            <m:e>
                              <m:f>
                                <m:fPr>
                                  <m:ctrlPr>
                                    <a:rPr lang="en-US"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𝟏</m:t>
                                  </m:r>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𝑩</m:t>
                                      </m:r>
                                    </m:sub>
                                  </m:sSub>
                                </m:num>
                                <m:den>
                                  <m:r>
                                    <a:rPr lang="en-US" b="1" i="0">
                                      <a:solidFill>
                                        <a:srgbClr val="FF0000"/>
                                      </a:solidFill>
                                      <a:latin typeface="Cambria Math" panose="02040503050406030204" pitchFamily="18" charset="0"/>
                                    </a:rPr>
                                    <m:t>𝟏</m:t>
                                  </m:r>
                                  <m:r>
                                    <a:rPr lang="en-US" b="1" i="0">
                                      <a:solidFill>
                                        <a:srgbClr val="FF0000"/>
                                      </a:solidFill>
                                      <a:latin typeface="Cambria Math" panose="02040503050406030204" pitchFamily="18" charset="0"/>
                                    </a:rPr>
                                    <m:t>−</m:t>
                                  </m:r>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𝒙</m:t>
                                      </m:r>
                                    </m:e>
                                    <m:sub>
                                      <m:r>
                                        <a:rPr lang="en-US" b="1" i="1">
                                          <a:solidFill>
                                            <a:srgbClr val="FF0000"/>
                                          </a:solidFill>
                                          <a:latin typeface="Cambria Math" panose="02040503050406030204" pitchFamily="18" charset="0"/>
                                        </a:rPr>
                                        <m:t>𝑨</m:t>
                                      </m:r>
                                    </m:sub>
                                  </m:sSub>
                                </m:den>
                              </m:f>
                            </m:e>
                          </m:d>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𝟖𝟖𝟓𝟑</m:t>
                      </m:r>
                      <m:r>
                        <a:rPr lang="en-US" b="1" i="0">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𝒙</m:t>
                      </m:r>
                      <m:r>
                        <a:rPr lang="en-US" b="1" i="0">
                          <a:solidFill>
                            <a:srgbClr val="FF0000"/>
                          </a:solidFill>
                          <a:latin typeface="Cambria Math" panose="02040503050406030204" pitchFamily="18" charset="0"/>
                        </a:rPr>
                        <m:t> </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𝟕𝟗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𝟕𝟔</m:t>
                      </m:r>
                      <m:r>
                        <a:rPr lang="en-US" b="1" i="0">
                          <a:solidFill>
                            <a:srgbClr val="FF0000"/>
                          </a:solidFill>
                          <a:latin typeface="Cambria Math" panose="02040503050406030204" pitchFamily="18" charset="0"/>
                        </a:rPr>
                        <m:t>%</m:t>
                      </m:r>
                    </m:oMath>
                  </m:oMathPara>
                </a14:m>
                <a:endParaRPr lang="en-US" b="1" dirty="0">
                  <a:solidFill>
                    <a:srgbClr val="FF0000"/>
                  </a:solidFill>
                </a:endParaRPr>
              </a:p>
            </p:txBody>
          </p:sp>
        </mc:Choice>
        <mc:Fallback xmlns="">
          <p:sp>
            <p:nvSpPr>
              <p:cNvPr id="17" name="TextBox 16">
                <a:extLst>
                  <a:ext uri="{FF2B5EF4-FFF2-40B4-BE49-F238E27FC236}">
                    <a16:creationId xmlns:a16="http://schemas.microsoft.com/office/drawing/2014/main" id="{83FED34B-F38E-5AC3-C41D-2B9854D4C539}"/>
                  </a:ext>
                </a:extLst>
              </p:cNvPr>
              <p:cNvSpPr txBox="1">
                <a:spLocks noRot="1" noChangeAspect="1" noMove="1" noResize="1" noEditPoints="1" noAdjustHandles="1" noChangeArrowheads="1" noChangeShapeType="1" noTextEdit="1"/>
              </p:cNvSpPr>
              <p:nvPr/>
            </p:nvSpPr>
            <p:spPr>
              <a:xfrm>
                <a:off x="221402" y="9965076"/>
                <a:ext cx="8095895" cy="71468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1888173-4739-AAD1-FF78-133F3AD4F27D}"/>
                  </a:ext>
                </a:extLst>
              </p:cNvPr>
              <p:cNvSpPr txBox="1"/>
              <p:nvPr/>
            </p:nvSpPr>
            <p:spPr>
              <a:xfrm>
                <a:off x="9475986" y="9388508"/>
                <a:ext cx="7525953" cy="1457258"/>
              </a:xfrm>
              <a:prstGeom prst="rect">
                <a:avLst/>
              </a:prstGeom>
              <a:noFill/>
            </p:spPr>
            <p:txBody>
              <a:bodyPr wrap="square">
                <a:spAutoFit/>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r>
                        <a:rPr lang="en-US" sz="1800" b="1" i="1" smtClean="0">
                          <a:solidFill>
                            <a:srgbClr val="FF0000"/>
                          </a:solidFill>
                          <a:effectLst/>
                          <a:latin typeface="Cambria Math" panose="02040503050406030204" pitchFamily="18" charset="0"/>
                          <a:ea typeface="Times New Roman" panose="02020603050405020304" pitchFamily="18" charset="0"/>
                        </a:rPr>
                        <m:t>𝑹𝒂𝒕𝒊𝒐</m:t>
                      </m:r>
                      <m:r>
                        <a:rPr lang="en-US" sz="1800" b="1" i="1" smtClean="0">
                          <a:solidFill>
                            <a:srgbClr val="FF0000"/>
                          </a:solidFill>
                          <a:effectLst/>
                          <a:latin typeface="Cambria Math" panose="02040503050406030204" pitchFamily="18" charset="0"/>
                          <a:ea typeface="Times New Roman" panose="02020603050405020304" pitchFamily="18" charset="0"/>
                        </a:rPr>
                        <m:t> </m:t>
                      </m:r>
                      <m:r>
                        <a:rPr lang="en-US" sz="1800" b="1" i="1" smtClean="0">
                          <a:solidFill>
                            <a:srgbClr val="FF0000"/>
                          </a:solidFill>
                          <a:effectLst/>
                          <a:latin typeface="Cambria Math" panose="02040503050406030204" pitchFamily="18" charset="0"/>
                          <a:ea typeface="Times New Roman" panose="02020603050405020304" pitchFamily="18" charset="0"/>
                        </a:rPr>
                        <m:t>𝒐𝒇</m:t>
                      </m:r>
                      <m:r>
                        <a:rPr lang="en-US" sz="1800" b="1" i="1" smtClean="0">
                          <a:solidFill>
                            <a:srgbClr val="FF0000"/>
                          </a:solidFill>
                          <a:effectLst/>
                          <a:latin typeface="Cambria Math" panose="02040503050406030204" pitchFamily="18" charset="0"/>
                          <a:ea typeface="Times New Roman" panose="02020603050405020304" pitchFamily="18" charset="0"/>
                        </a:rPr>
                        <m:t> </m:t>
                      </m:r>
                      <m:r>
                        <a:rPr lang="en-US" sz="1800" b="1" i="1" smtClean="0">
                          <a:solidFill>
                            <a:srgbClr val="FF0000"/>
                          </a:solidFill>
                          <a:effectLst/>
                          <a:latin typeface="Cambria Math" panose="02040503050406030204" pitchFamily="18" charset="0"/>
                          <a:ea typeface="Times New Roman" panose="02020603050405020304" pitchFamily="18" charset="0"/>
                        </a:rPr>
                        <m:t>𝒐𝒗𝒆𝒓𝒇𝒍𝒐𝒘</m:t>
                      </m:r>
                      <m:r>
                        <a:rPr lang="en-US" sz="1800" b="1" i="1" smtClean="0">
                          <a:solidFill>
                            <a:srgbClr val="FF0000"/>
                          </a:solidFill>
                          <a:effectLst/>
                          <a:latin typeface="Cambria Math" panose="02040503050406030204" pitchFamily="18" charset="0"/>
                          <a:ea typeface="Times New Roman" panose="02020603050405020304" pitchFamily="18" charset="0"/>
                        </a:rPr>
                        <m:t> </m:t>
                      </m:r>
                      <m:r>
                        <a:rPr lang="en-US" sz="1800" b="1" i="1" smtClean="0">
                          <a:solidFill>
                            <a:srgbClr val="FF0000"/>
                          </a:solidFill>
                          <a:effectLst/>
                          <a:latin typeface="Cambria Math" panose="02040503050406030204" pitchFamily="18" charset="0"/>
                          <a:ea typeface="Times New Roman" panose="02020603050405020304" pitchFamily="18" charset="0"/>
                        </a:rPr>
                        <m:t>𝒕𝒐</m:t>
                      </m:r>
                      <m:r>
                        <a:rPr lang="en-US" sz="1800" b="1" i="1" smtClean="0">
                          <a:solidFill>
                            <a:srgbClr val="FF0000"/>
                          </a:solidFill>
                          <a:effectLst/>
                          <a:latin typeface="Cambria Math" panose="02040503050406030204" pitchFamily="18" charset="0"/>
                          <a:ea typeface="Times New Roman" panose="02020603050405020304" pitchFamily="18" charset="0"/>
                        </a:rPr>
                        <m:t> </m:t>
                      </m:r>
                      <m:r>
                        <a:rPr lang="en-US" sz="1800" b="1" i="1" smtClean="0">
                          <a:solidFill>
                            <a:srgbClr val="FF0000"/>
                          </a:solidFill>
                          <a:effectLst/>
                          <a:latin typeface="Cambria Math" panose="02040503050406030204" pitchFamily="18" charset="0"/>
                          <a:ea typeface="Times New Roman" panose="02020603050405020304" pitchFamily="18" charset="0"/>
                        </a:rPr>
                        <m:t>𝒇𝒆𝒆𝒅</m:t>
                      </m:r>
                      <m:r>
                        <a:rPr lang="en-US" sz="1800" b="1" i="1" smtClean="0">
                          <a:solidFill>
                            <a:srgbClr val="FF0000"/>
                          </a:solidFill>
                          <a:effectLst/>
                          <a:latin typeface="Cambria Math" panose="02040503050406030204" pitchFamily="18" charset="0"/>
                          <a:ea typeface="Times New Roman" panose="02020603050405020304" pitchFamily="18" charset="0"/>
                        </a:rPr>
                        <m:t>, </m:t>
                      </m:r>
                      <m:f>
                        <m:fPr>
                          <m:ctrlPr>
                            <a:rPr lang="en-US" sz="1800" b="1" i="1">
                              <a:solidFill>
                                <a:srgbClr val="FF0000"/>
                              </a:solidFill>
                              <a:effectLst/>
                              <a:latin typeface="Cambria Math" panose="02040503050406030204" pitchFamily="18" charset="0"/>
                              <a:ea typeface="Times New Roman" panose="02020603050405020304" pitchFamily="18" charset="0"/>
                            </a:rPr>
                          </m:ctrlPr>
                        </m:fPr>
                        <m:num>
                          <m:r>
                            <a:rPr lang="en-US" sz="1800" b="1" i="1">
                              <a:solidFill>
                                <a:srgbClr val="FF0000"/>
                              </a:solidFill>
                              <a:effectLst/>
                              <a:latin typeface="Cambria Math" panose="02040503050406030204" pitchFamily="18" charset="0"/>
                              <a:ea typeface="Times New Roman" panose="02020603050405020304" pitchFamily="18" charset="0"/>
                            </a:rPr>
                            <m:t>𝑩</m:t>
                          </m:r>
                        </m:num>
                        <m:den>
                          <m:r>
                            <a:rPr lang="en-US" sz="1800" b="1" i="1">
                              <a:solidFill>
                                <a:srgbClr val="FF0000"/>
                              </a:solidFill>
                              <a:effectLst/>
                              <a:latin typeface="Cambria Math" panose="02040503050406030204" pitchFamily="18" charset="0"/>
                              <a:ea typeface="Times New Roman" panose="02020603050405020304" pitchFamily="18" charset="0"/>
                            </a:rPr>
                            <m:t>𝑨</m:t>
                          </m:r>
                        </m:den>
                      </m:f>
                      <m:r>
                        <a:rPr lang="en-US" sz="1800" b="1" i="1">
                          <a:solidFill>
                            <a:srgbClr val="FF0000"/>
                          </a:solidFill>
                          <a:effectLst/>
                          <a:latin typeface="Cambria Math" panose="02040503050406030204" pitchFamily="18" charset="0"/>
                          <a:ea typeface="Times New Roman" panose="02020603050405020304" pitchFamily="18" charset="0"/>
                        </a:rPr>
                        <m:t>=</m:t>
                      </m:r>
                      <m:f>
                        <m:fPr>
                          <m:ctrlPr>
                            <a:rPr lang="en-US" sz="1800" b="1" i="1">
                              <a:solidFill>
                                <a:srgbClr val="FF0000"/>
                              </a:solidFill>
                              <a:effectLst/>
                              <a:latin typeface="Cambria Math" panose="02040503050406030204" pitchFamily="18" charset="0"/>
                              <a:ea typeface="Times New Roman" panose="02020603050405020304" pitchFamily="18" charset="0"/>
                            </a:rPr>
                          </m:ctrlPr>
                        </m:fPr>
                        <m:num>
                          <m:sSub>
                            <m:sSubPr>
                              <m:ctrlPr>
                                <a:rPr lang="en-US" sz="1800" b="1" i="1">
                                  <a:solidFill>
                                    <a:srgbClr val="FF0000"/>
                                  </a:solidFill>
                                  <a:effectLst/>
                                  <a:latin typeface="Cambria Math" panose="02040503050406030204" pitchFamily="18" charset="0"/>
                                  <a:ea typeface="Times New Roman" panose="02020603050405020304" pitchFamily="18" charset="0"/>
                                </a:rPr>
                              </m:ctrlPr>
                            </m:sSubPr>
                            <m:e>
                              <m:r>
                                <a:rPr lang="en-US" sz="1800" b="1" i="1">
                                  <a:solidFill>
                                    <a:srgbClr val="FF0000"/>
                                  </a:solidFill>
                                  <a:effectLst/>
                                  <a:latin typeface="Cambria Math" panose="02040503050406030204" pitchFamily="18" charset="0"/>
                                  <a:ea typeface="Times New Roman" panose="02020603050405020304" pitchFamily="18" charset="0"/>
                                </a:rPr>
                                <m:t>𝒙</m:t>
                              </m:r>
                            </m:e>
                            <m:sub>
                              <m:r>
                                <a:rPr lang="en-US" sz="1800" b="1" i="1">
                                  <a:solidFill>
                                    <a:srgbClr val="FF0000"/>
                                  </a:solidFill>
                                  <a:effectLst/>
                                  <a:latin typeface="Cambria Math" panose="02040503050406030204" pitchFamily="18" charset="0"/>
                                  <a:ea typeface="Times New Roman" panose="02020603050405020304" pitchFamily="18" charset="0"/>
                                </a:rPr>
                                <m:t>𝑨</m:t>
                              </m:r>
                            </m:sub>
                          </m:sSub>
                          <m:r>
                            <a:rPr lang="en-US" sz="1800" b="1" i="1">
                              <a:solidFill>
                                <a:srgbClr val="FF0000"/>
                              </a:solidFill>
                              <a:effectLst/>
                              <a:latin typeface="Cambria Math" panose="02040503050406030204" pitchFamily="18" charset="0"/>
                              <a:ea typeface="Times New Roman" panose="02020603050405020304" pitchFamily="18" charset="0"/>
                            </a:rPr>
                            <m:t>−</m:t>
                          </m:r>
                          <m:sSub>
                            <m:sSubPr>
                              <m:ctrlPr>
                                <a:rPr lang="en-US" sz="1800" b="1" i="1">
                                  <a:solidFill>
                                    <a:srgbClr val="FF0000"/>
                                  </a:solidFill>
                                  <a:effectLst/>
                                  <a:latin typeface="Cambria Math" panose="02040503050406030204" pitchFamily="18" charset="0"/>
                                  <a:ea typeface="Times New Roman" panose="02020603050405020304" pitchFamily="18" charset="0"/>
                                </a:rPr>
                              </m:ctrlPr>
                            </m:sSubPr>
                            <m:e>
                              <m:r>
                                <a:rPr lang="en-US" sz="1800" b="1" i="1">
                                  <a:solidFill>
                                    <a:srgbClr val="FF0000"/>
                                  </a:solidFill>
                                  <a:effectLst/>
                                  <a:latin typeface="Cambria Math" panose="02040503050406030204" pitchFamily="18" charset="0"/>
                                  <a:ea typeface="Times New Roman" panose="02020603050405020304" pitchFamily="18" charset="0"/>
                                </a:rPr>
                                <m:t>𝒙</m:t>
                              </m:r>
                            </m:e>
                            <m:sub>
                              <m:r>
                                <a:rPr lang="en-US" sz="1800" b="1" i="1">
                                  <a:solidFill>
                                    <a:srgbClr val="FF0000"/>
                                  </a:solidFill>
                                  <a:effectLst/>
                                  <a:latin typeface="Cambria Math" panose="02040503050406030204" pitchFamily="18" charset="0"/>
                                  <a:ea typeface="Times New Roman" panose="02020603050405020304" pitchFamily="18" charset="0"/>
                                </a:rPr>
                                <m:t>𝑪</m:t>
                              </m:r>
                            </m:sub>
                          </m:sSub>
                        </m:num>
                        <m:den>
                          <m:sSub>
                            <m:sSubPr>
                              <m:ctrlPr>
                                <a:rPr lang="en-US" sz="1800" b="1" i="1">
                                  <a:solidFill>
                                    <a:srgbClr val="FF0000"/>
                                  </a:solidFill>
                                  <a:effectLst/>
                                  <a:latin typeface="Cambria Math" panose="02040503050406030204" pitchFamily="18" charset="0"/>
                                  <a:ea typeface="Times New Roman" panose="02020603050405020304" pitchFamily="18" charset="0"/>
                                </a:rPr>
                              </m:ctrlPr>
                            </m:sSubPr>
                            <m:e>
                              <m:r>
                                <a:rPr lang="en-US" sz="1800" b="1" i="1">
                                  <a:solidFill>
                                    <a:srgbClr val="FF0000"/>
                                  </a:solidFill>
                                  <a:effectLst/>
                                  <a:latin typeface="Cambria Math" panose="02040503050406030204" pitchFamily="18" charset="0"/>
                                  <a:ea typeface="Times New Roman" panose="02020603050405020304" pitchFamily="18" charset="0"/>
                                </a:rPr>
                                <m:t>𝒙</m:t>
                              </m:r>
                            </m:e>
                            <m:sub>
                              <m:r>
                                <a:rPr lang="en-US" sz="1800" b="1" i="1">
                                  <a:solidFill>
                                    <a:srgbClr val="FF0000"/>
                                  </a:solidFill>
                                  <a:effectLst/>
                                  <a:latin typeface="Cambria Math" panose="02040503050406030204" pitchFamily="18" charset="0"/>
                                  <a:ea typeface="Times New Roman" panose="02020603050405020304" pitchFamily="18" charset="0"/>
                                </a:rPr>
                                <m:t>𝑩</m:t>
                              </m:r>
                            </m:sub>
                          </m:sSub>
                          <m:r>
                            <a:rPr lang="en-US" sz="1800" b="1" i="1">
                              <a:solidFill>
                                <a:srgbClr val="FF0000"/>
                              </a:solidFill>
                              <a:effectLst/>
                              <a:latin typeface="Cambria Math" panose="02040503050406030204" pitchFamily="18" charset="0"/>
                              <a:ea typeface="Times New Roman" panose="02020603050405020304" pitchFamily="18" charset="0"/>
                            </a:rPr>
                            <m:t>−</m:t>
                          </m:r>
                          <m:sSub>
                            <m:sSubPr>
                              <m:ctrlPr>
                                <a:rPr lang="en-US" sz="1800" b="1" i="1">
                                  <a:solidFill>
                                    <a:srgbClr val="FF0000"/>
                                  </a:solidFill>
                                  <a:effectLst/>
                                  <a:latin typeface="Cambria Math" panose="02040503050406030204" pitchFamily="18" charset="0"/>
                                  <a:ea typeface="Times New Roman" panose="02020603050405020304" pitchFamily="18" charset="0"/>
                                </a:rPr>
                              </m:ctrlPr>
                            </m:sSubPr>
                            <m:e>
                              <m:r>
                                <a:rPr lang="en-US" sz="1800" b="1" i="1">
                                  <a:solidFill>
                                    <a:srgbClr val="FF0000"/>
                                  </a:solidFill>
                                  <a:effectLst/>
                                  <a:latin typeface="Cambria Math" panose="02040503050406030204" pitchFamily="18" charset="0"/>
                                  <a:ea typeface="Times New Roman" panose="02020603050405020304" pitchFamily="18" charset="0"/>
                                </a:rPr>
                                <m:t>𝒙</m:t>
                              </m:r>
                            </m:e>
                            <m:sub>
                              <m:r>
                                <a:rPr lang="en-US" sz="1800" b="1" i="1">
                                  <a:solidFill>
                                    <a:srgbClr val="FF0000"/>
                                  </a:solidFill>
                                  <a:effectLst/>
                                  <a:latin typeface="Cambria Math" panose="02040503050406030204" pitchFamily="18" charset="0"/>
                                  <a:ea typeface="Times New Roman" panose="02020603050405020304" pitchFamily="18" charset="0"/>
                                </a:rPr>
                                <m:t>𝑪</m:t>
                              </m:r>
                            </m:sub>
                          </m:sSub>
                        </m:den>
                      </m:f>
                      <m:r>
                        <a:rPr lang="en-US" sz="1800" b="1" i="1">
                          <a:solidFill>
                            <a:srgbClr val="FF0000"/>
                          </a:solidFill>
                          <a:effectLst/>
                          <a:latin typeface="Cambria Math" panose="02040503050406030204" pitchFamily="18" charset="0"/>
                          <a:ea typeface="Times New Roman" panose="02020603050405020304" pitchFamily="18" charset="0"/>
                        </a:rPr>
                        <m:t>=</m:t>
                      </m:r>
                      <m:f>
                        <m:fPr>
                          <m:ctrlPr>
                            <a:rPr lang="en-US" sz="1800" b="1" i="1">
                              <a:solidFill>
                                <a:srgbClr val="FF0000"/>
                              </a:solidFill>
                              <a:effectLst/>
                              <a:latin typeface="Cambria Math" panose="02040503050406030204" pitchFamily="18" charset="0"/>
                              <a:ea typeface="Times New Roman" panose="02020603050405020304" pitchFamily="18" charset="0"/>
                            </a:rPr>
                          </m:ctrlPr>
                        </m:fPr>
                        <m:num>
                          <m:r>
                            <a:rPr lang="en-US" sz="1800" b="1" i="1">
                              <a:solidFill>
                                <a:srgbClr val="FF0000"/>
                              </a:solidFill>
                              <a:effectLst/>
                              <a:latin typeface="Cambria Math" panose="02040503050406030204" pitchFamily="18" charset="0"/>
                              <a:ea typeface="Times New Roman" panose="02020603050405020304" pitchFamily="18" charset="0"/>
                            </a:rPr>
                            <m:t>𝟎</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𝟖𝟐𝟏𝟏</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𝟎</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𝟑𝟑𝟗𝟑</m:t>
                          </m:r>
                        </m:num>
                        <m:den>
                          <m:r>
                            <a:rPr lang="en-US" sz="1800" b="1" i="1">
                              <a:solidFill>
                                <a:srgbClr val="FF0000"/>
                              </a:solidFill>
                              <a:effectLst/>
                              <a:latin typeface="Cambria Math" panose="02040503050406030204" pitchFamily="18" charset="0"/>
                              <a:ea typeface="Times New Roman" panose="02020603050405020304" pitchFamily="18" charset="0"/>
                            </a:rPr>
                            <m:t>𝟎</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𝟗𝟕𝟑</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𝟎</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𝟑𝟑𝟗𝟑</m:t>
                          </m:r>
                        </m:den>
                      </m:f>
                      <m:r>
                        <a:rPr lang="en-US" sz="1800" b="1" i="1">
                          <a:solidFill>
                            <a:srgbClr val="FF0000"/>
                          </a:solidFill>
                          <a:effectLst/>
                          <a:latin typeface="Cambria Math" panose="02040503050406030204" pitchFamily="18" charset="0"/>
                          <a:ea typeface="Times New Roman" panose="02020603050405020304" pitchFamily="18" charset="0"/>
                        </a:rPr>
                        <m:t>=</m:t>
                      </m:r>
                    </m:oMath>
                  </m:oMathPara>
                </a14:m>
                <a:endParaRPr lang="en-US" sz="1800" b="1"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1800" b="1" dirty="0">
                    <a:solidFill>
                      <a:srgbClr val="FF0000"/>
                    </a:solidFill>
                    <a:effectLst/>
                    <a:latin typeface="Times New Roman" panose="02020603050405020304" pitchFamily="18" charset="0"/>
                    <a:ea typeface="Times New Roman" panose="02020603050405020304" pitchFamily="18" charset="0"/>
                  </a:rPr>
                  <a:t> </a:t>
                </a:r>
              </a:p>
              <a:p>
                <a:pPr marL="0" marR="0" algn="just">
                  <a:spcBef>
                    <a:spcPts val="0"/>
                  </a:spcBef>
                  <a:spcAft>
                    <a:spcPts val="0"/>
                  </a:spcAft>
                </a:pPr>
                <a14:m>
                  <m:oMathPara xmlns:m="http://schemas.openxmlformats.org/officeDocument/2006/math">
                    <m:oMathParaPr>
                      <m:jc m:val="centerGroup"/>
                    </m:oMathParaPr>
                    <m:oMath xmlns:m="http://schemas.openxmlformats.org/officeDocument/2006/math">
                      <m:r>
                        <a:rPr lang="en-US" sz="1800" b="1" i="1">
                          <a:solidFill>
                            <a:srgbClr val="FF0000"/>
                          </a:solidFill>
                          <a:effectLst/>
                          <a:latin typeface="Cambria Math" panose="02040503050406030204" pitchFamily="18" charset="0"/>
                          <a:ea typeface="Times New Roman" panose="02020603050405020304" pitchFamily="18" charset="0"/>
                        </a:rPr>
                        <m:t>𝑹𝒂𝒕𝒊𝒐</m:t>
                      </m:r>
                      <m:r>
                        <a:rPr lang="en-US" sz="1800" b="1" i="1">
                          <a:solidFill>
                            <a:srgbClr val="FF0000"/>
                          </a:solidFill>
                          <a:effectLst/>
                          <a:latin typeface="Cambria Math" panose="02040503050406030204" pitchFamily="18" charset="0"/>
                          <a:ea typeface="Times New Roman" panose="02020603050405020304" pitchFamily="18" charset="0"/>
                        </a:rPr>
                        <m:t> </m:t>
                      </m:r>
                      <m:r>
                        <a:rPr lang="en-US" sz="1800" b="1" i="1">
                          <a:solidFill>
                            <a:srgbClr val="FF0000"/>
                          </a:solidFill>
                          <a:effectLst/>
                          <a:latin typeface="Cambria Math" panose="02040503050406030204" pitchFamily="18" charset="0"/>
                          <a:ea typeface="Times New Roman" panose="02020603050405020304" pitchFamily="18" charset="0"/>
                        </a:rPr>
                        <m:t>𝒐𝒇</m:t>
                      </m:r>
                      <m:r>
                        <a:rPr lang="en-US" sz="1800" b="1" i="1">
                          <a:solidFill>
                            <a:srgbClr val="FF0000"/>
                          </a:solidFill>
                          <a:effectLst/>
                          <a:latin typeface="Cambria Math" panose="02040503050406030204" pitchFamily="18" charset="0"/>
                          <a:ea typeface="Times New Roman" panose="02020603050405020304" pitchFamily="18" charset="0"/>
                        </a:rPr>
                        <m:t> </m:t>
                      </m:r>
                      <m:r>
                        <a:rPr lang="en-US" sz="1800" b="1" i="1">
                          <a:solidFill>
                            <a:srgbClr val="FF0000"/>
                          </a:solidFill>
                          <a:effectLst/>
                          <a:latin typeface="Cambria Math" panose="02040503050406030204" pitchFamily="18" charset="0"/>
                          <a:ea typeface="Times New Roman" panose="02020603050405020304" pitchFamily="18" charset="0"/>
                        </a:rPr>
                        <m:t>𝒖𝒏𝒅𝒆𝒓𝒇𝒍𝒐𝒘</m:t>
                      </m:r>
                      <m:r>
                        <a:rPr lang="en-US" sz="1800" b="1" i="1">
                          <a:solidFill>
                            <a:srgbClr val="FF0000"/>
                          </a:solidFill>
                          <a:effectLst/>
                          <a:latin typeface="Cambria Math" panose="02040503050406030204" pitchFamily="18" charset="0"/>
                          <a:ea typeface="Times New Roman" panose="02020603050405020304" pitchFamily="18" charset="0"/>
                        </a:rPr>
                        <m:t> </m:t>
                      </m:r>
                      <m:r>
                        <a:rPr lang="en-US" sz="1800" b="1" i="1">
                          <a:solidFill>
                            <a:srgbClr val="FF0000"/>
                          </a:solidFill>
                          <a:effectLst/>
                          <a:latin typeface="Cambria Math" panose="02040503050406030204" pitchFamily="18" charset="0"/>
                          <a:ea typeface="Times New Roman" panose="02020603050405020304" pitchFamily="18" charset="0"/>
                        </a:rPr>
                        <m:t>𝒕𝒐</m:t>
                      </m:r>
                      <m:r>
                        <a:rPr lang="en-US" sz="1800" b="1" i="1">
                          <a:solidFill>
                            <a:srgbClr val="FF0000"/>
                          </a:solidFill>
                          <a:effectLst/>
                          <a:latin typeface="Cambria Math" panose="02040503050406030204" pitchFamily="18" charset="0"/>
                          <a:ea typeface="Times New Roman" panose="02020603050405020304" pitchFamily="18" charset="0"/>
                        </a:rPr>
                        <m:t> </m:t>
                      </m:r>
                      <m:r>
                        <a:rPr lang="en-US" sz="1800" b="1" i="1">
                          <a:solidFill>
                            <a:srgbClr val="FF0000"/>
                          </a:solidFill>
                          <a:effectLst/>
                          <a:latin typeface="Cambria Math" panose="02040503050406030204" pitchFamily="18" charset="0"/>
                          <a:ea typeface="Times New Roman" panose="02020603050405020304" pitchFamily="18" charset="0"/>
                        </a:rPr>
                        <m:t>𝒇𝒆𝒆𝒅</m:t>
                      </m:r>
                      <m:r>
                        <a:rPr lang="en-US" sz="1800" b="1" i="1">
                          <a:solidFill>
                            <a:srgbClr val="FF0000"/>
                          </a:solidFill>
                          <a:effectLst/>
                          <a:latin typeface="Cambria Math" panose="02040503050406030204" pitchFamily="18" charset="0"/>
                          <a:ea typeface="Times New Roman" panose="02020603050405020304" pitchFamily="18" charset="0"/>
                        </a:rPr>
                        <m:t>, </m:t>
                      </m:r>
                      <m:f>
                        <m:fPr>
                          <m:ctrlPr>
                            <a:rPr lang="en-US" sz="1800" b="1" i="1">
                              <a:solidFill>
                                <a:srgbClr val="FF0000"/>
                              </a:solidFill>
                              <a:effectLst/>
                              <a:latin typeface="Cambria Math" panose="02040503050406030204" pitchFamily="18" charset="0"/>
                              <a:ea typeface="Times New Roman" panose="02020603050405020304" pitchFamily="18" charset="0"/>
                            </a:rPr>
                          </m:ctrlPr>
                        </m:fPr>
                        <m:num>
                          <m:r>
                            <a:rPr lang="en-US" sz="1800" b="1" i="1">
                              <a:solidFill>
                                <a:srgbClr val="FF0000"/>
                              </a:solidFill>
                              <a:effectLst/>
                              <a:latin typeface="Cambria Math" panose="02040503050406030204" pitchFamily="18" charset="0"/>
                              <a:ea typeface="Times New Roman" panose="02020603050405020304" pitchFamily="18" charset="0"/>
                            </a:rPr>
                            <m:t>𝑪</m:t>
                          </m:r>
                        </m:num>
                        <m:den>
                          <m:r>
                            <a:rPr lang="en-US" sz="1800" b="1" i="1">
                              <a:solidFill>
                                <a:srgbClr val="FF0000"/>
                              </a:solidFill>
                              <a:effectLst/>
                              <a:latin typeface="Cambria Math" panose="02040503050406030204" pitchFamily="18" charset="0"/>
                              <a:ea typeface="Times New Roman" panose="02020603050405020304" pitchFamily="18" charset="0"/>
                            </a:rPr>
                            <m:t>𝑨</m:t>
                          </m:r>
                        </m:den>
                      </m:f>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𝟏</m:t>
                      </m:r>
                      <m:r>
                        <a:rPr lang="en-US" sz="1800" b="1" i="1">
                          <a:solidFill>
                            <a:srgbClr val="FF0000"/>
                          </a:solidFill>
                          <a:effectLst/>
                          <a:latin typeface="Cambria Math" panose="02040503050406030204" pitchFamily="18" charset="0"/>
                          <a:ea typeface="Times New Roman" panose="02020603050405020304" pitchFamily="18" charset="0"/>
                        </a:rPr>
                        <m:t>−</m:t>
                      </m:r>
                      <m:f>
                        <m:fPr>
                          <m:ctrlPr>
                            <a:rPr lang="en-US" sz="1800" b="1" i="1">
                              <a:solidFill>
                                <a:srgbClr val="FF0000"/>
                              </a:solidFill>
                              <a:effectLst/>
                              <a:latin typeface="Cambria Math" panose="02040503050406030204" pitchFamily="18" charset="0"/>
                              <a:ea typeface="Times New Roman" panose="02020603050405020304" pitchFamily="18" charset="0"/>
                            </a:rPr>
                          </m:ctrlPr>
                        </m:fPr>
                        <m:num>
                          <m:r>
                            <a:rPr lang="en-US" sz="1800" b="1" i="1">
                              <a:solidFill>
                                <a:srgbClr val="FF0000"/>
                              </a:solidFill>
                              <a:effectLst/>
                              <a:latin typeface="Cambria Math" panose="02040503050406030204" pitchFamily="18" charset="0"/>
                              <a:ea typeface="Times New Roman" panose="02020603050405020304" pitchFamily="18" charset="0"/>
                            </a:rPr>
                            <m:t>𝑩</m:t>
                          </m:r>
                        </m:num>
                        <m:den>
                          <m:r>
                            <a:rPr lang="en-US" sz="1800" b="1" i="1">
                              <a:solidFill>
                                <a:srgbClr val="FF0000"/>
                              </a:solidFill>
                              <a:effectLst/>
                              <a:latin typeface="Cambria Math" panose="02040503050406030204" pitchFamily="18" charset="0"/>
                              <a:ea typeface="Times New Roman" panose="02020603050405020304" pitchFamily="18" charset="0"/>
                            </a:rPr>
                            <m:t>𝑨</m:t>
                          </m:r>
                        </m:den>
                      </m:f>
                      <m:r>
                        <a:rPr lang="en-US" sz="1800" b="1" i="1">
                          <a:solidFill>
                            <a:srgbClr val="FF0000"/>
                          </a:solidFill>
                          <a:effectLst/>
                          <a:latin typeface="Cambria Math" panose="02040503050406030204" pitchFamily="18" charset="0"/>
                          <a:ea typeface="Times New Roman" panose="02020603050405020304" pitchFamily="18" charset="0"/>
                        </a:rPr>
                        <m:t>= </m:t>
                      </m:r>
                      <m:r>
                        <a:rPr lang="en-US" sz="1800" b="1" i="1">
                          <a:solidFill>
                            <a:srgbClr val="FF0000"/>
                          </a:solidFill>
                          <a:effectLst/>
                          <a:latin typeface="Cambria Math" panose="02040503050406030204" pitchFamily="18" charset="0"/>
                          <a:ea typeface="Times New Roman" panose="02020603050405020304" pitchFamily="18" charset="0"/>
                        </a:rPr>
                        <m:t>𝟏</m:t>
                      </m:r>
                      <m:r>
                        <a:rPr lang="en-US" sz="1800" b="1" i="1">
                          <a:solidFill>
                            <a:srgbClr val="FF0000"/>
                          </a:solidFill>
                          <a:effectLst/>
                          <a:latin typeface="Cambria Math" panose="02040503050406030204" pitchFamily="18" charset="0"/>
                          <a:ea typeface="Times New Roman" panose="02020603050405020304" pitchFamily="18" charset="0"/>
                        </a:rPr>
                        <m:t>− </m:t>
                      </m:r>
                      <m:f>
                        <m:fPr>
                          <m:ctrlPr>
                            <a:rPr lang="en-US" sz="1800" b="1" i="1">
                              <a:solidFill>
                                <a:srgbClr val="FF0000"/>
                              </a:solidFill>
                              <a:effectLst/>
                              <a:latin typeface="Cambria Math" panose="02040503050406030204" pitchFamily="18" charset="0"/>
                              <a:ea typeface="Times New Roman" panose="02020603050405020304" pitchFamily="18" charset="0"/>
                            </a:rPr>
                          </m:ctrlPr>
                        </m:fPr>
                        <m:num>
                          <m:r>
                            <a:rPr lang="en-US" sz="1800" b="1" i="1">
                              <a:solidFill>
                                <a:srgbClr val="FF0000"/>
                              </a:solidFill>
                              <a:effectLst/>
                              <a:latin typeface="Cambria Math" panose="02040503050406030204" pitchFamily="18" charset="0"/>
                              <a:ea typeface="Times New Roman" panose="02020603050405020304" pitchFamily="18" charset="0"/>
                            </a:rPr>
                            <m:t>𝟎</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𝟖𝟐𝟏𝟏</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𝟎</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𝟑𝟑𝟗𝟑</m:t>
                          </m:r>
                        </m:num>
                        <m:den>
                          <m:r>
                            <a:rPr lang="en-US" sz="1800" b="1" i="1">
                              <a:solidFill>
                                <a:srgbClr val="FF0000"/>
                              </a:solidFill>
                              <a:effectLst/>
                              <a:latin typeface="Cambria Math" panose="02040503050406030204" pitchFamily="18" charset="0"/>
                              <a:ea typeface="Times New Roman" panose="02020603050405020304" pitchFamily="18" charset="0"/>
                            </a:rPr>
                            <m:t>𝟎</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𝟗𝟕𝟑</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𝟎</m:t>
                          </m:r>
                          <m:r>
                            <a:rPr lang="en-US" sz="1800" b="1" i="1">
                              <a:solidFill>
                                <a:srgbClr val="FF0000"/>
                              </a:solidFill>
                              <a:effectLst/>
                              <a:latin typeface="Cambria Math" panose="02040503050406030204" pitchFamily="18" charset="0"/>
                              <a:ea typeface="Times New Roman" panose="02020603050405020304" pitchFamily="18" charset="0"/>
                            </a:rPr>
                            <m:t>.</m:t>
                          </m:r>
                          <m:r>
                            <a:rPr lang="en-US" sz="1800" b="1" i="1">
                              <a:solidFill>
                                <a:srgbClr val="FF0000"/>
                              </a:solidFill>
                              <a:effectLst/>
                              <a:latin typeface="Cambria Math" panose="02040503050406030204" pitchFamily="18" charset="0"/>
                              <a:ea typeface="Times New Roman" panose="02020603050405020304" pitchFamily="18" charset="0"/>
                            </a:rPr>
                            <m:t>𝟑𝟑𝟗𝟑</m:t>
                          </m:r>
                        </m:den>
                      </m:f>
                      <m:r>
                        <a:rPr lang="en-US" sz="1800" b="1" i="1">
                          <a:solidFill>
                            <a:srgbClr val="FF0000"/>
                          </a:solidFill>
                          <a:effectLst/>
                          <a:latin typeface="Cambria Math" panose="02040503050406030204" pitchFamily="18" charset="0"/>
                          <a:ea typeface="Times New Roman" panose="02020603050405020304" pitchFamily="18" charset="0"/>
                        </a:rPr>
                        <m:t>=  </m:t>
                      </m:r>
                    </m:oMath>
                  </m:oMathPara>
                </a14:m>
                <a:endParaRPr lang="en-US" sz="1800" b="1" dirty="0">
                  <a:solidFill>
                    <a:srgbClr val="FF0000"/>
                  </a:solidFill>
                  <a:effectLst/>
                  <a:latin typeface="Times New Roman" panose="02020603050405020304" pitchFamily="18" charset="0"/>
                  <a:ea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C1888173-4739-AAD1-FF78-133F3AD4F27D}"/>
                  </a:ext>
                </a:extLst>
              </p:cNvPr>
              <p:cNvSpPr txBox="1">
                <a:spLocks noRot="1" noChangeAspect="1" noMove="1" noResize="1" noEditPoints="1" noAdjustHandles="1" noChangeArrowheads="1" noChangeShapeType="1" noTextEdit="1"/>
              </p:cNvSpPr>
              <p:nvPr/>
            </p:nvSpPr>
            <p:spPr>
              <a:xfrm>
                <a:off x="9475986" y="9388508"/>
                <a:ext cx="7525953" cy="1457258"/>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18837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5D74F59D-729C-B6EC-0A4D-0E33CA421422}"/>
              </a:ext>
            </a:extLst>
          </p:cNvPr>
          <p:cNvSpPr txBox="1"/>
          <p:nvPr/>
        </p:nvSpPr>
        <p:spPr>
          <a:xfrm>
            <a:off x="1333048" y="1514477"/>
            <a:ext cx="18202727" cy="954107"/>
          </a:xfrm>
          <a:prstGeom prst="rect">
            <a:avLst/>
          </a:prstGeom>
          <a:noFill/>
        </p:spPr>
        <p:txBody>
          <a:bodyPr wrap="square">
            <a:spAutoFit/>
          </a:bodyPr>
          <a:lstStyle/>
          <a:p>
            <a:pPr marL="0" marR="0" algn="just">
              <a:spcBef>
                <a:spcPts val="0"/>
              </a:spcBef>
              <a:spcAft>
                <a:spcPts val="0"/>
              </a:spcAft>
            </a:pPr>
            <a:r>
              <a:rPr lang="en-US" sz="2800" b="1" dirty="0">
                <a:latin typeface="Times New Roman" panose="02020603050405020304" pitchFamily="18" charset="0"/>
                <a:ea typeface="Times New Roman" panose="02020603050405020304" pitchFamily="18" charset="0"/>
              </a:rPr>
              <a:t>Type 3: </a:t>
            </a:r>
            <a:r>
              <a:rPr lang="en-US" sz="2800" b="1" dirty="0">
                <a:effectLst/>
                <a:latin typeface="Times New Roman" panose="02020603050405020304" pitchFamily="18" charset="0"/>
                <a:ea typeface="Times New Roman" panose="02020603050405020304" pitchFamily="18" charset="0"/>
              </a:rPr>
              <a:t>Considering cumulative fraction from bottom </a:t>
            </a:r>
            <a:r>
              <a:rPr lang="en-US" sz="2800" b="1" dirty="0">
                <a:solidFill>
                  <a:srgbClr val="FF0000"/>
                </a:solidFill>
                <a:effectLst/>
                <a:latin typeface="Times New Roman" panose="02020603050405020304" pitchFamily="18" charset="0"/>
                <a:ea typeface="Times New Roman" panose="02020603050405020304" pitchFamily="18" charset="0"/>
              </a:rPr>
              <a:t>(Given 48 Mesh)</a:t>
            </a:r>
            <a:endParaRPr lang="en-US" sz="2800"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 </a:t>
            </a:r>
            <a:r>
              <a:rPr lang="en-US" sz="2800" b="1" dirty="0">
                <a:solidFill>
                  <a:srgbClr val="FF0000"/>
                </a:solidFill>
                <a:effectLst/>
                <a:latin typeface="Times New Roman" panose="02020603050405020304" pitchFamily="18" charset="0"/>
                <a:ea typeface="Times New Roman" panose="02020603050405020304" pitchFamily="18" charset="0"/>
              </a:rPr>
              <a:t>Note: Negative mesh numbers are to be considered if cumulative fraction is considered from bottom </a:t>
            </a:r>
            <a:r>
              <a:rPr lang="en-US" sz="2800" b="1" dirty="0">
                <a:solidFill>
                  <a:srgbClr val="FF0000"/>
                </a:solidFill>
                <a:effectLst/>
                <a:highlight>
                  <a:srgbClr val="FFFF00"/>
                </a:highlight>
                <a:latin typeface="Times New Roman" panose="02020603050405020304" pitchFamily="18" charset="0"/>
                <a:ea typeface="Times New Roman" panose="02020603050405020304" pitchFamily="18" charset="0"/>
              </a:rPr>
              <a:t>(Start with 1 to 0)</a:t>
            </a:r>
            <a:endParaRPr lang="en-US" sz="2800" dirty="0">
              <a:effectLst/>
              <a:highlight>
                <a:srgbClr val="FFFF00"/>
              </a:highlight>
              <a:latin typeface="Times New Roman" panose="02020603050405020304" pitchFamily="18" charset="0"/>
              <a:ea typeface="Times New Roman" panose="02020603050405020304" pitchFamily="18" charset="0"/>
            </a:endParaRPr>
          </a:p>
        </p:txBody>
      </p:sp>
      <p:graphicFrame>
        <p:nvGraphicFramePr>
          <p:cNvPr id="10" name="Table 9">
            <a:extLst>
              <a:ext uri="{FF2B5EF4-FFF2-40B4-BE49-F238E27FC236}">
                <a16:creationId xmlns:a16="http://schemas.microsoft.com/office/drawing/2014/main" id="{DB583CF0-1E19-CA2F-7143-1D473C908882}"/>
              </a:ext>
            </a:extLst>
          </p:cNvPr>
          <p:cNvGraphicFramePr>
            <a:graphicFrameLocks noGrp="1"/>
          </p:cNvGraphicFramePr>
          <p:nvPr>
            <p:extLst>
              <p:ext uri="{D42A27DB-BD31-4B8C-83A1-F6EECF244321}">
                <p14:modId xmlns:p14="http://schemas.microsoft.com/office/powerpoint/2010/main" val="231269300"/>
              </p:ext>
            </p:extLst>
          </p:nvPr>
        </p:nvGraphicFramePr>
        <p:xfrm>
          <a:off x="1388775" y="2790848"/>
          <a:ext cx="15504038" cy="6854758"/>
        </p:xfrm>
        <a:graphic>
          <a:graphicData uri="http://schemas.openxmlformats.org/drawingml/2006/table">
            <a:tbl>
              <a:tblPr firstRow="1" firstCol="1" bandRow="1">
                <a:tableStyleId>{5C22544A-7EE6-4342-B048-85BDC9FD1C3A}</a:tableStyleId>
              </a:tblPr>
              <a:tblGrid>
                <a:gridCol w="2160874">
                  <a:extLst>
                    <a:ext uri="{9D8B030D-6E8A-4147-A177-3AD203B41FA5}">
                      <a16:colId xmlns:a16="http://schemas.microsoft.com/office/drawing/2014/main" val="4264989001"/>
                    </a:ext>
                  </a:extLst>
                </a:gridCol>
                <a:gridCol w="1593080">
                  <a:extLst>
                    <a:ext uri="{9D8B030D-6E8A-4147-A177-3AD203B41FA5}">
                      <a16:colId xmlns:a16="http://schemas.microsoft.com/office/drawing/2014/main" val="2504874653"/>
                    </a:ext>
                  </a:extLst>
                </a:gridCol>
                <a:gridCol w="1585845">
                  <a:extLst>
                    <a:ext uri="{9D8B030D-6E8A-4147-A177-3AD203B41FA5}">
                      <a16:colId xmlns:a16="http://schemas.microsoft.com/office/drawing/2014/main" val="3285475284"/>
                    </a:ext>
                  </a:extLst>
                </a:gridCol>
                <a:gridCol w="1640093">
                  <a:extLst>
                    <a:ext uri="{9D8B030D-6E8A-4147-A177-3AD203B41FA5}">
                      <a16:colId xmlns:a16="http://schemas.microsoft.com/office/drawing/2014/main" val="917482773"/>
                    </a:ext>
                  </a:extLst>
                </a:gridCol>
                <a:gridCol w="1531596">
                  <a:extLst>
                    <a:ext uri="{9D8B030D-6E8A-4147-A177-3AD203B41FA5}">
                      <a16:colId xmlns:a16="http://schemas.microsoft.com/office/drawing/2014/main" val="3212712103"/>
                    </a:ext>
                  </a:extLst>
                </a:gridCol>
                <a:gridCol w="2330850">
                  <a:extLst>
                    <a:ext uri="{9D8B030D-6E8A-4147-A177-3AD203B41FA5}">
                      <a16:colId xmlns:a16="http://schemas.microsoft.com/office/drawing/2014/main" val="3712075765"/>
                    </a:ext>
                  </a:extLst>
                </a:gridCol>
                <a:gridCol w="2330850">
                  <a:extLst>
                    <a:ext uri="{9D8B030D-6E8A-4147-A177-3AD203B41FA5}">
                      <a16:colId xmlns:a16="http://schemas.microsoft.com/office/drawing/2014/main" val="968965441"/>
                    </a:ext>
                  </a:extLst>
                </a:gridCol>
                <a:gridCol w="2330850">
                  <a:extLst>
                    <a:ext uri="{9D8B030D-6E8A-4147-A177-3AD203B41FA5}">
                      <a16:colId xmlns:a16="http://schemas.microsoft.com/office/drawing/2014/main" val="566673088"/>
                    </a:ext>
                  </a:extLst>
                </a:gridCol>
              </a:tblGrid>
              <a:tr h="1734118">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Mesh Number</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Mass Fraction Feed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Mass Fraction in Oversize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Mass fraction in under 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Cummulative mass Fraction Feed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Cummulative Mass Fraction in Oversize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Cummulative Mass fraction in under 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7154784"/>
                  </a:ext>
                </a:extLst>
              </a:tr>
              <a:tr h="301861">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3891442818"/>
                  </a:ext>
                </a:extLst>
              </a:tr>
              <a:tr h="301861">
                <a:tc>
                  <a:txBody>
                    <a:bodyPr/>
                    <a:lstStyle/>
                    <a:p>
                      <a:pPr marL="0" marR="0" algn="ctr">
                        <a:spcBef>
                          <a:spcPts val="0"/>
                        </a:spcBef>
                        <a:spcAft>
                          <a:spcPts val="0"/>
                        </a:spcAft>
                      </a:pPr>
                      <a:r>
                        <a:rPr lang="en-US" sz="2400">
                          <a:effectLst/>
                        </a:rPr>
                        <a:t>-3+4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0.0107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0.018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0.9893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0.982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735567912"/>
                  </a:ext>
                </a:extLst>
              </a:tr>
              <a:tr h="301861">
                <a:tc>
                  <a:txBody>
                    <a:bodyPr/>
                    <a:lstStyle/>
                    <a:p>
                      <a:pPr marL="0" marR="0" algn="ctr">
                        <a:spcBef>
                          <a:spcPts val="0"/>
                        </a:spcBef>
                        <a:spcAft>
                          <a:spcPts val="0"/>
                        </a:spcAft>
                      </a:pPr>
                      <a:r>
                        <a:rPr lang="en-US" sz="2400">
                          <a:effectLst/>
                        </a:rPr>
                        <a:t>-4+6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0.0235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0.033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0.9658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0.949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3081037908"/>
                  </a:ext>
                </a:extLst>
              </a:tr>
              <a:tr h="301861">
                <a:tc>
                  <a:txBody>
                    <a:bodyPr/>
                    <a:lstStyle/>
                    <a:p>
                      <a:pPr marL="0" marR="0" algn="ctr">
                        <a:spcBef>
                          <a:spcPts val="0"/>
                        </a:spcBef>
                        <a:spcAft>
                          <a:spcPts val="0"/>
                        </a:spcAft>
                      </a:pPr>
                      <a:r>
                        <a:rPr lang="en-US" sz="2400">
                          <a:effectLst/>
                        </a:rPr>
                        <a:t>-6+8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0.0672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0.088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0.8986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0.861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3497084692"/>
                  </a:ext>
                </a:extLst>
              </a:tr>
              <a:tr h="301861">
                <a:tc>
                  <a:txBody>
                    <a:bodyPr/>
                    <a:lstStyle/>
                    <a:p>
                      <a:pPr marL="0" marR="0" algn="ctr">
                        <a:spcBef>
                          <a:spcPts val="0"/>
                        </a:spcBef>
                        <a:spcAft>
                          <a:spcPts val="0"/>
                        </a:spcAft>
                      </a:pPr>
                      <a:r>
                        <a:rPr lang="en-US" sz="2400">
                          <a:effectLst/>
                        </a:rPr>
                        <a:t>-8+10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0.0864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0.8122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0.749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2837442296"/>
                  </a:ext>
                </a:extLst>
              </a:tr>
              <a:tr h="301861">
                <a:tc>
                  <a:txBody>
                    <a:bodyPr/>
                    <a:lstStyle/>
                    <a:p>
                      <a:pPr marL="0" marR="0" algn="ctr">
                        <a:spcBef>
                          <a:spcPts val="0"/>
                        </a:spcBef>
                        <a:spcAft>
                          <a:spcPts val="0"/>
                        </a:spcAft>
                      </a:pPr>
                      <a:r>
                        <a:rPr lang="en-US" sz="2400">
                          <a:effectLst/>
                        </a:rPr>
                        <a:t>-10+14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0.1087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0.142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0.7035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0.607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1285398172"/>
                  </a:ext>
                </a:extLst>
              </a:tr>
              <a:tr h="301861">
                <a:tc>
                  <a:txBody>
                    <a:bodyPr/>
                    <a:lstStyle/>
                    <a:p>
                      <a:pPr marL="0" marR="0" algn="ctr">
                        <a:spcBef>
                          <a:spcPts val="0"/>
                        </a:spcBef>
                        <a:spcAft>
                          <a:spcPts val="0"/>
                        </a:spcAft>
                      </a:pPr>
                      <a:r>
                        <a:rPr lang="en-US" sz="2400">
                          <a:effectLst/>
                        </a:rPr>
                        <a:t>-14+20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0.1759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0.229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0.5276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0.378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4198911836"/>
                  </a:ext>
                </a:extLst>
              </a:tr>
              <a:tr h="301861">
                <a:tc>
                  <a:txBody>
                    <a:bodyPr/>
                    <a:lstStyle/>
                    <a:p>
                      <a:pPr marL="0" marR="0" algn="ctr">
                        <a:spcBef>
                          <a:spcPts val="0"/>
                        </a:spcBef>
                        <a:spcAft>
                          <a:spcPts val="0"/>
                        </a:spcAft>
                      </a:pPr>
                      <a:r>
                        <a:rPr lang="en-US" sz="2400">
                          <a:effectLst/>
                        </a:rPr>
                        <a:t>-20+28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0.1397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0.182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0.3879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0.196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493931569"/>
                  </a:ext>
                </a:extLst>
              </a:tr>
              <a:tr h="301861">
                <a:tc>
                  <a:txBody>
                    <a:bodyPr/>
                    <a:lstStyle/>
                    <a:p>
                      <a:pPr marL="0" marR="0" algn="ctr">
                        <a:spcBef>
                          <a:spcPts val="0"/>
                        </a:spcBef>
                        <a:spcAft>
                          <a:spcPts val="0"/>
                        </a:spcAft>
                      </a:pPr>
                      <a:r>
                        <a:rPr lang="en-US" sz="2400">
                          <a:effectLst/>
                        </a:rPr>
                        <a:t>-28+35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0.1077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0.104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0.1195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0.2802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0.092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0.8805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3108200078"/>
                  </a:ext>
                </a:extLst>
              </a:tr>
              <a:tr h="301861">
                <a:tc>
                  <a:txBody>
                    <a:bodyPr/>
                    <a:lstStyle/>
                    <a:p>
                      <a:pPr marL="0" marR="0" algn="ctr">
                        <a:spcBef>
                          <a:spcPts val="0"/>
                        </a:spcBef>
                        <a:spcAft>
                          <a:spcPts val="0"/>
                        </a:spcAft>
                      </a:pPr>
                      <a:r>
                        <a:rPr lang="en-US" sz="2400">
                          <a:effectLst/>
                        </a:rPr>
                        <a:t>-35+48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solidFill>
                            <a:srgbClr val="FF0000"/>
                          </a:solidFill>
                          <a:effectLst/>
                          <a:highlight>
                            <a:srgbClr val="FFFF00"/>
                          </a:highlight>
                        </a:rPr>
                        <a:t>48</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effectLst/>
                        </a:rPr>
                        <a:t>0.1013</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effectLst/>
                        </a:rPr>
                        <a:t>0.065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effectLst/>
                        </a:rPr>
                        <a:t>0.2198</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solidFill>
                            <a:srgbClr val="FF0000"/>
                          </a:solidFill>
                          <a:effectLst/>
                          <a:highlight>
                            <a:srgbClr val="FFFF00"/>
                          </a:highlight>
                        </a:rPr>
                        <a:t>0.1789</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solidFill>
                            <a:srgbClr val="FF0000"/>
                          </a:solidFill>
                          <a:effectLst/>
                          <a:highlight>
                            <a:srgbClr val="FFFF00"/>
                          </a:highlight>
                        </a:rPr>
                        <a:t>0.027</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solidFill>
                            <a:srgbClr val="FF0000"/>
                          </a:solidFill>
                          <a:effectLst/>
                          <a:highlight>
                            <a:srgbClr val="FFFF00"/>
                          </a:highlight>
                        </a:rPr>
                        <a:t>0.6607</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3978639130"/>
                  </a:ext>
                </a:extLst>
              </a:tr>
              <a:tr h="301861">
                <a:tc>
                  <a:txBody>
                    <a:bodyPr/>
                    <a:lstStyle/>
                    <a:p>
                      <a:pPr marL="0" marR="0" algn="ctr">
                        <a:spcBef>
                          <a:spcPts val="0"/>
                        </a:spcBef>
                        <a:spcAft>
                          <a:spcPts val="0"/>
                        </a:spcAft>
                      </a:pPr>
                      <a:r>
                        <a:rPr lang="en-US" sz="2400">
                          <a:effectLst/>
                        </a:rPr>
                        <a:t>-48+65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0.0746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0.025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0.2391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0.1043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effectLst/>
                        </a:rPr>
                        <a:t>0.4216</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3462170083"/>
                  </a:ext>
                </a:extLst>
              </a:tr>
              <a:tr h="301861">
                <a:tc>
                  <a:txBody>
                    <a:bodyPr/>
                    <a:lstStyle/>
                    <a:p>
                      <a:pPr marL="0" marR="0" algn="ctr">
                        <a:spcBef>
                          <a:spcPts val="0"/>
                        </a:spcBef>
                        <a:spcAft>
                          <a:spcPts val="0"/>
                        </a:spcAft>
                      </a:pPr>
                      <a:r>
                        <a:rPr lang="en-US" sz="2400">
                          <a:effectLst/>
                        </a:rPr>
                        <a:t>-65+100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0.051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0.1877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0.0533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0.2339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3201623091"/>
                  </a:ext>
                </a:extLst>
              </a:tr>
              <a:tr h="301861">
                <a:tc>
                  <a:txBody>
                    <a:bodyPr/>
                    <a:lstStyle/>
                    <a:p>
                      <a:pPr marL="0" marR="0" algn="ctr">
                        <a:spcBef>
                          <a:spcPts val="0"/>
                        </a:spcBef>
                        <a:spcAft>
                          <a:spcPts val="0"/>
                        </a:spcAft>
                      </a:pPr>
                      <a:r>
                        <a:rPr lang="en-US" sz="2400">
                          <a:effectLst/>
                        </a:rPr>
                        <a:t>-100+150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0.033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0.1427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0.0203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0.0912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747324154"/>
                  </a:ext>
                </a:extLst>
              </a:tr>
              <a:tr h="301861">
                <a:tc>
                  <a:txBody>
                    <a:bodyPr/>
                    <a:lstStyle/>
                    <a:p>
                      <a:pPr marL="0" marR="0" algn="ctr">
                        <a:spcBef>
                          <a:spcPts val="0"/>
                        </a:spcBef>
                        <a:spcAft>
                          <a:spcPts val="0"/>
                        </a:spcAft>
                      </a:pPr>
                      <a:r>
                        <a:rPr lang="en-US" sz="2400">
                          <a:effectLst/>
                        </a:rPr>
                        <a:t>-150+200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tc>
                  <a:txBody>
                    <a:bodyPr/>
                    <a:lstStyle/>
                    <a:p>
                      <a:pPr marL="0" marR="0" algn="ctr">
                        <a:spcBef>
                          <a:spcPts val="0"/>
                        </a:spcBef>
                        <a:spcAft>
                          <a:spcPts val="0"/>
                        </a:spcAft>
                      </a:pPr>
                      <a:r>
                        <a:rPr lang="en-US" sz="2400" dirty="0">
                          <a:effectLst/>
                        </a:rPr>
                        <a:t> </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2595" marR="42595" marT="0" marB="0" anchor="b"/>
                </a:tc>
                <a:extLst>
                  <a:ext uri="{0D108BD9-81ED-4DB2-BD59-A6C34878D82A}">
                    <a16:rowId xmlns:a16="http://schemas.microsoft.com/office/drawing/2014/main" val="1590217260"/>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37A202C-0FF9-1CB0-E44F-F4091762CACD}"/>
                  </a:ext>
                </a:extLst>
              </p:cNvPr>
              <p:cNvSpPr txBox="1"/>
              <p:nvPr/>
            </p:nvSpPr>
            <p:spPr>
              <a:xfrm>
                <a:off x="1362999" y="9830645"/>
                <a:ext cx="1992307" cy="1015663"/>
              </a:xfrm>
              <a:prstGeom prst="rect">
                <a:avLst/>
              </a:prstGeom>
              <a:noFill/>
            </p:spPr>
            <p:txBody>
              <a:bodyPr wrap="square">
                <a:spAutoFit/>
              </a:bodyPr>
              <a:lstStyle/>
              <a:p>
                <a:pPr marL="0" marR="0" algn="just">
                  <a:spcBef>
                    <a:spcPts val="0"/>
                  </a:spcBef>
                  <a:spcAft>
                    <a:spcPts val="0"/>
                  </a:spcAft>
                </a:pPr>
                <a14:m>
                  <m:oMath xmlns:m="http://schemas.openxmlformats.org/officeDocument/2006/math">
                    <m:sSub>
                      <m:sSubPr>
                        <m:ctrlPr>
                          <a:rPr lang="en-US" sz="2000" b="1" i="1" smtClean="0">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𝒙</m:t>
                        </m:r>
                      </m:e>
                      <m:sub>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𝑨</m:t>
                        </m:r>
                      </m:sub>
                    </m:sSub>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2000" b="1" dirty="0">
                    <a:solidFill>
                      <a:srgbClr val="FF0000"/>
                    </a:solidFill>
                    <a:effectLst/>
                    <a:ea typeface="Times New Roman" panose="02020603050405020304" pitchFamily="18" charset="0"/>
                  </a:rPr>
                  <a:t>0.1789</a:t>
                </a:r>
                <a:endParaRPr lang="en-US" sz="2000" b="1"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14:m>
                  <m:oMath xmlns:m="http://schemas.openxmlformats.org/officeDocument/2006/math">
                    <m:sSub>
                      <m:sSubPr>
                        <m:ctrlP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𝒙</m:t>
                        </m:r>
                      </m:e>
                      <m:sub>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𝑩</m:t>
                        </m:r>
                      </m:sub>
                    </m:sSub>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2000" b="1" dirty="0">
                    <a:solidFill>
                      <a:srgbClr val="FF0000"/>
                    </a:solidFill>
                    <a:effectLst/>
                    <a:ea typeface="Times New Roman" panose="02020603050405020304" pitchFamily="18" charset="0"/>
                  </a:rPr>
                  <a:t>0.027</a:t>
                </a:r>
                <a:endParaRPr lang="en-US" sz="2000" b="1"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14:m>
                  <m:oMath xmlns:m="http://schemas.openxmlformats.org/officeDocument/2006/math">
                    <m:sSub>
                      <m:sSubPr>
                        <m:ctrlP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𝒙</m:t>
                        </m:r>
                      </m:e>
                      <m:sub>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𝒄</m:t>
                        </m:r>
                      </m:sub>
                    </m:sSub>
                    <m:r>
                      <a:rPr lang="en-US" sz="2000" b="1" i="1">
                        <a:solidFill>
                          <a:srgbClr val="FF0000"/>
                        </a:solidFill>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2000" b="1" dirty="0">
                    <a:solidFill>
                      <a:srgbClr val="FF0000"/>
                    </a:solidFill>
                    <a:effectLst/>
                    <a:ea typeface="Times New Roman" panose="02020603050405020304" pitchFamily="18" charset="0"/>
                  </a:rPr>
                  <a:t>0.6607</a:t>
                </a:r>
                <a:endParaRPr lang="en-US" sz="2000" b="1" dirty="0">
                  <a:solidFill>
                    <a:srgbClr val="FF0000"/>
                  </a:solidFill>
                  <a:effectLst/>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937A202C-0FF9-1CB0-E44F-F4091762CACD}"/>
                  </a:ext>
                </a:extLst>
              </p:cNvPr>
              <p:cNvSpPr txBox="1">
                <a:spLocks noRot="1" noChangeAspect="1" noMove="1" noResize="1" noEditPoints="1" noAdjustHandles="1" noChangeArrowheads="1" noChangeShapeType="1" noTextEdit="1"/>
              </p:cNvSpPr>
              <p:nvPr/>
            </p:nvSpPr>
            <p:spPr>
              <a:xfrm>
                <a:off x="1362999" y="9830645"/>
                <a:ext cx="1992307" cy="1015663"/>
              </a:xfrm>
              <a:prstGeom prst="rect">
                <a:avLst/>
              </a:prstGeom>
              <a:blipFill>
                <a:blip r:embed="rId3"/>
                <a:stretch>
                  <a:fillRect t="-3614" b="-10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E311DAD-004B-0EAC-B758-8AFA5B8DE41B}"/>
                  </a:ext>
                </a:extLst>
              </p:cNvPr>
              <p:cNvSpPr txBox="1"/>
              <p:nvPr/>
            </p:nvSpPr>
            <p:spPr>
              <a:xfrm>
                <a:off x="4939482" y="9967870"/>
                <a:ext cx="12055896" cy="1291507"/>
              </a:xfrm>
              <a:prstGeom prst="rect">
                <a:avLst/>
              </a:prstGeom>
              <a:noFill/>
            </p:spPr>
            <p:txBody>
              <a:bodyPr wrap="square">
                <a:spAutoFit/>
              </a:bodyPr>
              <a:lstStyle/>
              <a:p>
                <a:pPr marL="0" marR="0" algn="just">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FF0000"/>
                          </a:solidFill>
                          <a:effectLst/>
                          <a:latin typeface="Cambria Math" panose="02040503050406030204" pitchFamily="18" charset="0"/>
                          <a:ea typeface="Times New Roman" panose="02020603050405020304" pitchFamily="18" charset="0"/>
                        </a:rPr>
                        <m:t>𝑬</m:t>
                      </m:r>
                      <m:r>
                        <a:rPr lang="en-US" sz="2400" b="1" i="1" smtClean="0">
                          <a:solidFill>
                            <a:srgbClr val="FF0000"/>
                          </a:solidFill>
                          <a:effectLst/>
                          <a:latin typeface="Cambria Math" panose="02040503050406030204" pitchFamily="18" charset="0"/>
                          <a:ea typeface="Times New Roman" panose="02020603050405020304" pitchFamily="18" charset="0"/>
                        </a:rPr>
                        <m:t>=</m:t>
                      </m:r>
                      <m:d>
                        <m:dPr>
                          <m:begChr m:val="["/>
                          <m:endChr m:val="]"/>
                          <m:ctrlPr>
                            <a:rPr lang="en-US" sz="2400" b="1" i="1">
                              <a:solidFill>
                                <a:srgbClr val="FF0000"/>
                              </a:solidFill>
                              <a:effectLst/>
                              <a:latin typeface="Cambria Math" panose="02040503050406030204" pitchFamily="18" charset="0"/>
                              <a:ea typeface="Times New Roman" panose="02020603050405020304" pitchFamily="18" charset="0"/>
                            </a:rPr>
                          </m:ctrlPr>
                        </m:dPr>
                        <m:e>
                          <m:d>
                            <m:dPr>
                              <m:ctrlPr>
                                <a:rPr lang="en-US" sz="2400" b="1" i="1">
                                  <a:solidFill>
                                    <a:srgbClr val="FF0000"/>
                                  </a:solidFill>
                                  <a:effectLst/>
                                  <a:latin typeface="Cambria Math" panose="02040503050406030204" pitchFamily="18" charset="0"/>
                                  <a:ea typeface="Times New Roman" panose="02020603050405020304" pitchFamily="18" charset="0"/>
                                </a:rPr>
                              </m:ctrlPr>
                            </m:dPr>
                            <m:e>
                              <m:f>
                                <m:fPr>
                                  <m:ctrlPr>
                                    <a:rPr lang="en-US" sz="2400" b="1" i="1">
                                      <a:solidFill>
                                        <a:srgbClr val="FF0000"/>
                                      </a:solidFill>
                                      <a:effectLst/>
                                      <a:latin typeface="Cambria Math" panose="02040503050406030204" pitchFamily="18" charset="0"/>
                                      <a:ea typeface="Times New Roman" panose="02020603050405020304" pitchFamily="18" charset="0"/>
                                    </a:rPr>
                                  </m:ctrlPr>
                                </m:fPr>
                                <m:num>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𝑨</m:t>
                                      </m:r>
                                    </m:sub>
                                  </m:sSub>
                                  <m:r>
                                    <a:rPr lang="en-US" sz="2400" b="1" i="1">
                                      <a:solidFill>
                                        <a:srgbClr val="FF0000"/>
                                      </a:solidFill>
                                      <a:effectLst/>
                                      <a:latin typeface="Cambria Math" panose="02040503050406030204" pitchFamily="18" charset="0"/>
                                      <a:ea typeface="Times New Roman" panose="02020603050405020304" pitchFamily="18" charset="0"/>
                                    </a:rPr>
                                    <m:t>−</m:t>
                                  </m:r>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𝑪</m:t>
                                      </m:r>
                                    </m:sub>
                                  </m:sSub>
                                </m:num>
                                <m:den>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𝑩</m:t>
                                      </m:r>
                                    </m:sub>
                                  </m:sSub>
                                  <m:r>
                                    <a:rPr lang="en-US" sz="2400" b="1" i="1">
                                      <a:solidFill>
                                        <a:srgbClr val="FF0000"/>
                                      </a:solidFill>
                                      <a:effectLst/>
                                      <a:latin typeface="Cambria Math" panose="02040503050406030204" pitchFamily="18" charset="0"/>
                                      <a:ea typeface="Times New Roman" panose="02020603050405020304" pitchFamily="18" charset="0"/>
                                    </a:rPr>
                                    <m:t>−</m:t>
                                  </m:r>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𝑪</m:t>
                                      </m:r>
                                    </m:sub>
                                  </m:sSub>
                                </m:den>
                              </m:f>
                            </m:e>
                          </m:d>
                          <m:r>
                            <a:rPr lang="en-US" sz="2400" b="1" i="1">
                              <a:solidFill>
                                <a:srgbClr val="FF0000"/>
                              </a:solidFill>
                              <a:effectLst/>
                              <a:latin typeface="Cambria Math" panose="02040503050406030204" pitchFamily="18" charset="0"/>
                              <a:ea typeface="Times New Roman" panose="02020603050405020304" pitchFamily="18" charset="0"/>
                            </a:rPr>
                            <m:t> </m:t>
                          </m:r>
                          <m:f>
                            <m:fPr>
                              <m:ctrlPr>
                                <a:rPr lang="en-US" sz="2400" b="1" i="1">
                                  <a:solidFill>
                                    <a:srgbClr val="FF0000"/>
                                  </a:solidFill>
                                  <a:effectLst/>
                                  <a:latin typeface="Cambria Math" panose="02040503050406030204" pitchFamily="18" charset="0"/>
                                  <a:ea typeface="Times New Roman" panose="02020603050405020304" pitchFamily="18" charset="0"/>
                                </a:rPr>
                              </m:ctrlPr>
                            </m:fPr>
                            <m:num>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𝑩</m:t>
                                  </m:r>
                                </m:sub>
                              </m:sSub>
                            </m:num>
                            <m:den>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𝑨</m:t>
                                  </m:r>
                                </m:sub>
                              </m:sSub>
                            </m:den>
                          </m:f>
                        </m:e>
                      </m:d>
                      <m:r>
                        <a:rPr lang="en-US" sz="2400" b="1" i="1">
                          <a:solidFill>
                            <a:srgbClr val="FF0000"/>
                          </a:solidFill>
                          <a:effectLst/>
                          <a:latin typeface="Cambria Math" panose="02040503050406030204" pitchFamily="18" charset="0"/>
                          <a:ea typeface="Times New Roman" panose="02020603050405020304" pitchFamily="18" charset="0"/>
                        </a:rPr>
                        <m:t> </m:t>
                      </m:r>
                      <m:d>
                        <m:dPr>
                          <m:begChr m:val="["/>
                          <m:endChr m:val="]"/>
                          <m:ctrlPr>
                            <a:rPr lang="en-US" sz="2400" b="1" i="1">
                              <a:solidFill>
                                <a:srgbClr val="FF0000"/>
                              </a:solidFill>
                              <a:effectLst/>
                              <a:latin typeface="Cambria Math" panose="02040503050406030204" pitchFamily="18" charset="0"/>
                              <a:ea typeface="Times New Roman" panose="02020603050405020304" pitchFamily="18" charset="0"/>
                            </a:rPr>
                          </m:ctrlPr>
                        </m:dPr>
                        <m:e>
                          <m:r>
                            <a:rPr lang="en-US" sz="2400" b="1" i="1">
                              <a:solidFill>
                                <a:srgbClr val="FF0000"/>
                              </a:solidFill>
                              <a:effectLst/>
                              <a:latin typeface="Cambria Math" panose="02040503050406030204" pitchFamily="18" charset="0"/>
                              <a:ea typeface="Times New Roman" panose="02020603050405020304" pitchFamily="18" charset="0"/>
                            </a:rPr>
                            <m:t>𝟏</m:t>
                          </m:r>
                          <m:r>
                            <a:rPr lang="en-US" sz="2400" b="1" i="1">
                              <a:solidFill>
                                <a:srgbClr val="FF0000"/>
                              </a:solidFill>
                              <a:effectLst/>
                              <a:latin typeface="Cambria Math" panose="02040503050406030204" pitchFamily="18" charset="0"/>
                              <a:ea typeface="Times New Roman" panose="02020603050405020304" pitchFamily="18" charset="0"/>
                            </a:rPr>
                            <m:t>−</m:t>
                          </m:r>
                          <m:d>
                            <m:dPr>
                              <m:ctrlPr>
                                <a:rPr lang="en-US" sz="2400" b="1" i="1">
                                  <a:solidFill>
                                    <a:srgbClr val="FF0000"/>
                                  </a:solidFill>
                                  <a:effectLst/>
                                  <a:latin typeface="Cambria Math" panose="02040503050406030204" pitchFamily="18" charset="0"/>
                                  <a:ea typeface="Times New Roman" panose="02020603050405020304" pitchFamily="18" charset="0"/>
                                </a:rPr>
                              </m:ctrlPr>
                            </m:dPr>
                            <m:e>
                              <m:f>
                                <m:fPr>
                                  <m:ctrlPr>
                                    <a:rPr lang="en-US" sz="2400" b="1" i="1">
                                      <a:solidFill>
                                        <a:srgbClr val="FF0000"/>
                                      </a:solidFill>
                                      <a:effectLst/>
                                      <a:latin typeface="Cambria Math" panose="02040503050406030204" pitchFamily="18" charset="0"/>
                                      <a:ea typeface="Times New Roman" panose="02020603050405020304" pitchFamily="18" charset="0"/>
                                    </a:rPr>
                                  </m:ctrlPr>
                                </m:fPr>
                                <m:num>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𝑨</m:t>
                                      </m:r>
                                    </m:sub>
                                  </m:sSub>
                                  <m:r>
                                    <a:rPr lang="en-US" sz="2400" b="1" i="1">
                                      <a:solidFill>
                                        <a:srgbClr val="FF0000"/>
                                      </a:solidFill>
                                      <a:effectLst/>
                                      <a:latin typeface="Cambria Math" panose="02040503050406030204" pitchFamily="18" charset="0"/>
                                      <a:ea typeface="Times New Roman" panose="02020603050405020304" pitchFamily="18" charset="0"/>
                                    </a:rPr>
                                    <m:t>−</m:t>
                                  </m:r>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𝑪</m:t>
                                      </m:r>
                                    </m:sub>
                                  </m:sSub>
                                </m:num>
                                <m:den>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𝑩</m:t>
                                      </m:r>
                                    </m:sub>
                                  </m:sSub>
                                  <m:r>
                                    <a:rPr lang="en-US" sz="2400" b="1" i="1">
                                      <a:solidFill>
                                        <a:srgbClr val="FF0000"/>
                                      </a:solidFill>
                                      <a:effectLst/>
                                      <a:latin typeface="Cambria Math" panose="02040503050406030204" pitchFamily="18" charset="0"/>
                                      <a:ea typeface="Times New Roman" panose="02020603050405020304" pitchFamily="18" charset="0"/>
                                    </a:rPr>
                                    <m:t>−</m:t>
                                  </m:r>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𝑪</m:t>
                                      </m:r>
                                    </m:sub>
                                  </m:sSub>
                                </m:den>
                              </m:f>
                            </m:e>
                          </m:d>
                          <m:d>
                            <m:dPr>
                              <m:ctrlPr>
                                <a:rPr lang="en-US" sz="2400" b="1" i="1">
                                  <a:solidFill>
                                    <a:srgbClr val="FF0000"/>
                                  </a:solidFill>
                                  <a:effectLst/>
                                  <a:latin typeface="Cambria Math" panose="02040503050406030204" pitchFamily="18" charset="0"/>
                                  <a:ea typeface="Times New Roman" panose="02020603050405020304" pitchFamily="18" charset="0"/>
                                </a:rPr>
                              </m:ctrlPr>
                            </m:dPr>
                            <m:e>
                              <m:f>
                                <m:fPr>
                                  <m:ctrlPr>
                                    <a:rPr lang="en-US" sz="2400" b="1" i="1">
                                      <a:solidFill>
                                        <a:srgbClr val="FF0000"/>
                                      </a:solidFill>
                                      <a:effectLst/>
                                      <a:latin typeface="Cambria Math" panose="02040503050406030204" pitchFamily="18" charset="0"/>
                                      <a:ea typeface="Times New Roman" panose="02020603050405020304" pitchFamily="18" charset="0"/>
                                    </a:rPr>
                                  </m:ctrlPr>
                                </m:fPr>
                                <m:num>
                                  <m:r>
                                    <a:rPr lang="en-US" sz="2400" b="1" i="1">
                                      <a:solidFill>
                                        <a:srgbClr val="FF0000"/>
                                      </a:solidFill>
                                      <a:effectLst/>
                                      <a:latin typeface="Cambria Math" panose="02040503050406030204" pitchFamily="18" charset="0"/>
                                      <a:ea typeface="Times New Roman" panose="02020603050405020304" pitchFamily="18" charset="0"/>
                                    </a:rPr>
                                    <m:t>𝟏</m:t>
                                  </m:r>
                                  <m:r>
                                    <a:rPr lang="en-US" sz="2400" b="1" i="1">
                                      <a:solidFill>
                                        <a:srgbClr val="FF0000"/>
                                      </a:solidFill>
                                      <a:effectLst/>
                                      <a:latin typeface="Cambria Math" panose="02040503050406030204" pitchFamily="18" charset="0"/>
                                      <a:ea typeface="Times New Roman" panose="02020603050405020304" pitchFamily="18" charset="0"/>
                                    </a:rPr>
                                    <m:t>−</m:t>
                                  </m:r>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𝑩</m:t>
                                      </m:r>
                                    </m:sub>
                                  </m:sSub>
                                </m:num>
                                <m:den>
                                  <m:r>
                                    <a:rPr lang="en-US" sz="2400" b="1" i="1">
                                      <a:solidFill>
                                        <a:srgbClr val="FF0000"/>
                                      </a:solidFill>
                                      <a:effectLst/>
                                      <a:latin typeface="Cambria Math" panose="02040503050406030204" pitchFamily="18" charset="0"/>
                                      <a:ea typeface="Times New Roman" panose="02020603050405020304" pitchFamily="18" charset="0"/>
                                    </a:rPr>
                                    <m:t>𝟏</m:t>
                                  </m:r>
                                  <m:r>
                                    <a:rPr lang="en-US" sz="2400" b="1" i="1">
                                      <a:solidFill>
                                        <a:srgbClr val="FF0000"/>
                                      </a:solidFill>
                                      <a:effectLst/>
                                      <a:latin typeface="Cambria Math" panose="02040503050406030204" pitchFamily="18" charset="0"/>
                                      <a:ea typeface="Times New Roman" panose="02020603050405020304" pitchFamily="18" charset="0"/>
                                    </a:rPr>
                                    <m:t>−</m:t>
                                  </m:r>
                                  <m:sSub>
                                    <m:sSubPr>
                                      <m:ctrlPr>
                                        <a:rPr lang="en-US" sz="2400" b="1" i="1">
                                          <a:solidFill>
                                            <a:srgbClr val="FF0000"/>
                                          </a:solidFill>
                                          <a:effectLst/>
                                          <a:latin typeface="Cambria Math" panose="02040503050406030204" pitchFamily="18" charset="0"/>
                                          <a:ea typeface="Times New Roman" panose="02020603050405020304" pitchFamily="18" charset="0"/>
                                        </a:rPr>
                                      </m:ctrlPr>
                                    </m:sSubPr>
                                    <m:e>
                                      <m:r>
                                        <a:rPr lang="en-US" sz="2400" b="1" i="1">
                                          <a:solidFill>
                                            <a:srgbClr val="FF0000"/>
                                          </a:solidFill>
                                          <a:effectLst/>
                                          <a:latin typeface="Cambria Math" panose="02040503050406030204" pitchFamily="18" charset="0"/>
                                          <a:ea typeface="Times New Roman" panose="02020603050405020304" pitchFamily="18" charset="0"/>
                                        </a:rPr>
                                        <m:t>𝒙</m:t>
                                      </m:r>
                                    </m:e>
                                    <m:sub>
                                      <m:r>
                                        <a:rPr lang="en-US" sz="2400" b="1" i="1">
                                          <a:solidFill>
                                            <a:srgbClr val="FF0000"/>
                                          </a:solidFill>
                                          <a:effectLst/>
                                          <a:latin typeface="Cambria Math" panose="02040503050406030204" pitchFamily="18" charset="0"/>
                                          <a:ea typeface="Times New Roman" panose="02020603050405020304" pitchFamily="18" charset="0"/>
                                        </a:rPr>
                                        <m:t>𝑨</m:t>
                                      </m:r>
                                    </m:sub>
                                  </m:sSub>
                                </m:den>
                              </m:f>
                            </m:e>
                          </m:d>
                        </m:e>
                      </m:d>
                      <m:r>
                        <a:rPr lang="en-US" sz="2400" b="1" i="1">
                          <a:solidFill>
                            <a:srgbClr val="FF0000"/>
                          </a:solidFill>
                          <a:effectLst/>
                          <a:latin typeface="Cambria Math" panose="02040503050406030204" pitchFamily="18" charset="0"/>
                          <a:ea typeface="Times New Roman" panose="02020603050405020304" pitchFamily="18" charset="0"/>
                        </a:rPr>
                        <m:t>=</m:t>
                      </m:r>
                      <m:r>
                        <a:rPr lang="en-US" sz="2400" b="1" i="1">
                          <a:solidFill>
                            <a:srgbClr val="FF0000"/>
                          </a:solidFill>
                          <a:effectLst/>
                          <a:latin typeface="Cambria Math" panose="02040503050406030204" pitchFamily="18" charset="0"/>
                          <a:ea typeface="Times New Roman" panose="02020603050405020304" pitchFamily="18" charset="0"/>
                        </a:rPr>
                        <m:t>𝟎</m:t>
                      </m:r>
                      <m:r>
                        <a:rPr lang="en-US" sz="2400" b="1" i="1">
                          <a:solidFill>
                            <a:srgbClr val="FF0000"/>
                          </a:solidFill>
                          <a:effectLst/>
                          <a:latin typeface="Cambria Math" panose="02040503050406030204" pitchFamily="18" charset="0"/>
                          <a:ea typeface="Times New Roman" panose="02020603050405020304" pitchFamily="18" charset="0"/>
                        </a:rPr>
                        <m:t>.</m:t>
                      </m:r>
                      <m:r>
                        <a:rPr lang="en-US" sz="2400" b="1" i="1">
                          <a:solidFill>
                            <a:srgbClr val="FF0000"/>
                          </a:solidFill>
                          <a:effectLst/>
                          <a:latin typeface="Cambria Math" panose="02040503050406030204" pitchFamily="18" charset="0"/>
                          <a:ea typeface="Times New Roman" panose="02020603050405020304" pitchFamily="18" charset="0"/>
                        </a:rPr>
                        <m:t>𝟖𝟖𝟓𝟑</m:t>
                      </m:r>
                      <m:r>
                        <a:rPr lang="en-US" sz="2400" b="1" i="1">
                          <a:solidFill>
                            <a:srgbClr val="FF0000"/>
                          </a:solidFill>
                          <a:effectLst/>
                          <a:latin typeface="Cambria Math" panose="02040503050406030204" pitchFamily="18" charset="0"/>
                          <a:ea typeface="Times New Roman" panose="02020603050405020304" pitchFamily="18" charset="0"/>
                        </a:rPr>
                        <m:t> </m:t>
                      </m:r>
                      <m:r>
                        <a:rPr lang="en-US" sz="2400" b="1" i="1">
                          <a:solidFill>
                            <a:srgbClr val="FF0000"/>
                          </a:solidFill>
                          <a:effectLst/>
                          <a:latin typeface="Cambria Math" panose="02040503050406030204" pitchFamily="18" charset="0"/>
                          <a:ea typeface="Times New Roman" panose="02020603050405020304" pitchFamily="18" charset="0"/>
                        </a:rPr>
                        <m:t>𝒙</m:t>
                      </m:r>
                      <m:r>
                        <a:rPr lang="en-US" sz="2400" b="1" i="1">
                          <a:solidFill>
                            <a:srgbClr val="FF0000"/>
                          </a:solidFill>
                          <a:effectLst/>
                          <a:latin typeface="Cambria Math" panose="02040503050406030204" pitchFamily="18" charset="0"/>
                          <a:ea typeface="Times New Roman" panose="02020603050405020304" pitchFamily="18" charset="0"/>
                        </a:rPr>
                        <m:t> </m:t>
                      </m:r>
                      <m:r>
                        <a:rPr lang="en-US" sz="2400" b="1" i="1">
                          <a:solidFill>
                            <a:srgbClr val="FF0000"/>
                          </a:solidFill>
                          <a:effectLst/>
                          <a:latin typeface="Cambria Math" panose="02040503050406030204" pitchFamily="18" charset="0"/>
                          <a:ea typeface="Times New Roman" panose="02020603050405020304" pitchFamily="18" charset="0"/>
                        </a:rPr>
                        <m:t>𝟎</m:t>
                      </m:r>
                      <m:r>
                        <a:rPr lang="en-US" sz="2400" b="1" i="1">
                          <a:solidFill>
                            <a:srgbClr val="FF0000"/>
                          </a:solidFill>
                          <a:effectLst/>
                          <a:latin typeface="Cambria Math" panose="02040503050406030204" pitchFamily="18" charset="0"/>
                          <a:ea typeface="Times New Roman" panose="02020603050405020304" pitchFamily="18" charset="0"/>
                        </a:rPr>
                        <m:t>.</m:t>
                      </m:r>
                      <m:r>
                        <a:rPr lang="en-US" sz="2400" b="1" i="1">
                          <a:solidFill>
                            <a:srgbClr val="FF0000"/>
                          </a:solidFill>
                          <a:effectLst/>
                          <a:latin typeface="Cambria Math" panose="02040503050406030204" pitchFamily="18" charset="0"/>
                          <a:ea typeface="Times New Roman" panose="02020603050405020304" pitchFamily="18" charset="0"/>
                        </a:rPr>
                        <m:t>𝟗</m:t>
                      </m:r>
                      <m:r>
                        <a:rPr lang="en-US" sz="2400" b="1" i="1">
                          <a:solidFill>
                            <a:srgbClr val="FF0000"/>
                          </a:solidFill>
                          <a:effectLst/>
                          <a:latin typeface="Cambria Math" panose="02040503050406030204" pitchFamily="18" charset="0"/>
                          <a:ea typeface="Times New Roman" panose="02020603050405020304" pitchFamily="18" charset="0"/>
                        </a:rPr>
                        <m:t>=</m:t>
                      </m:r>
                      <m:r>
                        <a:rPr lang="en-US" sz="2400" b="1" i="1">
                          <a:solidFill>
                            <a:srgbClr val="FF0000"/>
                          </a:solidFill>
                          <a:effectLst/>
                          <a:latin typeface="Cambria Math" panose="02040503050406030204" pitchFamily="18" charset="0"/>
                          <a:ea typeface="Times New Roman" panose="02020603050405020304" pitchFamily="18" charset="0"/>
                        </a:rPr>
                        <m:t>𝟕𝟗</m:t>
                      </m:r>
                      <m:r>
                        <a:rPr lang="en-US" sz="2400" b="1" i="1">
                          <a:solidFill>
                            <a:srgbClr val="FF0000"/>
                          </a:solidFill>
                          <a:effectLst/>
                          <a:latin typeface="Cambria Math" panose="02040503050406030204" pitchFamily="18" charset="0"/>
                          <a:ea typeface="Times New Roman" panose="02020603050405020304" pitchFamily="18" charset="0"/>
                        </a:rPr>
                        <m:t>.</m:t>
                      </m:r>
                      <m:r>
                        <a:rPr lang="en-US" sz="2400" b="1" i="1">
                          <a:solidFill>
                            <a:srgbClr val="FF0000"/>
                          </a:solidFill>
                          <a:effectLst/>
                          <a:latin typeface="Cambria Math" panose="02040503050406030204" pitchFamily="18" charset="0"/>
                          <a:ea typeface="Times New Roman" panose="02020603050405020304" pitchFamily="18" charset="0"/>
                        </a:rPr>
                        <m:t>𝟕𝟔</m:t>
                      </m:r>
                      <m:r>
                        <a:rPr lang="en-US" sz="2400" b="1" i="1">
                          <a:solidFill>
                            <a:srgbClr val="FF0000"/>
                          </a:solidFill>
                          <a:effectLst/>
                          <a:latin typeface="Cambria Math" panose="02040503050406030204" pitchFamily="18" charset="0"/>
                          <a:ea typeface="Times New Roman" panose="02020603050405020304" pitchFamily="18" charset="0"/>
                        </a:rPr>
                        <m:t>%</m:t>
                      </m:r>
                    </m:oMath>
                  </m:oMathPara>
                </a14:m>
                <a:endParaRPr lang="en-US" sz="2400" b="1"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400" b="1" dirty="0">
                    <a:solidFill>
                      <a:srgbClr val="FF0000"/>
                    </a:solidFill>
                    <a:effectLst/>
                    <a:latin typeface="Times New Roman" panose="02020603050405020304" pitchFamily="18" charset="0"/>
                    <a:ea typeface="Times New Roman" panose="02020603050405020304" pitchFamily="18" charset="0"/>
                  </a:rPr>
                  <a:t> </a:t>
                </a:r>
              </a:p>
            </p:txBody>
          </p:sp>
        </mc:Choice>
        <mc:Fallback xmlns="">
          <p:sp>
            <p:nvSpPr>
              <p:cNvPr id="14" name="TextBox 13">
                <a:extLst>
                  <a:ext uri="{FF2B5EF4-FFF2-40B4-BE49-F238E27FC236}">
                    <a16:creationId xmlns:a16="http://schemas.microsoft.com/office/drawing/2014/main" id="{7E311DAD-004B-0EAC-B758-8AFA5B8DE41B}"/>
                  </a:ext>
                </a:extLst>
              </p:cNvPr>
              <p:cNvSpPr txBox="1">
                <a:spLocks noRot="1" noChangeAspect="1" noMove="1" noResize="1" noEditPoints="1" noAdjustHandles="1" noChangeArrowheads="1" noChangeShapeType="1" noTextEdit="1"/>
              </p:cNvSpPr>
              <p:nvPr/>
            </p:nvSpPr>
            <p:spPr>
              <a:xfrm>
                <a:off x="4939482" y="9967870"/>
                <a:ext cx="12055896" cy="129150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71860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A8F54DC5-D645-E257-AFE9-1B8E6DE9BD76}"/>
              </a:ext>
            </a:extLst>
          </p:cNvPr>
          <p:cNvSpPr txBox="1"/>
          <p:nvPr/>
        </p:nvSpPr>
        <p:spPr>
          <a:xfrm>
            <a:off x="835025" y="1336056"/>
            <a:ext cx="18700749" cy="1938992"/>
          </a:xfrm>
          <a:prstGeom prst="rect">
            <a:avLst/>
          </a:prstGeom>
          <a:noFill/>
        </p:spPr>
        <p:txBody>
          <a:bodyPr wrap="square">
            <a:spAutoFit/>
          </a:bodyPr>
          <a:lstStyle/>
          <a:p>
            <a:pPr marL="0" marR="0" algn="just">
              <a:spcBef>
                <a:spcPts val="0"/>
              </a:spcBef>
              <a:spcAft>
                <a:spcPts val="0"/>
              </a:spcAft>
            </a:pPr>
            <a:r>
              <a:rPr lang="en-US" sz="2400" b="1" dirty="0">
                <a:effectLst/>
                <a:latin typeface="Times New Roman" panose="02020603050405020304" pitchFamily="18" charset="0"/>
                <a:ea typeface="Times New Roman" panose="02020603050405020304" pitchFamily="18" charset="0"/>
              </a:rPr>
              <a:t>Pb. Following is the Particle Size Distribution (PSD) of three cuts obtained from a double deck vibrating screen (48 and 65 mesh). The mass ratio of </a:t>
            </a:r>
            <a:r>
              <a:rPr lang="en-US" sz="2400" b="1" dirty="0" err="1">
                <a:effectLst/>
                <a:latin typeface="Times New Roman" panose="02020603050405020304" pitchFamily="18" charset="0"/>
                <a:ea typeface="Times New Roman" panose="02020603050405020304" pitchFamily="18" charset="0"/>
              </a:rPr>
              <a:t>oversize:Internediate:Undersize</a:t>
            </a:r>
            <a:r>
              <a:rPr lang="en-US" sz="2400" b="1" dirty="0">
                <a:effectLst/>
                <a:latin typeface="Times New Roman" panose="02020603050405020304" pitchFamily="18" charset="0"/>
                <a:ea typeface="Times New Roman" panose="02020603050405020304" pitchFamily="18" charset="0"/>
              </a:rPr>
              <a:t> is 3:3:4. </a:t>
            </a:r>
            <a:endParaRPr lang="en-US" sz="2400" dirty="0">
              <a:effectLst/>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mj-lt"/>
              <a:buAutoNum type="alphaLcParenBoth"/>
            </a:pPr>
            <a:r>
              <a:rPr lang="en-US" sz="2400" b="1" dirty="0">
                <a:effectLst/>
                <a:latin typeface="Times New Roman" panose="02020603050405020304" pitchFamily="18" charset="0"/>
                <a:ea typeface="Times New Roman" panose="02020603050405020304" pitchFamily="18" charset="0"/>
              </a:rPr>
              <a:t>Construct particle size distribution for 48 and 65 mesh.</a:t>
            </a:r>
            <a:endParaRPr lang="en-US" sz="2400" dirty="0">
              <a:effectLst/>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mj-lt"/>
              <a:buAutoNum type="alphaLcParenBoth"/>
            </a:pPr>
            <a:r>
              <a:rPr lang="en-US" sz="2400" b="1" dirty="0">
                <a:effectLst/>
                <a:latin typeface="Times New Roman" panose="02020603050405020304" pitchFamily="18" charset="0"/>
                <a:ea typeface="Times New Roman" panose="02020603050405020304" pitchFamily="18" charset="0"/>
              </a:rPr>
              <a:t>Calculate effectiveness of 48 and 65 mesh screens individually if oversize is desired product and if under size is desired product.</a:t>
            </a:r>
            <a:endParaRPr lang="en-US" sz="2400" dirty="0">
              <a:effectLst/>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mj-lt"/>
              <a:buAutoNum type="alphaLcParenBoth"/>
            </a:pPr>
            <a:r>
              <a:rPr lang="en-US" sz="2400" b="1" dirty="0">
                <a:effectLst/>
                <a:latin typeface="Times New Roman" panose="02020603050405020304" pitchFamily="18" charset="0"/>
                <a:ea typeface="Times New Roman" panose="02020603050405020304" pitchFamily="18" charset="0"/>
              </a:rPr>
              <a:t>Calculate the effectiveness of double deck vibrating screen system as a whole taking intermediate as product.</a:t>
            </a:r>
            <a:endParaRPr lang="en-US" sz="2400" dirty="0">
              <a:effectLst/>
              <a:latin typeface="Times New Roman" panose="02020603050405020304" pitchFamily="18" charset="0"/>
              <a:ea typeface="Times New Roman" panose="02020603050405020304" pitchFamily="18" charset="0"/>
            </a:endParaRPr>
          </a:p>
        </p:txBody>
      </p:sp>
      <p:graphicFrame>
        <p:nvGraphicFramePr>
          <p:cNvPr id="10" name="Table 9">
            <a:extLst>
              <a:ext uri="{FF2B5EF4-FFF2-40B4-BE49-F238E27FC236}">
                <a16:creationId xmlns:a16="http://schemas.microsoft.com/office/drawing/2014/main" id="{136C4CD5-18AA-34C4-27E4-47CA60B38508}"/>
              </a:ext>
            </a:extLst>
          </p:cNvPr>
          <p:cNvGraphicFramePr>
            <a:graphicFrameLocks noGrp="1"/>
          </p:cNvGraphicFramePr>
          <p:nvPr>
            <p:extLst>
              <p:ext uri="{D42A27DB-BD31-4B8C-83A1-F6EECF244321}">
                <p14:modId xmlns:p14="http://schemas.microsoft.com/office/powerpoint/2010/main" val="415976791"/>
              </p:ext>
            </p:extLst>
          </p:nvPr>
        </p:nvGraphicFramePr>
        <p:xfrm>
          <a:off x="2508250" y="3599865"/>
          <a:ext cx="10856168" cy="6807333"/>
        </p:xfrm>
        <a:graphic>
          <a:graphicData uri="http://schemas.openxmlformats.org/drawingml/2006/table">
            <a:tbl>
              <a:tblPr firstRow="1" firstCol="1" bandRow="1">
                <a:tableStyleId>{5C22544A-7EE6-4342-B048-85BDC9FD1C3A}</a:tableStyleId>
              </a:tblPr>
              <a:tblGrid>
                <a:gridCol w="2687446">
                  <a:extLst>
                    <a:ext uri="{9D8B030D-6E8A-4147-A177-3AD203B41FA5}">
                      <a16:colId xmlns:a16="http://schemas.microsoft.com/office/drawing/2014/main" val="1202042399"/>
                    </a:ext>
                  </a:extLst>
                </a:gridCol>
                <a:gridCol w="2225541">
                  <a:extLst>
                    <a:ext uri="{9D8B030D-6E8A-4147-A177-3AD203B41FA5}">
                      <a16:colId xmlns:a16="http://schemas.microsoft.com/office/drawing/2014/main" val="385460019"/>
                    </a:ext>
                  </a:extLst>
                </a:gridCol>
                <a:gridCol w="3362112">
                  <a:extLst>
                    <a:ext uri="{9D8B030D-6E8A-4147-A177-3AD203B41FA5}">
                      <a16:colId xmlns:a16="http://schemas.microsoft.com/office/drawing/2014/main" val="1520910446"/>
                    </a:ext>
                  </a:extLst>
                </a:gridCol>
                <a:gridCol w="2581069">
                  <a:extLst>
                    <a:ext uri="{9D8B030D-6E8A-4147-A177-3AD203B41FA5}">
                      <a16:colId xmlns:a16="http://schemas.microsoft.com/office/drawing/2014/main" val="2425854531"/>
                    </a:ext>
                  </a:extLst>
                </a:gridCol>
              </a:tblGrid>
              <a:tr h="498072">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gridSpan="3">
                  <a:txBody>
                    <a:bodyPr/>
                    <a:lstStyle/>
                    <a:p>
                      <a:pPr marL="0" marR="0" algn="ctr">
                        <a:spcBef>
                          <a:spcPts val="0"/>
                        </a:spcBef>
                        <a:spcAft>
                          <a:spcPts val="0"/>
                        </a:spcAft>
                      </a:pPr>
                      <a:r>
                        <a:rPr lang="en-US" sz="2800">
                          <a:effectLst/>
                        </a:rPr>
                        <a:t>Mass Fraction Retained</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57483222"/>
                  </a:ext>
                </a:extLst>
              </a:tr>
              <a:tr h="996145">
                <a:tc>
                  <a:txBody>
                    <a:bodyPr/>
                    <a:lstStyle/>
                    <a:p>
                      <a:pPr marL="0" marR="0" algn="ctr">
                        <a:spcBef>
                          <a:spcPts val="0"/>
                        </a:spcBef>
                        <a:spcAft>
                          <a:spcPts val="0"/>
                        </a:spcAft>
                      </a:pPr>
                      <a:r>
                        <a:rPr lang="en-US" sz="2800">
                          <a:effectLst/>
                        </a:rPr>
                        <a:t>Mesh No</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Oversize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Intermediate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Undersize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378691780"/>
                  </a:ext>
                </a:extLst>
              </a:tr>
              <a:tr h="913306">
                <a:tc>
                  <a:txBody>
                    <a:bodyPr/>
                    <a:lstStyle/>
                    <a:p>
                      <a:pPr marL="0" marR="0" algn="ctr">
                        <a:spcBef>
                          <a:spcPts val="0"/>
                        </a:spcBef>
                        <a:spcAft>
                          <a:spcPts val="0"/>
                        </a:spcAft>
                      </a:pPr>
                      <a:r>
                        <a:rPr lang="en-US" sz="2800">
                          <a:effectLst/>
                        </a:rPr>
                        <a:t>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0.0012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362431525"/>
                  </a:ext>
                </a:extLst>
              </a:tr>
              <a:tr h="913306">
                <a:tc>
                  <a:txBody>
                    <a:bodyPr/>
                    <a:lstStyle/>
                    <a:p>
                      <a:pPr marL="0" marR="0" algn="ctr">
                        <a:spcBef>
                          <a:spcPts val="0"/>
                        </a:spcBef>
                        <a:spcAft>
                          <a:spcPts val="0"/>
                        </a:spcAft>
                      </a:pPr>
                      <a:r>
                        <a:rPr lang="en-US" sz="2800">
                          <a:effectLst/>
                        </a:rPr>
                        <a:t>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0.0068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1377141352"/>
                  </a:ext>
                </a:extLst>
              </a:tr>
              <a:tr h="498072">
                <a:tc>
                  <a:txBody>
                    <a:bodyPr/>
                    <a:lstStyle/>
                    <a:p>
                      <a:pPr marL="0" marR="0" algn="ctr">
                        <a:spcBef>
                          <a:spcPts val="0"/>
                        </a:spcBef>
                        <a:spcAft>
                          <a:spcPts val="0"/>
                        </a:spcAft>
                      </a:pPr>
                      <a:r>
                        <a:rPr lang="en-US" sz="2800">
                          <a:effectLst/>
                        </a:rPr>
                        <a:t>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0.189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628758525"/>
                  </a:ext>
                </a:extLst>
              </a:tr>
              <a:tr h="498072">
                <a:tc>
                  <a:txBody>
                    <a:bodyPr/>
                    <a:lstStyle/>
                    <a:p>
                      <a:pPr marL="0" marR="0" algn="ctr">
                        <a:spcBef>
                          <a:spcPts val="0"/>
                        </a:spcBef>
                        <a:spcAft>
                          <a:spcPts val="0"/>
                        </a:spcAft>
                      </a:pPr>
                      <a:r>
                        <a:rPr lang="en-US" sz="2800">
                          <a:effectLst/>
                        </a:rPr>
                        <a:t>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0.389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0.039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0.001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1609168225"/>
                  </a:ext>
                </a:extLst>
              </a:tr>
              <a:tr h="498072">
                <a:tc>
                  <a:txBody>
                    <a:bodyPr/>
                    <a:lstStyle/>
                    <a:p>
                      <a:pPr marL="0" marR="0" algn="ctr">
                        <a:spcBef>
                          <a:spcPts val="0"/>
                        </a:spcBef>
                        <a:spcAft>
                          <a:spcPts val="0"/>
                        </a:spcAft>
                      </a:pPr>
                      <a:r>
                        <a:rPr lang="en-US" sz="2800">
                          <a:effectLst/>
                        </a:rPr>
                        <a:t>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0.337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0.322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499668179"/>
                  </a:ext>
                </a:extLst>
              </a:tr>
              <a:tr h="498072">
                <a:tc>
                  <a:txBody>
                    <a:bodyPr/>
                    <a:lstStyle/>
                    <a:p>
                      <a:pPr marL="0" marR="0" algn="ctr">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0.066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0.526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0.344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979767773"/>
                  </a:ext>
                </a:extLst>
              </a:tr>
              <a:tr h="498072">
                <a:tc>
                  <a:txBody>
                    <a:bodyPr/>
                    <a:lstStyle/>
                    <a:p>
                      <a:pPr marL="0" marR="0" algn="ctr">
                        <a:spcBef>
                          <a:spcPts val="0"/>
                        </a:spcBef>
                        <a:spcAft>
                          <a:spcPts val="0"/>
                        </a:spcAft>
                      </a:pPr>
                      <a:r>
                        <a:rPr lang="en-US" sz="2800">
                          <a:effectLst/>
                        </a:rPr>
                        <a:t>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0.067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0.299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605707765"/>
                  </a:ext>
                </a:extLst>
              </a:tr>
              <a:tr h="498072">
                <a:tc>
                  <a:txBody>
                    <a:bodyPr/>
                    <a:lstStyle/>
                    <a:p>
                      <a:pPr marL="0" marR="0" algn="ctr">
                        <a:spcBef>
                          <a:spcPts val="0"/>
                        </a:spcBef>
                        <a:spcAft>
                          <a:spcPts val="0"/>
                        </a:spcAft>
                      </a:pPr>
                      <a:r>
                        <a:rPr lang="en-US" sz="2800">
                          <a:effectLst/>
                        </a:rPr>
                        <a:t>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0.024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0.237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3676692747"/>
                  </a:ext>
                </a:extLst>
              </a:tr>
              <a:tr h="498072">
                <a:tc>
                  <a:txBody>
                    <a:bodyPr/>
                    <a:lstStyle/>
                    <a:p>
                      <a:pPr marL="0" marR="0" algn="ctr">
                        <a:spcBef>
                          <a:spcPts val="0"/>
                        </a:spcBef>
                        <a:spcAft>
                          <a:spcPts val="0"/>
                        </a:spcAft>
                      </a:pPr>
                      <a:r>
                        <a:rPr lang="en-US" sz="2800">
                          <a:effectLst/>
                        </a:rPr>
                        <a:t>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0.001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a:effectLst/>
                        </a:rPr>
                        <a:t>0.002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tc>
                  <a:txBody>
                    <a:bodyPr/>
                    <a:lstStyle/>
                    <a:p>
                      <a:pPr marL="0" marR="0" algn="ctr">
                        <a:spcBef>
                          <a:spcPts val="0"/>
                        </a:spcBef>
                        <a:spcAft>
                          <a:spcPts val="0"/>
                        </a:spcAft>
                      </a:pPr>
                      <a:r>
                        <a:rPr lang="en-US" sz="2800" dirty="0">
                          <a:effectLst/>
                        </a:rPr>
                        <a:t>0.116</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334" marR="62334" marT="0" marB="0" anchor="b"/>
                </a:tc>
                <a:extLst>
                  <a:ext uri="{0D108BD9-81ED-4DB2-BD59-A6C34878D82A}">
                    <a16:rowId xmlns:a16="http://schemas.microsoft.com/office/drawing/2014/main" val="3325464909"/>
                  </a:ext>
                </a:extLst>
              </a:tr>
            </a:tbl>
          </a:graphicData>
        </a:graphic>
      </p:graphicFrame>
    </p:spTree>
    <p:extLst>
      <p:ext uri="{BB962C8B-B14F-4D97-AF65-F5344CB8AC3E}">
        <p14:creationId xmlns:p14="http://schemas.microsoft.com/office/powerpoint/2010/main" val="3955445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7A938EC-0EC6-65FC-1FE4-8F162AB20EDC}"/>
                  </a:ext>
                </a:extLst>
              </p:cNvPr>
              <p:cNvSpPr txBox="1"/>
              <p:nvPr/>
            </p:nvSpPr>
            <p:spPr>
              <a:xfrm>
                <a:off x="318270" y="1333501"/>
                <a:ext cx="19204805" cy="9992607"/>
              </a:xfrm>
              <a:prstGeom prst="rect">
                <a:avLst/>
              </a:prstGeom>
              <a:noFill/>
            </p:spPr>
            <p:txBody>
              <a:bodyPr wrap="square">
                <a:spAutoFit/>
              </a:bodyPr>
              <a:lstStyle/>
              <a:p>
                <a:pPr marL="342900" marR="0" lvl="0" indent="-342900" algn="just">
                  <a:spcBef>
                    <a:spcPts val="0"/>
                  </a:spcBef>
                  <a:spcAft>
                    <a:spcPts val="0"/>
                  </a:spcAft>
                  <a:buFont typeface="+mj-lt"/>
                  <a:buAutoNum type="alphaLcParenBoth"/>
                </a:pPr>
                <a:r>
                  <a:rPr lang="en-US" sz="2800" b="1" dirty="0">
                    <a:effectLst/>
                    <a:latin typeface="Times New Roman" panose="02020603050405020304" pitchFamily="18" charset="0"/>
                    <a:ea typeface="Times New Roman" panose="02020603050405020304" pitchFamily="18" charset="0"/>
                  </a:rPr>
                  <a:t>Construct particle size distribution for 48 and 65 mesh.</a:t>
                </a:r>
                <a:endParaRPr lang="en-US" sz="2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mj-lt"/>
                  <a:buAutoNum type="alphaLcParenBoth" startAt="9"/>
                </a:pPr>
                <a:r>
                  <a:rPr lang="en-US" sz="2800" b="1" dirty="0">
                    <a:effectLst/>
                    <a:latin typeface="Times New Roman" panose="02020603050405020304" pitchFamily="18" charset="0"/>
                    <a:ea typeface="Times New Roman" panose="02020603050405020304" pitchFamily="18" charset="0"/>
                  </a:rPr>
                  <a:t>Construct particle size distribution for 48.</a:t>
                </a:r>
                <a:endParaRPr lang="en-US" sz="2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800" b="1" dirty="0">
                    <a:solidFill>
                      <a:srgbClr val="FF0000"/>
                    </a:solidFill>
                    <a:effectLst/>
                    <a:latin typeface="Times New Roman" panose="02020603050405020304" pitchFamily="18" charset="0"/>
                    <a:ea typeface="Times New Roman" panose="02020603050405020304" pitchFamily="18" charset="0"/>
                  </a:rPr>
                  <a:t>Feed to 48 Mesh:</a:t>
                </a:r>
                <a:r>
                  <a:rPr lang="en-US" sz="2800" dirty="0">
                    <a:solidFill>
                      <a:srgbClr val="FF0000"/>
                    </a:solidFill>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To make the PSD, we need to have the feed analysis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sub>
                    </m:sSub>
                  </m:oMath>
                </a14:m>
                <a:r>
                  <a:rPr lang="en-US" sz="2800" dirty="0">
                    <a:effectLst/>
                    <a:latin typeface="Times New Roman" panose="02020603050405020304" pitchFamily="18" charset="0"/>
                    <a:ea typeface="Times New Roman" panose="02020603050405020304" pitchFamily="18" charset="0"/>
                  </a:rPr>
                  <a:t>. Let us find the total material retained on 48 mesh (Given ratio of </a:t>
                </a:r>
                <a:r>
                  <a:rPr lang="en-US" sz="2800" dirty="0" err="1">
                    <a:solidFill>
                      <a:srgbClr val="FF0000"/>
                    </a:solidFill>
                    <a:effectLst/>
                    <a:latin typeface="Times New Roman" panose="02020603050405020304" pitchFamily="18" charset="0"/>
                    <a:ea typeface="Times New Roman" panose="02020603050405020304" pitchFamily="18" charset="0"/>
                  </a:rPr>
                  <a:t>Oversize:Intermediate:Undersize</a:t>
                </a:r>
                <a:r>
                  <a:rPr lang="en-US" sz="2800" dirty="0">
                    <a:solidFill>
                      <a:srgbClr val="FF0000"/>
                    </a:solidFill>
                    <a:effectLst/>
                    <a:latin typeface="Times New Roman" panose="02020603050405020304" pitchFamily="18" charset="0"/>
                    <a:ea typeface="Times New Roman" panose="02020603050405020304" pitchFamily="18" charset="0"/>
                  </a:rPr>
                  <a:t> is 3:3:4 </a:t>
                </a:r>
                <a:r>
                  <a:rPr lang="en-US" sz="2800" dirty="0">
                    <a:effectLst/>
                    <a:latin typeface="Times New Roman" panose="02020603050405020304" pitchFamily="18" charset="0"/>
                    <a:ea typeface="Times New Roman" panose="02020603050405020304" pitchFamily="18" charset="0"/>
                  </a:rPr>
                  <a:t>Therefore </a:t>
                </a:r>
              </a:p>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Total material retained= 3+3+4=10</a:t>
                </a:r>
                <a:endParaRPr lang="en-US" sz="2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Calculations to find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r>
                          <a:rPr lang="en-US" sz="2800" i="1">
                            <a:effectLst/>
                            <a:latin typeface="Cambria Math" panose="02040503050406030204" pitchFamily="18" charset="0"/>
                            <a:ea typeface="Times New Roman" panose="02020603050405020304" pitchFamily="18" charset="0"/>
                          </a:rPr>
                          <m:t> 48 </m:t>
                        </m:r>
                        <m:r>
                          <a:rPr lang="en-US" sz="2800" i="1">
                            <a:effectLst/>
                            <a:latin typeface="Cambria Math" panose="02040503050406030204" pitchFamily="18" charset="0"/>
                            <a:ea typeface="Times New Roman" panose="02020603050405020304" pitchFamily="18" charset="0"/>
                          </a:rPr>
                          <m:t>𝑚𝑒𝑠h</m:t>
                        </m:r>
                      </m:sub>
                    </m:sSub>
                  </m:oMath>
                </a14:m>
                <a:r>
                  <a:rPr lang="en-US" sz="2800" dirty="0">
                    <a:effectLst/>
                    <a:latin typeface="Times New Roman" panose="02020603050405020304" pitchFamily="18" charset="0"/>
                    <a:ea typeface="Times New Roman" panose="02020603050405020304" pitchFamily="18" charset="0"/>
                  </a:rPr>
                  <a:t> is shown for 14 mesh</a:t>
                </a:r>
              </a:p>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a:p>
                <a:pPr marL="0" marR="0" indent="5715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To find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sub>
                    </m:sSub>
                    <m:r>
                      <a:rPr lang="en-US" sz="2800" i="1">
                        <a:effectLst/>
                        <a:latin typeface="Cambria Math" panose="02040503050406030204" pitchFamily="18" charset="0"/>
                        <a:ea typeface="Times New Roman" panose="02020603050405020304" pitchFamily="18" charset="0"/>
                      </a:rPr>
                      <m:t> </m:t>
                    </m:r>
                    <m:r>
                      <a:rPr lang="en-US" sz="2800" i="1">
                        <a:effectLst/>
                        <a:latin typeface="Cambria Math" panose="02040503050406030204" pitchFamily="18" charset="0"/>
                        <a:ea typeface="Times New Roman" panose="02020603050405020304" pitchFamily="18" charset="0"/>
                      </a:rPr>
                      <m:t>𝑓𝑜𝑟</m:t>
                    </m:r>
                    <m:r>
                      <a:rPr lang="en-US" sz="2800" i="1">
                        <a:effectLst/>
                        <a:latin typeface="Cambria Math" panose="02040503050406030204" pitchFamily="18" charset="0"/>
                        <a:ea typeface="Times New Roman" panose="02020603050405020304" pitchFamily="18" charset="0"/>
                      </a:rPr>
                      <m:t> 14 </m:t>
                    </m:r>
                    <m:r>
                      <a:rPr lang="en-US" sz="2800" i="1">
                        <a:effectLst/>
                        <a:latin typeface="Cambria Math" panose="02040503050406030204" pitchFamily="18" charset="0"/>
                        <a:ea typeface="Times New Roman" panose="02020603050405020304" pitchFamily="18" charset="0"/>
                      </a:rPr>
                      <m:t>𝑚𝑒𝑠h</m:t>
                    </m:r>
                    <m:r>
                      <a:rPr lang="en-US" sz="2800" i="1">
                        <a:effectLst/>
                        <a:latin typeface="Cambria Math" panose="02040503050406030204" pitchFamily="18" charset="0"/>
                        <a:ea typeface="Times New Roman" panose="02020603050405020304" pitchFamily="18" charset="0"/>
                      </a:rPr>
                      <m:t>,    </m:t>
                    </m:r>
                  </m:oMath>
                </a14:m>
                <a:r>
                  <a:rPr lang="en-US" sz="2800" dirty="0">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sub>
                    </m:sSub>
                    <m:r>
                      <a:rPr lang="en-US" sz="2800" i="1">
                        <a:effectLst/>
                        <a:latin typeface="Cambria Math" panose="02040503050406030204" pitchFamily="18" charset="0"/>
                        <a:ea typeface="Times New Roman" panose="02020603050405020304" pitchFamily="18" charset="0"/>
                      </a:rPr>
                      <m:t>= </m:t>
                    </m:r>
                  </m:oMath>
                </a14:m>
                <a:r>
                  <a:rPr lang="en-US" sz="2800" dirty="0">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US" sz="2800" i="1">
                            <a:effectLst/>
                            <a:latin typeface="Cambria Math" panose="02040503050406030204" pitchFamily="18" charset="0"/>
                            <a:ea typeface="Times New Roman" panose="02020603050405020304" pitchFamily="18" charset="0"/>
                          </a:rPr>
                        </m:ctrlPr>
                      </m:fPr>
                      <m:num>
                        <m:d>
                          <m:dPr>
                            <m:ctrlPr>
                              <a:rPr lang="en-US" sz="2800" i="1">
                                <a:effectLst/>
                                <a:latin typeface="Cambria Math" panose="02040503050406030204" pitchFamily="18" charset="0"/>
                                <a:ea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rPr>
                              <m:t>3 </m:t>
                            </m:r>
                            <m:r>
                              <a:rPr lang="en-US" sz="2800" i="1">
                                <a:effectLst/>
                                <a:latin typeface="Cambria Math" panose="02040503050406030204" pitchFamily="18" charset="0"/>
                                <a:ea typeface="Times New Roman" panose="02020603050405020304" pitchFamily="18" charset="0"/>
                              </a:rPr>
                              <m:t>𝑋</m:t>
                            </m:r>
                            <m:r>
                              <a:rPr lang="en-US" sz="2800" i="1">
                                <a:effectLst/>
                                <a:latin typeface="Cambria Math" panose="02040503050406030204" pitchFamily="18" charset="0"/>
                                <a:ea typeface="Times New Roman" panose="02020603050405020304" pitchFamily="18" charset="0"/>
                              </a:rPr>
                              <m:t> 0.0012+3 </m:t>
                            </m:r>
                            <m:r>
                              <a:rPr lang="en-US" sz="2800" i="1">
                                <a:effectLst/>
                                <a:latin typeface="Cambria Math" panose="02040503050406030204" pitchFamily="18" charset="0"/>
                                <a:ea typeface="Times New Roman" panose="02020603050405020304" pitchFamily="18" charset="0"/>
                              </a:rPr>
                              <m:t>𝑥</m:t>
                            </m:r>
                            <m:r>
                              <a:rPr lang="en-US" sz="2800" i="1">
                                <a:effectLst/>
                                <a:latin typeface="Cambria Math" panose="02040503050406030204" pitchFamily="18" charset="0"/>
                                <a:ea typeface="Times New Roman" panose="02020603050405020304" pitchFamily="18" charset="0"/>
                              </a:rPr>
                              <m:t>0+4</m:t>
                            </m:r>
                            <m:r>
                              <a:rPr lang="en-US" sz="2800" i="1">
                                <a:effectLst/>
                                <a:latin typeface="Cambria Math" panose="02040503050406030204" pitchFamily="18" charset="0"/>
                                <a:ea typeface="Times New Roman" panose="02020603050405020304" pitchFamily="18" charset="0"/>
                              </a:rPr>
                              <m:t>𝑥</m:t>
                            </m:r>
                            <m:r>
                              <a:rPr lang="en-US" sz="2800" i="1">
                                <a:effectLst/>
                                <a:latin typeface="Cambria Math" panose="02040503050406030204" pitchFamily="18" charset="0"/>
                                <a:ea typeface="Times New Roman" panose="02020603050405020304" pitchFamily="18" charset="0"/>
                              </a:rPr>
                              <m:t>0</m:t>
                            </m:r>
                          </m:e>
                        </m:d>
                      </m:num>
                      <m:den>
                        <m:r>
                          <a:rPr lang="en-US" sz="2800" i="1">
                            <a:effectLst/>
                            <a:latin typeface="Cambria Math" panose="02040503050406030204" pitchFamily="18" charset="0"/>
                            <a:ea typeface="Times New Roman" panose="02020603050405020304" pitchFamily="18" charset="0"/>
                          </a:rPr>
                          <m:t>10</m:t>
                        </m:r>
                      </m:den>
                    </m:f>
                    <m:r>
                      <a:rPr lang="en-US" sz="2800" i="1">
                        <a:effectLst/>
                        <a:latin typeface="Cambria Math" panose="02040503050406030204" pitchFamily="18" charset="0"/>
                        <a:ea typeface="Times New Roman" panose="02020603050405020304" pitchFamily="18" charset="0"/>
                      </a:rPr>
                      <m:t>=0.0036</m:t>
                    </m:r>
                  </m:oMath>
                </a14:m>
                <a:r>
                  <a:rPr lang="en-US" sz="2800" dirty="0">
                    <a:effectLst/>
                    <a:latin typeface="Times New Roman" panose="02020603050405020304" pitchFamily="18" charset="0"/>
                    <a:ea typeface="Times New Roman" panose="02020603050405020304" pitchFamily="18" charset="0"/>
                  </a:rPr>
                  <a:t>   </a:t>
                </a:r>
              </a:p>
              <a:p>
                <a:pPr marL="0" marR="0" indent="5715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Repeat the same for other meshes</a:t>
                </a:r>
              </a:p>
              <a:p>
                <a:pPr marL="0" marR="0" indent="5715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a:p>
                <a:pPr marL="342900" marR="0" lvl="0" indent="-342900" algn="just">
                  <a:spcBef>
                    <a:spcPts val="0"/>
                  </a:spcBef>
                  <a:spcAft>
                    <a:spcPts val="0"/>
                  </a:spcAft>
                  <a:buFont typeface="+mj-lt"/>
                  <a:buAutoNum type="romanLcParenBoth" startAt="2"/>
                </a:pPr>
                <a:r>
                  <a:rPr lang="en-US" sz="2800" b="1" dirty="0">
                    <a:solidFill>
                      <a:srgbClr val="000000"/>
                    </a:solidFill>
                    <a:effectLst/>
                    <a:latin typeface="Times New Roman" panose="02020603050405020304" pitchFamily="18" charset="0"/>
                    <a:ea typeface="Times New Roman" panose="02020603050405020304" pitchFamily="18" charset="0"/>
                  </a:rPr>
                  <a:t>Construct particle size distribution for 65 mesh.</a:t>
                </a:r>
                <a:endParaRPr lang="en-US" sz="2800" dirty="0">
                  <a:effectLst/>
                  <a:latin typeface="Times New Roman" panose="02020603050405020304" pitchFamily="18" charset="0"/>
                  <a:ea typeface="Times New Roman" panose="02020603050405020304" pitchFamily="18" charset="0"/>
                </a:endParaRPr>
              </a:p>
              <a:p>
                <a:pPr marL="0" marR="0" indent="5715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a:p>
                <a:pPr marL="0" marR="0" indent="57150" algn="just">
                  <a:spcBef>
                    <a:spcPts val="0"/>
                  </a:spcBef>
                  <a:spcAft>
                    <a:spcPts val="0"/>
                  </a:spcAft>
                </a:pPr>
                <a:r>
                  <a:rPr lang="en-US" sz="2800" b="1" dirty="0">
                    <a:solidFill>
                      <a:srgbClr val="FF0000"/>
                    </a:solidFill>
                    <a:effectLst/>
                    <a:latin typeface="Times New Roman" panose="02020603050405020304" pitchFamily="18" charset="0"/>
                    <a:ea typeface="Times New Roman" panose="02020603050405020304" pitchFamily="18" charset="0"/>
                  </a:rPr>
                  <a:t>Feed to 65 Mesh:</a:t>
                </a:r>
                <a:r>
                  <a:rPr lang="en-US" sz="2800" dirty="0">
                    <a:solidFill>
                      <a:srgbClr val="FF0000"/>
                    </a:solidFill>
                    <a:effectLst/>
                    <a:latin typeface="Times New Roman" panose="02020603050405020304" pitchFamily="18" charset="0"/>
                    <a:ea typeface="Times New Roman" panose="02020603050405020304" pitchFamily="18" charset="0"/>
                  </a:rPr>
                  <a:t> </a:t>
                </a:r>
                <a:r>
                  <a:rPr lang="en-US" sz="2800" b="1" dirty="0">
                    <a:effectLst/>
                    <a:latin typeface="Times New Roman" panose="02020603050405020304" pitchFamily="18" charset="0"/>
                    <a:ea typeface="Times New Roman" panose="02020603050405020304" pitchFamily="18" charset="0"/>
                  </a:rPr>
                  <a:t>Total material will be 0+3+4=7</a:t>
                </a:r>
                <a:r>
                  <a:rPr lang="en-US" sz="2800" dirty="0">
                    <a:effectLst/>
                    <a:latin typeface="Times New Roman" panose="02020603050405020304" pitchFamily="18" charset="0"/>
                    <a:ea typeface="Times New Roman" panose="02020603050405020304" pitchFamily="18" charset="0"/>
                  </a:rPr>
                  <a:t> </a:t>
                </a:r>
              </a:p>
              <a:p>
                <a:pPr marL="0" marR="0" indent="5715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(Note: Since material retained on 65 is intermediates we should consider only intermediates and undersize. And we should not consider the oversize)</a:t>
                </a:r>
              </a:p>
              <a:p>
                <a:pPr marL="0" marR="0" indent="5715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a:p>
                <a:pPr marL="45720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Calculations to find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r>
                          <a:rPr lang="en-US" sz="2800" i="1">
                            <a:effectLst/>
                            <a:latin typeface="Cambria Math" panose="02040503050406030204" pitchFamily="18" charset="0"/>
                            <a:ea typeface="Times New Roman" panose="02020603050405020304" pitchFamily="18" charset="0"/>
                          </a:rPr>
                          <m:t> 65 </m:t>
                        </m:r>
                        <m:r>
                          <a:rPr lang="en-US" sz="2800" i="1">
                            <a:effectLst/>
                            <a:latin typeface="Cambria Math" panose="02040503050406030204" pitchFamily="18" charset="0"/>
                            <a:ea typeface="Times New Roman" panose="02020603050405020304" pitchFamily="18" charset="0"/>
                          </a:rPr>
                          <m:t>𝑚𝑒𝑠h</m:t>
                        </m:r>
                      </m:sub>
                    </m:sSub>
                  </m:oMath>
                </a14:m>
                <a:r>
                  <a:rPr lang="en-US" sz="2800" dirty="0">
                    <a:effectLst/>
                    <a:latin typeface="Times New Roman" panose="02020603050405020304" pitchFamily="18" charset="0"/>
                    <a:ea typeface="Times New Roman" panose="02020603050405020304" pitchFamily="18" charset="0"/>
                  </a:rPr>
                  <a:t> are shown for 14 and 35 mesh. Same can be repeated for other meshes</a:t>
                </a:r>
              </a:p>
              <a:p>
                <a:pPr marL="45720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a:p>
                <a:pPr marL="171450" marR="0" algn="just">
                  <a:spcBef>
                    <a:spcPts val="0"/>
                  </a:spcBef>
                  <a:spcAft>
                    <a:spcPts val="0"/>
                  </a:spcAft>
                </a:pPr>
                <a14:m>
                  <m:oMath xmlns:m="http://schemas.openxmlformats.org/officeDocument/2006/math">
                    <m:f>
                      <m:fPr>
                        <m:ctrlPr>
                          <a:rPr lang="en-US" sz="2800" i="1">
                            <a:effectLst/>
                            <a:latin typeface="Cambria Math" panose="02040503050406030204" pitchFamily="18" charset="0"/>
                            <a:ea typeface="Times New Roman" panose="02020603050405020304" pitchFamily="18" charset="0"/>
                          </a:rPr>
                        </m:ctrlPr>
                      </m:fPr>
                      <m:num>
                        <m:d>
                          <m:dPr>
                            <m:ctrlPr>
                              <a:rPr lang="en-US" sz="2800" i="1">
                                <a:effectLst/>
                                <a:latin typeface="Cambria Math" panose="02040503050406030204" pitchFamily="18" charset="0"/>
                                <a:ea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rPr>
                              <m:t>3</m:t>
                            </m:r>
                            <m:r>
                              <a:rPr lang="en-US" sz="2800" i="1">
                                <a:effectLst/>
                                <a:latin typeface="Cambria Math" panose="02040503050406030204" pitchFamily="18" charset="0"/>
                                <a:ea typeface="Times New Roman" panose="02020603050405020304" pitchFamily="18" charset="0"/>
                              </a:rPr>
                              <m:t>𝑥</m:t>
                            </m:r>
                            <m:r>
                              <a:rPr lang="en-US" sz="2800" i="1">
                                <a:effectLst/>
                                <a:latin typeface="Cambria Math" panose="02040503050406030204" pitchFamily="18" charset="0"/>
                                <a:ea typeface="Times New Roman" panose="02020603050405020304" pitchFamily="18" charset="0"/>
                              </a:rPr>
                              <m:t>0+4</m:t>
                            </m:r>
                            <m:r>
                              <a:rPr lang="en-US" sz="2800" i="1">
                                <a:effectLst/>
                                <a:latin typeface="Cambria Math" panose="02040503050406030204" pitchFamily="18" charset="0"/>
                                <a:ea typeface="Times New Roman" panose="02020603050405020304" pitchFamily="18" charset="0"/>
                              </a:rPr>
                              <m:t>𝑥</m:t>
                            </m:r>
                            <m:r>
                              <a:rPr lang="en-US" sz="2800" i="1">
                                <a:effectLst/>
                                <a:latin typeface="Cambria Math" panose="02040503050406030204" pitchFamily="18" charset="0"/>
                                <a:ea typeface="Times New Roman" panose="02020603050405020304" pitchFamily="18" charset="0"/>
                              </a:rPr>
                              <m:t>0</m:t>
                            </m:r>
                          </m:e>
                        </m:d>
                      </m:num>
                      <m:den>
                        <m:r>
                          <a:rPr lang="en-US" sz="2800" i="1">
                            <a:effectLst/>
                            <a:latin typeface="Cambria Math" panose="02040503050406030204" pitchFamily="18" charset="0"/>
                            <a:ea typeface="Times New Roman" panose="02020603050405020304" pitchFamily="18" charset="0"/>
                          </a:rPr>
                          <m:t>7</m:t>
                        </m:r>
                      </m:den>
                    </m:f>
                    <m:r>
                      <a:rPr lang="en-US" sz="2800" i="1">
                        <a:effectLst/>
                        <a:latin typeface="Cambria Math" panose="02040503050406030204" pitchFamily="18" charset="0"/>
                        <a:ea typeface="Times New Roman" panose="02020603050405020304" pitchFamily="18" charset="0"/>
                      </a:rPr>
                      <m:t>=0 &amp;  </m:t>
                    </m:r>
                    <m:r>
                      <a:rPr lang="en-US" sz="2800" i="1">
                        <a:effectLst/>
                        <a:latin typeface="Cambria Math" panose="02040503050406030204" pitchFamily="18" charset="0"/>
                        <a:ea typeface="Times New Roman" panose="02020603050405020304" pitchFamily="18" charset="0"/>
                      </a:rPr>
                      <m:t>𝐹𝑜𝑟</m:t>
                    </m:r>
                    <m:r>
                      <a:rPr lang="en-US" sz="2800" i="1">
                        <a:effectLst/>
                        <a:latin typeface="Cambria Math" panose="02040503050406030204" pitchFamily="18" charset="0"/>
                        <a:ea typeface="Times New Roman" panose="02020603050405020304" pitchFamily="18" charset="0"/>
                      </a:rPr>
                      <m:t> 35 </m:t>
                    </m:r>
                    <m:r>
                      <a:rPr lang="en-US" sz="2800" i="1">
                        <a:effectLst/>
                        <a:latin typeface="Cambria Math" panose="02040503050406030204" pitchFamily="18" charset="0"/>
                        <a:ea typeface="Times New Roman" panose="02020603050405020304" pitchFamily="18" charset="0"/>
                      </a:rPr>
                      <m:t>𝑚𝑒𝑠h</m:t>
                    </m:r>
                    <m:r>
                      <a:rPr lang="en-US" sz="2800" i="1">
                        <a:effectLst/>
                        <a:latin typeface="Cambria Math" panose="02040503050406030204" pitchFamily="18" charset="0"/>
                        <a:ea typeface="Times New Roman" panose="02020603050405020304" pitchFamily="18" charset="0"/>
                      </a:rPr>
                      <m:t>, </m:t>
                    </m:r>
                    <m:f>
                      <m:fPr>
                        <m:ctrlPr>
                          <a:rPr lang="en-US" sz="2800" i="1">
                            <a:effectLst/>
                            <a:latin typeface="Cambria Math" panose="02040503050406030204" pitchFamily="18" charset="0"/>
                            <a:ea typeface="Times New Roman" panose="02020603050405020304" pitchFamily="18" charset="0"/>
                          </a:rPr>
                        </m:ctrlPr>
                      </m:fPr>
                      <m:num>
                        <m:d>
                          <m:dPr>
                            <m:ctrlPr>
                              <a:rPr lang="en-US" sz="2800" i="1">
                                <a:effectLst/>
                                <a:latin typeface="Cambria Math" panose="02040503050406030204" pitchFamily="18" charset="0"/>
                                <a:ea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rPr>
                              <m:t>3 </m:t>
                            </m:r>
                            <m:r>
                              <a:rPr lang="en-US" sz="2800" i="1">
                                <a:effectLst/>
                                <a:latin typeface="Cambria Math" panose="02040503050406030204" pitchFamily="18" charset="0"/>
                                <a:ea typeface="Times New Roman" panose="02020603050405020304" pitchFamily="18" charset="0"/>
                              </a:rPr>
                              <m:t>𝑥</m:t>
                            </m:r>
                            <m:r>
                              <a:rPr lang="en-US" sz="2800" i="1">
                                <a:effectLst/>
                                <a:latin typeface="Cambria Math" panose="02040503050406030204" pitchFamily="18" charset="0"/>
                                <a:ea typeface="Times New Roman" panose="02020603050405020304" pitchFamily="18" charset="0"/>
                              </a:rPr>
                              <m:t>0.039+4</m:t>
                            </m:r>
                            <m:r>
                              <a:rPr lang="en-US" sz="2800" i="1">
                                <a:effectLst/>
                                <a:latin typeface="Cambria Math" panose="02040503050406030204" pitchFamily="18" charset="0"/>
                                <a:ea typeface="Times New Roman" panose="02020603050405020304" pitchFamily="18" charset="0"/>
                              </a:rPr>
                              <m:t>𝑥</m:t>
                            </m:r>
                            <m:r>
                              <a:rPr lang="en-US" sz="2800" i="1">
                                <a:effectLst/>
                                <a:latin typeface="Cambria Math" panose="02040503050406030204" pitchFamily="18" charset="0"/>
                                <a:ea typeface="Times New Roman" panose="02020603050405020304" pitchFamily="18" charset="0"/>
                              </a:rPr>
                              <m:t>0.001</m:t>
                            </m:r>
                          </m:e>
                        </m:d>
                      </m:num>
                      <m:den>
                        <m:r>
                          <a:rPr lang="en-US" sz="2800" i="1">
                            <a:effectLst/>
                            <a:latin typeface="Cambria Math" panose="02040503050406030204" pitchFamily="18" charset="0"/>
                            <a:ea typeface="Times New Roman" panose="02020603050405020304" pitchFamily="18" charset="0"/>
                          </a:rPr>
                          <m:t>7</m:t>
                        </m:r>
                      </m:den>
                    </m:f>
                    <m:r>
                      <a:rPr lang="en-US" sz="2800" i="1">
                        <a:effectLst/>
                        <a:latin typeface="Cambria Math" panose="02040503050406030204" pitchFamily="18" charset="0"/>
                        <a:ea typeface="Times New Roman" panose="02020603050405020304" pitchFamily="18" charset="0"/>
                      </a:rPr>
                      <m:t>=0.017286 </m:t>
                    </m:r>
                  </m:oMath>
                </a14:m>
                <a:r>
                  <a:rPr lang="en-US" sz="2800" dirty="0">
                    <a:effectLst/>
                    <a:latin typeface="Times New Roman" panose="02020603050405020304" pitchFamily="18" charset="0"/>
                    <a:ea typeface="Times New Roman" panose="02020603050405020304" pitchFamily="18" charset="0"/>
                  </a:rPr>
                  <a:t>   </a:t>
                </a:r>
              </a:p>
              <a:p>
                <a:pPr marL="45720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D7A938EC-0EC6-65FC-1FE4-8F162AB20EDC}"/>
                  </a:ext>
                </a:extLst>
              </p:cNvPr>
              <p:cNvSpPr txBox="1">
                <a:spLocks noRot="1" noChangeAspect="1" noMove="1" noResize="1" noEditPoints="1" noAdjustHandles="1" noChangeArrowheads="1" noChangeShapeType="1" noTextEdit="1"/>
              </p:cNvSpPr>
              <p:nvPr/>
            </p:nvSpPr>
            <p:spPr>
              <a:xfrm>
                <a:off x="318270" y="1333501"/>
                <a:ext cx="19204805" cy="9992607"/>
              </a:xfrm>
              <a:prstGeom prst="rect">
                <a:avLst/>
              </a:prstGeom>
              <a:blipFill>
                <a:blip r:embed="rId3"/>
                <a:stretch>
                  <a:fillRect l="-635" t="-671" r="-635"/>
                </a:stretch>
              </a:blipFill>
            </p:spPr>
            <p:txBody>
              <a:bodyPr/>
              <a:lstStyle/>
              <a:p>
                <a:r>
                  <a:rPr lang="en-US">
                    <a:noFill/>
                  </a:rPr>
                  <a:t> </a:t>
                </a:r>
              </a:p>
            </p:txBody>
          </p:sp>
        </mc:Fallback>
      </mc:AlternateContent>
    </p:spTree>
    <p:extLst>
      <p:ext uri="{BB962C8B-B14F-4D97-AF65-F5344CB8AC3E}">
        <p14:creationId xmlns:p14="http://schemas.microsoft.com/office/powerpoint/2010/main" val="1609943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graphicFrame>
        <p:nvGraphicFramePr>
          <p:cNvPr id="8" name="Table 7">
            <a:extLst>
              <a:ext uri="{FF2B5EF4-FFF2-40B4-BE49-F238E27FC236}">
                <a16:creationId xmlns:a16="http://schemas.microsoft.com/office/drawing/2014/main" id="{30BD3B68-8FD8-6214-E214-A317C2FC14C2}"/>
              </a:ext>
            </a:extLst>
          </p:cNvPr>
          <p:cNvGraphicFramePr>
            <a:graphicFrameLocks noGrp="1"/>
          </p:cNvGraphicFramePr>
          <p:nvPr>
            <p:extLst>
              <p:ext uri="{D42A27DB-BD31-4B8C-83A1-F6EECF244321}">
                <p14:modId xmlns:p14="http://schemas.microsoft.com/office/powerpoint/2010/main" val="1835904990"/>
              </p:ext>
            </p:extLst>
          </p:nvPr>
        </p:nvGraphicFramePr>
        <p:xfrm>
          <a:off x="998979" y="1694235"/>
          <a:ext cx="17550016" cy="8422901"/>
        </p:xfrm>
        <a:graphic>
          <a:graphicData uri="http://schemas.openxmlformats.org/drawingml/2006/table">
            <a:tbl>
              <a:tblPr firstRow="1" firstCol="1" bandRow="1">
                <a:tableStyleId>{5C22544A-7EE6-4342-B048-85BDC9FD1C3A}</a:tableStyleId>
              </a:tblPr>
              <a:tblGrid>
                <a:gridCol w="2905835">
                  <a:extLst>
                    <a:ext uri="{9D8B030D-6E8A-4147-A177-3AD203B41FA5}">
                      <a16:colId xmlns:a16="http://schemas.microsoft.com/office/drawing/2014/main" val="1613014622"/>
                    </a:ext>
                  </a:extLst>
                </a:gridCol>
                <a:gridCol w="2406389">
                  <a:extLst>
                    <a:ext uri="{9D8B030D-6E8A-4147-A177-3AD203B41FA5}">
                      <a16:colId xmlns:a16="http://schemas.microsoft.com/office/drawing/2014/main" val="2389694279"/>
                    </a:ext>
                  </a:extLst>
                </a:gridCol>
                <a:gridCol w="3635315">
                  <a:extLst>
                    <a:ext uri="{9D8B030D-6E8A-4147-A177-3AD203B41FA5}">
                      <a16:colId xmlns:a16="http://schemas.microsoft.com/office/drawing/2014/main" val="1029075727"/>
                    </a:ext>
                  </a:extLst>
                </a:gridCol>
                <a:gridCol w="2790807">
                  <a:extLst>
                    <a:ext uri="{9D8B030D-6E8A-4147-A177-3AD203B41FA5}">
                      <a16:colId xmlns:a16="http://schemas.microsoft.com/office/drawing/2014/main" val="3602038440"/>
                    </a:ext>
                  </a:extLst>
                </a:gridCol>
                <a:gridCol w="2905835">
                  <a:extLst>
                    <a:ext uri="{9D8B030D-6E8A-4147-A177-3AD203B41FA5}">
                      <a16:colId xmlns:a16="http://schemas.microsoft.com/office/drawing/2014/main" val="2716403335"/>
                    </a:ext>
                  </a:extLst>
                </a:gridCol>
                <a:gridCol w="2905835">
                  <a:extLst>
                    <a:ext uri="{9D8B030D-6E8A-4147-A177-3AD203B41FA5}">
                      <a16:colId xmlns:a16="http://schemas.microsoft.com/office/drawing/2014/main" val="827996533"/>
                    </a:ext>
                  </a:extLst>
                </a:gridCol>
              </a:tblGrid>
              <a:tr h="433798">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gridSpan="3">
                  <a:txBody>
                    <a:bodyPr/>
                    <a:lstStyle/>
                    <a:p>
                      <a:pPr marL="0" marR="0" algn="ctr">
                        <a:spcBef>
                          <a:spcPts val="0"/>
                        </a:spcBef>
                        <a:spcAft>
                          <a:spcPts val="0"/>
                        </a:spcAft>
                      </a:pPr>
                      <a:r>
                        <a:rPr lang="en-US" sz="2800">
                          <a:effectLst/>
                        </a:rPr>
                        <a:t>Mass Fraction Retained</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1471975645"/>
                  </a:ext>
                </a:extLst>
              </a:tr>
              <a:tr h="1192945">
                <a:tc>
                  <a:txBody>
                    <a:bodyPr/>
                    <a:lstStyle/>
                    <a:p>
                      <a:pPr marL="0" marR="0" algn="ctr">
                        <a:spcBef>
                          <a:spcPts val="0"/>
                        </a:spcBef>
                        <a:spcAft>
                          <a:spcPts val="0"/>
                        </a:spcAft>
                      </a:pPr>
                      <a:r>
                        <a:rPr lang="en-US" sz="2800">
                          <a:effectLst/>
                        </a:rPr>
                        <a:t>Mesh No</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Oversize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Intermediate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Undersize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Feed to 48 Mesh</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Feed to 65 Mesh</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2601606465"/>
                  </a:ext>
                </a:extLst>
              </a:tr>
              <a:tr h="795295">
                <a:tc>
                  <a:txBody>
                    <a:bodyPr/>
                    <a:lstStyle/>
                    <a:p>
                      <a:pPr marL="0" marR="0" algn="ctr">
                        <a:spcBef>
                          <a:spcPts val="0"/>
                        </a:spcBef>
                        <a:spcAft>
                          <a:spcPts val="0"/>
                        </a:spcAft>
                      </a:pPr>
                      <a:r>
                        <a:rPr lang="en-US" sz="2800" dirty="0">
                          <a:effectLst/>
                        </a:rPr>
                        <a:t>14</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0.00036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1136023251"/>
                  </a:ext>
                </a:extLst>
              </a:tr>
              <a:tr h="795295">
                <a:tc>
                  <a:txBody>
                    <a:bodyPr/>
                    <a:lstStyle/>
                    <a:p>
                      <a:pPr marL="0" marR="0" algn="ctr">
                        <a:spcBef>
                          <a:spcPts val="0"/>
                        </a:spcBef>
                        <a:spcAft>
                          <a:spcPts val="0"/>
                        </a:spcAft>
                      </a:pPr>
                      <a:r>
                        <a:rPr lang="en-US" sz="2800">
                          <a:effectLst/>
                        </a:rPr>
                        <a:t>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0.00204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1704707756"/>
                  </a:ext>
                </a:extLst>
              </a:tr>
              <a:tr h="795295">
                <a:tc>
                  <a:txBody>
                    <a:bodyPr/>
                    <a:lstStyle/>
                    <a:p>
                      <a:pPr marL="0" marR="0" algn="ctr">
                        <a:spcBef>
                          <a:spcPts val="0"/>
                        </a:spcBef>
                        <a:spcAft>
                          <a:spcPts val="0"/>
                        </a:spcAft>
                      </a:pPr>
                      <a:r>
                        <a:rPr lang="en-US" sz="2800">
                          <a:effectLst/>
                        </a:rPr>
                        <a:t>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0.1167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0.085714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563759118"/>
                  </a:ext>
                </a:extLst>
              </a:tr>
              <a:tr h="795295">
                <a:tc>
                  <a:txBody>
                    <a:bodyPr/>
                    <a:lstStyle/>
                    <a:p>
                      <a:pPr marL="0" marR="0" algn="ctr">
                        <a:spcBef>
                          <a:spcPts val="0"/>
                        </a:spcBef>
                        <a:spcAft>
                          <a:spcPts val="0"/>
                        </a:spcAft>
                      </a:pPr>
                      <a:r>
                        <a:rPr lang="en-US" sz="2800">
                          <a:effectLst/>
                        </a:rPr>
                        <a:t>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0.389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0.039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0.1288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0.017286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1099895917"/>
                  </a:ext>
                </a:extLst>
              </a:tr>
              <a:tr h="795295">
                <a:tc>
                  <a:txBody>
                    <a:bodyPr/>
                    <a:lstStyle/>
                    <a:p>
                      <a:pPr marL="0" marR="0" algn="ctr">
                        <a:spcBef>
                          <a:spcPts val="0"/>
                        </a:spcBef>
                        <a:spcAft>
                          <a:spcPts val="0"/>
                        </a:spcAft>
                      </a:pPr>
                      <a:r>
                        <a:rPr lang="en-US" sz="2800">
                          <a:effectLst/>
                        </a:rPr>
                        <a:t>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0.337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0.322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0.1989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0.139714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2027644809"/>
                  </a:ext>
                </a:extLst>
              </a:tr>
              <a:tr h="433798">
                <a:tc>
                  <a:txBody>
                    <a:bodyPr/>
                    <a:lstStyle/>
                    <a:p>
                      <a:pPr marL="0" marR="0" algn="ctr">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0.066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0.526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0.344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0.3152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0.422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2003723433"/>
                  </a:ext>
                </a:extLst>
              </a:tr>
              <a:tr h="795295">
                <a:tc>
                  <a:txBody>
                    <a:bodyPr/>
                    <a:lstStyle/>
                    <a:p>
                      <a:pPr marL="0" marR="0" algn="ctr">
                        <a:spcBef>
                          <a:spcPts val="0"/>
                        </a:spcBef>
                        <a:spcAft>
                          <a:spcPts val="0"/>
                        </a:spcAft>
                      </a:pPr>
                      <a:r>
                        <a:rPr lang="en-US" sz="2800">
                          <a:effectLst/>
                        </a:rPr>
                        <a:t>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0.067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0.299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0.1412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0.199571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2991745328"/>
                  </a:ext>
                </a:extLst>
              </a:tr>
              <a:tr h="795295">
                <a:tc>
                  <a:txBody>
                    <a:bodyPr/>
                    <a:lstStyle/>
                    <a:p>
                      <a:pPr marL="0" marR="0" algn="ctr">
                        <a:spcBef>
                          <a:spcPts val="0"/>
                        </a:spcBef>
                        <a:spcAft>
                          <a:spcPts val="0"/>
                        </a:spcAft>
                      </a:pPr>
                      <a:r>
                        <a:rPr lang="en-US" sz="2800">
                          <a:effectLst/>
                        </a:rPr>
                        <a:t>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0.024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0.237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0.1035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0.145714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3585291659"/>
                  </a:ext>
                </a:extLst>
              </a:tr>
              <a:tr h="795295">
                <a:tc>
                  <a:txBody>
                    <a:bodyPr/>
                    <a:lstStyle/>
                    <a:p>
                      <a:pPr marL="0" marR="0" algn="ctr">
                        <a:spcBef>
                          <a:spcPts val="0"/>
                        </a:spcBef>
                        <a:spcAft>
                          <a:spcPts val="0"/>
                        </a:spcAft>
                      </a:pPr>
                      <a:r>
                        <a:rPr lang="en-US" sz="2800">
                          <a:effectLst/>
                        </a:rPr>
                        <a:t>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0.116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a:effectLst/>
                        </a:rPr>
                        <a:t>0.0473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tc>
                  <a:txBody>
                    <a:bodyPr/>
                    <a:lstStyle/>
                    <a:p>
                      <a:pPr marL="0" marR="0" algn="ctr">
                        <a:spcBef>
                          <a:spcPts val="0"/>
                        </a:spcBef>
                        <a:spcAft>
                          <a:spcPts val="0"/>
                        </a:spcAft>
                      </a:pPr>
                      <a:r>
                        <a:rPr lang="en-US" sz="2800" dirty="0">
                          <a:effectLst/>
                        </a:rPr>
                        <a:t>0.067143</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874" marR="43874" marT="0" marB="0" anchor="b"/>
                </a:tc>
                <a:extLst>
                  <a:ext uri="{0D108BD9-81ED-4DB2-BD59-A6C34878D82A}">
                    <a16:rowId xmlns:a16="http://schemas.microsoft.com/office/drawing/2014/main" val="649327977"/>
                  </a:ext>
                </a:extLst>
              </a:tr>
            </a:tbl>
          </a:graphicData>
        </a:graphic>
      </p:graphicFrame>
    </p:spTree>
    <p:extLst>
      <p:ext uri="{BB962C8B-B14F-4D97-AF65-F5344CB8AC3E}">
        <p14:creationId xmlns:p14="http://schemas.microsoft.com/office/powerpoint/2010/main" val="3064322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CAA00B9D-0C2F-492D-B1ED-2C6DC4B879EE}"/>
              </a:ext>
            </a:extLst>
          </p:cNvPr>
          <p:cNvSpPr txBox="1"/>
          <p:nvPr/>
        </p:nvSpPr>
        <p:spPr>
          <a:xfrm>
            <a:off x="691010" y="1454152"/>
            <a:ext cx="10050516" cy="523220"/>
          </a:xfrm>
          <a:prstGeom prst="rect">
            <a:avLst/>
          </a:prstGeom>
          <a:noFill/>
        </p:spPr>
        <p:txBody>
          <a:bodyPr wrap="square">
            <a:spAutoFit/>
          </a:bodyPr>
          <a:lstStyle/>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(B)Calculate effectiveness of 48 and 65 mesh screens individually</a:t>
            </a:r>
            <a:endParaRPr lang="en-US" sz="2800" dirty="0">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D6A5F04C-9D90-5A27-F8F8-6F0626309C69}"/>
              </a:ext>
            </a:extLst>
          </p:cNvPr>
          <p:cNvSpPr txBox="1"/>
          <p:nvPr/>
        </p:nvSpPr>
        <p:spPr>
          <a:xfrm>
            <a:off x="907034" y="2235620"/>
            <a:ext cx="10050516" cy="523220"/>
          </a:xfrm>
          <a:prstGeom prst="rect">
            <a:avLst/>
          </a:prstGeom>
          <a:noFill/>
        </p:spPr>
        <p:txBody>
          <a:bodyPr wrap="square">
            <a:spAutoFit/>
          </a:bodyPr>
          <a:lstStyle/>
          <a:p>
            <a:r>
              <a:rPr lang="en-US" sz="2800" b="1" dirty="0">
                <a:solidFill>
                  <a:srgbClr val="FF0000"/>
                </a:solidFill>
                <a:effectLst/>
                <a:latin typeface="Book Antiqua" panose="02040602050305030304" pitchFamily="18" charset="0"/>
                <a:ea typeface="Times New Roman" panose="02020603050405020304" pitchFamily="18" charset="0"/>
                <a:cs typeface="Times New Roman" panose="02020603050405020304" pitchFamily="18" charset="0"/>
              </a:rPr>
              <a:t>Effectiveness of 48 mesh if oversize is desired product</a:t>
            </a:r>
            <a:endParaRPr lang="en-US" sz="2800" dirty="0"/>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0D5AB629-33C4-97E8-4417-D8A32ED3C578}"/>
                  </a:ext>
                </a:extLst>
              </p:cNvPr>
              <p:cNvGraphicFramePr>
                <a:graphicFrameLocks noGrp="1"/>
              </p:cNvGraphicFramePr>
              <p:nvPr>
                <p:extLst>
                  <p:ext uri="{D42A27DB-BD31-4B8C-83A1-F6EECF244321}">
                    <p14:modId xmlns:p14="http://schemas.microsoft.com/office/powerpoint/2010/main" val="3653249947"/>
                  </p:ext>
                </p:extLst>
              </p:nvPr>
            </p:nvGraphicFramePr>
            <p:xfrm>
              <a:off x="1023690" y="2777494"/>
              <a:ext cx="9460408" cy="7819069"/>
            </p:xfrm>
            <a:graphic>
              <a:graphicData uri="http://schemas.openxmlformats.org/drawingml/2006/table">
                <a:tbl>
                  <a:tblPr firstRow="1" firstCol="1" bandRow="1">
                    <a:tableStyleId>{5C22544A-7EE6-4342-B048-85BDC9FD1C3A}</a:tableStyleId>
                  </a:tblPr>
                  <a:tblGrid>
                    <a:gridCol w="1408277">
                      <a:extLst>
                        <a:ext uri="{9D8B030D-6E8A-4147-A177-3AD203B41FA5}">
                          <a16:colId xmlns:a16="http://schemas.microsoft.com/office/drawing/2014/main" val="1510356830"/>
                        </a:ext>
                      </a:extLst>
                    </a:gridCol>
                    <a:gridCol w="1439086">
                      <a:extLst>
                        <a:ext uri="{9D8B030D-6E8A-4147-A177-3AD203B41FA5}">
                          <a16:colId xmlns:a16="http://schemas.microsoft.com/office/drawing/2014/main" val="1115066401"/>
                        </a:ext>
                      </a:extLst>
                    </a:gridCol>
                    <a:gridCol w="2034670">
                      <a:extLst>
                        <a:ext uri="{9D8B030D-6E8A-4147-A177-3AD203B41FA5}">
                          <a16:colId xmlns:a16="http://schemas.microsoft.com/office/drawing/2014/main" val="2678170856"/>
                        </a:ext>
                      </a:extLst>
                    </a:gridCol>
                    <a:gridCol w="1625390">
                      <a:extLst>
                        <a:ext uri="{9D8B030D-6E8A-4147-A177-3AD203B41FA5}">
                          <a16:colId xmlns:a16="http://schemas.microsoft.com/office/drawing/2014/main" val="1770019333"/>
                        </a:ext>
                      </a:extLst>
                    </a:gridCol>
                    <a:gridCol w="1408277">
                      <a:extLst>
                        <a:ext uri="{9D8B030D-6E8A-4147-A177-3AD203B41FA5}">
                          <a16:colId xmlns:a16="http://schemas.microsoft.com/office/drawing/2014/main" val="3016624672"/>
                        </a:ext>
                      </a:extLst>
                    </a:gridCol>
                    <a:gridCol w="1544708">
                      <a:extLst>
                        <a:ext uri="{9D8B030D-6E8A-4147-A177-3AD203B41FA5}">
                          <a16:colId xmlns:a16="http://schemas.microsoft.com/office/drawing/2014/main" val="758430970"/>
                        </a:ext>
                      </a:extLst>
                    </a:gridCol>
                  </a:tblGrid>
                  <a:tr h="398968">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gridSpan="3">
                      <a:txBody>
                        <a:bodyPr/>
                        <a:lstStyle/>
                        <a:p>
                          <a:pPr marL="0" marR="0" algn="ctr">
                            <a:spcBef>
                              <a:spcPts val="0"/>
                            </a:spcBef>
                            <a:spcAft>
                              <a:spcPts val="0"/>
                            </a:spcAft>
                          </a:pPr>
                          <a:r>
                            <a:rPr lang="en-US" sz="2200">
                              <a:effectLst/>
                            </a:rPr>
                            <a:t>Mass Fraction Retained</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1143340424"/>
                      </a:ext>
                    </a:extLst>
                  </a:tr>
                  <a:tr h="1100720">
                    <a:tc>
                      <a:txBody>
                        <a:bodyPr/>
                        <a:lstStyle/>
                        <a:p>
                          <a:pPr marL="0" marR="0" algn="ctr">
                            <a:spcBef>
                              <a:spcPts val="0"/>
                            </a:spcBef>
                            <a:spcAft>
                              <a:spcPts val="0"/>
                            </a:spcAft>
                          </a:pPr>
                          <a:r>
                            <a:rPr lang="en-US" sz="2200">
                              <a:effectLst/>
                            </a:rPr>
                            <a:t>Mesh No</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Oversize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Intermediate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Undersize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Feed to 48 Mesh</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Feed to 65 Mesh</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914239263"/>
                      </a:ext>
                    </a:extLst>
                  </a:tr>
                  <a:tr h="398968">
                    <a:tc>
                      <a:txBody>
                        <a:bodyPr/>
                        <a:lstStyle/>
                        <a:p>
                          <a:pPr marL="0" marR="0" algn="ctr">
                            <a:spcBef>
                              <a:spcPts val="0"/>
                            </a:spcBef>
                            <a:spcAft>
                              <a:spcPts val="0"/>
                            </a:spcAft>
                          </a:pPr>
                          <a:r>
                            <a:rPr lang="en-US" sz="2200">
                              <a:effectLst/>
                            </a:rPr>
                            <a:t>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0.0012</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0.00036</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559648663"/>
                      </a:ext>
                    </a:extLst>
                  </a:tr>
                  <a:tr h="398968">
                    <a:tc>
                      <a:txBody>
                        <a:bodyPr/>
                        <a:lstStyle/>
                        <a:p>
                          <a:pPr marL="0" marR="0" algn="ctr">
                            <a:spcBef>
                              <a:spcPts val="0"/>
                            </a:spcBef>
                            <a:spcAft>
                              <a:spcPts val="0"/>
                            </a:spcAft>
                          </a:pPr>
                          <a:r>
                            <a:rPr lang="en-US" sz="2200">
                              <a:effectLst/>
                            </a:rPr>
                            <a:t>20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0.0068</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0.00204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439594042"/>
                      </a:ext>
                    </a:extLst>
                  </a:tr>
                  <a:tr h="731444">
                    <a:tc>
                      <a:txBody>
                        <a:bodyPr/>
                        <a:lstStyle/>
                        <a:p>
                          <a:pPr marL="0" marR="0" algn="ctr">
                            <a:spcBef>
                              <a:spcPts val="0"/>
                            </a:spcBef>
                            <a:spcAft>
                              <a:spcPts val="0"/>
                            </a:spcAft>
                          </a:pPr>
                          <a:r>
                            <a:rPr lang="en-US" sz="2200">
                              <a:effectLst/>
                            </a:rPr>
                            <a:t>28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0.189</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0.0627</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0.008571</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922626275"/>
                      </a:ext>
                    </a:extLst>
                  </a:tr>
                  <a:tr h="731444">
                    <a:tc>
                      <a:txBody>
                        <a:bodyPr/>
                        <a:lstStyle/>
                        <a:p>
                          <a:pPr marL="0" marR="0" algn="ctr">
                            <a:spcBef>
                              <a:spcPts val="0"/>
                            </a:spcBef>
                            <a:spcAft>
                              <a:spcPts val="0"/>
                            </a:spcAft>
                          </a:pPr>
                          <a:r>
                            <a:rPr lang="en-US" sz="2200">
                              <a:effectLst/>
                            </a:rPr>
                            <a:t>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0.389</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0.039</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0.1288</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0.017286</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1412370578"/>
                      </a:ext>
                    </a:extLst>
                  </a:tr>
                  <a:tr h="731444">
                    <a:tc>
                      <a:txBody>
                        <a:bodyPr/>
                        <a:lstStyle/>
                        <a:p>
                          <a:pPr marL="0" marR="0" algn="ctr">
                            <a:spcBef>
                              <a:spcPts val="0"/>
                            </a:spcBef>
                            <a:spcAft>
                              <a:spcPts val="0"/>
                            </a:spcAft>
                          </a:pPr>
                          <a:r>
                            <a:rPr lang="en-US" sz="2200">
                              <a:effectLst/>
                            </a:rPr>
                            <a:t>48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0.337</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0.322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0.1989</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0.139714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624074637"/>
                      </a:ext>
                    </a:extLst>
                  </a:tr>
                  <a:tr h="398968">
                    <a:tc>
                      <a:txBody>
                        <a:bodyPr/>
                        <a:lstStyle/>
                        <a:p>
                          <a:pPr marL="0" marR="0" algn="ctr">
                            <a:spcBef>
                              <a:spcPts val="0"/>
                            </a:spcBef>
                            <a:spcAft>
                              <a:spcPts val="0"/>
                            </a:spcAft>
                          </a:pPr>
                          <a:r>
                            <a:rPr lang="en-US" sz="2200">
                              <a:effectLst/>
                            </a:rPr>
                            <a:t>65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effectLst/>
                            </a:rPr>
                            <a:t>0.066</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0.526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0.344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effectLst/>
                            </a:rPr>
                            <a:t>0.3152</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0.422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173796026"/>
                      </a:ext>
                    </a:extLst>
                  </a:tr>
                  <a:tr h="731444">
                    <a:tc>
                      <a:txBody>
                        <a:bodyPr/>
                        <a:lstStyle/>
                        <a:p>
                          <a:pPr marL="0" marR="0" algn="ctr">
                            <a:spcBef>
                              <a:spcPts val="0"/>
                            </a:spcBef>
                            <a:spcAft>
                              <a:spcPts val="0"/>
                            </a:spcAft>
                          </a:pPr>
                          <a:r>
                            <a:rPr lang="en-US" sz="2200">
                              <a:effectLst/>
                            </a:rPr>
                            <a:t>100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0.067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0.299</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effectLst/>
                            </a:rPr>
                            <a:t>0.1412</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0.199571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640867919"/>
                      </a:ext>
                    </a:extLst>
                  </a:tr>
                  <a:tr h="731444">
                    <a:tc>
                      <a:txBody>
                        <a:bodyPr/>
                        <a:lstStyle/>
                        <a:p>
                          <a:pPr marL="0" marR="0" algn="ctr">
                            <a:spcBef>
                              <a:spcPts val="0"/>
                            </a:spcBef>
                            <a:spcAft>
                              <a:spcPts val="0"/>
                            </a:spcAft>
                          </a:pPr>
                          <a:r>
                            <a:rPr lang="en-US" sz="2200">
                              <a:effectLst/>
                            </a:rPr>
                            <a:t>150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0.024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0.237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0.1035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0.145714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4148777289"/>
                      </a:ext>
                    </a:extLst>
                  </a:tr>
                  <a:tr h="731444">
                    <a:tc>
                      <a:txBody>
                        <a:bodyPr/>
                        <a:lstStyle/>
                        <a:p>
                          <a:pPr marL="0" marR="0" algn="ctr">
                            <a:spcBef>
                              <a:spcPts val="0"/>
                            </a:spcBef>
                            <a:spcAft>
                              <a:spcPts val="0"/>
                            </a:spcAft>
                          </a:pPr>
                          <a:r>
                            <a:rPr lang="en-US" sz="2200">
                              <a:effectLst/>
                            </a:rPr>
                            <a:t>200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0.116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0.0473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0.067143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79273878"/>
                      </a:ext>
                    </a:extLst>
                  </a:tr>
                  <a:tr h="733813">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14:m>
                            <m:oMath xmlns:m="http://schemas.openxmlformats.org/officeDocument/2006/math">
                              <m:sSub>
                                <m:sSubPr>
                                  <m:ctrlPr>
                                    <a:rPr lang="en-US" sz="2200" i="1">
                                      <a:effectLst/>
                                      <a:latin typeface="Cambria Math" panose="02040503050406030204" pitchFamily="18" charset="0"/>
                                    </a:rPr>
                                  </m:ctrlPr>
                                </m:sSubPr>
                                <m:e>
                                  <m:r>
                                    <a:rPr lang="en-US" sz="2200">
                                      <a:effectLst/>
                                      <a:latin typeface="Cambria Math" panose="02040503050406030204" pitchFamily="18" charset="0"/>
                                    </a:rPr>
                                    <m:t>𝑥</m:t>
                                  </m:r>
                                </m:e>
                                <m:sub>
                                  <m:r>
                                    <a:rPr lang="en-US" sz="2200">
                                      <a:effectLst/>
                                      <a:latin typeface="Cambria Math" panose="02040503050406030204" pitchFamily="18" charset="0"/>
                                    </a:rPr>
                                    <m:t>𝐵</m:t>
                                  </m:r>
                                </m:sub>
                              </m:sSub>
                            </m:oMath>
                          </a14:m>
                          <a:r>
                            <a:rPr lang="en-US" sz="2200">
                              <a:effectLst/>
                            </a:rPr>
                            <a:t>=0.923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14:m>
                            <m:oMath xmlns:m="http://schemas.openxmlformats.org/officeDocument/2006/math">
                              <m:sSub>
                                <m:sSubPr>
                                  <m:ctrlPr>
                                    <a:rPr lang="en-US" sz="2200" i="1">
                                      <a:effectLst/>
                                      <a:latin typeface="Cambria Math" panose="02040503050406030204" pitchFamily="18" charset="0"/>
                                    </a:rPr>
                                  </m:ctrlPr>
                                </m:sSubPr>
                                <m:e>
                                  <m:r>
                                    <a:rPr lang="en-US" sz="2200">
                                      <a:effectLst/>
                                      <a:latin typeface="Cambria Math" panose="02040503050406030204" pitchFamily="18" charset="0"/>
                                    </a:rPr>
                                    <m:t>𝑥</m:t>
                                  </m:r>
                                </m:e>
                                <m:sub>
                                  <m:r>
                                    <a:rPr lang="en-US" sz="2200">
                                      <a:effectLst/>
                                      <a:latin typeface="Cambria Math" panose="02040503050406030204" pitchFamily="18" charset="0"/>
                                    </a:rPr>
                                    <m:t>𝐴</m:t>
                                  </m:r>
                                </m:sub>
                              </m:sSub>
                              <m:r>
                                <a:rPr lang="en-US" sz="2200">
                                  <a:effectLst/>
                                  <a:latin typeface="Cambria Math" panose="02040503050406030204" pitchFamily="18" charset="0"/>
                                </a:rPr>
                                <m:t>=</m:t>
                              </m:r>
                            </m:oMath>
                          </a14:m>
                          <a:r>
                            <a:rPr lang="en-US" sz="2200">
                              <a:effectLst/>
                            </a:rPr>
                            <a:t>0.39288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14:m>
                            <m:oMath xmlns:m="http://schemas.openxmlformats.org/officeDocument/2006/math">
                              <m:sSub>
                                <m:sSubPr>
                                  <m:ctrlPr>
                                    <a:rPr lang="en-US" sz="2200" i="1">
                                      <a:effectLst/>
                                      <a:latin typeface="Cambria Math" panose="02040503050406030204" pitchFamily="18" charset="0"/>
                                    </a:rPr>
                                  </m:ctrlPr>
                                </m:sSubPr>
                                <m:e>
                                  <m:r>
                                    <a:rPr lang="en-US" sz="2200">
                                      <a:effectLst/>
                                      <a:latin typeface="Cambria Math" panose="02040503050406030204" pitchFamily="18" charset="0"/>
                                    </a:rPr>
                                    <m:t>𝑥</m:t>
                                  </m:r>
                                </m:e>
                                <m:sub>
                                  <m:r>
                                    <a:rPr lang="en-US" sz="2200">
                                      <a:effectLst/>
                                      <a:latin typeface="Cambria Math" panose="02040503050406030204" pitchFamily="18" charset="0"/>
                                    </a:rPr>
                                    <m:t>𝐶</m:t>
                                  </m:r>
                                </m:sub>
                              </m:sSub>
                              <m:r>
                                <a:rPr lang="en-US" sz="2200">
                                  <a:effectLst/>
                                  <a:latin typeface="Cambria Math" panose="02040503050406030204" pitchFamily="18" charset="0"/>
                                </a:rPr>
                                <m:t>=</m:t>
                              </m:r>
                            </m:oMath>
                          </a14:m>
                          <a:r>
                            <a:rPr lang="en-US" sz="2200" dirty="0">
                              <a:effectLst/>
                            </a:rPr>
                            <a:t>0.16557</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1241664689"/>
                      </a:ext>
                    </a:extLst>
                  </a:tr>
                </a:tbl>
              </a:graphicData>
            </a:graphic>
          </p:graphicFrame>
        </mc:Choice>
        <mc:Fallback xmlns="">
          <p:graphicFrame>
            <p:nvGraphicFramePr>
              <p:cNvPr id="12" name="Table 11">
                <a:extLst>
                  <a:ext uri="{FF2B5EF4-FFF2-40B4-BE49-F238E27FC236}">
                    <a16:creationId xmlns:a16="http://schemas.microsoft.com/office/drawing/2014/main" id="{0D5AB629-33C4-97E8-4417-D8A32ED3C578}"/>
                  </a:ext>
                </a:extLst>
              </p:cNvPr>
              <p:cNvGraphicFramePr>
                <a:graphicFrameLocks noGrp="1"/>
              </p:cNvGraphicFramePr>
              <p:nvPr>
                <p:extLst>
                  <p:ext uri="{D42A27DB-BD31-4B8C-83A1-F6EECF244321}">
                    <p14:modId xmlns:p14="http://schemas.microsoft.com/office/powerpoint/2010/main" val="3653249947"/>
                  </p:ext>
                </p:extLst>
              </p:nvPr>
            </p:nvGraphicFramePr>
            <p:xfrm>
              <a:off x="1023690" y="2777494"/>
              <a:ext cx="9460408" cy="7819069"/>
            </p:xfrm>
            <a:graphic>
              <a:graphicData uri="http://schemas.openxmlformats.org/drawingml/2006/table">
                <a:tbl>
                  <a:tblPr firstRow="1" firstCol="1" bandRow="1">
                    <a:tableStyleId>{5C22544A-7EE6-4342-B048-85BDC9FD1C3A}</a:tableStyleId>
                  </a:tblPr>
                  <a:tblGrid>
                    <a:gridCol w="1408277">
                      <a:extLst>
                        <a:ext uri="{9D8B030D-6E8A-4147-A177-3AD203B41FA5}">
                          <a16:colId xmlns:a16="http://schemas.microsoft.com/office/drawing/2014/main" val="1510356830"/>
                        </a:ext>
                      </a:extLst>
                    </a:gridCol>
                    <a:gridCol w="1439086">
                      <a:extLst>
                        <a:ext uri="{9D8B030D-6E8A-4147-A177-3AD203B41FA5}">
                          <a16:colId xmlns:a16="http://schemas.microsoft.com/office/drawing/2014/main" val="1115066401"/>
                        </a:ext>
                      </a:extLst>
                    </a:gridCol>
                    <a:gridCol w="2034670">
                      <a:extLst>
                        <a:ext uri="{9D8B030D-6E8A-4147-A177-3AD203B41FA5}">
                          <a16:colId xmlns:a16="http://schemas.microsoft.com/office/drawing/2014/main" val="2678170856"/>
                        </a:ext>
                      </a:extLst>
                    </a:gridCol>
                    <a:gridCol w="1625390">
                      <a:extLst>
                        <a:ext uri="{9D8B030D-6E8A-4147-A177-3AD203B41FA5}">
                          <a16:colId xmlns:a16="http://schemas.microsoft.com/office/drawing/2014/main" val="1770019333"/>
                        </a:ext>
                      </a:extLst>
                    </a:gridCol>
                    <a:gridCol w="1408277">
                      <a:extLst>
                        <a:ext uri="{9D8B030D-6E8A-4147-A177-3AD203B41FA5}">
                          <a16:colId xmlns:a16="http://schemas.microsoft.com/office/drawing/2014/main" val="3016624672"/>
                        </a:ext>
                      </a:extLst>
                    </a:gridCol>
                    <a:gridCol w="1544708">
                      <a:extLst>
                        <a:ext uri="{9D8B030D-6E8A-4147-A177-3AD203B41FA5}">
                          <a16:colId xmlns:a16="http://schemas.microsoft.com/office/drawing/2014/main" val="758430970"/>
                        </a:ext>
                      </a:extLst>
                    </a:gridCol>
                  </a:tblGrid>
                  <a:tr h="398968">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gridSpan="3">
                      <a:txBody>
                        <a:bodyPr/>
                        <a:lstStyle/>
                        <a:p>
                          <a:pPr marL="0" marR="0" algn="ctr">
                            <a:spcBef>
                              <a:spcPts val="0"/>
                            </a:spcBef>
                            <a:spcAft>
                              <a:spcPts val="0"/>
                            </a:spcAft>
                          </a:pPr>
                          <a:r>
                            <a:rPr lang="en-US" sz="2200">
                              <a:effectLst/>
                            </a:rPr>
                            <a:t>Mass Fraction Retained</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1143340424"/>
                      </a:ext>
                    </a:extLst>
                  </a:tr>
                  <a:tr h="1100720">
                    <a:tc>
                      <a:txBody>
                        <a:bodyPr/>
                        <a:lstStyle/>
                        <a:p>
                          <a:pPr marL="0" marR="0" algn="ctr">
                            <a:spcBef>
                              <a:spcPts val="0"/>
                            </a:spcBef>
                            <a:spcAft>
                              <a:spcPts val="0"/>
                            </a:spcAft>
                          </a:pPr>
                          <a:r>
                            <a:rPr lang="en-US" sz="2200">
                              <a:effectLst/>
                            </a:rPr>
                            <a:t>Mesh No</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Oversize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Intermediate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Undersize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Feed to 48 Mesh</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Feed to 65 Mesh</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914239263"/>
                      </a:ext>
                    </a:extLst>
                  </a:tr>
                  <a:tr h="398968">
                    <a:tc>
                      <a:txBody>
                        <a:bodyPr/>
                        <a:lstStyle/>
                        <a:p>
                          <a:pPr marL="0" marR="0" algn="ctr">
                            <a:spcBef>
                              <a:spcPts val="0"/>
                            </a:spcBef>
                            <a:spcAft>
                              <a:spcPts val="0"/>
                            </a:spcAft>
                          </a:pPr>
                          <a:r>
                            <a:rPr lang="en-US" sz="2200">
                              <a:effectLst/>
                            </a:rPr>
                            <a:t>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0.0012</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0.00036</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559648663"/>
                      </a:ext>
                    </a:extLst>
                  </a:tr>
                  <a:tr h="398968">
                    <a:tc>
                      <a:txBody>
                        <a:bodyPr/>
                        <a:lstStyle/>
                        <a:p>
                          <a:pPr marL="0" marR="0" algn="ctr">
                            <a:spcBef>
                              <a:spcPts val="0"/>
                            </a:spcBef>
                            <a:spcAft>
                              <a:spcPts val="0"/>
                            </a:spcAft>
                          </a:pPr>
                          <a:r>
                            <a:rPr lang="en-US" sz="2200">
                              <a:effectLst/>
                            </a:rPr>
                            <a:t>20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0.0068</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0.00204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439594042"/>
                      </a:ext>
                    </a:extLst>
                  </a:tr>
                  <a:tr h="731444">
                    <a:tc>
                      <a:txBody>
                        <a:bodyPr/>
                        <a:lstStyle/>
                        <a:p>
                          <a:pPr marL="0" marR="0" algn="ctr">
                            <a:spcBef>
                              <a:spcPts val="0"/>
                            </a:spcBef>
                            <a:spcAft>
                              <a:spcPts val="0"/>
                            </a:spcAft>
                          </a:pPr>
                          <a:r>
                            <a:rPr lang="en-US" sz="2200">
                              <a:effectLst/>
                            </a:rPr>
                            <a:t>28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0.189</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0.0627</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0.008571</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922626275"/>
                      </a:ext>
                    </a:extLst>
                  </a:tr>
                  <a:tr h="731444">
                    <a:tc>
                      <a:txBody>
                        <a:bodyPr/>
                        <a:lstStyle/>
                        <a:p>
                          <a:pPr marL="0" marR="0" algn="ctr">
                            <a:spcBef>
                              <a:spcPts val="0"/>
                            </a:spcBef>
                            <a:spcAft>
                              <a:spcPts val="0"/>
                            </a:spcAft>
                          </a:pPr>
                          <a:r>
                            <a:rPr lang="en-US" sz="2200">
                              <a:effectLst/>
                            </a:rPr>
                            <a:t>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0.389</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0.039</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0.1288</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0.017286</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1412370578"/>
                      </a:ext>
                    </a:extLst>
                  </a:tr>
                  <a:tr h="731444">
                    <a:tc>
                      <a:txBody>
                        <a:bodyPr/>
                        <a:lstStyle/>
                        <a:p>
                          <a:pPr marL="0" marR="0" algn="ctr">
                            <a:spcBef>
                              <a:spcPts val="0"/>
                            </a:spcBef>
                            <a:spcAft>
                              <a:spcPts val="0"/>
                            </a:spcAft>
                          </a:pPr>
                          <a:r>
                            <a:rPr lang="en-US" sz="2200">
                              <a:effectLst/>
                            </a:rPr>
                            <a:t>48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0.337</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0.322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0.1989</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solidFill>
                                <a:srgbClr val="FF0000"/>
                              </a:solidFill>
                              <a:effectLst/>
                              <a:highlight>
                                <a:srgbClr val="FFFF00"/>
                              </a:highlight>
                            </a:rPr>
                            <a:t>0.139714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624074637"/>
                      </a:ext>
                    </a:extLst>
                  </a:tr>
                  <a:tr h="398968">
                    <a:tc>
                      <a:txBody>
                        <a:bodyPr/>
                        <a:lstStyle/>
                        <a:p>
                          <a:pPr marL="0" marR="0" algn="ctr">
                            <a:spcBef>
                              <a:spcPts val="0"/>
                            </a:spcBef>
                            <a:spcAft>
                              <a:spcPts val="0"/>
                            </a:spcAft>
                          </a:pPr>
                          <a:r>
                            <a:rPr lang="en-US" sz="2200">
                              <a:effectLst/>
                            </a:rPr>
                            <a:t>65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effectLst/>
                            </a:rPr>
                            <a:t>0.066</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0.526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0.344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effectLst/>
                            </a:rPr>
                            <a:t>0.3152</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0.422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173796026"/>
                      </a:ext>
                    </a:extLst>
                  </a:tr>
                  <a:tr h="731444">
                    <a:tc>
                      <a:txBody>
                        <a:bodyPr/>
                        <a:lstStyle/>
                        <a:p>
                          <a:pPr marL="0" marR="0" algn="ctr">
                            <a:spcBef>
                              <a:spcPts val="0"/>
                            </a:spcBef>
                            <a:spcAft>
                              <a:spcPts val="0"/>
                            </a:spcAft>
                          </a:pPr>
                          <a:r>
                            <a:rPr lang="en-US" sz="2200">
                              <a:effectLst/>
                            </a:rPr>
                            <a:t>100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0.067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0.299</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dirty="0">
                              <a:effectLst/>
                            </a:rPr>
                            <a:t>0.1412</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0.199571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2640867919"/>
                      </a:ext>
                    </a:extLst>
                  </a:tr>
                  <a:tr h="731444">
                    <a:tc>
                      <a:txBody>
                        <a:bodyPr/>
                        <a:lstStyle/>
                        <a:p>
                          <a:pPr marL="0" marR="0" algn="ctr">
                            <a:spcBef>
                              <a:spcPts val="0"/>
                            </a:spcBef>
                            <a:spcAft>
                              <a:spcPts val="0"/>
                            </a:spcAft>
                          </a:pPr>
                          <a:r>
                            <a:rPr lang="en-US" sz="2200">
                              <a:effectLst/>
                            </a:rPr>
                            <a:t>150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0.024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0.237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0.1035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0.145714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4148777289"/>
                      </a:ext>
                    </a:extLst>
                  </a:tr>
                  <a:tr h="731444">
                    <a:tc>
                      <a:txBody>
                        <a:bodyPr/>
                        <a:lstStyle/>
                        <a:p>
                          <a:pPr marL="0" marR="0" algn="ctr">
                            <a:spcBef>
                              <a:spcPts val="0"/>
                            </a:spcBef>
                            <a:spcAft>
                              <a:spcPts val="0"/>
                            </a:spcAft>
                          </a:pPr>
                          <a:r>
                            <a:rPr lang="en-US" sz="2200">
                              <a:effectLst/>
                            </a:rPr>
                            <a:t>200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0.116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0.0473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0.067143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extLst>
                      <a:ext uri="{0D108BD9-81ED-4DB2-BD59-A6C34878D82A}">
                        <a16:rowId xmlns:a16="http://schemas.microsoft.com/office/drawing/2014/main" val="79273878"/>
                      </a:ext>
                    </a:extLst>
                  </a:tr>
                  <a:tr h="733813">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endParaRPr lang="en-US"/>
                        </a:p>
                      </a:txBody>
                      <a:tcPr marL="43501" marR="43501" marT="0" marB="0" anchor="b">
                        <a:blipFill>
                          <a:blip r:embed="rId3"/>
                          <a:stretch>
                            <a:fillRect l="-98305" t="-963636" r="-461864" b="-22314"/>
                          </a:stretch>
                        </a:blipFill>
                      </a:tcPr>
                    </a:tc>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3501" marR="43501" marT="0" marB="0" anchor="b"/>
                    </a:tc>
                    <a:tc>
                      <a:txBody>
                        <a:bodyPr/>
                        <a:lstStyle/>
                        <a:p>
                          <a:endParaRPr lang="en-US"/>
                        </a:p>
                      </a:txBody>
                      <a:tcPr marL="43501" marR="43501" marT="0" marB="0" anchor="b">
                        <a:blipFill>
                          <a:blip r:embed="rId3"/>
                          <a:stretch>
                            <a:fillRect l="-462771" t="-963636" r="-111688" b="-22314"/>
                          </a:stretch>
                        </a:blipFill>
                      </a:tcPr>
                    </a:tc>
                    <a:tc>
                      <a:txBody>
                        <a:bodyPr/>
                        <a:lstStyle/>
                        <a:p>
                          <a:endParaRPr lang="en-US"/>
                        </a:p>
                      </a:txBody>
                      <a:tcPr marL="43501" marR="43501" marT="0" marB="0" anchor="b">
                        <a:blipFill>
                          <a:blip r:embed="rId3"/>
                          <a:stretch>
                            <a:fillRect l="-511811" t="-963636" r="-1575" b="-22314"/>
                          </a:stretch>
                        </a:blipFill>
                      </a:tcPr>
                    </a:tc>
                    <a:extLst>
                      <a:ext uri="{0D108BD9-81ED-4DB2-BD59-A6C34878D82A}">
                        <a16:rowId xmlns:a16="http://schemas.microsoft.com/office/drawing/2014/main" val="1241664689"/>
                      </a:ext>
                    </a:extLst>
                  </a:tr>
                </a:tbl>
              </a:graphicData>
            </a:graphic>
          </p:graphicFrame>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C399F06-960E-16B4-76E5-A33553E392DE}"/>
                  </a:ext>
                </a:extLst>
              </p:cNvPr>
              <p:cNvSpPr txBox="1"/>
              <p:nvPr/>
            </p:nvSpPr>
            <p:spPr>
              <a:xfrm>
                <a:off x="11564220" y="3062387"/>
                <a:ext cx="8136903" cy="2768835"/>
              </a:xfrm>
              <a:prstGeom prst="rect">
                <a:avLst/>
              </a:prstGeom>
              <a:noFill/>
            </p:spPr>
            <p:txBody>
              <a:bodyPr wrap="square">
                <a:spAutoFit/>
              </a:bodyPr>
              <a:lstStyle/>
              <a:p>
                <a:pPr marL="0" marR="0" algn="just">
                  <a:spcBef>
                    <a:spcPts val="0"/>
                  </a:spcBef>
                  <a:spcAft>
                    <a:spcPts val="0"/>
                  </a:spcAft>
                </a:pPr>
                <a:r>
                  <a:rPr lang="en-US" sz="2400" dirty="0">
                    <a:solidFill>
                      <a:srgbClr val="000000"/>
                    </a:solidFill>
                    <a:effectLst/>
                    <a:latin typeface="Times New Roman" panose="02020603050405020304" pitchFamily="18" charset="0"/>
                    <a:ea typeface="Times New Roman" panose="02020603050405020304" pitchFamily="18" charset="0"/>
                  </a:rPr>
                  <a:t>Add fractions from 14 mesh to 48 mesh to get a cumulative sum. </a:t>
                </a:r>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400" b="1"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𝐴</m:t>
                        </m:r>
                      </m:sub>
                    </m:s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m:t>
                    </m:r>
                  </m:oMath>
                </a14:m>
                <a:r>
                  <a:rPr lang="en-US" sz="2400" dirty="0">
                    <a:solidFill>
                      <a:srgbClr val="000000"/>
                    </a:solidFill>
                    <a:effectLst/>
                    <a:latin typeface="Calibri" panose="020F0502020204030204" pitchFamily="34" charset="0"/>
                    <a:ea typeface="Times New Roman" panose="02020603050405020304" pitchFamily="18" charset="0"/>
                  </a:rPr>
                  <a:t>0.39288</a:t>
                </a:r>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14:m>
                  <m:oMath xmlns:m="http://schemas.openxmlformats.org/officeDocument/2006/math">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𝐵</m:t>
                        </m:r>
                      </m:sub>
                    </m:sSub>
                  </m:oMath>
                </a14:m>
                <a:r>
                  <a:rPr lang="en-US" sz="2400" dirty="0">
                    <a:solidFill>
                      <a:srgbClr val="000000"/>
                    </a:solidFill>
                    <a:effectLst/>
                    <a:latin typeface="Calibri" panose="020F0502020204030204" pitchFamily="34" charset="0"/>
                    <a:ea typeface="Times New Roman" panose="02020603050405020304" pitchFamily="18" charset="0"/>
                  </a:rPr>
                  <a:t>=0.923,  </a:t>
                </a:r>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14:m>
                  <m:oMath xmlns:m="http://schemas.openxmlformats.org/officeDocument/2006/math">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𝐶</m:t>
                        </m:r>
                      </m:sub>
                    </m:s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m:t>
                    </m:r>
                  </m:oMath>
                </a14:m>
                <a:r>
                  <a:rPr lang="en-US" sz="2400">
                    <a:solidFill>
                      <a:srgbClr val="000000"/>
                    </a:solidFill>
                    <a:effectLst/>
                    <a:latin typeface="Calibri" panose="020F0502020204030204" pitchFamily="34" charset="0"/>
                    <a:ea typeface="Times New Roman" panose="02020603050405020304" pitchFamily="18" charset="0"/>
                  </a:rPr>
                  <a:t>0.16557 </a:t>
                </a:r>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400" b="1" dirty="0">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rPr>
                        <m:t>𝐸</m:t>
                      </m:r>
                      <m:r>
                        <a:rPr lang="en-US" sz="2400" i="1">
                          <a:effectLst/>
                          <a:latin typeface="Cambria Math" panose="02040503050406030204" pitchFamily="18" charset="0"/>
                          <a:ea typeface="Times New Roman" panose="02020603050405020304" pitchFamily="18" charset="0"/>
                        </a:rPr>
                        <m:t>=</m:t>
                      </m:r>
                      <m:d>
                        <m:dPr>
                          <m:begChr m:val="["/>
                          <m:endChr m:val="]"/>
                          <m:ctrlPr>
                            <a:rPr lang="en-US" sz="2400" i="1">
                              <a:effectLst/>
                              <a:latin typeface="Cambria Math" panose="02040503050406030204" pitchFamily="18" charset="0"/>
                              <a:ea typeface="Times New Roman" panose="02020603050405020304" pitchFamily="18" charset="0"/>
                            </a:rPr>
                          </m:ctrlPr>
                        </m:dPr>
                        <m:e>
                          <m:d>
                            <m:dPr>
                              <m:ctrlPr>
                                <a:rPr lang="en-US" sz="2400" i="1">
                                  <a:effectLst/>
                                  <a:latin typeface="Cambria Math" panose="02040503050406030204" pitchFamily="18" charset="0"/>
                                  <a:ea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r>
                                    <a:rPr lang="en-US" sz="2400" i="1">
                                      <a:effectLst/>
                                      <a:latin typeface="Cambria Math" panose="02040503050406030204" pitchFamily="18" charset="0"/>
                                      <a:ea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num>
                                <m:den>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r>
                                    <a:rPr lang="en-US" sz="2400" i="1">
                                      <a:effectLst/>
                                      <a:latin typeface="Cambria Math" panose="02040503050406030204" pitchFamily="18" charset="0"/>
                                      <a:ea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den>
                              </m:f>
                            </m:e>
                          </m:d>
                          <m:r>
                            <a:rPr lang="en-US" sz="2400" i="1">
                              <a:effectLst/>
                              <a:latin typeface="Cambria Math" panose="02040503050406030204" pitchFamily="18" charset="0"/>
                              <a:ea typeface="Times New Roman" panose="02020603050405020304" pitchFamily="18" charset="0"/>
                            </a:rPr>
                            <m:t> </m:t>
                          </m:r>
                          <m:f>
                            <m:fPr>
                              <m:ctrlPr>
                                <a:rPr lang="en-US" sz="2400" i="1">
                                  <a:effectLst/>
                                  <a:latin typeface="Cambria Math" panose="02040503050406030204" pitchFamily="18" charset="0"/>
                                  <a:ea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num>
                            <m:den>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den>
                          </m:f>
                        </m:e>
                      </m:d>
                      <m:r>
                        <a:rPr lang="en-US" sz="2400" i="1">
                          <a:effectLst/>
                          <a:latin typeface="Cambria Math" panose="02040503050406030204" pitchFamily="18" charset="0"/>
                          <a:ea typeface="Times New Roman" panose="02020603050405020304" pitchFamily="18" charset="0"/>
                        </a:rPr>
                        <m:t> </m:t>
                      </m:r>
                      <m:d>
                        <m:dPr>
                          <m:begChr m:val="["/>
                          <m:endChr m:val="]"/>
                          <m:ctrlPr>
                            <a:rPr lang="en-US" sz="2400" i="1">
                              <a:effectLst/>
                              <a:latin typeface="Cambria Math" panose="02040503050406030204" pitchFamily="18" charset="0"/>
                              <a:ea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rPr>
                            <m:t>1−</m:t>
                          </m:r>
                          <m:d>
                            <m:dPr>
                              <m:ctrlPr>
                                <a:rPr lang="en-US" sz="2400" i="1">
                                  <a:effectLst/>
                                  <a:latin typeface="Cambria Math" panose="02040503050406030204" pitchFamily="18" charset="0"/>
                                  <a:ea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r>
                                    <a:rPr lang="en-US" sz="2400" i="1">
                                      <a:effectLst/>
                                      <a:latin typeface="Cambria Math" panose="02040503050406030204" pitchFamily="18" charset="0"/>
                                      <a:ea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num>
                                <m:den>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r>
                                    <a:rPr lang="en-US" sz="2400" i="1">
                                      <a:effectLst/>
                                      <a:latin typeface="Cambria Math" panose="02040503050406030204" pitchFamily="18" charset="0"/>
                                      <a:ea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den>
                              </m:f>
                            </m:e>
                          </m:d>
                          <m:d>
                            <m:dPr>
                              <m:ctrlPr>
                                <a:rPr lang="en-US" sz="2400" i="1">
                                  <a:effectLst/>
                                  <a:latin typeface="Cambria Math" panose="02040503050406030204" pitchFamily="18" charset="0"/>
                                  <a:ea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1−</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num>
                                <m:den>
                                  <m:r>
                                    <a:rPr lang="en-US" sz="2400" i="1">
                                      <a:effectLst/>
                                      <a:latin typeface="Cambria Math" panose="02040503050406030204" pitchFamily="18" charset="0"/>
                                      <a:ea typeface="Times New Roman" panose="02020603050405020304" pitchFamily="18" charset="0"/>
                                    </a:rPr>
                                    <m:t>1−</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den>
                              </m:f>
                            </m:e>
                          </m:d>
                        </m:e>
                      </m:d>
                      <m:r>
                        <a:rPr lang="en-US" sz="2400" i="1">
                          <a:effectLst/>
                          <a:latin typeface="Cambria Math" panose="02040503050406030204" pitchFamily="18" charset="0"/>
                          <a:ea typeface="Times New Roman" panose="02020603050405020304" pitchFamily="18" charset="0"/>
                        </a:rPr>
                        <m:t>=67.8%</m:t>
                      </m:r>
                    </m:oMath>
                  </m:oMathPara>
                </a14:m>
                <a:endParaRPr lang="en-US" sz="2400" dirty="0">
                  <a:effectLst/>
                  <a:latin typeface="Times New Roman" panose="02020603050405020304" pitchFamily="18" charset="0"/>
                  <a:ea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8C399F06-960E-16B4-76E5-A33553E392DE}"/>
                  </a:ext>
                </a:extLst>
              </p:cNvPr>
              <p:cNvSpPr txBox="1">
                <a:spLocks noRot="1" noChangeAspect="1" noMove="1" noResize="1" noEditPoints="1" noAdjustHandles="1" noChangeArrowheads="1" noChangeShapeType="1" noTextEdit="1"/>
              </p:cNvSpPr>
              <p:nvPr/>
            </p:nvSpPr>
            <p:spPr>
              <a:xfrm>
                <a:off x="11564220" y="3062387"/>
                <a:ext cx="8136903" cy="2768835"/>
              </a:xfrm>
              <a:prstGeom prst="rect">
                <a:avLst/>
              </a:prstGeom>
              <a:blipFill>
                <a:blip r:embed="rId4"/>
                <a:stretch>
                  <a:fillRect l="-1124" t="-1758" r="-449"/>
                </a:stretch>
              </a:blipFill>
            </p:spPr>
            <p:txBody>
              <a:bodyPr/>
              <a:lstStyle/>
              <a:p>
                <a:r>
                  <a:rPr lang="en-US">
                    <a:noFill/>
                  </a:rPr>
                  <a:t> </a:t>
                </a:r>
              </a:p>
            </p:txBody>
          </p:sp>
        </mc:Fallback>
      </mc:AlternateContent>
    </p:spTree>
    <p:extLst>
      <p:ext uri="{BB962C8B-B14F-4D97-AF65-F5344CB8AC3E}">
        <p14:creationId xmlns:p14="http://schemas.microsoft.com/office/powerpoint/2010/main" val="253808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AE577224-A89E-93DE-EEB9-BA48C5AC6701}"/>
              </a:ext>
            </a:extLst>
          </p:cNvPr>
          <p:cNvSpPr txBox="1"/>
          <p:nvPr/>
        </p:nvSpPr>
        <p:spPr>
          <a:xfrm>
            <a:off x="1004888" y="1373189"/>
            <a:ext cx="10050516" cy="523220"/>
          </a:xfrm>
          <a:prstGeom prst="rect">
            <a:avLst/>
          </a:prstGeom>
          <a:noFill/>
        </p:spPr>
        <p:txBody>
          <a:bodyPr wrap="square">
            <a:spAutoFit/>
          </a:bodyPr>
          <a:lstStyle/>
          <a:p>
            <a:pPr marL="0" marR="0" algn="just">
              <a:spcBef>
                <a:spcPts val="0"/>
              </a:spcBef>
              <a:spcAft>
                <a:spcPts val="0"/>
              </a:spcAft>
            </a:pPr>
            <a:r>
              <a:rPr lang="en-US" sz="2800" b="1" dirty="0">
                <a:solidFill>
                  <a:srgbClr val="FF0000"/>
                </a:solidFill>
                <a:effectLst/>
                <a:latin typeface="Times New Roman" panose="02020603050405020304" pitchFamily="18" charset="0"/>
                <a:ea typeface="Times New Roman" panose="02020603050405020304" pitchFamily="18" charset="0"/>
              </a:rPr>
              <a:t>Effectiveness of 48 mesh if undersize is desired product</a:t>
            </a:r>
            <a:endParaRPr lang="en-US" sz="28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375353D7-CDE7-0C2B-859E-1A9E6E31D511}"/>
                  </a:ext>
                </a:extLst>
              </p:cNvPr>
              <p:cNvGraphicFramePr>
                <a:graphicFrameLocks noGrp="1"/>
              </p:cNvGraphicFramePr>
              <p:nvPr>
                <p:extLst>
                  <p:ext uri="{D42A27DB-BD31-4B8C-83A1-F6EECF244321}">
                    <p14:modId xmlns:p14="http://schemas.microsoft.com/office/powerpoint/2010/main" val="2375395090"/>
                  </p:ext>
                </p:extLst>
              </p:nvPr>
            </p:nvGraphicFramePr>
            <p:xfrm>
              <a:off x="1048710" y="2093024"/>
              <a:ext cx="9579404" cy="8314177"/>
            </p:xfrm>
            <a:graphic>
              <a:graphicData uri="http://schemas.openxmlformats.org/drawingml/2006/table">
                <a:tbl>
                  <a:tblPr firstRow="1" firstCol="1" bandRow="1">
                    <a:tableStyleId>{5C22544A-7EE6-4342-B048-85BDC9FD1C3A}</a:tableStyleId>
                  </a:tblPr>
                  <a:tblGrid>
                    <a:gridCol w="1226476">
                      <a:extLst>
                        <a:ext uri="{9D8B030D-6E8A-4147-A177-3AD203B41FA5}">
                          <a16:colId xmlns:a16="http://schemas.microsoft.com/office/drawing/2014/main" val="1963930652"/>
                        </a:ext>
                      </a:extLst>
                    </a:gridCol>
                    <a:gridCol w="1673120">
                      <a:extLst>
                        <a:ext uri="{9D8B030D-6E8A-4147-A177-3AD203B41FA5}">
                          <a16:colId xmlns:a16="http://schemas.microsoft.com/office/drawing/2014/main" val="3768780966"/>
                        </a:ext>
                      </a:extLst>
                    </a:gridCol>
                    <a:gridCol w="1984281">
                      <a:extLst>
                        <a:ext uri="{9D8B030D-6E8A-4147-A177-3AD203B41FA5}">
                          <a16:colId xmlns:a16="http://schemas.microsoft.com/office/drawing/2014/main" val="2790776216"/>
                        </a:ext>
                      </a:extLst>
                    </a:gridCol>
                    <a:gridCol w="1523321">
                      <a:extLst>
                        <a:ext uri="{9D8B030D-6E8A-4147-A177-3AD203B41FA5}">
                          <a16:colId xmlns:a16="http://schemas.microsoft.com/office/drawing/2014/main" val="617457848"/>
                        </a:ext>
                      </a:extLst>
                    </a:gridCol>
                    <a:gridCol w="1586103">
                      <a:extLst>
                        <a:ext uri="{9D8B030D-6E8A-4147-A177-3AD203B41FA5}">
                          <a16:colId xmlns:a16="http://schemas.microsoft.com/office/drawing/2014/main" val="1954837899"/>
                        </a:ext>
                      </a:extLst>
                    </a:gridCol>
                    <a:gridCol w="1586103">
                      <a:extLst>
                        <a:ext uri="{9D8B030D-6E8A-4147-A177-3AD203B41FA5}">
                          <a16:colId xmlns:a16="http://schemas.microsoft.com/office/drawing/2014/main" val="2161111875"/>
                        </a:ext>
                      </a:extLst>
                    </a:gridCol>
                  </a:tblGrid>
                  <a:tr h="389351">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gridSpan="3">
                      <a:txBody>
                        <a:bodyPr/>
                        <a:lstStyle/>
                        <a:p>
                          <a:pPr marL="0" marR="0" algn="ctr">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4068961517"/>
                      </a:ext>
                    </a:extLst>
                  </a:tr>
                  <a:tr h="1070713">
                    <a:tc>
                      <a:txBody>
                        <a:bodyPr/>
                        <a:lstStyle/>
                        <a:p>
                          <a:pPr marL="0" marR="0" algn="ctr">
                            <a:spcBef>
                              <a:spcPts val="0"/>
                            </a:spcBef>
                            <a:spcAft>
                              <a:spcPts val="0"/>
                            </a:spcAft>
                          </a:pPr>
                          <a:r>
                            <a:rPr lang="en-US" sz="2400" dirty="0">
                              <a:effectLst/>
                            </a:rPr>
                            <a:t>Mesh No</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Oversize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Intermediate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Undersize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Feed to 48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Feed to 65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1612351506"/>
                      </a:ext>
                    </a:extLst>
                  </a:tr>
                  <a:tr h="713811">
                    <a:tc>
                      <a:txBody>
                        <a:bodyPr/>
                        <a:lstStyle/>
                        <a:p>
                          <a:pPr marL="0" marR="0" algn="ctr">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0.00036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287490302"/>
                      </a:ext>
                    </a:extLst>
                  </a:tr>
                  <a:tr h="713811">
                    <a:tc>
                      <a:txBody>
                        <a:bodyPr/>
                        <a:lstStyle/>
                        <a:p>
                          <a:pPr marL="0" marR="0" algn="ctr">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0.00204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2775173170"/>
                      </a:ext>
                    </a:extLst>
                  </a:tr>
                  <a:tr h="713811">
                    <a:tc>
                      <a:txBody>
                        <a:bodyPr/>
                        <a:lstStyle/>
                        <a:p>
                          <a:pPr marL="0" marR="0" algn="ctr">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0.0627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0.008571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964657790"/>
                      </a:ext>
                    </a:extLst>
                  </a:tr>
                  <a:tr h="713811">
                    <a:tc>
                      <a:txBody>
                        <a:bodyPr/>
                        <a:lstStyle/>
                        <a:p>
                          <a:pPr marL="0" marR="0" algn="ctr">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0.389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0.039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0.1288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0.017286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674205297"/>
                      </a:ext>
                    </a:extLst>
                  </a:tr>
                  <a:tr h="713811">
                    <a:tc>
                      <a:txBody>
                        <a:bodyPr/>
                        <a:lstStyle/>
                        <a:p>
                          <a:pPr marL="0" marR="0" algn="ctr">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0.337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0.322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0.1989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0.139714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3488574752"/>
                      </a:ext>
                    </a:extLst>
                  </a:tr>
                  <a:tr h="389351">
                    <a:tc>
                      <a:txBody>
                        <a:bodyPr/>
                        <a:lstStyle/>
                        <a:p>
                          <a:pPr marL="0" marR="0" algn="ctr">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0.066</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0.526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0.344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0.3152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0.422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324767805"/>
                      </a:ext>
                    </a:extLst>
                  </a:tr>
                  <a:tr h="713811">
                    <a:tc>
                      <a:txBody>
                        <a:bodyPr/>
                        <a:lstStyle/>
                        <a:p>
                          <a:pPr marL="0" marR="0" algn="ctr">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0.005</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0.067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0.299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0.1412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0.199571</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1080849780"/>
                      </a:ext>
                    </a:extLst>
                  </a:tr>
                  <a:tr h="713811">
                    <a:tc>
                      <a:txBody>
                        <a:bodyPr/>
                        <a:lstStyle/>
                        <a:p>
                          <a:pPr marL="0" marR="0" algn="ctr">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0.005</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0.024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0.237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0.1035</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0.145714</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2754781701"/>
                      </a:ext>
                    </a:extLst>
                  </a:tr>
                  <a:tr h="713811">
                    <a:tc>
                      <a:txBody>
                        <a:bodyPr/>
                        <a:lstStyle/>
                        <a:p>
                          <a:pPr marL="0" marR="0" algn="ctr">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0.001</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0.116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0.0473</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0.067143</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1870082376"/>
                      </a:ext>
                    </a:extLst>
                  </a:tr>
                  <a:tr h="754274">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14:m>
                            <m:oMath xmlns:m="http://schemas.openxmlformats.org/officeDocument/2006/math">
                              <m:sSub>
                                <m:sSubPr>
                                  <m:ctrlPr>
                                    <a:rPr lang="en-US" sz="2400" i="1" smtClean="0">
                                      <a:solidFill>
                                        <a:srgbClr val="FF0000"/>
                                      </a:solidFill>
                                      <a:effectLst/>
                                      <a:highlight>
                                        <a:srgbClr val="FFFF00"/>
                                      </a:highlight>
                                      <a:latin typeface="Cambria Math" panose="02040503050406030204" pitchFamily="18" charset="0"/>
                                    </a:rPr>
                                  </m:ctrlPr>
                                </m:sSubPr>
                                <m:e>
                                  <m:r>
                                    <a:rPr lang="en-US" sz="2400">
                                      <a:solidFill>
                                        <a:srgbClr val="FF0000"/>
                                      </a:solidFill>
                                      <a:effectLst/>
                                      <a:highlight>
                                        <a:srgbClr val="FFFF00"/>
                                      </a:highlight>
                                      <a:latin typeface="Cambria Math" panose="02040503050406030204" pitchFamily="18" charset="0"/>
                                    </a:rPr>
                                    <m:t>𝑥</m:t>
                                  </m:r>
                                </m:e>
                                <m:sub>
                                  <m:r>
                                    <a:rPr lang="en-US" sz="2400">
                                      <a:solidFill>
                                        <a:srgbClr val="FF0000"/>
                                      </a:solidFill>
                                      <a:effectLst/>
                                      <a:highlight>
                                        <a:srgbClr val="FFFF00"/>
                                      </a:highlight>
                                      <a:latin typeface="Cambria Math" panose="02040503050406030204" pitchFamily="18" charset="0"/>
                                    </a:rPr>
                                    <m:t>𝐶</m:t>
                                  </m:r>
                                </m:sub>
                              </m:sSub>
                              <m:r>
                                <a:rPr lang="en-US" sz="2400">
                                  <a:solidFill>
                                    <a:srgbClr val="FF0000"/>
                                  </a:solidFill>
                                  <a:effectLst/>
                                  <a:highlight>
                                    <a:srgbClr val="FFFF00"/>
                                  </a:highlight>
                                  <a:latin typeface="Cambria Math" panose="02040503050406030204" pitchFamily="18" charset="0"/>
                                </a:rPr>
                                <m:t>=</m:t>
                              </m:r>
                            </m:oMath>
                          </a14:m>
                          <a:r>
                            <a:rPr lang="en-US" sz="2400" dirty="0">
                              <a:solidFill>
                                <a:srgbClr val="FF0000"/>
                              </a:solidFill>
                              <a:effectLst/>
                              <a:highlight>
                                <a:srgbClr val="FFFF00"/>
                              </a:highlight>
                            </a:rPr>
                            <a:t>0.077</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14:m>
                            <m:oMath xmlns:m="http://schemas.openxmlformats.org/officeDocument/2006/math">
                              <m:sSub>
                                <m:sSubPr>
                                  <m:ctrlPr>
                                    <a:rPr lang="en-US" sz="2400" i="1" smtClean="0">
                                      <a:solidFill>
                                        <a:srgbClr val="FF0000"/>
                                      </a:solidFill>
                                      <a:effectLst/>
                                      <a:highlight>
                                        <a:srgbClr val="FFFF00"/>
                                      </a:highlight>
                                      <a:latin typeface="Cambria Math" panose="02040503050406030204" pitchFamily="18" charset="0"/>
                                    </a:rPr>
                                  </m:ctrlPr>
                                </m:sSubPr>
                                <m:e>
                                  <m:r>
                                    <a:rPr lang="en-US" sz="2400">
                                      <a:solidFill>
                                        <a:srgbClr val="FF0000"/>
                                      </a:solidFill>
                                      <a:effectLst/>
                                      <a:highlight>
                                        <a:srgbClr val="FFFF00"/>
                                      </a:highlight>
                                      <a:latin typeface="Cambria Math" panose="02040503050406030204" pitchFamily="18" charset="0"/>
                                    </a:rPr>
                                    <m:t>𝑥</m:t>
                                  </m:r>
                                </m:e>
                                <m:sub>
                                  <m:r>
                                    <a:rPr lang="en-US" sz="2400">
                                      <a:solidFill>
                                        <a:srgbClr val="FF0000"/>
                                      </a:solidFill>
                                      <a:effectLst/>
                                      <a:highlight>
                                        <a:srgbClr val="FFFF00"/>
                                      </a:highlight>
                                      <a:latin typeface="Cambria Math" panose="02040503050406030204" pitchFamily="18" charset="0"/>
                                    </a:rPr>
                                    <m:t>𝐴</m:t>
                                  </m:r>
                                </m:sub>
                              </m:sSub>
                              <m:r>
                                <a:rPr lang="en-US" sz="2400">
                                  <a:solidFill>
                                    <a:srgbClr val="FF0000"/>
                                  </a:solidFill>
                                  <a:effectLst/>
                                  <a:highlight>
                                    <a:srgbClr val="FFFF00"/>
                                  </a:highlight>
                                  <a:latin typeface="Cambria Math" panose="02040503050406030204" pitchFamily="18" charset="0"/>
                                </a:rPr>
                                <m:t>=</m:t>
                              </m:r>
                            </m:oMath>
                          </a14:m>
                          <a:r>
                            <a:rPr lang="en-US" sz="2400" dirty="0">
                              <a:solidFill>
                                <a:srgbClr val="FF0000"/>
                              </a:solidFill>
                              <a:effectLst/>
                              <a:highlight>
                                <a:srgbClr val="FFFF00"/>
                              </a:highlight>
                            </a:rPr>
                            <a:t>0.6072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14:m>
                            <m:oMath xmlns:m="http://schemas.openxmlformats.org/officeDocument/2006/math">
                              <m:sSub>
                                <m:sSubPr>
                                  <m:ctrlPr>
                                    <a:rPr lang="en-US" sz="2400" i="1" smtClean="0">
                                      <a:solidFill>
                                        <a:srgbClr val="FF0000"/>
                                      </a:solidFill>
                                      <a:effectLst/>
                                      <a:highlight>
                                        <a:srgbClr val="FFFF00"/>
                                      </a:highlight>
                                      <a:latin typeface="Cambria Math" panose="02040503050406030204" pitchFamily="18" charset="0"/>
                                    </a:rPr>
                                  </m:ctrlPr>
                                </m:sSubPr>
                                <m:e>
                                  <m:r>
                                    <a:rPr lang="en-US" sz="2400">
                                      <a:solidFill>
                                        <a:srgbClr val="FF0000"/>
                                      </a:solidFill>
                                      <a:effectLst/>
                                      <a:highlight>
                                        <a:srgbClr val="FFFF00"/>
                                      </a:highlight>
                                      <a:latin typeface="Cambria Math" panose="02040503050406030204" pitchFamily="18" charset="0"/>
                                    </a:rPr>
                                    <m:t>𝑥</m:t>
                                  </m:r>
                                </m:e>
                                <m:sub>
                                  <m:r>
                                    <a:rPr lang="en-US" sz="2400">
                                      <a:solidFill>
                                        <a:srgbClr val="FF0000"/>
                                      </a:solidFill>
                                      <a:effectLst/>
                                      <a:highlight>
                                        <a:srgbClr val="FFFF00"/>
                                      </a:highlight>
                                      <a:latin typeface="Cambria Math" panose="02040503050406030204" pitchFamily="18" charset="0"/>
                                    </a:rPr>
                                    <m:t>𝐵</m:t>
                                  </m:r>
                                </m:sub>
                              </m:sSub>
                              <m:r>
                                <a:rPr lang="en-US" sz="2400">
                                  <a:solidFill>
                                    <a:srgbClr val="FF0000"/>
                                  </a:solidFill>
                                  <a:effectLst/>
                                  <a:highlight>
                                    <a:srgbClr val="FFFF00"/>
                                  </a:highlight>
                                  <a:latin typeface="Cambria Math" panose="02040503050406030204" pitchFamily="18" charset="0"/>
                                </a:rPr>
                                <m:t>=</m:t>
                              </m:r>
                            </m:oMath>
                          </a14:m>
                          <a:r>
                            <a:rPr lang="en-US" sz="2400" dirty="0">
                              <a:solidFill>
                                <a:srgbClr val="FF0000"/>
                              </a:solidFill>
                              <a:effectLst/>
                              <a:highlight>
                                <a:srgbClr val="FFFF00"/>
                              </a:highlight>
                            </a:rPr>
                            <a:t>0.8344</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2301437106"/>
                      </a:ext>
                    </a:extLst>
                  </a:tr>
                </a:tbl>
              </a:graphicData>
            </a:graphic>
          </p:graphicFrame>
        </mc:Choice>
        <mc:Fallback xmlns="">
          <p:graphicFrame>
            <p:nvGraphicFramePr>
              <p:cNvPr id="10" name="Table 9">
                <a:extLst>
                  <a:ext uri="{FF2B5EF4-FFF2-40B4-BE49-F238E27FC236}">
                    <a16:creationId xmlns:a16="http://schemas.microsoft.com/office/drawing/2014/main" id="{375353D7-CDE7-0C2B-859E-1A9E6E31D511}"/>
                  </a:ext>
                </a:extLst>
              </p:cNvPr>
              <p:cNvGraphicFramePr>
                <a:graphicFrameLocks noGrp="1"/>
              </p:cNvGraphicFramePr>
              <p:nvPr>
                <p:extLst>
                  <p:ext uri="{D42A27DB-BD31-4B8C-83A1-F6EECF244321}">
                    <p14:modId xmlns:p14="http://schemas.microsoft.com/office/powerpoint/2010/main" val="2375395090"/>
                  </p:ext>
                </p:extLst>
              </p:nvPr>
            </p:nvGraphicFramePr>
            <p:xfrm>
              <a:off x="1048710" y="2093024"/>
              <a:ext cx="9579404" cy="8314177"/>
            </p:xfrm>
            <a:graphic>
              <a:graphicData uri="http://schemas.openxmlformats.org/drawingml/2006/table">
                <a:tbl>
                  <a:tblPr firstRow="1" firstCol="1" bandRow="1">
                    <a:tableStyleId>{5C22544A-7EE6-4342-B048-85BDC9FD1C3A}</a:tableStyleId>
                  </a:tblPr>
                  <a:tblGrid>
                    <a:gridCol w="1226476">
                      <a:extLst>
                        <a:ext uri="{9D8B030D-6E8A-4147-A177-3AD203B41FA5}">
                          <a16:colId xmlns:a16="http://schemas.microsoft.com/office/drawing/2014/main" val="1963930652"/>
                        </a:ext>
                      </a:extLst>
                    </a:gridCol>
                    <a:gridCol w="1673120">
                      <a:extLst>
                        <a:ext uri="{9D8B030D-6E8A-4147-A177-3AD203B41FA5}">
                          <a16:colId xmlns:a16="http://schemas.microsoft.com/office/drawing/2014/main" val="3768780966"/>
                        </a:ext>
                      </a:extLst>
                    </a:gridCol>
                    <a:gridCol w="1984281">
                      <a:extLst>
                        <a:ext uri="{9D8B030D-6E8A-4147-A177-3AD203B41FA5}">
                          <a16:colId xmlns:a16="http://schemas.microsoft.com/office/drawing/2014/main" val="2790776216"/>
                        </a:ext>
                      </a:extLst>
                    </a:gridCol>
                    <a:gridCol w="1523321">
                      <a:extLst>
                        <a:ext uri="{9D8B030D-6E8A-4147-A177-3AD203B41FA5}">
                          <a16:colId xmlns:a16="http://schemas.microsoft.com/office/drawing/2014/main" val="617457848"/>
                        </a:ext>
                      </a:extLst>
                    </a:gridCol>
                    <a:gridCol w="1586103">
                      <a:extLst>
                        <a:ext uri="{9D8B030D-6E8A-4147-A177-3AD203B41FA5}">
                          <a16:colId xmlns:a16="http://schemas.microsoft.com/office/drawing/2014/main" val="1954837899"/>
                        </a:ext>
                      </a:extLst>
                    </a:gridCol>
                    <a:gridCol w="1586103">
                      <a:extLst>
                        <a:ext uri="{9D8B030D-6E8A-4147-A177-3AD203B41FA5}">
                          <a16:colId xmlns:a16="http://schemas.microsoft.com/office/drawing/2014/main" val="2161111875"/>
                        </a:ext>
                      </a:extLst>
                    </a:gridCol>
                  </a:tblGrid>
                  <a:tr h="389351">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gridSpan="3">
                      <a:txBody>
                        <a:bodyPr/>
                        <a:lstStyle/>
                        <a:p>
                          <a:pPr marL="0" marR="0" algn="ctr">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4068961517"/>
                      </a:ext>
                    </a:extLst>
                  </a:tr>
                  <a:tr h="1070713">
                    <a:tc>
                      <a:txBody>
                        <a:bodyPr/>
                        <a:lstStyle/>
                        <a:p>
                          <a:pPr marL="0" marR="0" algn="ctr">
                            <a:spcBef>
                              <a:spcPts val="0"/>
                            </a:spcBef>
                            <a:spcAft>
                              <a:spcPts val="0"/>
                            </a:spcAft>
                          </a:pPr>
                          <a:r>
                            <a:rPr lang="en-US" sz="2400" dirty="0">
                              <a:effectLst/>
                            </a:rPr>
                            <a:t>Mesh No</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Oversize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Intermediate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Undersize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Feed to 48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Feed to 65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1612351506"/>
                      </a:ext>
                    </a:extLst>
                  </a:tr>
                  <a:tr h="713811">
                    <a:tc>
                      <a:txBody>
                        <a:bodyPr/>
                        <a:lstStyle/>
                        <a:p>
                          <a:pPr marL="0" marR="0" algn="ctr">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0.00036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287490302"/>
                      </a:ext>
                    </a:extLst>
                  </a:tr>
                  <a:tr h="713811">
                    <a:tc>
                      <a:txBody>
                        <a:bodyPr/>
                        <a:lstStyle/>
                        <a:p>
                          <a:pPr marL="0" marR="0" algn="ctr">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0.00204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2775173170"/>
                      </a:ext>
                    </a:extLst>
                  </a:tr>
                  <a:tr h="713811">
                    <a:tc>
                      <a:txBody>
                        <a:bodyPr/>
                        <a:lstStyle/>
                        <a:p>
                          <a:pPr marL="0" marR="0" algn="ctr">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0.0627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0.008571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964657790"/>
                      </a:ext>
                    </a:extLst>
                  </a:tr>
                  <a:tr h="713811">
                    <a:tc>
                      <a:txBody>
                        <a:bodyPr/>
                        <a:lstStyle/>
                        <a:p>
                          <a:pPr marL="0" marR="0" algn="ctr">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0.389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0.039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0.1288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0.017286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674205297"/>
                      </a:ext>
                    </a:extLst>
                  </a:tr>
                  <a:tr h="713811">
                    <a:tc>
                      <a:txBody>
                        <a:bodyPr/>
                        <a:lstStyle/>
                        <a:p>
                          <a:pPr marL="0" marR="0" algn="ctr">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0.337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0.322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0.1989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0.139714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3488574752"/>
                      </a:ext>
                    </a:extLst>
                  </a:tr>
                  <a:tr h="389351">
                    <a:tc>
                      <a:txBody>
                        <a:bodyPr/>
                        <a:lstStyle/>
                        <a:p>
                          <a:pPr marL="0" marR="0" algn="ctr">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0.066</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0.526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0.344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0.3152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0.422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324767805"/>
                      </a:ext>
                    </a:extLst>
                  </a:tr>
                  <a:tr h="713811">
                    <a:tc>
                      <a:txBody>
                        <a:bodyPr/>
                        <a:lstStyle/>
                        <a:p>
                          <a:pPr marL="0" marR="0" algn="ctr">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0.005</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0.067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0.299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0.1412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0.199571</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1080849780"/>
                      </a:ext>
                    </a:extLst>
                  </a:tr>
                  <a:tr h="713811">
                    <a:tc>
                      <a:txBody>
                        <a:bodyPr/>
                        <a:lstStyle/>
                        <a:p>
                          <a:pPr marL="0" marR="0" algn="ctr">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0.005</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0.024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0.237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0.1035</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0.145714</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2754781701"/>
                      </a:ext>
                    </a:extLst>
                  </a:tr>
                  <a:tr h="713811">
                    <a:tc>
                      <a:txBody>
                        <a:bodyPr/>
                        <a:lstStyle/>
                        <a:p>
                          <a:pPr marL="0" marR="0" algn="ctr">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0.001</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0.116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0.0473</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dirty="0">
                              <a:solidFill>
                                <a:srgbClr val="FF0000"/>
                              </a:solidFill>
                              <a:effectLst/>
                              <a:highlight>
                                <a:srgbClr val="FFFF00"/>
                              </a:highlight>
                            </a:rPr>
                            <a:t>0.067143</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extLst>
                      <a:ext uri="{0D108BD9-81ED-4DB2-BD59-A6C34878D82A}">
                        <a16:rowId xmlns:a16="http://schemas.microsoft.com/office/drawing/2014/main" val="1870082376"/>
                      </a:ext>
                    </a:extLst>
                  </a:tr>
                  <a:tr h="754274">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endParaRPr lang="en-US"/>
                        </a:p>
                      </a:txBody>
                      <a:tcPr marL="40089" marR="40089" marT="0" marB="0" anchor="b">
                        <a:blipFill>
                          <a:blip r:embed="rId3"/>
                          <a:stretch>
                            <a:fillRect l="-73818" t="-1009677" r="-400000" b="-24194"/>
                          </a:stretch>
                        </a:blipFill>
                      </a:tcPr>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0089" marR="40089" marT="0" marB="0" anchor="b"/>
                    </a:tc>
                    <a:tc>
                      <a:txBody>
                        <a:bodyPr/>
                        <a:lstStyle/>
                        <a:p>
                          <a:endParaRPr lang="en-US"/>
                        </a:p>
                      </a:txBody>
                      <a:tcPr marL="40089" marR="40089" marT="0" marB="0" anchor="b">
                        <a:blipFill>
                          <a:blip r:embed="rId3"/>
                          <a:stretch>
                            <a:fillRect l="-403448" t="-1009677" r="-101149" b="-24194"/>
                          </a:stretch>
                        </a:blipFill>
                      </a:tcPr>
                    </a:tc>
                    <a:tc>
                      <a:txBody>
                        <a:bodyPr/>
                        <a:lstStyle/>
                        <a:p>
                          <a:endParaRPr lang="en-US"/>
                        </a:p>
                      </a:txBody>
                      <a:tcPr marL="40089" marR="40089" marT="0" marB="0" anchor="b">
                        <a:blipFill>
                          <a:blip r:embed="rId3"/>
                          <a:stretch>
                            <a:fillRect l="-505385" t="-1009677" r="-1538" b="-24194"/>
                          </a:stretch>
                        </a:blipFill>
                      </a:tcPr>
                    </a:tc>
                    <a:extLst>
                      <a:ext uri="{0D108BD9-81ED-4DB2-BD59-A6C34878D82A}">
                        <a16:rowId xmlns:a16="http://schemas.microsoft.com/office/drawing/2014/main" val="230143710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627E316-9F2F-2DE3-7FF7-7EB576E2ADCF}"/>
                  </a:ext>
                </a:extLst>
              </p:cNvPr>
              <p:cNvSpPr txBox="1"/>
              <p:nvPr/>
            </p:nvSpPr>
            <p:spPr>
              <a:xfrm>
                <a:off x="11636226" y="2774355"/>
                <a:ext cx="6480720" cy="2768835"/>
              </a:xfrm>
              <a:prstGeom prst="rect">
                <a:avLst/>
              </a:prstGeom>
              <a:noFill/>
            </p:spPr>
            <p:txBody>
              <a:bodyPr wrap="square">
                <a:spAutoFit/>
              </a:bodyPr>
              <a:lstStyle/>
              <a:p>
                <a:pPr marL="0" marR="0" algn="just">
                  <a:spcBef>
                    <a:spcPts val="0"/>
                  </a:spcBef>
                  <a:spcAft>
                    <a:spcPts val="0"/>
                  </a:spcAft>
                </a:pPr>
                <a:r>
                  <a:rPr lang="en-US" sz="2400" dirty="0">
                    <a:solidFill>
                      <a:srgbClr val="000000"/>
                    </a:solidFill>
                    <a:effectLst/>
                    <a:latin typeface="Times New Roman" panose="02020603050405020304" pitchFamily="18" charset="0"/>
                    <a:ea typeface="Times New Roman" panose="02020603050405020304" pitchFamily="18" charset="0"/>
                  </a:rPr>
                  <a:t>Add fractions from 65 mesh to 200 mesh to get </a:t>
                </a:r>
                <a14:m>
                  <m:oMath xmlns:m="http://schemas.openxmlformats.org/officeDocument/2006/math">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𝐴</m:t>
                        </m:r>
                      </m:sub>
                    </m:s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m:t>
                    </m:r>
                  </m:oMath>
                </a14:m>
                <a:r>
                  <a:rPr lang="en-US" sz="2400" dirty="0">
                    <a:solidFill>
                      <a:srgbClr val="000000"/>
                    </a:solidFill>
                    <a:effectLst/>
                    <a:ea typeface="Times New Roman" panose="02020603050405020304" pitchFamily="18" charset="0"/>
                  </a:rPr>
                  <a:t>0.6072, </a:t>
                </a:r>
                <a14:m>
                  <m:oMath xmlns:m="http://schemas.openxmlformats.org/officeDocument/2006/math">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𝐵</m:t>
                        </m:r>
                      </m:sub>
                    </m:s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m:t>
                    </m:r>
                  </m:oMath>
                </a14:m>
                <a:r>
                  <a:rPr lang="en-US" sz="2400" dirty="0">
                    <a:solidFill>
                      <a:srgbClr val="000000"/>
                    </a:solidFill>
                    <a:effectLst/>
                    <a:ea typeface="Times New Roman" panose="02020603050405020304" pitchFamily="18" charset="0"/>
                  </a:rPr>
                  <a:t>0.8344, </a:t>
                </a:r>
                <a14:m>
                  <m:oMath xmlns:m="http://schemas.openxmlformats.org/officeDocument/2006/math">
                    <m:sSub>
                      <m:sSubPr>
                        <m:ctrlP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𝐶</m:t>
                        </m:r>
                      </m:sub>
                    </m:sSub>
                    <m:r>
                      <a:rPr lang="en-US" sz="24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m:t>
                    </m:r>
                  </m:oMath>
                </a14:m>
                <a:r>
                  <a:rPr lang="en-US" sz="2400" dirty="0">
                    <a:solidFill>
                      <a:srgbClr val="000000"/>
                    </a:solidFill>
                    <a:effectLst/>
                    <a:ea typeface="Times New Roman" panose="02020603050405020304" pitchFamily="18" charset="0"/>
                  </a:rPr>
                  <a:t>0.077</a:t>
                </a:r>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400" dirty="0">
                    <a:solidFill>
                      <a:srgbClr val="000000"/>
                    </a:solidFill>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rPr>
                        <m:t>𝐸</m:t>
                      </m:r>
                      <m:r>
                        <a:rPr lang="en-US" sz="2400" i="1">
                          <a:effectLst/>
                          <a:latin typeface="Cambria Math" panose="02040503050406030204" pitchFamily="18" charset="0"/>
                          <a:ea typeface="Times New Roman" panose="02020603050405020304" pitchFamily="18" charset="0"/>
                        </a:rPr>
                        <m:t>=</m:t>
                      </m:r>
                      <m:d>
                        <m:dPr>
                          <m:begChr m:val="["/>
                          <m:endChr m:val="]"/>
                          <m:ctrlPr>
                            <a:rPr lang="en-US" sz="2400" i="1">
                              <a:effectLst/>
                              <a:latin typeface="Cambria Math" panose="02040503050406030204" pitchFamily="18" charset="0"/>
                              <a:ea typeface="Times New Roman" panose="02020603050405020304" pitchFamily="18" charset="0"/>
                            </a:rPr>
                          </m:ctrlPr>
                        </m:dPr>
                        <m:e>
                          <m:d>
                            <m:dPr>
                              <m:ctrlPr>
                                <a:rPr lang="en-US" sz="2400" i="1">
                                  <a:effectLst/>
                                  <a:latin typeface="Cambria Math" panose="02040503050406030204" pitchFamily="18" charset="0"/>
                                  <a:ea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r>
                                    <a:rPr lang="en-US" sz="2400" i="1">
                                      <a:effectLst/>
                                      <a:latin typeface="Cambria Math" panose="02040503050406030204" pitchFamily="18" charset="0"/>
                                      <a:ea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num>
                                <m:den>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r>
                                    <a:rPr lang="en-US" sz="2400" i="1">
                                      <a:effectLst/>
                                      <a:latin typeface="Cambria Math" panose="02040503050406030204" pitchFamily="18" charset="0"/>
                                      <a:ea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den>
                              </m:f>
                            </m:e>
                          </m:d>
                          <m:r>
                            <a:rPr lang="en-US" sz="2400" i="1">
                              <a:effectLst/>
                              <a:latin typeface="Cambria Math" panose="02040503050406030204" pitchFamily="18" charset="0"/>
                              <a:ea typeface="Times New Roman" panose="02020603050405020304" pitchFamily="18" charset="0"/>
                            </a:rPr>
                            <m:t> </m:t>
                          </m:r>
                          <m:f>
                            <m:fPr>
                              <m:ctrlPr>
                                <a:rPr lang="en-US" sz="2400" i="1">
                                  <a:effectLst/>
                                  <a:latin typeface="Cambria Math" panose="02040503050406030204" pitchFamily="18" charset="0"/>
                                  <a:ea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num>
                            <m:den>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den>
                          </m:f>
                        </m:e>
                      </m:d>
                      <m:r>
                        <a:rPr lang="en-US" sz="2400" i="1">
                          <a:effectLst/>
                          <a:latin typeface="Cambria Math" panose="02040503050406030204" pitchFamily="18" charset="0"/>
                          <a:ea typeface="Times New Roman" panose="02020603050405020304" pitchFamily="18" charset="0"/>
                        </a:rPr>
                        <m:t> </m:t>
                      </m:r>
                      <m:d>
                        <m:dPr>
                          <m:begChr m:val="["/>
                          <m:endChr m:val="]"/>
                          <m:ctrlPr>
                            <a:rPr lang="en-US" sz="2400" i="1">
                              <a:effectLst/>
                              <a:latin typeface="Cambria Math" panose="02040503050406030204" pitchFamily="18" charset="0"/>
                              <a:ea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rPr>
                            <m:t>1−</m:t>
                          </m:r>
                          <m:d>
                            <m:dPr>
                              <m:ctrlPr>
                                <a:rPr lang="en-US" sz="2400" i="1">
                                  <a:effectLst/>
                                  <a:latin typeface="Cambria Math" panose="02040503050406030204" pitchFamily="18" charset="0"/>
                                  <a:ea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r>
                                    <a:rPr lang="en-US" sz="2400" i="1">
                                      <a:effectLst/>
                                      <a:latin typeface="Cambria Math" panose="02040503050406030204" pitchFamily="18" charset="0"/>
                                      <a:ea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num>
                                <m:den>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r>
                                    <a:rPr lang="en-US" sz="2400" i="1">
                                      <a:effectLst/>
                                      <a:latin typeface="Cambria Math" panose="02040503050406030204" pitchFamily="18" charset="0"/>
                                      <a:ea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𝐶</m:t>
                                      </m:r>
                                    </m:sub>
                                  </m:sSub>
                                </m:den>
                              </m:f>
                            </m:e>
                          </m:d>
                          <m:d>
                            <m:dPr>
                              <m:ctrlPr>
                                <a:rPr lang="en-US" sz="2400" i="1">
                                  <a:effectLst/>
                                  <a:latin typeface="Cambria Math" panose="02040503050406030204" pitchFamily="18" charset="0"/>
                                  <a:ea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rPr>
                                    <m:t>1−</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𝐵</m:t>
                                      </m:r>
                                    </m:sub>
                                  </m:sSub>
                                </m:num>
                                <m:den>
                                  <m:r>
                                    <a:rPr lang="en-US" sz="2400" i="1">
                                      <a:effectLst/>
                                      <a:latin typeface="Cambria Math" panose="02040503050406030204" pitchFamily="18" charset="0"/>
                                      <a:ea typeface="Times New Roman" panose="02020603050405020304" pitchFamily="18" charset="0"/>
                                    </a:rPr>
                                    <m:t>1−</m:t>
                                  </m:r>
                                  <m:sSub>
                                    <m:sSubPr>
                                      <m:ctrlPr>
                                        <a:rPr lang="en-US" sz="2400" i="1">
                                          <a:effectLst/>
                                          <a:latin typeface="Cambria Math" panose="02040503050406030204" pitchFamily="18" charset="0"/>
                                          <a:ea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rPr>
                                        <m:t>𝐴</m:t>
                                      </m:r>
                                    </m:sub>
                                  </m:sSub>
                                </m:den>
                              </m:f>
                            </m:e>
                          </m:d>
                        </m:e>
                      </m:d>
                      <m:r>
                        <a:rPr lang="en-US" sz="2400" i="1">
                          <a:effectLst/>
                          <a:latin typeface="Cambria Math" panose="02040503050406030204" pitchFamily="18" charset="0"/>
                          <a:ea typeface="Times New Roman" panose="02020603050405020304" pitchFamily="18" charset="0"/>
                        </a:rPr>
                        <m:t>=67.8%</m:t>
                      </m:r>
                    </m:oMath>
                  </m:oMathPara>
                </a14:m>
                <a:endParaRPr lang="en-US" sz="24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400" b="1" dirty="0">
                    <a:solidFill>
                      <a:srgbClr val="FF0000"/>
                    </a:solidFill>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F627E316-9F2F-2DE3-7FF7-7EB576E2ADCF}"/>
                  </a:ext>
                </a:extLst>
              </p:cNvPr>
              <p:cNvSpPr txBox="1">
                <a:spLocks noRot="1" noChangeAspect="1" noMove="1" noResize="1" noEditPoints="1" noAdjustHandles="1" noChangeArrowheads="1" noChangeShapeType="1" noTextEdit="1"/>
              </p:cNvSpPr>
              <p:nvPr/>
            </p:nvSpPr>
            <p:spPr>
              <a:xfrm>
                <a:off x="11636226" y="2774355"/>
                <a:ext cx="6480720" cy="2768835"/>
              </a:xfrm>
              <a:prstGeom prst="rect">
                <a:avLst/>
              </a:prstGeom>
              <a:blipFill>
                <a:blip r:embed="rId4"/>
                <a:stretch>
                  <a:fillRect l="-1505" t="-1762" r="-1411"/>
                </a:stretch>
              </a:blipFill>
            </p:spPr>
            <p:txBody>
              <a:bodyPr/>
              <a:lstStyle/>
              <a:p>
                <a:r>
                  <a:rPr lang="en-US">
                    <a:noFill/>
                  </a:rPr>
                  <a:t> </a:t>
                </a:r>
              </a:p>
            </p:txBody>
          </p:sp>
        </mc:Fallback>
      </mc:AlternateContent>
    </p:spTree>
    <p:extLst>
      <p:ext uri="{BB962C8B-B14F-4D97-AF65-F5344CB8AC3E}">
        <p14:creationId xmlns:p14="http://schemas.microsoft.com/office/powerpoint/2010/main" val="2870572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3CA70934-E55F-E767-E940-6D5FE85133B0}"/>
              </a:ext>
            </a:extLst>
          </p:cNvPr>
          <p:cNvSpPr txBox="1"/>
          <p:nvPr/>
        </p:nvSpPr>
        <p:spPr>
          <a:xfrm>
            <a:off x="1004888" y="1454152"/>
            <a:ext cx="10050516" cy="523220"/>
          </a:xfrm>
          <a:prstGeom prst="rect">
            <a:avLst/>
          </a:prstGeom>
          <a:noFill/>
        </p:spPr>
        <p:txBody>
          <a:bodyPr wrap="square">
            <a:spAutoFit/>
          </a:bodyPr>
          <a:lstStyle/>
          <a:p>
            <a:pPr marL="0" marR="0" algn="just">
              <a:spcBef>
                <a:spcPts val="0"/>
              </a:spcBef>
              <a:spcAft>
                <a:spcPts val="0"/>
              </a:spcAft>
            </a:pPr>
            <a:r>
              <a:rPr lang="en-US" sz="2800" b="1" dirty="0">
                <a:solidFill>
                  <a:srgbClr val="FF0000"/>
                </a:solidFill>
                <a:effectLst/>
                <a:latin typeface="Times New Roman" panose="02020603050405020304" pitchFamily="18" charset="0"/>
                <a:ea typeface="Times New Roman" panose="02020603050405020304" pitchFamily="18" charset="0"/>
              </a:rPr>
              <a:t>Effectiveness of 65 mesh if Over size is desired product</a:t>
            </a:r>
            <a:endParaRPr lang="en-US" sz="28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1DBB6DC1-E4FF-BFA7-1F68-ECA9200C0206}"/>
                  </a:ext>
                </a:extLst>
              </p:cNvPr>
              <p:cNvGraphicFramePr>
                <a:graphicFrameLocks noGrp="1"/>
              </p:cNvGraphicFramePr>
              <p:nvPr>
                <p:extLst>
                  <p:ext uri="{D42A27DB-BD31-4B8C-83A1-F6EECF244321}">
                    <p14:modId xmlns:p14="http://schemas.microsoft.com/office/powerpoint/2010/main" val="795747393"/>
                  </p:ext>
                </p:extLst>
              </p:nvPr>
            </p:nvGraphicFramePr>
            <p:xfrm>
              <a:off x="1123058" y="2236808"/>
              <a:ext cx="8928992" cy="7618390"/>
            </p:xfrm>
            <a:graphic>
              <a:graphicData uri="http://schemas.openxmlformats.org/drawingml/2006/table">
                <a:tbl>
                  <a:tblPr firstRow="1" firstCol="1" bandRow="1">
                    <a:tableStyleId>{5C22544A-7EE6-4342-B048-85BDC9FD1C3A}</a:tableStyleId>
                  </a:tblPr>
                  <a:tblGrid>
                    <a:gridCol w="1199696">
                      <a:extLst>
                        <a:ext uri="{9D8B030D-6E8A-4147-A177-3AD203B41FA5}">
                          <a16:colId xmlns:a16="http://schemas.microsoft.com/office/drawing/2014/main" val="1236779155"/>
                        </a:ext>
                      </a:extLst>
                    </a:gridCol>
                    <a:gridCol w="1225939">
                      <a:extLst>
                        <a:ext uri="{9D8B030D-6E8A-4147-A177-3AD203B41FA5}">
                          <a16:colId xmlns:a16="http://schemas.microsoft.com/office/drawing/2014/main" val="1161690043"/>
                        </a:ext>
                      </a:extLst>
                    </a:gridCol>
                    <a:gridCol w="1733311">
                      <a:extLst>
                        <a:ext uri="{9D8B030D-6E8A-4147-A177-3AD203B41FA5}">
                          <a16:colId xmlns:a16="http://schemas.microsoft.com/office/drawing/2014/main" val="3612986411"/>
                        </a:ext>
                      </a:extLst>
                    </a:gridCol>
                    <a:gridCol w="1683325">
                      <a:extLst>
                        <a:ext uri="{9D8B030D-6E8A-4147-A177-3AD203B41FA5}">
                          <a16:colId xmlns:a16="http://schemas.microsoft.com/office/drawing/2014/main" val="3495702157"/>
                        </a:ext>
                      </a:extLst>
                    </a:gridCol>
                    <a:gridCol w="1349659">
                      <a:extLst>
                        <a:ext uri="{9D8B030D-6E8A-4147-A177-3AD203B41FA5}">
                          <a16:colId xmlns:a16="http://schemas.microsoft.com/office/drawing/2014/main" val="1460314032"/>
                        </a:ext>
                      </a:extLst>
                    </a:gridCol>
                    <a:gridCol w="1737062">
                      <a:extLst>
                        <a:ext uri="{9D8B030D-6E8A-4147-A177-3AD203B41FA5}">
                          <a16:colId xmlns:a16="http://schemas.microsoft.com/office/drawing/2014/main" val="1799055271"/>
                        </a:ext>
                      </a:extLst>
                    </a:gridCol>
                  </a:tblGrid>
                  <a:tr h="586030">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gridSpan="3">
                      <a:txBody>
                        <a:bodyPr/>
                        <a:lstStyle/>
                        <a:p>
                          <a:pPr marL="0" marR="0" algn="ctr">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3077724365"/>
                      </a:ext>
                    </a:extLst>
                  </a:tr>
                  <a:tr h="1172060">
                    <a:tc>
                      <a:txBody>
                        <a:bodyPr/>
                        <a:lstStyle/>
                        <a:p>
                          <a:pPr marL="0" marR="0" algn="ctr">
                            <a:spcBef>
                              <a:spcPts val="0"/>
                            </a:spcBef>
                            <a:spcAft>
                              <a:spcPts val="0"/>
                            </a:spcAft>
                          </a:pPr>
                          <a:r>
                            <a:rPr lang="en-US" sz="2400" dirty="0">
                              <a:effectLst/>
                            </a:rPr>
                            <a:t>Mesh No</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Oversize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Intermediate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Undersize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Feed to 48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Feed to 65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2120740233"/>
                      </a:ext>
                    </a:extLst>
                  </a:tr>
                  <a:tr h="586030">
                    <a:tc>
                      <a:txBody>
                        <a:bodyPr/>
                        <a:lstStyle/>
                        <a:p>
                          <a:pPr marL="0" marR="0" algn="ctr">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0.00036</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solidFill>
                                <a:srgbClr val="FF0000"/>
                              </a:solidFill>
                              <a:effectLst/>
                              <a:highlight>
                                <a:srgbClr val="FFFF00"/>
                              </a:highlight>
                            </a:rPr>
                            <a:t>0</a:t>
                          </a:r>
                          <a:endParaRPr lang="en-US" sz="24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3237375764"/>
                      </a:ext>
                    </a:extLst>
                  </a:tr>
                  <a:tr h="586030">
                    <a:tc>
                      <a:txBody>
                        <a:bodyPr/>
                        <a:lstStyle/>
                        <a:p>
                          <a:pPr marL="0" marR="0" algn="ctr">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0.00204</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solidFill>
                                <a:srgbClr val="FF0000"/>
                              </a:solidFill>
                              <a:effectLst/>
                              <a:highlight>
                                <a:srgbClr val="FFFF00"/>
                              </a:highlight>
                            </a:rPr>
                            <a:t>0</a:t>
                          </a:r>
                          <a:endParaRPr lang="en-US" sz="24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2692802713"/>
                      </a:ext>
                    </a:extLst>
                  </a:tr>
                  <a:tr h="586030">
                    <a:tc>
                      <a:txBody>
                        <a:bodyPr/>
                        <a:lstStyle/>
                        <a:p>
                          <a:pPr marL="0" marR="0" algn="ctr">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0.0627</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solidFill>
                                <a:srgbClr val="FF0000"/>
                              </a:solidFill>
                              <a:effectLst/>
                              <a:highlight>
                                <a:srgbClr val="FFFF00"/>
                              </a:highlight>
                            </a:rPr>
                            <a:t>0.008571</a:t>
                          </a:r>
                          <a:endParaRPr lang="en-US" sz="24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3174050844"/>
                      </a:ext>
                    </a:extLst>
                  </a:tr>
                  <a:tr h="586030">
                    <a:tc>
                      <a:txBody>
                        <a:bodyPr/>
                        <a:lstStyle/>
                        <a:p>
                          <a:pPr marL="0" marR="0" algn="ctr">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0.389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0.039</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0.001</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0.1288</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0.017286</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1385488987"/>
                      </a:ext>
                    </a:extLst>
                  </a:tr>
                  <a:tr h="586030">
                    <a:tc>
                      <a:txBody>
                        <a:bodyPr/>
                        <a:lstStyle/>
                        <a:p>
                          <a:pPr marL="0" marR="0" algn="ctr">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0.337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0.322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0.003</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0.1989</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0.139714</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63457420"/>
                      </a:ext>
                    </a:extLst>
                  </a:tr>
                  <a:tr h="586030">
                    <a:tc>
                      <a:txBody>
                        <a:bodyPr/>
                        <a:lstStyle/>
                        <a:p>
                          <a:pPr marL="0" marR="0" algn="ctr">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0.066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0.526</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solidFill>
                                <a:srgbClr val="FF0000"/>
                              </a:solidFill>
                              <a:effectLst/>
                              <a:highlight>
                                <a:srgbClr val="FFFF00"/>
                              </a:highlight>
                            </a:rPr>
                            <a:t>0.344</a:t>
                          </a:r>
                          <a:endParaRPr lang="en-US" sz="24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0.3152</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0.422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4013903198"/>
                      </a:ext>
                    </a:extLst>
                  </a:tr>
                  <a:tr h="586030">
                    <a:tc>
                      <a:txBody>
                        <a:bodyPr/>
                        <a:lstStyle/>
                        <a:p>
                          <a:pPr marL="0" marR="0" algn="ctr">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0.067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0.299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effectLst/>
                            </a:rPr>
                            <a:t>0.1412</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0.199571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4076253420"/>
                      </a:ext>
                    </a:extLst>
                  </a:tr>
                  <a:tr h="586030">
                    <a:tc>
                      <a:txBody>
                        <a:bodyPr/>
                        <a:lstStyle/>
                        <a:p>
                          <a:pPr marL="0" marR="0" algn="ctr">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0.024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0.237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0.1035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0.145714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2709496959"/>
                      </a:ext>
                    </a:extLst>
                  </a:tr>
                  <a:tr h="586030">
                    <a:tc>
                      <a:txBody>
                        <a:bodyPr/>
                        <a:lstStyle/>
                        <a:p>
                          <a:pPr marL="0" marR="0" algn="ctr">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0.116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0.0473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0.067143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3579707639"/>
                      </a:ext>
                    </a:extLst>
                  </a:tr>
                  <a:tr h="586030">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𝐵</m:t>
                                  </m:r>
                                </m:sub>
                              </m:sSub>
                              <m:r>
                                <a:rPr lang="en-US" sz="2400">
                                  <a:effectLst/>
                                  <a:latin typeface="Cambria Math" panose="02040503050406030204" pitchFamily="18" charset="0"/>
                                </a:rPr>
                                <m:t>= </m:t>
                              </m:r>
                            </m:oMath>
                          </a14:m>
                          <a:r>
                            <a:rPr lang="en-US" sz="2400">
                              <a:effectLst/>
                            </a:rPr>
                            <a:t>0.907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𝐶</m:t>
                                  </m:r>
                                </m:sub>
                              </m:sSub>
                              <m:r>
                                <a:rPr lang="en-US" sz="2400">
                                  <a:effectLst/>
                                  <a:latin typeface="Cambria Math" panose="02040503050406030204" pitchFamily="18" charset="0"/>
                                </a:rPr>
                                <m:t>= </m:t>
                              </m:r>
                            </m:oMath>
                          </a14:m>
                          <a:r>
                            <a:rPr lang="en-US" sz="2400">
                              <a:effectLst/>
                            </a:rPr>
                            <a:t>0.348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14:m>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𝑥</m:t>
                                  </m:r>
                                </m:e>
                                <m:sub>
                                  <m:r>
                                    <a:rPr lang="en-US" sz="2400">
                                      <a:effectLst/>
                                      <a:latin typeface="Cambria Math" panose="02040503050406030204" pitchFamily="18" charset="0"/>
                                    </a:rPr>
                                    <m:t>𝐴</m:t>
                                  </m:r>
                                </m:sub>
                              </m:sSub>
                              <m:r>
                                <a:rPr lang="en-US" sz="2400">
                                  <a:effectLst/>
                                  <a:latin typeface="Cambria Math" panose="02040503050406030204" pitchFamily="18" charset="0"/>
                                </a:rPr>
                                <m:t>= </m:t>
                              </m:r>
                            </m:oMath>
                          </a14:m>
                          <a:r>
                            <a:rPr lang="en-US" sz="2400" dirty="0">
                              <a:effectLst/>
                            </a:rPr>
                            <a:t>0.5875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1992374056"/>
                      </a:ext>
                    </a:extLst>
                  </a:tr>
                </a:tbl>
              </a:graphicData>
            </a:graphic>
          </p:graphicFrame>
        </mc:Choice>
        <mc:Fallback xmlns="">
          <p:graphicFrame>
            <p:nvGraphicFramePr>
              <p:cNvPr id="10" name="Table 9">
                <a:extLst>
                  <a:ext uri="{FF2B5EF4-FFF2-40B4-BE49-F238E27FC236}">
                    <a16:creationId xmlns:a16="http://schemas.microsoft.com/office/drawing/2014/main" id="{1DBB6DC1-E4FF-BFA7-1F68-ECA9200C0206}"/>
                  </a:ext>
                </a:extLst>
              </p:cNvPr>
              <p:cNvGraphicFramePr>
                <a:graphicFrameLocks noGrp="1"/>
              </p:cNvGraphicFramePr>
              <p:nvPr>
                <p:extLst>
                  <p:ext uri="{D42A27DB-BD31-4B8C-83A1-F6EECF244321}">
                    <p14:modId xmlns:p14="http://schemas.microsoft.com/office/powerpoint/2010/main" val="795747393"/>
                  </p:ext>
                </p:extLst>
              </p:nvPr>
            </p:nvGraphicFramePr>
            <p:xfrm>
              <a:off x="1123058" y="2236808"/>
              <a:ext cx="8928992" cy="7618390"/>
            </p:xfrm>
            <a:graphic>
              <a:graphicData uri="http://schemas.openxmlformats.org/drawingml/2006/table">
                <a:tbl>
                  <a:tblPr firstRow="1" firstCol="1" bandRow="1">
                    <a:tableStyleId>{5C22544A-7EE6-4342-B048-85BDC9FD1C3A}</a:tableStyleId>
                  </a:tblPr>
                  <a:tblGrid>
                    <a:gridCol w="1199696">
                      <a:extLst>
                        <a:ext uri="{9D8B030D-6E8A-4147-A177-3AD203B41FA5}">
                          <a16:colId xmlns:a16="http://schemas.microsoft.com/office/drawing/2014/main" val="1236779155"/>
                        </a:ext>
                      </a:extLst>
                    </a:gridCol>
                    <a:gridCol w="1225939">
                      <a:extLst>
                        <a:ext uri="{9D8B030D-6E8A-4147-A177-3AD203B41FA5}">
                          <a16:colId xmlns:a16="http://schemas.microsoft.com/office/drawing/2014/main" val="1161690043"/>
                        </a:ext>
                      </a:extLst>
                    </a:gridCol>
                    <a:gridCol w="1733311">
                      <a:extLst>
                        <a:ext uri="{9D8B030D-6E8A-4147-A177-3AD203B41FA5}">
                          <a16:colId xmlns:a16="http://schemas.microsoft.com/office/drawing/2014/main" val="3612986411"/>
                        </a:ext>
                      </a:extLst>
                    </a:gridCol>
                    <a:gridCol w="1683325">
                      <a:extLst>
                        <a:ext uri="{9D8B030D-6E8A-4147-A177-3AD203B41FA5}">
                          <a16:colId xmlns:a16="http://schemas.microsoft.com/office/drawing/2014/main" val="3495702157"/>
                        </a:ext>
                      </a:extLst>
                    </a:gridCol>
                    <a:gridCol w="1349659">
                      <a:extLst>
                        <a:ext uri="{9D8B030D-6E8A-4147-A177-3AD203B41FA5}">
                          <a16:colId xmlns:a16="http://schemas.microsoft.com/office/drawing/2014/main" val="1460314032"/>
                        </a:ext>
                      </a:extLst>
                    </a:gridCol>
                    <a:gridCol w="1737062">
                      <a:extLst>
                        <a:ext uri="{9D8B030D-6E8A-4147-A177-3AD203B41FA5}">
                          <a16:colId xmlns:a16="http://schemas.microsoft.com/office/drawing/2014/main" val="1799055271"/>
                        </a:ext>
                      </a:extLst>
                    </a:gridCol>
                  </a:tblGrid>
                  <a:tr h="586030">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gridSpan="3">
                      <a:txBody>
                        <a:bodyPr/>
                        <a:lstStyle/>
                        <a:p>
                          <a:pPr marL="0" marR="0" algn="ctr">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3077724365"/>
                      </a:ext>
                    </a:extLst>
                  </a:tr>
                  <a:tr h="1172060">
                    <a:tc>
                      <a:txBody>
                        <a:bodyPr/>
                        <a:lstStyle/>
                        <a:p>
                          <a:pPr marL="0" marR="0" algn="ctr">
                            <a:spcBef>
                              <a:spcPts val="0"/>
                            </a:spcBef>
                            <a:spcAft>
                              <a:spcPts val="0"/>
                            </a:spcAft>
                          </a:pPr>
                          <a:r>
                            <a:rPr lang="en-US" sz="2400" dirty="0">
                              <a:effectLst/>
                            </a:rPr>
                            <a:t>Mesh No</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Oversize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Intermediate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Undersize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Feed to 48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Feed to 65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2120740233"/>
                      </a:ext>
                    </a:extLst>
                  </a:tr>
                  <a:tr h="586030">
                    <a:tc>
                      <a:txBody>
                        <a:bodyPr/>
                        <a:lstStyle/>
                        <a:p>
                          <a:pPr marL="0" marR="0" algn="ctr">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0.00036</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solidFill>
                                <a:srgbClr val="FF0000"/>
                              </a:solidFill>
                              <a:effectLst/>
                              <a:highlight>
                                <a:srgbClr val="FFFF00"/>
                              </a:highlight>
                            </a:rPr>
                            <a:t>0</a:t>
                          </a:r>
                          <a:endParaRPr lang="en-US" sz="24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3237375764"/>
                      </a:ext>
                    </a:extLst>
                  </a:tr>
                  <a:tr h="586030">
                    <a:tc>
                      <a:txBody>
                        <a:bodyPr/>
                        <a:lstStyle/>
                        <a:p>
                          <a:pPr marL="0" marR="0" algn="ctr">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0.00204</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solidFill>
                                <a:srgbClr val="FF0000"/>
                              </a:solidFill>
                              <a:effectLst/>
                              <a:highlight>
                                <a:srgbClr val="FFFF00"/>
                              </a:highlight>
                            </a:rPr>
                            <a:t>0</a:t>
                          </a:r>
                          <a:endParaRPr lang="en-US" sz="24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2692802713"/>
                      </a:ext>
                    </a:extLst>
                  </a:tr>
                  <a:tr h="586030">
                    <a:tc>
                      <a:txBody>
                        <a:bodyPr/>
                        <a:lstStyle/>
                        <a:p>
                          <a:pPr marL="0" marR="0" algn="ctr">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0.0627</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solidFill>
                                <a:srgbClr val="FF0000"/>
                              </a:solidFill>
                              <a:effectLst/>
                              <a:highlight>
                                <a:srgbClr val="FFFF00"/>
                              </a:highlight>
                            </a:rPr>
                            <a:t>0.008571</a:t>
                          </a:r>
                          <a:endParaRPr lang="en-US" sz="24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3174050844"/>
                      </a:ext>
                    </a:extLst>
                  </a:tr>
                  <a:tr h="586030">
                    <a:tc>
                      <a:txBody>
                        <a:bodyPr/>
                        <a:lstStyle/>
                        <a:p>
                          <a:pPr marL="0" marR="0" algn="ctr">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0.389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0.039</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0.001</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0.1288</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0.017286</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1385488987"/>
                      </a:ext>
                    </a:extLst>
                  </a:tr>
                  <a:tr h="586030">
                    <a:tc>
                      <a:txBody>
                        <a:bodyPr/>
                        <a:lstStyle/>
                        <a:p>
                          <a:pPr marL="0" marR="0" algn="ctr">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0.337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0.322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0.003</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0.1989</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0.139714</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63457420"/>
                      </a:ext>
                    </a:extLst>
                  </a:tr>
                  <a:tr h="586030">
                    <a:tc>
                      <a:txBody>
                        <a:bodyPr/>
                        <a:lstStyle/>
                        <a:p>
                          <a:pPr marL="0" marR="0" algn="ctr">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0.066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0.526</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solidFill>
                                <a:srgbClr val="FF0000"/>
                              </a:solidFill>
                              <a:effectLst/>
                              <a:highlight>
                                <a:srgbClr val="FFFF00"/>
                              </a:highlight>
                            </a:rPr>
                            <a:t>0.344</a:t>
                          </a:r>
                          <a:endParaRPr lang="en-US" sz="24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chemeClr val="tx1"/>
                              </a:solidFill>
                              <a:effectLst/>
                            </a:rPr>
                            <a:t>0.3152</a:t>
                          </a:r>
                          <a:endParaRPr lang="en-US" sz="24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solidFill>
                                <a:srgbClr val="FF0000"/>
                              </a:solidFill>
                              <a:effectLst/>
                              <a:highlight>
                                <a:srgbClr val="FFFF00"/>
                              </a:highlight>
                            </a:rPr>
                            <a:t>0.422</a:t>
                          </a:r>
                          <a:endParaRPr lang="en-US" sz="24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4013903198"/>
                      </a:ext>
                    </a:extLst>
                  </a:tr>
                  <a:tr h="586030">
                    <a:tc>
                      <a:txBody>
                        <a:bodyPr/>
                        <a:lstStyle/>
                        <a:p>
                          <a:pPr marL="0" marR="0" algn="ctr">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0.067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0.299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dirty="0">
                              <a:effectLst/>
                            </a:rPr>
                            <a:t>0.1412</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0.199571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4076253420"/>
                      </a:ext>
                    </a:extLst>
                  </a:tr>
                  <a:tr h="586030">
                    <a:tc>
                      <a:txBody>
                        <a:bodyPr/>
                        <a:lstStyle/>
                        <a:p>
                          <a:pPr marL="0" marR="0" algn="ctr">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0.024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0.237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0.1035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0.145714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2709496959"/>
                      </a:ext>
                    </a:extLst>
                  </a:tr>
                  <a:tr h="586030">
                    <a:tc>
                      <a:txBody>
                        <a:bodyPr/>
                        <a:lstStyle/>
                        <a:p>
                          <a:pPr marL="0" marR="0" algn="ctr">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0.116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0.0473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0.067143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extLst>
                      <a:ext uri="{0D108BD9-81ED-4DB2-BD59-A6C34878D82A}">
                        <a16:rowId xmlns:a16="http://schemas.microsoft.com/office/drawing/2014/main" val="3579707639"/>
                      </a:ext>
                    </a:extLst>
                  </a:tr>
                  <a:tr h="586030">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endParaRPr lang="en-US"/>
                        </a:p>
                      </a:txBody>
                      <a:tcPr marL="65530" marR="65530" marT="0" marB="0" anchor="b">
                        <a:blipFill>
                          <a:blip r:embed="rId3"/>
                          <a:stretch>
                            <a:fillRect l="-140493" t="-1204167" r="-277465" b="-31250"/>
                          </a:stretch>
                        </a:blipFill>
                      </a:tcPr>
                    </a:tc>
                    <a:tc>
                      <a:txBody>
                        <a:bodyPr/>
                        <a:lstStyle/>
                        <a:p>
                          <a:endParaRPr lang="en-US"/>
                        </a:p>
                      </a:txBody>
                      <a:tcPr marL="65530" marR="65530" marT="0" marB="0" anchor="b">
                        <a:blipFill>
                          <a:blip r:embed="rId3"/>
                          <a:stretch>
                            <a:fillRect l="-246570" t="-1204167" r="-184477" b="-31250"/>
                          </a:stretch>
                        </a:blipFill>
                      </a:tcPr>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5530" marR="65530" marT="0" marB="0" anchor="b"/>
                    </a:tc>
                    <a:tc>
                      <a:txBody>
                        <a:bodyPr/>
                        <a:lstStyle/>
                        <a:p>
                          <a:endParaRPr lang="en-US"/>
                        </a:p>
                      </a:txBody>
                      <a:tcPr marL="65530" marR="65530" marT="0" marB="0" anchor="b">
                        <a:blipFill>
                          <a:blip r:embed="rId3"/>
                          <a:stretch>
                            <a:fillRect l="-414386" t="-1204167" r="-1754" b="-31250"/>
                          </a:stretch>
                        </a:blipFill>
                      </a:tcPr>
                    </a:tc>
                    <a:extLst>
                      <a:ext uri="{0D108BD9-81ED-4DB2-BD59-A6C34878D82A}">
                        <a16:rowId xmlns:a16="http://schemas.microsoft.com/office/drawing/2014/main" val="199237405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D26D09-7334-B876-7EF6-53521850FF0C}"/>
                  </a:ext>
                </a:extLst>
              </p:cNvPr>
              <p:cNvSpPr txBox="1"/>
              <p:nvPr/>
            </p:nvSpPr>
            <p:spPr>
              <a:xfrm>
                <a:off x="11055404" y="5384653"/>
                <a:ext cx="8480371" cy="780342"/>
              </a:xfrm>
              <a:prstGeom prst="rect">
                <a:avLst/>
              </a:prstGeom>
              <a:noFill/>
            </p:spPr>
            <p:txBody>
              <a:bodyPr wrap="square">
                <a:spAutoFit/>
              </a:bodyPr>
              <a:lstStyle/>
              <a:p>
                <a:pPr marL="0" marR="0" algn="just">
                  <a:spcBef>
                    <a:spcPts val="0"/>
                  </a:spcBef>
                  <a:spcAft>
                    <a:spcPts val="0"/>
                  </a:spcAft>
                </a:pPr>
                <a14:m>
                  <m:oMath xmlns:m="http://schemas.openxmlformats.org/officeDocument/2006/math">
                    <m:r>
                      <a:rPr lang="en-US" sz="2800" i="1" smtClean="0">
                        <a:effectLst/>
                        <a:latin typeface="Cambria Math" panose="02040503050406030204" pitchFamily="18" charset="0"/>
                        <a:ea typeface="Times New Roman" panose="02020603050405020304" pitchFamily="18" charset="0"/>
                      </a:rPr>
                      <m:t>𝐸</m:t>
                    </m:r>
                    <m:r>
                      <a:rPr lang="en-US" sz="2800" i="1" smtClean="0">
                        <a:effectLst/>
                        <a:latin typeface="Cambria Math" panose="02040503050406030204" pitchFamily="18" charset="0"/>
                        <a:ea typeface="Times New Roman" panose="02020603050405020304" pitchFamily="18" charset="0"/>
                      </a:rPr>
                      <m:t>=</m:t>
                    </m:r>
                    <m:d>
                      <m:dPr>
                        <m:begChr m:val="["/>
                        <m:endChr m:val="]"/>
                        <m:ctrlPr>
                          <a:rPr lang="en-US" sz="2800" i="1">
                            <a:effectLst/>
                            <a:latin typeface="Cambria Math" panose="02040503050406030204" pitchFamily="18" charset="0"/>
                            <a:ea typeface="Times New Roman" panose="02020603050405020304" pitchFamily="18" charset="0"/>
                          </a:rPr>
                        </m:ctrlPr>
                      </m:dPr>
                      <m:e>
                        <m:d>
                          <m:dPr>
                            <m:ctrlPr>
                              <a:rPr lang="en-US" sz="2800" i="1">
                                <a:effectLst/>
                                <a:latin typeface="Cambria Math" panose="02040503050406030204" pitchFamily="18" charset="0"/>
                                <a:ea typeface="Times New Roman" panose="02020603050405020304" pitchFamily="18" charset="0"/>
                              </a:rPr>
                            </m:ctrlPr>
                          </m:dPr>
                          <m:e>
                            <m:f>
                              <m:fPr>
                                <m:ctrlPr>
                                  <a:rPr lang="en-US" sz="2800" i="1">
                                    <a:effectLst/>
                                    <a:latin typeface="Cambria Math" panose="02040503050406030204" pitchFamily="18" charset="0"/>
                                    <a:ea typeface="Times New Roman" panose="02020603050405020304" pitchFamily="18" charset="0"/>
                                  </a:rPr>
                                </m:ctrlPr>
                              </m:fPr>
                              <m:num>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sub>
                                </m:sSub>
                                <m:r>
                                  <a:rPr lang="en-US" sz="2800" i="1">
                                    <a:effectLst/>
                                    <a:latin typeface="Cambria Math" panose="02040503050406030204" pitchFamily="18" charset="0"/>
                                    <a:ea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𝐶</m:t>
                                    </m:r>
                                  </m:sub>
                                </m:sSub>
                              </m:num>
                              <m:den>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𝐵</m:t>
                                    </m:r>
                                  </m:sub>
                                </m:sSub>
                                <m:r>
                                  <a:rPr lang="en-US" sz="2800" i="1">
                                    <a:effectLst/>
                                    <a:latin typeface="Cambria Math" panose="02040503050406030204" pitchFamily="18" charset="0"/>
                                    <a:ea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𝐶</m:t>
                                    </m:r>
                                  </m:sub>
                                </m:sSub>
                              </m:den>
                            </m:f>
                          </m:e>
                        </m:d>
                        <m:r>
                          <a:rPr lang="en-US" sz="2800" i="1">
                            <a:effectLst/>
                            <a:latin typeface="Cambria Math" panose="02040503050406030204" pitchFamily="18" charset="0"/>
                            <a:ea typeface="Times New Roman" panose="02020603050405020304" pitchFamily="18" charset="0"/>
                          </a:rPr>
                          <m:t> </m:t>
                        </m:r>
                        <m:f>
                          <m:fPr>
                            <m:ctrlPr>
                              <a:rPr lang="en-US" sz="2800" i="1">
                                <a:effectLst/>
                                <a:latin typeface="Cambria Math" panose="02040503050406030204" pitchFamily="18" charset="0"/>
                                <a:ea typeface="Times New Roman" panose="02020603050405020304" pitchFamily="18" charset="0"/>
                              </a:rPr>
                            </m:ctrlPr>
                          </m:fPr>
                          <m:num>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𝐵</m:t>
                                </m:r>
                              </m:sub>
                            </m:sSub>
                          </m:num>
                          <m:den>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sub>
                            </m:sSub>
                          </m:den>
                        </m:f>
                      </m:e>
                    </m:d>
                    <m:r>
                      <a:rPr lang="en-US" sz="2800" i="1">
                        <a:effectLst/>
                        <a:latin typeface="Cambria Math" panose="02040503050406030204" pitchFamily="18" charset="0"/>
                        <a:ea typeface="Times New Roman" panose="02020603050405020304" pitchFamily="18" charset="0"/>
                      </a:rPr>
                      <m:t> </m:t>
                    </m:r>
                    <m:d>
                      <m:dPr>
                        <m:begChr m:val="["/>
                        <m:endChr m:val="]"/>
                        <m:ctrlPr>
                          <a:rPr lang="en-US" sz="2800" i="1">
                            <a:effectLst/>
                            <a:latin typeface="Cambria Math" panose="02040503050406030204" pitchFamily="18" charset="0"/>
                            <a:ea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rPr>
                          <m:t>1−</m:t>
                        </m:r>
                        <m:d>
                          <m:dPr>
                            <m:ctrlPr>
                              <a:rPr lang="en-US" sz="2800" i="1">
                                <a:effectLst/>
                                <a:latin typeface="Cambria Math" panose="02040503050406030204" pitchFamily="18" charset="0"/>
                                <a:ea typeface="Times New Roman" panose="02020603050405020304" pitchFamily="18" charset="0"/>
                              </a:rPr>
                            </m:ctrlPr>
                          </m:dPr>
                          <m:e>
                            <m:f>
                              <m:fPr>
                                <m:ctrlPr>
                                  <a:rPr lang="en-US" sz="2800" i="1">
                                    <a:effectLst/>
                                    <a:latin typeface="Cambria Math" panose="02040503050406030204" pitchFamily="18" charset="0"/>
                                    <a:ea typeface="Times New Roman" panose="02020603050405020304" pitchFamily="18" charset="0"/>
                                  </a:rPr>
                                </m:ctrlPr>
                              </m:fPr>
                              <m:num>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sub>
                                </m:sSub>
                                <m:r>
                                  <a:rPr lang="en-US" sz="2800" i="1">
                                    <a:effectLst/>
                                    <a:latin typeface="Cambria Math" panose="02040503050406030204" pitchFamily="18" charset="0"/>
                                    <a:ea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𝐶</m:t>
                                    </m:r>
                                  </m:sub>
                                </m:sSub>
                              </m:num>
                              <m:den>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𝐵</m:t>
                                    </m:r>
                                  </m:sub>
                                </m:sSub>
                                <m:r>
                                  <a:rPr lang="en-US" sz="2800" i="1">
                                    <a:effectLst/>
                                    <a:latin typeface="Cambria Math" panose="02040503050406030204" pitchFamily="18" charset="0"/>
                                    <a:ea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𝐶</m:t>
                                    </m:r>
                                  </m:sub>
                                </m:sSub>
                              </m:den>
                            </m:f>
                          </m:e>
                        </m:d>
                        <m:d>
                          <m:dPr>
                            <m:ctrlPr>
                              <a:rPr lang="en-US" sz="2800" i="1">
                                <a:effectLst/>
                                <a:latin typeface="Cambria Math" panose="02040503050406030204" pitchFamily="18" charset="0"/>
                                <a:ea typeface="Times New Roman" panose="02020603050405020304" pitchFamily="18" charset="0"/>
                              </a:rPr>
                            </m:ctrlPr>
                          </m:dPr>
                          <m:e>
                            <m:f>
                              <m:fPr>
                                <m:ctrlPr>
                                  <a:rPr lang="en-US" sz="2800" i="1">
                                    <a:effectLst/>
                                    <a:latin typeface="Cambria Math" panose="02040503050406030204" pitchFamily="18" charset="0"/>
                                    <a:ea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rPr>
                                  <m:t>1−</m:t>
                                </m:r>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𝐵</m:t>
                                    </m:r>
                                  </m:sub>
                                </m:sSub>
                              </m:num>
                              <m:den>
                                <m:r>
                                  <a:rPr lang="en-US" sz="2800" i="1">
                                    <a:effectLst/>
                                    <a:latin typeface="Cambria Math" panose="02040503050406030204" pitchFamily="18" charset="0"/>
                                    <a:ea typeface="Times New Roman" panose="02020603050405020304" pitchFamily="18" charset="0"/>
                                  </a:rPr>
                                  <m:t>1−</m:t>
                                </m:r>
                                <m:sSub>
                                  <m:sSubPr>
                                    <m:ctrlPr>
                                      <a:rPr lang="en-US" sz="2800" i="1">
                                        <a:effectLst/>
                                        <a:latin typeface="Cambria Math" panose="02040503050406030204" pitchFamily="18" charset="0"/>
                                        <a:ea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rPr>
                                      <m:t>𝑥</m:t>
                                    </m:r>
                                  </m:e>
                                  <m:sub>
                                    <m:r>
                                      <a:rPr lang="en-US" sz="2800" i="1">
                                        <a:effectLst/>
                                        <a:latin typeface="Cambria Math" panose="02040503050406030204" pitchFamily="18" charset="0"/>
                                        <a:ea typeface="Times New Roman" panose="02020603050405020304" pitchFamily="18" charset="0"/>
                                      </a:rPr>
                                      <m:t>𝐴</m:t>
                                    </m:r>
                                  </m:sub>
                                </m:sSub>
                              </m:den>
                            </m:f>
                          </m:e>
                        </m:d>
                      </m:e>
                    </m:d>
                    <m:r>
                      <a:rPr lang="en-US" sz="2800" i="1">
                        <a:effectLst/>
                        <a:latin typeface="Cambria Math" panose="02040503050406030204" pitchFamily="18" charset="0"/>
                        <a:ea typeface="Times New Roman" panose="02020603050405020304" pitchFamily="18" charset="0"/>
                      </a:rPr>
                      <m:t>=</m:t>
                    </m:r>
                  </m:oMath>
                </a14:m>
                <a:r>
                  <a:rPr lang="en-US" sz="2800" dirty="0">
                    <a:effectLst/>
                    <a:latin typeface="Times New Roman" panose="02020603050405020304" pitchFamily="18" charset="0"/>
                    <a:ea typeface="Times New Roman" panose="02020603050405020304" pitchFamily="18" charset="0"/>
                  </a:rPr>
                  <a:t> 59.76%</a:t>
                </a:r>
              </a:p>
            </p:txBody>
          </p:sp>
        </mc:Choice>
        <mc:Fallback xmlns="">
          <p:sp>
            <p:nvSpPr>
              <p:cNvPr id="12" name="TextBox 11">
                <a:extLst>
                  <a:ext uri="{FF2B5EF4-FFF2-40B4-BE49-F238E27FC236}">
                    <a16:creationId xmlns:a16="http://schemas.microsoft.com/office/drawing/2014/main" id="{7FD26D09-7334-B876-7EF6-53521850FF0C}"/>
                  </a:ext>
                </a:extLst>
              </p:cNvPr>
              <p:cNvSpPr txBox="1">
                <a:spLocks noRot="1" noChangeAspect="1" noMove="1" noResize="1" noEditPoints="1" noAdjustHandles="1" noChangeArrowheads="1" noChangeShapeType="1" noTextEdit="1"/>
              </p:cNvSpPr>
              <p:nvPr/>
            </p:nvSpPr>
            <p:spPr>
              <a:xfrm>
                <a:off x="11055404" y="5384653"/>
                <a:ext cx="8480371" cy="780342"/>
              </a:xfrm>
              <a:prstGeom prst="rect">
                <a:avLst/>
              </a:prstGeom>
              <a:blipFill>
                <a:blip r:embed="rId4"/>
                <a:stretch>
                  <a:fillRect b="-1563"/>
                </a:stretch>
              </a:blipFill>
            </p:spPr>
            <p:txBody>
              <a:bodyPr/>
              <a:lstStyle/>
              <a:p>
                <a:r>
                  <a:rPr lang="en-US">
                    <a:noFill/>
                  </a:rPr>
                  <a:t> </a:t>
                </a:r>
              </a:p>
            </p:txBody>
          </p:sp>
        </mc:Fallback>
      </mc:AlternateContent>
    </p:spTree>
    <p:extLst>
      <p:ext uri="{BB962C8B-B14F-4D97-AF65-F5344CB8AC3E}">
        <p14:creationId xmlns:p14="http://schemas.microsoft.com/office/powerpoint/2010/main" val="687901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6943BBD3-6784-DCA0-C650-65769540D11C}"/>
              </a:ext>
            </a:extLst>
          </p:cNvPr>
          <p:cNvSpPr txBox="1"/>
          <p:nvPr/>
        </p:nvSpPr>
        <p:spPr>
          <a:xfrm>
            <a:off x="763018" y="1520844"/>
            <a:ext cx="10050516" cy="523220"/>
          </a:xfrm>
          <a:prstGeom prst="rect">
            <a:avLst/>
          </a:prstGeom>
          <a:noFill/>
        </p:spPr>
        <p:txBody>
          <a:bodyPr wrap="square">
            <a:spAutoFit/>
          </a:bodyPr>
          <a:lstStyle/>
          <a:p>
            <a:pPr marL="0" marR="0" algn="just">
              <a:spcBef>
                <a:spcPts val="0"/>
              </a:spcBef>
              <a:spcAft>
                <a:spcPts val="0"/>
              </a:spcAft>
            </a:pPr>
            <a:r>
              <a:rPr lang="en-US" sz="2800" b="1" dirty="0">
                <a:solidFill>
                  <a:srgbClr val="FF0000"/>
                </a:solidFill>
                <a:effectLst/>
                <a:latin typeface="Times New Roman" panose="02020603050405020304" pitchFamily="18" charset="0"/>
                <a:ea typeface="Times New Roman" panose="02020603050405020304" pitchFamily="18" charset="0"/>
              </a:rPr>
              <a:t>Effectiveness of 65 mesh if under size is desired product</a:t>
            </a:r>
            <a:endParaRPr lang="en-US" sz="28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BE3C939F-0F03-30DA-56BC-0D48F125B9AF}"/>
                  </a:ext>
                </a:extLst>
              </p:cNvPr>
              <p:cNvGraphicFramePr>
                <a:graphicFrameLocks noGrp="1"/>
              </p:cNvGraphicFramePr>
              <p:nvPr>
                <p:extLst>
                  <p:ext uri="{D42A27DB-BD31-4B8C-83A1-F6EECF244321}">
                    <p14:modId xmlns:p14="http://schemas.microsoft.com/office/powerpoint/2010/main" val="666007943"/>
                  </p:ext>
                </p:extLst>
              </p:nvPr>
            </p:nvGraphicFramePr>
            <p:xfrm>
              <a:off x="1004888" y="2458733"/>
              <a:ext cx="8471099" cy="7516420"/>
            </p:xfrm>
            <a:graphic>
              <a:graphicData uri="http://schemas.openxmlformats.org/drawingml/2006/table">
                <a:tbl>
                  <a:tblPr firstRow="1" firstCol="1" bandRow="1">
                    <a:tableStyleId>{5C22544A-7EE6-4342-B048-85BDC9FD1C3A}</a:tableStyleId>
                  </a:tblPr>
                  <a:tblGrid>
                    <a:gridCol w="1189797">
                      <a:extLst>
                        <a:ext uri="{9D8B030D-6E8A-4147-A177-3AD203B41FA5}">
                          <a16:colId xmlns:a16="http://schemas.microsoft.com/office/drawing/2014/main" val="345472459"/>
                        </a:ext>
                      </a:extLst>
                    </a:gridCol>
                    <a:gridCol w="1215822">
                      <a:extLst>
                        <a:ext uri="{9D8B030D-6E8A-4147-A177-3AD203B41FA5}">
                          <a16:colId xmlns:a16="http://schemas.microsoft.com/office/drawing/2014/main" val="1079105834"/>
                        </a:ext>
                      </a:extLst>
                    </a:gridCol>
                    <a:gridCol w="1719007">
                      <a:extLst>
                        <a:ext uri="{9D8B030D-6E8A-4147-A177-3AD203B41FA5}">
                          <a16:colId xmlns:a16="http://schemas.microsoft.com/office/drawing/2014/main" val="1636062694"/>
                        </a:ext>
                      </a:extLst>
                    </a:gridCol>
                    <a:gridCol w="1538160">
                      <a:extLst>
                        <a:ext uri="{9D8B030D-6E8A-4147-A177-3AD203B41FA5}">
                          <a16:colId xmlns:a16="http://schemas.microsoft.com/office/drawing/2014/main" val="4131020079"/>
                        </a:ext>
                      </a:extLst>
                    </a:gridCol>
                    <a:gridCol w="1296144">
                      <a:extLst>
                        <a:ext uri="{9D8B030D-6E8A-4147-A177-3AD203B41FA5}">
                          <a16:colId xmlns:a16="http://schemas.microsoft.com/office/drawing/2014/main" val="3983766142"/>
                        </a:ext>
                      </a:extLst>
                    </a:gridCol>
                    <a:gridCol w="1512169">
                      <a:extLst>
                        <a:ext uri="{9D8B030D-6E8A-4147-A177-3AD203B41FA5}">
                          <a16:colId xmlns:a16="http://schemas.microsoft.com/office/drawing/2014/main" val="3999830240"/>
                        </a:ext>
                      </a:extLst>
                    </a:gridCol>
                  </a:tblGrid>
                  <a:tr h="515412">
                    <a:tc>
                      <a:txBody>
                        <a:bodyPr/>
                        <a:lstStyle/>
                        <a:p>
                          <a:pPr marL="0" marR="0" algn="ctr">
                            <a:spcBef>
                              <a:spcPts val="0"/>
                            </a:spcBef>
                            <a:spcAft>
                              <a:spcPts val="0"/>
                            </a:spcAft>
                          </a:pPr>
                          <a:r>
                            <a:rPr lang="en-US" sz="2400" dirty="0">
                              <a:effectLst/>
                            </a:rPr>
                            <a:t> </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gridSpan="3">
                      <a:txBody>
                        <a:bodyPr/>
                        <a:lstStyle/>
                        <a:p>
                          <a:pPr marL="0" marR="0" algn="ctr">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916929777"/>
                      </a:ext>
                    </a:extLst>
                  </a:tr>
                  <a:tr h="1417379">
                    <a:tc>
                      <a:txBody>
                        <a:bodyPr/>
                        <a:lstStyle/>
                        <a:p>
                          <a:pPr marL="0" marR="0" algn="ctr">
                            <a:spcBef>
                              <a:spcPts val="0"/>
                            </a:spcBef>
                            <a:spcAft>
                              <a:spcPts val="0"/>
                            </a:spcAft>
                          </a:pPr>
                          <a:r>
                            <a:rPr lang="en-US" sz="2400">
                              <a:effectLst/>
                            </a:rPr>
                            <a:t>Mesh No</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Oversize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Intermediate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Undersize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Feed to 48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Feed to 65 Mesh</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50659954"/>
                      </a:ext>
                    </a:extLst>
                  </a:tr>
                  <a:tr h="515412">
                    <a:tc>
                      <a:txBody>
                        <a:bodyPr/>
                        <a:lstStyle/>
                        <a:p>
                          <a:pPr marL="0" marR="0" algn="ctr">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0.00036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3532680798"/>
                      </a:ext>
                    </a:extLst>
                  </a:tr>
                  <a:tr h="515412">
                    <a:tc>
                      <a:txBody>
                        <a:bodyPr/>
                        <a:lstStyle/>
                        <a:p>
                          <a:pPr marL="0" marR="0" algn="ctr">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0.00204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2790719203"/>
                      </a:ext>
                    </a:extLst>
                  </a:tr>
                  <a:tr h="515412">
                    <a:tc>
                      <a:txBody>
                        <a:bodyPr/>
                        <a:lstStyle/>
                        <a:p>
                          <a:pPr marL="0" marR="0" algn="ctr">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0.189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0.0627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0.008571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2424797041"/>
                      </a:ext>
                    </a:extLst>
                  </a:tr>
                  <a:tr h="515412">
                    <a:tc>
                      <a:txBody>
                        <a:bodyPr/>
                        <a:lstStyle/>
                        <a:p>
                          <a:pPr marL="0" marR="0" algn="ctr">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0.389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0.039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0.1288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0.017286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2194787509"/>
                      </a:ext>
                    </a:extLst>
                  </a:tr>
                  <a:tr h="515412">
                    <a:tc>
                      <a:txBody>
                        <a:bodyPr/>
                        <a:lstStyle/>
                        <a:p>
                          <a:pPr marL="0" marR="0" algn="ctr">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0.337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0.322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0.1989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0.139714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2683623439"/>
                      </a:ext>
                    </a:extLst>
                  </a:tr>
                  <a:tr h="515412">
                    <a:tc>
                      <a:txBody>
                        <a:bodyPr/>
                        <a:lstStyle/>
                        <a:p>
                          <a:pPr marL="0" marR="0" algn="ctr">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0.066</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0.526</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0.344</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0.3152</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0.422</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875337814"/>
                      </a:ext>
                    </a:extLst>
                  </a:tr>
                  <a:tr h="515412">
                    <a:tc>
                      <a:txBody>
                        <a:bodyPr/>
                        <a:lstStyle/>
                        <a:p>
                          <a:pPr marL="0" marR="0" algn="ctr">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0.005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0.067</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0.299</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0.1412</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0.199571</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1916428858"/>
                      </a:ext>
                    </a:extLst>
                  </a:tr>
                  <a:tr h="515412">
                    <a:tc>
                      <a:txBody>
                        <a:bodyPr/>
                        <a:lstStyle/>
                        <a:p>
                          <a:pPr marL="0" marR="0" algn="ctr">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0.005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0.024</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0.237</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0.1035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0.145714</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1930369756"/>
                      </a:ext>
                    </a:extLst>
                  </a:tr>
                  <a:tr h="515412">
                    <a:tc>
                      <a:txBody>
                        <a:bodyPr/>
                        <a:lstStyle/>
                        <a:p>
                          <a:pPr marL="0" marR="0" algn="ctr">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0.001</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0.002</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0.116</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0.0473</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0.067143</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3001137394"/>
                      </a:ext>
                    </a:extLst>
                  </a:tr>
                  <a:tr h="944921">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 </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14:m>
                            <m:oMath xmlns:m="http://schemas.openxmlformats.org/officeDocument/2006/math">
                              <m:sSub>
                                <m:sSubPr>
                                  <m:ctrlPr>
                                    <a:rPr lang="en-US" sz="2400" i="1">
                                      <a:effectLst/>
                                      <a:highlight>
                                        <a:srgbClr val="FFFF00"/>
                                      </a:highlight>
                                      <a:latin typeface="Cambria Math" panose="02040503050406030204" pitchFamily="18" charset="0"/>
                                    </a:rPr>
                                  </m:ctrlPr>
                                </m:sSubPr>
                                <m:e>
                                  <m:r>
                                    <a:rPr lang="en-US" sz="2400">
                                      <a:effectLst/>
                                      <a:highlight>
                                        <a:srgbClr val="FFFF00"/>
                                      </a:highlight>
                                      <a:latin typeface="Cambria Math" panose="02040503050406030204" pitchFamily="18" charset="0"/>
                                    </a:rPr>
                                    <m:t>𝑥</m:t>
                                  </m:r>
                                </m:e>
                                <m:sub>
                                  <m:r>
                                    <a:rPr lang="en-US" sz="2400">
                                      <a:effectLst/>
                                      <a:highlight>
                                        <a:srgbClr val="FFFF00"/>
                                      </a:highlight>
                                      <a:latin typeface="Cambria Math" panose="02040503050406030204" pitchFamily="18" charset="0"/>
                                    </a:rPr>
                                    <m:t>𝐶</m:t>
                                  </m:r>
                                </m:sub>
                              </m:sSub>
                              <m:r>
                                <a:rPr lang="en-US" sz="2400">
                                  <a:effectLst/>
                                  <a:highlight>
                                    <a:srgbClr val="FFFF00"/>
                                  </a:highlight>
                                  <a:latin typeface="Cambria Math" panose="02040503050406030204" pitchFamily="18" charset="0"/>
                                </a:rPr>
                                <m:t>=</m:t>
                              </m:r>
                            </m:oMath>
                          </a14:m>
                          <a:r>
                            <a:rPr lang="en-US" sz="2400">
                              <a:effectLst/>
                              <a:highlight>
                                <a:srgbClr val="FFFF00"/>
                              </a:highlight>
                            </a:rPr>
                            <a:t>0.093</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14:m>
                            <m:oMath xmlns:m="http://schemas.openxmlformats.org/officeDocument/2006/math">
                              <m:sSub>
                                <m:sSubPr>
                                  <m:ctrlPr>
                                    <a:rPr lang="en-US" sz="2400" i="1">
                                      <a:effectLst/>
                                      <a:highlight>
                                        <a:srgbClr val="FFFF00"/>
                                      </a:highlight>
                                      <a:latin typeface="Cambria Math" panose="02040503050406030204" pitchFamily="18" charset="0"/>
                                    </a:rPr>
                                  </m:ctrlPr>
                                </m:sSubPr>
                                <m:e>
                                  <m:r>
                                    <a:rPr lang="en-US" sz="2400">
                                      <a:effectLst/>
                                      <a:highlight>
                                        <a:srgbClr val="FFFF00"/>
                                      </a:highlight>
                                      <a:latin typeface="Cambria Math" panose="02040503050406030204" pitchFamily="18" charset="0"/>
                                    </a:rPr>
                                    <m:t>𝑥</m:t>
                                  </m:r>
                                </m:e>
                                <m:sub>
                                  <m:r>
                                    <a:rPr lang="en-US" sz="2400">
                                      <a:effectLst/>
                                      <a:highlight>
                                        <a:srgbClr val="FFFF00"/>
                                      </a:highlight>
                                      <a:latin typeface="Cambria Math" panose="02040503050406030204" pitchFamily="18" charset="0"/>
                                    </a:rPr>
                                    <m:t>𝐵</m:t>
                                  </m:r>
                                </m:sub>
                              </m:sSub>
                              <m:r>
                                <a:rPr lang="en-US" sz="2400">
                                  <a:effectLst/>
                                  <a:highlight>
                                    <a:srgbClr val="FFFF00"/>
                                  </a:highlight>
                                  <a:latin typeface="Cambria Math" panose="02040503050406030204" pitchFamily="18" charset="0"/>
                                </a:rPr>
                                <m:t>=</m:t>
                              </m:r>
                            </m:oMath>
                          </a14:m>
                          <a:r>
                            <a:rPr lang="en-US" sz="2400">
                              <a:effectLst/>
                              <a:highlight>
                                <a:srgbClr val="FFFF00"/>
                              </a:highlight>
                            </a:rPr>
                            <a:t>0.652</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 </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14:m>
                            <m:oMath xmlns:m="http://schemas.openxmlformats.org/officeDocument/2006/math">
                              <m:sSub>
                                <m:sSubPr>
                                  <m:ctrlPr>
                                    <a:rPr lang="en-US" sz="2400" i="1">
                                      <a:effectLst/>
                                      <a:highlight>
                                        <a:srgbClr val="FFFF00"/>
                                      </a:highlight>
                                      <a:latin typeface="Cambria Math" panose="02040503050406030204" pitchFamily="18" charset="0"/>
                                    </a:rPr>
                                  </m:ctrlPr>
                                </m:sSubPr>
                                <m:e>
                                  <m:r>
                                    <a:rPr lang="en-US" sz="2400">
                                      <a:effectLst/>
                                      <a:highlight>
                                        <a:srgbClr val="FFFF00"/>
                                      </a:highlight>
                                      <a:latin typeface="Cambria Math" panose="02040503050406030204" pitchFamily="18" charset="0"/>
                                    </a:rPr>
                                    <m:t>𝑥</m:t>
                                  </m:r>
                                </m:e>
                                <m:sub>
                                  <m:r>
                                    <a:rPr lang="en-US" sz="2400">
                                      <a:effectLst/>
                                      <a:highlight>
                                        <a:srgbClr val="FFFF00"/>
                                      </a:highlight>
                                      <a:latin typeface="Cambria Math" panose="02040503050406030204" pitchFamily="18" charset="0"/>
                                    </a:rPr>
                                    <m:t>𝐴</m:t>
                                  </m:r>
                                </m:sub>
                              </m:sSub>
                              <m:r>
                                <a:rPr lang="en-US" sz="2400">
                                  <a:effectLst/>
                                  <a:highlight>
                                    <a:srgbClr val="FFFF00"/>
                                  </a:highlight>
                                  <a:latin typeface="Cambria Math" panose="02040503050406030204" pitchFamily="18" charset="0"/>
                                </a:rPr>
                                <m:t>= </m:t>
                              </m:r>
                            </m:oMath>
                          </a14:m>
                          <a:r>
                            <a:rPr lang="en-US" sz="2400" dirty="0">
                              <a:effectLst/>
                              <a:highlight>
                                <a:srgbClr val="FFFF00"/>
                              </a:highlight>
                            </a:rPr>
                            <a:t>0.412</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4058514418"/>
                      </a:ext>
                    </a:extLst>
                  </a:tr>
                </a:tbl>
              </a:graphicData>
            </a:graphic>
          </p:graphicFrame>
        </mc:Choice>
        <mc:Fallback xmlns="">
          <p:graphicFrame>
            <p:nvGraphicFramePr>
              <p:cNvPr id="10" name="Table 9">
                <a:extLst>
                  <a:ext uri="{FF2B5EF4-FFF2-40B4-BE49-F238E27FC236}">
                    <a16:creationId xmlns:a16="http://schemas.microsoft.com/office/drawing/2014/main" id="{BE3C939F-0F03-30DA-56BC-0D48F125B9AF}"/>
                  </a:ext>
                </a:extLst>
              </p:cNvPr>
              <p:cNvGraphicFramePr>
                <a:graphicFrameLocks noGrp="1"/>
              </p:cNvGraphicFramePr>
              <p:nvPr>
                <p:extLst>
                  <p:ext uri="{D42A27DB-BD31-4B8C-83A1-F6EECF244321}">
                    <p14:modId xmlns:p14="http://schemas.microsoft.com/office/powerpoint/2010/main" val="666007943"/>
                  </p:ext>
                </p:extLst>
              </p:nvPr>
            </p:nvGraphicFramePr>
            <p:xfrm>
              <a:off x="1004888" y="2458733"/>
              <a:ext cx="8471099" cy="7516420"/>
            </p:xfrm>
            <a:graphic>
              <a:graphicData uri="http://schemas.openxmlformats.org/drawingml/2006/table">
                <a:tbl>
                  <a:tblPr firstRow="1" firstCol="1" bandRow="1">
                    <a:tableStyleId>{5C22544A-7EE6-4342-B048-85BDC9FD1C3A}</a:tableStyleId>
                  </a:tblPr>
                  <a:tblGrid>
                    <a:gridCol w="1189797">
                      <a:extLst>
                        <a:ext uri="{9D8B030D-6E8A-4147-A177-3AD203B41FA5}">
                          <a16:colId xmlns:a16="http://schemas.microsoft.com/office/drawing/2014/main" val="345472459"/>
                        </a:ext>
                      </a:extLst>
                    </a:gridCol>
                    <a:gridCol w="1215822">
                      <a:extLst>
                        <a:ext uri="{9D8B030D-6E8A-4147-A177-3AD203B41FA5}">
                          <a16:colId xmlns:a16="http://schemas.microsoft.com/office/drawing/2014/main" val="1079105834"/>
                        </a:ext>
                      </a:extLst>
                    </a:gridCol>
                    <a:gridCol w="1719007">
                      <a:extLst>
                        <a:ext uri="{9D8B030D-6E8A-4147-A177-3AD203B41FA5}">
                          <a16:colId xmlns:a16="http://schemas.microsoft.com/office/drawing/2014/main" val="1636062694"/>
                        </a:ext>
                      </a:extLst>
                    </a:gridCol>
                    <a:gridCol w="1538160">
                      <a:extLst>
                        <a:ext uri="{9D8B030D-6E8A-4147-A177-3AD203B41FA5}">
                          <a16:colId xmlns:a16="http://schemas.microsoft.com/office/drawing/2014/main" val="4131020079"/>
                        </a:ext>
                      </a:extLst>
                    </a:gridCol>
                    <a:gridCol w="1296144">
                      <a:extLst>
                        <a:ext uri="{9D8B030D-6E8A-4147-A177-3AD203B41FA5}">
                          <a16:colId xmlns:a16="http://schemas.microsoft.com/office/drawing/2014/main" val="3983766142"/>
                        </a:ext>
                      </a:extLst>
                    </a:gridCol>
                    <a:gridCol w="1512169">
                      <a:extLst>
                        <a:ext uri="{9D8B030D-6E8A-4147-A177-3AD203B41FA5}">
                          <a16:colId xmlns:a16="http://schemas.microsoft.com/office/drawing/2014/main" val="3999830240"/>
                        </a:ext>
                      </a:extLst>
                    </a:gridCol>
                  </a:tblGrid>
                  <a:tr h="515412">
                    <a:tc>
                      <a:txBody>
                        <a:bodyPr/>
                        <a:lstStyle/>
                        <a:p>
                          <a:pPr marL="0" marR="0" algn="ctr">
                            <a:spcBef>
                              <a:spcPts val="0"/>
                            </a:spcBef>
                            <a:spcAft>
                              <a:spcPts val="0"/>
                            </a:spcAft>
                          </a:pPr>
                          <a:r>
                            <a:rPr lang="en-US" sz="2400" dirty="0">
                              <a:effectLst/>
                            </a:rPr>
                            <a:t> </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gridSpan="3">
                      <a:txBody>
                        <a:bodyPr/>
                        <a:lstStyle/>
                        <a:p>
                          <a:pPr marL="0" marR="0" algn="ctr">
                            <a:spcBef>
                              <a:spcPts val="0"/>
                            </a:spcBef>
                            <a:spcAft>
                              <a:spcPts val="0"/>
                            </a:spcAft>
                          </a:pPr>
                          <a:r>
                            <a:rPr lang="en-US" sz="2400">
                              <a:effectLst/>
                            </a:rPr>
                            <a:t>Mass Fraction Retained</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916929777"/>
                      </a:ext>
                    </a:extLst>
                  </a:tr>
                  <a:tr h="1417379">
                    <a:tc>
                      <a:txBody>
                        <a:bodyPr/>
                        <a:lstStyle/>
                        <a:p>
                          <a:pPr marL="0" marR="0" algn="ctr">
                            <a:spcBef>
                              <a:spcPts val="0"/>
                            </a:spcBef>
                            <a:spcAft>
                              <a:spcPts val="0"/>
                            </a:spcAft>
                          </a:pPr>
                          <a:r>
                            <a:rPr lang="en-US" sz="2400">
                              <a:effectLst/>
                            </a:rPr>
                            <a:t>Mesh No</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Oversize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Intermediate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Undersize</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Feed to 48 Mesh</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Feed to 65 Mesh</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50659954"/>
                      </a:ext>
                    </a:extLst>
                  </a:tr>
                  <a:tr h="515412">
                    <a:tc>
                      <a:txBody>
                        <a:bodyPr/>
                        <a:lstStyle/>
                        <a:p>
                          <a:pPr marL="0" marR="0" algn="ctr">
                            <a:spcBef>
                              <a:spcPts val="0"/>
                            </a:spcBef>
                            <a:spcAft>
                              <a:spcPts val="0"/>
                            </a:spcAft>
                          </a:pPr>
                          <a:r>
                            <a:rPr lang="en-US" sz="2400">
                              <a:effectLst/>
                            </a:rPr>
                            <a:t>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0.0012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0.00036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3532680798"/>
                      </a:ext>
                    </a:extLst>
                  </a:tr>
                  <a:tr h="515412">
                    <a:tc>
                      <a:txBody>
                        <a:bodyPr/>
                        <a:lstStyle/>
                        <a:p>
                          <a:pPr marL="0" marR="0" algn="ctr">
                            <a:spcBef>
                              <a:spcPts val="0"/>
                            </a:spcBef>
                            <a:spcAft>
                              <a:spcPts val="0"/>
                            </a:spcAft>
                          </a:pPr>
                          <a:r>
                            <a:rPr lang="en-US" sz="2400">
                              <a:effectLst/>
                            </a:rPr>
                            <a:t>20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0.0068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0.00204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2790719203"/>
                      </a:ext>
                    </a:extLst>
                  </a:tr>
                  <a:tr h="515412">
                    <a:tc>
                      <a:txBody>
                        <a:bodyPr/>
                        <a:lstStyle/>
                        <a:p>
                          <a:pPr marL="0" marR="0" algn="ctr">
                            <a:spcBef>
                              <a:spcPts val="0"/>
                            </a:spcBef>
                            <a:spcAft>
                              <a:spcPts val="0"/>
                            </a:spcAft>
                          </a:pPr>
                          <a:r>
                            <a:rPr lang="en-US" sz="2400">
                              <a:effectLst/>
                            </a:rPr>
                            <a:t>28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0.189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0.0627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0.008571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2424797041"/>
                      </a:ext>
                    </a:extLst>
                  </a:tr>
                  <a:tr h="515412">
                    <a:tc>
                      <a:txBody>
                        <a:bodyPr/>
                        <a:lstStyle/>
                        <a:p>
                          <a:pPr marL="0" marR="0" algn="ctr">
                            <a:spcBef>
                              <a:spcPts val="0"/>
                            </a:spcBef>
                            <a:spcAft>
                              <a:spcPts val="0"/>
                            </a:spcAft>
                          </a:pPr>
                          <a:r>
                            <a:rPr lang="en-US" sz="2400">
                              <a:effectLst/>
                            </a:rPr>
                            <a:t>35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0.389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0.039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0.001</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0.1288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0.017286</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2194787509"/>
                      </a:ext>
                    </a:extLst>
                  </a:tr>
                  <a:tr h="515412">
                    <a:tc>
                      <a:txBody>
                        <a:bodyPr/>
                        <a:lstStyle/>
                        <a:p>
                          <a:pPr marL="0" marR="0" algn="ctr">
                            <a:spcBef>
                              <a:spcPts val="0"/>
                            </a:spcBef>
                            <a:spcAft>
                              <a:spcPts val="0"/>
                            </a:spcAft>
                          </a:pPr>
                          <a:r>
                            <a:rPr lang="en-US" sz="2400">
                              <a:effectLst/>
                            </a:rPr>
                            <a:t>48</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0.337</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0.322</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0.003</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0.1989</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rPr>
                            <a:t>0.139714</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2683623439"/>
                      </a:ext>
                    </a:extLst>
                  </a:tr>
                  <a:tr h="515412">
                    <a:tc>
                      <a:txBody>
                        <a:bodyPr/>
                        <a:lstStyle/>
                        <a:p>
                          <a:pPr marL="0" marR="0" algn="ctr">
                            <a:spcBef>
                              <a:spcPts val="0"/>
                            </a:spcBef>
                            <a:spcAft>
                              <a:spcPts val="0"/>
                            </a:spcAft>
                          </a:pPr>
                          <a:r>
                            <a:rPr lang="en-US" sz="2400">
                              <a:effectLst/>
                            </a:rPr>
                            <a:t>65</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0.066</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0.526</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0.344</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0.3152</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0.422</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875337814"/>
                      </a:ext>
                    </a:extLst>
                  </a:tr>
                  <a:tr h="515412">
                    <a:tc>
                      <a:txBody>
                        <a:bodyPr/>
                        <a:lstStyle/>
                        <a:p>
                          <a:pPr marL="0" marR="0" algn="ctr">
                            <a:spcBef>
                              <a:spcPts val="0"/>
                            </a:spcBef>
                            <a:spcAft>
                              <a:spcPts val="0"/>
                            </a:spcAft>
                          </a:pPr>
                          <a:r>
                            <a:rPr lang="en-US" sz="2400">
                              <a:effectLst/>
                            </a:rPr>
                            <a:t>100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0.005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0.067</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0.299</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0.1412</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0.199571</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1916428858"/>
                      </a:ext>
                    </a:extLst>
                  </a:tr>
                  <a:tr h="515412">
                    <a:tc>
                      <a:txBody>
                        <a:bodyPr/>
                        <a:lstStyle/>
                        <a:p>
                          <a:pPr marL="0" marR="0" algn="ctr">
                            <a:spcBef>
                              <a:spcPts val="0"/>
                            </a:spcBef>
                            <a:spcAft>
                              <a:spcPts val="0"/>
                            </a:spcAft>
                          </a:pPr>
                          <a:r>
                            <a:rPr lang="en-US" sz="2400">
                              <a:effectLst/>
                            </a:rPr>
                            <a:t>150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0.005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0.024</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0.237</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0.1035</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0.145714</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1930369756"/>
                      </a:ext>
                    </a:extLst>
                  </a:tr>
                  <a:tr h="515412">
                    <a:tc>
                      <a:txBody>
                        <a:bodyPr/>
                        <a:lstStyle/>
                        <a:p>
                          <a:pPr marL="0" marR="0" algn="ctr">
                            <a:spcBef>
                              <a:spcPts val="0"/>
                            </a:spcBef>
                            <a:spcAft>
                              <a:spcPts val="0"/>
                            </a:spcAft>
                          </a:pPr>
                          <a:r>
                            <a:rPr lang="en-US" sz="2400">
                              <a:effectLst/>
                            </a:rPr>
                            <a:t>200</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0.001</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0.002</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0.116</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rPr>
                            <a:t>0.0473</a:t>
                          </a:r>
                          <a:endParaRPr lang="en-US" sz="24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dirty="0">
                              <a:effectLst/>
                              <a:highlight>
                                <a:srgbClr val="FFFF00"/>
                              </a:highlight>
                            </a:rPr>
                            <a:t>0.067143</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extLst>
                      <a:ext uri="{0D108BD9-81ED-4DB2-BD59-A6C34878D82A}">
                        <a16:rowId xmlns:a16="http://schemas.microsoft.com/office/drawing/2014/main" val="3001137394"/>
                      </a:ext>
                    </a:extLst>
                  </a:tr>
                  <a:tr h="944921">
                    <a:tc>
                      <a:txBody>
                        <a:bodyPr/>
                        <a:lstStyle/>
                        <a:p>
                          <a:pPr marL="0" marR="0" algn="ctr">
                            <a:spcBef>
                              <a:spcPts val="0"/>
                            </a:spcBef>
                            <a:spcAft>
                              <a:spcPts val="0"/>
                            </a:spcAft>
                          </a:pPr>
                          <a:r>
                            <a:rPr lang="en-US" sz="2400">
                              <a:effectLst/>
                            </a:rPr>
                            <a:t> </a:t>
                          </a:r>
                          <a:endParaRPr lang="en-US" sz="24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pPr marL="0" marR="0" algn="ctr">
                            <a:spcBef>
                              <a:spcPts val="0"/>
                            </a:spcBef>
                            <a:spcAft>
                              <a:spcPts val="0"/>
                            </a:spcAft>
                          </a:pPr>
                          <a:r>
                            <a:rPr lang="en-US" sz="2400">
                              <a:effectLst/>
                              <a:highlight>
                                <a:srgbClr val="FFFF00"/>
                              </a:highlight>
                            </a:rPr>
                            <a:t> </a:t>
                          </a:r>
                          <a:endParaRPr lang="en-US" sz="240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endParaRPr lang="en-US"/>
                        </a:p>
                      </a:txBody>
                      <a:tcPr marL="58415" marR="58415" marT="0" marB="0" anchor="b">
                        <a:blipFill>
                          <a:blip r:embed="rId3"/>
                          <a:stretch>
                            <a:fillRect l="-140426" t="-696774" r="-254610" b="-19355"/>
                          </a:stretch>
                        </a:blipFill>
                      </a:tcPr>
                    </a:tc>
                    <a:tc>
                      <a:txBody>
                        <a:bodyPr/>
                        <a:lstStyle/>
                        <a:p>
                          <a:endParaRPr lang="en-US"/>
                        </a:p>
                      </a:txBody>
                      <a:tcPr marL="58415" marR="58415" marT="0" marB="0" anchor="b">
                        <a:blipFill>
                          <a:blip r:embed="rId3"/>
                          <a:stretch>
                            <a:fillRect l="-267984" t="-696774" r="-183794" b="-19355"/>
                          </a:stretch>
                        </a:blipFill>
                      </a:tcPr>
                    </a:tc>
                    <a:tc>
                      <a:txBody>
                        <a:bodyPr/>
                        <a:lstStyle/>
                        <a:p>
                          <a:pPr marL="0" marR="0" algn="ctr">
                            <a:spcBef>
                              <a:spcPts val="0"/>
                            </a:spcBef>
                            <a:spcAft>
                              <a:spcPts val="0"/>
                            </a:spcAft>
                          </a:pPr>
                          <a:r>
                            <a:rPr lang="en-US" sz="2400" dirty="0">
                              <a:effectLst/>
                              <a:highlight>
                                <a:srgbClr val="FFFF00"/>
                              </a:highlight>
                            </a:rPr>
                            <a:t> </a:t>
                          </a:r>
                          <a:endParaRPr lang="en-US" sz="2400" dirty="0">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58415" marR="58415" marT="0" marB="0" anchor="b"/>
                    </a:tc>
                    <a:tc>
                      <a:txBody>
                        <a:bodyPr/>
                        <a:lstStyle/>
                        <a:p>
                          <a:endParaRPr lang="en-US"/>
                        </a:p>
                      </a:txBody>
                      <a:tcPr marL="58415" marR="58415" marT="0" marB="0" anchor="b">
                        <a:blipFill>
                          <a:blip r:embed="rId3"/>
                          <a:stretch>
                            <a:fillRect l="-461290" t="-696774" r="-1613" b="-19355"/>
                          </a:stretch>
                        </a:blipFill>
                      </a:tcPr>
                    </a:tc>
                    <a:extLst>
                      <a:ext uri="{0D108BD9-81ED-4DB2-BD59-A6C34878D82A}">
                        <a16:rowId xmlns:a16="http://schemas.microsoft.com/office/drawing/2014/main" val="4058514418"/>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20D8BF6-061C-ED55-7DED-F62EB2343EA6}"/>
                  </a:ext>
                </a:extLst>
              </p:cNvPr>
              <p:cNvSpPr txBox="1"/>
              <p:nvPr/>
            </p:nvSpPr>
            <p:spPr>
              <a:xfrm>
                <a:off x="10335322" y="4430539"/>
                <a:ext cx="8471100"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𝑬</m:t>
                      </m:r>
                      <m:r>
                        <a:rPr lang="en-US" sz="2400" b="1" i="0">
                          <a:latin typeface="Cambria Math" panose="02040503050406030204" pitchFamily="18" charset="0"/>
                        </a:rPr>
                        <m:t>=</m:t>
                      </m:r>
                      <m:d>
                        <m:dPr>
                          <m:begChr m:val="["/>
                          <m:endChr m:val="]"/>
                          <m:ctrlPr>
                            <a:rPr lang="en-US" sz="2400" b="1" i="1">
                              <a:solidFill>
                                <a:srgbClr val="836967"/>
                              </a:solidFill>
                              <a:latin typeface="Cambria Math" panose="02040503050406030204" pitchFamily="18" charset="0"/>
                            </a:rPr>
                          </m:ctrlPr>
                        </m:dPr>
                        <m:e>
                          <m:d>
                            <m:dPr>
                              <m:ctrlPr>
                                <a:rPr lang="en-US" sz="2400" b="1" i="1">
                                  <a:solidFill>
                                    <a:srgbClr val="836967"/>
                                  </a:solidFill>
                                  <a:latin typeface="Cambria Math" panose="02040503050406030204" pitchFamily="18" charset="0"/>
                                </a:rPr>
                              </m:ctrlPr>
                            </m:dPr>
                            <m:e>
                              <m:f>
                                <m:fPr>
                                  <m:ctrlPr>
                                    <a:rPr lang="en-US" sz="2400" b="1" i="1">
                                      <a:solidFill>
                                        <a:srgbClr val="836967"/>
                                      </a:solidFill>
                                      <a:latin typeface="Cambria Math" panose="02040503050406030204" pitchFamily="18" charset="0"/>
                                    </a:rPr>
                                  </m:ctrlPr>
                                </m:fPr>
                                <m:num>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𝑨</m:t>
                                      </m:r>
                                    </m:sub>
                                  </m:sSub>
                                  <m:r>
                                    <a:rPr lang="en-US" sz="2400" b="1" i="0">
                                      <a:latin typeface="Cambria Math" panose="02040503050406030204" pitchFamily="18" charset="0"/>
                                    </a:rPr>
                                    <m:t>−</m:t>
                                  </m:r>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𝑪</m:t>
                                      </m:r>
                                    </m:sub>
                                  </m:sSub>
                                </m:num>
                                <m:den>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𝑩</m:t>
                                      </m:r>
                                    </m:sub>
                                  </m:sSub>
                                  <m:r>
                                    <a:rPr lang="en-US" sz="2400" b="1" i="0">
                                      <a:latin typeface="Cambria Math" panose="02040503050406030204" pitchFamily="18" charset="0"/>
                                    </a:rPr>
                                    <m:t>−</m:t>
                                  </m:r>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𝑪</m:t>
                                      </m:r>
                                    </m:sub>
                                  </m:sSub>
                                </m:den>
                              </m:f>
                            </m:e>
                          </m:d>
                          <m:r>
                            <a:rPr lang="en-US" sz="2400" b="1" i="0">
                              <a:latin typeface="Cambria Math" panose="02040503050406030204" pitchFamily="18" charset="0"/>
                            </a:rPr>
                            <m:t> </m:t>
                          </m:r>
                          <m:f>
                            <m:fPr>
                              <m:ctrlPr>
                                <a:rPr lang="en-US" sz="2400" b="1" i="1">
                                  <a:solidFill>
                                    <a:srgbClr val="836967"/>
                                  </a:solidFill>
                                  <a:latin typeface="Cambria Math" panose="02040503050406030204" pitchFamily="18" charset="0"/>
                                </a:rPr>
                              </m:ctrlPr>
                            </m:fPr>
                            <m:num>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𝑩</m:t>
                                  </m:r>
                                </m:sub>
                              </m:sSub>
                            </m:num>
                            <m:den>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𝑨</m:t>
                                  </m:r>
                                </m:sub>
                              </m:sSub>
                            </m:den>
                          </m:f>
                        </m:e>
                      </m:d>
                      <m:r>
                        <a:rPr lang="en-US" sz="2400" b="1" i="0">
                          <a:latin typeface="Cambria Math" panose="02040503050406030204" pitchFamily="18" charset="0"/>
                        </a:rPr>
                        <m:t> </m:t>
                      </m:r>
                      <m:d>
                        <m:dPr>
                          <m:begChr m:val="["/>
                          <m:endChr m:val="]"/>
                          <m:ctrlPr>
                            <a:rPr lang="en-US" sz="2400" b="1" i="1">
                              <a:solidFill>
                                <a:srgbClr val="836967"/>
                              </a:solidFill>
                              <a:latin typeface="Cambria Math" panose="02040503050406030204" pitchFamily="18" charset="0"/>
                            </a:rPr>
                          </m:ctrlPr>
                        </m:dPr>
                        <m:e>
                          <m:r>
                            <a:rPr lang="en-US" sz="2400" b="1" i="0">
                              <a:latin typeface="Cambria Math" panose="02040503050406030204" pitchFamily="18" charset="0"/>
                            </a:rPr>
                            <m:t>𝟏</m:t>
                          </m:r>
                          <m:r>
                            <a:rPr lang="en-US" sz="2400" b="1" i="0">
                              <a:latin typeface="Cambria Math" panose="02040503050406030204" pitchFamily="18" charset="0"/>
                            </a:rPr>
                            <m:t>−</m:t>
                          </m:r>
                          <m:d>
                            <m:dPr>
                              <m:ctrlPr>
                                <a:rPr lang="en-US" sz="2400" b="1" i="1">
                                  <a:solidFill>
                                    <a:srgbClr val="836967"/>
                                  </a:solidFill>
                                  <a:latin typeface="Cambria Math" panose="02040503050406030204" pitchFamily="18" charset="0"/>
                                </a:rPr>
                              </m:ctrlPr>
                            </m:dPr>
                            <m:e>
                              <m:f>
                                <m:fPr>
                                  <m:ctrlPr>
                                    <a:rPr lang="en-US" sz="2400" b="1" i="1">
                                      <a:solidFill>
                                        <a:srgbClr val="836967"/>
                                      </a:solidFill>
                                      <a:latin typeface="Cambria Math" panose="02040503050406030204" pitchFamily="18" charset="0"/>
                                    </a:rPr>
                                  </m:ctrlPr>
                                </m:fPr>
                                <m:num>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𝑨</m:t>
                                      </m:r>
                                    </m:sub>
                                  </m:sSub>
                                  <m:r>
                                    <a:rPr lang="en-US" sz="2400" b="1" i="0">
                                      <a:latin typeface="Cambria Math" panose="02040503050406030204" pitchFamily="18" charset="0"/>
                                    </a:rPr>
                                    <m:t>−</m:t>
                                  </m:r>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𝑪</m:t>
                                      </m:r>
                                    </m:sub>
                                  </m:sSub>
                                </m:num>
                                <m:den>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𝑩</m:t>
                                      </m:r>
                                    </m:sub>
                                  </m:sSub>
                                  <m:r>
                                    <a:rPr lang="en-US" sz="2400" b="1" i="0">
                                      <a:latin typeface="Cambria Math" panose="02040503050406030204" pitchFamily="18" charset="0"/>
                                    </a:rPr>
                                    <m:t>−</m:t>
                                  </m:r>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𝑪</m:t>
                                      </m:r>
                                    </m:sub>
                                  </m:sSub>
                                </m:den>
                              </m:f>
                            </m:e>
                          </m:d>
                          <m:d>
                            <m:dPr>
                              <m:ctrlPr>
                                <a:rPr lang="en-US" sz="2400" b="1" i="1">
                                  <a:solidFill>
                                    <a:srgbClr val="836967"/>
                                  </a:solidFill>
                                  <a:latin typeface="Cambria Math" panose="02040503050406030204" pitchFamily="18" charset="0"/>
                                </a:rPr>
                              </m:ctrlPr>
                            </m:dPr>
                            <m:e>
                              <m:f>
                                <m:fPr>
                                  <m:ctrlPr>
                                    <a:rPr lang="en-US" sz="2400" b="1" i="1">
                                      <a:solidFill>
                                        <a:srgbClr val="836967"/>
                                      </a:solidFill>
                                      <a:latin typeface="Cambria Math" panose="02040503050406030204" pitchFamily="18" charset="0"/>
                                    </a:rPr>
                                  </m:ctrlPr>
                                </m:fPr>
                                <m:num>
                                  <m:r>
                                    <a:rPr lang="en-US" sz="2400" b="1" i="0">
                                      <a:latin typeface="Cambria Math" panose="02040503050406030204" pitchFamily="18" charset="0"/>
                                    </a:rPr>
                                    <m:t>𝟏</m:t>
                                  </m:r>
                                  <m:r>
                                    <a:rPr lang="en-US" sz="2400" b="1" i="0">
                                      <a:latin typeface="Cambria Math" panose="02040503050406030204" pitchFamily="18" charset="0"/>
                                    </a:rPr>
                                    <m:t>−</m:t>
                                  </m:r>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𝑩</m:t>
                                      </m:r>
                                    </m:sub>
                                  </m:sSub>
                                </m:num>
                                <m:den>
                                  <m:r>
                                    <a:rPr lang="en-US" sz="2400" b="1" i="0">
                                      <a:latin typeface="Cambria Math" panose="02040503050406030204" pitchFamily="18" charset="0"/>
                                    </a:rPr>
                                    <m:t>𝟏</m:t>
                                  </m:r>
                                  <m:r>
                                    <a:rPr lang="en-US" sz="2400" b="1" i="0">
                                      <a:latin typeface="Cambria Math" panose="02040503050406030204" pitchFamily="18" charset="0"/>
                                    </a:rPr>
                                    <m:t>−</m:t>
                                  </m:r>
                                  <m:sSub>
                                    <m:sSubPr>
                                      <m:ctrlPr>
                                        <a:rPr lang="en-US" sz="2400" b="1" i="1">
                                          <a:solidFill>
                                            <a:srgbClr val="836967"/>
                                          </a:solidFill>
                                          <a:latin typeface="Cambria Math" panose="02040503050406030204" pitchFamily="18" charset="0"/>
                                        </a:rPr>
                                      </m:ctrlPr>
                                    </m:sSubPr>
                                    <m:e>
                                      <m:r>
                                        <a:rPr lang="en-US" sz="2400" b="1" i="1">
                                          <a:latin typeface="Cambria Math" panose="02040503050406030204" pitchFamily="18" charset="0"/>
                                        </a:rPr>
                                        <m:t>𝒙</m:t>
                                      </m:r>
                                    </m:e>
                                    <m:sub>
                                      <m:r>
                                        <a:rPr lang="en-US" sz="2400" b="1" i="1">
                                          <a:latin typeface="Cambria Math" panose="02040503050406030204" pitchFamily="18" charset="0"/>
                                        </a:rPr>
                                        <m:t>𝑨</m:t>
                                      </m:r>
                                    </m:sub>
                                  </m:sSub>
                                </m:den>
                              </m:f>
                            </m:e>
                          </m:d>
                        </m:e>
                      </m:d>
                      <m:r>
                        <a:rPr lang="en-US" sz="2400" b="1" i="0">
                          <a:latin typeface="Cambria Math" panose="02040503050406030204" pitchFamily="18" charset="0"/>
                        </a:rPr>
                        <m:t>=</m:t>
                      </m:r>
                      <m:r>
                        <a:rPr lang="en-US" sz="2400" b="1" i="0">
                          <a:latin typeface="Cambria Math" panose="02040503050406030204" pitchFamily="18" charset="0"/>
                        </a:rPr>
                        <m:t>𝟓𝟗</m:t>
                      </m:r>
                      <m:r>
                        <a:rPr lang="en-US" sz="2400" b="1" i="0">
                          <a:latin typeface="Cambria Math" panose="02040503050406030204" pitchFamily="18" charset="0"/>
                        </a:rPr>
                        <m:t>.</m:t>
                      </m:r>
                      <m:r>
                        <a:rPr lang="en-US" sz="2400" b="1" i="0">
                          <a:latin typeface="Cambria Math" panose="02040503050406030204" pitchFamily="18" charset="0"/>
                        </a:rPr>
                        <m:t>𝟕𝟔</m:t>
                      </m:r>
                      <m:r>
                        <a:rPr lang="en-US" sz="2400" b="1" i="0">
                          <a:latin typeface="Cambria Math" panose="02040503050406030204" pitchFamily="18" charset="0"/>
                        </a:rPr>
                        <m:t>% </m:t>
                      </m:r>
                    </m:oMath>
                  </m:oMathPara>
                </a14:m>
                <a:endParaRPr lang="en-US" sz="2400" b="1" dirty="0"/>
              </a:p>
            </p:txBody>
          </p:sp>
        </mc:Choice>
        <mc:Fallback xmlns="">
          <p:sp>
            <p:nvSpPr>
              <p:cNvPr id="12" name="TextBox 11">
                <a:extLst>
                  <a:ext uri="{FF2B5EF4-FFF2-40B4-BE49-F238E27FC236}">
                    <a16:creationId xmlns:a16="http://schemas.microsoft.com/office/drawing/2014/main" id="{220D8BF6-061C-ED55-7DED-F62EB2343EA6}"/>
                  </a:ext>
                </a:extLst>
              </p:cNvPr>
              <p:cNvSpPr txBox="1">
                <a:spLocks noRot="1" noChangeAspect="1" noMove="1" noResize="1" noEditPoints="1" noAdjustHandles="1" noChangeArrowheads="1" noChangeShapeType="1" noTextEdit="1"/>
              </p:cNvSpPr>
              <p:nvPr/>
            </p:nvSpPr>
            <p:spPr>
              <a:xfrm>
                <a:off x="10335322" y="4430539"/>
                <a:ext cx="8471100" cy="92217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52750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sp>
        <p:nvSpPr>
          <p:cNvPr id="14" name="TextBox 13">
            <a:extLst>
              <a:ext uri="{FF2B5EF4-FFF2-40B4-BE49-F238E27FC236}">
                <a16:creationId xmlns:a16="http://schemas.microsoft.com/office/drawing/2014/main" id="{32332F91-25B8-EB86-CA5D-6B1B010C48D5}"/>
              </a:ext>
            </a:extLst>
          </p:cNvPr>
          <p:cNvSpPr txBox="1"/>
          <p:nvPr/>
        </p:nvSpPr>
        <p:spPr>
          <a:xfrm>
            <a:off x="1004888" y="2030174"/>
            <a:ext cx="18120170" cy="1815882"/>
          </a:xfrm>
          <a:prstGeom prst="rect">
            <a:avLst/>
          </a:prstGeom>
          <a:noFill/>
        </p:spPr>
        <p:txBody>
          <a:bodyPr wrap="square">
            <a:spAutoFit/>
          </a:bodyPr>
          <a:lstStyle/>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Pb1. It is desired to separate a mixture of solids into three fractions a coarse fraction retained on 8 mesh, a middle fraction passing through 8 mesh and retained on 10 mesh and a fine fraction passing through 10 mesh. Based on the screen analysis given below, determine the weight ration of each of the three fractions with feed, the overall effectiveness of 8 mesh and 10 mesh screens</a:t>
            </a:r>
            <a:endParaRPr lang="en-US" sz="2800" dirty="0">
              <a:effectLst/>
              <a:latin typeface="Times New Roman" panose="02020603050405020304" pitchFamily="18" charset="0"/>
              <a:ea typeface="Times New Roman" panose="02020603050405020304" pitchFamily="18" charset="0"/>
            </a:endParaRPr>
          </a:p>
        </p:txBody>
      </p:sp>
      <p:graphicFrame>
        <p:nvGraphicFramePr>
          <p:cNvPr id="15" name="Table 14">
            <a:extLst>
              <a:ext uri="{FF2B5EF4-FFF2-40B4-BE49-F238E27FC236}">
                <a16:creationId xmlns:a16="http://schemas.microsoft.com/office/drawing/2014/main" id="{AA6209B5-B589-C542-5944-16ACCA6C97A7}"/>
              </a:ext>
            </a:extLst>
          </p:cNvPr>
          <p:cNvGraphicFramePr>
            <a:graphicFrameLocks noGrp="1"/>
          </p:cNvGraphicFramePr>
          <p:nvPr>
            <p:extLst>
              <p:ext uri="{D42A27DB-BD31-4B8C-83A1-F6EECF244321}">
                <p14:modId xmlns:p14="http://schemas.microsoft.com/office/powerpoint/2010/main" val="9916550"/>
              </p:ext>
            </p:extLst>
          </p:nvPr>
        </p:nvGraphicFramePr>
        <p:xfrm>
          <a:off x="2508250" y="3972439"/>
          <a:ext cx="14816610" cy="5714680"/>
        </p:xfrm>
        <a:graphic>
          <a:graphicData uri="http://schemas.openxmlformats.org/drawingml/2006/table">
            <a:tbl>
              <a:tblPr firstRow="1" firstCol="1" bandRow="1">
                <a:tableStyleId>{5C22544A-7EE6-4342-B048-85BDC9FD1C3A}</a:tableStyleId>
              </a:tblPr>
              <a:tblGrid>
                <a:gridCol w="2963322">
                  <a:extLst>
                    <a:ext uri="{9D8B030D-6E8A-4147-A177-3AD203B41FA5}">
                      <a16:colId xmlns:a16="http://schemas.microsoft.com/office/drawing/2014/main" val="337025385"/>
                    </a:ext>
                  </a:extLst>
                </a:gridCol>
                <a:gridCol w="2963322">
                  <a:extLst>
                    <a:ext uri="{9D8B030D-6E8A-4147-A177-3AD203B41FA5}">
                      <a16:colId xmlns:a16="http://schemas.microsoft.com/office/drawing/2014/main" val="3695804061"/>
                    </a:ext>
                  </a:extLst>
                </a:gridCol>
                <a:gridCol w="2963322">
                  <a:extLst>
                    <a:ext uri="{9D8B030D-6E8A-4147-A177-3AD203B41FA5}">
                      <a16:colId xmlns:a16="http://schemas.microsoft.com/office/drawing/2014/main" val="3705837072"/>
                    </a:ext>
                  </a:extLst>
                </a:gridCol>
                <a:gridCol w="2963322">
                  <a:extLst>
                    <a:ext uri="{9D8B030D-6E8A-4147-A177-3AD203B41FA5}">
                      <a16:colId xmlns:a16="http://schemas.microsoft.com/office/drawing/2014/main" val="1778105666"/>
                    </a:ext>
                  </a:extLst>
                </a:gridCol>
                <a:gridCol w="2963322">
                  <a:extLst>
                    <a:ext uri="{9D8B030D-6E8A-4147-A177-3AD203B41FA5}">
                      <a16:colId xmlns:a16="http://schemas.microsoft.com/office/drawing/2014/main" val="3682530445"/>
                    </a:ext>
                  </a:extLst>
                </a:gridCol>
              </a:tblGrid>
              <a:tr h="967099">
                <a:tc>
                  <a:txBody>
                    <a:bodyPr/>
                    <a:lstStyle/>
                    <a:p>
                      <a:pPr marL="0" marR="0">
                        <a:spcBef>
                          <a:spcPts val="0"/>
                        </a:spcBef>
                        <a:spcAft>
                          <a:spcPts val="0"/>
                        </a:spcAft>
                      </a:pPr>
                      <a:r>
                        <a:rPr lang="en-US" sz="2800">
                          <a:effectLst/>
                        </a:rPr>
                        <a:t>Screen</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800">
                          <a:effectLst/>
                        </a:rPr>
                        <a:t>Feed</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800">
                          <a:effectLst/>
                        </a:rPr>
                        <a:t>Coarse fraction</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800">
                          <a:effectLst/>
                        </a:rPr>
                        <a:t>Middle fraction</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800">
                          <a:effectLst/>
                        </a:rPr>
                        <a:t>Fine fraction</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080236390"/>
                  </a:ext>
                </a:extLst>
              </a:tr>
              <a:tr h="527509">
                <a:tc>
                  <a:txBody>
                    <a:bodyPr/>
                    <a:lstStyle/>
                    <a:p>
                      <a:pPr marL="0" marR="0">
                        <a:spcBef>
                          <a:spcPts val="0"/>
                        </a:spcBef>
                        <a:spcAft>
                          <a:spcPts val="0"/>
                        </a:spcAft>
                      </a:pPr>
                      <a:r>
                        <a:rPr lang="en-US" sz="2800">
                          <a:effectLst/>
                        </a:rPr>
                        <a:t>3/4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3.5</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076788692"/>
                  </a:ext>
                </a:extLst>
              </a:tr>
              <a:tr h="527509">
                <a:tc>
                  <a:txBody>
                    <a:bodyPr/>
                    <a:lstStyle/>
                    <a:p>
                      <a:pPr marL="0" marR="0">
                        <a:spcBef>
                          <a:spcPts val="0"/>
                        </a:spcBef>
                        <a:spcAft>
                          <a:spcPts val="0"/>
                        </a:spcAft>
                      </a:pPr>
                      <a:r>
                        <a:rPr lang="en-US" sz="2800">
                          <a:effectLst/>
                        </a:rPr>
                        <a:t>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15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4.2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233106641"/>
                  </a:ext>
                </a:extLst>
              </a:tr>
              <a:tr h="527509">
                <a:tc>
                  <a:txBody>
                    <a:bodyPr/>
                    <a:lstStyle/>
                    <a:p>
                      <a:pPr marL="0" marR="0">
                        <a:spcBef>
                          <a:spcPts val="0"/>
                        </a:spcBef>
                        <a:spcAft>
                          <a:spcPts val="0"/>
                        </a:spcAft>
                      </a:pPr>
                      <a:r>
                        <a:rPr lang="en-US" sz="2800">
                          <a:effectLst/>
                        </a:rPr>
                        <a:t>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27.5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24</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35.8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o</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158395232"/>
                  </a:ext>
                </a:extLst>
              </a:tr>
              <a:tr h="527509">
                <a:tc>
                  <a:txBody>
                    <a:bodyPr/>
                    <a:lstStyle/>
                    <a:p>
                      <a:pPr marL="0" marR="0">
                        <a:spcBef>
                          <a:spcPts val="0"/>
                        </a:spcBef>
                        <a:spcAft>
                          <a:spcPts val="0"/>
                        </a:spcAft>
                      </a:pPr>
                      <a:r>
                        <a:rPr lang="en-US" sz="2800">
                          <a:effectLst/>
                        </a:rPr>
                        <a:t>8/10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23.5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30.8</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645877744"/>
                  </a:ext>
                </a:extLst>
              </a:tr>
              <a:tr h="527509">
                <a:tc>
                  <a:txBody>
                    <a:bodyPr/>
                    <a:lstStyle/>
                    <a:p>
                      <a:pPr marL="0" marR="0">
                        <a:spcBef>
                          <a:spcPts val="0"/>
                        </a:spcBef>
                        <a:spcAft>
                          <a:spcPts val="0"/>
                        </a:spcAft>
                      </a:pPr>
                      <a:r>
                        <a:rPr lang="en-US" sz="2800">
                          <a:effectLst/>
                        </a:rPr>
                        <a:t>10/14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16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18.3</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26.7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990960809"/>
                  </a:ext>
                </a:extLst>
              </a:tr>
              <a:tr h="527509">
                <a:tc>
                  <a:txBody>
                    <a:bodyPr/>
                    <a:lstStyle/>
                    <a:p>
                      <a:pPr marL="0" marR="0">
                        <a:spcBef>
                          <a:spcPts val="0"/>
                        </a:spcBef>
                        <a:spcAft>
                          <a:spcPts val="0"/>
                        </a:spcAft>
                      </a:pPr>
                      <a:r>
                        <a:rPr lang="en-US" sz="2800">
                          <a:effectLst/>
                        </a:rPr>
                        <a:t>14/20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9.1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10.2</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20.2</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323952936"/>
                  </a:ext>
                </a:extLst>
              </a:tr>
              <a:tr h="527509">
                <a:tc>
                  <a:txBody>
                    <a:bodyPr/>
                    <a:lstStyle/>
                    <a:p>
                      <a:pPr marL="0" marR="0">
                        <a:spcBef>
                          <a:spcPts val="0"/>
                        </a:spcBef>
                        <a:spcAft>
                          <a:spcPts val="0"/>
                        </a:spcAft>
                      </a:pPr>
                      <a:r>
                        <a:rPr lang="en-US" sz="2800">
                          <a:effectLst/>
                        </a:rPr>
                        <a:t>20/28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3.4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19.6</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38315359"/>
                  </a:ext>
                </a:extLst>
              </a:tr>
              <a:tr h="527509">
                <a:tc>
                  <a:txBody>
                    <a:bodyPr/>
                    <a:lstStyle/>
                    <a:p>
                      <a:pPr marL="0" marR="0">
                        <a:spcBef>
                          <a:spcPts val="0"/>
                        </a:spcBef>
                        <a:spcAft>
                          <a:spcPts val="0"/>
                        </a:spcAft>
                      </a:pPr>
                      <a:r>
                        <a:rPr lang="en-US" sz="2800">
                          <a:effectLst/>
                        </a:rPr>
                        <a:t>28/35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1.3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8.9</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474569682"/>
                  </a:ext>
                </a:extLst>
              </a:tr>
              <a:tr h="527509">
                <a:tc>
                  <a:txBody>
                    <a:bodyPr/>
                    <a:lstStyle/>
                    <a:p>
                      <a:pPr marL="0" marR="0">
                        <a:spcBef>
                          <a:spcPts val="0"/>
                        </a:spcBef>
                        <a:spcAft>
                          <a:spcPts val="0"/>
                        </a:spcAft>
                      </a:pPr>
                      <a:r>
                        <a:rPr lang="en-US" sz="2800">
                          <a:effectLst/>
                        </a:rPr>
                        <a:t>35/48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a:effectLst/>
                        </a:rPr>
                        <a:t>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 0</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ctr">
                        <a:spcBef>
                          <a:spcPts val="0"/>
                        </a:spcBef>
                        <a:spcAft>
                          <a:spcPts val="0"/>
                        </a:spcAft>
                      </a:pPr>
                      <a:r>
                        <a:rPr lang="en-US" sz="2800" dirty="0">
                          <a:effectLst/>
                        </a:rPr>
                        <a:t>4.6</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543984350"/>
                  </a:ext>
                </a:extLst>
              </a:tr>
            </a:tbl>
          </a:graphicData>
        </a:graphic>
      </p:graphicFrame>
    </p:spTree>
    <p:extLst>
      <p:ext uri="{BB962C8B-B14F-4D97-AF65-F5344CB8AC3E}">
        <p14:creationId xmlns:p14="http://schemas.microsoft.com/office/powerpoint/2010/main" val="2445706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816E59-EBE6-103A-68F5-3BD45E689656}"/>
                  </a:ext>
                </a:extLst>
              </p:cNvPr>
              <p:cNvSpPr txBox="1"/>
              <p:nvPr/>
            </p:nvSpPr>
            <p:spPr>
              <a:xfrm>
                <a:off x="990473" y="1406834"/>
                <a:ext cx="6685313" cy="1323439"/>
              </a:xfrm>
              <a:prstGeom prst="rect">
                <a:avLst/>
              </a:prstGeom>
              <a:noFill/>
            </p:spPr>
            <p:txBody>
              <a:bodyPr wrap="square">
                <a:spAutoFit/>
              </a:bodyPr>
              <a:lstStyle/>
              <a:p>
                <a:pPr marL="0" marR="0" algn="just">
                  <a:spcBef>
                    <a:spcPts val="0"/>
                  </a:spcBef>
                  <a:spcAft>
                    <a:spcPts val="0"/>
                  </a:spcAft>
                </a:pPr>
                <a:r>
                  <a:rPr lang="en-US" sz="2000" b="1" dirty="0">
                    <a:effectLst/>
                    <a:latin typeface="Times New Roman" panose="02020603050405020304" pitchFamily="18" charset="0"/>
                    <a:ea typeface="Times New Roman" panose="02020603050405020304" pitchFamily="18" charset="0"/>
                  </a:rPr>
                  <a:t>For 8</a:t>
                </a:r>
                <a:r>
                  <a:rPr lang="en-US" sz="2000" b="1" baseline="30000" dirty="0">
                    <a:effectLst/>
                    <a:latin typeface="Times New Roman" panose="02020603050405020304" pitchFamily="18" charset="0"/>
                    <a:ea typeface="Times New Roman" panose="02020603050405020304" pitchFamily="18" charset="0"/>
                  </a:rPr>
                  <a:t>th</a:t>
                </a:r>
                <a:r>
                  <a:rPr lang="en-US" sz="2000" b="1" dirty="0">
                    <a:effectLst/>
                    <a:latin typeface="Times New Roman" panose="02020603050405020304" pitchFamily="18" charset="0"/>
                    <a:ea typeface="Times New Roman" panose="02020603050405020304" pitchFamily="18" charset="0"/>
                  </a:rPr>
                  <a:t> mesh if Oversize is desired product: </a:t>
                </a:r>
                <a:endParaRPr lang="en-US" sz="20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000" b="1" dirty="0">
                    <a:effectLst/>
                    <a:latin typeface="Times New Roman" panose="02020603050405020304" pitchFamily="18" charset="0"/>
                    <a:ea typeface="Times New Roman" panose="02020603050405020304" pitchFamily="18" charset="0"/>
                  </a:rPr>
                  <a:t>Method 1: Find mass fraction add the mass fraction </a:t>
                </a:r>
                <a:r>
                  <a:rPr lang="en-US" sz="2000" b="1" dirty="0" err="1">
                    <a:effectLst/>
                    <a:latin typeface="Times New Roman" panose="02020603050405020304" pitchFamily="18" charset="0"/>
                    <a:ea typeface="Times New Roman" panose="02020603050405020304" pitchFamily="18" charset="0"/>
                  </a:rPr>
                  <a:t>upto</a:t>
                </a:r>
                <a:r>
                  <a:rPr lang="en-US" sz="2000" b="1" dirty="0">
                    <a:effectLst/>
                    <a:latin typeface="Times New Roman" panose="02020603050405020304" pitchFamily="18" charset="0"/>
                    <a:ea typeface="Times New Roman" panose="02020603050405020304" pitchFamily="18" charset="0"/>
                  </a:rPr>
                  <a:t> 8 mesh to get </a:t>
                </a:r>
                <a14:m>
                  <m:oMath xmlns:m="http://schemas.openxmlformats.org/officeDocument/2006/math">
                    <m:sSub>
                      <m:sSubPr>
                        <m:ctrlPr>
                          <a:rPr lang="en-US" sz="2000" b="1" i="1">
                            <a:effectLst/>
                            <a:latin typeface="Cambria Math" panose="02040503050406030204" pitchFamily="18" charset="0"/>
                            <a:ea typeface="Times New Roman" panose="02020603050405020304" pitchFamily="18" charset="0"/>
                          </a:rPr>
                        </m:ctrlPr>
                      </m:sSubPr>
                      <m:e>
                        <m:r>
                          <a:rPr lang="en-US" sz="2000" b="1" i="1">
                            <a:effectLst/>
                            <a:latin typeface="Cambria Math" panose="02040503050406030204" pitchFamily="18" charset="0"/>
                            <a:ea typeface="Times New Roman" panose="02020603050405020304" pitchFamily="18" charset="0"/>
                          </a:rPr>
                          <m:t>𝒙</m:t>
                        </m:r>
                      </m:e>
                      <m:sub>
                        <m:r>
                          <a:rPr lang="en-US" sz="2000" b="1" i="1">
                            <a:effectLst/>
                            <a:latin typeface="Cambria Math" panose="02040503050406030204" pitchFamily="18" charset="0"/>
                            <a:ea typeface="Times New Roman" panose="02020603050405020304" pitchFamily="18" charset="0"/>
                          </a:rPr>
                          <m:t>𝑨</m:t>
                        </m:r>
                      </m:sub>
                    </m:sSub>
                    <m:sSub>
                      <m:sSubPr>
                        <m:ctrlPr>
                          <a:rPr lang="en-US" sz="2000" b="1" i="1">
                            <a:effectLst/>
                            <a:latin typeface="Cambria Math" panose="02040503050406030204" pitchFamily="18" charset="0"/>
                            <a:ea typeface="Times New Roman" panose="02020603050405020304" pitchFamily="18" charset="0"/>
                          </a:rPr>
                        </m:ctrlPr>
                      </m:sSubPr>
                      <m:e>
                        <m:r>
                          <a:rPr lang="en-US" sz="2000" b="1" i="1">
                            <a:effectLst/>
                            <a:latin typeface="Cambria Math" panose="02040503050406030204" pitchFamily="18" charset="0"/>
                            <a:ea typeface="Times New Roman" panose="02020603050405020304" pitchFamily="18" charset="0"/>
                          </a:rPr>
                          <m:t>    </m:t>
                        </m:r>
                        <m:r>
                          <a:rPr lang="en-US" sz="2000" b="1" i="1">
                            <a:effectLst/>
                            <a:latin typeface="Cambria Math" panose="02040503050406030204" pitchFamily="18" charset="0"/>
                            <a:ea typeface="Times New Roman" panose="02020603050405020304" pitchFamily="18" charset="0"/>
                          </a:rPr>
                          <m:t>𝒙</m:t>
                        </m:r>
                      </m:e>
                      <m:sub>
                        <m:r>
                          <a:rPr lang="en-US" sz="2000" b="1" i="1">
                            <a:effectLst/>
                            <a:latin typeface="Cambria Math" panose="02040503050406030204" pitchFamily="18" charset="0"/>
                            <a:ea typeface="Times New Roman" panose="02020603050405020304" pitchFamily="18" charset="0"/>
                          </a:rPr>
                          <m:t>𝑩</m:t>
                        </m:r>
                      </m:sub>
                    </m:sSub>
                    <m:sSub>
                      <m:sSubPr>
                        <m:ctrlPr>
                          <a:rPr lang="en-US" sz="2000" b="1" i="1">
                            <a:effectLst/>
                            <a:latin typeface="Cambria Math" panose="02040503050406030204" pitchFamily="18" charset="0"/>
                            <a:ea typeface="Times New Roman" panose="02020603050405020304" pitchFamily="18" charset="0"/>
                          </a:rPr>
                        </m:ctrlPr>
                      </m:sSubPr>
                      <m:e>
                        <m:r>
                          <a:rPr lang="en-US" sz="2000" b="1" i="1">
                            <a:effectLst/>
                            <a:latin typeface="Cambria Math" panose="02040503050406030204" pitchFamily="18" charset="0"/>
                            <a:ea typeface="Times New Roman" panose="02020603050405020304" pitchFamily="18" charset="0"/>
                          </a:rPr>
                          <m:t>      </m:t>
                        </m:r>
                        <m:r>
                          <a:rPr lang="en-US" sz="2000" b="1" i="1">
                            <a:effectLst/>
                            <a:latin typeface="Cambria Math" panose="02040503050406030204" pitchFamily="18" charset="0"/>
                            <a:ea typeface="Times New Roman" panose="02020603050405020304" pitchFamily="18" charset="0"/>
                          </a:rPr>
                          <m:t>𝒙</m:t>
                        </m:r>
                      </m:e>
                      <m:sub>
                        <m:r>
                          <a:rPr lang="en-US" sz="2000" b="1" i="1">
                            <a:effectLst/>
                            <a:latin typeface="Cambria Math" panose="02040503050406030204" pitchFamily="18" charset="0"/>
                            <a:ea typeface="Times New Roman" panose="02020603050405020304" pitchFamily="18" charset="0"/>
                          </a:rPr>
                          <m:t>𝒄</m:t>
                        </m:r>
                      </m:sub>
                    </m:sSub>
                  </m:oMath>
                </a14:m>
                <a:endParaRPr lang="en-US" sz="20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000" b="1" dirty="0">
                    <a:effectLst/>
                    <a:latin typeface="Times New Roman" panose="02020603050405020304" pitchFamily="18"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DA816E59-EBE6-103A-68F5-3BD45E689656}"/>
                  </a:ext>
                </a:extLst>
              </p:cNvPr>
              <p:cNvSpPr txBox="1">
                <a:spLocks noRot="1" noChangeAspect="1" noMove="1" noResize="1" noEditPoints="1" noAdjustHandles="1" noChangeArrowheads="1" noChangeShapeType="1" noTextEdit="1"/>
              </p:cNvSpPr>
              <p:nvPr/>
            </p:nvSpPr>
            <p:spPr>
              <a:xfrm>
                <a:off x="990473" y="1406834"/>
                <a:ext cx="6685313" cy="1323439"/>
              </a:xfrm>
              <a:prstGeom prst="rect">
                <a:avLst/>
              </a:prstGeom>
              <a:blipFill>
                <a:blip r:embed="rId3"/>
                <a:stretch>
                  <a:fillRect l="-912" t="-2765" r="-10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3B9457A6-2436-13AA-D5D1-9661436D57DB}"/>
                  </a:ext>
                </a:extLst>
              </p:cNvPr>
              <p:cNvGraphicFramePr>
                <a:graphicFrameLocks noGrp="1"/>
              </p:cNvGraphicFramePr>
              <p:nvPr>
                <p:extLst>
                  <p:ext uri="{D42A27DB-BD31-4B8C-83A1-F6EECF244321}">
                    <p14:modId xmlns:p14="http://schemas.microsoft.com/office/powerpoint/2010/main" val="3873219479"/>
                  </p:ext>
                </p:extLst>
              </p:nvPr>
            </p:nvGraphicFramePr>
            <p:xfrm>
              <a:off x="1031390" y="2414314"/>
              <a:ext cx="6500380" cy="7128793"/>
            </p:xfrm>
            <a:graphic>
              <a:graphicData uri="http://schemas.openxmlformats.org/drawingml/2006/table">
                <a:tbl>
                  <a:tblPr firstRow="1" firstCol="1" bandRow="1">
                    <a:tableStyleId>{5C22544A-7EE6-4342-B048-85BDC9FD1C3A}</a:tableStyleId>
                  </a:tblPr>
                  <a:tblGrid>
                    <a:gridCol w="1058946">
                      <a:extLst>
                        <a:ext uri="{9D8B030D-6E8A-4147-A177-3AD203B41FA5}">
                          <a16:colId xmlns:a16="http://schemas.microsoft.com/office/drawing/2014/main" val="3151384210"/>
                        </a:ext>
                      </a:extLst>
                    </a:gridCol>
                    <a:gridCol w="1607170">
                      <a:extLst>
                        <a:ext uri="{9D8B030D-6E8A-4147-A177-3AD203B41FA5}">
                          <a16:colId xmlns:a16="http://schemas.microsoft.com/office/drawing/2014/main" val="2458230589"/>
                        </a:ext>
                      </a:extLst>
                    </a:gridCol>
                    <a:gridCol w="1398690">
                      <a:extLst>
                        <a:ext uri="{9D8B030D-6E8A-4147-A177-3AD203B41FA5}">
                          <a16:colId xmlns:a16="http://schemas.microsoft.com/office/drawing/2014/main" val="1511507601"/>
                        </a:ext>
                      </a:extLst>
                    </a:gridCol>
                    <a:gridCol w="1427462">
                      <a:extLst>
                        <a:ext uri="{9D8B030D-6E8A-4147-A177-3AD203B41FA5}">
                          <a16:colId xmlns:a16="http://schemas.microsoft.com/office/drawing/2014/main" val="2663412508"/>
                        </a:ext>
                      </a:extLst>
                    </a:gridCol>
                    <a:gridCol w="1008112">
                      <a:extLst>
                        <a:ext uri="{9D8B030D-6E8A-4147-A177-3AD203B41FA5}">
                          <a16:colId xmlns:a16="http://schemas.microsoft.com/office/drawing/2014/main" val="2208625110"/>
                        </a:ext>
                      </a:extLst>
                    </a:gridCol>
                  </a:tblGrid>
                  <a:tr h="548768">
                    <a:tc>
                      <a:txBody>
                        <a:bodyPr/>
                        <a:lstStyle/>
                        <a:p>
                          <a:pPr marL="0" marR="0" algn="ctr">
                            <a:spcBef>
                              <a:spcPts val="0"/>
                            </a:spcBef>
                            <a:spcAft>
                              <a:spcPts val="0"/>
                            </a:spcAft>
                          </a:pPr>
                          <a:r>
                            <a:rPr lang="en-US" sz="2200" dirty="0">
                              <a:effectLst/>
                            </a:rPr>
                            <a:t> </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gridSpan="4">
                      <a:txBody>
                        <a:bodyPr/>
                        <a:lstStyle/>
                        <a:p>
                          <a:pPr marL="0" marR="0" algn="ctr">
                            <a:spcBef>
                              <a:spcPts val="0"/>
                            </a:spcBef>
                            <a:spcAft>
                              <a:spcPts val="0"/>
                            </a:spcAft>
                          </a:pPr>
                          <a:r>
                            <a:rPr lang="en-US" sz="2200">
                              <a:effectLst/>
                            </a:rPr>
                            <a:t>Mass Fraction</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330595"/>
                      </a:ext>
                    </a:extLst>
                  </a:tr>
                  <a:tr h="1006074">
                    <a:tc>
                      <a:txBody>
                        <a:bodyPr/>
                        <a:lstStyle/>
                        <a:p>
                          <a:pPr marL="0" marR="0" algn="ctr">
                            <a:spcBef>
                              <a:spcPts val="0"/>
                            </a:spcBef>
                            <a:spcAft>
                              <a:spcPts val="0"/>
                            </a:spcAft>
                          </a:pPr>
                          <a:r>
                            <a:rPr lang="en-US" sz="2200">
                              <a:effectLst/>
                            </a:rPr>
                            <a:t>Screen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effectLst/>
                            </a:rPr>
                            <a:t>Feed</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Oversize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Intermediate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Undersize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686513270"/>
                      </a:ext>
                    </a:extLst>
                  </a:tr>
                  <a:tr h="548768">
                    <a:tc>
                      <a:txBody>
                        <a:bodyPr/>
                        <a:lstStyle/>
                        <a:p>
                          <a:pPr marL="0" marR="0" algn="ctr">
                            <a:spcBef>
                              <a:spcPts val="0"/>
                            </a:spcBef>
                            <a:spcAft>
                              <a:spcPts val="0"/>
                            </a:spcAft>
                          </a:pPr>
                          <a:r>
                            <a:rPr lang="en-US" sz="2200">
                              <a:effectLst/>
                            </a:rPr>
                            <a:t>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0.035</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0.14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solidFill>
                                <a:srgbClr val="FF0000"/>
                              </a:solidFill>
                              <a:effectLst/>
                              <a:highlight>
                                <a:srgbClr val="FFFF00"/>
                              </a:highlight>
                            </a:rPr>
                            <a:t>0</a:t>
                          </a:r>
                          <a:endParaRPr lang="en-US" sz="22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solidFill>
                                <a:srgbClr val="FF0000"/>
                              </a:solidFill>
                              <a:effectLst/>
                              <a:highlight>
                                <a:srgbClr val="FFFF00"/>
                              </a:highlight>
                            </a:rPr>
                            <a:t>0</a:t>
                          </a:r>
                          <a:endParaRPr lang="en-US" sz="22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720283445"/>
                      </a:ext>
                    </a:extLst>
                  </a:tr>
                  <a:tr h="548768">
                    <a:tc>
                      <a:txBody>
                        <a:bodyPr/>
                        <a:lstStyle/>
                        <a:p>
                          <a:pPr marL="0" marR="0" algn="ctr">
                            <a:spcBef>
                              <a:spcPts val="0"/>
                            </a:spcBef>
                            <a:spcAft>
                              <a:spcPts val="0"/>
                            </a:spcAft>
                          </a:pPr>
                          <a:r>
                            <a:rPr lang="en-US" sz="2200">
                              <a:effectLst/>
                            </a:rPr>
                            <a:t>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0.15</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0.5</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0.042</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solidFill>
                                <a:srgbClr val="FF0000"/>
                              </a:solidFill>
                              <a:effectLst/>
                              <a:highlight>
                                <a:srgbClr val="FFFF00"/>
                              </a:highlight>
                            </a:rPr>
                            <a:t>0</a:t>
                          </a:r>
                          <a:endParaRPr lang="en-US" sz="22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1470498614"/>
                      </a:ext>
                    </a:extLst>
                  </a:tr>
                  <a:tr h="548768">
                    <a:tc>
                      <a:txBody>
                        <a:bodyPr/>
                        <a:lstStyle/>
                        <a:p>
                          <a:pPr marL="0" marR="0" algn="ctr">
                            <a:spcBef>
                              <a:spcPts val="0"/>
                            </a:spcBef>
                            <a:spcAft>
                              <a:spcPts val="0"/>
                            </a:spcAft>
                          </a:pPr>
                          <a:r>
                            <a:rPr lang="en-US" sz="2200">
                              <a:effectLst/>
                            </a:rPr>
                            <a:t>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0.275</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0.24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0.358</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1834512789"/>
                      </a:ext>
                    </a:extLst>
                  </a:tr>
                  <a:tr h="548768">
                    <a:tc>
                      <a:txBody>
                        <a:bodyPr/>
                        <a:lstStyle/>
                        <a:p>
                          <a:pPr marL="0" marR="0" algn="ctr">
                            <a:spcBef>
                              <a:spcPts val="0"/>
                            </a:spcBef>
                            <a:spcAft>
                              <a:spcPts val="0"/>
                            </a:spcAft>
                          </a:pPr>
                          <a:r>
                            <a:rPr lang="en-US" sz="2200">
                              <a:effectLst/>
                            </a:rPr>
                            <a:t>10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0.235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effectLst/>
                            </a:rPr>
                            <a:t>0.08</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0.308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effectLst/>
                            </a:rPr>
                            <a:t>0.2</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2216706663"/>
                      </a:ext>
                    </a:extLst>
                  </a:tr>
                  <a:tr h="548768">
                    <a:tc>
                      <a:txBody>
                        <a:bodyPr/>
                        <a:lstStyle/>
                        <a:p>
                          <a:pPr marL="0" marR="0" algn="ctr">
                            <a:spcBef>
                              <a:spcPts val="0"/>
                            </a:spcBef>
                            <a:spcAft>
                              <a:spcPts val="0"/>
                            </a:spcAft>
                          </a:pPr>
                          <a:r>
                            <a:rPr lang="en-US" sz="2200">
                              <a:effectLst/>
                            </a:rPr>
                            <a:t>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0.16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0.183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0.267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3111741234"/>
                      </a:ext>
                    </a:extLst>
                  </a:tr>
                  <a:tr h="548768">
                    <a:tc>
                      <a:txBody>
                        <a:bodyPr/>
                        <a:lstStyle/>
                        <a:p>
                          <a:pPr marL="0" marR="0" algn="ctr">
                            <a:spcBef>
                              <a:spcPts val="0"/>
                            </a:spcBef>
                            <a:spcAft>
                              <a:spcPts val="0"/>
                            </a:spcAft>
                          </a:pPr>
                          <a:r>
                            <a:rPr lang="en-US" sz="2200">
                              <a:effectLst/>
                            </a:rPr>
                            <a:t>20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0.091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0.102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0.202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4183248591"/>
                      </a:ext>
                    </a:extLst>
                  </a:tr>
                  <a:tr h="548768">
                    <a:tc>
                      <a:txBody>
                        <a:bodyPr/>
                        <a:lstStyle/>
                        <a:p>
                          <a:pPr marL="0" marR="0" algn="ctr">
                            <a:spcBef>
                              <a:spcPts val="0"/>
                            </a:spcBef>
                            <a:spcAft>
                              <a:spcPts val="0"/>
                            </a:spcAft>
                          </a:pPr>
                          <a:r>
                            <a:rPr lang="en-US" sz="2200">
                              <a:effectLst/>
                            </a:rPr>
                            <a:t>28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0.034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0.007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0.196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2763255821"/>
                      </a:ext>
                    </a:extLst>
                  </a:tr>
                  <a:tr h="548768">
                    <a:tc>
                      <a:txBody>
                        <a:bodyPr/>
                        <a:lstStyle/>
                        <a:p>
                          <a:pPr marL="0" marR="0" algn="ctr">
                            <a:spcBef>
                              <a:spcPts val="0"/>
                            </a:spcBef>
                            <a:spcAft>
                              <a:spcPts val="0"/>
                            </a:spcAft>
                          </a:pPr>
                          <a:r>
                            <a:rPr lang="en-US" sz="2200">
                              <a:effectLst/>
                            </a:rPr>
                            <a:t>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0.013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0.089</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2757957402"/>
                      </a:ext>
                    </a:extLst>
                  </a:tr>
                  <a:tr h="548768">
                    <a:tc>
                      <a:txBody>
                        <a:bodyPr/>
                        <a:lstStyle/>
                        <a:p>
                          <a:pPr marL="0" marR="0" algn="ctr">
                            <a:spcBef>
                              <a:spcPts val="0"/>
                            </a:spcBef>
                            <a:spcAft>
                              <a:spcPts val="0"/>
                            </a:spcAft>
                          </a:pPr>
                          <a:r>
                            <a:rPr lang="en-US" sz="2200">
                              <a:effectLst/>
                            </a:rPr>
                            <a:t>48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0.007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0.046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1513219140"/>
                      </a:ext>
                    </a:extLst>
                  </a:tr>
                  <a:tr h="635039">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14:m>
                            <m:oMath xmlns:m="http://schemas.openxmlformats.org/officeDocument/2006/math">
                              <m:sSub>
                                <m:sSubPr>
                                  <m:ctrlPr>
                                    <a:rPr lang="en-US" sz="2200" i="1" smtClean="0">
                                      <a:solidFill>
                                        <a:srgbClr val="FF0000"/>
                                      </a:solidFill>
                                      <a:effectLst/>
                                      <a:highlight>
                                        <a:srgbClr val="FFFF00"/>
                                      </a:highlight>
                                      <a:latin typeface="Cambria Math" panose="02040503050406030204" pitchFamily="18" charset="0"/>
                                    </a:rPr>
                                  </m:ctrlPr>
                                </m:sSubPr>
                                <m:e>
                                  <m:r>
                                    <a:rPr lang="en-US" sz="2200">
                                      <a:solidFill>
                                        <a:srgbClr val="FF0000"/>
                                      </a:solidFill>
                                      <a:effectLst/>
                                      <a:highlight>
                                        <a:srgbClr val="FFFF00"/>
                                      </a:highlight>
                                      <a:latin typeface="Cambria Math" panose="02040503050406030204" pitchFamily="18" charset="0"/>
                                    </a:rPr>
                                    <m:t>𝑥</m:t>
                                  </m:r>
                                </m:e>
                                <m:sub>
                                  <m:r>
                                    <a:rPr lang="en-US" sz="2200">
                                      <a:solidFill>
                                        <a:srgbClr val="FF0000"/>
                                      </a:solidFill>
                                      <a:effectLst/>
                                      <a:highlight>
                                        <a:srgbClr val="FFFF00"/>
                                      </a:highlight>
                                      <a:latin typeface="Cambria Math" panose="02040503050406030204" pitchFamily="18" charset="0"/>
                                    </a:rPr>
                                    <m:t>𝐴</m:t>
                                  </m:r>
                                  <m:r>
                                    <a:rPr lang="en-US" sz="2200">
                                      <a:solidFill>
                                        <a:srgbClr val="FF0000"/>
                                      </a:solidFill>
                                      <a:effectLst/>
                                      <a:highlight>
                                        <a:srgbClr val="FFFF00"/>
                                      </a:highlight>
                                      <a:latin typeface="Cambria Math" panose="02040503050406030204" pitchFamily="18" charset="0"/>
                                    </a:rPr>
                                    <m:t> </m:t>
                                  </m:r>
                                </m:sub>
                              </m:sSub>
                              <m:r>
                                <a:rPr lang="en-US" sz="2200">
                                  <a:solidFill>
                                    <a:srgbClr val="FF0000"/>
                                  </a:solidFill>
                                  <a:effectLst/>
                                  <a:highlight>
                                    <a:srgbClr val="FFFF00"/>
                                  </a:highlight>
                                  <a:latin typeface="Cambria Math" panose="02040503050406030204" pitchFamily="18" charset="0"/>
                                </a:rPr>
                                <m:t>= </m:t>
                              </m:r>
                            </m:oMath>
                          </a14:m>
                          <a:r>
                            <a:rPr lang="en-US" sz="2200" dirty="0">
                              <a:solidFill>
                                <a:srgbClr val="FF0000"/>
                              </a:solidFill>
                              <a:effectLst/>
                              <a:highlight>
                                <a:srgbClr val="FFFF00"/>
                              </a:highlight>
                            </a:rPr>
                            <a:t>0.46</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14:m>
                            <m:oMath xmlns:m="http://schemas.openxmlformats.org/officeDocument/2006/math">
                              <m:sSub>
                                <m:sSubPr>
                                  <m:ctrlPr>
                                    <a:rPr lang="en-US" sz="2200" i="1" smtClean="0">
                                      <a:solidFill>
                                        <a:srgbClr val="FF0000"/>
                                      </a:solidFill>
                                      <a:effectLst/>
                                      <a:highlight>
                                        <a:srgbClr val="FFFF00"/>
                                      </a:highlight>
                                      <a:latin typeface="Cambria Math" panose="02040503050406030204" pitchFamily="18" charset="0"/>
                                    </a:rPr>
                                  </m:ctrlPr>
                                </m:sSubPr>
                                <m:e>
                                  <m:r>
                                    <a:rPr lang="en-US" sz="2200">
                                      <a:solidFill>
                                        <a:srgbClr val="FF0000"/>
                                      </a:solidFill>
                                      <a:effectLst/>
                                      <a:highlight>
                                        <a:srgbClr val="FFFF00"/>
                                      </a:highlight>
                                      <a:latin typeface="Cambria Math" panose="02040503050406030204" pitchFamily="18" charset="0"/>
                                    </a:rPr>
                                    <m:t>𝑥</m:t>
                                  </m:r>
                                </m:e>
                                <m:sub>
                                  <m:r>
                                    <a:rPr lang="en-US" sz="2200">
                                      <a:solidFill>
                                        <a:srgbClr val="FF0000"/>
                                      </a:solidFill>
                                      <a:effectLst/>
                                      <a:highlight>
                                        <a:srgbClr val="FFFF00"/>
                                      </a:highlight>
                                      <a:latin typeface="Cambria Math" panose="02040503050406030204" pitchFamily="18" charset="0"/>
                                    </a:rPr>
                                    <m:t>𝐵</m:t>
                                  </m:r>
                                  <m:r>
                                    <a:rPr lang="en-US" sz="2200">
                                      <a:solidFill>
                                        <a:srgbClr val="FF0000"/>
                                      </a:solidFill>
                                      <a:effectLst/>
                                      <a:highlight>
                                        <a:srgbClr val="FFFF00"/>
                                      </a:highlight>
                                      <a:latin typeface="Cambria Math" panose="02040503050406030204" pitchFamily="18" charset="0"/>
                                    </a:rPr>
                                    <m:t> </m:t>
                                  </m:r>
                                </m:sub>
                              </m:sSub>
                              <m:r>
                                <a:rPr lang="en-US" sz="2200">
                                  <a:solidFill>
                                    <a:srgbClr val="FF0000"/>
                                  </a:solidFill>
                                  <a:effectLst/>
                                  <a:highlight>
                                    <a:srgbClr val="FFFF00"/>
                                  </a:highlight>
                                  <a:latin typeface="Cambria Math" panose="02040503050406030204" pitchFamily="18" charset="0"/>
                                </a:rPr>
                                <m:t>= </m:t>
                              </m:r>
                            </m:oMath>
                          </a14:m>
                          <a:r>
                            <a:rPr lang="en-US" sz="2200" dirty="0">
                              <a:solidFill>
                                <a:srgbClr val="FF0000"/>
                              </a:solidFill>
                              <a:effectLst/>
                              <a:highlight>
                                <a:srgbClr val="FFFF00"/>
                              </a:highlight>
                            </a:rPr>
                            <a:t>0.46</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14:m>
                            <m:oMath xmlns:m="http://schemas.openxmlformats.org/officeDocument/2006/math">
                              <m:sSub>
                                <m:sSubPr>
                                  <m:ctrlPr>
                                    <a:rPr lang="en-US" sz="2200" i="1" smtClean="0">
                                      <a:solidFill>
                                        <a:srgbClr val="FF0000"/>
                                      </a:solidFill>
                                      <a:effectLst/>
                                      <a:highlight>
                                        <a:srgbClr val="FFFF00"/>
                                      </a:highlight>
                                      <a:latin typeface="Cambria Math" panose="02040503050406030204" pitchFamily="18" charset="0"/>
                                    </a:rPr>
                                  </m:ctrlPr>
                                </m:sSubPr>
                                <m:e>
                                  <m:r>
                                    <a:rPr lang="en-US" sz="2200">
                                      <a:solidFill>
                                        <a:srgbClr val="FF0000"/>
                                      </a:solidFill>
                                      <a:effectLst/>
                                      <a:highlight>
                                        <a:srgbClr val="FFFF00"/>
                                      </a:highlight>
                                      <a:latin typeface="Cambria Math" panose="02040503050406030204" pitchFamily="18" charset="0"/>
                                    </a:rPr>
                                    <m:t>𝑥</m:t>
                                  </m:r>
                                </m:e>
                                <m:sub>
                                  <m:r>
                                    <a:rPr lang="en-US" sz="2200">
                                      <a:solidFill>
                                        <a:srgbClr val="FF0000"/>
                                      </a:solidFill>
                                      <a:effectLst/>
                                      <a:highlight>
                                        <a:srgbClr val="FFFF00"/>
                                      </a:highlight>
                                      <a:latin typeface="Cambria Math" panose="02040503050406030204" pitchFamily="18" charset="0"/>
                                    </a:rPr>
                                    <m:t>𝑐</m:t>
                                  </m:r>
                                  <m:r>
                                    <a:rPr lang="en-US" sz="2200">
                                      <a:solidFill>
                                        <a:srgbClr val="FF0000"/>
                                      </a:solidFill>
                                      <a:effectLst/>
                                      <a:highlight>
                                        <a:srgbClr val="FFFF00"/>
                                      </a:highlight>
                                      <a:latin typeface="Cambria Math" panose="02040503050406030204" pitchFamily="18" charset="0"/>
                                    </a:rPr>
                                    <m:t> </m:t>
                                  </m:r>
                                </m:sub>
                              </m:sSub>
                              <m:r>
                                <a:rPr lang="en-US" sz="2200">
                                  <a:solidFill>
                                    <a:srgbClr val="FF0000"/>
                                  </a:solidFill>
                                  <a:effectLst/>
                                  <a:highlight>
                                    <a:srgbClr val="FFFF00"/>
                                  </a:highlight>
                                  <a:latin typeface="Cambria Math" panose="02040503050406030204" pitchFamily="18" charset="0"/>
                                </a:rPr>
                                <m:t>= </m:t>
                              </m:r>
                            </m:oMath>
                          </a14:m>
                          <a:r>
                            <a:rPr lang="en-US" sz="2200" dirty="0">
                              <a:solidFill>
                                <a:srgbClr val="FF0000"/>
                              </a:solidFill>
                              <a:effectLst/>
                              <a:highlight>
                                <a:srgbClr val="FFFF00"/>
                              </a:highlight>
                            </a:rPr>
                            <a:t>0.46</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797955120"/>
                      </a:ext>
                    </a:extLst>
                  </a:tr>
                </a:tbl>
              </a:graphicData>
            </a:graphic>
          </p:graphicFrame>
        </mc:Choice>
        <mc:Fallback xmlns="">
          <p:graphicFrame>
            <p:nvGraphicFramePr>
              <p:cNvPr id="10" name="Table 9">
                <a:extLst>
                  <a:ext uri="{FF2B5EF4-FFF2-40B4-BE49-F238E27FC236}">
                    <a16:creationId xmlns:a16="http://schemas.microsoft.com/office/drawing/2014/main" id="{3B9457A6-2436-13AA-D5D1-9661436D57DB}"/>
                  </a:ext>
                </a:extLst>
              </p:cNvPr>
              <p:cNvGraphicFramePr>
                <a:graphicFrameLocks noGrp="1"/>
              </p:cNvGraphicFramePr>
              <p:nvPr>
                <p:extLst>
                  <p:ext uri="{D42A27DB-BD31-4B8C-83A1-F6EECF244321}">
                    <p14:modId xmlns:p14="http://schemas.microsoft.com/office/powerpoint/2010/main" val="3873219479"/>
                  </p:ext>
                </p:extLst>
              </p:nvPr>
            </p:nvGraphicFramePr>
            <p:xfrm>
              <a:off x="1031390" y="2414314"/>
              <a:ext cx="6500380" cy="7128793"/>
            </p:xfrm>
            <a:graphic>
              <a:graphicData uri="http://schemas.openxmlformats.org/drawingml/2006/table">
                <a:tbl>
                  <a:tblPr firstRow="1" firstCol="1" bandRow="1">
                    <a:tableStyleId>{5C22544A-7EE6-4342-B048-85BDC9FD1C3A}</a:tableStyleId>
                  </a:tblPr>
                  <a:tblGrid>
                    <a:gridCol w="1058946">
                      <a:extLst>
                        <a:ext uri="{9D8B030D-6E8A-4147-A177-3AD203B41FA5}">
                          <a16:colId xmlns:a16="http://schemas.microsoft.com/office/drawing/2014/main" val="3151384210"/>
                        </a:ext>
                      </a:extLst>
                    </a:gridCol>
                    <a:gridCol w="1607170">
                      <a:extLst>
                        <a:ext uri="{9D8B030D-6E8A-4147-A177-3AD203B41FA5}">
                          <a16:colId xmlns:a16="http://schemas.microsoft.com/office/drawing/2014/main" val="2458230589"/>
                        </a:ext>
                      </a:extLst>
                    </a:gridCol>
                    <a:gridCol w="1398690">
                      <a:extLst>
                        <a:ext uri="{9D8B030D-6E8A-4147-A177-3AD203B41FA5}">
                          <a16:colId xmlns:a16="http://schemas.microsoft.com/office/drawing/2014/main" val="1511507601"/>
                        </a:ext>
                      </a:extLst>
                    </a:gridCol>
                    <a:gridCol w="1427462">
                      <a:extLst>
                        <a:ext uri="{9D8B030D-6E8A-4147-A177-3AD203B41FA5}">
                          <a16:colId xmlns:a16="http://schemas.microsoft.com/office/drawing/2014/main" val="2663412508"/>
                        </a:ext>
                      </a:extLst>
                    </a:gridCol>
                    <a:gridCol w="1008112">
                      <a:extLst>
                        <a:ext uri="{9D8B030D-6E8A-4147-A177-3AD203B41FA5}">
                          <a16:colId xmlns:a16="http://schemas.microsoft.com/office/drawing/2014/main" val="2208625110"/>
                        </a:ext>
                      </a:extLst>
                    </a:gridCol>
                  </a:tblGrid>
                  <a:tr h="548768">
                    <a:tc>
                      <a:txBody>
                        <a:bodyPr/>
                        <a:lstStyle/>
                        <a:p>
                          <a:pPr marL="0" marR="0" algn="ctr">
                            <a:spcBef>
                              <a:spcPts val="0"/>
                            </a:spcBef>
                            <a:spcAft>
                              <a:spcPts val="0"/>
                            </a:spcAft>
                          </a:pPr>
                          <a:r>
                            <a:rPr lang="en-US" sz="2200" dirty="0">
                              <a:effectLst/>
                            </a:rPr>
                            <a:t> </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gridSpan="4">
                      <a:txBody>
                        <a:bodyPr/>
                        <a:lstStyle/>
                        <a:p>
                          <a:pPr marL="0" marR="0" algn="ctr">
                            <a:spcBef>
                              <a:spcPts val="0"/>
                            </a:spcBef>
                            <a:spcAft>
                              <a:spcPts val="0"/>
                            </a:spcAft>
                          </a:pPr>
                          <a:r>
                            <a:rPr lang="en-US" sz="2200">
                              <a:effectLst/>
                            </a:rPr>
                            <a:t>Mass Fraction</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330595"/>
                      </a:ext>
                    </a:extLst>
                  </a:tr>
                  <a:tr h="1006074">
                    <a:tc>
                      <a:txBody>
                        <a:bodyPr/>
                        <a:lstStyle/>
                        <a:p>
                          <a:pPr marL="0" marR="0" algn="ctr">
                            <a:spcBef>
                              <a:spcPts val="0"/>
                            </a:spcBef>
                            <a:spcAft>
                              <a:spcPts val="0"/>
                            </a:spcAft>
                          </a:pPr>
                          <a:r>
                            <a:rPr lang="en-US" sz="2200">
                              <a:effectLst/>
                            </a:rPr>
                            <a:t>Screen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effectLst/>
                            </a:rPr>
                            <a:t>Feed</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Oversize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Intermediate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Undersize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686513270"/>
                      </a:ext>
                    </a:extLst>
                  </a:tr>
                  <a:tr h="548768">
                    <a:tc>
                      <a:txBody>
                        <a:bodyPr/>
                        <a:lstStyle/>
                        <a:p>
                          <a:pPr marL="0" marR="0" algn="ctr">
                            <a:spcBef>
                              <a:spcPts val="0"/>
                            </a:spcBef>
                            <a:spcAft>
                              <a:spcPts val="0"/>
                            </a:spcAft>
                          </a:pPr>
                          <a:r>
                            <a:rPr lang="en-US" sz="2200">
                              <a:effectLst/>
                            </a:rPr>
                            <a:t>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0.035</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0.14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solidFill>
                                <a:srgbClr val="FF0000"/>
                              </a:solidFill>
                              <a:effectLst/>
                              <a:highlight>
                                <a:srgbClr val="FFFF00"/>
                              </a:highlight>
                            </a:rPr>
                            <a:t>0</a:t>
                          </a:r>
                          <a:endParaRPr lang="en-US" sz="22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solidFill>
                                <a:srgbClr val="FF0000"/>
                              </a:solidFill>
                              <a:effectLst/>
                              <a:highlight>
                                <a:srgbClr val="FFFF00"/>
                              </a:highlight>
                            </a:rPr>
                            <a:t>0</a:t>
                          </a:r>
                          <a:endParaRPr lang="en-US" sz="22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720283445"/>
                      </a:ext>
                    </a:extLst>
                  </a:tr>
                  <a:tr h="548768">
                    <a:tc>
                      <a:txBody>
                        <a:bodyPr/>
                        <a:lstStyle/>
                        <a:p>
                          <a:pPr marL="0" marR="0" algn="ctr">
                            <a:spcBef>
                              <a:spcPts val="0"/>
                            </a:spcBef>
                            <a:spcAft>
                              <a:spcPts val="0"/>
                            </a:spcAft>
                          </a:pPr>
                          <a:r>
                            <a:rPr lang="en-US" sz="2200">
                              <a:effectLst/>
                            </a:rPr>
                            <a:t>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0.15</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0.5</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0.042</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solidFill>
                                <a:srgbClr val="FF0000"/>
                              </a:solidFill>
                              <a:effectLst/>
                              <a:highlight>
                                <a:srgbClr val="FFFF00"/>
                              </a:highlight>
                            </a:rPr>
                            <a:t>0</a:t>
                          </a:r>
                          <a:endParaRPr lang="en-US" sz="22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1470498614"/>
                      </a:ext>
                    </a:extLst>
                  </a:tr>
                  <a:tr h="548768">
                    <a:tc>
                      <a:txBody>
                        <a:bodyPr/>
                        <a:lstStyle/>
                        <a:p>
                          <a:pPr marL="0" marR="0" algn="ctr">
                            <a:spcBef>
                              <a:spcPts val="0"/>
                            </a:spcBef>
                            <a:spcAft>
                              <a:spcPts val="0"/>
                            </a:spcAft>
                          </a:pPr>
                          <a:r>
                            <a:rPr lang="en-US" sz="2200">
                              <a:effectLst/>
                            </a:rPr>
                            <a:t>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0.275</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0.24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0.358</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1834512789"/>
                      </a:ext>
                    </a:extLst>
                  </a:tr>
                  <a:tr h="548768">
                    <a:tc>
                      <a:txBody>
                        <a:bodyPr/>
                        <a:lstStyle/>
                        <a:p>
                          <a:pPr marL="0" marR="0" algn="ctr">
                            <a:spcBef>
                              <a:spcPts val="0"/>
                            </a:spcBef>
                            <a:spcAft>
                              <a:spcPts val="0"/>
                            </a:spcAft>
                          </a:pPr>
                          <a:r>
                            <a:rPr lang="en-US" sz="2200">
                              <a:effectLst/>
                            </a:rPr>
                            <a:t>10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0.235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effectLst/>
                            </a:rPr>
                            <a:t>0.08</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0.308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dirty="0">
                              <a:effectLst/>
                            </a:rPr>
                            <a:t>0.2</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2216706663"/>
                      </a:ext>
                    </a:extLst>
                  </a:tr>
                  <a:tr h="548768">
                    <a:tc>
                      <a:txBody>
                        <a:bodyPr/>
                        <a:lstStyle/>
                        <a:p>
                          <a:pPr marL="0" marR="0" algn="ctr">
                            <a:spcBef>
                              <a:spcPts val="0"/>
                            </a:spcBef>
                            <a:spcAft>
                              <a:spcPts val="0"/>
                            </a:spcAft>
                          </a:pPr>
                          <a:r>
                            <a:rPr lang="en-US" sz="2200">
                              <a:effectLst/>
                            </a:rPr>
                            <a:t>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0.16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0.183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0.267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3111741234"/>
                      </a:ext>
                    </a:extLst>
                  </a:tr>
                  <a:tr h="548768">
                    <a:tc>
                      <a:txBody>
                        <a:bodyPr/>
                        <a:lstStyle/>
                        <a:p>
                          <a:pPr marL="0" marR="0" algn="ctr">
                            <a:spcBef>
                              <a:spcPts val="0"/>
                            </a:spcBef>
                            <a:spcAft>
                              <a:spcPts val="0"/>
                            </a:spcAft>
                          </a:pPr>
                          <a:r>
                            <a:rPr lang="en-US" sz="2200">
                              <a:effectLst/>
                            </a:rPr>
                            <a:t>20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0.091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0.102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0.202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4183248591"/>
                      </a:ext>
                    </a:extLst>
                  </a:tr>
                  <a:tr h="548768">
                    <a:tc>
                      <a:txBody>
                        <a:bodyPr/>
                        <a:lstStyle/>
                        <a:p>
                          <a:pPr marL="0" marR="0" algn="ctr">
                            <a:spcBef>
                              <a:spcPts val="0"/>
                            </a:spcBef>
                            <a:spcAft>
                              <a:spcPts val="0"/>
                            </a:spcAft>
                          </a:pPr>
                          <a:r>
                            <a:rPr lang="en-US" sz="2200">
                              <a:effectLst/>
                            </a:rPr>
                            <a:t>28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0.034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0.007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0.196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2763255821"/>
                      </a:ext>
                    </a:extLst>
                  </a:tr>
                  <a:tr h="548768">
                    <a:tc>
                      <a:txBody>
                        <a:bodyPr/>
                        <a:lstStyle/>
                        <a:p>
                          <a:pPr marL="0" marR="0" algn="ctr">
                            <a:spcBef>
                              <a:spcPts val="0"/>
                            </a:spcBef>
                            <a:spcAft>
                              <a:spcPts val="0"/>
                            </a:spcAft>
                          </a:pPr>
                          <a:r>
                            <a:rPr lang="en-US" sz="2200">
                              <a:effectLst/>
                            </a:rPr>
                            <a:t>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0.013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0.089</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2757957402"/>
                      </a:ext>
                    </a:extLst>
                  </a:tr>
                  <a:tr h="548768">
                    <a:tc>
                      <a:txBody>
                        <a:bodyPr/>
                        <a:lstStyle/>
                        <a:p>
                          <a:pPr marL="0" marR="0" algn="ctr">
                            <a:spcBef>
                              <a:spcPts val="0"/>
                            </a:spcBef>
                            <a:spcAft>
                              <a:spcPts val="0"/>
                            </a:spcAft>
                          </a:pPr>
                          <a:r>
                            <a:rPr lang="en-US" sz="2200">
                              <a:effectLst/>
                            </a:rPr>
                            <a:t>48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0.007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pPr marL="0" marR="0" algn="ctr">
                            <a:spcBef>
                              <a:spcPts val="0"/>
                            </a:spcBef>
                            <a:spcAft>
                              <a:spcPts val="0"/>
                            </a:spcAft>
                          </a:pPr>
                          <a:r>
                            <a:rPr lang="en-US" sz="2200">
                              <a:effectLst/>
                            </a:rPr>
                            <a:t>0.046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1513219140"/>
                      </a:ext>
                    </a:extLst>
                  </a:tr>
                  <a:tr h="635039">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tc>
                      <a:txBody>
                        <a:bodyPr/>
                        <a:lstStyle/>
                        <a:p>
                          <a:endParaRPr lang="en-US"/>
                        </a:p>
                      </a:txBody>
                      <a:tcPr marL="62430" marR="62430" marT="0" marB="0" anchor="b">
                        <a:blipFill>
                          <a:blip r:embed="rId4"/>
                          <a:stretch>
                            <a:fillRect l="-66288" t="-1025962" r="-239773" b="-25962"/>
                          </a:stretch>
                        </a:blipFill>
                      </a:tcPr>
                    </a:tc>
                    <a:tc>
                      <a:txBody>
                        <a:bodyPr/>
                        <a:lstStyle/>
                        <a:p>
                          <a:endParaRPr lang="en-US"/>
                        </a:p>
                      </a:txBody>
                      <a:tcPr marL="62430" marR="62430" marT="0" marB="0" anchor="b">
                        <a:blipFill>
                          <a:blip r:embed="rId4"/>
                          <a:stretch>
                            <a:fillRect l="-191703" t="-1025962" r="-176419" b="-25962"/>
                          </a:stretch>
                        </a:blipFill>
                      </a:tcPr>
                    </a:tc>
                    <a:tc>
                      <a:txBody>
                        <a:bodyPr/>
                        <a:lstStyle/>
                        <a:p>
                          <a:endParaRPr lang="en-US"/>
                        </a:p>
                      </a:txBody>
                      <a:tcPr marL="62430" marR="62430" marT="0" marB="0" anchor="b">
                        <a:blipFill>
                          <a:blip r:embed="rId4"/>
                          <a:stretch>
                            <a:fillRect l="-284255" t="-1025962" r="-71915" b="-25962"/>
                          </a:stretch>
                        </a:blipFill>
                      </a:tcPr>
                    </a:tc>
                    <a:tc>
                      <a:txBody>
                        <a:bodyPr/>
                        <a:lstStyle/>
                        <a:p>
                          <a:pPr marL="0" marR="0" algn="ct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2430" marR="62430" marT="0" marB="0" anchor="b"/>
                    </a:tc>
                    <a:extLst>
                      <a:ext uri="{0D108BD9-81ED-4DB2-BD59-A6C34878D82A}">
                        <a16:rowId xmlns:a16="http://schemas.microsoft.com/office/drawing/2014/main" val="797955120"/>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7F265DC-A7EF-6126-5A42-D0B0741BF39C}"/>
                  </a:ext>
                </a:extLst>
              </p:cNvPr>
              <p:cNvSpPr txBox="1"/>
              <p:nvPr/>
            </p:nvSpPr>
            <p:spPr>
              <a:xfrm>
                <a:off x="10277082" y="1454152"/>
                <a:ext cx="10050516" cy="369332"/>
              </a:xfrm>
              <a:prstGeom prst="rect">
                <a:avLst/>
              </a:prstGeom>
              <a:noFill/>
            </p:spPr>
            <p:txBody>
              <a:bodyPr wrap="square">
                <a:spAutoFit/>
              </a:bodyPr>
              <a:lstStyle/>
              <a:p>
                <a:pPr marL="0" marR="0" algn="just">
                  <a:spcBef>
                    <a:spcPts val="0"/>
                  </a:spcBef>
                  <a:spcAft>
                    <a:spcPts val="0"/>
                  </a:spcAft>
                </a:pPr>
                <a:r>
                  <a:rPr lang="en-US" sz="1800" b="1" dirty="0">
                    <a:effectLst/>
                    <a:latin typeface="Times New Roman" panose="02020603050405020304" pitchFamily="18" charset="0"/>
                    <a:ea typeface="Times New Roman" panose="02020603050405020304" pitchFamily="18" charset="0"/>
                  </a:rPr>
                  <a:t> Method 2: Take cumulative mass fraction to get </a:t>
                </a:r>
                <a14:m>
                  <m:oMath xmlns:m="http://schemas.openxmlformats.org/officeDocument/2006/math">
                    <m:sSub>
                      <m:sSubPr>
                        <m:ctrlPr>
                          <a:rPr lang="en-US" sz="1800" b="1" i="1">
                            <a:effectLst/>
                            <a:latin typeface="Cambria Math" panose="02040503050406030204" pitchFamily="18" charset="0"/>
                            <a:ea typeface="Times New Roman" panose="02020603050405020304" pitchFamily="18" charset="0"/>
                          </a:rPr>
                        </m:ctrlPr>
                      </m:sSubPr>
                      <m:e>
                        <m:r>
                          <a:rPr lang="en-US" sz="1800" b="1" i="1">
                            <a:effectLst/>
                            <a:latin typeface="Cambria Math" panose="02040503050406030204" pitchFamily="18" charset="0"/>
                            <a:ea typeface="Times New Roman" panose="02020603050405020304" pitchFamily="18" charset="0"/>
                          </a:rPr>
                          <m:t>𝒙</m:t>
                        </m:r>
                      </m:e>
                      <m:sub>
                        <m:r>
                          <a:rPr lang="en-US" sz="1800" b="1" i="1">
                            <a:effectLst/>
                            <a:latin typeface="Cambria Math" panose="02040503050406030204" pitchFamily="18" charset="0"/>
                            <a:ea typeface="Times New Roman" panose="02020603050405020304" pitchFamily="18" charset="0"/>
                          </a:rPr>
                          <m:t>𝑨</m:t>
                        </m:r>
                      </m:sub>
                    </m:sSub>
                    <m:sSub>
                      <m:sSubPr>
                        <m:ctrlPr>
                          <a:rPr lang="en-US" sz="1800" b="1" i="1">
                            <a:effectLst/>
                            <a:latin typeface="Cambria Math" panose="02040503050406030204" pitchFamily="18" charset="0"/>
                            <a:ea typeface="Times New Roman" panose="02020603050405020304" pitchFamily="18" charset="0"/>
                          </a:rPr>
                        </m:ctrlPr>
                      </m:sSubPr>
                      <m:e>
                        <m:r>
                          <a:rPr lang="en-US" sz="1800" b="1" i="1">
                            <a:effectLst/>
                            <a:latin typeface="Cambria Math" panose="02040503050406030204" pitchFamily="18" charset="0"/>
                            <a:ea typeface="Times New Roman" panose="02020603050405020304" pitchFamily="18" charset="0"/>
                          </a:rPr>
                          <m:t>    </m:t>
                        </m:r>
                        <m:r>
                          <a:rPr lang="en-US" sz="1800" b="1" i="1">
                            <a:effectLst/>
                            <a:latin typeface="Cambria Math" panose="02040503050406030204" pitchFamily="18" charset="0"/>
                            <a:ea typeface="Times New Roman" panose="02020603050405020304" pitchFamily="18" charset="0"/>
                          </a:rPr>
                          <m:t>𝒙</m:t>
                        </m:r>
                      </m:e>
                      <m:sub>
                        <m:r>
                          <a:rPr lang="en-US" sz="1800" b="1" i="1">
                            <a:effectLst/>
                            <a:latin typeface="Cambria Math" panose="02040503050406030204" pitchFamily="18" charset="0"/>
                            <a:ea typeface="Times New Roman" panose="02020603050405020304" pitchFamily="18" charset="0"/>
                          </a:rPr>
                          <m:t>𝑩</m:t>
                        </m:r>
                      </m:sub>
                    </m:sSub>
                    <m:sSub>
                      <m:sSubPr>
                        <m:ctrlPr>
                          <a:rPr lang="en-US" sz="1800" b="1" i="1">
                            <a:effectLst/>
                            <a:latin typeface="Cambria Math" panose="02040503050406030204" pitchFamily="18" charset="0"/>
                            <a:ea typeface="Times New Roman" panose="02020603050405020304" pitchFamily="18" charset="0"/>
                          </a:rPr>
                        </m:ctrlPr>
                      </m:sSubPr>
                      <m:e>
                        <m:r>
                          <a:rPr lang="en-US" sz="1800" b="1" i="1">
                            <a:effectLst/>
                            <a:latin typeface="Cambria Math" panose="02040503050406030204" pitchFamily="18" charset="0"/>
                            <a:ea typeface="Times New Roman" panose="02020603050405020304" pitchFamily="18" charset="0"/>
                          </a:rPr>
                          <m:t>      </m:t>
                        </m:r>
                        <m:r>
                          <a:rPr lang="en-US" sz="1800" b="1" i="1">
                            <a:effectLst/>
                            <a:latin typeface="Cambria Math" panose="02040503050406030204" pitchFamily="18" charset="0"/>
                            <a:ea typeface="Times New Roman" panose="02020603050405020304" pitchFamily="18" charset="0"/>
                          </a:rPr>
                          <m:t>𝒙</m:t>
                        </m:r>
                      </m:e>
                      <m:sub>
                        <m:r>
                          <a:rPr lang="en-US" sz="1800" b="1" i="1">
                            <a:effectLst/>
                            <a:latin typeface="Cambria Math" panose="02040503050406030204" pitchFamily="18" charset="0"/>
                            <a:ea typeface="Times New Roman" panose="02020603050405020304" pitchFamily="18" charset="0"/>
                          </a:rPr>
                          <m:t>𝒄</m:t>
                        </m:r>
                      </m:sub>
                    </m:sSub>
                  </m:oMath>
                </a14:m>
                <a:endParaRPr lang="en-US" sz="1800" dirty="0">
                  <a:effectLst/>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A7F265DC-A7EF-6126-5A42-D0B0741BF39C}"/>
                  </a:ext>
                </a:extLst>
              </p:cNvPr>
              <p:cNvSpPr txBox="1">
                <a:spLocks noRot="1" noChangeAspect="1" noMove="1" noResize="1" noEditPoints="1" noAdjustHandles="1" noChangeArrowheads="1" noChangeShapeType="1" noTextEdit="1"/>
              </p:cNvSpPr>
              <p:nvPr/>
            </p:nvSpPr>
            <p:spPr>
              <a:xfrm>
                <a:off x="10277082" y="1454152"/>
                <a:ext cx="10050516" cy="369332"/>
              </a:xfrm>
              <a:prstGeom prst="rect">
                <a:avLst/>
              </a:prstGeom>
              <a:blipFill>
                <a:blip r:embed="rId5"/>
                <a:stretch>
                  <a:fillRect t="-10000" b="-26667"/>
                </a:stretch>
              </a:blipFill>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id="{553CE265-CB4F-0060-3808-416DC506E911}"/>
              </a:ext>
            </a:extLst>
          </p:cNvPr>
          <p:cNvGraphicFramePr>
            <a:graphicFrameLocks noGrp="1"/>
          </p:cNvGraphicFramePr>
          <p:nvPr>
            <p:extLst>
              <p:ext uri="{D42A27DB-BD31-4B8C-83A1-F6EECF244321}">
                <p14:modId xmlns:p14="http://schemas.microsoft.com/office/powerpoint/2010/main" val="2837135316"/>
              </p:ext>
            </p:extLst>
          </p:nvPr>
        </p:nvGraphicFramePr>
        <p:xfrm>
          <a:off x="8683898" y="2385621"/>
          <a:ext cx="10225137" cy="5344430"/>
        </p:xfrm>
        <a:graphic>
          <a:graphicData uri="http://schemas.openxmlformats.org/drawingml/2006/table">
            <a:tbl>
              <a:tblPr firstRow="1" firstCol="1" bandRow="1">
                <a:tableStyleId>{5C22544A-7EE6-4342-B048-85BDC9FD1C3A}</a:tableStyleId>
              </a:tblPr>
              <a:tblGrid>
                <a:gridCol w="712088">
                  <a:extLst>
                    <a:ext uri="{9D8B030D-6E8A-4147-A177-3AD203B41FA5}">
                      <a16:colId xmlns:a16="http://schemas.microsoft.com/office/drawing/2014/main" val="680985244"/>
                    </a:ext>
                  </a:extLst>
                </a:gridCol>
                <a:gridCol w="813237">
                  <a:extLst>
                    <a:ext uri="{9D8B030D-6E8A-4147-A177-3AD203B41FA5}">
                      <a16:colId xmlns:a16="http://schemas.microsoft.com/office/drawing/2014/main" val="1475918381"/>
                    </a:ext>
                  </a:extLst>
                </a:gridCol>
                <a:gridCol w="1112637">
                  <a:extLst>
                    <a:ext uri="{9D8B030D-6E8A-4147-A177-3AD203B41FA5}">
                      <a16:colId xmlns:a16="http://schemas.microsoft.com/office/drawing/2014/main" val="4269452839"/>
                    </a:ext>
                  </a:extLst>
                </a:gridCol>
                <a:gridCol w="1571853">
                  <a:extLst>
                    <a:ext uri="{9D8B030D-6E8A-4147-A177-3AD203B41FA5}">
                      <a16:colId xmlns:a16="http://schemas.microsoft.com/office/drawing/2014/main" val="3804657374"/>
                    </a:ext>
                  </a:extLst>
                </a:gridCol>
                <a:gridCol w="1258292">
                  <a:extLst>
                    <a:ext uri="{9D8B030D-6E8A-4147-A177-3AD203B41FA5}">
                      <a16:colId xmlns:a16="http://schemas.microsoft.com/office/drawing/2014/main" val="579447642"/>
                    </a:ext>
                  </a:extLst>
                </a:gridCol>
                <a:gridCol w="815260">
                  <a:extLst>
                    <a:ext uri="{9D8B030D-6E8A-4147-A177-3AD203B41FA5}">
                      <a16:colId xmlns:a16="http://schemas.microsoft.com/office/drawing/2014/main" val="4114546100"/>
                    </a:ext>
                  </a:extLst>
                </a:gridCol>
                <a:gridCol w="1112637">
                  <a:extLst>
                    <a:ext uri="{9D8B030D-6E8A-4147-A177-3AD203B41FA5}">
                      <a16:colId xmlns:a16="http://schemas.microsoft.com/office/drawing/2014/main" val="4249151087"/>
                    </a:ext>
                  </a:extLst>
                </a:gridCol>
                <a:gridCol w="1571853">
                  <a:extLst>
                    <a:ext uri="{9D8B030D-6E8A-4147-A177-3AD203B41FA5}">
                      <a16:colId xmlns:a16="http://schemas.microsoft.com/office/drawing/2014/main" val="1825058339"/>
                    </a:ext>
                  </a:extLst>
                </a:gridCol>
                <a:gridCol w="1257280">
                  <a:extLst>
                    <a:ext uri="{9D8B030D-6E8A-4147-A177-3AD203B41FA5}">
                      <a16:colId xmlns:a16="http://schemas.microsoft.com/office/drawing/2014/main" val="312123953"/>
                    </a:ext>
                  </a:extLst>
                </a:gridCol>
              </a:tblGrid>
              <a:tr h="467387">
                <a:tc>
                  <a:txBody>
                    <a:bodyPr/>
                    <a:lstStyle/>
                    <a:p>
                      <a:pPr marL="0" marR="0" algn="ctr">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gridSpan="4">
                  <a:txBody>
                    <a:bodyPr/>
                    <a:lstStyle/>
                    <a:p>
                      <a:pPr marL="0" marR="0" algn="ctr">
                        <a:spcBef>
                          <a:spcPts val="0"/>
                        </a:spcBef>
                        <a:spcAft>
                          <a:spcPts val="0"/>
                        </a:spcAft>
                      </a:pPr>
                      <a:r>
                        <a:rPr lang="en-US" sz="2200">
                          <a:effectLst/>
                        </a:rPr>
                        <a:t>Mass Fraction</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algn="ctr">
                        <a:spcBef>
                          <a:spcPts val="0"/>
                        </a:spcBef>
                        <a:spcAft>
                          <a:spcPts val="0"/>
                        </a:spcAft>
                      </a:pPr>
                      <a:r>
                        <a:rPr lang="en-US" sz="2200">
                          <a:effectLst/>
                        </a:rPr>
                        <a:t>Cummulative mass fraction</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00936374"/>
                  </a:ext>
                </a:extLst>
              </a:tr>
              <a:tr h="467387">
                <a:tc>
                  <a:txBody>
                    <a:bodyPr/>
                    <a:lstStyle/>
                    <a:p>
                      <a:pPr marL="0" marR="0">
                        <a:spcBef>
                          <a:spcPts val="0"/>
                        </a:spcBef>
                        <a:spcAft>
                          <a:spcPts val="0"/>
                        </a:spcAft>
                      </a:pPr>
                      <a:r>
                        <a:rPr lang="en-US" sz="2200">
                          <a:effectLst/>
                        </a:rPr>
                        <a:t> </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200">
                          <a:effectLst/>
                        </a:rPr>
                        <a:t>Feed</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200">
                          <a:effectLst/>
                        </a:rPr>
                        <a:t>Oversize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200">
                          <a:effectLst/>
                        </a:rPr>
                        <a:t>Intermediate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200">
                          <a:effectLst/>
                        </a:rPr>
                        <a:t>Undersize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200">
                          <a:effectLst/>
                        </a:rPr>
                        <a:t>Feed</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200">
                          <a:effectLst/>
                        </a:rPr>
                        <a:t>Oversize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200">
                          <a:effectLst/>
                        </a:rPr>
                        <a:t>Intermediate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spcBef>
                          <a:spcPts val="0"/>
                        </a:spcBef>
                        <a:spcAft>
                          <a:spcPts val="0"/>
                        </a:spcAft>
                      </a:pPr>
                      <a:r>
                        <a:rPr lang="en-US" sz="2200">
                          <a:effectLst/>
                        </a:rPr>
                        <a:t>Undersize</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209520302"/>
                  </a:ext>
                </a:extLst>
              </a:tr>
              <a:tr h="467387">
                <a:tc>
                  <a:txBody>
                    <a:bodyPr/>
                    <a:lstStyle/>
                    <a:p>
                      <a:pPr marL="0" marR="0" algn="r">
                        <a:spcBef>
                          <a:spcPts val="0"/>
                        </a:spcBef>
                        <a:spcAft>
                          <a:spcPts val="0"/>
                        </a:spcAft>
                      </a:pPr>
                      <a:r>
                        <a:rPr lang="en-US" sz="2200">
                          <a:effectLst/>
                        </a:rPr>
                        <a:t>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016356501"/>
                  </a:ext>
                </a:extLst>
              </a:tr>
              <a:tr h="467387">
                <a:tc>
                  <a:txBody>
                    <a:bodyPr/>
                    <a:lstStyle/>
                    <a:p>
                      <a:pPr marL="0" marR="0" algn="r">
                        <a:spcBef>
                          <a:spcPts val="0"/>
                        </a:spcBef>
                        <a:spcAft>
                          <a:spcPts val="0"/>
                        </a:spcAft>
                      </a:pPr>
                      <a:r>
                        <a:rPr lang="en-US" sz="2200">
                          <a:effectLst/>
                        </a:rPr>
                        <a:t>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0.15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0.042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0.185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0.64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0.042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19691479"/>
                  </a:ext>
                </a:extLst>
              </a:tr>
              <a:tr h="467387">
                <a:tc>
                  <a:txBody>
                    <a:bodyPr/>
                    <a:lstStyle/>
                    <a:p>
                      <a:pPr marL="0" marR="0" algn="r">
                        <a:spcBef>
                          <a:spcPts val="0"/>
                        </a:spcBef>
                        <a:spcAft>
                          <a:spcPts val="0"/>
                        </a:spcAft>
                      </a:pPr>
                      <a:r>
                        <a:rPr lang="en-US" sz="2800" b="1" dirty="0">
                          <a:solidFill>
                            <a:srgbClr val="FF0000"/>
                          </a:solidFill>
                          <a:effectLst/>
                          <a:highlight>
                            <a:srgbClr val="FFFF00"/>
                          </a:highlight>
                        </a:rPr>
                        <a:t>8</a:t>
                      </a:r>
                      <a:endParaRPr lang="en-US" sz="2800" b="1"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2200">
                          <a:effectLst/>
                        </a:rPr>
                        <a:t>0.275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0.24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0.358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dirty="0">
                          <a:solidFill>
                            <a:srgbClr val="FF0000"/>
                          </a:solidFill>
                          <a:effectLst/>
                          <a:highlight>
                            <a:srgbClr val="FFFF00"/>
                          </a:highlight>
                        </a:rPr>
                        <a:t>0.46</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dirty="0">
                          <a:solidFill>
                            <a:srgbClr val="FF0000"/>
                          </a:solidFill>
                          <a:effectLst/>
                          <a:highlight>
                            <a:srgbClr val="FFFF00"/>
                          </a:highlight>
                        </a:rPr>
                        <a:t>0.88</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dirty="0">
                          <a:solidFill>
                            <a:srgbClr val="FF0000"/>
                          </a:solidFill>
                          <a:effectLst/>
                          <a:highlight>
                            <a:srgbClr val="FFFF00"/>
                          </a:highlight>
                        </a:rPr>
                        <a:t>0.4</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dirty="0">
                          <a:solidFill>
                            <a:srgbClr val="FF0000"/>
                          </a:solidFill>
                          <a:effectLst/>
                          <a:highlight>
                            <a:srgbClr val="FFFF00"/>
                          </a:highlight>
                        </a:rPr>
                        <a:t>0</a:t>
                      </a:r>
                      <a:endParaRPr lang="en-US" sz="22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507442205"/>
                  </a:ext>
                </a:extLst>
              </a:tr>
              <a:tr h="467387">
                <a:tc>
                  <a:txBody>
                    <a:bodyPr/>
                    <a:lstStyle/>
                    <a:p>
                      <a:pPr marL="0" marR="0" algn="r">
                        <a:spcBef>
                          <a:spcPts val="0"/>
                        </a:spcBef>
                        <a:spcAft>
                          <a:spcPts val="0"/>
                        </a:spcAft>
                      </a:pPr>
                      <a:r>
                        <a:rPr lang="en-US" sz="2200">
                          <a:effectLst/>
                        </a:rPr>
                        <a:t>10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0.235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0.308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0.695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0.96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0.708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600859746"/>
                  </a:ext>
                </a:extLst>
              </a:tr>
              <a:tr h="467387">
                <a:tc>
                  <a:txBody>
                    <a:bodyPr/>
                    <a:lstStyle/>
                    <a:p>
                      <a:pPr marL="0" marR="0" algn="r">
                        <a:spcBef>
                          <a:spcPts val="0"/>
                        </a:spcBef>
                        <a:spcAft>
                          <a:spcPts val="0"/>
                        </a:spcAft>
                      </a:pPr>
                      <a:r>
                        <a:rPr lang="en-US" sz="2200">
                          <a:effectLst/>
                        </a:rPr>
                        <a:t>14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0.16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0.183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0.267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0.855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0.891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0.467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610366624"/>
                  </a:ext>
                </a:extLst>
              </a:tr>
              <a:tr h="467387">
                <a:tc>
                  <a:txBody>
                    <a:bodyPr/>
                    <a:lstStyle/>
                    <a:p>
                      <a:pPr marL="0" marR="0" algn="r">
                        <a:spcBef>
                          <a:spcPts val="0"/>
                        </a:spcBef>
                        <a:spcAft>
                          <a:spcPts val="0"/>
                        </a:spcAft>
                      </a:pPr>
                      <a:r>
                        <a:rPr lang="en-US" sz="2200">
                          <a:effectLst/>
                        </a:rPr>
                        <a:t>20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0.091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0.102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0.202</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0.946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0.993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0.669</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205844865"/>
                  </a:ext>
                </a:extLst>
              </a:tr>
              <a:tr h="467387">
                <a:tc>
                  <a:txBody>
                    <a:bodyPr/>
                    <a:lstStyle/>
                    <a:p>
                      <a:pPr marL="0" marR="0" algn="r">
                        <a:spcBef>
                          <a:spcPts val="0"/>
                        </a:spcBef>
                        <a:spcAft>
                          <a:spcPts val="0"/>
                        </a:spcAft>
                      </a:pPr>
                      <a:r>
                        <a:rPr lang="en-US" sz="2200">
                          <a:effectLst/>
                        </a:rPr>
                        <a:t>28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0.034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0.007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0.196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0.98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0.865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498315196"/>
                  </a:ext>
                </a:extLst>
              </a:tr>
              <a:tr h="467387">
                <a:tc>
                  <a:txBody>
                    <a:bodyPr/>
                    <a:lstStyle/>
                    <a:p>
                      <a:pPr marL="0" marR="0" algn="r">
                        <a:spcBef>
                          <a:spcPts val="0"/>
                        </a:spcBef>
                        <a:spcAft>
                          <a:spcPts val="0"/>
                        </a:spcAft>
                      </a:pPr>
                      <a:r>
                        <a:rPr lang="en-US" sz="2200">
                          <a:effectLst/>
                        </a:rPr>
                        <a:t>35</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0.013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0.089</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0.993</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0.954</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167190990"/>
                  </a:ext>
                </a:extLst>
              </a:tr>
              <a:tr h="467387">
                <a:tc>
                  <a:txBody>
                    <a:bodyPr/>
                    <a:lstStyle/>
                    <a:p>
                      <a:pPr marL="0" marR="0" algn="r">
                        <a:spcBef>
                          <a:spcPts val="0"/>
                        </a:spcBef>
                        <a:spcAft>
                          <a:spcPts val="0"/>
                        </a:spcAft>
                      </a:pPr>
                      <a:r>
                        <a:rPr lang="en-US" sz="2200">
                          <a:effectLst/>
                        </a:rPr>
                        <a:t>48</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0.007</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0.046</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a:effectLst/>
                        </a:rPr>
                        <a:t>1</a:t>
                      </a:r>
                      <a:endParaRPr lang="en-US" sz="22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0" marR="0" algn="r">
                        <a:spcBef>
                          <a:spcPts val="0"/>
                        </a:spcBef>
                        <a:spcAft>
                          <a:spcPts val="0"/>
                        </a:spcAft>
                      </a:pPr>
                      <a:r>
                        <a:rPr lang="en-US" sz="2200" dirty="0">
                          <a:effectLst/>
                        </a:rPr>
                        <a:t>1</a:t>
                      </a:r>
                      <a:endParaRPr lang="en-US" sz="22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477836874"/>
                  </a:ext>
                </a:extLst>
              </a:tr>
            </a:tbl>
          </a:graphicData>
        </a:graphic>
      </p:graphicFrame>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E5F8A9D-BE38-7806-274C-48B9AD1D0809}"/>
                  </a:ext>
                </a:extLst>
              </p:cNvPr>
              <p:cNvSpPr txBox="1"/>
              <p:nvPr/>
            </p:nvSpPr>
            <p:spPr>
              <a:xfrm>
                <a:off x="7891810" y="8099889"/>
                <a:ext cx="11631265" cy="1863011"/>
              </a:xfrm>
              <a:prstGeom prst="rect">
                <a:avLst/>
              </a:prstGeom>
              <a:noFill/>
            </p:spPr>
            <p:txBody>
              <a:bodyPr wrap="square">
                <a:spAutoFit/>
              </a:bodyPr>
              <a:lstStyle/>
              <a:p>
                <a:pPr marL="0" marR="0" algn="just">
                  <a:spcBef>
                    <a:spcPts val="0"/>
                  </a:spcBef>
                  <a:spcAft>
                    <a:spcPts val="0"/>
                  </a:spcAft>
                </a:pPr>
                <a:r>
                  <a:rPr lang="en-US" sz="2200" b="1" dirty="0">
                    <a:solidFill>
                      <a:srgbClr val="FF0000"/>
                    </a:solidFill>
                    <a:effectLst/>
                    <a:latin typeface="Times New Roman" panose="02020603050405020304" pitchFamily="18" charset="0"/>
                    <a:ea typeface="Times New Roman" panose="02020603050405020304" pitchFamily="18" charset="0"/>
                  </a:rPr>
                  <a:t>For 8</a:t>
                </a:r>
                <a:r>
                  <a:rPr lang="en-US" sz="2200" b="1" baseline="30000" dirty="0">
                    <a:solidFill>
                      <a:srgbClr val="FF0000"/>
                    </a:solidFill>
                    <a:effectLst/>
                    <a:latin typeface="Times New Roman" panose="02020603050405020304" pitchFamily="18" charset="0"/>
                    <a:ea typeface="Times New Roman" panose="02020603050405020304" pitchFamily="18" charset="0"/>
                  </a:rPr>
                  <a:t>th</a:t>
                </a:r>
                <a:r>
                  <a:rPr lang="en-US" sz="2200" b="1" dirty="0">
                    <a:solidFill>
                      <a:srgbClr val="FF0000"/>
                    </a:solidFill>
                    <a:effectLst/>
                    <a:latin typeface="Times New Roman" panose="02020603050405020304" pitchFamily="18" charset="0"/>
                    <a:ea typeface="Times New Roman" panose="02020603050405020304" pitchFamily="18" charset="0"/>
                  </a:rPr>
                  <a:t> Mesh, considering oversize as desired product:</a:t>
                </a:r>
                <a:endParaRPr lang="en-US" sz="2200"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200"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𝐴</m:t>
                        </m:r>
                      </m:sub>
                    </m:sSub>
                    <m:r>
                      <a:rPr lang="en-US" sz="2200" i="1">
                        <a:solidFill>
                          <a:srgbClr val="FF0000"/>
                        </a:solidFill>
                        <a:effectLst/>
                        <a:latin typeface="Cambria Math" panose="02040503050406030204" pitchFamily="18" charset="0"/>
                        <a:ea typeface="Times New Roman" panose="02020603050405020304" pitchFamily="18" charset="0"/>
                      </a:rPr>
                      <m:t>=0.46</m:t>
                    </m:r>
                  </m:oMath>
                </a14:m>
                <a:r>
                  <a:rPr lang="en-US" sz="2200"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𝐵</m:t>
                        </m:r>
                      </m:sub>
                    </m:sSub>
                    <m:r>
                      <a:rPr lang="en-US" sz="2200" i="1">
                        <a:solidFill>
                          <a:srgbClr val="FF0000"/>
                        </a:solidFill>
                        <a:effectLst/>
                        <a:latin typeface="Cambria Math" panose="02040503050406030204" pitchFamily="18" charset="0"/>
                        <a:ea typeface="Times New Roman" panose="02020603050405020304" pitchFamily="18" charset="0"/>
                      </a:rPr>
                      <m:t>=0.88, </m:t>
                    </m:r>
                  </m:oMath>
                </a14:m>
                <a:r>
                  <a:rPr lang="en-US" sz="2200"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𝐶</m:t>
                        </m:r>
                      </m:sub>
                    </m:sSub>
                    <m:r>
                      <a:rPr lang="en-US" sz="2200" i="1">
                        <a:solidFill>
                          <a:srgbClr val="FF0000"/>
                        </a:solidFill>
                        <a:effectLst/>
                        <a:latin typeface="Cambria Math" panose="02040503050406030204" pitchFamily="18" charset="0"/>
                        <a:ea typeface="Times New Roman" panose="02020603050405020304" pitchFamily="18" charset="0"/>
                      </a:rPr>
                      <m:t>=0.4</m:t>
                    </m:r>
                  </m:oMath>
                </a14:m>
                <a:r>
                  <a:rPr lang="en-US" sz="2200"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en-US" sz="2200" b="1" i="1">
                        <a:solidFill>
                          <a:srgbClr val="FF0000"/>
                        </a:solidFill>
                        <a:effectLst/>
                        <a:latin typeface="Cambria Math" panose="02040503050406030204" pitchFamily="18" charset="0"/>
                        <a:ea typeface="Times New Roman" panose="02020603050405020304" pitchFamily="18" charset="0"/>
                      </a:rPr>
                      <m:t>∴</m:t>
                    </m:r>
                    <m:r>
                      <a:rPr lang="en-US" sz="2200" i="1">
                        <a:solidFill>
                          <a:srgbClr val="FF0000"/>
                        </a:solidFill>
                        <a:effectLst/>
                        <a:latin typeface="Cambria Math" panose="02040503050406030204" pitchFamily="18" charset="0"/>
                        <a:ea typeface="Times New Roman" panose="02020603050405020304" pitchFamily="18" charset="0"/>
                      </a:rPr>
                      <m:t>𝐸</m:t>
                    </m:r>
                    <m:r>
                      <a:rPr lang="en-US" sz="2200" i="1">
                        <a:solidFill>
                          <a:srgbClr val="FF0000"/>
                        </a:solidFill>
                        <a:effectLst/>
                        <a:latin typeface="Cambria Math" panose="02040503050406030204" pitchFamily="18" charset="0"/>
                        <a:ea typeface="Times New Roman" panose="02020603050405020304" pitchFamily="18" charset="0"/>
                      </a:rPr>
                      <m:t>=</m:t>
                    </m:r>
                    <m:d>
                      <m:dPr>
                        <m:begChr m:val="["/>
                        <m:endChr m:val="]"/>
                        <m:ctrlPr>
                          <a:rPr lang="en-US" sz="2200" i="1">
                            <a:solidFill>
                              <a:srgbClr val="FF0000"/>
                            </a:solidFill>
                            <a:effectLst/>
                            <a:latin typeface="Cambria Math" panose="02040503050406030204" pitchFamily="18" charset="0"/>
                            <a:ea typeface="Times New Roman" panose="02020603050405020304" pitchFamily="18" charset="0"/>
                          </a:rPr>
                        </m:ctrlPr>
                      </m:dPr>
                      <m:e>
                        <m:d>
                          <m:dPr>
                            <m:ctrlPr>
                              <a:rPr lang="en-US" sz="2200" i="1">
                                <a:solidFill>
                                  <a:srgbClr val="FF0000"/>
                                </a:solidFill>
                                <a:effectLst/>
                                <a:latin typeface="Cambria Math" panose="02040503050406030204" pitchFamily="18" charset="0"/>
                                <a:ea typeface="Times New Roman" panose="02020603050405020304" pitchFamily="18" charset="0"/>
                              </a:rPr>
                            </m:ctrlPr>
                          </m:dPr>
                          <m:e>
                            <m:f>
                              <m:fPr>
                                <m:ctrlPr>
                                  <a:rPr lang="en-US" sz="2200" i="1">
                                    <a:solidFill>
                                      <a:srgbClr val="FF0000"/>
                                    </a:solidFill>
                                    <a:effectLst/>
                                    <a:latin typeface="Cambria Math" panose="02040503050406030204" pitchFamily="18" charset="0"/>
                                    <a:ea typeface="Times New Roman" panose="02020603050405020304" pitchFamily="18" charset="0"/>
                                  </a:rPr>
                                </m:ctrlPr>
                              </m:fPr>
                              <m:num>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𝐴</m:t>
                                    </m:r>
                                  </m:sub>
                                </m:sSub>
                                <m:r>
                                  <a:rPr lang="en-US" sz="2200" i="1">
                                    <a:solidFill>
                                      <a:srgbClr val="FF0000"/>
                                    </a:solidFill>
                                    <a:effectLst/>
                                    <a:latin typeface="Cambria Math" panose="02040503050406030204" pitchFamily="18" charset="0"/>
                                    <a:ea typeface="Times New Roman" panose="02020603050405020304" pitchFamily="18" charset="0"/>
                                  </a:rPr>
                                  <m:t>−</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𝐶</m:t>
                                    </m:r>
                                  </m:sub>
                                </m:sSub>
                              </m:num>
                              <m:den>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𝐵</m:t>
                                    </m:r>
                                  </m:sub>
                                </m:sSub>
                                <m:r>
                                  <a:rPr lang="en-US" sz="2200" i="1">
                                    <a:solidFill>
                                      <a:srgbClr val="FF0000"/>
                                    </a:solidFill>
                                    <a:effectLst/>
                                    <a:latin typeface="Cambria Math" panose="02040503050406030204" pitchFamily="18" charset="0"/>
                                    <a:ea typeface="Times New Roman" panose="02020603050405020304" pitchFamily="18" charset="0"/>
                                  </a:rPr>
                                  <m:t>−</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𝐶</m:t>
                                    </m:r>
                                  </m:sub>
                                </m:sSub>
                              </m:den>
                            </m:f>
                          </m:e>
                        </m:d>
                        <m:r>
                          <a:rPr lang="en-US" sz="2200" i="1">
                            <a:solidFill>
                              <a:srgbClr val="FF0000"/>
                            </a:solidFill>
                            <a:effectLst/>
                            <a:latin typeface="Cambria Math" panose="02040503050406030204" pitchFamily="18" charset="0"/>
                            <a:ea typeface="Times New Roman" panose="02020603050405020304" pitchFamily="18" charset="0"/>
                          </a:rPr>
                          <m:t> </m:t>
                        </m:r>
                        <m:f>
                          <m:fPr>
                            <m:ctrlPr>
                              <a:rPr lang="en-US" sz="2200" i="1">
                                <a:solidFill>
                                  <a:srgbClr val="FF0000"/>
                                </a:solidFill>
                                <a:effectLst/>
                                <a:latin typeface="Cambria Math" panose="02040503050406030204" pitchFamily="18" charset="0"/>
                                <a:ea typeface="Times New Roman" panose="02020603050405020304" pitchFamily="18" charset="0"/>
                              </a:rPr>
                            </m:ctrlPr>
                          </m:fPr>
                          <m:num>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𝐵</m:t>
                                </m:r>
                              </m:sub>
                            </m:sSub>
                          </m:num>
                          <m:den>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𝐴</m:t>
                                </m:r>
                              </m:sub>
                            </m:sSub>
                          </m:den>
                        </m:f>
                      </m:e>
                    </m:d>
                    <m:r>
                      <a:rPr lang="en-US" sz="2200" i="1">
                        <a:solidFill>
                          <a:srgbClr val="FF0000"/>
                        </a:solidFill>
                        <a:effectLst/>
                        <a:latin typeface="Cambria Math" panose="02040503050406030204" pitchFamily="18" charset="0"/>
                        <a:ea typeface="Times New Roman" panose="02020603050405020304" pitchFamily="18" charset="0"/>
                      </a:rPr>
                      <m:t> </m:t>
                    </m:r>
                    <m:d>
                      <m:dPr>
                        <m:begChr m:val="["/>
                        <m:endChr m:val="]"/>
                        <m:ctrlPr>
                          <a:rPr lang="en-US" sz="2200" i="1">
                            <a:solidFill>
                              <a:srgbClr val="FF0000"/>
                            </a:solidFill>
                            <a:effectLst/>
                            <a:latin typeface="Cambria Math" panose="02040503050406030204" pitchFamily="18" charset="0"/>
                            <a:ea typeface="Times New Roman" panose="02020603050405020304" pitchFamily="18" charset="0"/>
                          </a:rPr>
                        </m:ctrlPr>
                      </m:dPr>
                      <m:e>
                        <m:r>
                          <a:rPr lang="en-US" sz="2200" i="1">
                            <a:solidFill>
                              <a:srgbClr val="FF0000"/>
                            </a:solidFill>
                            <a:effectLst/>
                            <a:latin typeface="Cambria Math" panose="02040503050406030204" pitchFamily="18" charset="0"/>
                            <a:ea typeface="Times New Roman" panose="02020603050405020304" pitchFamily="18" charset="0"/>
                          </a:rPr>
                          <m:t>1−</m:t>
                        </m:r>
                        <m:d>
                          <m:dPr>
                            <m:ctrlPr>
                              <a:rPr lang="en-US" sz="2200" i="1">
                                <a:solidFill>
                                  <a:srgbClr val="FF0000"/>
                                </a:solidFill>
                                <a:effectLst/>
                                <a:latin typeface="Cambria Math" panose="02040503050406030204" pitchFamily="18" charset="0"/>
                                <a:ea typeface="Times New Roman" panose="02020603050405020304" pitchFamily="18" charset="0"/>
                              </a:rPr>
                            </m:ctrlPr>
                          </m:dPr>
                          <m:e>
                            <m:f>
                              <m:fPr>
                                <m:ctrlPr>
                                  <a:rPr lang="en-US" sz="2200" i="1">
                                    <a:solidFill>
                                      <a:srgbClr val="FF0000"/>
                                    </a:solidFill>
                                    <a:effectLst/>
                                    <a:latin typeface="Cambria Math" panose="02040503050406030204" pitchFamily="18" charset="0"/>
                                    <a:ea typeface="Times New Roman" panose="02020603050405020304" pitchFamily="18" charset="0"/>
                                  </a:rPr>
                                </m:ctrlPr>
                              </m:fPr>
                              <m:num>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𝐴</m:t>
                                    </m:r>
                                  </m:sub>
                                </m:sSub>
                                <m:r>
                                  <a:rPr lang="en-US" sz="2200" i="1">
                                    <a:solidFill>
                                      <a:srgbClr val="FF0000"/>
                                    </a:solidFill>
                                    <a:effectLst/>
                                    <a:latin typeface="Cambria Math" panose="02040503050406030204" pitchFamily="18" charset="0"/>
                                    <a:ea typeface="Times New Roman" panose="02020603050405020304" pitchFamily="18" charset="0"/>
                                  </a:rPr>
                                  <m:t>−</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𝐶</m:t>
                                    </m:r>
                                  </m:sub>
                                </m:sSub>
                              </m:num>
                              <m:den>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𝐵</m:t>
                                    </m:r>
                                  </m:sub>
                                </m:sSub>
                                <m:r>
                                  <a:rPr lang="en-US" sz="2200" i="1">
                                    <a:solidFill>
                                      <a:srgbClr val="FF0000"/>
                                    </a:solidFill>
                                    <a:effectLst/>
                                    <a:latin typeface="Cambria Math" panose="02040503050406030204" pitchFamily="18" charset="0"/>
                                    <a:ea typeface="Times New Roman" panose="02020603050405020304" pitchFamily="18" charset="0"/>
                                  </a:rPr>
                                  <m:t>−</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𝐶</m:t>
                                    </m:r>
                                  </m:sub>
                                </m:sSub>
                              </m:den>
                            </m:f>
                          </m:e>
                        </m:d>
                        <m:d>
                          <m:dPr>
                            <m:ctrlPr>
                              <a:rPr lang="en-US" sz="2200" i="1">
                                <a:solidFill>
                                  <a:srgbClr val="FF0000"/>
                                </a:solidFill>
                                <a:effectLst/>
                                <a:latin typeface="Cambria Math" panose="02040503050406030204" pitchFamily="18" charset="0"/>
                                <a:ea typeface="Times New Roman" panose="02020603050405020304" pitchFamily="18" charset="0"/>
                              </a:rPr>
                            </m:ctrlPr>
                          </m:dPr>
                          <m:e>
                            <m:f>
                              <m:fPr>
                                <m:ctrlPr>
                                  <a:rPr lang="en-US" sz="2200" i="1">
                                    <a:solidFill>
                                      <a:srgbClr val="FF0000"/>
                                    </a:solidFill>
                                    <a:effectLst/>
                                    <a:latin typeface="Cambria Math" panose="02040503050406030204" pitchFamily="18" charset="0"/>
                                    <a:ea typeface="Times New Roman" panose="02020603050405020304" pitchFamily="18" charset="0"/>
                                  </a:rPr>
                                </m:ctrlPr>
                              </m:fPr>
                              <m:num>
                                <m:r>
                                  <a:rPr lang="en-US" sz="2200" i="1">
                                    <a:solidFill>
                                      <a:srgbClr val="FF0000"/>
                                    </a:solidFill>
                                    <a:effectLst/>
                                    <a:latin typeface="Cambria Math" panose="02040503050406030204" pitchFamily="18" charset="0"/>
                                    <a:ea typeface="Times New Roman" panose="02020603050405020304" pitchFamily="18" charset="0"/>
                                  </a:rPr>
                                  <m:t>1−</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𝐵</m:t>
                                    </m:r>
                                  </m:sub>
                                </m:sSub>
                              </m:num>
                              <m:den>
                                <m:r>
                                  <a:rPr lang="en-US" sz="2200" i="1">
                                    <a:solidFill>
                                      <a:srgbClr val="FF0000"/>
                                    </a:solidFill>
                                    <a:effectLst/>
                                    <a:latin typeface="Cambria Math" panose="02040503050406030204" pitchFamily="18" charset="0"/>
                                    <a:ea typeface="Times New Roman" panose="02020603050405020304" pitchFamily="18" charset="0"/>
                                  </a:rPr>
                                  <m:t>1−</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𝐴</m:t>
                                    </m:r>
                                  </m:sub>
                                </m:sSub>
                              </m:den>
                            </m:f>
                          </m:e>
                        </m:d>
                      </m:e>
                    </m:d>
                    <m:r>
                      <a:rPr lang="en-US" sz="2200" b="1" i="1">
                        <a:solidFill>
                          <a:srgbClr val="FF0000"/>
                        </a:solidFill>
                        <a:effectLst/>
                        <a:latin typeface="Cambria Math" panose="02040503050406030204" pitchFamily="18" charset="0"/>
                        <a:ea typeface="Times New Roman" panose="02020603050405020304" pitchFamily="18" charset="0"/>
                      </a:rPr>
                      <m:t>= </m:t>
                    </m:r>
                  </m:oMath>
                </a14:m>
                <a:endParaRPr lang="en-US" sz="2200"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200" b="1" dirty="0">
                    <a:solidFill>
                      <a:srgbClr val="FF0000"/>
                    </a:solidFill>
                    <a:effectLst/>
                    <a:latin typeface="Times New Roman" panose="02020603050405020304" pitchFamily="18" charset="0"/>
                    <a:ea typeface="Times New Roman" panose="02020603050405020304" pitchFamily="18" charset="0"/>
                  </a:rPr>
                  <a:t> </a:t>
                </a:r>
                <a:endParaRPr lang="en-US" sz="2200" dirty="0">
                  <a:solidFill>
                    <a:srgbClr val="FF0000"/>
                  </a:solidFill>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200" b="1" dirty="0">
                    <a:solidFill>
                      <a:srgbClr val="FF0000"/>
                    </a:solidFill>
                    <a:effectLst/>
                    <a:latin typeface="Times New Roman" panose="02020603050405020304" pitchFamily="18" charset="0"/>
                    <a:ea typeface="Times New Roman" panose="02020603050405020304" pitchFamily="18" charset="0"/>
                  </a:rPr>
                  <a:t>Ratio of Product to feed (8 mesh): </a:t>
                </a:r>
                <a:r>
                  <a:rPr lang="en-US" sz="2200" dirty="0">
                    <a:solidFill>
                      <a:srgbClr val="FF0000"/>
                    </a:solidFill>
                    <a:latin typeface="Times New Roman" panose="02020603050405020304" pitchFamily="18" charset="0"/>
                    <a:ea typeface="Times New Roman" panose="02020603050405020304" pitchFamily="18" charset="0"/>
                  </a:rPr>
                  <a:t>    </a:t>
                </a:r>
                <a14:m>
                  <m:oMath xmlns:m="http://schemas.openxmlformats.org/officeDocument/2006/math">
                    <m:f>
                      <m:fPr>
                        <m:ctrlPr>
                          <a:rPr lang="en-US" sz="2200" i="1">
                            <a:solidFill>
                              <a:srgbClr val="FF0000"/>
                            </a:solidFill>
                            <a:effectLst/>
                            <a:latin typeface="Cambria Math" panose="02040503050406030204" pitchFamily="18" charset="0"/>
                            <a:ea typeface="Times New Roman" panose="02020603050405020304" pitchFamily="18" charset="0"/>
                          </a:rPr>
                        </m:ctrlPr>
                      </m:fPr>
                      <m:num>
                        <m:r>
                          <a:rPr lang="en-US" sz="2200" i="1">
                            <a:solidFill>
                              <a:srgbClr val="FF0000"/>
                            </a:solidFill>
                            <a:effectLst/>
                            <a:latin typeface="Cambria Math" panose="02040503050406030204" pitchFamily="18" charset="0"/>
                            <a:ea typeface="Times New Roman" panose="02020603050405020304" pitchFamily="18" charset="0"/>
                          </a:rPr>
                          <m:t>𝐵</m:t>
                        </m:r>
                      </m:num>
                      <m:den>
                        <m:r>
                          <a:rPr lang="en-US" sz="2200" i="1">
                            <a:solidFill>
                              <a:srgbClr val="FF0000"/>
                            </a:solidFill>
                            <a:effectLst/>
                            <a:latin typeface="Cambria Math" panose="02040503050406030204" pitchFamily="18" charset="0"/>
                            <a:ea typeface="Times New Roman" panose="02020603050405020304" pitchFamily="18" charset="0"/>
                          </a:rPr>
                          <m:t>𝐴</m:t>
                        </m:r>
                      </m:den>
                    </m:f>
                    <m:r>
                      <a:rPr lang="en-US" sz="2200" i="1">
                        <a:solidFill>
                          <a:srgbClr val="FF0000"/>
                        </a:solidFill>
                        <a:effectLst/>
                        <a:latin typeface="Cambria Math" panose="02040503050406030204" pitchFamily="18" charset="0"/>
                        <a:ea typeface="Times New Roman" panose="02020603050405020304" pitchFamily="18" charset="0"/>
                      </a:rPr>
                      <m:t>=</m:t>
                    </m:r>
                    <m:f>
                      <m:fPr>
                        <m:ctrlPr>
                          <a:rPr lang="en-US" sz="2200" i="1">
                            <a:solidFill>
                              <a:srgbClr val="FF0000"/>
                            </a:solidFill>
                            <a:effectLst/>
                            <a:latin typeface="Cambria Math" panose="02040503050406030204" pitchFamily="18" charset="0"/>
                            <a:ea typeface="Times New Roman" panose="02020603050405020304" pitchFamily="18" charset="0"/>
                          </a:rPr>
                        </m:ctrlPr>
                      </m:fPr>
                      <m:num>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𝐴</m:t>
                            </m:r>
                          </m:sub>
                        </m:sSub>
                        <m:r>
                          <a:rPr lang="en-US" sz="2200" i="1">
                            <a:solidFill>
                              <a:srgbClr val="FF0000"/>
                            </a:solidFill>
                            <a:effectLst/>
                            <a:latin typeface="Cambria Math" panose="02040503050406030204" pitchFamily="18" charset="0"/>
                            <a:ea typeface="Times New Roman" panose="02020603050405020304" pitchFamily="18" charset="0"/>
                          </a:rPr>
                          <m:t>−</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𝐶</m:t>
                            </m:r>
                          </m:sub>
                        </m:sSub>
                      </m:num>
                      <m:den>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𝐵</m:t>
                            </m:r>
                          </m:sub>
                        </m:sSub>
                        <m:r>
                          <a:rPr lang="en-US" sz="2200" i="1">
                            <a:solidFill>
                              <a:srgbClr val="FF0000"/>
                            </a:solidFill>
                            <a:effectLst/>
                            <a:latin typeface="Cambria Math" panose="02040503050406030204" pitchFamily="18" charset="0"/>
                            <a:ea typeface="Times New Roman" panose="02020603050405020304" pitchFamily="18" charset="0"/>
                          </a:rPr>
                          <m:t>−</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𝐶</m:t>
                            </m:r>
                          </m:sub>
                        </m:sSub>
                      </m:den>
                    </m:f>
                    <m:r>
                      <a:rPr lang="en-US" sz="2200" i="1">
                        <a:solidFill>
                          <a:srgbClr val="FF0000"/>
                        </a:solidFill>
                        <a:effectLst/>
                        <a:latin typeface="Cambria Math" panose="02040503050406030204" pitchFamily="18" charset="0"/>
                        <a:ea typeface="Times New Roman" panose="02020603050405020304" pitchFamily="18" charset="0"/>
                      </a:rPr>
                      <m:t>=</m:t>
                    </m:r>
                    <m:f>
                      <m:fPr>
                        <m:ctrlPr>
                          <a:rPr lang="en-US" sz="2200" i="1">
                            <a:solidFill>
                              <a:srgbClr val="FF0000"/>
                            </a:solidFill>
                            <a:effectLst/>
                            <a:latin typeface="Cambria Math" panose="02040503050406030204" pitchFamily="18" charset="0"/>
                            <a:ea typeface="Times New Roman" panose="02020603050405020304" pitchFamily="18" charset="0"/>
                          </a:rPr>
                        </m:ctrlPr>
                      </m:fPr>
                      <m:num/>
                      <m:den/>
                    </m:f>
                    <m:r>
                      <a:rPr lang="en-GB" sz="2200" b="0" i="0" smtClean="0">
                        <a:solidFill>
                          <a:srgbClr val="FF0000"/>
                        </a:solidFill>
                        <a:effectLst/>
                        <a:latin typeface="Cambria Math" panose="02040503050406030204" pitchFamily="18" charset="0"/>
                        <a:ea typeface="Times New Roman" panose="02020603050405020304" pitchFamily="18" charset="0"/>
                      </a:rPr>
                      <m:t>                                </m:t>
                    </m:r>
                    <m:f>
                      <m:fPr>
                        <m:ctrlPr>
                          <a:rPr lang="en-US" sz="2200" i="1">
                            <a:solidFill>
                              <a:srgbClr val="FF0000"/>
                            </a:solidFill>
                            <a:effectLst/>
                            <a:latin typeface="Cambria Math" panose="02040503050406030204" pitchFamily="18" charset="0"/>
                            <a:ea typeface="Times New Roman" panose="02020603050405020304" pitchFamily="18" charset="0"/>
                          </a:rPr>
                        </m:ctrlPr>
                      </m:fPr>
                      <m:num>
                        <m:r>
                          <a:rPr lang="en-US" sz="2200" i="1">
                            <a:solidFill>
                              <a:srgbClr val="FF0000"/>
                            </a:solidFill>
                            <a:effectLst/>
                            <a:latin typeface="Cambria Math" panose="02040503050406030204" pitchFamily="18" charset="0"/>
                            <a:ea typeface="Times New Roman" panose="02020603050405020304" pitchFamily="18" charset="0"/>
                          </a:rPr>
                          <m:t>𝐶</m:t>
                        </m:r>
                      </m:num>
                      <m:den>
                        <m:r>
                          <a:rPr lang="en-US" sz="2200" i="1">
                            <a:solidFill>
                              <a:srgbClr val="FF0000"/>
                            </a:solidFill>
                            <a:effectLst/>
                            <a:latin typeface="Cambria Math" panose="02040503050406030204" pitchFamily="18" charset="0"/>
                            <a:ea typeface="Times New Roman" panose="02020603050405020304" pitchFamily="18" charset="0"/>
                          </a:rPr>
                          <m:t>𝐴</m:t>
                        </m:r>
                      </m:den>
                    </m:f>
                    <m:r>
                      <a:rPr lang="en-US" sz="2200" i="1">
                        <a:solidFill>
                          <a:srgbClr val="FF0000"/>
                        </a:solidFill>
                        <a:effectLst/>
                        <a:latin typeface="Cambria Math" panose="02040503050406030204" pitchFamily="18" charset="0"/>
                        <a:ea typeface="Times New Roman" panose="02020603050405020304" pitchFamily="18" charset="0"/>
                      </a:rPr>
                      <m:t>=</m:t>
                    </m:r>
                    <m:f>
                      <m:fPr>
                        <m:ctrlPr>
                          <a:rPr lang="en-US" sz="2200" i="1">
                            <a:solidFill>
                              <a:srgbClr val="FF0000"/>
                            </a:solidFill>
                            <a:effectLst/>
                            <a:latin typeface="Cambria Math" panose="02040503050406030204" pitchFamily="18" charset="0"/>
                            <a:ea typeface="Times New Roman" panose="02020603050405020304" pitchFamily="18" charset="0"/>
                          </a:rPr>
                        </m:ctrlPr>
                      </m:fPr>
                      <m:num>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𝐴</m:t>
                            </m:r>
                          </m:sub>
                        </m:sSub>
                        <m:r>
                          <a:rPr lang="en-US" sz="2200" i="1">
                            <a:solidFill>
                              <a:srgbClr val="FF0000"/>
                            </a:solidFill>
                            <a:effectLst/>
                            <a:latin typeface="Cambria Math" panose="02040503050406030204" pitchFamily="18" charset="0"/>
                            <a:ea typeface="Times New Roman" panose="02020603050405020304" pitchFamily="18" charset="0"/>
                          </a:rPr>
                          <m:t>−</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𝐵</m:t>
                            </m:r>
                          </m:sub>
                        </m:sSub>
                      </m:num>
                      <m:den>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𝐶</m:t>
                            </m:r>
                          </m:sub>
                        </m:sSub>
                        <m:r>
                          <a:rPr lang="en-US" sz="2200" i="1">
                            <a:solidFill>
                              <a:srgbClr val="FF0000"/>
                            </a:solidFill>
                            <a:effectLst/>
                            <a:latin typeface="Cambria Math" panose="02040503050406030204" pitchFamily="18" charset="0"/>
                            <a:ea typeface="Times New Roman" panose="02020603050405020304" pitchFamily="18" charset="0"/>
                          </a:rPr>
                          <m:t>−</m:t>
                        </m:r>
                        <m:sSub>
                          <m:sSubPr>
                            <m:ctrlPr>
                              <a:rPr lang="en-US" sz="2200" i="1">
                                <a:solidFill>
                                  <a:srgbClr val="FF0000"/>
                                </a:solidFill>
                                <a:effectLst/>
                                <a:latin typeface="Cambria Math" panose="02040503050406030204" pitchFamily="18" charset="0"/>
                                <a:ea typeface="Times New Roman" panose="02020603050405020304" pitchFamily="18" charset="0"/>
                              </a:rPr>
                            </m:ctrlPr>
                          </m:sSubPr>
                          <m:e>
                            <m:r>
                              <a:rPr lang="en-US" sz="2200" i="1">
                                <a:solidFill>
                                  <a:srgbClr val="FF0000"/>
                                </a:solidFill>
                                <a:effectLst/>
                                <a:latin typeface="Cambria Math" panose="02040503050406030204" pitchFamily="18" charset="0"/>
                                <a:ea typeface="Times New Roman" panose="02020603050405020304" pitchFamily="18" charset="0"/>
                              </a:rPr>
                              <m:t>𝑥</m:t>
                            </m:r>
                          </m:e>
                          <m:sub>
                            <m:r>
                              <a:rPr lang="en-US" sz="2200" i="1">
                                <a:solidFill>
                                  <a:srgbClr val="FF0000"/>
                                </a:solidFill>
                                <a:effectLst/>
                                <a:latin typeface="Cambria Math" panose="02040503050406030204" pitchFamily="18" charset="0"/>
                                <a:ea typeface="Times New Roman" panose="02020603050405020304" pitchFamily="18" charset="0"/>
                              </a:rPr>
                              <m:t>𝐵</m:t>
                            </m:r>
                          </m:sub>
                        </m:sSub>
                      </m:den>
                    </m:f>
                    <m:r>
                      <a:rPr lang="en-US" sz="2200" i="1">
                        <a:solidFill>
                          <a:srgbClr val="FF0000"/>
                        </a:solidFill>
                        <a:effectLst/>
                        <a:latin typeface="Cambria Math" panose="02040503050406030204" pitchFamily="18" charset="0"/>
                        <a:ea typeface="Times New Roman" panose="02020603050405020304" pitchFamily="18" charset="0"/>
                      </a:rPr>
                      <m:t>=1−</m:t>
                    </m:r>
                    <m:f>
                      <m:fPr>
                        <m:ctrlPr>
                          <a:rPr lang="en-US" sz="2200" i="1">
                            <a:solidFill>
                              <a:srgbClr val="FF0000"/>
                            </a:solidFill>
                            <a:effectLst/>
                            <a:latin typeface="Cambria Math" panose="02040503050406030204" pitchFamily="18" charset="0"/>
                            <a:ea typeface="Times New Roman" panose="02020603050405020304" pitchFamily="18" charset="0"/>
                          </a:rPr>
                        </m:ctrlPr>
                      </m:fPr>
                      <m:num>
                        <m:r>
                          <a:rPr lang="en-US" sz="2200" i="1">
                            <a:solidFill>
                              <a:srgbClr val="FF0000"/>
                            </a:solidFill>
                            <a:effectLst/>
                            <a:latin typeface="Cambria Math" panose="02040503050406030204" pitchFamily="18" charset="0"/>
                            <a:ea typeface="Times New Roman" panose="02020603050405020304" pitchFamily="18" charset="0"/>
                          </a:rPr>
                          <m:t>𝐵</m:t>
                        </m:r>
                      </m:num>
                      <m:den>
                        <m:r>
                          <a:rPr lang="en-US" sz="2200" i="1">
                            <a:solidFill>
                              <a:srgbClr val="FF0000"/>
                            </a:solidFill>
                            <a:effectLst/>
                            <a:latin typeface="Cambria Math" panose="02040503050406030204" pitchFamily="18" charset="0"/>
                            <a:ea typeface="Times New Roman" panose="02020603050405020304" pitchFamily="18" charset="0"/>
                          </a:rPr>
                          <m:t>𝐴</m:t>
                        </m:r>
                      </m:den>
                    </m:f>
                    <m:r>
                      <a:rPr lang="en-US" sz="2200" i="1">
                        <a:solidFill>
                          <a:srgbClr val="FF0000"/>
                        </a:solidFill>
                        <a:effectLst/>
                        <a:latin typeface="Cambria Math" panose="02040503050406030204" pitchFamily="18" charset="0"/>
                        <a:ea typeface="Times New Roman" panose="02020603050405020304" pitchFamily="18" charset="0"/>
                      </a:rPr>
                      <m:t> </m:t>
                    </m:r>
                  </m:oMath>
                </a14:m>
                <a:endParaRPr lang="en-US" sz="2200" dirty="0">
                  <a:solidFill>
                    <a:srgbClr val="FF0000"/>
                  </a:solidFill>
                  <a:effectLst/>
                  <a:latin typeface="Times New Roman" panose="02020603050405020304" pitchFamily="18" charset="0"/>
                  <a:ea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9E5F8A9D-BE38-7806-274C-48B9AD1D0809}"/>
                  </a:ext>
                </a:extLst>
              </p:cNvPr>
              <p:cNvSpPr txBox="1">
                <a:spLocks noRot="1" noChangeAspect="1" noMove="1" noResize="1" noEditPoints="1" noAdjustHandles="1" noChangeArrowheads="1" noChangeShapeType="1" noTextEdit="1"/>
              </p:cNvSpPr>
              <p:nvPr/>
            </p:nvSpPr>
            <p:spPr>
              <a:xfrm>
                <a:off x="7891810" y="8099889"/>
                <a:ext cx="11631265" cy="1863011"/>
              </a:xfrm>
              <a:prstGeom prst="rect">
                <a:avLst/>
              </a:prstGeom>
              <a:blipFill>
                <a:blip r:embed="rId6"/>
                <a:stretch>
                  <a:fillRect l="-681" t="-2295"/>
                </a:stretch>
              </a:blipFill>
            </p:spPr>
            <p:txBody>
              <a:bodyPr/>
              <a:lstStyle/>
              <a:p>
                <a:r>
                  <a:rPr lang="en-US">
                    <a:noFill/>
                  </a:rPr>
                  <a:t> </a:t>
                </a:r>
              </a:p>
            </p:txBody>
          </p:sp>
        </mc:Fallback>
      </mc:AlternateContent>
    </p:spTree>
    <p:extLst>
      <p:ext uri="{BB962C8B-B14F-4D97-AF65-F5344CB8AC3E}">
        <p14:creationId xmlns:p14="http://schemas.microsoft.com/office/powerpoint/2010/main" val="2560591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52D4916-32DA-4E66-A077-C7AF883FE535}"/>
                  </a:ext>
                </a:extLst>
              </p:cNvPr>
              <p:cNvSpPr txBox="1"/>
              <p:nvPr/>
            </p:nvSpPr>
            <p:spPr>
              <a:xfrm>
                <a:off x="835026" y="1514477"/>
                <a:ext cx="17497944" cy="830997"/>
              </a:xfrm>
              <a:prstGeom prst="rect">
                <a:avLst/>
              </a:prstGeom>
              <a:noFill/>
            </p:spPr>
            <p:txBody>
              <a:bodyPr wrap="square">
                <a:spAutoFit/>
              </a:bodyPr>
              <a:lstStyle/>
              <a:p>
                <a:pPr marL="0" marR="0" algn="just">
                  <a:spcBef>
                    <a:spcPts val="0"/>
                  </a:spcBef>
                  <a:spcAft>
                    <a:spcPts val="0"/>
                  </a:spcAft>
                </a:pPr>
                <a:r>
                  <a:rPr lang="en-US" sz="2400" b="1" dirty="0">
                    <a:effectLst/>
                    <a:latin typeface="Times New Roman" panose="02020603050405020304" pitchFamily="18" charset="0"/>
                    <a:ea typeface="Times New Roman" panose="02020603050405020304" pitchFamily="18" charset="0"/>
                  </a:rPr>
                  <a:t>For 10 mesh, If undersize is the desired product  Method 1 Add fractions from 4 mesh to 10 mesh to get </a:t>
                </a:r>
                <a14:m>
                  <m:oMath xmlns:m="http://schemas.openxmlformats.org/officeDocument/2006/math">
                    <m:sSub>
                      <m:sSubPr>
                        <m:ctrlPr>
                          <a:rPr lang="en-US" sz="2400" b="1" i="1" smtClean="0">
                            <a:effectLst/>
                            <a:latin typeface="Cambria Math" panose="02040503050406030204" pitchFamily="18" charset="0"/>
                            <a:ea typeface="Times New Roman" panose="02020603050405020304" pitchFamily="18" charset="0"/>
                          </a:rPr>
                        </m:ctrlPr>
                      </m:sSubPr>
                      <m:e>
                        <m:r>
                          <a:rPr lang="en-US" sz="2400" b="1" i="1">
                            <a:effectLst/>
                            <a:latin typeface="Cambria Math" panose="02040503050406030204" pitchFamily="18" charset="0"/>
                            <a:ea typeface="Times New Roman" panose="02020603050405020304" pitchFamily="18" charset="0"/>
                          </a:rPr>
                          <m:t>𝒙</m:t>
                        </m:r>
                      </m:e>
                      <m:sub>
                        <m:r>
                          <a:rPr lang="en-US" sz="2400" b="1" i="1">
                            <a:effectLst/>
                            <a:latin typeface="Cambria Math" panose="02040503050406030204" pitchFamily="18" charset="0"/>
                            <a:ea typeface="Times New Roman" panose="02020603050405020304" pitchFamily="18" charset="0"/>
                          </a:rPr>
                          <m:t>𝑨</m:t>
                        </m:r>
                      </m:sub>
                    </m:sSub>
                    <m:sSub>
                      <m:sSubPr>
                        <m:ctrlPr>
                          <a:rPr lang="en-US" sz="2400" b="1" i="1">
                            <a:effectLst/>
                            <a:latin typeface="Cambria Math" panose="02040503050406030204" pitchFamily="18" charset="0"/>
                            <a:ea typeface="Times New Roman" panose="02020603050405020304" pitchFamily="18" charset="0"/>
                          </a:rPr>
                        </m:ctrlPr>
                      </m:sSubPr>
                      <m:e>
                        <m:r>
                          <a:rPr lang="en-US" sz="2400" b="1" i="1">
                            <a:effectLst/>
                            <a:latin typeface="Cambria Math" panose="02040503050406030204" pitchFamily="18" charset="0"/>
                            <a:ea typeface="Times New Roman" panose="02020603050405020304" pitchFamily="18" charset="0"/>
                          </a:rPr>
                          <m:t>    </m:t>
                        </m:r>
                        <m:r>
                          <a:rPr lang="en-US" sz="2400" b="1" i="1">
                            <a:effectLst/>
                            <a:latin typeface="Cambria Math" panose="02040503050406030204" pitchFamily="18" charset="0"/>
                            <a:ea typeface="Times New Roman" panose="02020603050405020304" pitchFamily="18" charset="0"/>
                          </a:rPr>
                          <m:t>𝒙</m:t>
                        </m:r>
                      </m:e>
                      <m:sub>
                        <m:r>
                          <a:rPr lang="en-US" sz="2400" b="1" i="1">
                            <a:effectLst/>
                            <a:latin typeface="Cambria Math" panose="02040503050406030204" pitchFamily="18" charset="0"/>
                            <a:ea typeface="Times New Roman" panose="02020603050405020304" pitchFamily="18" charset="0"/>
                          </a:rPr>
                          <m:t>𝑩</m:t>
                        </m:r>
                      </m:sub>
                    </m:sSub>
                    <m:sSub>
                      <m:sSubPr>
                        <m:ctrlPr>
                          <a:rPr lang="en-US" sz="2400" b="1" i="1">
                            <a:effectLst/>
                            <a:latin typeface="Cambria Math" panose="02040503050406030204" pitchFamily="18" charset="0"/>
                            <a:ea typeface="Times New Roman" panose="02020603050405020304" pitchFamily="18" charset="0"/>
                          </a:rPr>
                        </m:ctrlPr>
                      </m:sSubPr>
                      <m:e>
                        <m:r>
                          <a:rPr lang="en-US" sz="2400" b="1" i="1">
                            <a:effectLst/>
                            <a:latin typeface="Cambria Math" panose="02040503050406030204" pitchFamily="18" charset="0"/>
                            <a:ea typeface="Times New Roman" panose="02020603050405020304" pitchFamily="18" charset="0"/>
                          </a:rPr>
                          <m:t>      </m:t>
                        </m:r>
                        <m:r>
                          <a:rPr lang="en-US" sz="2400" b="1" i="1">
                            <a:effectLst/>
                            <a:latin typeface="Cambria Math" panose="02040503050406030204" pitchFamily="18" charset="0"/>
                            <a:ea typeface="Times New Roman" panose="02020603050405020304" pitchFamily="18" charset="0"/>
                          </a:rPr>
                          <m:t>𝒙</m:t>
                        </m:r>
                      </m:e>
                      <m:sub>
                        <m:r>
                          <a:rPr lang="en-US" sz="2400" b="1" i="1">
                            <a:effectLst/>
                            <a:latin typeface="Cambria Math" panose="02040503050406030204" pitchFamily="18" charset="0"/>
                            <a:ea typeface="Times New Roman" panose="02020603050405020304" pitchFamily="18" charset="0"/>
                          </a:rPr>
                          <m:t>𝒄</m:t>
                        </m:r>
                      </m:sub>
                    </m:sSub>
                  </m:oMath>
                </a14:m>
                <a:r>
                  <a:rPr lang="en-US" sz="2400" b="1" dirty="0">
                    <a:effectLst/>
                    <a:latin typeface="Times New Roman" panose="02020603050405020304" pitchFamily="18" charset="0"/>
                    <a:ea typeface="Times New Roman" panose="02020603050405020304" pitchFamily="18" charset="0"/>
                  </a:rPr>
                  <a:t> . Or take </a:t>
                </a:r>
                <a:r>
                  <a:rPr lang="en-US" sz="2400" b="1" dirty="0" err="1">
                    <a:effectLst/>
                    <a:latin typeface="Times New Roman" panose="02020603050405020304" pitchFamily="18" charset="0"/>
                    <a:ea typeface="Times New Roman" panose="02020603050405020304" pitchFamily="18" charset="0"/>
                  </a:rPr>
                  <a:t>Cummulative</a:t>
                </a:r>
                <a:r>
                  <a:rPr lang="en-US" sz="2400" b="1" dirty="0">
                    <a:effectLst/>
                    <a:latin typeface="Times New Roman" panose="02020603050405020304" pitchFamily="18" charset="0"/>
                    <a:ea typeface="Times New Roman" panose="02020603050405020304" pitchFamily="18" charset="0"/>
                  </a:rPr>
                  <a:t> fractions</a:t>
                </a:r>
              </a:p>
            </p:txBody>
          </p:sp>
        </mc:Choice>
        <mc:Fallback xmlns="">
          <p:sp>
            <p:nvSpPr>
              <p:cNvPr id="9" name="TextBox 8">
                <a:extLst>
                  <a:ext uri="{FF2B5EF4-FFF2-40B4-BE49-F238E27FC236}">
                    <a16:creationId xmlns:a16="http://schemas.microsoft.com/office/drawing/2014/main" id="{A52D4916-32DA-4E66-A077-C7AF883FE535}"/>
                  </a:ext>
                </a:extLst>
              </p:cNvPr>
              <p:cNvSpPr txBox="1">
                <a:spLocks noRot="1" noChangeAspect="1" noMove="1" noResize="1" noEditPoints="1" noAdjustHandles="1" noChangeArrowheads="1" noChangeShapeType="1" noTextEdit="1"/>
              </p:cNvSpPr>
              <p:nvPr/>
            </p:nvSpPr>
            <p:spPr>
              <a:xfrm>
                <a:off x="835026" y="1514477"/>
                <a:ext cx="17497944" cy="830997"/>
              </a:xfrm>
              <a:prstGeom prst="rect">
                <a:avLst/>
              </a:prstGeom>
              <a:blipFill>
                <a:blip r:embed="rId3"/>
                <a:stretch>
                  <a:fillRect l="-557" t="-5839" r="-523" b="-15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DB3BACC9-346F-5D8F-C4D6-004F1B996F01}"/>
                  </a:ext>
                </a:extLst>
              </p:cNvPr>
              <p:cNvGraphicFramePr>
                <a:graphicFrameLocks noGrp="1"/>
              </p:cNvGraphicFramePr>
              <p:nvPr>
                <p:extLst>
                  <p:ext uri="{D42A27DB-BD31-4B8C-83A1-F6EECF244321}">
                    <p14:modId xmlns:p14="http://schemas.microsoft.com/office/powerpoint/2010/main" val="4169612661"/>
                  </p:ext>
                </p:extLst>
              </p:nvPr>
            </p:nvGraphicFramePr>
            <p:xfrm>
              <a:off x="846205" y="2239354"/>
              <a:ext cx="13166286" cy="6638715"/>
            </p:xfrm>
            <a:graphic>
              <a:graphicData uri="http://schemas.openxmlformats.org/drawingml/2006/table">
                <a:tbl>
                  <a:tblPr firstRow="1" firstCol="1" bandRow="1">
                    <a:tableStyleId>{5C22544A-7EE6-4342-B048-85BDC9FD1C3A}</a:tableStyleId>
                  </a:tblPr>
                  <a:tblGrid>
                    <a:gridCol w="1269023">
                      <a:extLst>
                        <a:ext uri="{9D8B030D-6E8A-4147-A177-3AD203B41FA5}">
                          <a16:colId xmlns:a16="http://schemas.microsoft.com/office/drawing/2014/main" val="4209015010"/>
                        </a:ext>
                      </a:extLst>
                    </a:gridCol>
                    <a:gridCol w="1588642">
                      <a:extLst>
                        <a:ext uri="{9D8B030D-6E8A-4147-A177-3AD203B41FA5}">
                          <a16:colId xmlns:a16="http://schemas.microsoft.com/office/drawing/2014/main" val="750005251"/>
                        </a:ext>
                      </a:extLst>
                    </a:gridCol>
                    <a:gridCol w="1464568">
                      <a:extLst>
                        <a:ext uri="{9D8B030D-6E8A-4147-A177-3AD203B41FA5}">
                          <a16:colId xmlns:a16="http://schemas.microsoft.com/office/drawing/2014/main" val="66803437"/>
                        </a:ext>
                      </a:extLst>
                    </a:gridCol>
                    <a:gridCol w="1834083">
                      <a:extLst>
                        <a:ext uri="{9D8B030D-6E8A-4147-A177-3AD203B41FA5}">
                          <a16:colId xmlns:a16="http://schemas.microsoft.com/office/drawing/2014/main" val="951961833"/>
                        </a:ext>
                      </a:extLst>
                    </a:gridCol>
                    <a:gridCol w="1464568">
                      <a:extLst>
                        <a:ext uri="{9D8B030D-6E8A-4147-A177-3AD203B41FA5}">
                          <a16:colId xmlns:a16="http://schemas.microsoft.com/office/drawing/2014/main" val="4189481084"/>
                        </a:ext>
                      </a:extLst>
                    </a:gridCol>
                    <a:gridCol w="949407">
                      <a:extLst>
                        <a:ext uri="{9D8B030D-6E8A-4147-A177-3AD203B41FA5}">
                          <a16:colId xmlns:a16="http://schemas.microsoft.com/office/drawing/2014/main" val="1948312317"/>
                        </a:ext>
                      </a:extLst>
                    </a:gridCol>
                    <a:gridCol w="1297344">
                      <a:extLst>
                        <a:ext uri="{9D8B030D-6E8A-4147-A177-3AD203B41FA5}">
                          <a16:colId xmlns:a16="http://schemas.microsoft.com/office/drawing/2014/main" val="226611337"/>
                        </a:ext>
                      </a:extLst>
                    </a:gridCol>
                    <a:gridCol w="1834083">
                      <a:extLst>
                        <a:ext uri="{9D8B030D-6E8A-4147-A177-3AD203B41FA5}">
                          <a16:colId xmlns:a16="http://schemas.microsoft.com/office/drawing/2014/main" val="4198390522"/>
                        </a:ext>
                      </a:extLst>
                    </a:gridCol>
                    <a:gridCol w="1464568">
                      <a:extLst>
                        <a:ext uri="{9D8B030D-6E8A-4147-A177-3AD203B41FA5}">
                          <a16:colId xmlns:a16="http://schemas.microsoft.com/office/drawing/2014/main" val="2093900555"/>
                        </a:ext>
                      </a:extLst>
                    </a:gridCol>
                  </a:tblGrid>
                  <a:tr h="339114">
                    <a:tc>
                      <a:txBody>
                        <a:bodyPr/>
                        <a:lstStyle/>
                        <a:p>
                          <a:pPr marL="0" marR="0" algn="ctr">
                            <a:spcBef>
                              <a:spcPts val="0"/>
                            </a:spcBef>
                            <a:spcAft>
                              <a:spcPts val="0"/>
                            </a:spcAft>
                          </a:pPr>
                          <a:r>
                            <a:rPr lang="en-US" sz="2600" dirty="0">
                              <a:effectLst/>
                            </a:rPr>
                            <a:t> </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gridSpan="4">
                      <a:txBody>
                        <a:bodyPr/>
                        <a:lstStyle/>
                        <a:p>
                          <a:pPr marL="0" marR="0" algn="ctr">
                            <a:spcBef>
                              <a:spcPts val="0"/>
                            </a:spcBef>
                            <a:spcAft>
                              <a:spcPts val="0"/>
                            </a:spcAft>
                          </a:pPr>
                          <a:r>
                            <a:rPr lang="en-US" sz="2600">
                              <a:effectLst/>
                            </a:rPr>
                            <a:t>Mass Fraction</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algn="ctr">
                            <a:spcBef>
                              <a:spcPts val="0"/>
                            </a:spcBef>
                            <a:spcAft>
                              <a:spcPts val="0"/>
                            </a:spcAft>
                          </a:pPr>
                          <a:r>
                            <a:rPr lang="en-US" sz="2600">
                              <a:effectLst/>
                            </a:rPr>
                            <a:t>Cummulative mass fraction</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93577743"/>
                      </a:ext>
                    </a:extLst>
                  </a:tr>
                  <a:tr h="605901">
                    <a:tc>
                      <a:txBody>
                        <a:bodyPr/>
                        <a:lstStyle/>
                        <a:p>
                          <a:pPr marL="0" marR="0" algn="ctr">
                            <a:spcBef>
                              <a:spcPts val="0"/>
                            </a:spcBef>
                            <a:spcAft>
                              <a:spcPts val="0"/>
                            </a:spcAft>
                          </a:pPr>
                          <a:r>
                            <a:rPr lang="en-US" sz="2600">
                              <a:effectLst/>
                            </a:rPr>
                            <a:t>Screen </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Feed</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Oversize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Intermediate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Undersize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Feed</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Oversize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Intermediate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Undersize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1374103261"/>
                      </a:ext>
                    </a:extLst>
                  </a:tr>
                  <a:tr h="605901">
                    <a:tc>
                      <a:txBody>
                        <a:bodyPr/>
                        <a:lstStyle/>
                        <a:p>
                          <a:pPr marL="0" marR="0" algn="ctr">
                            <a:spcBef>
                              <a:spcPts val="0"/>
                            </a:spcBef>
                            <a:spcAft>
                              <a:spcPts val="0"/>
                            </a:spcAft>
                          </a:pPr>
                          <a:r>
                            <a:rPr lang="en-US" sz="2600">
                              <a:effectLst/>
                            </a:rPr>
                            <a:t>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0.035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0.14</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0.035</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0.14</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3530344280"/>
                      </a:ext>
                    </a:extLst>
                  </a:tr>
                  <a:tr h="605901">
                    <a:tc>
                      <a:txBody>
                        <a:bodyPr/>
                        <a:lstStyle/>
                        <a:p>
                          <a:pPr marL="0" marR="0" algn="ctr">
                            <a:spcBef>
                              <a:spcPts val="0"/>
                            </a:spcBef>
                            <a:spcAft>
                              <a:spcPts val="0"/>
                            </a:spcAft>
                          </a:pPr>
                          <a:r>
                            <a:rPr lang="en-US" sz="2600">
                              <a:effectLst/>
                            </a:rPr>
                            <a:t>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0.15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0.042</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0.185</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0.64</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0.042</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3900132028"/>
                      </a:ext>
                    </a:extLst>
                  </a:tr>
                  <a:tr h="339114">
                    <a:tc>
                      <a:txBody>
                        <a:bodyPr/>
                        <a:lstStyle/>
                        <a:p>
                          <a:pPr marL="0" marR="0" algn="ctr">
                            <a:spcBef>
                              <a:spcPts val="0"/>
                            </a:spcBef>
                            <a:spcAft>
                              <a:spcPts val="0"/>
                            </a:spcAft>
                          </a:pPr>
                          <a:r>
                            <a:rPr lang="en-US" sz="2600">
                              <a:effectLst/>
                            </a:rPr>
                            <a:t>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0.275</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0.24</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0.358</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0.46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0.88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0.4</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609476461"/>
                      </a:ext>
                    </a:extLst>
                  </a:tr>
                  <a:tr h="605901">
                    <a:tc>
                      <a:txBody>
                        <a:bodyPr/>
                        <a:lstStyle/>
                        <a:p>
                          <a:pPr marL="0" marR="0" algn="ctr">
                            <a:spcBef>
                              <a:spcPts val="0"/>
                            </a:spcBef>
                            <a:spcAft>
                              <a:spcPts val="0"/>
                            </a:spcAft>
                          </a:pPr>
                          <a:r>
                            <a:rPr lang="en-US" sz="2600">
                              <a:effectLst/>
                            </a:rPr>
                            <a:t>10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0.235</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0.08</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0.308</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0.2</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0.695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0.96</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0.708</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0.2</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3750068946"/>
                      </a:ext>
                    </a:extLst>
                  </a:tr>
                  <a:tr h="605901">
                    <a:tc>
                      <a:txBody>
                        <a:bodyPr/>
                        <a:lstStyle/>
                        <a:p>
                          <a:pPr marL="0" marR="0" algn="ctr">
                            <a:spcBef>
                              <a:spcPts val="0"/>
                            </a:spcBef>
                            <a:spcAft>
                              <a:spcPts val="0"/>
                            </a:spcAft>
                          </a:pPr>
                          <a:r>
                            <a:rPr lang="en-US" sz="2600">
                              <a:effectLst/>
                            </a:rPr>
                            <a:t>14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0.183</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0.267</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0.855</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0.891</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0.467</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585660520"/>
                      </a:ext>
                    </a:extLst>
                  </a:tr>
                  <a:tr h="605901">
                    <a:tc>
                      <a:txBody>
                        <a:bodyPr/>
                        <a:lstStyle/>
                        <a:p>
                          <a:pPr marL="0" marR="0" algn="ctr">
                            <a:spcBef>
                              <a:spcPts val="0"/>
                            </a:spcBef>
                            <a:spcAft>
                              <a:spcPts val="0"/>
                            </a:spcAft>
                          </a:pPr>
                          <a:r>
                            <a:rPr lang="en-US" sz="2600">
                              <a:effectLst/>
                            </a:rPr>
                            <a:t>20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0.091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0.102</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0.202</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0.946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0.993</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0.669</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3734067812"/>
                      </a:ext>
                    </a:extLst>
                  </a:tr>
                  <a:tr h="339114">
                    <a:tc>
                      <a:txBody>
                        <a:bodyPr/>
                        <a:lstStyle/>
                        <a:p>
                          <a:pPr marL="0" marR="0" algn="ctr">
                            <a:spcBef>
                              <a:spcPts val="0"/>
                            </a:spcBef>
                            <a:spcAft>
                              <a:spcPts val="0"/>
                            </a:spcAft>
                          </a:pPr>
                          <a:r>
                            <a:rPr lang="en-US" sz="2600">
                              <a:effectLst/>
                            </a:rPr>
                            <a:t>28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0.034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0.007</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0.196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0.865</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1429518795"/>
                      </a:ext>
                    </a:extLst>
                  </a:tr>
                  <a:tr h="605901">
                    <a:tc>
                      <a:txBody>
                        <a:bodyPr/>
                        <a:lstStyle/>
                        <a:p>
                          <a:pPr marL="0" marR="0" algn="ctr">
                            <a:spcBef>
                              <a:spcPts val="0"/>
                            </a:spcBef>
                            <a:spcAft>
                              <a:spcPts val="0"/>
                            </a:spcAft>
                          </a:pPr>
                          <a:r>
                            <a:rPr lang="en-US" sz="2600">
                              <a:effectLst/>
                            </a:rPr>
                            <a:t>35</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0.013</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0.089</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0.993</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0.954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2890821121"/>
                      </a:ext>
                    </a:extLst>
                  </a:tr>
                  <a:tr h="339114">
                    <a:tc>
                      <a:txBody>
                        <a:bodyPr/>
                        <a:lstStyle/>
                        <a:p>
                          <a:pPr marL="0" marR="0" algn="ctr">
                            <a:spcBef>
                              <a:spcPts val="0"/>
                            </a:spcBef>
                            <a:spcAft>
                              <a:spcPts val="0"/>
                            </a:spcAft>
                          </a:pPr>
                          <a:r>
                            <a:rPr lang="en-US" sz="2600">
                              <a:effectLst/>
                            </a:rPr>
                            <a:t>48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0.007</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0.046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1093725149"/>
                      </a:ext>
                    </a:extLst>
                  </a:tr>
                  <a:tr h="625869">
                    <a:tc>
                      <a:txBody>
                        <a:bodyPr/>
                        <a:lstStyle/>
                        <a:p>
                          <a:pPr marL="0" marR="0" algn="ctr">
                            <a:spcBef>
                              <a:spcPts val="0"/>
                            </a:spcBef>
                            <a:spcAft>
                              <a:spcPts val="0"/>
                            </a:spcAft>
                          </a:pPr>
                          <a:r>
                            <a:rPr lang="en-US" sz="2600">
                              <a:effectLst/>
                            </a:rPr>
                            <a:t> </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14:m>
                            <m:oMath xmlns:m="http://schemas.openxmlformats.org/officeDocument/2006/math">
                              <m:sSub>
                                <m:sSubPr>
                                  <m:ctrlPr>
                                    <a:rPr lang="en-US" sz="2600" i="1" smtClean="0">
                                      <a:solidFill>
                                        <a:srgbClr val="FF0000"/>
                                      </a:solidFill>
                                      <a:effectLst/>
                                      <a:highlight>
                                        <a:srgbClr val="FFFF00"/>
                                      </a:highlight>
                                      <a:latin typeface="Cambria Math" panose="02040503050406030204" pitchFamily="18" charset="0"/>
                                    </a:rPr>
                                  </m:ctrlPr>
                                </m:sSubPr>
                                <m:e>
                                  <m:r>
                                    <a:rPr lang="en-US" sz="2600">
                                      <a:solidFill>
                                        <a:srgbClr val="FF0000"/>
                                      </a:solidFill>
                                      <a:effectLst/>
                                      <a:highlight>
                                        <a:srgbClr val="FFFF00"/>
                                      </a:highlight>
                                      <a:latin typeface="Cambria Math" panose="02040503050406030204" pitchFamily="18" charset="0"/>
                                    </a:rPr>
                                    <m:t>𝑥</m:t>
                                  </m:r>
                                </m:e>
                                <m:sub>
                                  <m:r>
                                    <a:rPr lang="en-US" sz="2600">
                                      <a:solidFill>
                                        <a:srgbClr val="FF0000"/>
                                      </a:solidFill>
                                      <a:effectLst/>
                                      <a:highlight>
                                        <a:srgbClr val="FFFF00"/>
                                      </a:highlight>
                                      <a:latin typeface="Cambria Math" panose="02040503050406030204" pitchFamily="18" charset="0"/>
                                    </a:rPr>
                                    <m:t>𝐴</m:t>
                                  </m:r>
                                </m:sub>
                              </m:sSub>
                              <m:r>
                                <a:rPr lang="en-US" sz="2600">
                                  <a:solidFill>
                                    <a:srgbClr val="FF0000"/>
                                  </a:solidFill>
                                  <a:effectLst/>
                                  <a:highlight>
                                    <a:srgbClr val="FFFF00"/>
                                  </a:highlight>
                                  <a:latin typeface="Cambria Math" panose="02040503050406030204" pitchFamily="18" charset="0"/>
                                </a:rPr>
                                <m:t>=</m:t>
                              </m:r>
                            </m:oMath>
                          </a14:m>
                          <a:r>
                            <a:rPr lang="en-US" sz="2600" dirty="0">
                              <a:solidFill>
                                <a:srgbClr val="FF0000"/>
                              </a:solidFill>
                              <a:effectLst/>
                              <a:highlight>
                                <a:srgbClr val="FFFF00"/>
                              </a:highlight>
                            </a:rPr>
                            <a:t>0.695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14:m>
                            <m:oMath xmlns:m="http://schemas.openxmlformats.org/officeDocument/2006/math">
                              <m:sSub>
                                <m:sSubPr>
                                  <m:ctrlPr>
                                    <a:rPr lang="en-US" sz="2600" i="1" smtClean="0">
                                      <a:solidFill>
                                        <a:srgbClr val="FF0000"/>
                                      </a:solidFill>
                                      <a:effectLst/>
                                      <a:highlight>
                                        <a:srgbClr val="FFFF00"/>
                                      </a:highlight>
                                      <a:latin typeface="Cambria Math" panose="02040503050406030204" pitchFamily="18" charset="0"/>
                                    </a:rPr>
                                  </m:ctrlPr>
                                </m:sSubPr>
                                <m:e>
                                  <m:r>
                                    <a:rPr lang="en-US" sz="2600">
                                      <a:solidFill>
                                        <a:srgbClr val="FF0000"/>
                                      </a:solidFill>
                                      <a:effectLst/>
                                      <a:highlight>
                                        <a:srgbClr val="FFFF00"/>
                                      </a:highlight>
                                      <a:latin typeface="Cambria Math" panose="02040503050406030204" pitchFamily="18" charset="0"/>
                                    </a:rPr>
                                    <m:t>𝑥</m:t>
                                  </m:r>
                                </m:e>
                                <m:sub>
                                  <m:r>
                                    <a:rPr lang="en-US" sz="2600">
                                      <a:solidFill>
                                        <a:srgbClr val="FF0000"/>
                                      </a:solidFill>
                                      <a:effectLst/>
                                      <a:highlight>
                                        <a:srgbClr val="FFFF00"/>
                                      </a:highlight>
                                      <a:latin typeface="Cambria Math" panose="02040503050406030204" pitchFamily="18" charset="0"/>
                                    </a:rPr>
                                    <m:t>𝐵</m:t>
                                  </m:r>
                                </m:sub>
                              </m:sSub>
                              <m:r>
                                <a:rPr lang="en-US" sz="2600">
                                  <a:solidFill>
                                    <a:srgbClr val="FF0000"/>
                                  </a:solidFill>
                                  <a:effectLst/>
                                  <a:highlight>
                                    <a:srgbClr val="FFFF00"/>
                                  </a:highlight>
                                  <a:latin typeface="Cambria Math" panose="02040503050406030204" pitchFamily="18" charset="0"/>
                                </a:rPr>
                                <m:t>=</m:t>
                              </m:r>
                            </m:oMath>
                          </a14:m>
                          <a:r>
                            <a:rPr lang="en-US" sz="2600" dirty="0">
                              <a:solidFill>
                                <a:srgbClr val="FF0000"/>
                              </a:solidFill>
                              <a:effectLst/>
                              <a:highlight>
                                <a:srgbClr val="FFFF00"/>
                              </a:highlight>
                            </a:rPr>
                            <a:t>0.96</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14:m>
                            <m:oMath xmlns:m="http://schemas.openxmlformats.org/officeDocument/2006/math">
                              <m:sSub>
                                <m:sSubPr>
                                  <m:ctrlPr>
                                    <a:rPr lang="en-US" sz="2600" i="1" smtClean="0">
                                      <a:solidFill>
                                        <a:srgbClr val="FF0000"/>
                                      </a:solidFill>
                                      <a:effectLst/>
                                      <a:highlight>
                                        <a:srgbClr val="FFFF00"/>
                                      </a:highlight>
                                      <a:latin typeface="Cambria Math" panose="02040503050406030204" pitchFamily="18" charset="0"/>
                                    </a:rPr>
                                  </m:ctrlPr>
                                </m:sSubPr>
                                <m:e>
                                  <m:r>
                                    <a:rPr lang="en-US" sz="2600">
                                      <a:solidFill>
                                        <a:srgbClr val="FF0000"/>
                                      </a:solidFill>
                                      <a:effectLst/>
                                      <a:highlight>
                                        <a:srgbClr val="FFFF00"/>
                                      </a:highlight>
                                      <a:latin typeface="Cambria Math" panose="02040503050406030204" pitchFamily="18" charset="0"/>
                                    </a:rPr>
                                    <m:t>𝑥</m:t>
                                  </m:r>
                                </m:e>
                                <m:sub>
                                  <m:r>
                                    <a:rPr lang="en-US" sz="2600">
                                      <a:solidFill>
                                        <a:srgbClr val="FF0000"/>
                                      </a:solidFill>
                                      <a:effectLst/>
                                      <a:highlight>
                                        <a:srgbClr val="FFFF00"/>
                                      </a:highlight>
                                      <a:latin typeface="Cambria Math" panose="02040503050406030204" pitchFamily="18" charset="0"/>
                                    </a:rPr>
                                    <m:t>𝐶</m:t>
                                  </m:r>
                                </m:sub>
                              </m:sSub>
                              <m:r>
                                <a:rPr lang="en-US" sz="2600">
                                  <a:solidFill>
                                    <a:srgbClr val="FF0000"/>
                                  </a:solidFill>
                                  <a:effectLst/>
                                  <a:highlight>
                                    <a:srgbClr val="FFFF00"/>
                                  </a:highlight>
                                  <a:latin typeface="Cambria Math" panose="02040503050406030204" pitchFamily="18" charset="0"/>
                                </a:rPr>
                                <m:t>=</m:t>
                              </m:r>
                            </m:oMath>
                          </a14:m>
                          <a:r>
                            <a:rPr lang="en-US" sz="2600" dirty="0">
                              <a:solidFill>
                                <a:srgbClr val="FF0000"/>
                              </a:solidFill>
                              <a:effectLst/>
                              <a:highlight>
                                <a:srgbClr val="FFFF00"/>
                              </a:highlight>
                            </a:rPr>
                            <a:t>0.708</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 </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algn="ctr"/>
                          <a:endParaRPr lang="en-US" sz="2600">
                            <a:effectLst/>
                            <a:latin typeface="Times New Roman" panose="02020603050405020304" pitchFamily="18" charset="0"/>
                          </a:endParaRPr>
                        </a:p>
                      </a:txBody>
                      <a:tcPr marL="45490" marR="45490" marT="0" marB="0" anchor="b"/>
                    </a:tc>
                    <a:tc>
                      <a:txBody>
                        <a:bodyPr/>
                        <a:lstStyle/>
                        <a:p>
                          <a:pPr algn="ctr"/>
                          <a:endParaRPr lang="en-US" sz="2600">
                            <a:effectLst/>
                            <a:latin typeface="Times New Roman" panose="02020603050405020304" pitchFamily="18" charset="0"/>
                          </a:endParaRPr>
                        </a:p>
                      </a:txBody>
                      <a:tcPr marL="45490" marR="45490" marT="0" marB="0" anchor="b"/>
                    </a:tc>
                    <a:tc>
                      <a:txBody>
                        <a:bodyPr/>
                        <a:lstStyle/>
                        <a:p>
                          <a:pPr algn="ctr"/>
                          <a:endParaRPr lang="en-US" sz="2600">
                            <a:effectLst/>
                            <a:latin typeface="Times New Roman" panose="02020603050405020304" pitchFamily="18" charset="0"/>
                          </a:endParaRPr>
                        </a:p>
                      </a:txBody>
                      <a:tcPr marL="45490" marR="45490" marT="0" marB="0" anchor="b"/>
                    </a:tc>
                    <a:tc>
                      <a:txBody>
                        <a:bodyPr/>
                        <a:lstStyle/>
                        <a:p>
                          <a:pPr algn="ctr"/>
                          <a:endParaRPr lang="en-US" sz="2600" dirty="0">
                            <a:effectLst/>
                            <a:latin typeface="Times New Roman" panose="02020603050405020304" pitchFamily="18" charset="0"/>
                          </a:endParaRPr>
                        </a:p>
                      </a:txBody>
                      <a:tcPr marL="45490" marR="45490" marT="0" marB="0" anchor="b"/>
                    </a:tc>
                    <a:extLst>
                      <a:ext uri="{0D108BD9-81ED-4DB2-BD59-A6C34878D82A}">
                        <a16:rowId xmlns:a16="http://schemas.microsoft.com/office/drawing/2014/main" val="4003016843"/>
                      </a:ext>
                    </a:extLst>
                  </a:tr>
                </a:tbl>
              </a:graphicData>
            </a:graphic>
          </p:graphicFrame>
        </mc:Choice>
        <mc:Fallback xmlns="">
          <p:graphicFrame>
            <p:nvGraphicFramePr>
              <p:cNvPr id="10" name="Table 9">
                <a:extLst>
                  <a:ext uri="{FF2B5EF4-FFF2-40B4-BE49-F238E27FC236}">
                    <a16:creationId xmlns:a16="http://schemas.microsoft.com/office/drawing/2014/main" id="{DB3BACC9-346F-5D8F-C4D6-004F1B996F01}"/>
                  </a:ext>
                </a:extLst>
              </p:cNvPr>
              <p:cNvGraphicFramePr>
                <a:graphicFrameLocks noGrp="1"/>
              </p:cNvGraphicFramePr>
              <p:nvPr>
                <p:extLst>
                  <p:ext uri="{D42A27DB-BD31-4B8C-83A1-F6EECF244321}">
                    <p14:modId xmlns:p14="http://schemas.microsoft.com/office/powerpoint/2010/main" val="4169612661"/>
                  </p:ext>
                </p:extLst>
              </p:nvPr>
            </p:nvGraphicFramePr>
            <p:xfrm>
              <a:off x="846205" y="2239354"/>
              <a:ext cx="13166286" cy="6638715"/>
            </p:xfrm>
            <a:graphic>
              <a:graphicData uri="http://schemas.openxmlformats.org/drawingml/2006/table">
                <a:tbl>
                  <a:tblPr firstRow="1" firstCol="1" bandRow="1">
                    <a:tableStyleId>{5C22544A-7EE6-4342-B048-85BDC9FD1C3A}</a:tableStyleId>
                  </a:tblPr>
                  <a:tblGrid>
                    <a:gridCol w="1269023">
                      <a:extLst>
                        <a:ext uri="{9D8B030D-6E8A-4147-A177-3AD203B41FA5}">
                          <a16:colId xmlns:a16="http://schemas.microsoft.com/office/drawing/2014/main" val="4209015010"/>
                        </a:ext>
                      </a:extLst>
                    </a:gridCol>
                    <a:gridCol w="1588642">
                      <a:extLst>
                        <a:ext uri="{9D8B030D-6E8A-4147-A177-3AD203B41FA5}">
                          <a16:colId xmlns:a16="http://schemas.microsoft.com/office/drawing/2014/main" val="750005251"/>
                        </a:ext>
                      </a:extLst>
                    </a:gridCol>
                    <a:gridCol w="1464568">
                      <a:extLst>
                        <a:ext uri="{9D8B030D-6E8A-4147-A177-3AD203B41FA5}">
                          <a16:colId xmlns:a16="http://schemas.microsoft.com/office/drawing/2014/main" val="66803437"/>
                        </a:ext>
                      </a:extLst>
                    </a:gridCol>
                    <a:gridCol w="1834083">
                      <a:extLst>
                        <a:ext uri="{9D8B030D-6E8A-4147-A177-3AD203B41FA5}">
                          <a16:colId xmlns:a16="http://schemas.microsoft.com/office/drawing/2014/main" val="951961833"/>
                        </a:ext>
                      </a:extLst>
                    </a:gridCol>
                    <a:gridCol w="1464568">
                      <a:extLst>
                        <a:ext uri="{9D8B030D-6E8A-4147-A177-3AD203B41FA5}">
                          <a16:colId xmlns:a16="http://schemas.microsoft.com/office/drawing/2014/main" val="4189481084"/>
                        </a:ext>
                      </a:extLst>
                    </a:gridCol>
                    <a:gridCol w="949407">
                      <a:extLst>
                        <a:ext uri="{9D8B030D-6E8A-4147-A177-3AD203B41FA5}">
                          <a16:colId xmlns:a16="http://schemas.microsoft.com/office/drawing/2014/main" val="1948312317"/>
                        </a:ext>
                      </a:extLst>
                    </a:gridCol>
                    <a:gridCol w="1297344">
                      <a:extLst>
                        <a:ext uri="{9D8B030D-6E8A-4147-A177-3AD203B41FA5}">
                          <a16:colId xmlns:a16="http://schemas.microsoft.com/office/drawing/2014/main" val="226611337"/>
                        </a:ext>
                      </a:extLst>
                    </a:gridCol>
                    <a:gridCol w="1834083">
                      <a:extLst>
                        <a:ext uri="{9D8B030D-6E8A-4147-A177-3AD203B41FA5}">
                          <a16:colId xmlns:a16="http://schemas.microsoft.com/office/drawing/2014/main" val="4198390522"/>
                        </a:ext>
                      </a:extLst>
                    </a:gridCol>
                    <a:gridCol w="1464568">
                      <a:extLst>
                        <a:ext uri="{9D8B030D-6E8A-4147-A177-3AD203B41FA5}">
                          <a16:colId xmlns:a16="http://schemas.microsoft.com/office/drawing/2014/main" val="2093900555"/>
                        </a:ext>
                      </a:extLst>
                    </a:gridCol>
                  </a:tblGrid>
                  <a:tr h="396240">
                    <a:tc>
                      <a:txBody>
                        <a:bodyPr/>
                        <a:lstStyle/>
                        <a:p>
                          <a:pPr marL="0" marR="0" algn="ctr">
                            <a:spcBef>
                              <a:spcPts val="0"/>
                            </a:spcBef>
                            <a:spcAft>
                              <a:spcPts val="0"/>
                            </a:spcAft>
                          </a:pPr>
                          <a:r>
                            <a:rPr lang="en-US" sz="2600" dirty="0">
                              <a:effectLst/>
                            </a:rPr>
                            <a:t> </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gridSpan="4">
                      <a:txBody>
                        <a:bodyPr/>
                        <a:lstStyle/>
                        <a:p>
                          <a:pPr marL="0" marR="0" algn="ctr">
                            <a:spcBef>
                              <a:spcPts val="0"/>
                            </a:spcBef>
                            <a:spcAft>
                              <a:spcPts val="0"/>
                            </a:spcAft>
                          </a:pPr>
                          <a:r>
                            <a:rPr lang="en-US" sz="2600">
                              <a:effectLst/>
                            </a:rPr>
                            <a:t>Mass Fraction</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algn="ctr">
                            <a:spcBef>
                              <a:spcPts val="0"/>
                            </a:spcBef>
                            <a:spcAft>
                              <a:spcPts val="0"/>
                            </a:spcAft>
                          </a:pPr>
                          <a:r>
                            <a:rPr lang="en-US" sz="2600">
                              <a:effectLst/>
                            </a:rPr>
                            <a:t>Cummulative mass fraction</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93577743"/>
                      </a:ext>
                    </a:extLst>
                  </a:tr>
                  <a:tr h="792480">
                    <a:tc>
                      <a:txBody>
                        <a:bodyPr/>
                        <a:lstStyle/>
                        <a:p>
                          <a:pPr marL="0" marR="0" algn="ctr">
                            <a:spcBef>
                              <a:spcPts val="0"/>
                            </a:spcBef>
                            <a:spcAft>
                              <a:spcPts val="0"/>
                            </a:spcAft>
                          </a:pPr>
                          <a:r>
                            <a:rPr lang="en-US" sz="2600">
                              <a:effectLst/>
                            </a:rPr>
                            <a:t>Screen </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Feed</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Oversize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Intermediate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Undersize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Feed</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Oversize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Intermediate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Undersize</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1374103261"/>
                      </a:ext>
                    </a:extLst>
                  </a:tr>
                  <a:tr h="605901">
                    <a:tc>
                      <a:txBody>
                        <a:bodyPr/>
                        <a:lstStyle/>
                        <a:p>
                          <a:pPr marL="0" marR="0" algn="ctr">
                            <a:spcBef>
                              <a:spcPts val="0"/>
                            </a:spcBef>
                            <a:spcAft>
                              <a:spcPts val="0"/>
                            </a:spcAft>
                          </a:pPr>
                          <a:r>
                            <a:rPr lang="en-US" sz="2600">
                              <a:effectLst/>
                            </a:rPr>
                            <a:t>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0.035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0.14</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0.035</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0.14</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3530344280"/>
                      </a:ext>
                    </a:extLst>
                  </a:tr>
                  <a:tr h="605901">
                    <a:tc>
                      <a:txBody>
                        <a:bodyPr/>
                        <a:lstStyle/>
                        <a:p>
                          <a:pPr marL="0" marR="0" algn="ctr">
                            <a:spcBef>
                              <a:spcPts val="0"/>
                            </a:spcBef>
                            <a:spcAft>
                              <a:spcPts val="0"/>
                            </a:spcAft>
                          </a:pPr>
                          <a:r>
                            <a:rPr lang="en-US" sz="2600">
                              <a:effectLst/>
                            </a:rPr>
                            <a:t>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0.15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0.042</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0.185</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0.64</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0.042</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3900132028"/>
                      </a:ext>
                    </a:extLst>
                  </a:tr>
                  <a:tr h="396240">
                    <a:tc>
                      <a:txBody>
                        <a:bodyPr/>
                        <a:lstStyle/>
                        <a:p>
                          <a:pPr marL="0" marR="0" algn="ctr">
                            <a:spcBef>
                              <a:spcPts val="0"/>
                            </a:spcBef>
                            <a:spcAft>
                              <a:spcPts val="0"/>
                            </a:spcAft>
                          </a:pPr>
                          <a:r>
                            <a:rPr lang="en-US" sz="2600">
                              <a:effectLst/>
                            </a:rPr>
                            <a:t>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0.275</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0.24</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0.358</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0.46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0.88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0.4</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609476461"/>
                      </a:ext>
                    </a:extLst>
                  </a:tr>
                  <a:tr h="605901">
                    <a:tc>
                      <a:txBody>
                        <a:bodyPr/>
                        <a:lstStyle/>
                        <a:p>
                          <a:pPr marL="0" marR="0" algn="ctr">
                            <a:spcBef>
                              <a:spcPts val="0"/>
                            </a:spcBef>
                            <a:spcAft>
                              <a:spcPts val="0"/>
                            </a:spcAft>
                          </a:pPr>
                          <a:r>
                            <a:rPr lang="en-US" sz="2600">
                              <a:effectLst/>
                            </a:rPr>
                            <a:t>10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solidFill>
                                <a:srgbClr val="FF0000"/>
                              </a:solidFill>
                              <a:effectLst/>
                              <a:highlight>
                                <a:srgbClr val="FFFF00"/>
                              </a:highlight>
                            </a:rPr>
                            <a:t>0.235</a:t>
                          </a:r>
                          <a:endParaRPr lang="en-US" sz="260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0.08</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0.308</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0.2</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0.695</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0.96</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solidFill>
                                <a:srgbClr val="FF0000"/>
                              </a:solidFill>
                              <a:effectLst/>
                              <a:highlight>
                                <a:srgbClr val="FFFF00"/>
                              </a:highlight>
                            </a:rPr>
                            <a:t>0.708</a:t>
                          </a:r>
                          <a:endParaRPr lang="en-US" sz="2600" dirty="0">
                            <a:solidFill>
                              <a:srgbClr val="FF0000"/>
                            </a:solidFill>
                            <a:effectLst/>
                            <a:highlight>
                              <a:srgbClr val="FFFF00"/>
                            </a:highligh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0.2</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3750068946"/>
                      </a:ext>
                    </a:extLst>
                  </a:tr>
                  <a:tr h="605901">
                    <a:tc>
                      <a:txBody>
                        <a:bodyPr/>
                        <a:lstStyle/>
                        <a:p>
                          <a:pPr marL="0" marR="0" algn="ctr">
                            <a:spcBef>
                              <a:spcPts val="0"/>
                            </a:spcBef>
                            <a:spcAft>
                              <a:spcPts val="0"/>
                            </a:spcAft>
                          </a:pPr>
                          <a:r>
                            <a:rPr lang="en-US" sz="2600">
                              <a:effectLst/>
                            </a:rPr>
                            <a:t>14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0.183</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0.267</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0.855</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dirty="0">
                              <a:effectLst/>
                            </a:rPr>
                            <a:t>0.891</a:t>
                          </a:r>
                          <a:endParaRPr lang="en-US" sz="26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0.467</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585660520"/>
                      </a:ext>
                    </a:extLst>
                  </a:tr>
                  <a:tr h="605901">
                    <a:tc>
                      <a:txBody>
                        <a:bodyPr/>
                        <a:lstStyle/>
                        <a:p>
                          <a:pPr marL="0" marR="0" algn="ctr">
                            <a:spcBef>
                              <a:spcPts val="0"/>
                            </a:spcBef>
                            <a:spcAft>
                              <a:spcPts val="0"/>
                            </a:spcAft>
                          </a:pPr>
                          <a:r>
                            <a:rPr lang="en-US" sz="2600">
                              <a:effectLst/>
                            </a:rPr>
                            <a:t>20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0.091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0.102</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0.202</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0.946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0.993</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0.669</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3734067812"/>
                      </a:ext>
                    </a:extLst>
                  </a:tr>
                  <a:tr h="396240">
                    <a:tc>
                      <a:txBody>
                        <a:bodyPr/>
                        <a:lstStyle/>
                        <a:p>
                          <a:pPr marL="0" marR="0" algn="ctr">
                            <a:spcBef>
                              <a:spcPts val="0"/>
                            </a:spcBef>
                            <a:spcAft>
                              <a:spcPts val="0"/>
                            </a:spcAft>
                          </a:pPr>
                          <a:r>
                            <a:rPr lang="en-US" sz="2600">
                              <a:effectLst/>
                            </a:rPr>
                            <a:t>28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0.034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0.007</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0.196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0.865</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1429518795"/>
                      </a:ext>
                    </a:extLst>
                  </a:tr>
                  <a:tr h="605901">
                    <a:tc>
                      <a:txBody>
                        <a:bodyPr/>
                        <a:lstStyle/>
                        <a:p>
                          <a:pPr marL="0" marR="0" algn="ctr">
                            <a:spcBef>
                              <a:spcPts val="0"/>
                            </a:spcBef>
                            <a:spcAft>
                              <a:spcPts val="0"/>
                            </a:spcAft>
                          </a:pPr>
                          <a:r>
                            <a:rPr lang="en-US" sz="2600">
                              <a:effectLst/>
                            </a:rPr>
                            <a:t>35</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0.013</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0.089</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0.993</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0.954</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2890821121"/>
                      </a:ext>
                    </a:extLst>
                  </a:tr>
                  <a:tr h="396240">
                    <a:tc>
                      <a:txBody>
                        <a:bodyPr/>
                        <a:lstStyle/>
                        <a:p>
                          <a:pPr marL="0" marR="0" algn="ctr">
                            <a:spcBef>
                              <a:spcPts val="0"/>
                            </a:spcBef>
                            <a:spcAft>
                              <a:spcPts val="0"/>
                            </a:spcAft>
                          </a:pPr>
                          <a:r>
                            <a:rPr lang="en-US" sz="2600">
                              <a:effectLst/>
                            </a:rPr>
                            <a:t>48</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0.007</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0.046</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marL="0" marR="0" algn="ctr">
                            <a:spcBef>
                              <a:spcPts val="0"/>
                            </a:spcBef>
                            <a:spcAft>
                              <a:spcPts val="0"/>
                            </a:spcAft>
                          </a:pPr>
                          <a:r>
                            <a:rPr lang="en-US" sz="2600">
                              <a:effectLst/>
                            </a:rPr>
                            <a:t>1</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extLst>
                      <a:ext uri="{0D108BD9-81ED-4DB2-BD59-A6C34878D82A}">
                        <a16:rowId xmlns:a16="http://schemas.microsoft.com/office/drawing/2014/main" val="1093725149"/>
                      </a:ext>
                    </a:extLst>
                  </a:tr>
                  <a:tr h="625869">
                    <a:tc>
                      <a:txBody>
                        <a:bodyPr/>
                        <a:lstStyle/>
                        <a:p>
                          <a:pPr marL="0" marR="0" algn="ctr">
                            <a:spcBef>
                              <a:spcPts val="0"/>
                            </a:spcBef>
                            <a:spcAft>
                              <a:spcPts val="0"/>
                            </a:spcAft>
                          </a:pPr>
                          <a:r>
                            <a:rPr lang="en-US" sz="2600">
                              <a:effectLst/>
                            </a:rPr>
                            <a:t> </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endParaRPr lang="en-US"/>
                        </a:p>
                      </a:txBody>
                      <a:tcPr marL="45490" marR="45490" marT="0" marB="0" anchor="b">
                        <a:blipFill>
                          <a:blip r:embed="rId4"/>
                          <a:stretch>
                            <a:fillRect l="-80077" t="-972816" r="-649808" b="-32039"/>
                          </a:stretch>
                        </a:blipFill>
                      </a:tcPr>
                    </a:tc>
                    <a:tc>
                      <a:txBody>
                        <a:bodyPr/>
                        <a:lstStyle/>
                        <a:p>
                          <a:endParaRPr lang="en-US"/>
                        </a:p>
                      </a:txBody>
                      <a:tcPr marL="45490" marR="45490" marT="0" marB="0" anchor="b">
                        <a:blipFill>
                          <a:blip r:embed="rId4"/>
                          <a:stretch>
                            <a:fillRect l="-195833" t="-972816" r="-606667" b="-32039"/>
                          </a:stretch>
                        </a:blipFill>
                      </a:tcPr>
                    </a:tc>
                    <a:tc>
                      <a:txBody>
                        <a:bodyPr/>
                        <a:lstStyle/>
                        <a:p>
                          <a:endParaRPr lang="en-US"/>
                        </a:p>
                      </a:txBody>
                      <a:tcPr marL="45490" marR="45490" marT="0" marB="0" anchor="b">
                        <a:blipFill>
                          <a:blip r:embed="rId4"/>
                          <a:stretch>
                            <a:fillRect l="-235880" t="-972816" r="-383721" b="-32039"/>
                          </a:stretch>
                        </a:blipFill>
                      </a:tcPr>
                    </a:tc>
                    <a:tc>
                      <a:txBody>
                        <a:bodyPr/>
                        <a:lstStyle/>
                        <a:p>
                          <a:pPr marL="0" marR="0" algn="ctr">
                            <a:spcBef>
                              <a:spcPts val="0"/>
                            </a:spcBef>
                            <a:spcAft>
                              <a:spcPts val="0"/>
                            </a:spcAft>
                          </a:pPr>
                          <a:r>
                            <a:rPr lang="en-US" sz="2600">
                              <a:effectLst/>
                            </a:rPr>
                            <a:t> </a:t>
                          </a:r>
                          <a:endParaRPr lang="en-US" sz="26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5490" marR="45490" marT="0" marB="0" anchor="b"/>
                    </a:tc>
                    <a:tc>
                      <a:txBody>
                        <a:bodyPr/>
                        <a:lstStyle/>
                        <a:p>
                          <a:pPr algn="ctr"/>
                          <a:endParaRPr lang="en-US" sz="2600">
                            <a:effectLst/>
                            <a:latin typeface="Times New Roman" panose="02020603050405020304" pitchFamily="18" charset="0"/>
                          </a:endParaRPr>
                        </a:p>
                      </a:txBody>
                      <a:tcPr marL="45490" marR="45490" marT="0" marB="0" anchor="b"/>
                    </a:tc>
                    <a:tc>
                      <a:txBody>
                        <a:bodyPr/>
                        <a:lstStyle/>
                        <a:p>
                          <a:pPr algn="ctr"/>
                          <a:endParaRPr lang="en-US" sz="2600">
                            <a:effectLst/>
                            <a:latin typeface="Times New Roman" panose="02020603050405020304" pitchFamily="18" charset="0"/>
                          </a:endParaRPr>
                        </a:p>
                      </a:txBody>
                      <a:tcPr marL="45490" marR="45490" marT="0" marB="0" anchor="b"/>
                    </a:tc>
                    <a:tc>
                      <a:txBody>
                        <a:bodyPr/>
                        <a:lstStyle/>
                        <a:p>
                          <a:pPr algn="ctr"/>
                          <a:endParaRPr lang="en-US" sz="2600">
                            <a:effectLst/>
                            <a:latin typeface="Times New Roman" panose="02020603050405020304" pitchFamily="18" charset="0"/>
                          </a:endParaRPr>
                        </a:p>
                      </a:txBody>
                      <a:tcPr marL="45490" marR="45490" marT="0" marB="0" anchor="b"/>
                    </a:tc>
                    <a:tc>
                      <a:txBody>
                        <a:bodyPr/>
                        <a:lstStyle/>
                        <a:p>
                          <a:pPr algn="ctr"/>
                          <a:endParaRPr lang="en-US" sz="2600" dirty="0">
                            <a:effectLst/>
                            <a:latin typeface="Times New Roman" panose="02020603050405020304" pitchFamily="18" charset="0"/>
                          </a:endParaRPr>
                        </a:p>
                      </a:txBody>
                      <a:tcPr marL="45490" marR="45490" marT="0" marB="0" anchor="b"/>
                    </a:tc>
                    <a:extLst>
                      <a:ext uri="{0D108BD9-81ED-4DB2-BD59-A6C34878D82A}">
                        <a16:rowId xmlns:a16="http://schemas.microsoft.com/office/drawing/2014/main" val="4003016843"/>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4E84DF2-E8AF-78BA-5AF2-A1F778FE01C8}"/>
                  </a:ext>
                </a:extLst>
              </p:cNvPr>
              <p:cNvSpPr txBox="1"/>
              <p:nvPr/>
            </p:nvSpPr>
            <p:spPr>
              <a:xfrm>
                <a:off x="1712912" y="9069996"/>
                <a:ext cx="16404033" cy="1914820"/>
              </a:xfrm>
              <a:prstGeom prst="rect">
                <a:avLst/>
              </a:prstGeom>
              <a:noFill/>
            </p:spPr>
            <p:txBody>
              <a:bodyPr wrap="square">
                <a:spAutoFit/>
              </a:bodyPr>
              <a:lstStyle/>
              <a:p>
                <a:pPr marL="0" marR="0" algn="just">
                  <a:spcBef>
                    <a:spcPts val="0"/>
                  </a:spcBef>
                  <a:spcAft>
                    <a:spcPts val="0"/>
                  </a:spcAft>
                </a:pPr>
                <a:r>
                  <a:rPr lang="en-US" sz="2800" b="1"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𝑨</m:t>
                        </m:r>
                      </m:sub>
                    </m:sSub>
                    <m:r>
                      <a:rPr lang="en-US" sz="2800" b="1" i="1">
                        <a:solidFill>
                          <a:srgbClr val="FF0000"/>
                        </a:solidFill>
                        <a:effectLst/>
                        <a:latin typeface="Cambria Math" panose="02040503050406030204" pitchFamily="18" charset="0"/>
                        <a:ea typeface="Times New Roman" panose="02020603050405020304" pitchFamily="18" charset="0"/>
                      </a:rPr>
                      <m:t>=</m:t>
                    </m:r>
                    <m:r>
                      <a:rPr lang="en-US" sz="2800" b="1" i="1">
                        <a:solidFill>
                          <a:srgbClr val="FF0000"/>
                        </a:solidFill>
                        <a:effectLst/>
                        <a:latin typeface="Cambria Math" panose="02040503050406030204" pitchFamily="18" charset="0"/>
                        <a:ea typeface="Times New Roman" panose="02020603050405020304" pitchFamily="18" charset="0"/>
                      </a:rPr>
                      <m:t>𝟎</m:t>
                    </m:r>
                    <m:r>
                      <a:rPr lang="en-US" sz="2800" b="1" i="1">
                        <a:solidFill>
                          <a:srgbClr val="FF0000"/>
                        </a:solidFill>
                        <a:effectLst/>
                        <a:latin typeface="Cambria Math" panose="02040503050406030204" pitchFamily="18" charset="0"/>
                        <a:ea typeface="Times New Roman" panose="02020603050405020304" pitchFamily="18" charset="0"/>
                      </a:rPr>
                      <m:t>.</m:t>
                    </m:r>
                    <m:r>
                      <a:rPr lang="en-US" sz="2800" b="1" i="1">
                        <a:solidFill>
                          <a:srgbClr val="FF0000"/>
                        </a:solidFill>
                        <a:effectLst/>
                        <a:latin typeface="Cambria Math" panose="02040503050406030204" pitchFamily="18" charset="0"/>
                        <a:ea typeface="Times New Roman" panose="02020603050405020304" pitchFamily="18" charset="0"/>
                      </a:rPr>
                      <m:t>𝟔𝟗𝟓</m:t>
                    </m:r>
                  </m:oMath>
                </a14:m>
                <a:r>
                  <a:rPr lang="en-US" sz="2800" b="1"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𝑩</m:t>
                        </m:r>
                      </m:sub>
                    </m:sSub>
                    <m:r>
                      <a:rPr lang="en-US" sz="2800" b="1" i="1">
                        <a:solidFill>
                          <a:srgbClr val="FF0000"/>
                        </a:solidFill>
                        <a:effectLst/>
                        <a:latin typeface="Cambria Math" panose="02040503050406030204" pitchFamily="18" charset="0"/>
                        <a:ea typeface="Times New Roman" panose="02020603050405020304" pitchFamily="18" charset="0"/>
                      </a:rPr>
                      <m:t>=</m:t>
                    </m:r>
                    <m:r>
                      <a:rPr lang="en-US" sz="2800" b="1" i="1">
                        <a:solidFill>
                          <a:srgbClr val="FF0000"/>
                        </a:solidFill>
                        <a:effectLst/>
                        <a:latin typeface="Cambria Math" panose="02040503050406030204" pitchFamily="18" charset="0"/>
                        <a:ea typeface="Times New Roman" panose="02020603050405020304" pitchFamily="18" charset="0"/>
                      </a:rPr>
                      <m:t>𝟎</m:t>
                    </m:r>
                    <m:r>
                      <a:rPr lang="en-US" sz="2800" b="1" i="1">
                        <a:solidFill>
                          <a:srgbClr val="FF0000"/>
                        </a:solidFill>
                        <a:effectLst/>
                        <a:latin typeface="Cambria Math" panose="02040503050406030204" pitchFamily="18" charset="0"/>
                        <a:ea typeface="Times New Roman" panose="02020603050405020304" pitchFamily="18" charset="0"/>
                      </a:rPr>
                      <m:t>.</m:t>
                    </m:r>
                    <m:r>
                      <a:rPr lang="en-US" sz="2800" b="1" i="1">
                        <a:solidFill>
                          <a:srgbClr val="FF0000"/>
                        </a:solidFill>
                        <a:effectLst/>
                        <a:latin typeface="Cambria Math" panose="02040503050406030204" pitchFamily="18" charset="0"/>
                        <a:ea typeface="Times New Roman" panose="02020603050405020304" pitchFamily="18" charset="0"/>
                      </a:rPr>
                      <m:t>𝟗𝟔</m:t>
                    </m:r>
                    <m:r>
                      <a:rPr lang="en-US" sz="2800" b="1" i="1">
                        <a:solidFill>
                          <a:srgbClr val="FF0000"/>
                        </a:solidFill>
                        <a:effectLst/>
                        <a:latin typeface="Cambria Math" panose="02040503050406030204" pitchFamily="18" charset="0"/>
                        <a:ea typeface="Times New Roman" panose="02020603050405020304" pitchFamily="18" charset="0"/>
                      </a:rPr>
                      <m:t>, </m:t>
                    </m:r>
                  </m:oMath>
                </a14:m>
                <a:r>
                  <a:rPr lang="en-US" sz="2800" b="1"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𝑪</m:t>
                        </m:r>
                      </m:sub>
                    </m:sSub>
                    <m:r>
                      <a:rPr lang="en-US" sz="2800" b="1" i="1">
                        <a:solidFill>
                          <a:srgbClr val="FF0000"/>
                        </a:solidFill>
                        <a:effectLst/>
                        <a:latin typeface="Cambria Math" panose="02040503050406030204" pitchFamily="18" charset="0"/>
                        <a:ea typeface="Times New Roman" panose="02020603050405020304" pitchFamily="18" charset="0"/>
                      </a:rPr>
                      <m:t>=</m:t>
                    </m:r>
                    <m:r>
                      <a:rPr lang="en-US" sz="2800" b="1" i="1">
                        <a:solidFill>
                          <a:srgbClr val="FF0000"/>
                        </a:solidFill>
                        <a:effectLst/>
                        <a:latin typeface="Cambria Math" panose="02040503050406030204" pitchFamily="18" charset="0"/>
                        <a:ea typeface="Times New Roman" panose="02020603050405020304" pitchFamily="18" charset="0"/>
                      </a:rPr>
                      <m:t>𝟎</m:t>
                    </m:r>
                    <m:r>
                      <a:rPr lang="en-US" sz="2800" b="1" i="1">
                        <a:solidFill>
                          <a:srgbClr val="FF0000"/>
                        </a:solidFill>
                        <a:effectLst/>
                        <a:latin typeface="Cambria Math" panose="02040503050406030204" pitchFamily="18" charset="0"/>
                        <a:ea typeface="Times New Roman" panose="02020603050405020304" pitchFamily="18" charset="0"/>
                      </a:rPr>
                      <m:t>.</m:t>
                    </m:r>
                    <m:r>
                      <a:rPr lang="en-US" sz="2800" b="1" i="1">
                        <a:solidFill>
                          <a:srgbClr val="FF0000"/>
                        </a:solidFill>
                        <a:effectLst/>
                        <a:latin typeface="Cambria Math" panose="02040503050406030204" pitchFamily="18" charset="0"/>
                        <a:ea typeface="Times New Roman" panose="02020603050405020304" pitchFamily="18" charset="0"/>
                      </a:rPr>
                      <m:t>𝟕𝟎𝟖</m:t>
                    </m:r>
                    <m:r>
                      <a:rPr lang="en-US" sz="2800" b="1" i="1">
                        <a:solidFill>
                          <a:srgbClr val="FF0000"/>
                        </a:solidFill>
                        <a:effectLst/>
                        <a:latin typeface="Cambria Math" panose="02040503050406030204" pitchFamily="18" charset="0"/>
                        <a:ea typeface="Times New Roman" panose="02020603050405020304" pitchFamily="18" charset="0"/>
                      </a:rPr>
                      <m:t>    </m:t>
                    </m:r>
                    <m:r>
                      <a:rPr lang="en-US" sz="2800" b="1" i="1">
                        <a:solidFill>
                          <a:srgbClr val="FF0000"/>
                        </a:solidFill>
                        <a:effectLst/>
                        <a:latin typeface="Cambria Math" panose="02040503050406030204" pitchFamily="18" charset="0"/>
                        <a:ea typeface="Times New Roman" panose="02020603050405020304" pitchFamily="18" charset="0"/>
                      </a:rPr>
                      <m:t>𝒂𝒏𝒅</m:t>
                    </m:r>
                    <m:r>
                      <a:rPr lang="en-US" sz="2800" b="1" i="1">
                        <a:solidFill>
                          <a:srgbClr val="FF0000"/>
                        </a:solidFill>
                        <a:effectLst/>
                        <a:latin typeface="Cambria Math" panose="02040503050406030204" pitchFamily="18" charset="0"/>
                        <a:ea typeface="Times New Roman" panose="02020603050405020304" pitchFamily="18" charset="0"/>
                      </a:rPr>
                      <m:t>    </m:t>
                    </m:r>
                  </m:oMath>
                </a14:m>
                <a:r>
                  <a:rPr lang="en-US" sz="2800" b="1"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en-US" sz="2800" b="1" i="1">
                        <a:solidFill>
                          <a:srgbClr val="FF0000"/>
                        </a:solidFill>
                        <a:effectLst/>
                        <a:latin typeface="Cambria Math" panose="02040503050406030204" pitchFamily="18" charset="0"/>
                        <a:ea typeface="Times New Roman" panose="02020603050405020304" pitchFamily="18" charset="0"/>
                      </a:rPr>
                      <m:t>𝑬</m:t>
                    </m:r>
                    <m:r>
                      <a:rPr lang="en-US" sz="2800" b="1" i="1">
                        <a:solidFill>
                          <a:srgbClr val="FF0000"/>
                        </a:solidFill>
                        <a:effectLst/>
                        <a:latin typeface="Cambria Math" panose="02040503050406030204" pitchFamily="18" charset="0"/>
                        <a:ea typeface="Times New Roman" panose="02020603050405020304" pitchFamily="18" charset="0"/>
                      </a:rPr>
                      <m:t>=</m:t>
                    </m:r>
                    <m:d>
                      <m:dPr>
                        <m:begChr m:val="["/>
                        <m:endChr m:val="]"/>
                        <m:ctrlPr>
                          <a:rPr lang="en-US" sz="2800" b="1" i="1">
                            <a:solidFill>
                              <a:srgbClr val="FF0000"/>
                            </a:solidFill>
                            <a:effectLst/>
                            <a:latin typeface="Cambria Math" panose="02040503050406030204" pitchFamily="18" charset="0"/>
                            <a:ea typeface="Times New Roman" panose="02020603050405020304" pitchFamily="18" charset="0"/>
                          </a:rPr>
                        </m:ctrlPr>
                      </m:dPr>
                      <m:e>
                        <m:d>
                          <m:dPr>
                            <m:ctrlPr>
                              <a:rPr lang="en-US" sz="2800" b="1" i="1">
                                <a:solidFill>
                                  <a:srgbClr val="FF0000"/>
                                </a:solidFill>
                                <a:effectLst/>
                                <a:latin typeface="Cambria Math" panose="02040503050406030204" pitchFamily="18" charset="0"/>
                                <a:ea typeface="Times New Roman" panose="02020603050405020304" pitchFamily="18" charset="0"/>
                              </a:rPr>
                            </m:ctrlPr>
                          </m:dPr>
                          <m:e>
                            <m:f>
                              <m:fPr>
                                <m:ctrlPr>
                                  <a:rPr lang="en-US" sz="2800" b="1" i="1">
                                    <a:solidFill>
                                      <a:srgbClr val="FF0000"/>
                                    </a:solidFill>
                                    <a:effectLst/>
                                    <a:latin typeface="Cambria Math" panose="02040503050406030204" pitchFamily="18" charset="0"/>
                                    <a:ea typeface="Times New Roman" panose="02020603050405020304" pitchFamily="18" charset="0"/>
                                  </a:rPr>
                                </m:ctrlPr>
                              </m:fPr>
                              <m:num>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𝑨</m:t>
                                    </m:r>
                                  </m:sub>
                                </m:sSub>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𝑪</m:t>
                                    </m:r>
                                  </m:sub>
                                </m:sSub>
                              </m:num>
                              <m:den>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𝑩</m:t>
                                    </m:r>
                                  </m:sub>
                                </m:sSub>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𝑪</m:t>
                                    </m:r>
                                  </m:sub>
                                </m:sSub>
                              </m:den>
                            </m:f>
                          </m:e>
                        </m:d>
                        <m:r>
                          <a:rPr lang="en-US" sz="2800" b="1" i="1">
                            <a:solidFill>
                              <a:srgbClr val="FF0000"/>
                            </a:solidFill>
                            <a:effectLst/>
                            <a:latin typeface="Cambria Math" panose="02040503050406030204" pitchFamily="18" charset="0"/>
                            <a:ea typeface="Times New Roman" panose="02020603050405020304" pitchFamily="18" charset="0"/>
                          </a:rPr>
                          <m:t> </m:t>
                        </m:r>
                        <m:f>
                          <m:fPr>
                            <m:ctrlPr>
                              <a:rPr lang="en-US" sz="2800" b="1" i="1">
                                <a:solidFill>
                                  <a:srgbClr val="FF0000"/>
                                </a:solidFill>
                                <a:effectLst/>
                                <a:latin typeface="Cambria Math" panose="02040503050406030204" pitchFamily="18" charset="0"/>
                                <a:ea typeface="Times New Roman" panose="02020603050405020304" pitchFamily="18" charset="0"/>
                              </a:rPr>
                            </m:ctrlPr>
                          </m:fPr>
                          <m:num>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𝑩</m:t>
                                </m:r>
                              </m:sub>
                            </m:sSub>
                          </m:num>
                          <m:den>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𝑨</m:t>
                                </m:r>
                              </m:sub>
                            </m:sSub>
                          </m:den>
                        </m:f>
                      </m:e>
                    </m:d>
                    <m:r>
                      <a:rPr lang="en-US" sz="2800" b="1" i="1">
                        <a:solidFill>
                          <a:srgbClr val="FF0000"/>
                        </a:solidFill>
                        <a:effectLst/>
                        <a:latin typeface="Cambria Math" panose="02040503050406030204" pitchFamily="18" charset="0"/>
                        <a:ea typeface="Times New Roman" panose="02020603050405020304" pitchFamily="18" charset="0"/>
                      </a:rPr>
                      <m:t> </m:t>
                    </m:r>
                    <m:d>
                      <m:dPr>
                        <m:begChr m:val="["/>
                        <m:endChr m:val="]"/>
                        <m:ctrlPr>
                          <a:rPr lang="en-US" sz="2800" b="1" i="1">
                            <a:solidFill>
                              <a:srgbClr val="FF0000"/>
                            </a:solidFill>
                            <a:effectLst/>
                            <a:latin typeface="Cambria Math" panose="02040503050406030204" pitchFamily="18" charset="0"/>
                            <a:ea typeface="Times New Roman" panose="02020603050405020304" pitchFamily="18" charset="0"/>
                          </a:rPr>
                        </m:ctrlPr>
                      </m:dPr>
                      <m:e>
                        <m:r>
                          <a:rPr lang="en-US" sz="2800" b="1" i="1">
                            <a:solidFill>
                              <a:srgbClr val="FF0000"/>
                            </a:solidFill>
                            <a:effectLst/>
                            <a:latin typeface="Cambria Math" panose="02040503050406030204" pitchFamily="18" charset="0"/>
                            <a:ea typeface="Times New Roman" panose="02020603050405020304" pitchFamily="18" charset="0"/>
                          </a:rPr>
                          <m:t>𝟏</m:t>
                        </m:r>
                        <m:r>
                          <a:rPr lang="en-US" sz="2800" b="1" i="1">
                            <a:solidFill>
                              <a:srgbClr val="FF0000"/>
                            </a:solidFill>
                            <a:effectLst/>
                            <a:latin typeface="Cambria Math" panose="02040503050406030204" pitchFamily="18" charset="0"/>
                            <a:ea typeface="Times New Roman" panose="02020603050405020304" pitchFamily="18" charset="0"/>
                          </a:rPr>
                          <m:t>−</m:t>
                        </m:r>
                        <m:d>
                          <m:dPr>
                            <m:ctrlPr>
                              <a:rPr lang="en-US" sz="2800" b="1" i="1">
                                <a:solidFill>
                                  <a:srgbClr val="FF0000"/>
                                </a:solidFill>
                                <a:effectLst/>
                                <a:latin typeface="Cambria Math" panose="02040503050406030204" pitchFamily="18" charset="0"/>
                                <a:ea typeface="Times New Roman" panose="02020603050405020304" pitchFamily="18" charset="0"/>
                              </a:rPr>
                            </m:ctrlPr>
                          </m:dPr>
                          <m:e>
                            <m:f>
                              <m:fPr>
                                <m:ctrlPr>
                                  <a:rPr lang="en-US" sz="2800" b="1" i="1">
                                    <a:solidFill>
                                      <a:srgbClr val="FF0000"/>
                                    </a:solidFill>
                                    <a:effectLst/>
                                    <a:latin typeface="Cambria Math" panose="02040503050406030204" pitchFamily="18" charset="0"/>
                                    <a:ea typeface="Times New Roman" panose="02020603050405020304" pitchFamily="18" charset="0"/>
                                  </a:rPr>
                                </m:ctrlPr>
                              </m:fPr>
                              <m:num>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𝑨</m:t>
                                    </m:r>
                                  </m:sub>
                                </m:sSub>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𝑪</m:t>
                                    </m:r>
                                  </m:sub>
                                </m:sSub>
                              </m:num>
                              <m:den>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𝑩</m:t>
                                    </m:r>
                                  </m:sub>
                                </m:sSub>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𝑪</m:t>
                                    </m:r>
                                  </m:sub>
                                </m:sSub>
                              </m:den>
                            </m:f>
                          </m:e>
                        </m:d>
                        <m:d>
                          <m:dPr>
                            <m:ctrlPr>
                              <a:rPr lang="en-US" sz="2800" b="1" i="1">
                                <a:solidFill>
                                  <a:srgbClr val="FF0000"/>
                                </a:solidFill>
                                <a:effectLst/>
                                <a:latin typeface="Cambria Math" panose="02040503050406030204" pitchFamily="18" charset="0"/>
                                <a:ea typeface="Times New Roman" panose="02020603050405020304" pitchFamily="18" charset="0"/>
                              </a:rPr>
                            </m:ctrlPr>
                          </m:dPr>
                          <m:e>
                            <m:f>
                              <m:fPr>
                                <m:ctrlPr>
                                  <a:rPr lang="en-US" sz="2800" b="1" i="1">
                                    <a:solidFill>
                                      <a:srgbClr val="FF0000"/>
                                    </a:solidFill>
                                    <a:effectLst/>
                                    <a:latin typeface="Cambria Math" panose="02040503050406030204" pitchFamily="18" charset="0"/>
                                    <a:ea typeface="Times New Roman" panose="02020603050405020304" pitchFamily="18" charset="0"/>
                                  </a:rPr>
                                </m:ctrlPr>
                              </m:fPr>
                              <m:num>
                                <m:r>
                                  <a:rPr lang="en-US" sz="2800" b="1" i="1">
                                    <a:solidFill>
                                      <a:srgbClr val="FF0000"/>
                                    </a:solidFill>
                                    <a:effectLst/>
                                    <a:latin typeface="Cambria Math" panose="02040503050406030204" pitchFamily="18" charset="0"/>
                                    <a:ea typeface="Times New Roman" panose="02020603050405020304" pitchFamily="18" charset="0"/>
                                  </a:rPr>
                                  <m:t>𝟏</m:t>
                                </m:r>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𝑩</m:t>
                                    </m:r>
                                  </m:sub>
                                </m:sSub>
                              </m:num>
                              <m:den>
                                <m:r>
                                  <a:rPr lang="en-US" sz="2800" b="1" i="1">
                                    <a:solidFill>
                                      <a:srgbClr val="FF0000"/>
                                    </a:solidFill>
                                    <a:effectLst/>
                                    <a:latin typeface="Cambria Math" panose="02040503050406030204" pitchFamily="18" charset="0"/>
                                    <a:ea typeface="Times New Roman" panose="02020603050405020304" pitchFamily="18" charset="0"/>
                                  </a:rPr>
                                  <m:t>𝟏</m:t>
                                </m:r>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𝑨</m:t>
                                    </m:r>
                                  </m:sub>
                                </m:sSub>
                              </m:den>
                            </m:f>
                          </m:e>
                        </m:d>
                      </m:e>
                    </m:d>
                  </m:oMath>
                </a14:m>
                <a:r>
                  <a:rPr lang="en-US" sz="2800" b="1" dirty="0">
                    <a:solidFill>
                      <a:srgbClr val="FF0000"/>
                    </a:solidFill>
                    <a:effectLst/>
                    <a:latin typeface="Times New Roman" panose="02020603050405020304" pitchFamily="18" charset="0"/>
                    <a:ea typeface="Times New Roman" panose="02020603050405020304" pitchFamily="18" charset="0"/>
                  </a:rPr>
                  <a:t>=33.5</a:t>
                </a:r>
              </a:p>
              <a:p>
                <a:pPr marL="0" marR="0" algn="just">
                  <a:spcBef>
                    <a:spcPts val="0"/>
                  </a:spcBef>
                  <a:spcAft>
                    <a:spcPts val="0"/>
                  </a:spcAft>
                </a:pPr>
                <a:r>
                  <a:rPr lang="en-US" sz="2800" b="1" dirty="0">
                    <a:solidFill>
                      <a:srgbClr val="FF0000"/>
                    </a:solidFill>
                    <a:effectLst/>
                    <a:latin typeface="Times New Roman" panose="02020603050405020304" pitchFamily="18" charset="0"/>
                    <a:ea typeface="Times New Roman" panose="02020603050405020304" pitchFamily="18" charset="0"/>
                  </a:rPr>
                  <a:t> </a:t>
                </a:r>
              </a:p>
              <a:p>
                <a:pPr marL="0" marR="0" algn="just">
                  <a:spcBef>
                    <a:spcPts val="0"/>
                  </a:spcBef>
                  <a:spcAft>
                    <a:spcPts val="0"/>
                  </a:spcAft>
                </a:pPr>
                <a:r>
                  <a:rPr lang="en-US" sz="2800" b="1" dirty="0">
                    <a:solidFill>
                      <a:srgbClr val="FF0000"/>
                    </a:solidFill>
                    <a:effectLst/>
                    <a:latin typeface="Times New Roman" panose="02020603050405020304" pitchFamily="18" charset="0"/>
                    <a:ea typeface="Times New Roman" panose="02020603050405020304" pitchFamily="18" charset="0"/>
                  </a:rPr>
                  <a:t>Ratio of Product to feed(10 mesh):  </a:t>
                </a:r>
                <a14:m>
                  <m:oMath xmlns:m="http://schemas.openxmlformats.org/officeDocument/2006/math">
                    <m:f>
                      <m:fPr>
                        <m:ctrlPr>
                          <a:rPr lang="en-US" sz="2800" b="1" i="1">
                            <a:solidFill>
                              <a:srgbClr val="FF0000"/>
                            </a:solidFill>
                            <a:effectLst/>
                            <a:latin typeface="Cambria Math" panose="02040503050406030204" pitchFamily="18" charset="0"/>
                            <a:ea typeface="Times New Roman" panose="02020603050405020304" pitchFamily="18" charset="0"/>
                          </a:rPr>
                        </m:ctrlPr>
                      </m:fPr>
                      <m:num>
                        <m:r>
                          <a:rPr lang="en-US" sz="2800" b="1" i="1">
                            <a:solidFill>
                              <a:srgbClr val="FF0000"/>
                            </a:solidFill>
                            <a:effectLst/>
                            <a:latin typeface="Cambria Math" panose="02040503050406030204" pitchFamily="18" charset="0"/>
                            <a:ea typeface="Times New Roman" panose="02020603050405020304" pitchFamily="18" charset="0"/>
                          </a:rPr>
                          <m:t>𝑩</m:t>
                        </m:r>
                      </m:num>
                      <m:den>
                        <m:r>
                          <a:rPr lang="en-US" sz="2800" b="1" i="1">
                            <a:solidFill>
                              <a:srgbClr val="FF0000"/>
                            </a:solidFill>
                            <a:effectLst/>
                            <a:latin typeface="Cambria Math" panose="02040503050406030204" pitchFamily="18" charset="0"/>
                            <a:ea typeface="Times New Roman" panose="02020603050405020304" pitchFamily="18" charset="0"/>
                          </a:rPr>
                          <m:t>𝑨</m:t>
                        </m:r>
                      </m:den>
                    </m:f>
                    <m:r>
                      <a:rPr lang="en-US" sz="2800" b="1" i="1">
                        <a:solidFill>
                          <a:srgbClr val="FF0000"/>
                        </a:solidFill>
                        <a:effectLst/>
                        <a:latin typeface="Cambria Math" panose="02040503050406030204" pitchFamily="18" charset="0"/>
                        <a:ea typeface="Times New Roman" panose="02020603050405020304" pitchFamily="18" charset="0"/>
                      </a:rPr>
                      <m:t>=</m:t>
                    </m:r>
                    <m:f>
                      <m:fPr>
                        <m:ctrlPr>
                          <a:rPr lang="en-US" sz="2800" b="1" i="1">
                            <a:solidFill>
                              <a:srgbClr val="FF0000"/>
                            </a:solidFill>
                            <a:effectLst/>
                            <a:latin typeface="Cambria Math" panose="02040503050406030204" pitchFamily="18" charset="0"/>
                            <a:ea typeface="Times New Roman" panose="02020603050405020304" pitchFamily="18" charset="0"/>
                          </a:rPr>
                        </m:ctrlPr>
                      </m:fPr>
                      <m:num>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𝑨</m:t>
                            </m:r>
                          </m:sub>
                        </m:sSub>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𝑪</m:t>
                            </m:r>
                          </m:sub>
                        </m:sSub>
                      </m:num>
                      <m:den>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𝑩</m:t>
                            </m:r>
                          </m:sub>
                        </m:sSub>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𝑪</m:t>
                            </m:r>
                          </m:sub>
                        </m:sSub>
                      </m:den>
                    </m:f>
                    <m:r>
                      <a:rPr lang="en-US" sz="2800" b="1" i="1">
                        <a:solidFill>
                          <a:srgbClr val="FF0000"/>
                        </a:solidFill>
                        <a:effectLst/>
                        <a:latin typeface="Cambria Math" panose="02040503050406030204" pitchFamily="18" charset="0"/>
                        <a:ea typeface="Times New Roman" panose="02020603050405020304" pitchFamily="18" charset="0"/>
                      </a:rPr>
                      <m:t>=</m:t>
                    </m:r>
                    <m:f>
                      <m:fPr>
                        <m:ctrlPr>
                          <a:rPr lang="en-US" sz="2800" b="1" i="1">
                            <a:solidFill>
                              <a:srgbClr val="FF0000"/>
                            </a:solidFill>
                            <a:effectLst/>
                            <a:latin typeface="Cambria Math" panose="02040503050406030204" pitchFamily="18" charset="0"/>
                            <a:ea typeface="Times New Roman" panose="02020603050405020304" pitchFamily="18" charset="0"/>
                          </a:rPr>
                        </m:ctrlPr>
                      </m:fPr>
                      <m:num/>
                      <m:den/>
                    </m:f>
                  </m:oMath>
                </a14:m>
                <a:r>
                  <a:rPr lang="en-US" sz="2800" b="1" dirty="0">
                    <a:solidFill>
                      <a:srgbClr val="FF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en-GB" sz="2800" b="1" i="0" smtClean="0">
                        <a:solidFill>
                          <a:srgbClr val="FF0000"/>
                        </a:solidFill>
                        <a:effectLst/>
                        <a:latin typeface="Cambria Math" panose="02040503050406030204" pitchFamily="18" charset="0"/>
                        <a:ea typeface="Times New Roman" panose="02020603050405020304" pitchFamily="18" charset="0"/>
                      </a:rPr>
                      <m:t>                                </m:t>
                    </m:r>
                    <m:f>
                      <m:fPr>
                        <m:ctrlPr>
                          <a:rPr lang="en-US" sz="2800" b="1" i="1">
                            <a:solidFill>
                              <a:srgbClr val="FF0000"/>
                            </a:solidFill>
                            <a:effectLst/>
                            <a:latin typeface="Cambria Math" panose="02040503050406030204" pitchFamily="18" charset="0"/>
                            <a:ea typeface="Times New Roman" panose="02020603050405020304" pitchFamily="18" charset="0"/>
                          </a:rPr>
                        </m:ctrlPr>
                      </m:fPr>
                      <m:num>
                        <m:r>
                          <a:rPr lang="en-US" sz="2800" b="1" i="1">
                            <a:solidFill>
                              <a:srgbClr val="FF0000"/>
                            </a:solidFill>
                            <a:effectLst/>
                            <a:latin typeface="Cambria Math" panose="02040503050406030204" pitchFamily="18" charset="0"/>
                            <a:ea typeface="Times New Roman" panose="02020603050405020304" pitchFamily="18" charset="0"/>
                          </a:rPr>
                          <m:t>𝑪</m:t>
                        </m:r>
                      </m:num>
                      <m:den>
                        <m:r>
                          <a:rPr lang="en-US" sz="2800" b="1" i="1">
                            <a:solidFill>
                              <a:srgbClr val="FF0000"/>
                            </a:solidFill>
                            <a:effectLst/>
                            <a:latin typeface="Cambria Math" panose="02040503050406030204" pitchFamily="18" charset="0"/>
                            <a:ea typeface="Times New Roman" panose="02020603050405020304" pitchFamily="18" charset="0"/>
                          </a:rPr>
                          <m:t>𝑨</m:t>
                        </m:r>
                      </m:den>
                    </m:f>
                    <m:r>
                      <a:rPr lang="en-US" sz="2800" b="1" i="1">
                        <a:solidFill>
                          <a:srgbClr val="FF0000"/>
                        </a:solidFill>
                        <a:effectLst/>
                        <a:latin typeface="Cambria Math" panose="02040503050406030204" pitchFamily="18" charset="0"/>
                        <a:ea typeface="Times New Roman" panose="02020603050405020304" pitchFamily="18" charset="0"/>
                      </a:rPr>
                      <m:t>=</m:t>
                    </m:r>
                    <m:f>
                      <m:fPr>
                        <m:ctrlPr>
                          <a:rPr lang="en-US" sz="2800" b="1" i="1">
                            <a:solidFill>
                              <a:srgbClr val="FF0000"/>
                            </a:solidFill>
                            <a:effectLst/>
                            <a:latin typeface="Cambria Math" panose="02040503050406030204" pitchFamily="18" charset="0"/>
                            <a:ea typeface="Times New Roman" panose="02020603050405020304" pitchFamily="18" charset="0"/>
                          </a:rPr>
                        </m:ctrlPr>
                      </m:fPr>
                      <m:num>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𝑨</m:t>
                            </m:r>
                          </m:sub>
                        </m:sSub>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𝑩</m:t>
                            </m:r>
                          </m:sub>
                        </m:sSub>
                      </m:num>
                      <m:den>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𝑪</m:t>
                            </m:r>
                          </m:sub>
                        </m:sSub>
                        <m:r>
                          <a:rPr lang="en-US" sz="2800" b="1" i="1">
                            <a:solidFill>
                              <a:srgbClr val="FF0000"/>
                            </a:solidFill>
                            <a:effectLst/>
                            <a:latin typeface="Cambria Math" panose="02040503050406030204" pitchFamily="18" charset="0"/>
                            <a:ea typeface="Times New Roman" panose="02020603050405020304" pitchFamily="18" charset="0"/>
                          </a:rPr>
                          <m:t>−</m:t>
                        </m:r>
                        <m:sSub>
                          <m:sSubPr>
                            <m:ctrlPr>
                              <a:rPr lang="en-US" sz="2800" b="1" i="1">
                                <a:solidFill>
                                  <a:srgbClr val="FF0000"/>
                                </a:solidFill>
                                <a:effectLst/>
                                <a:latin typeface="Cambria Math" panose="02040503050406030204" pitchFamily="18" charset="0"/>
                                <a:ea typeface="Times New Roman" panose="02020603050405020304" pitchFamily="18" charset="0"/>
                              </a:rPr>
                            </m:ctrlPr>
                          </m:sSubPr>
                          <m:e>
                            <m:r>
                              <a:rPr lang="en-US" sz="2800" b="1" i="1">
                                <a:solidFill>
                                  <a:srgbClr val="FF0000"/>
                                </a:solidFill>
                                <a:effectLst/>
                                <a:latin typeface="Cambria Math" panose="02040503050406030204" pitchFamily="18" charset="0"/>
                                <a:ea typeface="Times New Roman" panose="02020603050405020304" pitchFamily="18" charset="0"/>
                              </a:rPr>
                              <m:t>𝒙</m:t>
                            </m:r>
                          </m:e>
                          <m:sub>
                            <m:r>
                              <a:rPr lang="en-US" sz="2800" b="1" i="1">
                                <a:solidFill>
                                  <a:srgbClr val="FF0000"/>
                                </a:solidFill>
                                <a:effectLst/>
                                <a:latin typeface="Cambria Math" panose="02040503050406030204" pitchFamily="18" charset="0"/>
                                <a:ea typeface="Times New Roman" panose="02020603050405020304" pitchFamily="18" charset="0"/>
                              </a:rPr>
                              <m:t>𝑩</m:t>
                            </m:r>
                          </m:sub>
                        </m:sSub>
                      </m:den>
                    </m:f>
                    <m:r>
                      <a:rPr lang="en-US" sz="2800" b="1" i="1">
                        <a:solidFill>
                          <a:srgbClr val="FF0000"/>
                        </a:solidFill>
                        <a:effectLst/>
                        <a:latin typeface="Cambria Math" panose="02040503050406030204" pitchFamily="18" charset="0"/>
                        <a:ea typeface="Times New Roman" panose="02020603050405020304" pitchFamily="18" charset="0"/>
                      </a:rPr>
                      <m:t>=</m:t>
                    </m:r>
                    <m:r>
                      <a:rPr lang="en-US" sz="2800" b="1" i="1">
                        <a:solidFill>
                          <a:srgbClr val="FF0000"/>
                        </a:solidFill>
                        <a:effectLst/>
                        <a:latin typeface="Cambria Math" panose="02040503050406030204" pitchFamily="18" charset="0"/>
                        <a:ea typeface="Times New Roman" panose="02020603050405020304" pitchFamily="18" charset="0"/>
                      </a:rPr>
                      <m:t>𝟏</m:t>
                    </m:r>
                    <m:r>
                      <a:rPr lang="en-US" sz="2800" b="1" i="1">
                        <a:solidFill>
                          <a:srgbClr val="FF0000"/>
                        </a:solidFill>
                        <a:effectLst/>
                        <a:latin typeface="Cambria Math" panose="02040503050406030204" pitchFamily="18" charset="0"/>
                        <a:ea typeface="Times New Roman" panose="02020603050405020304" pitchFamily="18" charset="0"/>
                      </a:rPr>
                      <m:t>−</m:t>
                    </m:r>
                    <m:f>
                      <m:fPr>
                        <m:ctrlPr>
                          <a:rPr lang="en-US" sz="2800" b="1" i="1">
                            <a:solidFill>
                              <a:srgbClr val="FF0000"/>
                            </a:solidFill>
                            <a:effectLst/>
                            <a:latin typeface="Cambria Math" panose="02040503050406030204" pitchFamily="18" charset="0"/>
                            <a:ea typeface="Times New Roman" panose="02020603050405020304" pitchFamily="18" charset="0"/>
                          </a:rPr>
                        </m:ctrlPr>
                      </m:fPr>
                      <m:num>
                        <m:r>
                          <a:rPr lang="en-US" sz="2800" b="1" i="1">
                            <a:solidFill>
                              <a:srgbClr val="FF0000"/>
                            </a:solidFill>
                            <a:effectLst/>
                            <a:latin typeface="Cambria Math" panose="02040503050406030204" pitchFamily="18" charset="0"/>
                            <a:ea typeface="Times New Roman" panose="02020603050405020304" pitchFamily="18" charset="0"/>
                          </a:rPr>
                          <m:t>𝑩</m:t>
                        </m:r>
                      </m:num>
                      <m:den>
                        <m:r>
                          <a:rPr lang="en-US" sz="2800" b="1" i="1">
                            <a:solidFill>
                              <a:srgbClr val="FF0000"/>
                            </a:solidFill>
                            <a:effectLst/>
                            <a:latin typeface="Cambria Math" panose="02040503050406030204" pitchFamily="18" charset="0"/>
                            <a:ea typeface="Times New Roman" panose="02020603050405020304" pitchFamily="18" charset="0"/>
                          </a:rPr>
                          <m:t>𝑨</m:t>
                        </m:r>
                      </m:den>
                    </m:f>
                    <m:r>
                      <a:rPr lang="en-US" sz="2800" b="1" i="1">
                        <a:solidFill>
                          <a:srgbClr val="FF0000"/>
                        </a:solidFill>
                        <a:effectLst/>
                        <a:latin typeface="Cambria Math" panose="02040503050406030204" pitchFamily="18" charset="0"/>
                        <a:ea typeface="Times New Roman" panose="02020603050405020304" pitchFamily="18" charset="0"/>
                      </a:rPr>
                      <m:t> </m:t>
                    </m:r>
                  </m:oMath>
                </a14:m>
                <a:endParaRPr lang="en-US" sz="2800" b="1" dirty="0">
                  <a:solidFill>
                    <a:srgbClr val="FF0000"/>
                  </a:solidFill>
                  <a:effectLst/>
                  <a:latin typeface="Times New Roman" panose="02020603050405020304" pitchFamily="18" charset="0"/>
                  <a:ea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B4E84DF2-E8AF-78BA-5AF2-A1F778FE01C8}"/>
                  </a:ext>
                </a:extLst>
              </p:cNvPr>
              <p:cNvSpPr txBox="1">
                <a:spLocks noRot="1" noChangeAspect="1" noMove="1" noResize="1" noEditPoints="1" noAdjustHandles="1" noChangeArrowheads="1" noChangeShapeType="1" noTextEdit="1"/>
              </p:cNvSpPr>
              <p:nvPr/>
            </p:nvSpPr>
            <p:spPr>
              <a:xfrm>
                <a:off x="1712912" y="9069996"/>
                <a:ext cx="16404033" cy="1914820"/>
              </a:xfrm>
              <a:prstGeom prst="rect">
                <a:avLst/>
              </a:prstGeom>
              <a:blipFill>
                <a:blip r:embed="rId5"/>
                <a:stretch>
                  <a:fillRect l="-780"/>
                </a:stretch>
              </a:blipFill>
            </p:spPr>
            <p:txBody>
              <a:bodyPr/>
              <a:lstStyle/>
              <a:p>
                <a:r>
                  <a:rPr lang="en-US">
                    <a:noFill/>
                  </a:rPr>
                  <a:t> </a:t>
                </a:r>
              </a:p>
            </p:txBody>
          </p:sp>
        </mc:Fallback>
      </mc:AlternateContent>
    </p:spTree>
    <p:extLst>
      <p:ext uri="{BB962C8B-B14F-4D97-AF65-F5344CB8AC3E}">
        <p14:creationId xmlns:p14="http://schemas.microsoft.com/office/powerpoint/2010/main" val="2437210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sp>
        <p:nvSpPr>
          <p:cNvPr id="13" name="TextBox 12">
            <a:extLst>
              <a:ext uri="{FF2B5EF4-FFF2-40B4-BE49-F238E27FC236}">
                <a16:creationId xmlns:a16="http://schemas.microsoft.com/office/drawing/2014/main" id="{B287D331-BD22-E43F-63D7-13C3F58E058D}"/>
              </a:ext>
            </a:extLst>
          </p:cNvPr>
          <p:cNvSpPr txBox="1"/>
          <p:nvPr/>
        </p:nvSpPr>
        <p:spPr>
          <a:xfrm>
            <a:off x="835026" y="1373189"/>
            <a:ext cx="18290032" cy="954107"/>
          </a:xfrm>
          <a:prstGeom prst="rect">
            <a:avLst/>
          </a:prstGeom>
          <a:noFill/>
        </p:spPr>
        <p:txBody>
          <a:bodyPr wrap="square">
            <a:spAutoFit/>
          </a:bodyPr>
          <a:lstStyle/>
          <a:p>
            <a:pPr marL="0" marR="0" algn="just">
              <a:spcBef>
                <a:spcPts val="0"/>
              </a:spcBef>
              <a:spcAft>
                <a:spcPts val="0"/>
              </a:spcAft>
            </a:pPr>
            <a:r>
              <a:rPr lang="en-US" sz="2800" b="1" dirty="0">
                <a:effectLst/>
                <a:latin typeface="Times New Roman" panose="02020603050405020304" pitchFamily="18" charset="0"/>
                <a:ea typeface="Times New Roman" panose="02020603050405020304" pitchFamily="18" charset="0"/>
              </a:rPr>
              <a:t>Lab </a:t>
            </a:r>
            <a:r>
              <a:rPr lang="en-US" sz="2800" b="1" dirty="0" err="1">
                <a:effectLst/>
                <a:latin typeface="Times New Roman" panose="02020603050405020304" pitchFamily="18" charset="0"/>
                <a:ea typeface="Times New Roman" panose="02020603050405020304" pitchFamily="18" charset="0"/>
              </a:rPr>
              <a:t>Pblm</a:t>
            </a:r>
            <a:r>
              <a:rPr lang="en-US" sz="2800" b="1" dirty="0">
                <a:effectLst/>
                <a:latin typeface="Times New Roman" panose="02020603050405020304" pitchFamily="18" charset="0"/>
                <a:ea typeface="Times New Roman" panose="02020603050405020304" pitchFamily="18" charset="0"/>
              </a:rPr>
              <a:t>: The following data was obtained from a screen analysis of quartz sample. Find the effectiveness of the screen having average aperture </a:t>
            </a:r>
            <a:r>
              <a:rPr lang="en-US" sz="2800" b="1" dirty="0" err="1">
                <a:effectLst/>
                <a:latin typeface="Times New Roman" panose="02020603050405020304" pitchFamily="18" charset="0"/>
                <a:ea typeface="Times New Roman" panose="02020603050405020304" pitchFamily="18" charset="0"/>
              </a:rPr>
              <a:t>dia</a:t>
            </a:r>
            <a:r>
              <a:rPr lang="en-US" sz="2800" b="1" dirty="0">
                <a:effectLst/>
                <a:latin typeface="Times New Roman" panose="02020603050405020304" pitchFamily="18" charset="0"/>
                <a:ea typeface="Times New Roman" panose="02020603050405020304" pitchFamily="18" charset="0"/>
              </a:rPr>
              <a:t> 1.6 mm</a:t>
            </a:r>
          </a:p>
        </p:txBody>
      </p:sp>
      <p:graphicFrame>
        <p:nvGraphicFramePr>
          <p:cNvPr id="14" name="Table 13">
            <a:extLst>
              <a:ext uri="{FF2B5EF4-FFF2-40B4-BE49-F238E27FC236}">
                <a16:creationId xmlns:a16="http://schemas.microsoft.com/office/drawing/2014/main" id="{5BB6AD91-94F6-2802-BF73-633F18189F80}"/>
              </a:ext>
            </a:extLst>
          </p:cNvPr>
          <p:cNvGraphicFramePr>
            <a:graphicFrameLocks noGrp="1"/>
          </p:cNvGraphicFramePr>
          <p:nvPr>
            <p:extLst>
              <p:ext uri="{D42A27DB-BD31-4B8C-83A1-F6EECF244321}">
                <p14:modId xmlns:p14="http://schemas.microsoft.com/office/powerpoint/2010/main" val="1842385004"/>
              </p:ext>
            </p:extLst>
          </p:nvPr>
        </p:nvGraphicFramePr>
        <p:xfrm>
          <a:off x="1822450" y="2689247"/>
          <a:ext cx="14020800" cy="7199256"/>
        </p:xfrm>
        <a:graphic>
          <a:graphicData uri="http://schemas.openxmlformats.org/drawingml/2006/table">
            <a:tbl>
              <a:tblPr firstRow="1" firstCol="1" bandRow="1">
                <a:tableStyleId>{5C22544A-7EE6-4342-B048-85BDC9FD1C3A}</a:tableStyleId>
              </a:tblPr>
              <a:tblGrid>
                <a:gridCol w="2243469">
                  <a:extLst>
                    <a:ext uri="{9D8B030D-6E8A-4147-A177-3AD203B41FA5}">
                      <a16:colId xmlns:a16="http://schemas.microsoft.com/office/drawing/2014/main" val="2590327506"/>
                    </a:ext>
                  </a:extLst>
                </a:gridCol>
                <a:gridCol w="2118831">
                  <a:extLst>
                    <a:ext uri="{9D8B030D-6E8A-4147-A177-3AD203B41FA5}">
                      <a16:colId xmlns:a16="http://schemas.microsoft.com/office/drawing/2014/main" val="203442072"/>
                    </a:ext>
                  </a:extLst>
                </a:gridCol>
                <a:gridCol w="2383903">
                  <a:extLst>
                    <a:ext uri="{9D8B030D-6E8A-4147-A177-3AD203B41FA5}">
                      <a16:colId xmlns:a16="http://schemas.microsoft.com/office/drawing/2014/main" val="1452201653"/>
                    </a:ext>
                  </a:extLst>
                </a:gridCol>
                <a:gridCol w="2243469">
                  <a:extLst>
                    <a:ext uri="{9D8B030D-6E8A-4147-A177-3AD203B41FA5}">
                      <a16:colId xmlns:a16="http://schemas.microsoft.com/office/drawing/2014/main" val="303969801"/>
                    </a:ext>
                  </a:extLst>
                </a:gridCol>
                <a:gridCol w="2243469">
                  <a:extLst>
                    <a:ext uri="{9D8B030D-6E8A-4147-A177-3AD203B41FA5}">
                      <a16:colId xmlns:a16="http://schemas.microsoft.com/office/drawing/2014/main" val="2669677393"/>
                    </a:ext>
                  </a:extLst>
                </a:gridCol>
                <a:gridCol w="2787659">
                  <a:extLst>
                    <a:ext uri="{9D8B030D-6E8A-4147-A177-3AD203B41FA5}">
                      <a16:colId xmlns:a16="http://schemas.microsoft.com/office/drawing/2014/main" val="3529831216"/>
                    </a:ext>
                  </a:extLst>
                </a:gridCol>
              </a:tblGrid>
              <a:tr h="1221281">
                <a:tc>
                  <a:txBody>
                    <a:bodyPr/>
                    <a:lstStyle/>
                    <a:p>
                      <a:pPr marL="0" marR="0" algn="ctr">
                        <a:spcBef>
                          <a:spcPts val="0"/>
                        </a:spcBef>
                        <a:spcAft>
                          <a:spcPts val="0"/>
                        </a:spcAft>
                      </a:pPr>
                      <a:r>
                        <a:rPr lang="en-US" sz="2800">
                          <a:effectLst/>
                        </a:rPr>
                        <a:t> Mesh number</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Mesh Number</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 Aperture Dia (mm)</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Mass Fraction Feed</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Mass Fraction in Oversize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Mass fraction in under 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1759037320"/>
                  </a:ext>
                </a:extLst>
              </a:tr>
              <a:tr h="430615">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6.73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2020429798"/>
                  </a:ext>
                </a:extLst>
              </a:tr>
              <a:tr h="394612">
                <a:tc>
                  <a:txBody>
                    <a:bodyPr/>
                    <a:lstStyle/>
                    <a:p>
                      <a:pPr marL="0" marR="0" algn="ctr">
                        <a:spcBef>
                          <a:spcPts val="0"/>
                        </a:spcBef>
                        <a:spcAft>
                          <a:spcPts val="0"/>
                        </a:spcAft>
                      </a:pPr>
                      <a:r>
                        <a:rPr lang="en-US" sz="2800">
                          <a:effectLst/>
                        </a:rPr>
                        <a:t>-3+4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4.699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0.0107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0.018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1921059421"/>
                  </a:ext>
                </a:extLst>
              </a:tr>
              <a:tr h="394612">
                <a:tc>
                  <a:txBody>
                    <a:bodyPr/>
                    <a:lstStyle/>
                    <a:p>
                      <a:pPr marL="0" marR="0" algn="ctr">
                        <a:spcBef>
                          <a:spcPts val="0"/>
                        </a:spcBef>
                        <a:spcAft>
                          <a:spcPts val="0"/>
                        </a:spcAft>
                      </a:pPr>
                      <a:r>
                        <a:rPr lang="en-US" sz="2800">
                          <a:effectLst/>
                        </a:rPr>
                        <a:t>-4+6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3.327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0.0235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1495092926"/>
                  </a:ext>
                </a:extLst>
              </a:tr>
              <a:tr h="394612">
                <a:tc>
                  <a:txBody>
                    <a:bodyPr/>
                    <a:lstStyle/>
                    <a:p>
                      <a:pPr marL="0" marR="0" algn="ctr">
                        <a:spcBef>
                          <a:spcPts val="0"/>
                        </a:spcBef>
                        <a:spcAft>
                          <a:spcPts val="0"/>
                        </a:spcAft>
                      </a:pPr>
                      <a:r>
                        <a:rPr lang="en-US" sz="2800">
                          <a:effectLst/>
                        </a:rPr>
                        <a:t>-6+8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2.362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0.0672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0.088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2491514194"/>
                  </a:ext>
                </a:extLst>
              </a:tr>
              <a:tr h="394612">
                <a:tc>
                  <a:txBody>
                    <a:bodyPr/>
                    <a:lstStyle/>
                    <a:p>
                      <a:pPr marL="0" marR="0" algn="ctr">
                        <a:spcBef>
                          <a:spcPts val="0"/>
                        </a:spcBef>
                        <a:spcAft>
                          <a:spcPts val="0"/>
                        </a:spcAft>
                      </a:pPr>
                      <a:r>
                        <a:rPr lang="en-US" sz="2800">
                          <a:effectLst/>
                        </a:rPr>
                        <a:t>-8+10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1.651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0.0864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4202835472"/>
                  </a:ext>
                </a:extLst>
              </a:tr>
              <a:tr h="394612">
                <a:tc>
                  <a:txBody>
                    <a:bodyPr/>
                    <a:lstStyle/>
                    <a:p>
                      <a:pPr marL="0" marR="0" algn="ctr">
                        <a:spcBef>
                          <a:spcPts val="0"/>
                        </a:spcBef>
                        <a:spcAft>
                          <a:spcPts val="0"/>
                        </a:spcAft>
                      </a:pPr>
                      <a:r>
                        <a:rPr lang="en-US" sz="2800">
                          <a:effectLst/>
                        </a:rPr>
                        <a:t>-10+14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1.168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0.1087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0.142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1076786043"/>
                  </a:ext>
                </a:extLst>
              </a:tr>
              <a:tr h="394612">
                <a:tc>
                  <a:txBody>
                    <a:bodyPr/>
                    <a:lstStyle/>
                    <a:p>
                      <a:pPr marL="0" marR="0" algn="ctr">
                        <a:spcBef>
                          <a:spcPts val="0"/>
                        </a:spcBef>
                        <a:spcAft>
                          <a:spcPts val="0"/>
                        </a:spcAft>
                      </a:pPr>
                      <a:r>
                        <a:rPr lang="en-US" sz="2800">
                          <a:effectLst/>
                        </a:rPr>
                        <a:t>-14+20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0.833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0.1759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0.229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2053068289"/>
                  </a:ext>
                </a:extLst>
              </a:tr>
              <a:tr h="394612">
                <a:tc>
                  <a:txBody>
                    <a:bodyPr/>
                    <a:lstStyle/>
                    <a:p>
                      <a:pPr marL="0" marR="0" algn="ctr">
                        <a:spcBef>
                          <a:spcPts val="0"/>
                        </a:spcBef>
                        <a:spcAft>
                          <a:spcPts val="0"/>
                        </a:spcAft>
                      </a:pPr>
                      <a:r>
                        <a:rPr lang="en-US" sz="2800">
                          <a:effectLst/>
                        </a:rPr>
                        <a:t>-20+28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0.589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0.1397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0.182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2260954904"/>
                  </a:ext>
                </a:extLst>
              </a:tr>
              <a:tr h="394612">
                <a:tc>
                  <a:txBody>
                    <a:bodyPr/>
                    <a:lstStyle/>
                    <a:p>
                      <a:pPr marL="0" marR="0" algn="ctr">
                        <a:spcBef>
                          <a:spcPts val="0"/>
                        </a:spcBef>
                        <a:spcAft>
                          <a:spcPts val="0"/>
                        </a:spcAft>
                      </a:pPr>
                      <a:r>
                        <a:rPr lang="en-US" sz="2800">
                          <a:effectLst/>
                        </a:rPr>
                        <a:t>-28+35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0.417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0.1077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0.104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0.1195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42540018"/>
                  </a:ext>
                </a:extLst>
              </a:tr>
              <a:tr h="394612">
                <a:tc>
                  <a:txBody>
                    <a:bodyPr/>
                    <a:lstStyle/>
                    <a:p>
                      <a:pPr marL="0" marR="0" algn="ctr">
                        <a:spcBef>
                          <a:spcPts val="0"/>
                        </a:spcBef>
                        <a:spcAft>
                          <a:spcPts val="0"/>
                        </a:spcAft>
                      </a:pPr>
                      <a:r>
                        <a:rPr lang="en-US" sz="2800">
                          <a:effectLst/>
                        </a:rPr>
                        <a:t>-35+48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0.295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0.1013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0.2198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2684391733"/>
                  </a:ext>
                </a:extLst>
              </a:tr>
              <a:tr h="394612">
                <a:tc>
                  <a:txBody>
                    <a:bodyPr/>
                    <a:lstStyle/>
                    <a:p>
                      <a:pPr marL="0" marR="0" algn="ctr">
                        <a:spcBef>
                          <a:spcPts val="0"/>
                        </a:spcBef>
                        <a:spcAft>
                          <a:spcPts val="0"/>
                        </a:spcAft>
                      </a:pPr>
                      <a:r>
                        <a:rPr lang="en-US" sz="2800">
                          <a:effectLst/>
                        </a:rPr>
                        <a:t>-48+65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0.296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0.0746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0.025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0.2391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1629503903"/>
                  </a:ext>
                </a:extLst>
              </a:tr>
              <a:tr h="394612">
                <a:tc>
                  <a:txBody>
                    <a:bodyPr/>
                    <a:lstStyle/>
                    <a:p>
                      <a:pPr marL="0" marR="0" algn="ctr">
                        <a:spcBef>
                          <a:spcPts val="0"/>
                        </a:spcBef>
                        <a:spcAft>
                          <a:spcPts val="0"/>
                        </a:spcAft>
                      </a:pPr>
                      <a:r>
                        <a:rPr lang="en-US" sz="2800">
                          <a:effectLst/>
                        </a:rPr>
                        <a:t>-65+100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0.297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0.1877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2395877033"/>
                  </a:ext>
                </a:extLst>
              </a:tr>
              <a:tr h="394612">
                <a:tc>
                  <a:txBody>
                    <a:bodyPr/>
                    <a:lstStyle/>
                    <a:p>
                      <a:pPr marL="0" marR="0" algn="ctr">
                        <a:spcBef>
                          <a:spcPts val="0"/>
                        </a:spcBef>
                        <a:spcAft>
                          <a:spcPts val="0"/>
                        </a:spcAft>
                      </a:pPr>
                      <a:r>
                        <a:rPr lang="en-US" sz="2800">
                          <a:effectLst/>
                        </a:rPr>
                        <a:t>-100+150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0.298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0.033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0.1427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1923650832"/>
                  </a:ext>
                </a:extLst>
              </a:tr>
              <a:tr h="394612">
                <a:tc>
                  <a:txBody>
                    <a:bodyPr/>
                    <a:lstStyle/>
                    <a:p>
                      <a:pPr marL="0" marR="0" algn="ctr">
                        <a:spcBef>
                          <a:spcPts val="0"/>
                        </a:spcBef>
                        <a:spcAft>
                          <a:spcPts val="0"/>
                        </a:spcAft>
                      </a:pPr>
                      <a:r>
                        <a:rPr lang="en-US" sz="2800">
                          <a:effectLst/>
                        </a:rPr>
                        <a:t>-150+200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 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0.299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tc>
                  <a:txBody>
                    <a:bodyPr/>
                    <a:lstStyle/>
                    <a:p>
                      <a:pPr marL="0" marR="0" algn="ctr">
                        <a:spcBef>
                          <a:spcPts val="0"/>
                        </a:spcBef>
                        <a:spcAft>
                          <a:spcPts val="0"/>
                        </a:spcAft>
                      </a:pPr>
                      <a:r>
                        <a:rPr lang="en-US" sz="2800" dirty="0">
                          <a:effectLst/>
                        </a:rPr>
                        <a:t> </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52101" marR="52101" marT="0" marB="0" anchor="b"/>
                </a:tc>
                <a:extLst>
                  <a:ext uri="{0D108BD9-81ED-4DB2-BD59-A6C34878D82A}">
                    <a16:rowId xmlns:a16="http://schemas.microsoft.com/office/drawing/2014/main" val="3540100131"/>
                  </a:ext>
                </a:extLst>
              </a:tr>
            </a:tbl>
          </a:graphicData>
        </a:graphic>
      </p:graphicFrame>
    </p:spTree>
    <p:extLst>
      <p:ext uri="{BB962C8B-B14F-4D97-AF65-F5344CB8AC3E}">
        <p14:creationId xmlns:p14="http://schemas.microsoft.com/office/powerpoint/2010/main" val="3487434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9" name="TextBox 8">
            <a:extLst>
              <a:ext uri="{FF2B5EF4-FFF2-40B4-BE49-F238E27FC236}">
                <a16:creationId xmlns:a16="http://schemas.microsoft.com/office/drawing/2014/main" id="{DE7C6A3A-5591-82B8-E238-A335E3C4B822}"/>
              </a:ext>
            </a:extLst>
          </p:cNvPr>
          <p:cNvSpPr txBox="1"/>
          <p:nvPr/>
        </p:nvSpPr>
        <p:spPr>
          <a:xfrm>
            <a:off x="1004888" y="1326172"/>
            <a:ext cx="18696234" cy="954107"/>
          </a:xfrm>
          <a:prstGeom prst="rect">
            <a:avLst/>
          </a:prstGeom>
          <a:noFill/>
        </p:spPr>
        <p:txBody>
          <a:bodyPr wrap="square">
            <a:spAutoFit/>
          </a:bodyPr>
          <a:lstStyle/>
          <a:p>
            <a:pPr marL="0" marR="0" algn="l">
              <a:spcBef>
                <a:spcPts val="0"/>
              </a:spcBef>
              <a:spcAft>
                <a:spcPts val="0"/>
              </a:spcAft>
            </a:pPr>
            <a:r>
              <a:rPr lang="en-US" sz="2800" b="1" dirty="0">
                <a:effectLst/>
                <a:latin typeface="Times New Roman" panose="02020603050405020304" pitchFamily="18" charset="0"/>
                <a:ea typeface="Times New Roman" panose="02020603050405020304" pitchFamily="18" charset="0"/>
              </a:rPr>
              <a:t>Solution:  </a:t>
            </a:r>
            <a:r>
              <a:rPr lang="en-US" sz="2800" dirty="0">
                <a:effectLst/>
                <a:latin typeface="Times New Roman" panose="02020603050405020304" pitchFamily="18" charset="0"/>
                <a:ea typeface="Times New Roman" panose="02020603050405020304" pitchFamily="18" charset="0"/>
              </a:rPr>
              <a:t>Calculate average aperture </a:t>
            </a:r>
            <a:r>
              <a:rPr lang="en-US" sz="2800" dirty="0" err="1">
                <a:effectLst/>
                <a:latin typeface="Times New Roman" panose="02020603050405020304" pitchFamily="18" charset="0"/>
                <a:ea typeface="Times New Roman" panose="02020603050405020304" pitchFamily="18" charset="0"/>
              </a:rPr>
              <a:t>dia</a:t>
            </a:r>
            <a:r>
              <a:rPr lang="en-US" sz="2800" dirty="0">
                <a:effectLst/>
                <a:latin typeface="Times New Roman" panose="02020603050405020304" pitchFamily="18" charset="0"/>
                <a:ea typeface="Times New Roman" panose="02020603050405020304" pitchFamily="18" charset="0"/>
              </a:rPr>
              <a:t> and cumulative fractions of feed, oversize and under size. Plot the graph of cumulative mass fraction vs average particle size.</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AA14AFC0-6D83-793A-3291-7A66AC560132}"/>
                  </a:ext>
                </a:extLst>
              </p:cNvPr>
              <p:cNvGraphicFramePr>
                <a:graphicFrameLocks noGrp="1"/>
              </p:cNvGraphicFramePr>
              <p:nvPr>
                <p:extLst>
                  <p:ext uri="{D42A27DB-BD31-4B8C-83A1-F6EECF244321}">
                    <p14:modId xmlns:p14="http://schemas.microsoft.com/office/powerpoint/2010/main" val="3952055745"/>
                  </p:ext>
                </p:extLst>
              </p:nvPr>
            </p:nvGraphicFramePr>
            <p:xfrm>
              <a:off x="1346688" y="2595213"/>
              <a:ext cx="17562347" cy="8117454"/>
            </p:xfrm>
            <a:graphic>
              <a:graphicData uri="http://schemas.openxmlformats.org/drawingml/2006/table">
                <a:tbl>
                  <a:tblPr firstRow="1" firstCol="1" bandRow="1">
                    <a:tableStyleId>{5C22544A-7EE6-4342-B048-85BDC9FD1C3A}</a:tableStyleId>
                  </a:tblPr>
                  <a:tblGrid>
                    <a:gridCol w="1840234">
                      <a:extLst>
                        <a:ext uri="{9D8B030D-6E8A-4147-A177-3AD203B41FA5}">
                          <a16:colId xmlns:a16="http://schemas.microsoft.com/office/drawing/2014/main" val="417759895"/>
                        </a:ext>
                      </a:extLst>
                    </a:gridCol>
                    <a:gridCol w="1540812">
                      <a:extLst>
                        <a:ext uri="{9D8B030D-6E8A-4147-A177-3AD203B41FA5}">
                          <a16:colId xmlns:a16="http://schemas.microsoft.com/office/drawing/2014/main" val="70558326"/>
                        </a:ext>
                      </a:extLst>
                    </a:gridCol>
                    <a:gridCol w="1221968">
                      <a:extLst>
                        <a:ext uri="{9D8B030D-6E8A-4147-A177-3AD203B41FA5}">
                          <a16:colId xmlns:a16="http://schemas.microsoft.com/office/drawing/2014/main" val="4045958060"/>
                        </a:ext>
                      </a:extLst>
                    </a:gridCol>
                    <a:gridCol w="1534338">
                      <a:extLst>
                        <a:ext uri="{9D8B030D-6E8A-4147-A177-3AD203B41FA5}">
                          <a16:colId xmlns:a16="http://schemas.microsoft.com/office/drawing/2014/main" val="2426303860"/>
                        </a:ext>
                      </a:extLst>
                    </a:gridCol>
                    <a:gridCol w="1587749">
                      <a:extLst>
                        <a:ext uri="{9D8B030D-6E8A-4147-A177-3AD203B41FA5}">
                          <a16:colId xmlns:a16="http://schemas.microsoft.com/office/drawing/2014/main" val="2508312296"/>
                        </a:ext>
                      </a:extLst>
                    </a:gridCol>
                    <a:gridCol w="1480929">
                      <a:extLst>
                        <a:ext uri="{9D8B030D-6E8A-4147-A177-3AD203B41FA5}">
                          <a16:colId xmlns:a16="http://schemas.microsoft.com/office/drawing/2014/main" val="921334402"/>
                        </a:ext>
                      </a:extLst>
                    </a:gridCol>
                    <a:gridCol w="1534338">
                      <a:extLst>
                        <a:ext uri="{9D8B030D-6E8A-4147-A177-3AD203B41FA5}">
                          <a16:colId xmlns:a16="http://schemas.microsoft.com/office/drawing/2014/main" val="1787336938"/>
                        </a:ext>
                      </a:extLst>
                    </a:gridCol>
                    <a:gridCol w="2273993">
                      <a:extLst>
                        <a:ext uri="{9D8B030D-6E8A-4147-A177-3AD203B41FA5}">
                          <a16:colId xmlns:a16="http://schemas.microsoft.com/office/drawing/2014/main" val="324828268"/>
                        </a:ext>
                      </a:extLst>
                    </a:gridCol>
                    <a:gridCol w="2273993">
                      <a:extLst>
                        <a:ext uri="{9D8B030D-6E8A-4147-A177-3AD203B41FA5}">
                          <a16:colId xmlns:a16="http://schemas.microsoft.com/office/drawing/2014/main" val="8488120"/>
                        </a:ext>
                      </a:extLst>
                    </a:gridCol>
                    <a:gridCol w="2273993">
                      <a:extLst>
                        <a:ext uri="{9D8B030D-6E8A-4147-A177-3AD203B41FA5}">
                          <a16:colId xmlns:a16="http://schemas.microsoft.com/office/drawing/2014/main" val="874712650"/>
                        </a:ext>
                      </a:extLst>
                    </a:gridCol>
                  </a:tblGrid>
                  <a:tr h="1401417">
                    <a:tc>
                      <a:txBody>
                        <a:bodyPr/>
                        <a:lstStyle/>
                        <a:p>
                          <a:pPr marL="0" marR="0" algn="ctr">
                            <a:spcBef>
                              <a:spcPts val="0"/>
                            </a:spcBef>
                            <a:spcAft>
                              <a:spcPts val="0"/>
                            </a:spcAft>
                          </a:pPr>
                          <a:r>
                            <a:rPr lang="en-US" sz="2800">
                              <a:effectLst/>
                            </a:rPr>
                            <a:t> Mesh number</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Mesh Number</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Mass Fraction Feed</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Mass Fraction in Oversize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Mass fraction in under 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Average Dia</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rPr>
                                    </m:ctrlPr>
                                  </m:sSubPr>
                                  <m:e>
                                    <m:acc>
                                      <m:accPr>
                                        <m:chr m:val="̅"/>
                                        <m:ctrlPr>
                                          <a:rPr lang="en-US" sz="2800" i="1">
                                            <a:effectLst/>
                                            <a:latin typeface="Cambria Math" panose="02040503050406030204" pitchFamily="18" charset="0"/>
                                          </a:rPr>
                                        </m:ctrlPr>
                                      </m:accPr>
                                      <m:e>
                                        <m:r>
                                          <a:rPr lang="en-US" sz="2800">
                                            <a:effectLst/>
                                            <a:latin typeface="Cambria Math" panose="02040503050406030204" pitchFamily="18" charset="0"/>
                                          </a:rPr>
                                          <m:t>𝐷</m:t>
                                        </m:r>
                                      </m:e>
                                    </m:acc>
                                  </m:e>
                                  <m:sub>
                                    <m:r>
                                      <a:rPr lang="en-US" sz="2800">
                                        <a:effectLst/>
                                        <a:latin typeface="Cambria Math" panose="02040503050406030204" pitchFamily="18" charset="0"/>
                                      </a:rPr>
                                      <m:t>𝑃𝑖</m:t>
                                    </m:r>
                                  </m:sub>
                                </m:sSub>
                              </m:oMath>
                            </m:oMathPara>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Cumulative mass Fraction Feed </a:t>
                          </a:r>
                          <a14:m>
                            <m:oMath xmlns:m="http://schemas.openxmlformats.org/officeDocument/2006/math">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𝐴</m:t>
                                  </m:r>
                                </m:sub>
                              </m:sSub>
                            </m:oMath>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Cumulative Mass Fraction in Oversize </a:t>
                          </a:r>
                          <a14:m>
                            <m:oMath xmlns:m="http://schemas.openxmlformats.org/officeDocument/2006/math">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𝐵</m:t>
                                  </m:r>
                                </m:sub>
                              </m:sSub>
                            </m:oMath>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Cumulative Mass fraction in under size </a:t>
                          </a:r>
                          <a14:m>
                            <m:oMath xmlns:m="http://schemas.openxmlformats.org/officeDocument/2006/math">
                              <m:sSub>
                                <m:sSubPr>
                                  <m:ctrlPr>
                                    <a:rPr lang="en-US" sz="2800" i="1">
                                      <a:effectLst/>
                                      <a:latin typeface="Cambria Math" panose="02040503050406030204" pitchFamily="18" charset="0"/>
                                    </a:rPr>
                                  </m:ctrlPr>
                                </m:sSubPr>
                                <m:e>
                                  <m:r>
                                    <a:rPr lang="en-US" sz="2800">
                                      <a:effectLst/>
                                      <a:latin typeface="Cambria Math" panose="02040503050406030204" pitchFamily="18" charset="0"/>
                                    </a:rPr>
                                    <m:t>𝑥</m:t>
                                  </m:r>
                                </m:e>
                                <m:sub>
                                  <m:r>
                                    <a:rPr lang="en-US" sz="2800">
                                      <a:effectLst/>
                                      <a:latin typeface="Cambria Math" panose="02040503050406030204" pitchFamily="18" charset="0"/>
                                    </a:rPr>
                                    <m:t>𝐶</m:t>
                                  </m:r>
                                </m:sub>
                              </m:sSub>
                            </m:oMath>
                          </a14:m>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1184407624"/>
                      </a:ext>
                    </a:extLst>
                  </a:tr>
                  <a:tr h="496302">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6.73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1124173931"/>
                      </a:ext>
                    </a:extLst>
                  </a:tr>
                  <a:tr h="454944">
                    <a:tc>
                      <a:txBody>
                        <a:bodyPr/>
                        <a:lstStyle/>
                        <a:p>
                          <a:pPr marL="0" marR="0" algn="ctr">
                            <a:spcBef>
                              <a:spcPts val="0"/>
                            </a:spcBef>
                            <a:spcAft>
                              <a:spcPts val="0"/>
                            </a:spcAft>
                          </a:pPr>
                          <a:r>
                            <a:rPr lang="en-US" sz="2800">
                              <a:effectLst/>
                            </a:rPr>
                            <a:t>-3+4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4.699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0.0107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0.018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5.7145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4208564607"/>
                      </a:ext>
                    </a:extLst>
                  </a:tr>
                  <a:tr h="454944">
                    <a:tc>
                      <a:txBody>
                        <a:bodyPr/>
                        <a:lstStyle/>
                        <a:p>
                          <a:pPr marL="0" marR="0" algn="ctr">
                            <a:spcBef>
                              <a:spcPts val="0"/>
                            </a:spcBef>
                            <a:spcAft>
                              <a:spcPts val="0"/>
                            </a:spcAft>
                          </a:pPr>
                          <a:r>
                            <a:rPr lang="en-US" sz="2800">
                              <a:effectLst/>
                            </a:rPr>
                            <a:t>-4+6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3.327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0.0235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4.013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0.9893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0.982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2243871635"/>
                      </a:ext>
                    </a:extLst>
                  </a:tr>
                  <a:tr h="454944">
                    <a:tc>
                      <a:txBody>
                        <a:bodyPr/>
                        <a:lstStyle/>
                        <a:p>
                          <a:pPr marL="0" marR="0" algn="ctr">
                            <a:spcBef>
                              <a:spcPts val="0"/>
                            </a:spcBef>
                            <a:spcAft>
                              <a:spcPts val="0"/>
                            </a:spcAft>
                          </a:pPr>
                          <a:r>
                            <a:rPr lang="en-US" sz="2800">
                              <a:effectLst/>
                            </a:rPr>
                            <a:t>-6+8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2.362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0.0672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0.088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2.8445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0.9658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0.949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158668245"/>
                      </a:ext>
                    </a:extLst>
                  </a:tr>
                  <a:tr h="454944">
                    <a:tc>
                      <a:txBody>
                        <a:bodyPr/>
                        <a:lstStyle/>
                        <a:p>
                          <a:pPr marL="0" marR="0" algn="ctr">
                            <a:spcBef>
                              <a:spcPts val="0"/>
                            </a:spcBef>
                            <a:spcAft>
                              <a:spcPts val="0"/>
                            </a:spcAft>
                          </a:pPr>
                          <a:r>
                            <a:rPr lang="en-US" sz="2800">
                              <a:effectLst/>
                            </a:rPr>
                            <a:t>-8+10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1.651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0.0864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0.8986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0.861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1395965169"/>
                      </a:ext>
                    </a:extLst>
                  </a:tr>
                  <a:tr h="454944">
                    <a:tc>
                      <a:txBody>
                        <a:bodyPr/>
                        <a:lstStyle/>
                        <a:p>
                          <a:pPr marL="0" marR="0" algn="ctr">
                            <a:spcBef>
                              <a:spcPts val="0"/>
                            </a:spcBef>
                            <a:spcAft>
                              <a:spcPts val="0"/>
                            </a:spcAft>
                          </a:pPr>
                          <a:r>
                            <a:rPr lang="en-US" sz="2800">
                              <a:effectLst/>
                            </a:rPr>
                            <a:t>-10+14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1.168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0.1087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0.142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1.4095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0.8122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0.749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388650126"/>
                      </a:ext>
                    </a:extLst>
                  </a:tr>
                  <a:tr h="454944">
                    <a:tc>
                      <a:txBody>
                        <a:bodyPr/>
                        <a:lstStyle/>
                        <a:p>
                          <a:pPr marL="0" marR="0" algn="ctr">
                            <a:spcBef>
                              <a:spcPts val="0"/>
                            </a:spcBef>
                            <a:spcAft>
                              <a:spcPts val="0"/>
                            </a:spcAft>
                          </a:pPr>
                          <a:r>
                            <a:rPr lang="en-US" sz="2800">
                              <a:effectLst/>
                            </a:rPr>
                            <a:t>-14+20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0.1759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0.229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0.7035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0.607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214788297"/>
                      </a:ext>
                    </a:extLst>
                  </a:tr>
                  <a:tr h="454944">
                    <a:tc>
                      <a:txBody>
                        <a:bodyPr/>
                        <a:lstStyle/>
                        <a:p>
                          <a:pPr marL="0" marR="0" algn="ctr">
                            <a:spcBef>
                              <a:spcPts val="0"/>
                            </a:spcBef>
                            <a:spcAft>
                              <a:spcPts val="0"/>
                            </a:spcAft>
                          </a:pPr>
                          <a:r>
                            <a:rPr lang="en-US" sz="2800">
                              <a:effectLst/>
                            </a:rPr>
                            <a:t>-20+28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0.589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0.1397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0.182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0.711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0.5276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0.378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4140781403"/>
                      </a:ext>
                    </a:extLst>
                  </a:tr>
                  <a:tr h="454944">
                    <a:tc>
                      <a:txBody>
                        <a:bodyPr/>
                        <a:lstStyle/>
                        <a:p>
                          <a:pPr marL="0" marR="0" algn="ctr">
                            <a:spcBef>
                              <a:spcPts val="0"/>
                            </a:spcBef>
                            <a:spcAft>
                              <a:spcPts val="0"/>
                            </a:spcAft>
                          </a:pPr>
                          <a:r>
                            <a:rPr lang="en-US" sz="2800">
                              <a:effectLst/>
                            </a:rPr>
                            <a:t>-28+35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0.417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0.1077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0.1195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0.503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0.3879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0.196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851882867"/>
                      </a:ext>
                    </a:extLst>
                  </a:tr>
                  <a:tr h="454944">
                    <a:tc>
                      <a:txBody>
                        <a:bodyPr/>
                        <a:lstStyle/>
                        <a:p>
                          <a:pPr marL="0" marR="0" algn="ctr">
                            <a:spcBef>
                              <a:spcPts val="0"/>
                            </a:spcBef>
                            <a:spcAft>
                              <a:spcPts val="0"/>
                            </a:spcAft>
                          </a:pPr>
                          <a:r>
                            <a:rPr lang="en-US" sz="2800">
                              <a:effectLst/>
                            </a:rPr>
                            <a:t>-35+48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0.1013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0.2198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0.356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0.2802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0.092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0.8805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609875234"/>
                      </a:ext>
                    </a:extLst>
                  </a:tr>
                  <a:tr h="454944">
                    <a:tc>
                      <a:txBody>
                        <a:bodyPr/>
                        <a:lstStyle/>
                        <a:p>
                          <a:pPr marL="0" marR="0" algn="ctr">
                            <a:spcBef>
                              <a:spcPts val="0"/>
                            </a:spcBef>
                            <a:spcAft>
                              <a:spcPts val="0"/>
                            </a:spcAft>
                          </a:pPr>
                          <a:r>
                            <a:rPr lang="en-US" sz="2800">
                              <a:effectLst/>
                            </a:rPr>
                            <a:t>-48+65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0.0746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0.025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0.2391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0.2955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0.1789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0.6607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692874651"/>
                      </a:ext>
                    </a:extLst>
                  </a:tr>
                  <a:tr h="454944">
                    <a:tc>
                      <a:txBody>
                        <a:bodyPr/>
                        <a:lstStyle/>
                        <a:p>
                          <a:pPr marL="0" marR="0" algn="ctr">
                            <a:spcBef>
                              <a:spcPts val="0"/>
                            </a:spcBef>
                            <a:spcAft>
                              <a:spcPts val="0"/>
                            </a:spcAft>
                          </a:pPr>
                          <a:r>
                            <a:rPr lang="en-US" sz="2800">
                              <a:effectLst/>
                            </a:rPr>
                            <a:t>-65+100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0.1877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0.1043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0.4216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673112741"/>
                      </a:ext>
                    </a:extLst>
                  </a:tr>
                  <a:tr h="454944">
                    <a:tc>
                      <a:txBody>
                        <a:bodyPr/>
                        <a:lstStyle/>
                        <a:p>
                          <a:pPr marL="0" marR="0" algn="ctr">
                            <a:spcBef>
                              <a:spcPts val="0"/>
                            </a:spcBef>
                            <a:spcAft>
                              <a:spcPts val="0"/>
                            </a:spcAft>
                          </a:pPr>
                          <a:r>
                            <a:rPr lang="en-US" sz="2800">
                              <a:effectLst/>
                            </a:rPr>
                            <a:t>-100+150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0.1427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0.2975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0.0533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0.2339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751540761"/>
                      </a:ext>
                    </a:extLst>
                  </a:tr>
                  <a:tr h="454944">
                    <a:tc>
                      <a:txBody>
                        <a:bodyPr/>
                        <a:lstStyle/>
                        <a:p>
                          <a:pPr marL="0" marR="0" algn="ctr">
                            <a:spcBef>
                              <a:spcPts val="0"/>
                            </a:spcBef>
                            <a:spcAft>
                              <a:spcPts val="0"/>
                            </a:spcAft>
                          </a:pPr>
                          <a:r>
                            <a:rPr lang="en-US" sz="2800">
                              <a:effectLst/>
                            </a:rPr>
                            <a:t>-150+200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0.2985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0.0203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dirty="0">
                              <a:effectLst/>
                            </a:rPr>
                            <a:t>0.0912</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709645326"/>
                      </a:ext>
                    </a:extLst>
                  </a:tr>
                </a:tbl>
              </a:graphicData>
            </a:graphic>
          </p:graphicFrame>
        </mc:Choice>
        <mc:Fallback xmlns="">
          <p:graphicFrame>
            <p:nvGraphicFramePr>
              <p:cNvPr id="10" name="Table 9">
                <a:extLst>
                  <a:ext uri="{FF2B5EF4-FFF2-40B4-BE49-F238E27FC236}">
                    <a16:creationId xmlns:a16="http://schemas.microsoft.com/office/drawing/2014/main" id="{AA14AFC0-6D83-793A-3291-7A66AC560132}"/>
                  </a:ext>
                </a:extLst>
              </p:cNvPr>
              <p:cNvGraphicFramePr>
                <a:graphicFrameLocks noGrp="1"/>
              </p:cNvGraphicFramePr>
              <p:nvPr>
                <p:extLst>
                  <p:ext uri="{D42A27DB-BD31-4B8C-83A1-F6EECF244321}">
                    <p14:modId xmlns:p14="http://schemas.microsoft.com/office/powerpoint/2010/main" val="3952055745"/>
                  </p:ext>
                </p:extLst>
              </p:nvPr>
            </p:nvGraphicFramePr>
            <p:xfrm>
              <a:off x="1346688" y="2595213"/>
              <a:ext cx="17562347" cy="8117454"/>
            </p:xfrm>
            <a:graphic>
              <a:graphicData uri="http://schemas.openxmlformats.org/drawingml/2006/table">
                <a:tbl>
                  <a:tblPr firstRow="1" firstCol="1" bandRow="1">
                    <a:tableStyleId>{5C22544A-7EE6-4342-B048-85BDC9FD1C3A}</a:tableStyleId>
                  </a:tblPr>
                  <a:tblGrid>
                    <a:gridCol w="1840234">
                      <a:extLst>
                        <a:ext uri="{9D8B030D-6E8A-4147-A177-3AD203B41FA5}">
                          <a16:colId xmlns:a16="http://schemas.microsoft.com/office/drawing/2014/main" val="417759895"/>
                        </a:ext>
                      </a:extLst>
                    </a:gridCol>
                    <a:gridCol w="1540812">
                      <a:extLst>
                        <a:ext uri="{9D8B030D-6E8A-4147-A177-3AD203B41FA5}">
                          <a16:colId xmlns:a16="http://schemas.microsoft.com/office/drawing/2014/main" val="70558326"/>
                        </a:ext>
                      </a:extLst>
                    </a:gridCol>
                    <a:gridCol w="1221968">
                      <a:extLst>
                        <a:ext uri="{9D8B030D-6E8A-4147-A177-3AD203B41FA5}">
                          <a16:colId xmlns:a16="http://schemas.microsoft.com/office/drawing/2014/main" val="4045958060"/>
                        </a:ext>
                      </a:extLst>
                    </a:gridCol>
                    <a:gridCol w="1534338">
                      <a:extLst>
                        <a:ext uri="{9D8B030D-6E8A-4147-A177-3AD203B41FA5}">
                          <a16:colId xmlns:a16="http://schemas.microsoft.com/office/drawing/2014/main" val="2426303860"/>
                        </a:ext>
                      </a:extLst>
                    </a:gridCol>
                    <a:gridCol w="1587749">
                      <a:extLst>
                        <a:ext uri="{9D8B030D-6E8A-4147-A177-3AD203B41FA5}">
                          <a16:colId xmlns:a16="http://schemas.microsoft.com/office/drawing/2014/main" val="2508312296"/>
                        </a:ext>
                      </a:extLst>
                    </a:gridCol>
                    <a:gridCol w="1480929">
                      <a:extLst>
                        <a:ext uri="{9D8B030D-6E8A-4147-A177-3AD203B41FA5}">
                          <a16:colId xmlns:a16="http://schemas.microsoft.com/office/drawing/2014/main" val="921334402"/>
                        </a:ext>
                      </a:extLst>
                    </a:gridCol>
                    <a:gridCol w="1534338">
                      <a:extLst>
                        <a:ext uri="{9D8B030D-6E8A-4147-A177-3AD203B41FA5}">
                          <a16:colId xmlns:a16="http://schemas.microsoft.com/office/drawing/2014/main" val="1787336938"/>
                        </a:ext>
                      </a:extLst>
                    </a:gridCol>
                    <a:gridCol w="2273993">
                      <a:extLst>
                        <a:ext uri="{9D8B030D-6E8A-4147-A177-3AD203B41FA5}">
                          <a16:colId xmlns:a16="http://schemas.microsoft.com/office/drawing/2014/main" val="324828268"/>
                        </a:ext>
                      </a:extLst>
                    </a:gridCol>
                    <a:gridCol w="2273993">
                      <a:extLst>
                        <a:ext uri="{9D8B030D-6E8A-4147-A177-3AD203B41FA5}">
                          <a16:colId xmlns:a16="http://schemas.microsoft.com/office/drawing/2014/main" val="8488120"/>
                        </a:ext>
                      </a:extLst>
                    </a:gridCol>
                    <a:gridCol w="2273993">
                      <a:extLst>
                        <a:ext uri="{9D8B030D-6E8A-4147-A177-3AD203B41FA5}">
                          <a16:colId xmlns:a16="http://schemas.microsoft.com/office/drawing/2014/main" val="874712650"/>
                        </a:ext>
                      </a:extLst>
                    </a:gridCol>
                  </a:tblGrid>
                  <a:tr h="1706880">
                    <a:tc>
                      <a:txBody>
                        <a:bodyPr/>
                        <a:lstStyle/>
                        <a:p>
                          <a:pPr marL="0" marR="0" algn="ctr">
                            <a:spcBef>
                              <a:spcPts val="0"/>
                            </a:spcBef>
                            <a:spcAft>
                              <a:spcPts val="0"/>
                            </a:spcAft>
                          </a:pPr>
                          <a:r>
                            <a:rPr lang="en-US" sz="2800">
                              <a:effectLst/>
                            </a:rPr>
                            <a:t> Mesh number</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Mesh Number</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Mass Fraction Feed</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Mass Fraction in Oversize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Mass fraction in under size</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endParaRPr lang="en-US"/>
                        </a:p>
                      </a:txBody>
                      <a:tcPr marL="49958" marR="49958" marT="0" marB="0" anchor="b">
                        <a:blipFill>
                          <a:blip r:embed="rId3"/>
                          <a:stretch>
                            <a:fillRect l="-600000" t="-5714" r="-446032" b="-388571"/>
                          </a:stretch>
                        </a:blipFill>
                      </a:tcPr>
                    </a:tc>
                    <a:tc>
                      <a:txBody>
                        <a:bodyPr/>
                        <a:lstStyle/>
                        <a:p>
                          <a:endParaRPr lang="en-US"/>
                        </a:p>
                      </a:txBody>
                      <a:tcPr marL="49958" marR="49958" marT="0" marB="0" anchor="b">
                        <a:blipFill>
                          <a:blip r:embed="rId3"/>
                          <a:stretch>
                            <a:fillRect l="-472922" t="-5714" r="-201340" b="-388571"/>
                          </a:stretch>
                        </a:blipFill>
                      </a:tcPr>
                    </a:tc>
                    <a:tc>
                      <a:txBody>
                        <a:bodyPr/>
                        <a:lstStyle/>
                        <a:p>
                          <a:endParaRPr lang="en-US"/>
                        </a:p>
                      </a:txBody>
                      <a:tcPr marL="49958" marR="49958" marT="0" marB="0" anchor="b">
                        <a:blipFill>
                          <a:blip r:embed="rId3"/>
                          <a:stretch>
                            <a:fillRect l="-572922" t="-5714" r="-101340" b="-388571"/>
                          </a:stretch>
                        </a:blipFill>
                      </a:tcPr>
                    </a:tc>
                    <a:tc>
                      <a:txBody>
                        <a:bodyPr/>
                        <a:lstStyle/>
                        <a:p>
                          <a:endParaRPr lang="en-US"/>
                        </a:p>
                      </a:txBody>
                      <a:tcPr marL="49958" marR="49958" marT="0" marB="0" anchor="b">
                        <a:blipFill>
                          <a:blip r:embed="rId3"/>
                          <a:stretch>
                            <a:fillRect l="-672922" t="-5714" r="-1340" b="-388571"/>
                          </a:stretch>
                        </a:blipFill>
                      </a:tcPr>
                    </a:tc>
                    <a:extLst>
                      <a:ext uri="{0D108BD9-81ED-4DB2-BD59-A6C34878D82A}">
                        <a16:rowId xmlns:a16="http://schemas.microsoft.com/office/drawing/2014/main" val="1184407624"/>
                      </a:ext>
                    </a:extLst>
                  </a:tr>
                  <a:tr h="496302">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6.73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1124173931"/>
                      </a:ext>
                    </a:extLst>
                  </a:tr>
                  <a:tr h="454944">
                    <a:tc>
                      <a:txBody>
                        <a:bodyPr/>
                        <a:lstStyle/>
                        <a:p>
                          <a:pPr marL="0" marR="0" algn="ctr">
                            <a:spcBef>
                              <a:spcPts val="0"/>
                            </a:spcBef>
                            <a:spcAft>
                              <a:spcPts val="0"/>
                            </a:spcAft>
                          </a:pPr>
                          <a:r>
                            <a:rPr lang="en-US" sz="2800">
                              <a:effectLst/>
                            </a:rPr>
                            <a:t>-3+4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4.699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0.0107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0.018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5.7145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4208564607"/>
                      </a:ext>
                    </a:extLst>
                  </a:tr>
                  <a:tr h="454944">
                    <a:tc>
                      <a:txBody>
                        <a:bodyPr/>
                        <a:lstStyle/>
                        <a:p>
                          <a:pPr marL="0" marR="0" algn="ctr">
                            <a:spcBef>
                              <a:spcPts val="0"/>
                            </a:spcBef>
                            <a:spcAft>
                              <a:spcPts val="0"/>
                            </a:spcAft>
                          </a:pPr>
                          <a:r>
                            <a:rPr lang="en-US" sz="2800">
                              <a:effectLst/>
                            </a:rPr>
                            <a:t>-4+6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3.327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0.0235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4.013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0.9893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0.982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2243871635"/>
                      </a:ext>
                    </a:extLst>
                  </a:tr>
                  <a:tr h="454944">
                    <a:tc>
                      <a:txBody>
                        <a:bodyPr/>
                        <a:lstStyle/>
                        <a:p>
                          <a:pPr marL="0" marR="0" algn="ctr">
                            <a:spcBef>
                              <a:spcPts val="0"/>
                            </a:spcBef>
                            <a:spcAft>
                              <a:spcPts val="0"/>
                            </a:spcAft>
                          </a:pPr>
                          <a:r>
                            <a:rPr lang="en-US" sz="2800">
                              <a:effectLst/>
                            </a:rPr>
                            <a:t>-6+8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2.362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0.0672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0.088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2.8445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0.9658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0.949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158668245"/>
                      </a:ext>
                    </a:extLst>
                  </a:tr>
                  <a:tr h="454944">
                    <a:tc>
                      <a:txBody>
                        <a:bodyPr/>
                        <a:lstStyle/>
                        <a:p>
                          <a:pPr marL="0" marR="0" algn="ctr">
                            <a:spcBef>
                              <a:spcPts val="0"/>
                            </a:spcBef>
                            <a:spcAft>
                              <a:spcPts val="0"/>
                            </a:spcAft>
                          </a:pPr>
                          <a:r>
                            <a:rPr lang="en-US" sz="2800">
                              <a:effectLst/>
                            </a:rPr>
                            <a:t>-8+10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1.651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0.0864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0.112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0.8986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0.861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1395965169"/>
                      </a:ext>
                    </a:extLst>
                  </a:tr>
                  <a:tr h="454944">
                    <a:tc>
                      <a:txBody>
                        <a:bodyPr/>
                        <a:lstStyle/>
                        <a:p>
                          <a:pPr marL="0" marR="0" algn="ctr">
                            <a:spcBef>
                              <a:spcPts val="0"/>
                            </a:spcBef>
                            <a:spcAft>
                              <a:spcPts val="0"/>
                            </a:spcAft>
                          </a:pPr>
                          <a:r>
                            <a:rPr lang="en-US" sz="2800">
                              <a:effectLst/>
                            </a:rPr>
                            <a:t>-10+14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1.168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0.1087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0.142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1.4095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0.8122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0.749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388650126"/>
                      </a:ext>
                    </a:extLst>
                  </a:tr>
                  <a:tr h="454944">
                    <a:tc>
                      <a:txBody>
                        <a:bodyPr/>
                        <a:lstStyle/>
                        <a:p>
                          <a:pPr marL="0" marR="0" algn="ctr">
                            <a:spcBef>
                              <a:spcPts val="0"/>
                            </a:spcBef>
                            <a:spcAft>
                              <a:spcPts val="0"/>
                            </a:spcAft>
                          </a:pPr>
                          <a:r>
                            <a:rPr lang="en-US" sz="2800">
                              <a:effectLst/>
                            </a:rPr>
                            <a:t>-14+20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0.1759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0.229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1.0005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0.7035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0.607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214788297"/>
                      </a:ext>
                    </a:extLst>
                  </a:tr>
                  <a:tr h="454944">
                    <a:tc>
                      <a:txBody>
                        <a:bodyPr/>
                        <a:lstStyle/>
                        <a:p>
                          <a:pPr marL="0" marR="0" algn="ctr">
                            <a:spcBef>
                              <a:spcPts val="0"/>
                            </a:spcBef>
                            <a:spcAft>
                              <a:spcPts val="0"/>
                            </a:spcAft>
                          </a:pPr>
                          <a:r>
                            <a:rPr lang="en-US" sz="2800">
                              <a:effectLst/>
                            </a:rPr>
                            <a:t>-20+28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28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0.589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0.1397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0.182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0.711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0.5276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0.378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4140781403"/>
                      </a:ext>
                    </a:extLst>
                  </a:tr>
                  <a:tr h="454944">
                    <a:tc>
                      <a:txBody>
                        <a:bodyPr/>
                        <a:lstStyle/>
                        <a:p>
                          <a:pPr marL="0" marR="0" algn="ctr">
                            <a:spcBef>
                              <a:spcPts val="0"/>
                            </a:spcBef>
                            <a:spcAft>
                              <a:spcPts val="0"/>
                            </a:spcAft>
                          </a:pPr>
                          <a:r>
                            <a:rPr lang="en-US" sz="2800">
                              <a:effectLst/>
                            </a:rPr>
                            <a:t>-28+35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35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0.417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0.1077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0.104</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0.1195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0.503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0.3879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0.196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851882867"/>
                      </a:ext>
                    </a:extLst>
                  </a:tr>
                  <a:tr h="454944">
                    <a:tc>
                      <a:txBody>
                        <a:bodyPr/>
                        <a:lstStyle/>
                        <a:p>
                          <a:pPr marL="0" marR="0" algn="ctr">
                            <a:spcBef>
                              <a:spcPts val="0"/>
                            </a:spcBef>
                            <a:spcAft>
                              <a:spcPts val="0"/>
                            </a:spcAft>
                          </a:pPr>
                          <a:r>
                            <a:rPr lang="en-US" sz="2800">
                              <a:effectLst/>
                            </a:rPr>
                            <a:t>-35+48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48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0.1013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0.2198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0.356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0.2802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0.092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0.8805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609875234"/>
                      </a:ext>
                    </a:extLst>
                  </a:tr>
                  <a:tr h="454944">
                    <a:tc>
                      <a:txBody>
                        <a:bodyPr/>
                        <a:lstStyle/>
                        <a:p>
                          <a:pPr marL="0" marR="0" algn="ctr">
                            <a:spcBef>
                              <a:spcPts val="0"/>
                            </a:spcBef>
                            <a:spcAft>
                              <a:spcPts val="0"/>
                            </a:spcAft>
                          </a:pPr>
                          <a:r>
                            <a:rPr lang="en-US" sz="2800">
                              <a:effectLst/>
                            </a:rPr>
                            <a:t>-48+65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0.0746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0.025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0.2391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0.2955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0.1789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0.6607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692874651"/>
                      </a:ext>
                    </a:extLst>
                  </a:tr>
                  <a:tr h="454944">
                    <a:tc>
                      <a:txBody>
                        <a:bodyPr/>
                        <a:lstStyle/>
                        <a:p>
                          <a:pPr marL="0" marR="0" algn="ctr">
                            <a:spcBef>
                              <a:spcPts val="0"/>
                            </a:spcBef>
                            <a:spcAft>
                              <a:spcPts val="0"/>
                            </a:spcAft>
                          </a:pPr>
                          <a:r>
                            <a:rPr lang="en-US" sz="2800">
                              <a:effectLst/>
                            </a:rPr>
                            <a:t>-65+100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0.051</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0.1877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0.2965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0.1043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0.002</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0.4216</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673112741"/>
                      </a:ext>
                    </a:extLst>
                  </a:tr>
                  <a:tr h="454944">
                    <a:tc>
                      <a:txBody>
                        <a:bodyPr/>
                        <a:lstStyle/>
                        <a:p>
                          <a:pPr marL="0" marR="0" algn="ctr">
                            <a:spcBef>
                              <a:spcPts val="0"/>
                            </a:spcBef>
                            <a:spcAft>
                              <a:spcPts val="0"/>
                            </a:spcAft>
                          </a:pPr>
                          <a:r>
                            <a:rPr lang="en-US" sz="2800">
                              <a:effectLst/>
                            </a:rPr>
                            <a:t>-100+150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150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0.298</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0.1427</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0.2975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0.0533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0.2339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751540761"/>
                      </a:ext>
                    </a:extLst>
                  </a:tr>
                  <a:tr h="454944">
                    <a:tc>
                      <a:txBody>
                        <a:bodyPr/>
                        <a:lstStyle/>
                        <a:p>
                          <a:pPr marL="0" marR="0" algn="ctr">
                            <a:spcBef>
                              <a:spcPts val="0"/>
                            </a:spcBef>
                            <a:spcAft>
                              <a:spcPts val="0"/>
                            </a:spcAft>
                          </a:pPr>
                          <a:r>
                            <a:rPr lang="en-US" sz="2800">
                              <a:effectLst/>
                            </a:rPr>
                            <a:t>-150+200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200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0.299</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 </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0.2985</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0.0203</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a:effectLst/>
                            </a:rPr>
                            <a:t>0</a:t>
                          </a:r>
                          <a:endParaRPr lang="en-US" sz="280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tc>
                      <a:txBody>
                        <a:bodyPr/>
                        <a:lstStyle/>
                        <a:p>
                          <a:pPr marL="0" marR="0" algn="ctr">
                            <a:spcBef>
                              <a:spcPts val="0"/>
                            </a:spcBef>
                            <a:spcAft>
                              <a:spcPts val="0"/>
                            </a:spcAft>
                          </a:pPr>
                          <a:r>
                            <a:rPr lang="en-US" sz="2800" dirty="0">
                              <a:effectLst/>
                            </a:rPr>
                            <a:t>0.0912</a:t>
                          </a:r>
                          <a:endParaRPr lang="en-US" sz="28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9958" marR="49958" marT="0" marB="0" anchor="b"/>
                    </a:tc>
                    <a:extLst>
                      <a:ext uri="{0D108BD9-81ED-4DB2-BD59-A6C34878D82A}">
                        <a16:rowId xmlns:a16="http://schemas.microsoft.com/office/drawing/2014/main" val="3709645326"/>
                      </a:ext>
                    </a:extLst>
                  </a:tr>
                </a:tbl>
              </a:graphicData>
            </a:graphic>
          </p:graphicFrame>
        </mc:Fallback>
      </mc:AlternateContent>
    </p:spTree>
    <p:extLst>
      <p:ext uri="{BB962C8B-B14F-4D97-AF65-F5344CB8AC3E}">
        <p14:creationId xmlns:p14="http://schemas.microsoft.com/office/powerpoint/2010/main" val="3764628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mc:AlternateContent xmlns:mc="http://schemas.openxmlformats.org/markup-compatibility/2006" xmlns:a14="http://schemas.microsoft.com/office/drawing/2010/main">
        <mc:Choice Requires="a14">
          <p:sp>
            <p:nvSpPr>
              <p:cNvPr id="11" name="Subtitle 2">
                <a:extLst>
                  <a:ext uri="{FF2B5EF4-FFF2-40B4-BE49-F238E27FC236}">
                    <a16:creationId xmlns:a16="http://schemas.microsoft.com/office/drawing/2014/main" id="{1839CBB9-68AA-48F0-ABBE-CC283181CB0A}"/>
                  </a:ext>
                </a:extLst>
              </p:cNvPr>
              <p:cNvSpPr txBox="1">
                <a:spLocks/>
              </p:cNvSpPr>
              <p:nvPr/>
            </p:nvSpPr>
            <p:spPr>
              <a:xfrm>
                <a:off x="691010" y="1454152"/>
                <a:ext cx="18527712" cy="70961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Solution </a:t>
                </a:r>
                <a:r>
                  <a:rPr lang="en-US" sz="2800" dirty="0" err="1">
                    <a:effectLst/>
                    <a:latin typeface="Times New Roman" panose="02020603050405020304" pitchFamily="18" charset="0"/>
                    <a:ea typeface="Times New Roman" panose="02020603050405020304" pitchFamily="18" charset="0"/>
                  </a:rPr>
                  <a:t>Contd</a:t>
                </a:r>
                <a:r>
                  <a:rPr lang="en-US" sz="2800" dirty="0">
                    <a:effectLst/>
                    <a:latin typeface="Times New Roman" panose="02020603050405020304" pitchFamily="18" charset="0"/>
                    <a:ea typeface="Times New Roman" panose="02020603050405020304" pitchFamily="18" charset="0"/>
                  </a:rPr>
                  <a:t>: To find effectiveness of screen having average aperture size 1.6 mm, In the graph mark 1.6 mm on x axis. Drop a vertical line at 1.6 mm, Note down </a:t>
                </a:r>
                <a14:m>
                  <m:oMath xmlns:m="http://schemas.openxmlformats.org/officeDocument/2006/math">
                    <m:sSub>
                      <m:sSubPr>
                        <m:ctrlP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𝐴</m:t>
                        </m:r>
                      </m:sub>
                    </m:sSub>
                    <m: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𝐵</m:t>
                        </m:r>
                      </m:sub>
                    </m:sSub>
                    <m: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US" sz="2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𝐶</m:t>
                        </m:r>
                      </m:sub>
                    </m:sSub>
                  </m:oMath>
                </a14:m>
                <a:r>
                  <a:rPr lang="en-US" sz="2800" dirty="0">
                    <a:solidFill>
                      <a:srgbClr val="000000"/>
                    </a:solidFill>
                    <a:effectLst/>
                    <a:latin typeface="Times New Roman" panose="02020603050405020304" pitchFamily="18" charset="0"/>
                    <a:ea typeface="Times New Roman" panose="02020603050405020304" pitchFamily="18" charset="0"/>
                  </a:rPr>
                  <a:t>.  Calculate effectiveness using the formula for effectiveness</a:t>
                </a:r>
                <a:endParaRPr lang="en-US" sz="2800" dirty="0">
                  <a:effectLst/>
                  <a:latin typeface="Times New Roman" panose="02020603050405020304" pitchFamily="18" charset="0"/>
                  <a:ea typeface="Times New Roman" panose="02020603050405020304" pitchFamily="18" charset="0"/>
                </a:endParaRPr>
              </a:p>
              <a:p>
                <a:pPr marL="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a:p>
                <a:pPr marL="0" marR="0" algn="just">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p:txBody>
          </p:sp>
        </mc:Choice>
        <mc:Fallback xmlns="">
          <p:sp>
            <p:nvSpPr>
              <p:cNvPr id="11" name="Subtitle 2">
                <a:extLst>
                  <a:ext uri="{FF2B5EF4-FFF2-40B4-BE49-F238E27FC236}">
                    <a16:creationId xmlns:a16="http://schemas.microsoft.com/office/drawing/2014/main" id="{1839CBB9-68AA-48F0-ABBE-CC283181CB0A}"/>
                  </a:ext>
                </a:extLst>
              </p:cNvPr>
              <p:cNvSpPr txBox="1">
                <a:spLocks noRot="1" noChangeAspect="1" noMove="1" noResize="1" noEditPoints="1" noAdjustHandles="1" noChangeArrowheads="1" noChangeShapeType="1" noTextEdit="1"/>
              </p:cNvSpPr>
              <p:nvPr/>
            </p:nvSpPr>
            <p:spPr>
              <a:xfrm>
                <a:off x="691010" y="1454152"/>
                <a:ext cx="18527712" cy="709614"/>
              </a:xfrm>
              <a:prstGeom prst="rect">
                <a:avLst/>
              </a:prstGeom>
              <a:blipFill>
                <a:blip r:embed="rId3"/>
                <a:stretch>
                  <a:fillRect l="-658" t="-15517" r="-658" b="-45690"/>
                </a:stretch>
              </a:blipFill>
            </p:spPr>
            <p:txBody>
              <a:bodyPr/>
              <a:lstStyle/>
              <a:p>
                <a:r>
                  <a:rPr lang="en-US">
                    <a:noFill/>
                  </a:rPr>
                  <a:t> </a:t>
                </a:r>
              </a:p>
            </p:txBody>
          </p:sp>
        </mc:Fallback>
      </mc:AlternateContent>
      <p:graphicFrame>
        <p:nvGraphicFramePr>
          <p:cNvPr id="12" name="Chart 11">
            <a:extLst>
              <a:ext uri="{FF2B5EF4-FFF2-40B4-BE49-F238E27FC236}">
                <a16:creationId xmlns:a16="http://schemas.microsoft.com/office/drawing/2014/main" id="{C5CDC1B0-ACA0-7335-5D1F-A28C5E214861}"/>
              </a:ext>
            </a:extLst>
          </p:cNvPr>
          <p:cNvGraphicFramePr/>
          <p:nvPr>
            <p:extLst>
              <p:ext uri="{D42A27DB-BD31-4B8C-83A1-F6EECF244321}">
                <p14:modId xmlns:p14="http://schemas.microsoft.com/office/powerpoint/2010/main" val="1375734508"/>
              </p:ext>
            </p:extLst>
          </p:nvPr>
        </p:nvGraphicFramePr>
        <p:xfrm>
          <a:off x="1555106" y="2990378"/>
          <a:ext cx="16201800" cy="7606183"/>
        </p:xfrm>
        <a:graphic>
          <a:graphicData uri="http://schemas.openxmlformats.org/drawingml/2006/chart">
            <c:chart xmlns:c="http://schemas.openxmlformats.org/drawingml/2006/chart" xmlns:r="http://schemas.openxmlformats.org/officeDocument/2006/relationships" r:id="rId4"/>
          </a:graphicData>
        </a:graphic>
      </p:graphicFrame>
      <p:cxnSp>
        <p:nvCxnSpPr>
          <p:cNvPr id="14" name="Straight Connector 13">
            <a:extLst>
              <a:ext uri="{FF2B5EF4-FFF2-40B4-BE49-F238E27FC236}">
                <a16:creationId xmlns:a16="http://schemas.microsoft.com/office/drawing/2014/main" id="{3772CB22-95B5-83FF-2DF6-C489126C1D21}"/>
              </a:ext>
            </a:extLst>
          </p:cNvPr>
          <p:cNvCxnSpPr/>
          <p:nvPr/>
        </p:nvCxnSpPr>
        <p:spPr>
          <a:xfrm flipH="1">
            <a:off x="2131170" y="5654675"/>
            <a:ext cx="345638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054FF54-1929-F271-E18A-5CA8F610006A}"/>
              </a:ext>
            </a:extLst>
          </p:cNvPr>
          <p:cNvCxnSpPr/>
          <p:nvPr/>
        </p:nvCxnSpPr>
        <p:spPr>
          <a:xfrm flipH="1">
            <a:off x="2131170" y="5366643"/>
            <a:ext cx="345638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CEA439-9728-FA2F-E3FE-D0DB042A4323}"/>
              </a:ext>
            </a:extLst>
          </p:cNvPr>
          <p:cNvCxnSpPr/>
          <p:nvPr/>
        </p:nvCxnSpPr>
        <p:spPr>
          <a:xfrm flipH="1">
            <a:off x="2131170" y="4502547"/>
            <a:ext cx="345638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043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graphicFrame>
        <p:nvGraphicFramePr>
          <p:cNvPr id="8" name="Table 7">
            <a:extLst>
              <a:ext uri="{FF2B5EF4-FFF2-40B4-BE49-F238E27FC236}">
                <a16:creationId xmlns:a16="http://schemas.microsoft.com/office/drawing/2014/main" id="{8AF04B82-2162-AA63-7567-B17EEC458ED9}"/>
              </a:ext>
            </a:extLst>
          </p:cNvPr>
          <p:cNvGraphicFramePr>
            <a:graphicFrameLocks noGrp="1"/>
          </p:cNvGraphicFramePr>
          <p:nvPr>
            <p:extLst>
              <p:ext uri="{D42A27DB-BD31-4B8C-83A1-F6EECF244321}">
                <p14:modId xmlns:p14="http://schemas.microsoft.com/office/powerpoint/2010/main" val="2430031972"/>
              </p:ext>
            </p:extLst>
          </p:nvPr>
        </p:nvGraphicFramePr>
        <p:xfrm>
          <a:off x="1822450" y="2398413"/>
          <a:ext cx="14278275" cy="8178675"/>
        </p:xfrm>
        <a:graphic>
          <a:graphicData uri="http://schemas.openxmlformats.org/drawingml/2006/table">
            <a:tbl>
              <a:tblPr>
                <a:tableStyleId>{5C22544A-7EE6-4342-B048-85BDC9FD1C3A}</a:tableStyleId>
              </a:tblPr>
              <a:tblGrid>
                <a:gridCol w="1586475">
                  <a:extLst>
                    <a:ext uri="{9D8B030D-6E8A-4147-A177-3AD203B41FA5}">
                      <a16:colId xmlns:a16="http://schemas.microsoft.com/office/drawing/2014/main" val="850775886"/>
                    </a:ext>
                  </a:extLst>
                </a:gridCol>
                <a:gridCol w="1586475">
                  <a:extLst>
                    <a:ext uri="{9D8B030D-6E8A-4147-A177-3AD203B41FA5}">
                      <a16:colId xmlns:a16="http://schemas.microsoft.com/office/drawing/2014/main" val="3032930965"/>
                    </a:ext>
                  </a:extLst>
                </a:gridCol>
                <a:gridCol w="1586475">
                  <a:extLst>
                    <a:ext uri="{9D8B030D-6E8A-4147-A177-3AD203B41FA5}">
                      <a16:colId xmlns:a16="http://schemas.microsoft.com/office/drawing/2014/main" val="1623769286"/>
                    </a:ext>
                  </a:extLst>
                </a:gridCol>
                <a:gridCol w="1586475">
                  <a:extLst>
                    <a:ext uri="{9D8B030D-6E8A-4147-A177-3AD203B41FA5}">
                      <a16:colId xmlns:a16="http://schemas.microsoft.com/office/drawing/2014/main" val="1062866131"/>
                    </a:ext>
                  </a:extLst>
                </a:gridCol>
                <a:gridCol w="1586475">
                  <a:extLst>
                    <a:ext uri="{9D8B030D-6E8A-4147-A177-3AD203B41FA5}">
                      <a16:colId xmlns:a16="http://schemas.microsoft.com/office/drawing/2014/main" val="3071857964"/>
                    </a:ext>
                  </a:extLst>
                </a:gridCol>
                <a:gridCol w="1586475">
                  <a:extLst>
                    <a:ext uri="{9D8B030D-6E8A-4147-A177-3AD203B41FA5}">
                      <a16:colId xmlns:a16="http://schemas.microsoft.com/office/drawing/2014/main" val="3225598531"/>
                    </a:ext>
                  </a:extLst>
                </a:gridCol>
                <a:gridCol w="1586475">
                  <a:extLst>
                    <a:ext uri="{9D8B030D-6E8A-4147-A177-3AD203B41FA5}">
                      <a16:colId xmlns:a16="http://schemas.microsoft.com/office/drawing/2014/main" val="2800125645"/>
                    </a:ext>
                  </a:extLst>
                </a:gridCol>
                <a:gridCol w="1586475">
                  <a:extLst>
                    <a:ext uri="{9D8B030D-6E8A-4147-A177-3AD203B41FA5}">
                      <a16:colId xmlns:a16="http://schemas.microsoft.com/office/drawing/2014/main" val="3592088863"/>
                    </a:ext>
                  </a:extLst>
                </a:gridCol>
                <a:gridCol w="1586475">
                  <a:extLst>
                    <a:ext uri="{9D8B030D-6E8A-4147-A177-3AD203B41FA5}">
                      <a16:colId xmlns:a16="http://schemas.microsoft.com/office/drawing/2014/main" val="4047180220"/>
                    </a:ext>
                  </a:extLst>
                </a:gridCol>
              </a:tblGrid>
              <a:tr h="1927379">
                <a:tc>
                  <a:txBody>
                    <a:bodyPr/>
                    <a:lstStyle/>
                    <a:p>
                      <a:pPr algn="l" fontAlgn="ctr"/>
                      <a:r>
                        <a:rPr lang="en-US" sz="2800" u="none" strike="noStrike" dirty="0">
                          <a:effectLst/>
                        </a:rPr>
                        <a:t> Mesh number</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dirty="0">
                          <a:effectLst/>
                        </a:rPr>
                        <a:t>Mesh Number</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dirty="0">
                          <a:effectLst/>
                        </a:rPr>
                        <a:t> Aperture Dia (mm)</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dirty="0">
                          <a:effectLst/>
                        </a:rPr>
                        <a:t>Mass Fraction Feed</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Mass Fraction in Oversize</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Mass fraction in under size</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Cumm Mass Fraction Feed</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Cumm Mass Fraction in Oversize</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 CummMass fraction in under size</a:t>
                      </a:r>
                      <a:endParaRPr lang="en-US" sz="2800" b="0" i="0" u="none" strike="noStrike">
                        <a:solidFill>
                          <a:srgbClr val="000000"/>
                        </a:solidFill>
                        <a:effectLst/>
                        <a:latin typeface="Calibri" panose="020F0502020204030204" pitchFamily="34" charset="0"/>
                      </a:endParaRPr>
                    </a:p>
                  </a:txBody>
                  <a:tcPr marL="4733" marR="4733" marT="4733" marB="0" anchor="ctr"/>
                </a:tc>
                <a:extLst>
                  <a:ext uri="{0D108BD9-81ED-4DB2-BD59-A6C34878D82A}">
                    <a16:rowId xmlns:a16="http://schemas.microsoft.com/office/drawing/2014/main" val="3244296156"/>
                  </a:ext>
                </a:extLst>
              </a:tr>
              <a:tr h="321231">
                <a:tc>
                  <a:txBody>
                    <a:bodyPr/>
                    <a:lstStyle/>
                    <a:p>
                      <a:pPr algn="l" fontAlgn="ctr"/>
                      <a:r>
                        <a:rPr lang="en-US" sz="2800" u="none" strike="noStrike">
                          <a:effectLst/>
                        </a:rPr>
                        <a:t> </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3</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6.73</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dirty="0">
                          <a:effectLst/>
                        </a:rPr>
                        <a:t> </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 </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dirty="0">
                          <a:effectLst/>
                        </a:rPr>
                        <a:t> </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l" fontAlgn="b"/>
                      <a:r>
                        <a:rPr lang="en-US" sz="2800" u="none" strike="noStrike">
                          <a:effectLst/>
                        </a:rPr>
                        <a:t> </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l" fontAlgn="b"/>
                      <a:r>
                        <a:rPr lang="en-US" sz="2800" u="none" strike="noStrike">
                          <a:effectLst/>
                        </a:rPr>
                        <a:t> </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l" fontAlgn="b"/>
                      <a:r>
                        <a:rPr lang="en-US" sz="2800" u="none" strike="noStrike">
                          <a:effectLst/>
                        </a:rPr>
                        <a:t> </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795757025"/>
                  </a:ext>
                </a:extLst>
              </a:tr>
              <a:tr h="321231">
                <a:tc>
                  <a:txBody>
                    <a:bodyPr/>
                    <a:lstStyle/>
                    <a:p>
                      <a:pPr algn="r" fontAlgn="ctr"/>
                      <a:r>
                        <a:rPr lang="en-US" sz="2800" u="none" strike="noStrike">
                          <a:effectLst/>
                        </a:rPr>
                        <a:t>1</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4</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4.699</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0.0107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0.018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0.0107</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0.018</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1207909572"/>
                  </a:ext>
                </a:extLst>
              </a:tr>
              <a:tr h="321231">
                <a:tc>
                  <a:txBody>
                    <a:bodyPr/>
                    <a:lstStyle/>
                    <a:p>
                      <a:pPr algn="r" fontAlgn="ctr"/>
                      <a:r>
                        <a:rPr lang="en-US" sz="2800" u="none" strike="noStrike">
                          <a:effectLst/>
                        </a:rPr>
                        <a:t>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6</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dirty="0">
                          <a:effectLst/>
                        </a:rPr>
                        <a:t>3.327</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dirty="0">
                          <a:effectLst/>
                        </a:rPr>
                        <a:t>0.0235</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dirty="0">
                          <a:effectLst/>
                        </a:rPr>
                        <a:t>0.033</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0.0342</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0.051</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1161995994"/>
                  </a:ext>
                </a:extLst>
              </a:tr>
              <a:tr h="321231">
                <a:tc>
                  <a:txBody>
                    <a:bodyPr/>
                    <a:lstStyle/>
                    <a:p>
                      <a:pPr algn="r" fontAlgn="ctr"/>
                      <a:r>
                        <a:rPr lang="en-US" sz="2800" u="none" strike="noStrike">
                          <a:effectLst/>
                        </a:rPr>
                        <a:t>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2.362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0.0672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0.088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0.1014</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0.139</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1120154795"/>
                  </a:ext>
                </a:extLst>
              </a:tr>
              <a:tr h="321231">
                <a:tc>
                  <a:txBody>
                    <a:bodyPr/>
                    <a:lstStyle/>
                    <a:p>
                      <a:pPr algn="r" fontAlgn="ctr"/>
                      <a:r>
                        <a:rPr lang="en-US" sz="2800" u="none" strike="noStrike">
                          <a:effectLst/>
                        </a:rPr>
                        <a:t>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10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1.651</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0.0864</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0.112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0.1878</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0.251</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1683988275"/>
                  </a:ext>
                </a:extLst>
              </a:tr>
              <a:tr h="321231">
                <a:tc>
                  <a:txBody>
                    <a:bodyPr/>
                    <a:lstStyle/>
                    <a:p>
                      <a:pPr algn="r" fontAlgn="ctr"/>
                      <a:r>
                        <a:rPr lang="en-US" sz="2800" u="none" strike="noStrike">
                          <a:effectLst/>
                        </a:rPr>
                        <a:t>4</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14</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1.168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0.1087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0.142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0.2965</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0.393</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2106422708"/>
                  </a:ext>
                </a:extLst>
              </a:tr>
              <a:tr h="321231">
                <a:tc>
                  <a:txBody>
                    <a:bodyPr/>
                    <a:lstStyle/>
                    <a:p>
                      <a:pPr algn="r" fontAlgn="ctr"/>
                      <a:r>
                        <a:rPr lang="en-US" sz="2800" u="none" strike="noStrike">
                          <a:effectLst/>
                        </a:rPr>
                        <a:t>6</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20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0.833</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0.1759</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0.229</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dirty="0">
                          <a:effectLst/>
                        </a:rPr>
                        <a:t>0.4724</a:t>
                      </a:r>
                      <a:endParaRPr lang="en-US" sz="2800" b="0" i="0" u="none" strike="noStrike" dirty="0">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0.622</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3480309668"/>
                  </a:ext>
                </a:extLst>
              </a:tr>
              <a:tr h="321231">
                <a:tc>
                  <a:txBody>
                    <a:bodyPr/>
                    <a:lstStyle/>
                    <a:p>
                      <a:pPr algn="r" fontAlgn="ctr"/>
                      <a:r>
                        <a:rPr lang="en-US" sz="2800" u="none" strike="noStrike">
                          <a:effectLst/>
                        </a:rPr>
                        <a:t>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28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0.589</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0.1397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0.182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dirty="0">
                          <a:effectLst/>
                        </a:rPr>
                        <a:t>0.6121</a:t>
                      </a:r>
                      <a:endParaRPr lang="en-US" sz="2800" b="0" i="0" u="none" strike="noStrike" dirty="0">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0.804</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2154999183"/>
                  </a:ext>
                </a:extLst>
              </a:tr>
              <a:tr h="321231">
                <a:tc>
                  <a:txBody>
                    <a:bodyPr/>
                    <a:lstStyle/>
                    <a:p>
                      <a:pPr algn="r" fontAlgn="ctr"/>
                      <a:r>
                        <a:rPr lang="en-US" sz="2800" u="none" strike="noStrike">
                          <a:effectLst/>
                        </a:rPr>
                        <a:t>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35</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0.417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0.1077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0.104</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0.1195</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0.7198</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0.908</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0.1195</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2426090170"/>
                  </a:ext>
                </a:extLst>
              </a:tr>
              <a:tr h="321231">
                <a:tc>
                  <a:txBody>
                    <a:bodyPr/>
                    <a:lstStyle/>
                    <a:p>
                      <a:pPr algn="r" fontAlgn="ctr"/>
                      <a:r>
                        <a:rPr lang="en-US" sz="2800" u="none" strike="noStrike">
                          <a:effectLst/>
                        </a:rPr>
                        <a:t>13</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48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0.295</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0.1013</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0.065</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0.2198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0.8211</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dirty="0">
                          <a:effectLst/>
                        </a:rPr>
                        <a:t>0.973</a:t>
                      </a:r>
                      <a:endParaRPr lang="en-US" sz="2800" b="0" i="0" u="none" strike="noStrike" dirty="0">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0.3393</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2010233989"/>
                  </a:ext>
                </a:extLst>
              </a:tr>
              <a:tr h="321231">
                <a:tc>
                  <a:txBody>
                    <a:bodyPr/>
                    <a:lstStyle/>
                    <a:p>
                      <a:pPr algn="r" fontAlgn="ctr"/>
                      <a:r>
                        <a:rPr lang="en-US" sz="2800" u="none" strike="noStrike">
                          <a:effectLst/>
                        </a:rPr>
                        <a:t>17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65</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0.296</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0.0746</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0.025</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0.2391</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0.8957</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dirty="0">
                          <a:effectLst/>
                        </a:rPr>
                        <a:t>0.998</a:t>
                      </a:r>
                      <a:endParaRPr lang="en-US" sz="2800" b="0" i="0" u="none" strike="noStrike" dirty="0">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0.5784</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3419611583"/>
                  </a:ext>
                </a:extLst>
              </a:tr>
              <a:tr h="321231">
                <a:tc>
                  <a:txBody>
                    <a:bodyPr/>
                    <a:lstStyle/>
                    <a:p>
                      <a:pPr algn="r" fontAlgn="ctr"/>
                      <a:r>
                        <a:rPr lang="en-US" sz="2800" u="none" strike="noStrike">
                          <a:effectLst/>
                        </a:rPr>
                        <a:t>35</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100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0.297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0.051</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0.002</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0.1877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0.9467</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0.7661</a:t>
                      </a:r>
                      <a:endParaRPr lang="en-US" sz="2800" b="0" i="0" u="none" strike="noStrike">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356656929"/>
                  </a:ext>
                </a:extLst>
              </a:tr>
              <a:tr h="321231">
                <a:tc>
                  <a:txBody>
                    <a:bodyPr/>
                    <a:lstStyle/>
                    <a:p>
                      <a:pPr algn="r" fontAlgn="ctr"/>
                      <a:r>
                        <a:rPr lang="en-US" sz="2800" u="none" strike="noStrike">
                          <a:effectLst/>
                        </a:rPr>
                        <a:t>50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150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0.298</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0.033</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0.1427</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0.9797</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dirty="0">
                          <a:effectLst/>
                        </a:rPr>
                        <a:t>0.9088</a:t>
                      </a:r>
                      <a:endParaRPr lang="en-US" sz="2800" b="0" i="0" u="none" strike="noStrike" dirty="0">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3930469528"/>
                  </a:ext>
                </a:extLst>
              </a:tr>
              <a:tr h="321231">
                <a:tc>
                  <a:txBody>
                    <a:bodyPr/>
                    <a:lstStyle/>
                    <a:p>
                      <a:pPr algn="r" fontAlgn="ctr"/>
                      <a:r>
                        <a:rPr lang="en-US" sz="2800" u="none" strike="noStrike">
                          <a:effectLst/>
                        </a:rPr>
                        <a:t>50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 200</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ctr"/>
                      <a:r>
                        <a:rPr lang="en-US" sz="2800" u="none" strike="noStrike">
                          <a:effectLst/>
                        </a:rPr>
                        <a:t>0.299</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 </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 </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l" fontAlgn="ctr"/>
                      <a:r>
                        <a:rPr lang="en-US" sz="2800" u="none" strike="noStrike">
                          <a:effectLst/>
                        </a:rPr>
                        <a:t> </a:t>
                      </a:r>
                      <a:endParaRPr lang="en-US" sz="2800" b="0" i="0" u="none" strike="noStrike">
                        <a:solidFill>
                          <a:srgbClr val="000000"/>
                        </a:solidFill>
                        <a:effectLst/>
                        <a:latin typeface="Calibri" panose="020F0502020204030204" pitchFamily="34" charset="0"/>
                      </a:endParaRPr>
                    </a:p>
                  </a:txBody>
                  <a:tcPr marL="4733" marR="4733" marT="4733" marB="0" anchor="ctr"/>
                </a:tc>
                <a:tc>
                  <a:txBody>
                    <a:bodyPr/>
                    <a:lstStyle/>
                    <a:p>
                      <a:pPr algn="r" fontAlgn="b"/>
                      <a:r>
                        <a:rPr lang="en-US" sz="2800" u="none" strike="noStrike">
                          <a:effectLst/>
                        </a:rPr>
                        <a:t>0.9797</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a:effectLst/>
                        </a:rPr>
                        <a:t>1</a:t>
                      </a:r>
                      <a:endParaRPr lang="en-US" sz="2800" b="0" i="0" u="none" strike="noStrike">
                        <a:solidFill>
                          <a:srgbClr val="000000"/>
                        </a:solidFill>
                        <a:effectLst/>
                        <a:latin typeface="Calibri" panose="020F0502020204030204" pitchFamily="34" charset="0"/>
                      </a:endParaRPr>
                    </a:p>
                  </a:txBody>
                  <a:tcPr marL="4733" marR="4733" marT="4733" marB="0" anchor="b"/>
                </a:tc>
                <a:tc>
                  <a:txBody>
                    <a:bodyPr/>
                    <a:lstStyle/>
                    <a:p>
                      <a:pPr algn="r" fontAlgn="b"/>
                      <a:r>
                        <a:rPr lang="en-US" sz="2800" u="none" strike="noStrike" dirty="0">
                          <a:effectLst/>
                        </a:rPr>
                        <a:t>0.9088</a:t>
                      </a:r>
                      <a:endParaRPr lang="en-US" sz="2800" b="0" i="0" u="none" strike="noStrike" dirty="0">
                        <a:solidFill>
                          <a:srgbClr val="000000"/>
                        </a:solidFill>
                        <a:effectLst/>
                        <a:latin typeface="Calibri" panose="020F0502020204030204" pitchFamily="34" charset="0"/>
                      </a:endParaRPr>
                    </a:p>
                  </a:txBody>
                  <a:tcPr marL="4733" marR="4733" marT="4733" marB="0" anchor="b"/>
                </a:tc>
                <a:extLst>
                  <a:ext uri="{0D108BD9-81ED-4DB2-BD59-A6C34878D82A}">
                    <a16:rowId xmlns:a16="http://schemas.microsoft.com/office/drawing/2014/main" val="2297178694"/>
                  </a:ext>
                </a:extLst>
              </a:tr>
            </a:tbl>
          </a:graphicData>
        </a:graphic>
      </p:graphicFrame>
    </p:spTree>
    <p:extLst>
      <p:ext uri="{BB962C8B-B14F-4D97-AF65-F5344CB8AC3E}">
        <p14:creationId xmlns:p14="http://schemas.microsoft.com/office/powerpoint/2010/main" val="3600056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34D0979C-313C-4DE6-8378-08EF256185D4}"/>
              </a:ext>
            </a:extLst>
          </p:cNvPr>
          <p:cNvSpPr>
            <a:spLocks/>
          </p:cNvSpPr>
          <p:nvPr/>
        </p:nvSpPr>
        <p:spPr bwMode="auto">
          <a:xfrm>
            <a:off x="1008063" y="1192213"/>
            <a:ext cx="18527712" cy="0"/>
          </a:xfrm>
          <a:custGeom>
            <a:avLst/>
            <a:gdLst>
              <a:gd name="T0" fmla="*/ 0 w 18527395"/>
              <a:gd name="T1" fmla="*/ 18530663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3" name="object 5">
            <a:extLst>
              <a:ext uri="{FF2B5EF4-FFF2-40B4-BE49-F238E27FC236}">
                <a16:creationId xmlns:a16="http://schemas.microsoft.com/office/drawing/2014/main" id="{74687106-1A02-4909-9429-F1B9560DC61F}"/>
              </a:ext>
            </a:extLst>
          </p:cNvPr>
          <p:cNvSpPr>
            <a:spLocks noChangeArrowheads="1"/>
          </p:cNvSpPr>
          <p:nvPr/>
        </p:nvSpPr>
        <p:spPr bwMode="auto">
          <a:xfrm>
            <a:off x="1004888" y="301625"/>
            <a:ext cx="708025" cy="709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pitchFamily="34" charset="0"/>
                <a:ea typeface="MS PGothic" panose="020B0600070205080204" pitchFamily="34" charset="-128"/>
              </a:defRPr>
            </a:lvl1pPr>
            <a:lvl2pPr marL="742950" indent="-285750">
              <a:spcBef>
                <a:spcPct val="20000"/>
              </a:spcBef>
              <a:defRPr>
                <a:solidFill>
                  <a:schemeClr val="tx1"/>
                </a:solidFill>
                <a:latin typeface="Calibri" panose="020F0502020204030204" pitchFamily="34" charset="0"/>
                <a:ea typeface="MS PGothic" panose="020B0600070205080204" pitchFamily="34" charset="-128"/>
              </a:defRPr>
            </a:lvl2pPr>
            <a:lvl3pPr marL="1143000" indent="-228600">
              <a:spcBef>
                <a:spcPct val="20000"/>
              </a:spcBef>
              <a:defRPr>
                <a:solidFill>
                  <a:schemeClr val="tx1"/>
                </a:solidFill>
                <a:latin typeface="Calibri" panose="020F0502020204030204" pitchFamily="34" charset="0"/>
                <a:ea typeface="MS PGothic" panose="020B0600070205080204" pitchFamily="34" charset="-128"/>
              </a:defRPr>
            </a:lvl3pPr>
            <a:lvl4pPr marL="1600200" indent="-228600">
              <a:spcBef>
                <a:spcPct val="20000"/>
              </a:spcBef>
              <a:defRPr>
                <a:solidFill>
                  <a:schemeClr val="tx1"/>
                </a:solidFill>
                <a:latin typeface="Calibri" panose="020F0502020204030204" pitchFamily="34" charset="0"/>
                <a:ea typeface="MS PGothic" panose="020B0600070205080204" pitchFamily="34" charset="-128"/>
              </a:defRPr>
            </a:lvl4pPr>
            <a:lvl5pPr marL="2057400" indent="-228600">
              <a:spcBef>
                <a:spcPct val="20000"/>
              </a:spcBef>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0"/>
              </a:spcBef>
            </a:pPr>
            <a:endParaRPr lang="en-US" altLang="en-US"/>
          </a:p>
        </p:txBody>
      </p:sp>
      <p:sp>
        <p:nvSpPr>
          <p:cNvPr id="4" name="object 6">
            <a:extLst>
              <a:ext uri="{FF2B5EF4-FFF2-40B4-BE49-F238E27FC236}">
                <a16:creationId xmlns:a16="http://schemas.microsoft.com/office/drawing/2014/main" id="{3FF97C03-8892-4E17-901F-8181D8C30102}"/>
              </a:ext>
            </a:extLst>
          </p:cNvPr>
          <p:cNvSpPr>
            <a:spLocks/>
          </p:cNvSpPr>
          <p:nvPr/>
        </p:nvSpPr>
        <p:spPr bwMode="auto">
          <a:xfrm>
            <a:off x="2982913" y="712788"/>
            <a:ext cx="57150" cy="57150"/>
          </a:xfrm>
          <a:custGeom>
            <a:avLst/>
            <a:gdLst>
              <a:gd name="T0" fmla="*/ 32190 w 56514"/>
              <a:gd name="T1" fmla="*/ 0 h 56515"/>
              <a:gd name="T2" fmla="*/ 19674 w 56514"/>
              <a:gd name="T3" fmla="*/ 2524 h 56515"/>
              <a:gd name="T4" fmla="*/ 9439 w 56514"/>
              <a:gd name="T5" fmla="*/ 9408 h 56515"/>
              <a:gd name="T6" fmla="*/ 2533 w 56514"/>
              <a:gd name="T7" fmla="*/ 19619 h 56515"/>
              <a:gd name="T8" fmla="*/ 0 w 56514"/>
              <a:gd name="T9" fmla="*/ 32124 h 56515"/>
              <a:gd name="T10" fmla="*/ 2533 w 56514"/>
              <a:gd name="T11" fmla="*/ 44640 h 56515"/>
              <a:gd name="T12" fmla="*/ 9439 w 56514"/>
              <a:gd name="T13" fmla="*/ 54871 h 56515"/>
              <a:gd name="T14" fmla="*/ 19674 w 56514"/>
              <a:gd name="T15" fmla="*/ 61775 h 56515"/>
              <a:gd name="T16" fmla="*/ 32190 w 56514"/>
              <a:gd name="T17" fmla="*/ 64309 h 56515"/>
              <a:gd name="T18" fmla="*/ 44687 w 56514"/>
              <a:gd name="T19" fmla="*/ 61775 h 56515"/>
              <a:gd name="T20" fmla="*/ 47812 w 56514"/>
              <a:gd name="T21" fmla="*/ 59662 h 56515"/>
              <a:gd name="T22" fmla="*/ 32190 w 56514"/>
              <a:gd name="T23" fmla="*/ 59662 h 56515"/>
              <a:gd name="T24" fmla="*/ 21460 w 56514"/>
              <a:gd name="T25" fmla="*/ 57495 h 56515"/>
              <a:gd name="T26" fmla="*/ 12705 w 56514"/>
              <a:gd name="T27" fmla="*/ 51586 h 56515"/>
              <a:gd name="T28" fmla="*/ 6808 w 56514"/>
              <a:gd name="T29" fmla="*/ 42831 h 56515"/>
              <a:gd name="T30" fmla="*/ 4646 w 56514"/>
              <a:gd name="T31" fmla="*/ 32124 h 56515"/>
              <a:gd name="T32" fmla="*/ 6808 w 56514"/>
              <a:gd name="T33" fmla="*/ 21408 h 56515"/>
              <a:gd name="T34" fmla="*/ 12705 w 56514"/>
              <a:gd name="T35" fmla="*/ 12637 h 56515"/>
              <a:gd name="T36" fmla="*/ 21460 w 56514"/>
              <a:gd name="T37" fmla="*/ 6713 h 56515"/>
              <a:gd name="T38" fmla="*/ 32190 w 56514"/>
              <a:gd name="T39" fmla="*/ 4538 h 56515"/>
              <a:gd name="T40" fmla="*/ 47676 w 56514"/>
              <a:gd name="T41" fmla="*/ 4538 h 56515"/>
              <a:gd name="T42" fmla="*/ 44687 w 56514"/>
              <a:gd name="T43" fmla="*/ 2524 h 56515"/>
              <a:gd name="T44" fmla="*/ 32190 w 56514"/>
              <a:gd name="T45" fmla="*/ 0 h 56515"/>
              <a:gd name="T46" fmla="*/ 47676 w 56514"/>
              <a:gd name="T47" fmla="*/ 4538 h 56515"/>
              <a:gd name="T48" fmla="*/ 32190 w 56514"/>
              <a:gd name="T49" fmla="*/ 4538 h 56515"/>
              <a:gd name="T50" fmla="*/ 42922 w 56514"/>
              <a:gd name="T51" fmla="*/ 6713 h 56515"/>
              <a:gd name="T52" fmla="*/ 51675 w 56514"/>
              <a:gd name="T53" fmla="*/ 12637 h 56515"/>
              <a:gd name="T54" fmla="*/ 57574 w 56514"/>
              <a:gd name="T55" fmla="*/ 21408 h 56515"/>
              <a:gd name="T56" fmla="*/ 59736 w 56514"/>
              <a:gd name="T57" fmla="*/ 32124 h 56515"/>
              <a:gd name="T58" fmla="*/ 57574 w 56514"/>
              <a:gd name="T59" fmla="*/ 42831 h 56515"/>
              <a:gd name="T60" fmla="*/ 51675 w 56514"/>
              <a:gd name="T61" fmla="*/ 51586 h 56515"/>
              <a:gd name="T62" fmla="*/ 42922 w 56514"/>
              <a:gd name="T63" fmla="*/ 57495 h 56515"/>
              <a:gd name="T64" fmla="*/ 32190 w 56514"/>
              <a:gd name="T65" fmla="*/ 59662 h 56515"/>
              <a:gd name="T66" fmla="*/ 47812 w 56514"/>
              <a:gd name="T67" fmla="*/ 59662 h 56515"/>
              <a:gd name="T68" fmla="*/ 54903 w 56514"/>
              <a:gd name="T69" fmla="*/ 54871 h 56515"/>
              <a:gd name="T70" fmla="*/ 61803 w 56514"/>
              <a:gd name="T71" fmla="*/ 44640 h 56515"/>
              <a:gd name="T72" fmla="*/ 64333 w 56514"/>
              <a:gd name="T73" fmla="*/ 32124 h 56515"/>
              <a:gd name="T74" fmla="*/ 61803 w 56514"/>
              <a:gd name="T75" fmla="*/ 19619 h 56515"/>
              <a:gd name="T76" fmla="*/ 54903 w 56514"/>
              <a:gd name="T77" fmla="*/ 9408 h 56515"/>
              <a:gd name="T78" fmla="*/ 47676 w 56514"/>
              <a:gd name="T79" fmla="*/ 4538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5" name="object 7">
            <a:extLst>
              <a:ext uri="{FF2B5EF4-FFF2-40B4-BE49-F238E27FC236}">
                <a16:creationId xmlns:a16="http://schemas.microsoft.com/office/drawing/2014/main" id="{05D69E48-FB9C-4D65-B38D-23303DD874E6}"/>
              </a:ext>
            </a:extLst>
          </p:cNvPr>
          <p:cNvSpPr>
            <a:spLocks/>
          </p:cNvSpPr>
          <p:nvPr/>
        </p:nvSpPr>
        <p:spPr bwMode="auto">
          <a:xfrm>
            <a:off x="2998788" y="725488"/>
            <a:ext cx="25400" cy="31750"/>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a:p>
        </p:txBody>
      </p:sp>
      <p:sp>
        <p:nvSpPr>
          <p:cNvPr id="6" name="object 8">
            <a:extLst>
              <a:ext uri="{FF2B5EF4-FFF2-40B4-BE49-F238E27FC236}">
                <a16:creationId xmlns:a16="http://schemas.microsoft.com/office/drawing/2014/main" id="{CE7C4173-89CE-4840-949C-4557FF4DFAEB}"/>
              </a:ext>
            </a:extLst>
          </p:cNvPr>
          <p:cNvSpPr txBox="1"/>
          <p:nvPr/>
        </p:nvSpPr>
        <p:spPr>
          <a:xfrm>
            <a:off x="1822450" y="438150"/>
            <a:ext cx="1371600" cy="492125"/>
          </a:xfrm>
          <a:prstGeom prst="rect">
            <a:avLst/>
          </a:prstGeom>
        </p:spPr>
        <p:txBody>
          <a:bodyPr lIns="0" tIns="17145" rIns="0" bIns="0">
            <a:spAutoFit/>
          </a:bodyPr>
          <a:lstStyle/>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RV College of</a:t>
            </a:r>
          </a:p>
          <a:p>
            <a:pPr marL="12700" eaLnBrk="1" fontAlgn="auto" hangingPunct="1">
              <a:lnSpc>
                <a:spcPts val="1785"/>
              </a:lnSpc>
              <a:spcBef>
                <a:spcPts val="135"/>
              </a:spcBef>
              <a:spcAft>
                <a:spcPts val="0"/>
              </a:spcAft>
              <a:defRPr/>
            </a:pPr>
            <a:r>
              <a:rPr lang="en-IN" sz="1600" b="1" spc="5" dirty="0">
                <a:solidFill>
                  <a:srgbClr val="231F20"/>
                </a:solidFill>
                <a:latin typeface="Helvetica-Bold"/>
                <a:ea typeface="+mn-ea"/>
                <a:cs typeface="Helvetica-Bold"/>
              </a:rPr>
              <a:t>Engineering </a:t>
            </a:r>
            <a:endParaRPr sz="1600" dirty="0">
              <a:latin typeface="Helvetica-Bold"/>
              <a:ea typeface="+mn-ea"/>
              <a:cs typeface="Helvetica-Bold"/>
            </a:endParaRPr>
          </a:p>
        </p:txBody>
      </p:sp>
      <p:sp>
        <p:nvSpPr>
          <p:cNvPr id="7" name="Title 10">
            <a:extLst>
              <a:ext uri="{FF2B5EF4-FFF2-40B4-BE49-F238E27FC236}">
                <a16:creationId xmlns:a16="http://schemas.microsoft.com/office/drawing/2014/main" id="{2DF5ADFB-D5FE-4A68-85DA-615976D2590C}"/>
              </a:ext>
            </a:extLst>
          </p:cNvPr>
          <p:cNvSpPr txBox="1">
            <a:spLocks/>
          </p:cNvSpPr>
          <p:nvPr/>
        </p:nvSpPr>
        <p:spPr>
          <a:xfrm>
            <a:off x="15843250" y="407988"/>
            <a:ext cx="3679825" cy="461962"/>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r" defTabSz="914400" eaLnBrk="1" hangingPunct="1"/>
            <a:r>
              <a:rPr lang="en-US" altLang="en-US" kern="0">
                <a:latin typeface="Playfair Display" charset="0"/>
              </a:rPr>
              <a:t>Go, change the world</a:t>
            </a:r>
          </a:p>
        </p:txBody>
      </p:sp>
      <p:sp>
        <p:nvSpPr>
          <p:cNvPr id="11" name="Subtitle 2">
            <a:extLst>
              <a:ext uri="{FF2B5EF4-FFF2-40B4-BE49-F238E27FC236}">
                <a16:creationId xmlns:a16="http://schemas.microsoft.com/office/drawing/2014/main" id="{1839CBB9-68AA-48F0-ABBE-CC283181CB0A}"/>
              </a:ext>
            </a:extLst>
          </p:cNvPr>
          <p:cNvSpPr txBox="1">
            <a:spLocks/>
          </p:cNvSpPr>
          <p:nvPr/>
        </p:nvSpPr>
        <p:spPr>
          <a:xfrm>
            <a:off x="330970" y="2630339"/>
            <a:ext cx="18527712" cy="72206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indent="-742950" algn="l">
              <a:spcBef>
                <a:spcPts val="0"/>
              </a:spcBef>
              <a:buAutoNum type="arabicPeriod"/>
            </a:pPr>
            <a:endParaRPr lang="en-IN" sz="4000" b="1" dirty="0">
              <a:solidFill>
                <a:schemeClr val="accent4">
                  <a:lumMod val="50000"/>
                </a:schemeClr>
              </a:solidFill>
              <a:latin typeface="Adobe Devanagari" panose="02040503050201020203" pitchFamily="18" charset="0"/>
              <a:cs typeface="Adobe Devanagari" panose="02040503050201020203" pitchFamily="18" charset="0"/>
            </a:endParaRPr>
          </a:p>
        </p:txBody>
      </p:sp>
      <p:pic>
        <p:nvPicPr>
          <p:cNvPr id="16" name="Picture 15">
            <a:extLst>
              <a:ext uri="{FF2B5EF4-FFF2-40B4-BE49-F238E27FC236}">
                <a16:creationId xmlns:a16="http://schemas.microsoft.com/office/drawing/2014/main" id="{D7C3A106-5699-96ED-A32B-F5DC5D58FC96}"/>
              </a:ext>
            </a:extLst>
          </p:cNvPr>
          <p:cNvPicPr>
            <a:picLocks noChangeAspect="1"/>
          </p:cNvPicPr>
          <p:nvPr/>
        </p:nvPicPr>
        <p:blipFill rotWithShape="1">
          <a:blip r:embed="rId3"/>
          <a:srcRect l="36219" t="31100" r="32675" b="25501"/>
          <a:stretch/>
        </p:blipFill>
        <p:spPr>
          <a:xfrm>
            <a:off x="1707156" y="1708585"/>
            <a:ext cx="7560840" cy="5933824"/>
          </a:xfrm>
          <a:prstGeom prst="rect">
            <a:avLst/>
          </a:prstGeom>
        </p:spPr>
      </p:pic>
      <p:sp>
        <p:nvSpPr>
          <p:cNvPr id="17" name="Title 10">
            <a:extLst>
              <a:ext uri="{FF2B5EF4-FFF2-40B4-BE49-F238E27FC236}">
                <a16:creationId xmlns:a16="http://schemas.microsoft.com/office/drawing/2014/main" id="{8205B3CA-C6BC-D8C3-FF1B-879B81B8DAE7}"/>
              </a:ext>
            </a:extLst>
          </p:cNvPr>
          <p:cNvSpPr txBox="1">
            <a:spLocks/>
          </p:cNvSpPr>
          <p:nvPr/>
        </p:nvSpPr>
        <p:spPr>
          <a:xfrm>
            <a:off x="3572374" y="1331121"/>
            <a:ext cx="3830404" cy="483447"/>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l" defTabSz="914400" eaLnBrk="1" hangingPunct="1"/>
            <a:r>
              <a:rPr lang="en-GB" altLang="en-US" sz="2800" b="1" kern="0" dirty="0">
                <a:solidFill>
                  <a:srgbClr val="FF0000"/>
                </a:solidFill>
                <a:latin typeface="Playfair Display" charset="0"/>
              </a:rPr>
              <a:t>IDEAL SCREENS</a:t>
            </a:r>
            <a:endParaRPr lang="en-US" altLang="en-US" sz="2800" b="1" kern="0" dirty="0">
              <a:solidFill>
                <a:srgbClr val="FF0000"/>
              </a:solidFill>
              <a:latin typeface="Playfair Display" charset="0"/>
            </a:endParaRPr>
          </a:p>
        </p:txBody>
      </p:sp>
      <p:sp>
        <p:nvSpPr>
          <p:cNvPr id="18" name="Title 10">
            <a:extLst>
              <a:ext uri="{FF2B5EF4-FFF2-40B4-BE49-F238E27FC236}">
                <a16:creationId xmlns:a16="http://schemas.microsoft.com/office/drawing/2014/main" id="{ED3E88F3-280B-5FFB-B1BF-553F42C853C3}"/>
              </a:ext>
            </a:extLst>
          </p:cNvPr>
          <p:cNvSpPr txBox="1">
            <a:spLocks/>
          </p:cNvSpPr>
          <p:nvPr/>
        </p:nvSpPr>
        <p:spPr>
          <a:xfrm>
            <a:off x="3452950" y="5061030"/>
            <a:ext cx="3830404" cy="1465860"/>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l" defTabSz="914400" eaLnBrk="1" hangingPunct="1"/>
            <a:r>
              <a:rPr lang="en-GB" altLang="en-US" b="1" kern="0" dirty="0">
                <a:solidFill>
                  <a:srgbClr val="FF0000"/>
                </a:solidFill>
                <a:latin typeface="Playfair Display" charset="0"/>
              </a:rPr>
              <a:t>C is the out put point</a:t>
            </a:r>
          </a:p>
          <a:p>
            <a:pPr algn="l" defTabSz="914400" eaLnBrk="1" hangingPunct="1"/>
            <a:r>
              <a:rPr lang="en-GB" altLang="en-US" b="1" kern="0" dirty="0">
                <a:solidFill>
                  <a:srgbClr val="FF0000"/>
                </a:solidFill>
                <a:latin typeface="Playfair Display" charset="0"/>
              </a:rPr>
              <a:t>A: </a:t>
            </a:r>
            <a:r>
              <a:rPr lang="en-GB" altLang="en-US" b="1" kern="0" dirty="0" err="1">
                <a:solidFill>
                  <a:srgbClr val="FF0000"/>
                </a:solidFill>
                <a:latin typeface="Playfair Display" charset="0"/>
              </a:rPr>
              <a:t>OverSize</a:t>
            </a:r>
            <a:endParaRPr lang="en-GB" altLang="en-US" b="1" kern="0" dirty="0">
              <a:solidFill>
                <a:srgbClr val="FF0000"/>
              </a:solidFill>
              <a:latin typeface="Playfair Display" charset="0"/>
            </a:endParaRPr>
          </a:p>
          <a:p>
            <a:pPr algn="l" defTabSz="914400" eaLnBrk="1" hangingPunct="1"/>
            <a:r>
              <a:rPr lang="en-GB" altLang="en-US" b="1" kern="0" dirty="0">
                <a:solidFill>
                  <a:srgbClr val="FF0000"/>
                </a:solidFill>
                <a:latin typeface="Playfair Display" charset="0"/>
              </a:rPr>
              <a:t>B Undersize</a:t>
            </a:r>
          </a:p>
          <a:p>
            <a:pPr algn="l" defTabSz="914400" eaLnBrk="1" hangingPunct="1"/>
            <a:r>
              <a:rPr lang="en-GB" altLang="en-US" b="1" kern="0" dirty="0">
                <a:solidFill>
                  <a:srgbClr val="FF0000"/>
                </a:solidFill>
                <a:latin typeface="Playfair Display" charset="0"/>
              </a:rPr>
              <a:t>No overlapping between the sizes</a:t>
            </a:r>
            <a:endParaRPr lang="en-US" altLang="en-US" b="1" kern="0" dirty="0">
              <a:solidFill>
                <a:srgbClr val="FF0000"/>
              </a:solidFill>
              <a:latin typeface="Playfair Display" charset="0"/>
            </a:endParaRPr>
          </a:p>
        </p:txBody>
      </p:sp>
      <p:pic>
        <p:nvPicPr>
          <p:cNvPr id="22" name="Picture 21">
            <a:extLst>
              <a:ext uri="{FF2B5EF4-FFF2-40B4-BE49-F238E27FC236}">
                <a16:creationId xmlns:a16="http://schemas.microsoft.com/office/drawing/2014/main" id="{1C067CC9-B177-DA24-AA24-9C249CDF3DA1}"/>
              </a:ext>
            </a:extLst>
          </p:cNvPr>
          <p:cNvPicPr>
            <a:picLocks noChangeAspect="1"/>
          </p:cNvPicPr>
          <p:nvPr/>
        </p:nvPicPr>
        <p:blipFill rotWithShape="1">
          <a:blip r:embed="rId4"/>
          <a:srcRect l="31888" t="27600" r="37006" b="36000"/>
          <a:stretch/>
        </p:blipFill>
        <p:spPr>
          <a:xfrm>
            <a:off x="2203178" y="7659347"/>
            <a:ext cx="5443517" cy="3583074"/>
          </a:xfrm>
          <a:prstGeom prst="rect">
            <a:avLst/>
          </a:prstGeom>
        </p:spPr>
      </p:pic>
      <p:sp>
        <p:nvSpPr>
          <p:cNvPr id="23" name="Title 10">
            <a:extLst>
              <a:ext uri="{FF2B5EF4-FFF2-40B4-BE49-F238E27FC236}">
                <a16:creationId xmlns:a16="http://schemas.microsoft.com/office/drawing/2014/main" id="{9AD3B7C0-D27E-A208-29E1-B4BAEFA70F00}"/>
              </a:ext>
            </a:extLst>
          </p:cNvPr>
          <p:cNvSpPr txBox="1">
            <a:spLocks/>
          </p:cNvSpPr>
          <p:nvPr/>
        </p:nvSpPr>
        <p:spPr>
          <a:xfrm>
            <a:off x="13508434" y="1766261"/>
            <a:ext cx="3830404" cy="483447"/>
          </a:xfrm>
          <a:prstGeom prst="rect">
            <a:avLst/>
          </a:prstGeom>
        </p:spPr>
        <p:txBody>
          <a:bodyPr/>
          <a:lstStyle>
            <a:lvl1pPr algn="ctr" rtl="0" eaLnBrk="0" fontAlgn="base" hangingPunct="0">
              <a:spcBef>
                <a:spcPct val="0"/>
              </a:spcBef>
              <a:spcAft>
                <a:spcPct val="0"/>
              </a:spcAft>
              <a:defRPr>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2pPr>
            <a:lvl3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3pPr>
            <a:lvl4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4pPr>
            <a:lvl5pPr algn="ctr" rtl="0" eaLnBrk="0" fontAlgn="base" hangingPunct="0">
              <a:spcBef>
                <a:spcPct val="0"/>
              </a:spcBef>
              <a:spcAft>
                <a:spcPct val="0"/>
              </a:spcAft>
              <a:defRPr>
                <a:solidFill>
                  <a:schemeClr val="tx2"/>
                </a:solidFill>
                <a:latin typeface="Calibri"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9144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13716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1828800"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a:lstStyle>
          <a:p>
            <a:pPr algn="l" defTabSz="914400" eaLnBrk="1" hangingPunct="1"/>
            <a:r>
              <a:rPr lang="en-GB" altLang="en-US" sz="2800" b="1" kern="0" dirty="0">
                <a:solidFill>
                  <a:srgbClr val="FF0000"/>
                </a:solidFill>
                <a:latin typeface="Playfair Display" charset="0"/>
              </a:rPr>
              <a:t>Actual Screens</a:t>
            </a:r>
            <a:endParaRPr lang="en-US" altLang="en-US" sz="2800" b="1" kern="0" dirty="0">
              <a:solidFill>
                <a:srgbClr val="FF0000"/>
              </a:solidFill>
              <a:latin typeface="Playfair Display" charset="0"/>
            </a:endParaRPr>
          </a:p>
        </p:txBody>
      </p:sp>
      <p:pic>
        <p:nvPicPr>
          <p:cNvPr id="25" name="Picture 24">
            <a:extLst>
              <a:ext uri="{FF2B5EF4-FFF2-40B4-BE49-F238E27FC236}">
                <a16:creationId xmlns:a16="http://schemas.microsoft.com/office/drawing/2014/main" id="{EED1E310-DC58-C9B5-6023-02D453C8D1D6}"/>
              </a:ext>
            </a:extLst>
          </p:cNvPr>
          <p:cNvPicPr>
            <a:picLocks noChangeAspect="1"/>
          </p:cNvPicPr>
          <p:nvPr/>
        </p:nvPicPr>
        <p:blipFill rotWithShape="1">
          <a:blip r:embed="rId5"/>
          <a:srcRect l="32281" t="50000" r="35431" b="13600"/>
          <a:stretch/>
        </p:blipFill>
        <p:spPr>
          <a:xfrm>
            <a:off x="10750417" y="2630339"/>
            <a:ext cx="9197629" cy="5832643"/>
          </a:xfrm>
          <a:prstGeom prst="rect">
            <a:avLst/>
          </a:prstGeom>
        </p:spPr>
      </p:pic>
    </p:spTree>
    <p:extLst>
      <p:ext uri="{BB962C8B-B14F-4D97-AF65-F5344CB8AC3E}">
        <p14:creationId xmlns:p14="http://schemas.microsoft.com/office/powerpoint/2010/main" val="778709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lt1">
            <a:alpha val="99000"/>
          </a:schemeClr>
        </a:solidFill>
        <a:ln w="76200">
          <a:solidFill>
            <a:srgbClr val="5E6DB3"/>
          </a:solidFill>
        </a:ln>
      </a:spPr>
      <a:bodyPr rtlCol="0" anchor="ctr"/>
      <a:lstStyle>
        <a:defPPr algn="ctr">
          <a:defRPr dirty="0">
            <a:solidFill>
              <a:srgbClr val="FFFFFF"/>
            </a:solidFill>
          </a:defRPr>
        </a:defPPr>
      </a:lstStyle>
      <a:style>
        <a:lnRef idx="2">
          <a:schemeClr val="accent4"/>
        </a:lnRef>
        <a:fillRef idx="1">
          <a:schemeClr val="lt1"/>
        </a:fillRef>
        <a:effectRef idx="0">
          <a:schemeClr val="accent4"/>
        </a:effectRef>
        <a:fontRef idx="minor">
          <a:schemeClr val="dk1"/>
        </a:fontRef>
      </a:style>
    </a:spDef>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4177</TotalTime>
  <Words>6759</Words>
  <Application>Microsoft Office PowerPoint</Application>
  <PresentationFormat>Custom</PresentationFormat>
  <Paragraphs>2138</Paragraphs>
  <Slides>28</Slides>
  <Notes>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28</vt:i4>
      </vt:variant>
    </vt:vector>
  </HeadingPairs>
  <TitlesOfParts>
    <vt:vector size="41" baseType="lpstr">
      <vt:lpstr>ＭＳ Ｐゴシック</vt:lpstr>
      <vt:lpstr>ＭＳ Ｐゴシック</vt:lpstr>
      <vt:lpstr>Adobe Devanagari</vt:lpstr>
      <vt:lpstr>Arial</vt:lpstr>
      <vt:lpstr>Book Antiqua</vt:lpstr>
      <vt:lpstr>Calibri</vt:lpstr>
      <vt:lpstr>Cambria Math</vt:lpstr>
      <vt:lpstr>Helvetica-Bold</vt:lpstr>
      <vt:lpstr>Playfair Display</vt:lpstr>
      <vt:lpstr>Times New Roman</vt:lpstr>
      <vt:lpstr>Office Theme</vt:lpstr>
      <vt:lpstr>1_Simple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RV PPT</dc:title>
  <dc:creator>Srobona Das</dc:creator>
  <cp:lastModifiedBy>RVCECH</cp:lastModifiedBy>
  <cp:revision>291</cp:revision>
  <dcterms:created xsi:type="dcterms:W3CDTF">2019-11-25T06:56:12Z</dcterms:created>
  <dcterms:modified xsi:type="dcterms:W3CDTF">2025-09-17T09:11:49Z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2019-11-25T00:00:00Z</vt:filetime>
  </property>
  <property fmtid="{D5CDD505-2E9C-101B-9397-08002B2CF9AE}" pid="3" name="Creator">
    <vt:lpwstr>Adobe Illustrator CC 23.1 (Macintosh)</vt:lpwstr>
  </property>
  <property fmtid="{D5CDD505-2E9C-101B-9397-08002B2CF9AE}" pid="4" name="LastSaved">
    <vt:filetime>2019-11-25T00:00:00Z</vt:filetime>
  </property>
</Properties>
</file>